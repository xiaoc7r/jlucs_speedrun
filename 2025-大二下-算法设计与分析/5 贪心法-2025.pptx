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76"/>
  </p:notesMasterIdLst>
  <p:handoutMasterIdLst>
    <p:handoutMasterId r:id="rId77"/>
  </p:handoutMasterIdLst>
  <p:sldIdLst>
    <p:sldId id="379" r:id="rId2"/>
    <p:sldId id="380" r:id="rId3"/>
    <p:sldId id="381" r:id="rId4"/>
    <p:sldId id="399" r:id="rId5"/>
    <p:sldId id="400" r:id="rId6"/>
    <p:sldId id="401" r:id="rId7"/>
    <p:sldId id="402" r:id="rId8"/>
    <p:sldId id="289" r:id="rId9"/>
    <p:sldId id="382" r:id="rId10"/>
    <p:sldId id="293" r:id="rId11"/>
    <p:sldId id="383" r:id="rId12"/>
    <p:sldId id="403" r:id="rId13"/>
    <p:sldId id="404" r:id="rId14"/>
    <p:sldId id="452" r:id="rId15"/>
    <p:sldId id="453" r:id="rId16"/>
    <p:sldId id="454" r:id="rId17"/>
    <p:sldId id="456" r:id="rId18"/>
    <p:sldId id="384" r:id="rId19"/>
    <p:sldId id="385" r:id="rId20"/>
    <p:sldId id="386" r:id="rId21"/>
    <p:sldId id="308" r:id="rId22"/>
    <p:sldId id="457" r:id="rId23"/>
    <p:sldId id="388" r:id="rId24"/>
    <p:sldId id="390" r:id="rId25"/>
    <p:sldId id="389" r:id="rId26"/>
    <p:sldId id="391" r:id="rId27"/>
    <p:sldId id="318" r:id="rId28"/>
    <p:sldId id="392" r:id="rId29"/>
    <p:sldId id="458" r:id="rId30"/>
    <p:sldId id="459" r:id="rId31"/>
    <p:sldId id="460" r:id="rId32"/>
    <p:sldId id="461" r:id="rId33"/>
    <p:sldId id="462" r:id="rId34"/>
    <p:sldId id="455" r:id="rId35"/>
    <p:sldId id="394" r:id="rId36"/>
    <p:sldId id="395" r:id="rId37"/>
    <p:sldId id="396" r:id="rId38"/>
    <p:sldId id="328" r:id="rId39"/>
    <p:sldId id="337" r:id="rId40"/>
    <p:sldId id="397" r:id="rId41"/>
    <p:sldId id="398" r:id="rId42"/>
    <p:sldId id="361" r:id="rId43"/>
    <p:sldId id="362" r:id="rId44"/>
    <p:sldId id="364" r:id="rId45"/>
    <p:sldId id="367" r:id="rId46"/>
    <p:sldId id="407" r:id="rId47"/>
    <p:sldId id="371" r:id="rId48"/>
    <p:sldId id="372" r:id="rId49"/>
    <p:sldId id="419" r:id="rId50"/>
    <p:sldId id="420" r:id="rId51"/>
    <p:sldId id="421" r:id="rId52"/>
    <p:sldId id="422" r:id="rId53"/>
    <p:sldId id="424" r:id="rId54"/>
    <p:sldId id="425" r:id="rId55"/>
    <p:sldId id="451" r:id="rId56"/>
    <p:sldId id="463" r:id="rId57"/>
    <p:sldId id="464" r:id="rId58"/>
    <p:sldId id="652" r:id="rId59"/>
    <p:sldId id="653" r:id="rId60"/>
    <p:sldId id="654" r:id="rId61"/>
    <p:sldId id="655" r:id="rId62"/>
    <p:sldId id="656" r:id="rId63"/>
    <p:sldId id="658" r:id="rId64"/>
    <p:sldId id="657" r:id="rId65"/>
    <p:sldId id="661" r:id="rId66"/>
    <p:sldId id="662" r:id="rId67"/>
    <p:sldId id="681" r:id="rId68"/>
    <p:sldId id="682" r:id="rId69"/>
    <p:sldId id="683" r:id="rId70"/>
    <p:sldId id="685" r:id="rId71"/>
    <p:sldId id="671" r:id="rId72"/>
    <p:sldId id="807" r:id="rId73"/>
    <p:sldId id="680" r:id="rId74"/>
    <p:sldId id="808" r:id="rId7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CC"/>
    <a:srgbClr val="CCECFF"/>
    <a:srgbClr val="66CCFF"/>
    <a:srgbClr val="0099FF"/>
    <a:srgbClr val="FF9900"/>
    <a:srgbClr val="CCCCFF"/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9" autoAdjust="0"/>
    <p:restoredTop sz="80054" autoAdjust="0"/>
  </p:normalViewPr>
  <p:slideViewPr>
    <p:cSldViewPr>
      <p:cViewPr varScale="1">
        <p:scale>
          <a:sx n="69" d="100"/>
          <a:sy n="69" d="100"/>
        </p:scale>
        <p:origin x="87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201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85861CB-E7A8-4B4F-9524-8A25F2E12F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474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C0EB61C-FF59-4DC5-91DB-648BFE10FA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8299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人脑来求解如何求？计算机来求解如何求？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0274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dirty="0"/>
              <a:t>贪心方法是指在对问题求解时，总是做出在当前看来是最好的选择。</a:t>
            </a:r>
          </a:p>
          <a:p>
            <a:pPr eaLnBrk="1" hangingPunct="1"/>
            <a:r>
              <a:rPr lang="zh-CN" altLang="en-US" sz="1200" dirty="0"/>
              <a:t>贪心方法的思想可以追溯到</a:t>
            </a:r>
            <a:r>
              <a:rPr lang="en-US" altLang="zh-CN" sz="1200" dirty="0"/>
              <a:t>1823</a:t>
            </a:r>
            <a:r>
              <a:rPr lang="zh-CN" altLang="en-US" sz="1200" dirty="0"/>
              <a:t>年</a:t>
            </a:r>
            <a:r>
              <a:rPr lang="en-US" altLang="zh-CN" sz="1200" dirty="0" err="1"/>
              <a:t>J.C.Warnsdorff</a:t>
            </a:r>
            <a:r>
              <a:rPr lang="zh-CN" altLang="en-US" sz="1200" dirty="0"/>
              <a:t>解决马踏棋盘问题时给出的一个著名的算法。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6355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该问题可泛化，扩展到决策问题。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933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如果物品事先按照</a:t>
            </a:r>
            <a:r>
              <a:rPr lang="zh-CN" altLang="en-US" sz="1200" dirty="0">
                <a:solidFill>
                  <a:schemeClr val="tx2"/>
                </a:solidFill>
              </a:rPr>
              <a:t>效益值的非增次序或物品重量的非降次序。那么利用算法</a:t>
            </a:r>
            <a:r>
              <a:rPr lang="en-US" altLang="zh-CN" sz="1200" dirty="0">
                <a:solidFill>
                  <a:schemeClr val="tx2"/>
                </a:solidFill>
              </a:rPr>
              <a:t>5.2</a:t>
            </a:r>
            <a:r>
              <a:rPr lang="zh-CN" altLang="en-US" sz="1200" dirty="0">
                <a:solidFill>
                  <a:schemeClr val="tx2"/>
                </a:solidFill>
              </a:rPr>
              <a:t>获得到的结果就是该量度意义下的最优解，不是全局最优解。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2558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贪心法正确性证明，基本都是这个思路。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1625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042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相对于背包问题一个整体约束</a:t>
            </a:r>
            <a:r>
              <a:rPr lang="en-US" altLang="zh-CN" dirty="0"/>
              <a:t>M</a:t>
            </a:r>
            <a:r>
              <a:rPr lang="zh-CN" altLang="en-US" dirty="0"/>
              <a:t>，本问题每个输入都有约束限制，因此更复杂。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206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还有一种可能，</a:t>
            </a:r>
            <a:r>
              <a:rPr lang="en-US" altLang="zh-CN" dirty="0"/>
              <a:t>b</a:t>
            </a:r>
            <a:r>
              <a:rPr lang="zh-CN" altLang="en-US" dirty="0"/>
              <a:t>没有计入到</a:t>
            </a:r>
            <a:r>
              <a:rPr lang="en-US" altLang="zh-CN" dirty="0"/>
              <a:t>J</a:t>
            </a:r>
            <a:r>
              <a:rPr lang="zh-CN" altLang="en-US" dirty="0"/>
              <a:t>，此时，</a:t>
            </a:r>
            <a:r>
              <a:rPr lang="en-US" altLang="zh-CN" dirty="0"/>
              <a:t>b</a:t>
            </a:r>
            <a:r>
              <a:rPr lang="zh-CN" altLang="en-US" dirty="0"/>
              <a:t>一定也不会计入到</a:t>
            </a:r>
            <a:r>
              <a:rPr lang="en-US" altLang="zh-CN" dirty="0"/>
              <a:t>I</a:t>
            </a:r>
            <a:r>
              <a:rPr lang="zh-CN" altLang="en-US" dirty="0"/>
              <a:t>（因为不能构成可行解）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2232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作业调整调度时刻，调整原则</a:t>
            </a:r>
            <a:r>
              <a:rPr lang="en-US" altLang="zh-CN" dirty="0"/>
              <a:t>: </a:t>
            </a:r>
            <a:r>
              <a:rPr lang="zh-CN" altLang="en-US" dirty="0"/>
              <a:t>向后调整。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0304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 dirty="0" err="1"/>
              <a:t>i</a:t>
            </a:r>
            <a:r>
              <a:rPr lang="zh-CN" altLang="en-US" sz="1200" dirty="0"/>
              <a:t>计入可行解（找到正确位置）的条件：</a:t>
            </a:r>
            <a:r>
              <a:rPr lang="en-US" altLang="zh-CN" sz="1200" dirty="0"/>
              <a:t>1</a:t>
            </a:r>
            <a:r>
              <a:rPr lang="zh-CN" altLang="en-US" sz="1200" dirty="0"/>
              <a:t>）</a:t>
            </a:r>
            <a:r>
              <a:rPr lang="en-US" altLang="zh-CN" sz="1200" dirty="0"/>
              <a:t>2)</a:t>
            </a:r>
            <a:r>
              <a:rPr lang="zh-CN" altLang="en-US" sz="1200" dirty="0"/>
              <a:t>涉及期限值排序，</a:t>
            </a:r>
            <a:r>
              <a:rPr lang="en-US" altLang="zh-CN" sz="1200" dirty="0"/>
              <a:t>3</a:t>
            </a:r>
            <a:r>
              <a:rPr lang="zh-CN" altLang="en-US" sz="1200" dirty="0"/>
              <a:t>）后面元素可移动，</a:t>
            </a:r>
            <a:r>
              <a:rPr lang="en-US" altLang="zh-CN" sz="1200" dirty="0"/>
              <a:t>4</a:t>
            </a:r>
            <a:r>
              <a:rPr lang="zh-CN" altLang="en-US" sz="1200" dirty="0"/>
              <a:t>）</a:t>
            </a:r>
            <a:r>
              <a:rPr lang="en-US" altLang="zh-CN" sz="1200" dirty="0" err="1"/>
              <a:t>i</a:t>
            </a:r>
            <a:r>
              <a:rPr lang="zh-CN" altLang="en-US" sz="1200" dirty="0"/>
              <a:t>自身的期限值，满足可插入条件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5213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循环第</a:t>
            </a:r>
            <a:r>
              <a:rPr lang="en-US" altLang="zh-CN" dirty="0"/>
              <a:t>2</a:t>
            </a:r>
            <a:r>
              <a:rPr lang="zh-CN" altLang="en-US" dirty="0"/>
              <a:t>个条件不满足，则</a:t>
            </a:r>
            <a:r>
              <a:rPr lang="en-US" altLang="zh-CN" dirty="0" err="1"/>
              <a:t>i</a:t>
            </a:r>
            <a:r>
              <a:rPr lang="zh-CN" altLang="en-US" dirty="0"/>
              <a:t>舍弃（不放入可行解）；</a:t>
            </a:r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条件满足说明第一个条件导致</a:t>
            </a:r>
            <a:r>
              <a:rPr lang="en-US" altLang="zh-CN" dirty="0"/>
              <a:t>while</a:t>
            </a:r>
            <a:r>
              <a:rPr lang="zh-CN" altLang="en-US" dirty="0"/>
              <a:t>循环结束，则</a:t>
            </a:r>
            <a:r>
              <a:rPr lang="en-US" altLang="zh-CN" dirty="0" err="1"/>
              <a:t>i</a:t>
            </a:r>
            <a:r>
              <a:rPr lang="zh-CN" altLang="en-US" dirty="0"/>
              <a:t>加入解向量。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2441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避免元素的移动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9039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黑板画</a:t>
            </a:r>
            <a:r>
              <a:rPr lang="en-US" altLang="zh-CN" dirty="0"/>
              <a:t>J</a:t>
            </a:r>
            <a:r>
              <a:rPr lang="zh-CN" altLang="en-US" dirty="0"/>
              <a:t>的调度表。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008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876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76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733958-38DA-4171-8A10-1A78CDFB837B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2B03FB-0B4A-4118-BBAD-7CEA1045E687}" type="slidenum">
              <a:rPr lang="en-US" altLang="zh-CN" smtClean="0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4-6</a:t>
            </a:r>
            <a:r>
              <a:rPr lang="zh-CN" altLang="en-US" sz="12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：选择</a:t>
            </a:r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e</a:t>
            </a:r>
            <a:r>
              <a:rPr lang="zh-CN" altLang="en-US" sz="12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和</a:t>
            </a:r>
            <a:r>
              <a:rPr lang="en-US" altLang="zh-CN" sz="1200" dirty="0" err="1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e</a:t>
            </a:r>
            <a:r>
              <a:rPr lang="en-US" altLang="zh-CN" sz="12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en-US" altLang="zh-CN" sz="12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FF0000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0EB61C-FF59-4DC5-91DB-648BFE10FA33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6830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此题目标函数即为活动个数。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D761C8-FEAB-43FD-8F9A-DAC607B4A335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8999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FC668E63-ECC9-46E6-9548-7DCDEFA816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39FC17C5-847B-4AB9-BFAC-6F2C59ADD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dirty="0"/>
              <a:t>问题本身可以泛化，重量代码代价或成本，价值表示效果或约束。</a:t>
            </a:r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19668F92-87BF-4A3F-A3FF-C410A14A59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804986" indent="-30961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238441" indent="-247688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733817" indent="-247688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229193" indent="-247688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76DD0A-ECEE-427C-822A-3319752847B5}" type="slidenum">
              <a:rPr lang="en-US" altLang="zh-CN" smtClean="0">
                <a:latin typeface="Arial" panose="020B0604020202020204" pitchFamily="34" charset="0"/>
              </a:rPr>
              <a:pPr/>
              <a:t>70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11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089" y="1418544"/>
            <a:ext cx="6257321" cy="25142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" y="1418545"/>
            <a:ext cx="5872659" cy="250839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0" y="5399618"/>
            <a:ext cx="12203093" cy="1485900"/>
            <a:chOff x="0" y="5305425"/>
            <a:chExt cx="12203093" cy="1485900"/>
          </a:xfrm>
        </p:grpSpPr>
        <p:sp>
          <p:nvSpPr>
            <p:cNvPr id="13" name="矩形 12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</p:grpSp>
      <p:sp>
        <p:nvSpPr>
          <p:cNvPr id="10" name="平行四边形 9"/>
          <p:cNvSpPr/>
          <p:nvPr/>
        </p:nvSpPr>
        <p:spPr>
          <a:xfrm>
            <a:off x="-8879" y="1225462"/>
            <a:ext cx="12211803" cy="2894556"/>
          </a:xfrm>
          <a:prstGeom prst="parallelogram">
            <a:avLst>
              <a:gd name="adj" fmla="val 0"/>
            </a:avLst>
          </a:prstGeom>
          <a:solidFill>
            <a:srgbClr val="1B5091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1361" y="5471049"/>
            <a:ext cx="9831977" cy="781595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solidFill>
                  <a:srgbClr val="1E5293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1361" y="4274636"/>
            <a:ext cx="9831977" cy="999627"/>
          </a:xfrm>
        </p:spPr>
        <p:txBody>
          <a:bodyPr anchor="b">
            <a:normAutofit/>
          </a:bodyPr>
          <a:lstStyle>
            <a:lvl1pPr algn="ctr">
              <a:defRPr sz="3750">
                <a:solidFill>
                  <a:srgbClr val="1E529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27" y="358201"/>
            <a:ext cx="1689716" cy="562718"/>
          </a:xfrm>
          <a:prstGeom prst="rect">
            <a:avLst/>
          </a:prstGeom>
        </p:spPr>
      </p:pic>
      <p:pic>
        <p:nvPicPr>
          <p:cNvPr id="14" name="Picture 21" descr="jilin1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651" y="6165851"/>
            <a:ext cx="19558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9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" y="1360704"/>
            <a:ext cx="12169984" cy="253572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2200" y="5372100"/>
            <a:ext cx="12203093" cy="1485900"/>
            <a:chOff x="0" y="5305425"/>
            <a:chExt cx="12203093" cy="1485900"/>
          </a:xfrm>
        </p:grpSpPr>
        <p:sp>
          <p:nvSpPr>
            <p:cNvPr id="13" name="矩形 12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</p:grpSp>
      <p:sp>
        <p:nvSpPr>
          <p:cNvPr id="10" name="平行四边形 9"/>
          <p:cNvSpPr/>
          <p:nvPr/>
        </p:nvSpPr>
        <p:spPr>
          <a:xfrm>
            <a:off x="0" y="1175806"/>
            <a:ext cx="12211803" cy="2894556"/>
          </a:xfrm>
          <a:prstGeom prst="parallelogram">
            <a:avLst>
              <a:gd name="adj" fmla="val 0"/>
            </a:avLst>
          </a:prstGeom>
          <a:solidFill>
            <a:schemeClr val="accent1">
              <a:lumMod val="75000"/>
              <a:alpha val="580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1361" y="5471049"/>
            <a:ext cx="9831977" cy="781595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solidFill>
                  <a:srgbClr val="1E5293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1361" y="4264255"/>
            <a:ext cx="9831977" cy="999627"/>
          </a:xfrm>
        </p:spPr>
        <p:txBody>
          <a:bodyPr anchor="b">
            <a:normAutofit/>
          </a:bodyPr>
          <a:lstStyle>
            <a:lvl1pPr algn="ctr">
              <a:defRPr sz="3750">
                <a:solidFill>
                  <a:srgbClr val="1E529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3727" y="358201"/>
            <a:ext cx="1689716" cy="56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782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040603"/>
              </p:ext>
            </p:extLst>
          </p:nvPr>
        </p:nvGraphicFramePr>
        <p:xfrm>
          <a:off x="7016099" y="3250773"/>
          <a:ext cx="949235" cy="396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9235">
                  <a:extLst>
                    <a:ext uri="{9D8B030D-6E8A-4147-A177-3AD203B41FA5}">
                      <a16:colId xmlns:a16="http://schemas.microsoft.com/office/drawing/2014/main" val="2089850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sz="2000" dirty="0">
                        <a:latin typeface="幼圆" panose="02010509060101010101" pitchFamily="49" charset="-122"/>
                        <a:ea typeface="幼圆" panose="020105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267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91648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D394BF-9E36-43F8-AF1C-1DC3313A1B0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6247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0" y="5372100"/>
            <a:ext cx="12203093" cy="1485900"/>
            <a:chOff x="0" y="5305425"/>
            <a:chExt cx="12203093" cy="14859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7028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5127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6098256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1384665"/>
            <a:ext cx="6172200" cy="4476387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839788" y="1384665"/>
            <a:ext cx="3932237" cy="4476387"/>
          </a:xfrm>
        </p:spPr>
        <p:txBody>
          <a:bodyPr/>
          <a:lstStyle>
            <a:lvl1pPr>
              <a:lnSpc>
                <a:spcPct val="110000"/>
              </a:lnSpc>
              <a:defRPr sz="2100"/>
            </a:lvl1pPr>
            <a:lvl2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2pPr>
            <a:lvl3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3pPr>
            <a:lvl4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4pPr>
            <a:lvl5pPr>
              <a:lnSpc>
                <a:spcPct val="110000"/>
              </a:lnSpc>
              <a:buClr>
                <a:schemeClr val="accent1">
                  <a:lumMod val="60000"/>
                  <a:lumOff val="40000"/>
                </a:schemeClr>
              </a:buCl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733697" y="129996"/>
            <a:ext cx="10515600" cy="132556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1E5293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2700" dirty="0"/>
              <a:t>单击此处编辑母版标题样式</a:t>
            </a:r>
            <a:r>
              <a:rPr lang="en-US" altLang="zh-CN" sz="2700" dirty="0" err="1"/>
              <a:t>abc</a:t>
            </a:r>
            <a:endParaRPr lang="zh-CN" altLang="en-US" sz="27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72172011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928" y="2664190"/>
            <a:ext cx="10515600" cy="1325563"/>
          </a:xfrm>
        </p:spPr>
        <p:txBody>
          <a:bodyPr>
            <a:normAutofit/>
          </a:bodyPr>
          <a:lstStyle>
            <a:lvl1pPr marL="0" algn="ctr" defTabSz="685800" rtl="0" eaLnBrk="1" latinLnBrk="0" hangingPunct="1">
              <a:defRPr lang="zh-CN" altLang="en-US" sz="4050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0529" y="91558"/>
            <a:ext cx="856143" cy="961839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-11093" y="5372100"/>
            <a:ext cx="12203093" cy="1485900"/>
            <a:chOff x="0" y="5305425"/>
            <a:chExt cx="12203093" cy="14859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03263"/>
              <a:ext cx="12192000" cy="129022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0" y="5305425"/>
              <a:ext cx="12203093" cy="1485900"/>
            </a:xfrm>
            <a:prstGeom prst="rect">
              <a:avLst/>
            </a:prstGeom>
            <a:solidFill>
              <a:schemeClr val="bg1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0801484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A84D6-E137-49AC-9DF4-862BD6594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0395D1-17EC-4705-ABA4-51D5BC42D827}" type="datetime1">
              <a:rPr lang="zh-CN" altLang="en-US"/>
              <a:pPr>
                <a:defRPr/>
              </a:pPr>
              <a:t>2025/3/13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B700A-8845-4A4A-94DA-6811C41C1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89BA9-9AF4-4CEE-B1D9-EAA86FB6E2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C629E-1C75-4FC3-8338-BBE85C2919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63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 err="1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 err="1"/>
              <a:t>abc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标题占位符 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01650" y="314420"/>
            <a:ext cx="10852151" cy="660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6200" tIns="28575" rIns="57150" bIns="28575" numCol="1" anchor="t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rgbClr val="1B509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</a:lstStyle>
          <a:p>
            <a:endParaRPr lang="zh-CN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99782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8" r:id="rId1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1E5293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1E5293"/>
        </a:buClr>
        <a:buSzPct val="70000"/>
        <a:buFont typeface="Wingdings" panose="05000000000000000000" pitchFamily="2" charset="2"/>
        <a:buChar char="l"/>
        <a:defRPr sz="21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Arial" panose="020B0604020202020204" pitchFamily="34" charset="0"/>
          <a:ea typeface="幼圆" panose="02010509060101010101" pitchFamily="49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4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w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第五章 贪心方法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181510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6786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0808"/>
            <a:ext cx="10515600" cy="4404147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5.1 </a:t>
            </a:r>
            <a:r>
              <a:rPr lang="zh-CN" altLang="en-US" sz="2800" dirty="0"/>
              <a:t>一般方法</a:t>
            </a:r>
          </a:p>
          <a:p>
            <a:r>
              <a:rPr lang="en-US" altLang="zh-CN" sz="2800" dirty="0"/>
              <a:t>5.2 </a:t>
            </a:r>
            <a:r>
              <a:rPr lang="zh-CN" altLang="en-US" sz="2800" dirty="0"/>
              <a:t>背包问题</a:t>
            </a:r>
          </a:p>
          <a:p>
            <a:r>
              <a:rPr lang="en-US" altLang="zh-CN" sz="2800" dirty="0"/>
              <a:t>5.3 </a:t>
            </a:r>
            <a:r>
              <a:rPr lang="zh-CN" altLang="en-US" sz="2800" dirty="0"/>
              <a:t>带有期限的作业排序</a:t>
            </a:r>
          </a:p>
          <a:p>
            <a:r>
              <a:rPr lang="en-US" altLang="zh-CN" sz="2800" dirty="0"/>
              <a:t>5.4 </a:t>
            </a:r>
            <a:r>
              <a:rPr lang="zh-CN" altLang="en-US" sz="2800" dirty="0"/>
              <a:t>最小生成树问题</a:t>
            </a:r>
            <a:endParaRPr lang="en-US" altLang="zh-CN" sz="2800" dirty="0"/>
          </a:p>
          <a:p>
            <a:r>
              <a:rPr lang="en-US" altLang="zh-CN" sz="2800" dirty="0"/>
              <a:t>5.5 </a:t>
            </a:r>
            <a:r>
              <a:rPr lang="zh-CN" altLang="en-US" sz="2800" dirty="0"/>
              <a:t>货郎担问题</a:t>
            </a:r>
            <a:endParaRPr lang="en-US" altLang="zh-CN" sz="2800" dirty="0"/>
          </a:p>
          <a:p>
            <a:r>
              <a:rPr lang="en-US" altLang="zh-CN" sz="2800" dirty="0"/>
              <a:t>5.6 </a:t>
            </a:r>
            <a:r>
              <a:rPr lang="zh-CN" altLang="en-US" sz="2800" dirty="0"/>
              <a:t>小结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99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5.1 </a:t>
            </a:r>
            <a:r>
              <a:rPr lang="zh-CN" altLang="en-US" sz="4000" dirty="0"/>
              <a:t>一般方法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37591"/>
            <a:ext cx="10515600" cy="4339371"/>
          </a:xfrm>
        </p:spPr>
        <p:txBody>
          <a:bodyPr/>
          <a:lstStyle/>
          <a:p>
            <a:r>
              <a:rPr lang="zh-CN" altLang="en-US" sz="2800" dirty="0"/>
              <a:t>方法适用的问题特点</a:t>
            </a:r>
          </a:p>
          <a:p>
            <a:r>
              <a:rPr lang="zh-CN" altLang="en-US" sz="2800" dirty="0"/>
              <a:t>方法的基础知识</a:t>
            </a:r>
          </a:p>
          <a:p>
            <a:r>
              <a:rPr lang="zh-CN" altLang="en-US" sz="2800" dirty="0"/>
              <a:t>方法的求解步骤及核心问题</a:t>
            </a:r>
          </a:p>
          <a:p>
            <a:r>
              <a:rPr lang="zh-CN" altLang="en-US" sz="2800" dirty="0"/>
              <a:t>方法的抽象化控制</a:t>
            </a:r>
          </a:p>
          <a:p>
            <a:r>
              <a:rPr lang="zh-CN" altLang="en-US" sz="2800" dirty="0"/>
              <a:t>方法的缺点和优点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8346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4510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一个现实世界中的例子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37842"/>
            <a:ext cx="10515600" cy="4351338"/>
          </a:xfrm>
        </p:spPr>
        <p:txBody>
          <a:bodyPr/>
          <a:lstStyle/>
          <a:p>
            <a:r>
              <a:rPr kumimoji="1" lang="zh-CN" altLang="en-US" sz="2800" dirty="0"/>
              <a:t>如果有一个机会可以帮助你梦想成真，那么你希望参加哪两个活动：</a:t>
            </a:r>
          </a:p>
          <a:p>
            <a:pPr lvl="1"/>
            <a:r>
              <a:rPr kumimoji="1" lang="en-US" altLang="zh-CN" sz="2400" dirty="0"/>
              <a:t>1 </a:t>
            </a:r>
            <a:r>
              <a:rPr kumimoji="1" lang="zh-CN" altLang="en-US" sz="2400" dirty="0"/>
              <a:t>看足球世界杯总决赛；</a:t>
            </a:r>
          </a:p>
          <a:p>
            <a:pPr lvl="1"/>
            <a:r>
              <a:rPr kumimoji="1" lang="en-US" altLang="zh-CN" sz="2400" dirty="0"/>
              <a:t>2 </a:t>
            </a:r>
            <a:r>
              <a:rPr kumimoji="1" lang="zh-CN" altLang="en-US" sz="2400" dirty="0"/>
              <a:t>游览新西兰风光；</a:t>
            </a:r>
          </a:p>
          <a:p>
            <a:pPr lvl="1"/>
            <a:r>
              <a:rPr kumimoji="1" lang="en-US" altLang="zh-CN" sz="2400" dirty="0"/>
              <a:t>3 </a:t>
            </a:r>
            <a:r>
              <a:rPr kumimoji="1" lang="zh-CN" altLang="en-US" sz="2400" dirty="0"/>
              <a:t>学习潜水；</a:t>
            </a:r>
          </a:p>
          <a:p>
            <a:pPr lvl="1"/>
            <a:r>
              <a:rPr kumimoji="1" lang="en-US" altLang="zh-CN" sz="2400" dirty="0"/>
              <a:t>4 </a:t>
            </a:r>
            <a:r>
              <a:rPr kumimoji="1" lang="zh-CN" altLang="en-US" sz="2400" dirty="0"/>
              <a:t>听阿黛尔的演唱会。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7104112" y="3068960"/>
            <a:ext cx="2159000" cy="1511300"/>
            <a:chOff x="976" y="2750"/>
            <a:chExt cx="1360" cy="952"/>
          </a:xfrm>
        </p:grpSpPr>
        <p:sp>
          <p:nvSpPr>
            <p:cNvPr id="6" name="Oval 13"/>
            <p:cNvSpPr>
              <a:spLocks noChangeArrowheads="1"/>
            </p:cNvSpPr>
            <p:nvPr/>
          </p:nvSpPr>
          <p:spPr bwMode="auto">
            <a:xfrm>
              <a:off x="976" y="2750"/>
              <a:ext cx="453" cy="317"/>
            </a:xfrm>
            <a:prstGeom prst="ellips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1</a:t>
              </a:r>
              <a:r>
                <a:rPr lang="zh-CN" altLang="en-US" sz="2000" b="0">
                  <a:cs typeface="Arial" panose="020B0604020202020204" pitchFamily="34" charset="0"/>
                </a:rPr>
                <a:t>、</a:t>
              </a:r>
              <a:r>
                <a:rPr lang="en-US" altLang="zh-CN" sz="2000" b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" name="Oval 14"/>
            <p:cNvSpPr>
              <a:spLocks noChangeArrowheads="1"/>
            </p:cNvSpPr>
            <p:nvPr/>
          </p:nvSpPr>
          <p:spPr bwMode="auto">
            <a:xfrm>
              <a:off x="1429" y="2750"/>
              <a:ext cx="453" cy="317"/>
            </a:xfrm>
            <a:prstGeom prst="ellips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1</a:t>
              </a:r>
              <a:r>
                <a:rPr lang="zh-CN" altLang="en-US" sz="2000" b="0">
                  <a:cs typeface="Arial" panose="020B0604020202020204" pitchFamily="34" charset="0"/>
                </a:rPr>
                <a:t>、</a:t>
              </a:r>
              <a:r>
                <a:rPr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Oval 15"/>
            <p:cNvSpPr>
              <a:spLocks noChangeArrowheads="1"/>
            </p:cNvSpPr>
            <p:nvPr/>
          </p:nvSpPr>
          <p:spPr bwMode="auto">
            <a:xfrm>
              <a:off x="1882" y="2750"/>
              <a:ext cx="453" cy="317"/>
            </a:xfrm>
            <a:prstGeom prst="ellips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1</a:t>
              </a:r>
              <a:r>
                <a:rPr lang="zh-CN" altLang="en-US" sz="2000" b="0">
                  <a:cs typeface="Arial" panose="020B0604020202020204" pitchFamily="34" charset="0"/>
                </a:rPr>
                <a:t>、</a:t>
              </a:r>
              <a:r>
                <a:rPr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9" name="Oval 16"/>
            <p:cNvSpPr>
              <a:spLocks noChangeArrowheads="1"/>
            </p:cNvSpPr>
            <p:nvPr/>
          </p:nvSpPr>
          <p:spPr bwMode="auto">
            <a:xfrm>
              <a:off x="1429" y="3067"/>
              <a:ext cx="453" cy="317"/>
            </a:xfrm>
            <a:prstGeom prst="ellips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2</a:t>
              </a:r>
              <a:r>
                <a:rPr lang="zh-CN" altLang="en-US" sz="2000" b="0">
                  <a:cs typeface="Arial" panose="020B0604020202020204" pitchFamily="34" charset="0"/>
                </a:rPr>
                <a:t>、</a:t>
              </a:r>
              <a:r>
                <a:rPr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0" name="Oval 17"/>
            <p:cNvSpPr>
              <a:spLocks noChangeArrowheads="1"/>
            </p:cNvSpPr>
            <p:nvPr/>
          </p:nvSpPr>
          <p:spPr bwMode="auto">
            <a:xfrm>
              <a:off x="1882" y="3067"/>
              <a:ext cx="453" cy="317"/>
            </a:xfrm>
            <a:prstGeom prst="ellips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2</a:t>
              </a:r>
              <a:r>
                <a:rPr lang="zh-CN" altLang="en-US" sz="2000" b="0">
                  <a:cs typeface="Arial" panose="020B0604020202020204" pitchFamily="34" charset="0"/>
                </a:rPr>
                <a:t>、</a:t>
              </a:r>
              <a:r>
                <a:rPr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1" name="Oval 18"/>
            <p:cNvSpPr>
              <a:spLocks noChangeArrowheads="1"/>
            </p:cNvSpPr>
            <p:nvPr/>
          </p:nvSpPr>
          <p:spPr bwMode="auto">
            <a:xfrm>
              <a:off x="1883" y="3385"/>
              <a:ext cx="453" cy="317"/>
            </a:xfrm>
            <a:prstGeom prst="ellipse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3</a:t>
              </a:r>
              <a:r>
                <a:rPr lang="zh-CN" altLang="en-US" sz="2000" b="0">
                  <a:cs typeface="Arial" panose="020B0604020202020204" pitchFamily="34" charset="0"/>
                </a:rPr>
                <a:t>、</a:t>
              </a:r>
              <a:r>
                <a:rPr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16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贪心方法适用的问题特点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2400" dirty="0"/>
              <a:t>有这样一类问题：它有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个输入</a:t>
            </a:r>
            <a:r>
              <a:rPr kumimoji="1" lang="en-US" altLang="zh-CN" sz="2400" dirty="0"/>
              <a:t>, </a:t>
            </a:r>
            <a:r>
              <a:rPr kumimoji="1" lang="zh-CN" altLang="en-US" sz="2400" dirty="0"/>
              <a:t>而它的解就是这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个输入的某个子集，这些子集必须满足某些事先给定的条件。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约束条件：必须满足的条件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可行解：满足约束条件的子集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目标函数：为了衡量可行解的优劣，预先给定衡量标准，以函数形式给出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最优解：使目标函数取极值</a:t>
            </a:r>
            <a:r>
              <a:rPr lang="en-US" altLang="zh-CN" sz="2400" dirty="0"/>
              <a:t>(</a:t>
            </a:r>
            <a:r>
              <a:rPr lang="zh-CN" altLang="en-US" sz="2400" dirty="0"/>
              <a:t>极大值或极小值</a:t>
            </a:r>
            <a:r>
              <a:rPr lang="en-US" altLang="zh-CN" sz="2400" dirty="0"/>
              <a:t>)</a:t>
            </a:r>
            <a:r>
              <a:rPr lang="zh-CN" altLang="en-US" sz="2400" dirty="0"/>
              <a:t>的可行解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2495600" y="5411807"/>
            <a:ext cx="6621288" cy="576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思考：上述术语和上一页的例子如何对应？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贪心法的求解思想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28800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贪心方法是一种“只顾眼前”的分级处理方法：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400" dirty="0"/>
              <a:t>根据题意选取一种量度标准；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400" dirty="0"/>
              <a:t>按该标准一次选中一个输入；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400" dirty="0"/>
              <a:t>如果这个输入和当前的部分解加在一起满足约束条件，则将其加入到部分解中；否则舍弃掉。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03512" y="4909146"/>
            <a:ext cx="7992888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思考：贪心法得到的可行解是否一定是问题的最优解？</a:t>
            </a:r>
            <a:endParaRPr kumimoji="1" lang="en-US" altLang="zh-CN" sz="24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取决于贪心法中的哪个环节？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909692" y="5914066"/>
            <a:ext cx="1512168" cy="499231"/>
          </a:xfrm>
          <a:prstGeom prst="wedgeRoundRectCallout">
            <a:avLst>
              <a:gd name="adj1" fmla="val -41555"/>
              <a:gd name="adj2" fmla="val -72244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量度标准</a:t>
            </a:r>
          </a:p>
        </p:txBody>
      </p:sp>
    </p:spTree>
    <p:extLst>
      <p:ext uri="{BB962C8B-B14F-4D97-AF65-F5344CB8AC3E}">
        <p14:creationId xmlns:p14="http://schemas.microsoft.com/office/powerpoint/2010/main" val="304220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07368" y="1484784"/>
            <a:ext cx="6994232" cy="475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/>
              <a:t>Procedure GREEDY(A, n)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//A(1:n)</a:t>
            </a:r>
            <a:r>
              <a:rPr lang="zh-CN" altLang="en-US" sz="2400" dirty="0">
                <a:latin typeface="幼圆" panose="02010509060101010101" pitchFamily="49" charset="-122"/>
              </a:rPr>
              <a:t>包含</a:t>
            </a:r>
            <a:r>
              <a:rPr lang="en-US" altLang="zh-CN" sz="2400" dirty="0"/>
              <a:t>n</a:t>
            </a:r>
            <a:r>
              <a:rPr lang="zh-CN" altLang="en-US" sz="2400" dirty="0">
                <a:latin typeface="幼圆" panose="02010509060101010101" pitchFamily="49" charset="-122"/>
              </a:rPr>
              <a:t>个输入</a:t>
            </a:r>
            <a:endParaRPr lang="en-US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solution←</a:t>
            </a:r>
            <a:r>
              <a:rPr lang="el-GR" altLang="zh-CN" sz="2400" dirty="0"/>
              <a:t>Φ</a:t>
            </a:r>
            <a:r>
              <a:rPr lang="el-GR" altLang="zh-CN" sz="2400" dirty="0">
                <a:latin typeface="宋体" panose="02010600030101010101" pitchFamily="2" charset="-122"/>
              </a:rPr>
              <a:t> </a:t>
            </a:r>
            <a:r>
              <a:rPr lang="en-US" altLang="zh-CN" sz="2400" dirty="0"/>
              <a:t>//</a:t>
            </a:r>
            <a:r>
              <a:rPr lang="zh-CN" altLang="en-US" sz="2400" dirty="0"/>
              <a:t>解向量</a:t>
            </a:r>
            <a:r>
              <a:rPr lang="en-US" altLang="zh-CN" sz="2400" dirty="0"/>
              <a:t>solution</a:t>
            </a:r>
            <a:r>
              <a:rPr lang="zh-CN" altLang="en-US" sz="2400" dirty="0"/>
              <a:t>初始化为空</a:t>
            </a:r>
            <a:endParaRPr lang="en-US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←1 to n do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x← </a:t>
            </a:r>
            <a:r>
              <a:rPr lang="en-US" altLang="zh-CN" sz="2400" dirty="0">
                <a:solidFill>
                  <a:srgbClr val="FF0000"/>
                </a:solidFill>
              </a:rPr>
              <a:t>SELECT</a:t>
            </a:r>
            <a:r>
              <a:rPr lang="en-US" altLang="zh-CN" sz="2400" dirty="0"/>
              <a:t>(A)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if </a:t>
            </a:r>
            <a:r>
              <a:rPr lang="en-US" altLang="zh-CN" sz="2400" dirty="0">
                <a:solidFill>
                  <a:srgbClr val="FF0000"/>
                </a:solidFill>
              </a:rPr>
              <a:t>FEASIBLE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solution,x</a:t>
            </a:r>
            <a:r>
              <a:rPr lang="en-US" altLang="zh-CN" sz="2400" dirty="0"/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then </a:t>
            </a:r>
            <a:r>
              <a:rPr lang="en-US" altLang="zh-CN" sz="2400" dirty="0" err="1"/>
              <a:t>solution←</a:t>
            </a:r>
            <a:r>
              <a:rPr lang="en-US" altLang="zh-CN" sz="2400" dirty="0" err="1">
                <a:solidFill>
                  <a:srgbClr val="FF0000"/>
                </a:solidFill>
              </a:rPr>
              <a:t>UNION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solution,x</a:t>
            </a:r>
            <a:r>
              <a:rPr lang="en-US" altLang="zh-CN" sz="2400" dirty="0"/>
              <a:t>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endif</a:t>
            </a:r>
            <a:endParaRPr lang="en-US" altLang="zh-CN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repeat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return (solution)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end GREEDY</a:t>
            </a:r>
            <a:endParaRPr lang="el-GR" altLang="zh-CN" sz="2400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73075"/>
            <a:ext cx="8229600" cy="793751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算法</a:t>
            </a:r>
            <a:r>
              <a:rPr lang="en-US" altLang="zh-CN" sz="4000" dirty="0"/>
              <a:t>5.1 </a:t>
            </a:r>
            <a:r>
              <a:rPr lang="zh-CN" altLang="en-US" sz="4000" dirty="0"/>
              <a:t>贪心法的抽象化控制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6672064" y="2204864"/>
            <a:ext cx="4757491" cy="309634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SELECT</a:t>
            </a:r>
            <a:r>
              <a:rPr lang="zh-CN" altLang="en-US" sz="2400" dirty="0"/>
              <a:t>：按某种最优量度标准从</a:t>
            </a:r>
            <a:r>
              <a:rPr lang="en-US" altLang="zh-CN" sz="2400" dirty="0"/>
              <a:t>A</a:t>
            </a:r>
            <a:r>
              <a:rPr lang="zh-CN" altLang="en-US" sz="2400" dirty="0"/>
              <a:t>中选择一个输入赋值给</a:t>
            </a:r>
            <a:r>
              <a:rPr lang="en-US" altLang="zh-CN" sz="2400" dirty="0"/>
              <a:t>x,</a:t>
            </a:r>
            <a:r>
              <a:rPr lang="zh-CN" altLang="en-US" sz="2400" dirty="0"/>
              <a:t>并从</a:t>
            </a:r>
            <a:r>
              <a:rPr lang="en-US" altLang="zh-CN" sz="2400" dirty="0"/>
              <a:t>A</a:t>
            </a:r>
            <a:r>
              <a:rPr lang="zh-CN" altLang="en-US" sz="2400" dirty="0"/>
              <a:t>中消去它</a:t>
            </a:r>
            <a:endParaRPr lang="en-US" altLang="zh-CN" sz="2400" dirty="0"/>
          </a:p>
          <a:p>
            <a:r>
              <a:rPr lang="en-US" altLang="zh-CN" sz="2400" dirty="0"/>
              <a:t>FEASIBLE</a:t>
            </a:r>
            <a:r>
              <a:rPr kumimoji="1" lang="zh-CN" altLang="en-US" sz="2400" dirty="0"/>
              <a:t>：</a:t>
            </a:r>
            <a:r>
              <a:rPr lang="zh-CN" altLang="en-US" sz="2400" dirty="0"/>
              <a:t>判定</a:t>
            </a:r>
            <a:r>
              <a:rPr lang="en-US" altLang="zh-CN" sz="2400" dirty="0"/>
              <a:t>x</a:t>
            </a:r>
            <a:r>
              <a:rPr lang="zh-CN" altLang="en-US" sz="2400" dirty="0"/>
              <a:t>是否可以包含在解向量中。</a:t>
            </a:r>
            <a:endParaRPr lang="en-US" altLang="zh-CN" sz="2400" dirty="0"/>
          </a:p>
          <a:p>
            <a:r>
              <a:rPr lang="en-US" altLang="zh-CN" sz="2400" dirty="0"/>
              <a:t>UNION</a:t>
            </a:r>
            <a:r>
              <a:rPr kumimoji="1" lang="zh-CN" altLang="en-US" sz="2400" dirty="0"/>
              <a:t>：</a:t>
            </a:r>
            <a:r>
              <a:rPr lang="zh-CN" altLang="en-US" sz="2400" dirty="0"/>
              <a:t>将</a:t>
            </a:r>
            <a:r>
              <a:rPr lang="en-US" altLang="zh-CN" sz="2400" dirty="0"/>
              <a:t>x</a:t>
            </a:r>
            <a:r>
              <a:rPr lang="zh-CN" altLang="en-US" sz="2400" dirty="0"/>
              <a:t>与解向量结合并修改约束判定。</a:t>
            </a:r>
          </a:p>
        </p:txBody>
      </p:sp>
    </p:spTree>
    <p:extLst>
      <p:ext uri="{BB962C8B-B14F-4D97-AF65-F5344CB8AC3E}">
        <p14:creationId xmlns:p14="http://schemas.microsoft.com/office/powerpoint/2010/main" val="367162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767408" y="169073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贪心法的特点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55313" y="1449567"/>
            <a:ext cx="10369152" cy="489654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贪心法设计求解的核心问题是</a:t>
            </a:r>
            <a:endParaRPr lang="en-US" altLang="zh-CN" sz="2400" dirty="0"/>
          </a:p>
          <a:p>
            <a:pPr lvl="1"/>
            <a:r>
              <a:rPr lang="zh-CN" altLang="en-US" sz="2400" dirty="0"/>
              <a:t>选择能产生问题最优解的量度标准，即</a:t>
            </a:r>
            <a:r>
              <a:rPr lang="zh-CN" altLang="en-US" sz="2400" dirty="0">
                <a:solidFill>
                  <a:srgbClr val="FF0000"/>
                </a:solidFill>
              </a:rPr>
              <a:t>最优量度标准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缺点：</a:t>
            </a:r>
          </a:p>
          <a:p>
            <a:pPr lvl="1" eaLnBrk="1" hangingPunct="1"/>
            <a:r>
              <a:rPr lang="zh-CN" altLang="en-US" sz="2400" dirty="0"/>
              <a:t>不是对所有问题都能得到最优解</a:t>
            </a:r>
            <a:endParaRPr lang="en-US" altLang="zh-CN" sz="2400" dirty="0"/>
          </a:p>
          <a:p>
            <a:pPr lvl="1"/>
            <a:r>
              <a:rPr lang="zh-CN" altLang="en-US" sz="2400" dirty="0"/>
              <a:t>基于目标函数制定的度量标准不一定是最优的</a:t>
            </a:r>
            <a:endParaRPr lang="en-US" altLang="zh-CN" sz="2400" dirty="0"/>
          </a:p>
          <a:p>
            <a:pPr lvl="1"/>
            <a:r>
              <a:rPr lang="zh-CN" altLang="en-US" sz="2400" dirty="0"/>
              <a:t>最优量度标准需要经过证明</a:t>
            </a:r>
            <a:endParaRPr lang="en-US" altLang="zh-CN" sz="2400" dirty="0"/>
          </a:p>
          <a:p>
            <a:r>
              <a:rPr lang="zh-CN" altLang="en-US" sz="2400" dirty="0"/>
              <a:t>优点：</a:t>
            </a:r>
          </a:p>
          <a:p>
            <a:pPr lvl="1" eaLnBrk="1" hangingPunct="1"/>
            <a:r>
              <a:rPr lang="zh-CN" altLang="en-US" sz="2400" dirty="0"/>
              <a:t>一旦证明成立后，它就是一种高效的算法</a:t>
            </a:r>
          </a:p>
          <a:p>
            <a:pPr lvl="1" eaLnBrk="1" hangingPunct="1"/>
            <a:r>
              <a:rPr lang="zh-CN" altLang="en-US" sz="2400" dirty="0"/>
              <a:t>策略的构造简单易行</a:t>
            </a:r>
          </a:p>
          <a:p>
            <a:pPr lvl="1" eaLnBrk="1" hangingPunct="1"/>
            <a:r>
              <a:rPr lang="zh-CN" altLang="en-US" sz="2400" dirty="0"/>
              <a:t>对许多问题都能产生整体最优解或者近似最优解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5.2  </a:t>
            </a:r>
            <a:r>
              <a:rPr lang="zh-CN" altLang="en-US" sz="4000" dirty="0"/>
              <a:t>背包问题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问题描述</a:t>
            </a:r>
          </a:p>
          <a:p>
            <a:r>
              <a:rPr kumimoji="1" lang="zh-CN" altLang="en-US" sz="2800" dirty="0"/>
              <a:t>背包问题实例</a:t>
            </a:r>
          </a:p>
          <a:p>
            <a:r>
              <a:rPr kumimoji="1" lang="zh-CN" altLang="en-US" sz="2800" dirty="0"/>
              <a:t>算法</a:t>
            </a:r>
            <a:r>
              <a:rPr kumimoji="1" lang="en-US" altLang="zh-CN" sz="2800" dirty="0"/>
              <a:t>5.2 </a:t>
            </a:r>
            <a:r>
              <a:rPr kumimoji="1" lang="zh-CN" altLang="en-US" sz="2800" dirty="0"/>
              <a:t>背包问题的贪心算法</a:t>
            </a:r>
          </a:p>
          <a:p>
            <a:r>
              <a:rPr kumimoji="1" lang="zh-CN" altLang="en-US" sz="2800" dirty="0"/>
              <a:t>定理</a:t>
            </a:r>
            <a:r>
              <a:rPr kumimoji="1" lang="en-US" altLang="zh-CN" sz="2800" dirty="0"/>
              <a:t>5.1</a:t>
            </a:r>
            <a:r>
              <a:rPr kumimoji="1" lang="zh-CN" altLang="en-US" sz="2800" dirty="0"/>
              <a:t>背包问题的最优解证明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913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95400" y="215568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问题描述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695401" y="1546225"/>
            <a:ext cx="10441160" cy="2408714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kumimoji="1" lang="zh-CN" altLang="en-US" sz="2400" dirty="0"/>
              <a:t>已知有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种物品和一个可容纳</a:t>
            </a:r>
            <a:r>
              <a:rPr kumimoji="1" lang="en-US" altLang="zh-CN" sz="2400" dirty="0"/>
              <a:t>M</a:t>
            </a:r>
            <a:r>
              <a:rPr kumimoji="1" lang="zh-CN" altLang="en-US" sz="2400" dirty="0"/>
              <a:t>重量的背包，每种物品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的重量为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i</a:t>
            </a:r>
            <a:r>
              <a:rPr kumimoji="1" lang="zh-CN" altLang="en-US" sz="2400" dirty="0"/>
              <a:t>，假定将物品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的某一部分</a:t>
            </a:r>
            <a:r>
              <a:rPr kumimoji="1" lang="en-US" altLang="zh-CN" sz="2400" dirty="0"/>
              <a:t>x</a:t>
            </a:r>
            <a:r>
              <a:rPr kumimoji="1" lang="en-US" altLang="zh-CN" sz="2400" baseline="-25000" dirty="0"/>
              <a:t>i</a:t>
            </a:r>
            <a:r>
              <a:rPr kumimoji="1" lang="zh-CN" altLang="en-US" sz="2400" dirty="0"/>
              <a:t>放入背包就会得到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x</a:t>
            </a:r>
            <a:r>
              <a:rPr kumimoji="1" lang="en-US" altLang="zh-CN" sz="2400" baseline="-25000" dirty="0" err="1"/>
              <a:t>i</a:t>
            </a:r>
            <a:r>
              <a:rPr kumimoji="1" lang="zh-CN" altLang="en-US" sz="2400" dirty="0"/>
              <a:t>的效益</a:t>
            </a:r>
            <a:r>
              <a:rPr kumimoji="1" lang="en-US" altLang="zh-CN" sz="2400" dirty="0"/>
              <a:t>(0≤x</a:t>
            </a:r>
            <a:r>
              <a:rPr kumimoji="1" lang="en-US" altLang="zh-CN" sz="2400" baseline="-25000" dirty="0"/>
              <a:t>i</a:t>
            </a:r>
            <a:r>
              <a:rPr kumimoji="1" lang="en-US" altLang="zh-CN" sz="2400" dirty="0"/>
              <a:t>≤1,p</a:t>
            </a:r>
            <a:r>
              <a:rPr kumimoji="1" lang="en-US" altLang="zh-CN" sz="2400" baseline="-25000" dirty="0"/>
              <a:t>i</a:t>
            </a:r>
            <a:r>
              <a:rPr kumimoji="1" lang="en-US" altLang="zh-CN" sz="2400" dirty="0"/>
              <a:t>&gt;0) </a:t>
            </a:r>
            <a:r>
              <a:rPr kumimoji="1" lang="zh-CN" altLang="en-US" sz="2400" dirty="0"/>
              <a:t>，采用怎样的装包方法会使装入背包物品的总效益为最大？</a:t>
            </a:r>
            <a:endParaRPr kumimoji="1" lang="en-US" altLang="zh-CN" sz="2400" dirty="0"/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dirty="0"/>
              <a:t>问题的形式化描述：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639616" y="4221088"/>
            <a:ext cx="5760639" cy="1368152"/>
            <a:chOff x="2279577" y="3789040"/>
            <a:chExt cx="5760639" cy="1368152"/>
          </a:xfrm>
        </p:grpSpPr>
        <p:sp>
          <p:nvSpPr>
            <p:cNvPr id="20490" name="Rectangle 8"/>
            <p:cNvSpPr>
              <a:spLocks noChangeArrowheads="1"/>
            </p:cNvSpPr>
            <p:nvPr/>
          </p:nvSpPr>
          <p:spPr bwMode="auto">
            <a:xfrm>
              <a:off x="2279577" y="3789040"/>
              <a:ext cx="5688632" cy="1152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/>
                <a:t>  </a:t>
              </a:r>
              <a:r>
                <a:rPr kumimoji="1"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</a:rPr>
                <a:t>极大化  </a:t>
              </a:r>
              <a:r>
                <a:rPr kumimoji="1" lang="zh-CN" altLang="en-US" sz="2400" b="0" dirty="0"/>
                <a:t>	 ∑ </a:t>
              </a:r>
              <a:r>
                <a:rPr kumimoji="1" lang="en-US" altLang="zh-CN" sz="2400" b="0" dirty="0" err="1"/>
                <a:t>p</a:t>
              </a:r>
              <a:r>
                <a:rPr kumimoji="1" lang="en-US" altLang="zh-CN" sz="2400" b="0" baseline="-25000" dirty="0" err="1"/>
                <a:t>i</a:t>
              </a:r>
              <a:r>
                <a:rPr kumimoji="1" lang="en-US" altLang="zh-CN" sz="2400" b="0" dirty="0" err="1"/>
                <a:t>x</a:t>
              </a:r>
              <a:r>
                <a:rPr kumimoji="1" lang="en-US" altLang="zh-CN" sz="2400" b="0" baseline="-25000" dirty="0" err="1"/>
                <a:t>i</a:t>
              </a:r>
              <a:r>
                <a:rPr kumimoji="1" lang="en-US" altLang="zh-CN" sz="2400" b="0" baseline="-25000" dirty="0"/>
                <a:t> </a:t>
              </a:r>
              <a:r>
                <a:rPr kumimoji="1" lang="en-US" altLang="zh-CN" sz="2400" b="0" dirty="0"/>
                <a:t>              0≤x</a:t>
              </a:r>
              <a:r>
                <a:rPr kumimoji="1" lang="en-US" altLang="zh-CN" sz="2400" b="0" baseline="-25000" dirty="0"/>
                <a:t>i</a:t>
              </a:r>
              <a:r>
                <a:rPr kumimoji="1" lang="en-US" altLang="zh-CN" sz="2400" b="0" dirty="0"/>
                <a:t>≤1, p</a:t>
              </a:r>
              <a:r>
                <a:rPr kumimoji="1" lang="en-US" altLang="zh-CN" sz="2400" b="0" baseline="-25000" dirty="0"/>
                <a:t>i</a:t>
              </a:r>
              <a:r>
                <a:rPr kumimoji="1" lang="en-US" altLang="zh-CN" sz="2400" b="0" dirty="0"/>
                <a:t>&gt;0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/>
                <a:t> </a:t>
              </a:r>
              <a:r>
                <a:rPr kumimoji="1"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</a:rPr>
                <a:t>约束条件</a:t>
              </a:r>
              <a:r>
                <a:rPr kumimoji="1" lang="zh-CN" altLang="en-US" sz="2400" b="0" dirty="0"/>
                <a:t>       ∑ </a:t>
              </a:r>
              <a:r>
                <a:rPr kumimoji="1" lang="en-US" altLang="zh-CN" sz="2400" b="0" dirty="0" err="1"/>
                <a:t>w</a:t>
              </a:r>
              <a:r>
                <a:rPr kumimoji="1" lang="en-US" altLang="zh-CN" sz="2400" b="0" baseline="-25000" dirty="0" err="1"/>
                <a:t>i</a:t>
              </a:r>
              <a:r>
                <a:rPr kumimoji="1" lang="en-US" altLang="zh-CN" sz="2400" b="0" dirty="0" err="1"/>
                <a:t>x</a:t>
              </a:r>
              <a:r>
                <a:rPr kumimoji="1" lang="en-US" altLang="zh-CN" sz="2400" b="0" baseline="-25000" dirty="0" err="1"/>
                <a:t>i</a:t>
              </a:r>
              <a:r>
                <a:rPr kumimoji="1" lang="en-US" altLang="zh-CN" sz="2400" b="0" dirty="0" err="1"/>
                <a:t>≤M</a:t>
              </a:r>
              <a:r>
                <a:rPr kumimoji="1" lang="en-US" altLang="zh-CN" sz="2400" b="0" dirty="0"/>
                <a:t>          </a:t>
              </a:r>
              <a:r>
                <a:rPr kumimoji="1" lang="en-US" altLang="zh-CN" sz="2400" b="0" dirty="0" err="1"/>
                <a:t>w</a:t>
              </a:r>
              <a:r>
                <a:rPr kumimoji="1" lang="en-US" altLang="zh-CN" sz="2400" b="0" baseline="-25000" dirty="0" err="1"/>
                <a:t>i</a:t>
              </a:r>
              <a:r>
                <a:rPr kumimoji="1" lang="en-US" altLang="zh-CN" sz="2400" b="0" dirty="0"/>
                <a:t>&gt;0, 1≤i≤n	</a:t>
              </a:r>
            </a:p>
          </p:txBody>
        </p:sp>
        <p:sp>
          <p:nvSpPr>
            <p:cNvPr id="20491" name="Text Box 9"/>
            <p:cNvSpPr txBox="1">
              <a:spLocks noChangeArrowheads="1"/>
            </p:cNvSpPr>
            <p:nvPr/>
          </p:nvSpPr>
          <p:spPr bwMode="auto">
            <a:xfrm>
              <a:off x="3969053" y="4221088"/>
              <a:ext cx="902811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0" dirty="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600" b="0" dirty="0">
                  <a:latin typeface="宋体" panose="02010600030101010101" pitchFamily="2" charset="-122"/>
                </a:rPr>
                <a:t>≤i≤n</a:t>
              </a:r>
            </a:p>
          </p:txBody>
        </p:sp>
        <p:sp>
          <p:nvSpPr>
            <p:cNvPr id="20492" name="Text Box 10"/>
            <p:cNvSpPr txBox="1">
              <a:spLocks noChangeArrowheads="1"/>
            </p:cNvSpPr>
            <p:nvPr/>
          </p:nvSpPr>
          <p:spPr bwMode="auto">
            <a:xfrm>
              <a:off x="3935760" y="4797152"/>
              <a:ext cx="902811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600" b="0" dirty="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1600" b="0" dirty="0">
                  <a:latin typeface="宋体" panose="02010600030101010101" pitchFamily="2" charset="-122"/>
                </a:rPr>
                <a:t>≤i≤n</a:t>
              </a:r>
            </a:p>
          </p:txBody>
        </p:sp>
        <p:sp>
          <p:nvSpPr>
            <p:cNvPr id="20493" name="Rectangle 11"/>
            <p:cNvSpPr>
              <a:spLocks noChangeArrowheads="1"/>
            </p:cNvSpPr>
            <p:nvPr/>
          </p:nvSpPr>
          <p:spPr bwMode="auto">
            <a:xfrm>
              <a:off x="2279577" y="3861792"/>
              <a:ext cx="5760639" cy="1295400"/>
            </a:xfrm>
            <a:prstGeom prst="rect">
              <a:avLst/>
            </a:prstGeom>
            <a:noFill/>
            <a:ln w="19050" algn="ctr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/>
                <a:t>	</a:t>
              </a:r>
            </a:p>
          </p:txBody>
        </p:sp>
      </p:grp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/>
              <a:t>背包问题实例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665661"/>
          </a:xfrm>
        </p:spPr>
        <p:txBody>
          <a:bodyPr/>
          <a:lstStyle/>
          <a:p>
            <a:r>
              <a:rPr lang="zh-CN" altLang="en-US" sz="2400" dirty="0"/>
              <a:t>考虑下列情况下的背包问题：</a:t>
            </a:r>
            <a:endParaRPr lang="en-US" altLang="zh-CN" sz="2400" dirty="0"/>
          </a:p>
          <a:p>
            <a:pPr lvl="1"/>
            <a:r>
              <a:rPr lang="en-US" altLang="zh-CN" sz="2400" dirty="0"/>
              <a:t>n=3</a:t>
            </a:r>
            <a:r>
              <a:rPr kumimoji="1" lang="en-US" altLang="zh-CN" sz="2400" dirty="0"/>
              <a:t>, </a:t>
            </a:r>
            <a:r>
              <a:rPr lang="en-US" altLang="zh-CN" sz="2400" dirty="0"/>
              <a:t>M=20</a:t>
            </a:r>
            <a:r>
              <a:rPr kumimoji="1" lang="en-US" altLang="zh-CN" sz="2400" dirty="0"/>
              <a:t>, (p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,p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,p</a:t>
            </a:r>
            <a:r>
              <a:rPr kumimoji="1" lang="en-US" altLang="zh-CN" sz="2400" baseline="-25000" dirty="0"/>
              <a:t>3</a:t>
            </a:r>
            <a:r>
              <a:rPr kumimoji="1" lang="en-US" altLang="zh-CN" sz="2400" dirty="0"/>
              <a:t>)=(25,24,15), (w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,w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,w</a:t>
            </a:r>
            <a:r>
              <a:rPr kumimoji="1" lang="en-US" altLang="zh-CN" sz="2400" baseline="-25000" dirty="0"/>
              <a:t>3</a:t>
            </a:r>
            <a:r>
              <a:rPr kumimoji="1" lang="en-US" altLang="zh-CN" sz="2400" dirty="0"/>
              <a:t>)=(18,15,10)</a:t>
            </a:r>
          </a:p>
          <a:p>
            <a:endParaRPr lang="en-US" altLang="zh-CN" sz="2400" dirty="0"/>
          </a:p>
          <a:p>
            <a:r>
              <a:rPr lang="zh-CN" altLang="en-US" sz="2400" dirty="0"/>
              <a:t>分析：</a:t>
            </a:r>
            <a:endParaRPr lang="en-US" altLang="zh-CN" sz="2400" dirty="0"/>
          </a:p>
          <a:p>
            <a:pPr lvl="1"/>
            <a:r>
              <a:rPr lang="zh-CN" altLang="en-US" sz="2400" dirty="0"/>
              <a:t>按效益值的非增次序</a:t>
            </a:r>
            <a:endParaRPr lang="en-US" altLang="zh-CN" sz="2400" dirty="0"/>
          </a:p>
          <a:p>
            <a:pPr lvl="1"/>
            <a:r>
              <a:rPr lang="zh-CN" altLang="en-US" sz="2400" dirty="0"/>
              <a:t>按物品重量的非降次序</a:t>
            </a:r>
            <a:endParaRPr lang="en-US" altLang="zh-CN" sz="2400" dirty="0"/>
          </a:p>
          <a:p>
            <a:pPr lvl="1"/>
            <a:r>
              <a:rPr lang="zh-CN" altLang="en-US" sz="2400" dirty="0"/>
              <a:t>按</a:t>
            </a:r>
            <a:r>
              <a:rPr lang="en-US" altLang="zh-CN" sz="2400" dirty="0"/>
              <a:t>pi/</a:t>
            </a:r>
            <a:r>
              <a:rPr lang="en-US" altLang="zh-CN" sz="2400" dirty="0" err="1"/>
              <a:t>wi</a:t>
            </a:r>
            <a:r>
              <a:rPr lang="zh-CN" altLang="en-US" sz="2400" dirty="0"/>
              <a:t>比值的非增次序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graphicFrame>
        <p:nvGraphicFramePr>
          <p:cNvPr id="5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675646"/>
              </p:ext>
            </p:extLst>
          </p:nvPr>
        </p:nvGraphicFramePr>
        <p:xfrm>
          <a:off x="4587007" y="3186037"/>
          <a:ext cx="4173289" cy="517525"/>
        </p:xfrm>
        <a:graphic>
          <a:graphicData uri="http://schemas.openxmlformats.org/drawingml/2006/table">
            <a:tbl>
              <a:tblPr/>
              <a:tblGrid>
                <a:gridCol w="1613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1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(x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,x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,x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)</a:t>
                      </a:r>
                    </a:p>
                  </a:txBody>
                  <a:tcPr marT="45434" marB="4543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∑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w</a:t>
                      </a:r>
                      <a:r>
                        <a:rPr kumimoji="1" lang="en-US" altLang="zh-CN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</a:t>
                      </a:r>
                      <a:endParaRPr kumimoji="1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T="45434" marB="4543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∑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p</a:t>
                      </a:r>
                      <a:r>
                        <a:rPr kumimoji="1" lang="en-US" altLang="zh-CN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</a:t>
                      </a:r>
                      <a:r>
                        <a:rPr kumimoji="1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x</a:t>
                      </a:r>
                      <a:r>
                        <a:rPr kumimoji="1" lang="en-US" altLang="zh-CN" sz="24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</a:t>
                      </a:r>
                      <a:endParaRPr kumimoji="1" lang="en-US" altLang="zh-CN" sz="24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T="45434" marB="4543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278536"/>
              </p:ext>
            </p:extLst>
          </p:nvPr>
        </p:nvGraphicFramePr>
        <p:xfrm>
          <a:off x="4584974" y="3703563"/>
          <a:ext cx="4175322" cy="517525"/>
        </p:xfrm>
        <a:graphic>
          <a:graphicData uri="http://schemas.openxmlformats.org/drawingml/2006/table">
            <a:tbl>
              <a:tblPr/>
              <a:tblGrid>
                <a:gridCol w="1634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(1,2/15,0)</a:t>
                      </a:r>
                    </a:p>
                  </a:txBody>
                  <a:tcPr marT="45434" marB="4543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20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marT="45434" marB="4543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28.2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marT="45434" marB="4543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031209"/>
              </p:ext>
            </p:extLst>
          </p:nvPr>
        </p:nvGraphicFramePr>
        <p:xfrm>
          <a:off x="4583832" y="4098712"/>
          <a:ext cx="4176464" cy="405066"/>
        </p:xfrm>
        <a:graphic>
          <a:graphicData uri="http://schemas.openxmlformats.org/drawingml/2006/table">
            <a:tbl>
              <a:tblPr/>
              <a:tblGrid>
                <a:gridCol w="1634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en-US" altLang="zh-CN" sz="2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0,2/3,1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20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31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103943"/>
              </p:ext>
            </p:extLst>
          </p:nvPr>
        </p:nvGraphicFramePr>
        <p:xfrm>
          <a:off x="4583832" y="4503779"/>
          <a:ext cx="4104456" cy="396240"/>
        </p:xfrm>
        <a:graphic>
          <a:graphicData uri="http://schemas.openxmlformats.org/drawingml/2006/table">
            <a:tbl>
              <a:tblPr/>
              <a:tblGrid>
                <a:gridCol w="1656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8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(0,1,1/2)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20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charset="-122"/>
                          <a:cs typeface="Arial" panose="020B0604020202020204" pitchFamily="34" charset="0"/>
                        </a:rPr>
                        <a:t>31.5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832304" y="3155592"/>
            <a:ext cx="2088232" cy="499231"/>
          </a:xfrm>
          <a:prstGeom prst="wedgeRoundRectCallout">
            <a:avLst>
              <a:gd name="adj1" fmla="val -53260"/>
              <a:gd name="adj2" fmla="val 96828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容量消耗过快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8864733" y="3963288"/>
            <a:ext cx="2088232" cy="499231"/>
          </a:xfrm>
          <a:prstGeom prst="wedgeRoundRectCallout">
            <a:avLst>
              <a:gd name="adj1" fmla="val -59575"/>
              <a:gd name="adj2" fmla="val -7081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效益值增长缓慢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8859280" y="4571602"/>
            <a:ext cx="2088232" cy="1096245"/>
          </a:xfrm>
          <a:prstGeom prst="wedgeRoundRectCallout">
            <a:avLst>
              <a:gd name="adj1" fmla="val -59576"/>
              <a:gd name="adj2" fmla="val -37715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每消耗单位容量，将获得当前最大的效益值</a:t>
            </a:r>
          </a:p>
        </p:txBody>
      </p:sp>
    </p:spTree>
    <p:extLst>
      <p:ext uri="{BB962C8B-B14F-4D97-AF65-F5344CB8AC3E}">
        <p14:creationId xmlns:p14="http://schemas.microsoft.com/office/powerpoint/2010/main" val="178411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/>
              <a:t>算法</a:t>
            </a:r>
            <a:r>
              <a:rPr kumimoji="1" lang="en-US" altLang="zh-CN" sz="4000" dirty="0"/>
              <a:t>5.2 </a:t>
            </a:r>
            <a:r>
              <a:rPr kumimoji="1" lang="zh-CN" altLang="en-US" sz="4000" dirty="0"/>
              <a:t>背包问题的贪心算法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2098618"/>
            <a:ext cx="9722296" cy="440857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/>
              <a:t>procedure GREEDY-KNAPSACK(</a:t>
            </a:r>
            <a:r>
              <a:rPr kumimoji="1" lang="en-US" altLang="zh-CN" sz="2400" dirty="0" err="1"/>
              <a:t>P,W,M,X,n</a:t>
            </a:r>
            <a:r>
              <a:rPr kumimoji="1" lang="en-US" altLang="zh-CN" sz="2400" dirty="0"/>
              <a:t>)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/>
              <a:t>real  P(1:n), W(1:n), X(1:n), M, cu; //X</a:t>
            </a:r>
            <a:r>
              <a:rPr kumimoji="1" lang="zh-CN" altLang="en-US" sz="2400" dirty="0"/>
              <a:t>表示解向量</a:t>
            </a:r>
            <a:r>
              <a:rPr kumimoji="1" lang="en-US" altLang="zh-CN" sz="2400" dirty="0"/>
              <a:t>  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/>
              <a:t>integer   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, n;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/>
              <a:t>X</a:t>
            </a:r>
            <a:r>
              <a:rPr kumimoji="1" lang="en-US" altLang="zh-CN" sz="2000" dirty="0">
                <a:sym typeface="Wingdings" panose="05000000000000000000" pitchFamily="2" charset="2"/>
              </a:rPr>
              <a:t></a:t>
            </a:r>
            <a:r>
              <a:rPr kumimoji="1" lang="en-US" altLang="zh-CN" sz="2000" dirty="0"/>
              <a:t> </a:t>
            </a:r>
            <a:r>
              <a:rPr kumimoji="1" lang="en-US" altLang="zh-CN" sz="2400" dirty="0">
                <a:sym typeface="Wingdings" panose="05000000000000000000" pitchFamily="2" charset="2"/>
              </a:rPr>
              <a:t>0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cu </a:t>
            </a:r>
            <a:r>
              <a:rPr kumimoji="1" lang="en-US" altLang="zh-CN" sz="2000" dirty="0">
                <a:sym typeface="Wingdings" panose="05000000000000000000" pitchFamily="2" charset="2"/>
              </a:rPr>
              <a:t> </a:t>
            </a:r>
            <a:r>
              <a:rPr kumimoji="1" lang="en-US" altLang="zh-CN" sz="2400" dirty="0">
                <a:sym typeface="Wingdings" panose="05000000000000000000" pitchFamily="2" charset="2"/>
              </a:rPr>
              <a:t>M //cu</a:t>
            </a:r>
            <a:r>
              <a:rPr kumimoji="1" lang="zh-CN" altLang="en-US" sz="2400" dirty="0">
                <a:sym typeface="Wingdings" panose="05000000000000000000" pitchFamily="2" charset="2"/>
              </a:rPr>
              <a:t>表示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背包剩余容量</a:t>
            </a:r>
            <a:endParaRPr kumimoji="1" lang="en-US" altLang="zh-CN" sz="2400" dirty="0"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for 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en-US" altLang="zh-CN" sz="2400" dirty="0">
                <a:sym typeface="Wingdings" panose="05000000000000000000" pitchFamily="2" charset="2"/>
              </a:rPr>
              <a:t> </a:t>
            </a:r>
            <a:r>
              <a:rPr kumimoji="1" lang="en-US" altLang="zh-CN" sz="2000" dirty="0">
                <a:sym typeface="Wingdings" panose="05000000000000000000" pitchFamily="2" charset="2"/>
              </a:rPr>
              <a:t> </a:t>
            </a:r>
            <a:r>
              <a:rPr kumimoji="1" lang="en-US" altLang="zh-CN" sz="2400" dirty="0">
                <a:sym typeface="Wingdings" panose="05000000000000000000" pitchFamily="2" charset="2"/>
              </a:rPr>
              <a:t>1 to n do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      if  (W(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en-US" altLang="zh-CN" sz="2400" dirty="0">
                <a:sym typeface="Wingdings" panose="05000000000000000000" pitchFamily="2" charset="2"/>
              </a:rPr>
              <a:t>)&gt;cu)  then  exit 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endif</a:t>
            </a:r>
            <a:r>
              <a:rPr kumimoji="1" lang="en-US" altLang="zh-CN" sz="2400" dirty="0">
                <a:sym typeface="Wingdings" panose="05000000000000000000" pitchFamily="2" charset="2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      X(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en-US" altLang="zh-CN" sz="2400" dirty="0">
                <a:sym typeface="Wingdings" panose="05000000000000000000" pitchFamily="2" charset="2"/>
              </a:rPr>
              <a:t>) </a:t>
            </a:r>
            <a:r>
              <a:rPr kumimoji="1" lang="en-US" altLang="zh-CN" sz="2000" dirty="0">
                <a:sym typeface="Wingdings" panose="05000000000000000000" pitchFamily="2" charset="2"/>
              </a:rPr>
              <a:t> </a:t>
            </a:r>
            <a:r>
              <a:rPr kumimoji="1" lang="en-US" altLang="zh-CN" sz="2400" dirty="0">
                <a:sym typeface="Wingdings" panose="05000000000000000000" pitchFamily="2" charset="2"/>
              </a:rPr>
              <a:t>1  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      cu </a:t>
            </a:r>
            <a:r>
              <a:rPr kumimoji="1" lang="en-US" altLang="zh-CN" sz="2000" dirty="0">
                <a:sym typeface="Wingdings" panose="05000000000000000000" pitchFamily="2" charset="2"/>
              </a:rPr>
              <a:t> </a:t>
            </a:r>
            <a:r>
              <a:rPr kumimoji="1" lang="en-US" altLang="zh-CN" sz="2400" dirty="0">
                <a:sym typeface="Wingdings" panose="05000000000000000000" pitchFamily="2" charset="2"/>
              </a:rPr>
              <a:t>cu-W(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en-US" altLang="zh-CN" sz="2400" dirty="0">
                <a:sym typeface="Wingdings" panose="05000000000000000000" pitchFamily="2" charset="2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repeat</a:t>
            </a: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sym typeface="Wingdings" panose="05000000000000000000" pitchFamily="2" charset="2"/>
              </a:rPr>
              <a:t>if (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en-US" altLang="zh-CN" sz="2400" dirty="0" err="1"/>
              <a:t>≤n</a:t>
            </a:r>
            <a:r>
              <a:rPr kumimoji="1" lang="en-US" altLang="zh-CN" sz="2400" dirty="0"/>
              <a:t>) then  X(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) </a:t>
            </a:r>
            <a:r>
              <a:rPr kumimoji="1" lang="en-US" altLang="zh-CN" sz="2000" dirty="0">
                <a:sym typeface="Wingdings" panose="05000000000000000000" pitchFamily="2" charset="2"/>
              </a:rPr>
              <a:t></a:t>
            </a:r>
            <a:r>
              <a:rPr kumimoji="1" lang="en-US" altLang="zh-CN" sz="2000" dirty="0"/>
              <a:t> </a:t>
            </a:r>
            <a:r>
              <a:rPr kumimoji="1" lang="en-US" altLang="zh-CN" sz="2400" dirty="0">
                <a:sym typeface="Wingdings" panose="05000000000000000000" pitchFamily="2" charset="2"/>
              </a:rPr>
              <a:t>cu/W(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en-US" altLang="zh-CN" sz="2400" dirty="0">
                <a:sym typeface="Wingdings" panose="05000000000000000000" pitchFamily="2" charset="2"/>
              </a:rPr>
              <a:t>) //</a:t>
            </a:r>
            <a:r>
              <a:rPr kumimoji="1" lang="zh-CN" altLang="en-US" sz="2400" dirty="0">
                <a:sym typeface="Wingdings" panose="05000000000000000000" pitchFamily="2" charset="2"/>
              </a:rPr>
              <a:t>物品</a:t>
            </a:r>
            <a:r>
              <a:rPr kumimoji="1" lang="en-US" altLang="zh-CN" sz="2400" dirty="0" err="1">
                <a:sym typeface="Wingdings" panose="05000000000000000000" pitchFamily="2" charset="2"/>
              </a:rPr>
              <a:t>i</a:t>
            </a:r>
            <a:r>
              <a:rPr kumimoji="1" lang="zh-CN" altLang="en-US" sz="2400" dirty="0">
                <a:sym typeface="Wingdings" panose="05000000000000000000" pitchFamily="2" charset="2"/>
              </a:rPr>
              <a:t>放入一部分</a:t>
            </a:r>
            <a:endParaRPr kumimoji="1" lang="en-US" altLang="zh-CN" sz="2400" dirty="0"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/>
              <a:t>end  GREEDY-KNAPSACK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5" name="TextBox 7"/>
          <p:cNvSpPr txBox="1"/>
          <p:nvPr/>
        </p:nvSpPr>
        <p:spPr>
          <a:xfrm flipH="1">
            <a:off x="983432" y="1486111"/>
            <a:ext cx="655272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先将物品按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pi/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wi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比值的非增次序排序</a:t>
            </a:r>
            <a:r>
              <a:rPr kumimoji="1"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降序</a:t>
            </a:r>
            <a:r>
              <a:rPr kumimoji="1"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312024" y="4437112"/>
            <a:ext cx="4968552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</a:t>
            </a:r>
            <a:r>
              <a:rPr kumimoji="1" lang="en-US" altLang="zh-CN" sz="2400" dirty="0">
                <a:solidFill>
                  <a:srgbClr val="FF0000"/>
                </a:solidFill>
              </a:rPr>
              <a:t>1</a:t>
            </a:r>
            <a:r>
              <a:rPr kumimoji="1" lang="zh-CN" altLang="en-US" sz="2400" dirty="0">
                <a:solidFill>
                  <a:srgbClr val="FF0000"/>
                </a:solidFill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算法的时间复杂度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？</a:t>
            </a:r>
          </a:p>
        </p:txBody>
      </p:sp>
      <p:sp>
        <p:nvSpPr>
          <p:cNvPr id="7" name="矩形 6"/>
          <p:cNvSpPr/>
          <p:nvPr/>
        </p:nvSpPr>
        <p:spPr>
          <a:xfrm>
            <a:off x="10823559" y="4386936"/>
            <a:ext cx="800219" cy="46166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charset="0"/>
              </a:rPr>
              <a:t>O(n)</a:t>
            </a:r>
            <a:endParaRPr lang="en-US" altLang="zh-CN" sz="2400" b="1" dirty="0">
              <a:solidFill>
                <a:srgbClr val="FF0000"/>
              </a:solidFill>
              <a:latin typeface="Arial" charset="0"/>
              <a:ea typeface="楷体_GB2312" pitchFamily="49" charset="-122"/>
              <a:sym typeface="Wingdings" pitchFamily="2" charset="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6761234" y="4982660"/>
            <a:ext cx="4862544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</a:t>
            </a:r>
            <a:r>
              <a:rPr kumimoji="1" lang="en-US" altLang="zh-CN" sz="2400" dirty="0">
                <a:solidFill>
                  <a:srgbClr val="FF0000"/>
                </a:solidFill>
              </a:rPr>
              <a:t>2</a:t>
            </a:r>
            <a:r>
              <a:rPr kumimoji="1" lang="zh-CN" altLang="en-US" sz="2400" dirty="0">
                <a:solidFill>
                  <a:srgbClr val="FF0000"/>
                </a:solidFill>
              </a:rPr>
              <a:t>：算法中实现了约束条件，如何确认当前可行解是最优解？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9360488" y="5980142"/>
            <a:ext cx="936104" cy="499231"/>
          </a:xfrm>
          <a:prstGeom prst="wedgeRoundRectCallout">
            <a:avLst>
              <a:gd name="adj1" fmla="val -52321"/>
              <a:gd name="adj2" fmla="val -72244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证明</a:t>
            </a:r>
          </a:p>
        </p:txBody>
      </p:sp>
    </p:spTree>
    <p:extLst>
      <p:ext uri="{BB962C8B-B14F-4D97-AF65-F5344CB8AC3E}">
        <p14:creationId xmlns:p14="http://schemas.microsoft.com/office/powerpoint/2010/main" val="321877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/>
              <a:t>最优量度标准证明的基本思想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6714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sz="2700" dirty="0"/>
              <a:t>把算法的贪心解与最优解相</a:t>
            </a:r>
            <a:r>
              <a:rPr kumimoji="1" lang="zh-CN" altLang="en-US" sz="2700" b="1" dirty="0">
                <a:solidFill>
                  <a:srgbClr val="C00000"/>
                </a:solidFill>
              </a:rPr>
              <a:t>比较</a:t>
            </a:r>
            <a:r>
              <a:rPr kumimoji="1" lang="zh-CN" altLang="en-US" sz="2700" dirty="0"/>
              <a:t>，如果这两个解不同，就去找开始</a:t>
            </a:r>
            <a:r>
              <a:rPr kumimoji="1" lang="zh-CN" altLang="en-US" sz="2700" b="1" dirty="0">
                <a:solidFill>
                  <a:srgbClr val="C00000"/>
                </a:solidFill>
              </a:rPr>
              <a:t>不同</a:t>
            </a:r>
            <a:r>
              <a:rPr kumimoji="1" lang="zh-CN" altLang="en-US" sz="2700" dirty="0"/>
              <a:t>的第一个</a:t>
            </a:r>
            <a:r>
              <a:rPr kumimoji="1" lang="en-US" altLang="zh-CN" sz="2700" dirty="0"/>
              <a:t>x</a:t>
            </a:r>
            <a:r>
              <a:rPr kumimoji="1" lang="en-US" altLang="zh-CN" sz="2700" baseline="-25000" dirty="0"/>
              <a:t>i</a:t>
            </a:r>
            <a:r>
              <a:rPr kumimoji="1" lang="zh-CN" altLang="en-US" sz="2700" dirty="0"/>
              <a:t>，然后设法用贪心解的</a:t>
            </a:r>
            <a:r>
              <a:rPr kumimoji="1" lang="en-US" altLang="zh-CN" sz="2700" dirty="0"/>
              <a:t>x</a:t>
            </a:r>
            <a:r>
              <a:rPr kumimoji="1" lang="en-US" altLang="zh-CN" sz="2700" baseline="-25000" dirty="0"/>
              <a:t>i</a:t>
            </a:r>
            <a:r>
              <a:rPr kumimoji="1" lang="zh-CN" altLang="en-US" sz="2700" dirty="0"/>
              <a:t>去</a:t>
            </a:r>
            <a:r>
              <a:rPr kumimoji="1" lang="zh-CN" altLang="en-US" sz="2700" b="1" dirty="0">
                <a:solidFill>
                  <a:srgbClr val="C00000"/>
                </a:solidFill>
              </a:rPr>
              <a:t>替换</a:t>
            </a:r>
            <a:r>
              <a:rPr kumimoji="1" lang="zh-CN" altLang="en-US" sz="2700" dirty="0"/>
              <a:t>掉最优解中的</a:t>
            </a:r>
            <a:r>
              <a:rPr kumimoji="1" lang="en-US" altLang="zh-CN" sz="2700" dirty="0"/>
              <a:t>x</a:t>
            </a:r>
            <a:r>
              <a:rPr kumimoji="1" lang="en-US" altLang="zh-CN" sz="2700" baseline="-25000" dirty="0"/>
              <a:t>i</a:t>
            </a:r>
            <a:r>
              <a:rPr kumimoji="1" lang="zh-CN" altLang="en-US" sz="2700" dirty="0"/>
              <a:t>，然后证明最优解在分量替换前后的</a:t>
            </a:r>
            <a:r>
              <a:rPr kumimoji="1" lang="zh-CN" altLang="en-US" sz="2700" b="1" dirty="0">
                <a:solidFill>
                  <a:srgbClr val="C00000"/>
                </a:solidFill>
              </a:rPr>
              <a:t>目标函数值无任何变化</a:t>
            </a:r>
            <a:r>
              <a:rPr kumimoji="1" lang="zh-CN" altLang="en-US" sz="2700" dirty="0"/>
              <a:t>。</a:t>
            </a:r>
          </a:p>
          <a:p>
            <a:pPr>
              <a:lnSpc>
                <a:spcPct val="150000"/>
              </a:lnSpc>
            </a:pPr>
            <a:r>
              <a:rPr kumimoji="1" lang="zh-CN" altLang="en-US" sz="2700" b="1" dirty="0">
                <a:solidFill>
                  <a:srgbClr val="C00000"/>
                </a:solidFill>
              </a:rPr>
              <a:t>反复</a:t>
            </a:r>
            <a:r>
              <a:rPr kumimoji="1" lang="zh-CN" altLang="en-US" sz="2700" dirty="0"/>
              <a:t>进行这种</a:t>
            </a:r>
            <a:r>
              <a:rPr kumimoji="1" lang="zh-CN" altLang="en-US" sz="2700" b="1" dirty="0">
                <a:solidFill>
                  <a:srgbClr val="C00000"/>
                </a:solidFill>
              </a:rPr>
              <a:t>替换</a:t>
            </a:r>
            <a:r>
              <a:rPr kumimoji="1" lang="en-US" altLang="zh-CN" sz="2700" dirty="0"/>
              <a:t>,  </a:t>
            </a:r>
            <a:r>
              <a:rPr kumimoji="1" lang="zh-CN" altLang="en-US" sz="2700" dirty="0"/>
              <a:t>直到新产生的最优解与贪心解完全一样</a:t>
            </a:r>
            <a:r>
              <a:rPr kumimoji="1" lang="en-US" altLang="zh-CN" sz="2700" dirty="0"/>
              <a:t>, </a:t>
            </a:r>
            <a:r>
              <a:rPr kumimoji="1" lang="zh-CN" altLang="en-US" sz="2700" dirty="0"/>
              <a:t>从而证明了贪心解就是最优解。</a:t>
            </a:r>
            <a:endParaRPr lang="zh-CN" altLang="en-US" sz="2700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9918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824940" y="2636912"/>
            <a:ext cx="10339635" cy="3023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证明</a:t>
            </a:r>
            <a:r>
              <a:rPr kumimoji="1"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设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X=(x</a:t>
            </a:r>
            <a:r>
              <a:rPr kumimoji="1"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,…,</a:t>
            </a:r>
            <a:r>
              <a:rPr kumimoji="1"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="0" baseline="-25000" dirty="0" err="1"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kumimoji="1"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是算法所生成的贪心解。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1.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如果所有的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i 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等于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，显然这个解就是最优解。否则，设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是使</a:t>
            </a:r>
            <a:r>
              <a:rPr kumimoji="1"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="0" baseline="-25000" dirty="0" err="1"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kumimoji="1"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≠1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的最小下标</a:t>
            </a:r>
            <a:r>
              <a:rPr kumimoji="1"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由算法可知</a:t>
            </a:r>
            <a:r>
              <a:rPr kumimoji="1"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对于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1≤i&lt;j , x</a:t>
            </a:r>
            <a:r>
              <a:rPr kumimoji="1"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i 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=1;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对于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j&lt;</a:t>
            </a:r>
            <a:r>
              <a:rPr kumimoji="1"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i≤n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 , x</a:t>
            </a:r>
            <a:r>
              <a:rPr kumimoji="1"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i 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=0;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对于</a:t>
            </a:r>
            <a:r>
              <a:rPr kumimoji="1"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=j , 0 ≤ </a:t>
            </a:r>
            <a:r>
              <a:rPr kumimoji="1"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="0" baseline="-25000" dirty="0" err="1"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kumimoji="1"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&lt;1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kumimoji="1" lang="en-US" altLang="zh-CN" sz="24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kumimoji="1" lang="zh-CN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29535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定理</a:t>
            </a:r>
            <a:r>
              <a:rPr lang="en-US" altLang="zh-CN" sz="4000" dirty="0"/>
              <a:t>5.1 </a:t>
            </a:r>
            <a:r>
              <a:rPr kumimoji="1" lang="zh-CN" altLang="en-US" sz="4000" dirty="0"/>
              <a:t>背包问题的最优解证明</a:t>
            </a:r>
            <a:endParaRPr lang="en-US" altLang="zh-CN" sz="4000" dirty="0"/>
          </a:p>
        </p:txBody>
      </p:sp>
      <p:sp>
        <p:nvSpPr>
          <p:cNvPr id="27655" name="TextBox 3"/>
          <p:cNvSpPr txBox="1">
            <a:spLocks noChangeArrowheads="1"/>
          </p:cNvSpPr>
          <p:nvPr/>
        </p:nvSpPr>
        <p:spPr bwMode="auto">
          <a:xfrm>
            <a:off x="5231904" y="4037433"/>
            <a:ext cx="36734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0" baseline="-25000" dirty="0">
                <a:solidFill>
                  <a:srgbClr val="FF0000"/>
                </a:solidFill>
                <a:cs typeface="Arial" panose="020B0604020202020204" pitchFamily="34" charset="0"/>
              </a:rPr>
              <a:t>1</a:t>
            </a:r>
            <a:r>
              <a:rPr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…….x</a:t>
            </a:r>
            <a:r>
              <a:rPr lang="en-US" altLang="zh-CN" sz="2400" b="0" baseline="-25000" dirty="0">
                <a:solidFill>
                  <a:srgbClr val="FF0000"/>
                </a:solidFill>
                <a:cs typeface="Arial" panose="020B0604020202020204" pitchFamily="34" charset="0"/>
              </a:rPr>
              <a:t>j-1 </a:t>
            </a:r>
            <a:r>
              <a:rPr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0" baseline="-25000" dirty="0" err="1">
                <a:solidFill>
                  <a:srgbClr val="FF0000"/>
                </a:solidFill>
                <a:cs typeface="Arial" panose="020B0604020202020204" pitchFamily="34" charset="0"/>
              </a:rPr>
              <a:t>j</a:t>
            </a:r>
            <a:r>
              <a:rPr lang="en-US" altLang="zh-CN" sz="2400" b="0" baseline="-250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0" baseline="-25000" dirty="0">
                <a:solidFill>
                  <a:srgbClr val="FF0000"/>
                </a:solidFill>
                <a:cs typeface="Arial" panose="020B0604020202020204" pitchFamily="34" charset="0"/>
              </a:rPr>
              <a:t>j+1</a:t>
            </a:r>
            <a:r>
              <a:rPr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……</a:t>
            </a:r>
            <a:r>
              <a:rPr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0" baseline="-25000" dirty="0" err="1">
                <a:solidFill>
                  <a:srgbClr val="FF0000"/>
                </a:solidFill>
                <a:cs typeface="Arial" panose="020B0604020202020204" pitchFamily="34" charset="0"/>
              </a:rPr>
              <a:t>n</a:t>
            </a:r>
            <a:endParaRPr lang="en-US" altLang="zh-CN" sz="2400" b="0" baseline="-25000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 1, ….., 1, </a:t>
            </a:r>
            <a:r>
              <a:rPr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</a:rPr>
              <a:t>x</a:t>
            </a:r>
            <a:r>
              <a:rPr lang="en-US" altLang="zh-CN" sz="2400" b="0" baseline="-25000" dirty="0" err="1">
                <a:solidFill>
                  <a:srgbClr val="FF0000"/>
                </a:solidFill>
                <a:cs typeface="Arial" panose="020B0604020202020204" pitchFamily="34" charset="0"/>
              </a:rPr>
              <a:t>j</a:t>
            </a:r>
            <a:r>
              <a:rPr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, 0, ….., 0 </a:t>
            </a:r>
            <a:endParaRPr lang="zh-CN" altLang="en-US" sz="2400" b="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flipH="1">
            <a:off x="839416" y="1486111"/>
            <a:ext cx="10297144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如果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r>
              <a:rPr kumimoji="1"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/w</a:t>
            </a:r>
            <a:r>
              <a:rPr kumimoji="1"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≥ p</a:t>
            </a:r>
            <a:r>
              <a:rPr kumimoji="1"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/w</a:t>
            </a:r>
            <a:r>
              <a:rPr kumimoji="1"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 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≥ … ≥ 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/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w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，则算法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GREEDY-KNAPSACK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对于给定的背包问题实例生成一个最优解。</a:t>
            </a: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72064" y="4117741"/>
            <a:ext cx="288032" cy="823427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606" y="3333348"/>
            <a:ext cx="11233248" cy="2905546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kumimoji="1" lang="en-US" altLang="zh-CN" sz="2400" dirty="0"/>
              <a:t>3. </a:t>
            </a:r>
            <a:r>
              <a:rPr kumimoji="1" lang="zh-CN" altLang="en-US" sz="2400" dirty="0"/>
              <a:t>可以推断</a:t>
            </a:r>
            <a:r>
              <a:rPr kumimoji="1" lang="en-US" altLang="zh-CN" sz="2400" dirty="0">
                <a:solidFill>
                  <a:srgbClr val="FF0000"/>
                </a:solidFill>
              </a:rPr>
              <a:t>y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k</a:t>
            </a:r>
            <a:r>
              <a:rPr kumimoji="1" lang="en-US" altLang="zh-CN" sz="2400" dirty="0">
                <a:solidFill>
                  <a:srgbClr val="FF0000"/>
                </a:solidFill>
              </a:rPr>
              <a:t>&lt;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x</a:t>
            </a:r>
            <a:r>
              <a:rPr kumimoji="1" lang="en-US" altLang="zh-CN" sz="2400" baseline="-25000" dirty="0" err="1">
                <a:solidFill>
                  <a:srgbClr val="FF0000"/>
                </a:solidFill>
              </a:rPr>
              <a:t>k</a:t>
            </a:r>
            <a:r>
              <a:rPr kumimoji="1" lang="zh-CN" altLang="en-US" sz="2400" dirty="0"/>
              <a:t>成立；</a:t>
            </a:r>
            <a:r>
              <a:rPr lang="en-US" altLang="zh-CN" sz="2400" dirty="0"/>
              <a:t>k</a:t>
            </a:r>
            <a:r>
              <a:rPr lang="zh-CN" altLang="en-US" sz="2400" dirty="0"/>
              <a:t>与</a:t>
            </a:r>
            <a:r>
              <a:rPr lang="en-US" altLang="zh-CN" sz="2400" dirty="0"/>
              <a:t>j</a:t>
            </a:r>
            <a:r>
              <a:rPr lang="zh-CN" altLang="en-US" sz="2400" dirty="0"/>
              <a:t>的关系有三种可能的情况：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①</a:t>
            </a:r>
            <a:r>
              <a:rPr lang="zh-CN" altLang="en-US" sz="2400" dirty="0">
                <a:latin typeface="Times New Roman" panose="02020603050405020304" pitchFamily="18" charset="0"/>
              </a:rPr>
              <a:t>若</a:t>
            </a:r>
            <a:r>
              <a:rPr lang="en-US" altLang="zh-CN" sz="2400" dirty="0"/>
              <a:t>k&lt;j</a:t>
            </a:r>
            <a:r>
              <a:rPr lang="zh-CN" altLang="en-US" sz="2400" dirty="0">
                <a:latin typeface="Times New Roman" panose="02020603050405020304" pitchFamily="18" charset="0"/>
              </a:rPr>
              <a:t>，则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=1</a:t>
            </a:r>
            <a:r>
              <a:rPr lang="zh-CN" altLang="en-US" sz="2400" dirty="0">
                <a:latin typeface="Times New Roman" panose="02020603050405020304" pitchFamily="18" charset="0"/>
              </a:rPr>
              <a:t>，因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k</a:t>
            </a:r>
            <a:r>
              <a:rPr lang="en-US" altLang="zh-CN" sz="2400" dirty="0" err="1"/>
              <a:t>≠x</a:t>
            </a:r>
            <a:r>
              <a:rPr lang="en-US" altLang="zh-CN" sz="2400" baseline="-25000" dirty="0" err="1"/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，从而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&lt;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 ;</a:t>
            </a:r>
          </a:p>
          <a:p>
            <a:pPr>
              <a:spcBef>
                <a:spcPts val="600"/>
              </a:spcBef>
              <a:buClrTx/>
              <a:buSzTx/>
              <a:buFontTx/>
              <a:buAutoNum type="circleNumDbPlain" startAt="2"/>
              <a:defRPr/>
            </a:pPr>
            <a:r>
              <a:rPr lang="zh-CN" altLang="en-US" sz="2400" dirty="0">
                <a:latin typeface="Times New Roman" panose="02020603050405020304" pitchFamily="18" charset="0"/>
              </a:rPr>
              <a:t>若</a:t>
            </a:r>
            <a:r>
              <a:rPr lang="en-US" altLang="zh-CN" sz="2400" dirty="0"/>
              <a:t>k=j</a:t>
            </a:r>
            <a:r>
              <a:rPr lang="zh-CN" altLang="en-US" sz="2400" dirty="0">
                <a:latin typeface="Times New Roman" panose="02020603050405020304" pitchFamily="18" charset="0"/>
              </a:rPr>
              <a:t>，如果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&lt;y</a:t>
            </a:r>
            <a:r>
              <a:rPr lang="en-US" altLang="zh-CN" sz="2400" baseline="-25000" dirty="0"/>
              <a:t>k</a:t>
            </a:r>
            <a:r>
              <a:rPr lang="en-US" altLang="zh-CN" sz="2400" dirty="0"/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，因为</a:t>
            </a:r>
            <a:r>
              <a:rPr lang="zh-CN" altLang="en-US" sz="2400" dirty="0"/>
              <a:t>∑</a:t>
            </a:r>
            <a:r>
              <a:rPr lang="en-US" altLang="zh-CN" sz="2400" dirty="0" err="1"/>
              <a:t>w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 =M</a:t>
            </a:r>
            <a:r>
              <a:rPr lang="zh-CN" altLang="en-US" sz="2400" dirty="0">
                <a:latin typeface="Times New Roman" panose="02020603050405020304" pitchFamily="18" charset="0"/>
              </a:rPr>
              <a:t>，则有</a:t>
            </a:r>
            <a:r>
              <a:rPr lang="zh-CN" altLang="en-US" sz="2400" dirty="0"/>
              <a:t>∑</a:t>
            </a:r>
            <a:r>
              <a:rPr lang="en-US" altLang="zh-CN" sz="2400" dirty="0" err="1"/>
              <a:t>w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&gt;M</a:t>
            </a:r>
            <a:r>
              <a:rPr lang="zh-CN" altLang="en-US" sz="2400" dirty="0">
                <a:latin typeface="Times New Roman" panose="02020603050405020304" pitchFamily="18" charset="0"/>
              </a:rPr>
              <a:t>，这与</a:t>
            </a:r>
            <a:r>
              <a:rPr lang="zh-CN" altLang="en-US" sz="2400" dirty="0"/>
              <a:t>∑</a:t>
            </a:r>
            <a:r>
              <a:rPr lang="en-US" altLang="zh-CN" sz="2400" dirty="0" err="1"/>
              <a:t>w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 =M</a:t>
            </a:r>
            <a:r>
              <a:rPr lang="zh-CN" altLang="en-US" sz="2400" dirty="0">
                <a:latin typeface="Times New Roman" panose="02020603050405020304" pitchFamily="18" charset="0"/>
              </a:rPr>
              <a:t>矛盾，如果</a:t>
            </a:r>
            <a:r>
              <a:rPr lang="en-US" altLang="zh-CN" sz="2400" dirty="0"/>
              <a:t>y</a:t>
            </a:r>
            <a:r>
              <a:rPr lang="en-US" altLang="zh-CN" sz="2400" baseline="-25000" dirty="0"/>
              <a:t>k</a:t>
            </a:r>
            <a:r>
              <a:rPr lang="en-US" altLang="zh-CN" sz="2400" dirty="0"/>
              <a:t>=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，与假设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k</a:t>
            </a:r>
            <a:r>
              <a:rPr lang="en-US" altLang="zh-CN" sz="2400" dirty="0" err="1"/>
              <a:t>≠x</a:t>
            </a:r>
            <a:r>
              <a:rPr lang="en-US" altLang="zh-CN" sz="2400" baseline="-25000" dirty="0" err="1"/>
              <a:t>k</a:t>
            </a:r>
            <a:r>
              <a:rPr lang="zh-CN" altLang="en-US" sz="2400" dirty="0">
                <a:latin typeface="Times New Roman" panose="02020603050405020304" pitchFamily="18" charset="0"/>
              </a:rPr>
              <a:t>矛盾。故</a:t>
            </a:r>
            <a:r>
              <a:rPr lang="en-US" altLang="zh-CN" sz="2400" dirty="0"/>
              <a:t>k</a:t>
            </a:r>
            <a:r>
              <a:rPr lang="zh-CN" altLang="en-US" sz="2400" dirty="0"/>
              <a:t>＝</a:t>
            </a:r>
            <a:r>
              <a:rPr lang="en-US" altLang="zh-CN" sz="2400" dirty="0"/>
              <a:t>j</a:t>
            </a:r>
            <a:r>
              <a:rPr lang="zh-CN" altLang="en-US" sz="2400" dirty="0">
                <a:latin typeface="Times New Roman" panose="02020603050405020304" pitchFamily="18" charset="0"/>
              </a:rPr>
              <a:t>时必有 </a:t>
            </a:r>
            <a:r>
              <a:rPr lang="en-US" altLang="zh-CN" sz="2400" dirty="0"/>
              <a:t>y</a:t>
            </a:r>
            <a:r>
              <a:rPr lang="en-US" altLang="zh-CN" sz="2400" baseline="-25000" dirty="0"/>
              <a:t>k</a:t>
            </a:r>
            <a:r>
              <a:rPr lang="en-US" altLang="zh-CN" sz="2400" dirty="0"/>
              <a:t>&lt;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k</a:t>
            </a:r>
            <a:r>
              <a:rPr lang="en-US" altLang="zh-CN" sz="2400" dirty="0"/>
              <a:t> ;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Tx/>
              <a:buSzTx/>
              <a:buNone/>
              <a:defRPr/>
            </a:pPr>
            <a:r>
              <a:rPr lang="zh-CN" altLang="en-US" sz="24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③</a:t>
            </a:r>
            <a:r>
              <a:rPr lang="zh-CN" altLang="en-US" sz="2400" dirty="0">
                <a:latin typeface="Times New Roman" panose="02020603050405020304" pitchFamily="18" charset="0"/>
              </a:rPr>
              <a:t>若</a:t>
            </a:r>
            <a:r>
              <a:rPr lang="en-US" altLang="zh-CN" sz="2400" dirty="0"/>
              <a:t>k&gt;j</a:t>
            </a:r>
            <a:r>
              <a:rPr lang="zh-CN" altLang="en-US" sz="2400" dirty="0">
                <a:latin typeface="Times New Roman" panose="02020603050405020304" pitchFamily="18" charset="0"/>
              </a:rPr>
              <a:t>，因为</a:t>
            </a:r>
            <a:r>
              <a:rPr lang="zh-CN" altLang="en-US" sz="2400" dirty="0"/>
              <a:t>∑</a:t>
            </a:r>
            <a:r>
              <a:rPr lang="en-US" altLang="zh-CN" sz="2400" dirty="0" err="1"/>
              <a:t>w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x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 =M</a:t>
            </a:r>
            <a:r>
              <a:rPr lang="zh-CN" altLang="en-US" sz="2400" dirty="0">
                <a:latin typeface="Times New Roman" panose="02020603050405020304" pitchFamily="18" charset="0"/>
              </a:rPr>
              <a:t>，则有</a:t>
            </a:r>
            <a:r>
              <a:rPr lang="zh-CN" altLang="en-US" sz="2400" dirty="0"/>
              <a:t>∑</a:t>
            </a:r>
            <a:r>
              <a:rPr lang="en-US" altLang="zh-CN" sz="2400" dirty="0" err="1"/>
              <a:t>w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 &gt;M</a:t>
            </a:r>
            <a:r>
              <a:rPr lang="zh-CN" altLang="en-US" sz="2400" dirty="0">
                <a:latin typeface="Times New Roman" panose="02020603050405020304" pitchFamily="18" charset="0"/>
              </a:rPr>
              <a:t>，这是不可能发生的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与</a:t>
            </a:r>
            <a:r>
              <a:rPr lang="zh-CN" altLang="en-US" sz="2400" dirty="0"/>
              <a:t>∑</a:t>
            </a:r>
            <a:r>
              <a:rPr lang="en-US" altLang="zh-CN" sz="2400" dirty="0" err="1"/>
              <a:t>w</a:t>
            </a:r>
            <a:r>
              <a:rPr lang="en-US" altLang="zh-CN" sz="2400" baseline="-25000" dirty="0" err="1"/>
              <a:t>i</a:t>
            </a:r>
            <a:r>
              <a:rPr lang="en-US" altLang="zh-CN" sz="2400" dirty="0" err="1"/>
              <a:t>y</a:t>
            </a:r>
            <a:r>
              <a:rPr lang="en-US" altLang="zh-CN" sz="2400" baseline="-25000" dirty="0" err="1"/>
              <a:t>i</a:t>
            </a:r>
            <a:r>
              <a:rPr lang="en-US" altLang="zh-CN" sz="2400" dirty="0"/>
              <a:t> =M</a:t>
            </a:r>
            <a:r>
              <a:rPr lang="zh-CN" altLang="en-US" sz="2400" dirty="0">
                <a:latin typeface="Times New Roman" panose="02020603050405020304" pitchFamily="18" charset="0"/>
              </a:rPr>
              <a:t>矛盾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Tx/>
              <a:buSzTx/>
              <a:buNone/>
              <a:defRPr/>
            </a:pP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Times New Roman" panose="02020603050405020304" pitchFamily="18" charset="0"/>
              </a:rPr>
              <a:t>故不存在</a:t>
            </a:r>
            <a:r>
              <a:rPr lang="en-US" altLang="zh-CN" sz="2400" dirty="0"/>
              <a:t>k&gt;j</a:t>
            </a:r>
            <a:r>
              <a:rPr lang="zh-CN" altLang="en-US" sz="2400" dirty="0">
                <a:latin typeface="Times New Roman" panose="02020603050405020304" pitchFamily="18" charset="0"/>
              </a:rPr>
              <a:t>的情况。</a:t>
            </a:r>
          </a:p>
          <a:p>
            <a:pPr marL="0" indent="0">
              <a:buNone/>
            </a:pPr>
            <a:endParaRPr lang="zh-CN" altLang="en-US" sz="20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337606" y="607302"/>
            <a:ext cx="10729192" cy="934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2.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若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不是最优解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 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则必存在一个</a:t>
            </a:r>
            <a:r>
              <a:rPr kumimoji="1" lang="zh-CN" altLang="en-US" sz="2400" b="1" dirty="0">
                <a:solidFill>
                  <a:schemeClr val="tx2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最优解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Y=(y</a:t>
            </a:r>
            <a:r>
              <a:rPr kumimoji="1"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,…,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y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), 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使得∑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y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&gt;∑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不失一般性，假定∑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wiyi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=M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，设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是使得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y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 ≠ </a:t>
            </a:r>
            <a:r>
              <a:rPr kumimoji="1"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的最小下标，显然，这样的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必定存在。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127448" y="1916832"/>
            <a:ext cx="3601021" cy="978729"/>
            <a:chOff x="3287688" y="1730191"/>
            <a:chExt cx="3601021" cy="978729"/>
          </a:xfrm>
        </p:grpSpPr>
        <p:sp>
          <p:nvSpPr>
            <p:cNvPr id="9" name="TextBox 8"/>
            <p:cNvSpPr txBox="1"/>
            <p:nvPr/>
          </p:nvSpPr>
          <p:spPr>
            <a:xfrm>
              <a:off x="3359696" y="1730191"/>
              <a:ext cx="3529013" cy="97872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defRPr/>
              </a:pP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……x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k-1  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k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k+1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endPara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eaLnBrk="1" hangingPunct="1">
                <a:lnSpc>
                  <a:spcPct val="80000"/>
                </a:lnSpc>
                <a:defRPr/>
              </a:pPr>
              <a:endPara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eaLnBrk="1" hangingPunct="1">
                <a:lnSpc>
                  <a:spcPct val="80000"/>
                </a:lnSpc>
                <a:defRPr/>
              </a:pP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 y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k-1 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k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k+1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87688" y="2077662"/>
              <a:ext cx="615553" cy="404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0" dirty="0"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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4727848" y="2093660"/>
              <a:ext cx="615553" cy="404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0" dirty="0"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</a:t>
              </a:r>
            </a:p>
          </p:txBody>
        </p:sp>
        <p:sp>
          <p:nvSpPr>
            <p:cNvPr id="12" name="Text Box 4"/>
            <p:cNvSpPr txBox="1">
              <a:spLocks noChangeArrowheads="1"/>
            </p:cNvSpPr>
            <p:nvPr/>
          </p:nvSpPr>
          <p:spPr bwMode="auto">
            <a:xfrm>
              <a:off x="4223792" y="2093660"/>
              <a:ext cx="615553" cy="404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 b="0" dirty="0"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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54230" y="1813459"/>
            <a:ext cx="3529013" cy="1224136"/>
            <a:chOff x="6096000" y="1628800"/>
            <a:chExt cx="3529013" cy="122413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" name="TextBox 8"/>
            <p:cNvSpPr txBox="1"/>
            <p:nvPr/>
          </p:nvSpPr>
          <p:spPr>
            <a:xfrm>
              <a:off x="6096000" y="1628800"/>
              <a:ext cx="3529013" cy="1200150"/>
            </a:xfrm>
            <a:prstGeom prst="rect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……x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j-1  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j+1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endPara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  <a:p>
              <a:pPr eaLnBrk="1" hangingPunct="1">
                <a:defRPr/>
              </a:pP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1, .….., 1, 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, 0, ….., 0</a:t>
              </a:r>
            </a:p>
            <a:p>
              <a:pPr eaLnBrk="1" hangingPunct="1">
                <a:defRPr/>
              </a:pP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 y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j-1 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j+1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</a:t>
              </a:r>
              <a:r>
                <a:rPr lang="en-US" altLang="zh-CN" sz="24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y</a:t>
              </a:r>
              <a:r>
                <a:rPr lang="en-US" altLang="zh-CN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  <a:endPara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7536160" y="1652786"/>
              <a:ext cx="288032" cy="1200150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16</a:t>
            </a:fld>
            <a:endParaRPr lang="en-US" altLang="zh-CN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>
          <a:xfrm>
            <a:off x="535628" y="3356992"/>
            <a:ext cx="10225136" cy="2467786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dirty="0"/>
              <a:t>5.</a:t>
            </a:r>
            <a:r>
              <a:rPr kumimoji="1" lang="zh-CN" altLang="en-US" sz="2400" dirty="0">
                <a:latin typeface="幼圆" panose="02010509060101010101" pitchFamily="49" charset="-122"/>
              </a:rPr>
              <a:t>因此，对于</a:t>
            </a:r>
            <a:r>
              <a:rPr kumimoji="1" lang="en-US" altLang="zh-CN" sz="2400" dirty="0"/>
              <a:t>Z</a:t>
            </a:r>
            <a:r>
              <a:rPr kumimoji="1" lang="zh-CN" altLang="en-US" sz="2400" dirty="0">
                <a:latin typeface="幼圆" panose="02010509060101010101" pitchFamily="49" charset="-122"/>
              </a:rPr>
              <a:t>有</a:t>
            </a:r>
            <a:r>
              <a:rPr kumimoji="1" lang="en-US" altLang="zh-CN" sz="2400" dirty="0">
                <a:latin typeface="幼圆" panose="02010509060101010101" pitchFamily="49" charset="-122"/>
              </a:rPr>
              <a:t>:</a:t>
            </a:r>
            <a:r>
              <a:rPr kumimoji="1" lang="zh-CN" altLang="en-US" sz="2400" dirty="0"/>
              <a:t>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= 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 +(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dirty="0"/>
              <a:t>-y</a:t>
            </a:r>
            <a:r>
              <a:rPr kumimoji="1" lang="en-US" altLang="zh-CN" sz="2400" baseline="-25000" dirty="0"/>
              <a:t>k</a:t>
            </a:r>
            <a:r>
              <a:rPr kumimoji="1" lang="en-US" altLang="zh-CN" sz="2400" dirty="0"/>
              <a:t>)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dirty="0"/>
              <a:t>-∑(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-z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)p</a:t>
            </a:r>
            <a:r>
              <a:rPr kumimoji="1" lang="en-US" altLang="zh-CN" sz="2400" baseline="-25000" dirty="0"/>
              <a:t>i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endParaRPr kumimoji="1" lang="en-US" altLang="zh-CN" sz="2400" baseline="-250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aseline="-25000" dirty="0"/>
              <a:t>	                                                   </a:t>
            </a:r>
            <a:r>
              <a:rPr kumimoji="1" lang="en-US" altLang="zh-CN" sz="2400" dirty="0"/>
              <a:t>= 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+(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dirty="0"/>
              <a:t>-y</a:t>
            </a:r>
            <a:r>
              <a:rPr kumimoji="1" lang="en-US" altLang="zh-CN" sz="2400" baseline="-25000" dirty="0"/>
              <a:t>k</a:t>
            </a:r>
            <a:r>
              <a:rPr kumimoji="1" lang="en-US" altLang="zh-CN" sz="2400" dirty="0"/>
              <a:t>)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-∑(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-z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)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i</a:t>
            </a:r>
            <a:endParaRPr kumimoji="1" lang="en-US" altLang="zh-CN" sz="2400" baseline="-250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endParaRPr kumimoji="1" lang="en-US" altLang="zh-CN" sz="2400" baseline="-25000" dirty="0"/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aseline="-25000" dirty="0"/>
              <a:t>	                                                   </a:t>
            </a:r>
            <a:r>
              <a:rPr kumimoji="1" lang="en-US" altLang="zh-CN" sz="2400" dirty="0">
                <a:solidFill>
                  <a:srgbClr val="FF0000"/>
                </a:solidFill>
              </a:rPr>
              <a:t>≥ </a:t>
            </a:r>
            <a:r>
              <a:rPr kumimoji="1" lang="en-US" altLang="zh-CN" sz="2400" dirty="0"/>
              <a:t>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+[(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dirty="0"/>
              <a:t>-y</a:t>
            </a:r>
            <a:r>
              <a:rPr kumimoji="1" lang="en-US" altLang="zh-CN" sz="2400" baseline="-25000" dirty="0"/>
              <a:t>k</a:t>
            </a:r>
            <a:r>
              <a:rPr kumimoji="1" lang="en-US" altLang="zh-CN" sz="2400" dirty="0"/>
              <a:t>)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-∑(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-z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)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]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dirty="0"/>
              <a:t>/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k</a:t>
            </a:r>
            <a:endParaRPr kumimoji="1" lang="en-US" altLang="zh-CN" sz="2400" baseline="-25000" dirty="0"/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aseline="-25000" dirty="0"/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2400" baseline="-25000" dirty="0"/>
              <a:t>	                                                   </a:t>
            </a:r>
            <a:r>
              <a:rPr kumimoji="1" lang="en-US" altLang="zh-CN" sz="2400" dirty="0"/>
              <a:t>= 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	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2839884" y="3742002"/>
            <a:ext cx="7323543" cy="2507267"/>
            <a:chOff x="2839884" y="2968891"/>
            <a:chExt cx="7323543" cy="2507267"/>
          </a:xfrm>
        </p:grpSpPr>
        <p:sp>
          <p:nvSpPr>
            <p:cNvPr id="28" name="Text Box 6"/>
            <p:cNvSpPr txBox="1">
              <a:spLocks noChangeArrowheads="1"/>
            </p:cNvSpPr>
            <p:nvPr/>
          </p:nvSpPr>
          <p:spPr bwMode="auto">
            <a:xfrm>
              <a:off x="2839884" y="2988636"/>
              <a:ext cx="63831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1≤i≤n</a:t>
              </a:r>
            </a:p>
          </p:txBody>
        </p:sp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3847996" y="2968891"/>
              <a:ext cx="63831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1≤i≤n</a:t>
              </a:r>
            </a:p>
          </p:txBody>
        </p:sp>
        <p:sp>
          <p:nvSpPr>
            <p:cNvPr id="36" name="Text Box 6"/>
            <p:cNvSpPr txBox="1">
              <a:spLocks noChangeArrowheads="1"/>
            </p:cNvSpPr>
            <p:nvPr/>
          </p:nvSpPr>
          <p:spPr bwMode="auto">
            <a:xfrm>
              <a:off x="3785744" y="3492692"/>
              <a:ext cx="63831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1≤i≤n</a:t>
              </a:r>
            </a:p>
          </p:txBody>
        </p:sp>
        <p:sp>
          <p:nvSpPr>
            <p:cNvPr id="37" name="Text Box 6"/>
            <p:cNvSpPr txBox="1">
              <a:spLocks noChangeArrowheads="1"/>
            </p:cNvSpPr>
            <p:nvPr/>
          </p:nvSpPr>
          <p:spPr bwMode="auto">
            <a:xfrm>
              <a:off x="3785744" y="3996748"/>
              <a:ext cx="63831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1≤i≤n</a:t>
              </a:r>
            </a:p>
          </p:txBody>
        </p:sp>
        <p:sp>
          <p:nvSpPr>
            <p:cNvPr id="38" name="Text Box 6"/>
            <p:cNvSpPr txBox="1">
              <a:spLocks noChangeArrowheads="1"/>
            </p:cNvSpPr>
            <p:nvPr/>
          </p:nvSpPr>
          <p:spPr bwMode="auto">
            <a:xfrm>
              <a:off x="3778438" y="4572812"/>
              <a:ext cx="63831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1≤i≤n</a:t>
              </a:r>
            </a:p>
          </p:txBody>
        </p:sp>
        <p:sp>
          <p:nvSpPr>
            <p:cNvPr id="39" name="Text Box 10"/>
            <p:cNvSpPr txBox="1">
              <a:spLocks noChangeArrowheads="1"/>
            </p:cNvSpPr>
            <p:nvPr/>
          </p:nvSpPr>
          <p:spPr bwMode="auto">
            <a:xfrm>
              <a:off x="5867564" y="2968891"/>
              <a:ext cx="64472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k&lt;</a:t>
              </a:r>
              <a:r>
                <a:rPr kumimoji="1" lang="en-US" altLang="zh-CN" sz="1400" dirty="0" err="1">
                  <a:cs typeface="Arial" panose="020B0604020202020204" pitchFamily="34" charset="0"/>
                </a:rPr>
                <a:t>i≤n</a:t>
              </a:r>
              <a:endParaRPr kumimoji="1" lang="en-US" altLang="zh-CN" sz="1400" dirty="0">
                <a:cs typeface="Arial" panose="020B0604020202020204" pitchFamily="34" charset="0"/>
              </a:endParaRPr>
            </a:p>
          </p:txBody>
        </p:sp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6708086" y="3492691"/>
              <a:ext cx="64472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k&lt;</a:t>
              </a:r>
              <a:r>
                <a:rPr kumimoji="1" lang="en-US" altLang="zh-CN" sz="1400" dirty="0" err="1">
                  <a:cs typeface="Arial" panose="020B0604020202020204" pitchFamily="34" charset="0"/>
                </a:rPr>
                <a:t>i≤n</a:t>
              </a:r>
              <a:endParaRPr kumimoji="1" lang="en-US" altLang="zh-CN" sz="1400" dirty="0">
                <a:cs typeface="Arial" panose="020B0604020202020204" pitchFamily="34" charset="0"/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6011580" y="3996748"/>
              <a:ext cx="644728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dirty="0">
                  <a:cs typeface="Arial" panose="020B0604020202020204" pitchFamily="34" charset="0"/>
                </a:rPr>
                <a:t>k&lt;</a:t>
              </a:r>
              <a:r>
                <a:rPr kumimoji="1" lang="en-US" altLang="zh-CN" sz="1400" dirty="0" err="1">
                  <a:cs typeface="Arial" panose="020B0604020202020204" pitchFamily="34" charset="0"/>
                </a:rPr>
                <a:t>i≤n</a:t>
              </a:r>
              <a:endParaRPr kumimoji="1" lang="en-US" altLang="zh-CN" sz="1400" dirty="0">
                <a:cs typeface="Arial" panose="020B0604020202020204" pitchFamily="34" charset="0"/>
              </a:endParaRPr>
            </a:p>
          </p:txBody>
        </p:sp>
        <p:sp>
          <p:nvSpPr>
            <p:cNvPr id="42" name="AutoShape 16"/>
            <p:cNvSpPr>
              <a:spLocks noChangeArrowheads="1"/>
            </p:cNvSpPr>
            <p:nvPr/>
          </p:nvSpPr>
          <p:spPr bwMode="auto">
            <a:xfrm>
              <a:off x="8256240" y="4106804"/>
              <a:ext cx="1907187" cy="853341"/>
            </a:xfrm>
            <a:prstGeom prst="wedgeRoundRectCallout">
              <a:avLst>
                <a:gd name="adj1" fmla="val -62163"/>
                <a:gd name="adj2" fmla="val -54248"/>
                <a:gd name="adj3" fmla="val 16667"/>
              </a:avLst>
            </a:prstGeom>
            <a:noFill/>
            <a:ln w="12700">
              <a:solidFill>
                <a:schemeClr val="accent1">
                  <a:lumMod val="75000"/>
                </a:schemeClr>
              </a:solidFill>
              <a:miter lim="800000"/>
            </a:ln>
            <a:effectLst/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幼圆" panose="02010509060101010101" pitchFamily="49" charset="-122"/>
                  <a:ea typeface="幼圆" panose="02010509060101010101" pitchFamily="49" charset="-122"/>
                </a:rPr>
                <a:t>元素按</a:t>
              </a:r>
              <a:r>
                <a:rPr lang="en-US" altLang="zh-CN" sz="2000" b="0" dirty="0">
                  <a:ea typeface="幼圆" panose="02010509060101010101" pitchFamily="49" charset="-122"/>
                  <a:cs typeface="Arial" panose="020B0604020202020204" pitchFamily="34" charset="0"/>
                </a:rPr>
                <a:t>p</a:t>
              </a:r>
              <a:r>
                <a:rPr lang="en-US" altLang="zh-CN" sz="2000" b="0" baseline="-25000" dirty="0">
                  <a:ea typeface="幼圆" panose="02010509060101010101" pitchFamily="49" charset="-122"/>
                  <a:cs typeface="Arial" panose="020B0604020202020204" pitchFamily="34" charset="0"/>
                </a:rPr>
                <a:t>i</a:t>
              </a:r>
              <a:r>
                <a:rPr lang="en-US" altLang="zh-CN" sz="2000" b="0" dirty="0">
                  <a:ea typeface="幼圆" panose="02010509060101010101" pitchFamily="49" charset="-122"/>
                  <a:cs typeface="Arial" panose="020B0604020202020204" pitchFamily="34" charset="0"/>
                </a:rPr>
                <a:t>/</a:t>
              </a:r>
              <a:r>
                <a:rPr lang="en-US" altLang="zh-CN" sz="2000" b="0" dirty="0" err="1">
                  <a:ea typeface="幼圆" panose="02010509060101010101" pitchFamily="49" charset="-122"/>
                  <a:cs typeface="Arial" panose="020B0604020202020204" pitchFamily="34" charset="0"/>
                </a:rPr>
                <a:t>w</a:t>
              </a:r>
              <a:r>
                <a:rPr lang="en-US" altLang="zh-CN" sz="2000" b="0" baseline="-25000" dirty="0" err="1">
                  <a:ea typeface="幼圆" panose="02010509060101010101" pitchFamily="49" charset="-122"/>
                  <a:cs typeface="Arial" panose="020B0604020202020204" pitchFamily="34" charset="0"/>
                </a:rPr>
                <a:t>i</a:t>
              </a:r>
              <a:r>
                <a:rPr lang="zh-CN" altLang="en-US" sz="2000" b="0" dirty="0">
                  <a:latin typeface="幼圆" panose="02010509060101010101" pitchFamily="49" charset="-122"/>
                  <a:ea typeface="幼圆" panose="02010509060101010101" pitchFamily="49" charset="-122"/>
                </a:rPr>
                <a:t>非增次序排列。</a:t>
              </a:r>
              <a:endParaRPr kumimoji="1" lang="zh-CN" altLang="en-US" sz="1600" b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43" name="Text Box 14"/>
            <p:cNvSpPr txBox="1">
              <a:spLocks noChangeArrowheads="1"/>
            </p:cNvSpPr>
            <p:nvPr/>
          </p:nvSpPr>
          <p:spPr bwMode="auto">
            <a:xfrm>
              <a:off x="3516252" y="5014493"/>
              <a:ext cx="23648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0" dirty="0">
                  <a:solidFill>
                    <a:srgbClr val="FF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即</a:t>
              </a:r>
              <a:r>
                <a:rPr kumimoji="1" lang="zh-CN" altLang="en-US" sz="2400" b="0" dirty="0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∑</a:t>
              </a:r>
              <a:r>
                <a:rPr kumimoji="1" lang="en-US" altLang="zh-CN" sz="2400" b="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p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400" b="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z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400" b="0" baseline="-25000" dirty="0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 </a:t>
              </a:r>
              <a:r>
                <a:rPr kumimoji="1" lang="en-US" altLang="zh-CN" sz="2400" b="0" dirty="0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≥ ∑</a:t>
              </a:r>
              <a:r>
                <a:rPr kumimoji="1" lang="en-US" altLang="zh-CN" sz="2400" b="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p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400" b="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y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i</a:t>
              </a:r>
              <a:r>
                <a:rPr kumimoji="1" lang="en-US" altLang="zh-CN" sz="2400" b="0" baseline="-25000" dirty="0">
                  <a:solidFill>
                    <a:srgbClr val="FF0000"/>
                  </a:solidFill>
                  <a:ea typeface="幼圆" panose="02010509060101010101" pitchFamily="49" charset="-122"/>
                  <a:cs typeface="Arial" panose="020B0604020202020204" pitchFamily="34" charset="0"/>
                </a:rPr>
                <a:t> </a:t>
              </a:r>
              <a:endParaRPr kumimoji="1" lang="zh-CN" altLang="en-US" sz="24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45" name="内容占位符 2"/>
          <p:cNvSpPr txBox="1"/>
          <p:nvPr/>
        </p:nvSpPr>
        <p:spPr>
          <a:xfrm>
            <a:off x="535628" y="447377"/>
            <a:ext cx="10246250" cy="2051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/>
              <a:t>4.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现在把 </a:t>
            </a:r>
            <a:r>
              <a:rPr kumimoji="1" lang="en-US" altLang="zh-CN" sz="2400" dirty="0"/>
              <a:t>y</a:t>
            </a:r>
            <a:r>
              <a:rPr kumimoji="1" lang="en-US" altLang="zh-CN" sz="2400" baseline="-25000" dirty="0"/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增加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到 </a:t>
            </a:r>
            <a:r>
              <a:rPr kumimoji="1" lang="en-US" altLang="zh-CN" sz="2400" dirty="0" err="1"/>
              <a:t>x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那么必须从</a:t>
            </a:r>
            <a:r>
              <a:rPr kumimoji="1" lang="en-US" altLang="zh-CN" sz="2400" dirty="0"/>
              <a:t>(y</a:t>
            </a:r>
            <a:r>
              <a:rPr kumimoji="1" lang="en-US" altLang="zh-CN" sz="2400" baseline="-25000" dirty="0"/>
              <a:t>k+1</a:t>
            </a:r>
            <a:r>
              <a:rPr kumimoji="1" lang="en-US" altLang="zh-CN" sz="2400" dirty="0"/>
              <a:t>,…,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n</a:t>
            </a:r>
            <a:r>
              <a:rPr kumimoji="1" lang="en-US" altLang="zh-CN" sz="2400" dirty="0"/>
              <a:t>)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中减去同样多的量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使得总容量仍为</a:t>
            </a:r>
            <a:r>
              <a:rPr kumimoji="1" lang="en-US" altLang="zh-CN" sz="2400" dirty="0"/>
              <a:t>M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。这构造一个新的解</a:t>
            </a:r>
            <a:r>
              <a:rPr kumimoji="1" lang="en-US" altLang="zh-CN" sz="2400" dirty="0"/>
              <a:t>Z = (z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,…,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n</a:t>
            </a:r>
            <a:r>
              <a:rPr kumimoji="1" lang="en-US" altLang="zh-CN" sz="2400" dirty="0"/>
              <a:t>),  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其中 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/>
              <a:t>= x</a:t>
            </a:r>
            <a:r>
              <a:rPr kumimoji="1" lang="en-US" altLang="zh-CN" sz="2400" baseline="-25000" dirty="0"/>
              <a:t>i</a:t>
            </a:r>
            <a:r>
              <a:rPr kumimoji="1" lang="en-US" altLang="zh-CN" sz="2400" dirty="0"/>
              <a:t>, 1≤i≤k</a:t>
            </a:r>
            <a:r>
              <a:rPr kumimoji="1" lang="zh-CN" altLang="en-US" sz="2400" dirty="0">
                <a:latin typeface="Times New Roman" panose="02020603050405020304" pitchFamily="18" charset="0"/>
              </a:rPr>
              <a:t>。并且</a:t>
            </a:r>
            <a:endParaRPr kumimoji="1" lang="en-US" altLang="zh-CN" sz="24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zh-CN" altLang="en-US" sz="2400" dirty="0"/>
              <a:t>∑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-z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)= </a:t>
            </a:r>
            <a:r>
              <a:rPr kumimoji="1" lang="en-US" altLang="zh-CN" sz="2400" dirty="0" err="1"/>
              <a:t>w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(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k</a:t>
            </a:r>
            <a:r>
              <a:rPr kumimoji="1" lang="en-US" altLang="zh-CN" sz="2400" dirty="0"/>
              <a:t>-y</a:t>
            </a:r>
            <a:r>
              <a:rPr kumimoji="1" lang="en-US" altLang="zh-CN" sz="2400" baseline="-25000" dirty="0"/>
              <a:t>k</a:t>
            </a:r>
            <a:r>
              <a:rPr kumimoji="1" lang="en-US" altLang="zh-CN" sz="2400" dirty="0"/>
              <a:t>) </a:t>
            </a:r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Font typeface="Wingdings" panose="05000000000000000000" pitchFamily="2" charset="2"/>
              <a:buNone/>
            </a:pPr>
            <a:endParaRPr kumimoji="1" lang="en-US" altLang="zh-CN" sz="2400" dirty="0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488500" y="1772816"/>
            <a:ext cx="822087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46800" rIns="54000" bIns="4680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cs typeface="Arial" panose="020B0604020202020204" pitchFamily="34" charset="0"/>
              </a:rPr>
              <a:t>k&lt;</a:t>
            </a:r>
            <a:r>
              <a:rPr kumimoji="1" lang="en-US" altLang="zh-CN" sz="1400" dirty="0" err="1">
                <a:cs typeface="Arial" panose="020B0604020202020204" pitchFamily="34" charset="0"/>
              </a:rPr>
              <a:t>i≤n</a:t>
            </a:r>
            <a:endParaRPr kumimoji="1" lang="en-US" altLang="zh-CN" sz="1400" dirty="0">
              <a:cs typeface="Arial" panose="020B0604020202020204" pitchFamily="34" charset="0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3778438" y="1473230"/>
            <a:ext cx="3529013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……z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k-1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k+1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endParaRPr lang="en-US" altLang="zh-CN" sz="2400" baseline="-25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……x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k-1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k+1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endParaRPr lang="en-US" altLang="zh-CN" sz="2400" baseline="-250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 y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k-1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400" baseline="-25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k+1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……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3719736" y="2420888"/>
            <a:ext cx="61555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latin typeface="幼圆" panose="02010509060101010101" pitchFamily="49" charset="-122"/>
                <a:ea typeface="幼圆" panose="02010509060101010101" pitchFamily="49" charset="-122"/>
                <a:sym typeface="Symbol" panose="05050102010706020507" pitchFamily="18" charset="2"/>
              </a:rPr>
              <a:t>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4655840" y="2436886"/>
            <a:ext cx="61555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latin typeface="幼圆" panose="02010509060101010101" pitchFamily="49" charset="-122"/>
                <a:ea typeface="幼圆" panose="02010509060101010101" pitchFamily="49" charset="-122"/>
                <a:sym typeface="Symbol" panose="05050102010706020507" pitchFamily="18" charset="2"/>
              </a:rPr>
              <a:t>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3719736" y="1844824"/>
            <a:ext cx="61555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latin typeface="幼圆" panose="02010509060101010101" pitchFamily="49" charset="-122"/>
                <a:ea typeface="幼圆" panose="02010509060101010101" pitchFamily="49" charset="-122"/>
                <a:sym typeface="Symbol" panose="05050102010706020507" pitchFamily="18" charset="2"/>
              </a:rPr>
              <a:t></a:t>
            </a: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4655840" y="1860822"/>
            <a:ext cx="61555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latin typeface="幼圆" panose="02010509060101010101" pitchFamily="49" charset="-122"/>
                <a:ea typeface="幼圆" panose="02010509060101010101" pitchFamily="49" charset="-122"/>
                <a:sym typeface="Symbol" panose="05050102010706020507" pitchFamily="18" charset="2"/>
              </a:rPr>
              <a:t></a:t>
            </a: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5120407" y="1872060"/>
            <a:ext cx="61555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latin typeface="幼圆" panose="02010509060101010101" pitchFamily="49" charset="-122"/>
                <a:ea typeface="幼圆" panose="02010509060101010101" pitchFamily="49" charset="-122"/>
                <a:sym typeface="Symbol" panose="05050102010706020507" pitchFamily="18" charset="2"/>
              </a:rPr>
              <a:t>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5231904" y="2503471"/>
            <a:ext cx="430887" cy="349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0" dirty="0">
                <a:latin typeface="Verdana" panose="020B0604030504040204" pitchFamily="34" charset="0"/>
                <a:sym typeface="Symbol" panose="05050102010706020507" pitchFamily="18" charset="2"/>
              </a:rPr>
              <a:t>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17</a:t>
            </a:fld>
            <a:endParaRPr lang="en-US" altLang="zh-CN"/>
          </a:p>
        </p:txBody>
      </p:sp>
      <p:sp>
        <p:nvSpPr>
          <p:cNvPr id="5" name="内容占位符 2"/>
          <p:cNvSpPr txBox="1"/>
          <p:nvPr/>
        </p:nvSpPr>
        <p:spPr>
          <a:xfrm>
            <a:off x="695400" y="1700808"/>
            <a:ext cx="10456916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dirty="0"/>
              <a:t>6.</a:t>
            </a:r>
            <a:r>
              <a:rPr kumimoji="1" lang="zh-CN" altLang="en-US" sz="2400" dirty="0">
                <a:latin typeface="幼圆" panose="02010509060101010101" pitchFamily="49" charset="-122"/>
              </a:rPr>
              <a:t>若</a:t>
            </a:r>
            <a:r>
              <a:rPr kumimoji="1" lang="zh-CN" altLang="en-US" sz="2400" dirty="0"/>
              <a:t>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&gt;∑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>
                <a:latin typeface="幼圆" panose="02010509060101010101" pitchFamily="49" charset="-122"/>
              </a:rPr>
              <a:t>, </a:t>
            </a:r>
            <a:r>
              <a:rPr kumimoji="1" lang="zh-CN" altLang="en-US" sz="2400" dirty="0">
                <a:latin typeface="幼圆" panose="02010509060101010101" pitchFamily="49" charset="-122"/>
              </a:rPr>
              <a:t>则</a:t>
            </a:r>
            <a:r>
              <a:rPr kumimoji="1" lang="en-US" altLang="zh-CN" sz="2400" dirty="0"/>
              <a:t>Y</a:t>
            </a:r>
            <a:r>
              <a:rPr kumimoji="1" lang="zh-CN" altLang="en-US" sz="2400" dirty="0">
                <a:latin typeface="幼圆" panose="02010509060101010101" pitchFamily="49" charset="-122"/>
              </a:rPr>
              <a:t>不可能是最优解</a:t>
            </a:r>
            <a:r>
              <a:rPr kumimoji="1" lang="en-US" altLang="zh-CN" sz="2400" dirty="0">
                <a:latin typeface="幼圆" panose="02010509060101010101" pitchFamily="49" charset="-122"/>
              </a:rPr>
              <a:t>,</a:t>
            </a:r>
            <a:r>
              <a:rPr kumimoji="1" lang="zh-CN" altLang="en-US" sz="2400" dirty="0">
                <a:latin typeface="幼圆" panose="02010509060101010101" pitchFamily="49" charset="-122"/>
              </a:rPr>
              <a:t>所以</a:t>
            </a:r>
            <a:r>
              <a:rPr kumimoji="1" lang="zh-CN" altLang="en-US" sz="2400" dirty="0"/>
              <a:t>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z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en-US" altLang="zh-CN" sz="2400" dirty="0"/>
              <a:t>=∑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dirty="0" err="1"/>
              <a:t>y</a:t>
            </a:r>
            <a:r>
              <a:rPr kumimoji="1" lang="en-US" altLang="zh-CN" sz="2400" baseline="-25000" dirty="0" err="1"/>
              <a:t>i</a:t>
            </a:r>
            <a:r>
              <a:rPr kumimoji="1" lang="en-US" altLang="zh-CN" sz="2400" baseline="-25000" dirty="0"/>
              <a:t> </a:t>
            </a:r>
            <a:r>
              <a:rPr kumimoji="1" lang="zh-CN" altLang="en-US" sz="2400" dirty="0">
                <a:latin typeface="幼圆" panose="02010509060101010101" pitchFamily="49" charset="-122"/>
              </a:rPr>
              <a:t>。如果</a:t>
            </a:r>
            <a:r>
              <a:rPr kumimoji="1" lang="en-US" altLang="zh-CN" sz="2400" dirty="0"/>
              <a:t>Z=X</a:t>
            </a:r>
            <a:r>
              <a:rPr kumimoji="1" lang="en-US" altLang="zh-CN" sz="2400" dirty="0">
                <a:latin typeface="幼圆" panose="02010509060101010101" pitchFamily="49" charset="-122"/>
              </a:rPr>
              <a:t>, </a:t>
            </a:r>
            <a:r>
              <a:rPr kumimoji="1" lang="zh-CN" altLang="en-US" sz="2400" dirty="0">
                <a:latin typeface="幼圆" panose="02010509060101010101" pitchFamily="49" charset="-122"/>
              </a:rPr>
              <a:t>则</a:t>
            </a:r>
            <a:r>
              <a:rPr kumimoji="1" lang="en-US" altLang="zh-CN" sz="2400" dirty="0"/>
              <a:t>X</a:t>
            </a:r>
            <a:r>
              <a:rPr kumimoji="1" lang="zh-CN" altLang="en-US" sz="2400" dirty="0">
                <a:latin typeface="幼圆" panose="02010509060101010101" pitchFamily="49" charset="-122"/>
              </a:rPr>
              <a:t>就是最优解；否则重复上面的讨论，每次</a:t>
            </a:r>
            <a:r>
              <a:rPr kumimoji="1" lang="en-US" altLang="zh-CN" sz="2400" dirty="0"/>
              <a:t>Y</a:t>
            </a:r>
            <a:r>
              <a:rPr kumimoji="1" lang="zh-CN" altLang="en-US" sz="2400" dirty="0">
                <a:latin typeface="幼圆" panose="02010509060101010101" pitchFamily="49" charset="-122"/>
              </a:rPr>
              <a:t>中少一个和</a:t>
            </a:r>
            <a:r>
              <a:rPr kumimoji="1" lang="en-US" altLang="zh-CN" sz="2400" dirty="0"/>
              <a:t>X</a:t>
            </a:r>
            <a:r>
              <a:rPr kumimoji="1" lang="zh-CN" altLang="en-US" sz="2400" dirty="0">
                <a:latin typeface="幼圆" panose="02010509060101010101" pitchFamily="49" charset="-122"/>
              </a:rPr>
              <a:t>不同的值，最终把</a:t>
            </a:r>
            <a:r>
              <a:rPr kumimoji="1" lang="en-US" altLang="zh-CN" sz="2400" dirty="0"/>
              <a:t>Y</a:t>
            </a:r>
            <a:r>
              <a:rPr kumimoji="1" lang="zh-CN" altLang="en-US" sz="2400" dirty="0">
                <a:latin typeface="幼圆" panose="02010509060101010101" pitchFamily="49" charset="-122"/>
              </a:rPr>
              <a:t>转换成</a:t>
            </a:r>
            <a:r>
              <a:rPr kumimoji="1" lang="en-US" altLang="zh-CN" sz="2400" dirty="0"/>
              <a:t>X</a:t>
            </a:r>
            <a:r>
              <a:rPr kumimoji="1" lang="en-US" altLang="zh-CN" sz="2400" dirty="0">
                <a:latin typeface="幼圆" panose="02010509060101010101" pitchFamily="49" charset="-122"/>
              </a:rPr>
              <a:t> ,</a:t>
            </a:r>
            <a:r>
              <a:rPr kumimoji="1" lang="zh-CN" altLang="en-US" sz="2400" dirty="0">
                <a:latin typeface="幼圆" panose="02010509060101010101" pitchFamily="49" charset="-122"/>
              </a:rPr>
              <a:t>从而证明了</a:t>
            </a:r>
            <a:r>
              <a:rPr kumimoji="1" lang="en-US" altLang="zh-CN" sz="2400" dirty="0"/>
              <a:t>X</a:t>
            </a:r>
            <a:r>
              <a:rPr kumimoji="1" lang="zh-CN" altLang="en-US" sz="2400" dirty="0">
                <a:latin typeface="幼圆" panose="02010509060101010101" pitchFamily="49" charset="-122"/>
              </a:rPr>
              <a:t>也是最优解</a:t>
            </a:r>
            <a:r>
              <a:rPr kumimoji="1" lang="en-US" altLang="zh-CN" sz="2400" dirty="0">
                <a:latin typeface="幼圆" panose="02010509060101010101" pitchFamily="49" charset="-122"/>
              </a:rPr>
              <a:t>, </a:t>
            </a:r>
            <a:r>
              <a:rPr kumimoji="1" lang="zh-CN" altLang="en-US" sz="2400" dirty="0">
                <a:latin typeface="幼圆" panose="02010509060101010101" pitchFamily="49" charset="-122"/>
              </a:rPr>
              <a:t>证毕。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610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5.3 </a:t>
            </a:r>
            <a:r>
              <a:rPr lang="zh-CN" altLang="en-US" sz="4000" dirty="0"/>
              <a:t>带有期限的作业选择问题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kumimoji="1" lang="zh-CN" altLang="en-US" sz="2800" dirty="0"/>
              <a:t>问题描述</a:t>
            </a:r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问题实例</a:t>
            </a:r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算法</a:t>
            </a:r>
            <a:r>
              <a:rPr kumimoji="1" lang="en-US" altLang="zh-CN" sz="2800" dirty="0"/>
              <a:t>5.3 </a:t>
            </a:r>
            <a:r>
              <a:rPr kumimoji="1" lang="zh-CN" altLang="en-US" sz="2800" dirty="0">
                <a:sym typeface="+mn-ea"/>
              </a:rPr>
              <a:t>贪心法粗略描述</a:t>
            </a:r>
            <a:endParaRPr kumimoji="1" lang="zh-CN" altLang="en-US" sz="2800" dirty="0"/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定理</a:t>
            </a:r>
            <a:r>
              <a:rPr kumimoji="1" lang="en-US" altLang="zh-CN" sz="2800" dirty="0"/>
              <a:t>5.2 </a:t>
            </a:r>
            <a:r>
              <a:rPr kumimoji="1" lang="zh-CN" altLang="en-US" sz="2800" dirty="0"/>
              <a:t>最优解证明</a:t>
            </a:r>
            <a:endParaRPr kumimoji="1" lang="en-US" altLang="zh-CN" sz="2800" dirty="0"/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定理</a:t>
            </a:r>
            <a:r>
              <a:rPr kumimoji="1" lang="en-US" altLang="zh-CN" sz="2800" dirty="0"/>
              <a:t>5.3 </a:t>
            </a:r>
            <a:r>
              <a:rPr kumimoji="1" lang="zh-CN" altLang="en-US" sz="2800" dirty="0"/>
              <a:t>可行解证明</a:t>
            </a:r>
            <a:r>
              <a:rPr kumimoji="1" lang="en-US" altLang="zh-CN" sz="2800" dirty="0"/>
              <a:t> </a:t>
            </a:r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算法</a:t>
            </a:r>
            <a:r>
              <a:rPr kumimoji="1" lang="en-US" altLang="zh-CN" sz="2800" dirty="0"/>
              <a:t>5.4 </a:t>
            </a:r>
            <a:r>
              <a:rPr kumimoji="1" lang="zh-CN" altLang="en-US" sz="2800" dirty="0"/>
              <a:t>贪心算法完整描述（基于插入排序）</a:t>
            </a:r>
            <a:endParaRPr kumimoji="1" lang="en-US" altLang="zh-CN" sz="2800" dirty="0"/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优化思想</a:t>
            </a:r>
            <a:endParaRPr kumimoji="1" lang="en-US" altLang="zh-CN" sz="2800" dirty="0"/>
          </a:p>
          <a:p>
            <a:pPr>
              <a:spcBef>
                <a:spcPts val="0"/>
              </a:spcBef>
            </a:pPr>
            <a:r>
              <a:rPr kumimoji="1" lang="zh-CN" altLang="en-US" sz="2800" dirty="0"/>
              <a:t>算法</a:t>
            </a:r>
            <a:r>
              <a:rPr kumimoji="1" lang="en-US" altLang="zh-CN" sz="2800" dirty="0"/>
              <a:t>5.5 </a:t>
            </a:r>
            <a:r>
              <a:rPr kumimoji="1" lang="zh-CN" altLang="en-US" sz="2800" dirty="0"/>
              <a:t>基于集合树的优化算法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799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/>
              <a:t>问题描述</a:t>
            </a:r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28776"/>
            <a:ext cx="10298360" cy="4392613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400" dirty="0"/>
              <a:t>假定只能在一台机器上处理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个作业</a:t>
            </a:r>
            <a:r>
              <a:rPr kumimoji="1" lang="en-US" altLang="zh-CN" sz="2400" dirty="0"/>
              <a:t>, </a:t>
            </a:r>
            <a:r>
              <a:rPr kumimoji="1" lang="zh-CN" altLang="en-US" sz="2400" dirty="0"/>
              <a:t>每个作业均可在单位时间内完成；</a:t>
            </a:r>
            <a:r>
              <a:rPr kumimoji="1" lang="en-US" altLang="zh-CN" sz="2400" dirty="0"/>
              <a:t> </a:t>
            </a:r>
            <a:r>
              <a:rPr kumimoji="1" lang="zh-CN" altLang="en-US" sz="2400" dirty="0"/>
              <a:t>又假定每个作业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都有一个截止期限</a:t>
            </a:r>
            <a:r>
              <a:rPr kumimoji="1" lang="en-US" altLang="zh-CN" sz="2400" dirty="0"/>
              <a:t>d</a:t>
            </a:r>
            <a:r>
              <a:rPr kumimoji="1" lang="en-US" altLang="zh-CN" sz="2400" baseline="-25000" dirty="0"/>
              <a:t>i</a:t>
            </a:r>
            <a:r>
              <a:rPr kumimoji="1" lang="en-US" altLang="zh-CN" sz="2400" dirty="0"/>
              <a:t>&gt;0(d</a:t>
            </a:r>
            <a:r>
              <a:rPr kumimoji="1" lang="en-US" altLang="zh-CN" sz="2400" baseline="-25000" dirty="0"/>
              <a:t>i</a:t>
            </a:r>
            <a:r>
              <a:rPr kumimoji="1" lang="zh-CN" altLang="en-US" sz="2400" dirty="0"/>
              <a:t>是整数</a:t>
            </a:r>
            <a:r>
              <a:rPr kumimoji="1" lang="en-US" altLang="zh-CN" sz="2400" dirty="0"/>
              <a:t>)</a:t>
            </a:r>
            <a:r>
              <a:rPr kumimoji="1" lang="zh-CN" altLang="en-US" sz="2400" dirty="0"/>
              <a:t>，当且仅当作业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在它的期限截止之前被完成时获得</a:t>
            </a:r>
            <a:r>
              <a:rPr kumimoji="1" lang="en-US" altLang="zh-CN" sz="2400" dirty="0"/>
              <a:t>p</a:t>
            </a:r>
            <a:r>
              <a:rPr kumimoji="1" lang="en-US" altLang="zh-CN" sz="2400" baseline="-25000" dirty="0"/>
              <a:t>i</a:t>
            </a:r>
            <a:r>
              <a:rPr kumimoji="1" lang="en-US" altLang="zh-CN" sz="2400" dirty="0"/>
              <a:t>&gt;0</a:t>
            </a:r>
            <a:r>
              <a:rPr kumimoji="1" lang="zh-CN" altLang="en-US" sz="2400" dirty="0"/>
              <a:t>的效益。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dirty="0"/>
              <a:t>该问题的一个可行解</a:t>
            </a:r>
            <a:endParaRPr kumimoji="1" lang="en-US" altLang="zh-CN" sz="2400" dirty="0"/>
          </a:p>
          <a:p>
            <a:pPr lvl="1">
              <a:lnSpc>
                <a:spcPct val="120000"/>
              </a:lnSpc>
            </a:pPr>
            <a:r>
              <a:rPr kumimoji="1" lang="zh-CN" altLang="en-US" sz="2400" dirty="0"/>
              <a:t>是这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个作业的一个子集合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中的每个作业都能在各自的截止期限之前完成，可行解的效益值是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中这些作业的效益之和∑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j</a:t>
            </a:r>
            <a:r>
              <a:rPr kumimoji="1" lang="en-US" altLang="zh-CN" sz="2400" dirty="0"/>
              <a:t> 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dirty="0"/>
              <a:t>该问题的一个最优解</a:t>
            </a:r>
            <a:endParaRPr kumimoji="1" lang="en-US" altLang="zh-CN" sz="2400" dirty="0"/>
          </a:p>
          <a:p>
            <a:pPr lvl="1">
              <a:lnSpc>
                <a:spcPct val="120000"/>
              </a:lnSpc>
            </a:pPr>
            <a:r>
              <a:rPr kumimoji="1" lang="zh-CN" altLang="en-US" sz="2400" dirty="0"/>
              <a:t>具有最大效益值的可行解</a:t>
            </a:r>
            <a:endParaRPr lang="zh-CN" altLang="en-US" sz="2400" dirty="0"/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7392144" y="2996952"/>
            <a:ext cx="1440160" cy="504056"/>
          </a:xfrm>
          <a:prstGeom prst="wedgeRoundRectCallout">
            <a:avLst>
              <a:gd name="adj1" fmla="val -43427"/>
              <a:gd name="adj2" fmla="val 71017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约束条件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2639616" y="5589240"/>
            <a:ext cx="1440160" cy="504056"/>
          </a:xfrm>
          <a:prstGeom prst="wedgeRoundRectCallout">
            <a:avLst>
              <a:gd name="adj1" fmla="val -50143"/>
              <a:gd name="adj2" fmla="val -66784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目标函数</a:t>
            </a:r>
          </a:p>
        </p:txBody>
      </p:sp>
    </p:spTree>
    <p:extLst>
      <p:ext uri="{BB962C8B-B14F-4D97-AF65-F5344CB8AC3E}">
        <p14:creationId xmlns:p14="http://schemas.microsoft.com/office/powerpoint/2010/main" val="316989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问题实例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38200" y="1628800"/>
            <a:ext cx="4681736" cy="17256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n=4</a:t>
            </a:r>
          </a:p>
          <a:p>
            <a:pPr lvl="1"/>
            <a:r>
              <a:rPr lang="en-US" altLang="zh-CN" sz="2400" dirty="0"/>
              <a:t>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,p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,p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 = (100,10,15,20)</a:t>
            </a:r>
          </a:p>
          <a:p>
            <a:pPr lvl="1"/>
            <a:r>
              <a:rPr lang="en-US" altLang="zh-CN" sz="2400" dirty="0"/>
              <a:t>(d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,d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,d</a:t>
            </a:r>
            <a:r>
              <a:rPr lang="en-US" altLang="zh-CN" sz="2400" baseline="-25000" dirty="0"/>
              <a:t>4</a:t>
            </a:r>
            <a:r>
              <a:rPr lang="en-US" altLang="zh-CN" sz="2400" dirty="0"/>
              <a:t>) = (2,1,2,1)</a:t>
            </a:r>
            <a:endParaRPr lang="zh-CN" altLang="en-US" sz="2400" dirty="0"/>
          </a:p>
          <a:p>
            <a:endParaRPr lang="zh-CN" altLang="en-US" sz="2400" dirty="0"/>
          </a:p>
          <a:p>
            <a:endParaRPr lang="en-US" altLang="zh-CN" sz="2400" dirty="0"/>
          </a:p>
        </p:txBody>
      </p:sp>
      <p:graphicFrame>
        <p:nvGraphicFramePr>
          <p:cNvPr id="6" name="Group 5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228126807"/>
              </p:ext>
            </p:extLst>
          </p:nvPr>
        </p:nvGraphicFramePr>
        <p:xfrm>
          <a:off x="5807968" y="1690690"/>
          <a:ext cx="4319588" cy="3962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可行解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处理顺序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效益值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幼圆" panose="02010509060101010101" pitchFamily="49" charset="-122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115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4</a:t>
                      </a: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120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4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r>
                        <a:rPr kumimoji="0" lang="zh-CN" alt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，</a:t>
                      </a: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868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750540" y="188640"/>
            <a:ext cx="10515600" cy="1057423"/>
          </a:xfrm>
        </p:spPr>
        <p:txBody>
          <a:bodyPr/>
          <a:lstStyle/>
          <a:p>
            <a:pPr eaLnBrk="1" hangingPunct="1"/>
            <a:r>
              <a:rPr kumimoji="1" lang="zh-CN" altLang="en-US" sz="4000" dirty="0"/>
              <a:t>算法</a:t>
            </a:r>
            <a:r>
              <a:rPr kumimoji="1" lang="en-US" altLang="zh-CN" sz="4000" dirty="0"/>
              <a:t>5.3 </a:t>
            </a:r>
            <a:r>
              <a:rPr kumimoji="1" lang="zh-CN" altLang="en-US" sz="4000" dirty="0"/>
              <a:t>贪心法实现思想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>
          <a:xfrm>
            <a:off x="750540" y="1277348"/>
            <a:ext cx="10442376" cy="1188667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kumimoji="1" lang="zh-CN" altLang="en-US" sz="2400" dirty="0"/>
              <a:t>寻找最优量度标准</a:t>
            </a:r>
            <a:endParaRPr kumimoji="1" lang="en-US" altLang="zh-CN" sz="2400" dirty="0"/>
          </a:p>
          <a:p>
            <a:pPr lvl="1">
              <a:spcBef>
                <a:spcPts val="600"/>
              </a:spcBef>
            </a:pPr>
            <a:r>
              <a:rPr kumimoji="1" lang="zh-CN" altLang="en-US" sz="2400" dirty="0"/>
              <a:t>以目标函数∑</a:t>
            </a:r>
            <a:r>
              <a:rPr kumimoji="1" lang="en-US" altLang="zh-CN" sz="2400" dirty="0" err="1"/>
              <a:t>p</a:t>
            </a:r>
            <a:r>
              <a:rPr kumimoji="1" lang="en-US" altLang="zh-CN" sz="2400" baseline="-25000" dirty="0" err="1"/>
              <a:t>j</a:t>
            </a:r>
            <a:r>
              <a:rPr kumimoji="1" lang="zh-CN" altLang="en-US" sz="2400" dirty="0"/>
              <a:t>作为量度标准</a:t>
            </a:r>
            <a:r>
              <a:rPr kumimoji="1" lang="en-US" altLang="zh-CN" sz="2400" dirty="0"/>
              <a:t>, </a:t>
            </a:r>
            <a:r>
              <a:rPr kumimoji="1" lang="zh-CN" altLang="en-US" sz="2400" dirty="0"/>
              <a:t>将各作业按效益</a:t>
            </a:r>
            <a:r>
              <a:rPr kumimoji="1" lang="en-US" altLang="zh-CN" sz="2400" dirty="0"/>
              <a:t>p</a:t>
            </a:r>
            <a:r>
              <a:rPr kumimoji="1" lang="en-US" altLang="zh-CN" sz="2400" baseline="-25000" dirty="0"/>
              <a:t>i</a:t>
            </a:r>
            <a:r>
              <a:rPr kumimoji="1" lang="zh-CN" altLang="en-US" sz="2400" dirty="0"/>
              <a:t>降序排列</a:t>
            </a:r>
            <a:r>
              <a:rPr kumimoji="1" lang="en-US" altLang="zh-CN" sz="2400" dirty="0"/>
              <a:t>: </a:t>
            </a:r>
            <a:r>
              <a:rPr kumimoji="1" lang="en-US" altLang="zh-CN" sz="2400" dirty="0">
                <a:solidFill>
                  <a:srgbClr val="FF0000"/>
                </a:solidFill>
              </a:rPr>
              <a:t>p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1</a:t>
            </a:r>
            <a:r>
              <a:rPr kumimoji="1" lang="en-US" altLang="zh-CN" sz="2400" dirty="0">
                <a:solidFill>
                  <a:srgbClr val="FF0000"/>
                </a:solidFill>
              </a:rPr>
              <a:t>≥ p</a:t>
            </a:r>
            <a:r>
              <a:rPr kumimoji="1" lang="en-US" altLang="zh-CN" sz="2400" baseline="-25000" dirty="0">
                <a:solidFill>
                  <a:srgbClr val="FF0000"/>
                </a:solidFill>
              </a:rPr>
              <a:t>2</a:t>
            </a:r>
            <a:r>
              <a:rPr kumimoji="1" lang="en-US" altLang="zh-CN" sz="2400" dirty="0">
                <a:solidFill>
                  <a:srgbClr val="FF0000"/>
                </a:solidFill>
              </a:rPr>
              <a:t>≥ …≥ 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p</a:t>
            </a:r>
            <a:r>
              <a:rPr kumimoji="1" lang="en-US" altLang="zh-CN" sz="2400" baseline="-25000" dirty="0" err="1">
                <a:solidFill>
                  <a:srgbClr val="FF0000"/>
                </a:solidFill>
              </a:rPr>
              <a:t>n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2405" name="AutoShape 5"/>
          <p:cNvSpPr>
            <a:spLocks noChangeArrowheads="1"/>
          </p:cNvSpPr>
          <p:nvPr/>
        </p:nvSpPr>
        <p:spPr bwMode="auto">
          <a:xfrm>
            <a:off x="6168008" y="731273"/>
            <a:ext cx="3744416" cy="936104"/>
          </a:xfrm>
          <a:prstGeom prst="wedgeRoundRectCallout">
            <a:avLst>
              <a:gd name="adj1" fmla="val -41148"/>
              <a:gd name="adj2" fmla="val 66615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当前作业一旦满足约束条件，问题就能获得的最大效益增量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271464" y="2292996"/>
            <a:ext cx="10369152" cy="3107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procedure GREEDY_JOB(D, J, n)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//  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作业按</a:t>
            </a:r>
            <a:r>
              <a:rPr kumimoji="1" lang="en-US" altLang="zh-CN" sz="2400" b="0" dirty="0">
                <a:cs typeface="Arial" panose="020B0604020202020204" pitchFamily="34" charset="0"/>
              </a:rPr>
              <a:t>p</a:t>
            </a:r>
            <a:r>
              <a:rPr kumimoji="1" lang="en-US" altLang="zh-CN" sz="2400" b="0" baseline="-25000" dirty="0">
                <a:cs typeface="Arial" panose="020B0604020202020204" pitchFamily="34" charset="0"/>
              </a:rPr>
              <a:t>1</a:t>
            </a:r>
            <a:r>
              <a:rPr kumimoji="1" lang="en-US" altLang="zh-CN" sz="2400" b="0" dirty="0">
                <a:cs typeface="Arial" panose="020B0604020202020204" pitchFamily="34" charset="0"/>
              </a:rPr>
              <a:t>≥ p</a:t>
            </a:r>
            <a:r>
              <a:rPr kumimoji="1" lang="en-US" altLang="zh-CN" sz="2400" b="0" baseline="-25000" dirty="0">
                <a:cs typeface="Arial" panose="020B0604020202020204" pitchFamily="34" charset="0"/>
              </a:rPr>
              <a:t>2</a:t>
            </a:r>
            <a:r>
              <a:rPr kumimoji="1" lang="en-US" altLang="zh-CN" sz="2400" b="0" dirty="0">
                <a:cs typeface="Arial" panose="020B0604020202020204" pitchFamily="34" charset="0"/>
              </a:rPr>
              <a:t>≥ …≥ 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p</a:t>
            </a:r>
            <a:r>
              <a:rPr kumimoji="1" lang="en-US" altLang="zh-CN" sz="2400" b="0" baseline="-25000" dirty="0" err="1">
                <a:cs typeface="Arial" panose="020B0604020202020204" pitchFamily="34" charset="0"/>
              </a:rPr>
              <a:t>n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的次序输入；期限值</a:t>
            </a:r>
            <a:r>
              <a:rPr kumimoji="1" lang="en-US" altLang="zh-CN" sz="2400" b="0" dirty="0">
                <a:cs typeface="Arial" panose="020B0604020202020204" pitchFamily="34" charset="0"/>
              </a:rPr>
              <a:t>D(1:n)≥1</a:t>
            </a:r>
            <a:r>
              <a:rPr kumimoji="1" lang="zh-CN" altLang="en-US" sz="2400" b="0" dirty="0">
                <a:cs typeface="Arial" panose="020B0604020202020204" pitchFamily="34" charset="0"/>
              </a:rPr>
              <a:t>；</a:t>
            </a:r>
            <a:r>
              <a:rPr kumimoji="1" lang="en-US" altLang="zh-CN" sz="2400" b="0" dirty="0">
                <a:cs typeface="Arial" panose="020B0604020202020204" pitchFamily="34" charset="0"/>
              </a:rPr>
              <a:t>J</a:t>
            </a:r>
            <a:r>
              <a:rPr kumimoji="1" lang="zh-CN" altLang="en-US" sz="2400" b="0" dirty="0">
                <a:cs typeface="Arial" panose="020B0604020202020204" pitchFamily="34" charset="0"/>
              </a:rPr>
              <a:t>是最优解</a:t>
            </a:r>
            <a:r>
              <a:rPr kumimoji="1" lang="en-US" altLang="zh-CN" sz="2400" b="0" dirty="0">
                <a:cs typeface="Arial" panose="020B0604020202020204" pitchFamily="34" charset="0"/>
              </a:rPr>
              <a:t>//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J←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{1}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for 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2  to  n  do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solidFill>
                  <a:srgbClr val="0000FF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if  (J∪{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}</a:t>
            </a:r>
            <a:r>
              <a:rPr kumimoji="1"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的所有作业都能在它们的截止期限前完成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    then   J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J∪{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}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endif</a:t>
            </a:r>
            <a:endParaRPr kumimoji="1" lang="en-US" altLang="zh-CN" sz="2400" b="0" dirty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repeat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end </a:t>
            </a:r>
            <a:r>
              <a:rPr kumimoji="1" lang="en-US" altLang="zh-CN" sz="2400" b="0" dirty="0">
                <a:cs typeface="Arial" panose="020B0604020202020204" pitchFamily="34" charset="0"/>
              </a:rPr>
              <a:t>GREEDY_JOB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2279576" y="5517232"/>
            <a:ext cx="7992888" cy="9907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问题</a:t>
            </a:r>
            <a:r>
              <a:rPr kumimoji="1" lang="en-US" altLang="zh-CN" sz="2400" dirty="0">
                <a:solidFill>
                  <a:srgbClr val="FF0000"/>
                </a:solidFill>
              </a:rPr>
              <a:t>1</a:t>
            </a:r>
            <a:r>
              <a:rPr kumimoji="1" lang="zh-CN" altLang="en-US" sz="2400" dirty="0">
                <a:solidFill>
                  <a:srgbClr val="FF0000"/>
                </a:solidFill>
              </a:rPr>
              <a:t>：算法</a:t>
            </a:r>
            <a:r>
              <a:rPr kumimoji="1" lang="en-US" altLang="zh-CN" sz="2400" dirty="0">
                <a:solidFill>
                  <a:srgbClr val="FF0000"/>
                </a:solidFill>
              </a:rPr>
              <a:t>GREEDY_JOB</a:t>
            </a:r>
            <a:r>
              <a:rPr lang="zh-CN" altLang="en-US" sz="2400" dirty="0">
                <a:solidFill>
                  <a:srgbClr val="FF0000"/>
                </a:solidFill>
              </a:rPr>
              <a:t>是否能提供一个最优解？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问题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：对于给定的作业集合</a:t>
            </a:r>
            <a:r>
              <a:rPr lang="en-US" altLang="zh-CN" sz="2400" dirty="0">
                <a:solidFill>
                  <a:srgbClr val="FF0000"/>
                </a:solidFill>
              </a:rPr>
              <a:t>J</a:t>
            </a:r>
            <a:r>
              <a:rPr lang="zh-CN" altLang="en-US" sz="2400" dirty="0">
                <a:solidFill>
                  <a:srgbClr val="FF0000"/>
                </a:solidFill>
              </a:rPr>
              <a:t>，如何确定它是可行解？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5" grpId="0" animBg="1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59543"/>
            <a:ext cx="9073008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定理</a:t>
            </a:r>
            <a:r>
              <a:rPr lang="en-US" altLang="zh-CN" sz="3600" dirty="0"/>
              <a:t>5.2 </a:t>
            </a:r>
            <a:r>
              <a:rPr kumimoji="1" lang="zh-CN" altLang="en-US" sz="3600" dirty="0"/>
              <a:t>作业调度问题的最优解证明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95400" y="1967678"/>
            <a:ext cx="10658400" cy="1782451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证明思路：</a:t>
            </a:r>
          </a:p>
          <a:p>
            <a:pPr lvl="1" eaLnBrk="1" hangingPunct="1"/>
            <a:r>
              <a:rPr lang="en-US" altLang="zh-CN" sz="2400" dirty="0"/>
              <a:t>J</a:t>
            </a:r>
            <a:r>
              <a:rPr lang="zh-CN" altLang="en-US" sz="2400" dirty="0"/>
              <a:t>是贪心方法求出的作业集合，</a:t>
            </a:r>
            <a:r>
              <a:rPr lang="en-US" altLang="zh-CN" sz="2400" dirty="0"/>
              <a:t>I</a:t>
            </a:r>
            <a:r>
              <a:rPr lang="zh-CN" altLang="en-US" sz="2400" dirty="0"/>
              <a:t>是一个最优解的作业集合。可以证明</a:t>
            </a:r>
            <a:r>
              <a:rPr lang="en-US" altLang="zh-CN" sz="2400" dirty="0"/>
              <a:t>J</a:t>
            </a:r>
            <a:r>
              <a:rPr lang="zh-CN" altLang="en-US" sz="2400" dirty="0"/>
              <a:t>和</a:t>
            </a:r>
            <a:r>
              <a:rPr lang="en-US" altLang="zh-CN" sz="2400" dirty="0"/>
              <a:t>I</a:t>
            </a:r>
            <a:r>
              <a:rPr lang="zh-CN" altLang="en-US" sz="2400" dirty="0"/>
              <a:t>具有相同的效益值，从而</a:t>
            </a:r>
            <a:r>
              <a:rPr lang="en-US" altLang="zh-CN" sz="2400" dirty="0"/>
              <a:t>J</a:t>
            </a:r>
            <a:r>
              <a:rPr lang="zh-CN" altLang="en-US" sz="2400" dirty="0"/>
              <a:t>也是最优解。</a:t>
            </a:r>
          </a:p>
          <a:p>
            <a:pPr lvl="1" eaLnBrk="1" hangingPunct="1"/>
            <a:r>
              <a:rPr lang="zh-CN" altLang="en-US" sz="2400" dirty="0"/>
              <a:t>证明当</a:t>
            </a:r>
            <a:r>
              <a:rPr lang="en-US" altLang="zh-CN" sz="2400" dirty="0"/>
              <a:t>I≠J</a:t>
            </a:r>
            <a:r>
              <a:rPr lang="zh-CN" altLang="en-US" sz="2400" dirty="0"/>
              <a:t>时</a:t>
            </a:r>
            <a:r>
              <a:rPr lang="zh-CN" altLang="en-US" sz="2400" dirty="0">
                <a:latin typeface="幼圆" panose="02010509060101010101" pitchFamily="49" charset="-122"/>
              </a:rPr>
              <a:t>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000" dirty="0"/>
          </a:p>
          <a:p>
            <a:pPr lvl="1" eaLnBrk="1" hangingPunct="1"/>
            <a:endParaRPr lang="zh-CN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000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977444" y="3357439"/>
            <a:ext cx="2440572" cy="6397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I</a:t>
            </a: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5417604" y="3212976"/>
            <a:ext cx="2352174" cy="7921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J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6901008" y="3573338"/>
            <a:ext cx="86476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941983" y="3357438"/>
            <a:ext cx="347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/>
              <a:t>a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791816" y="3556610"/>
            <a:ext cx="34783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/>
              <a:t>b</a:t>
            </a:r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769532" y="3699485"/>
            <a:ext cx="8647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6744072" y="4265658"/>
            <a:ext cx="792088" cy="315469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018597" y="4148013"/>
            <a:ext cx="5724995" cy="171739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由贪心方法可知，对于在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中又不在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中的所有作业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b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，都有</a:t>
            </a:r>
            <a:r>
              <a:rPr lang="en-US" altLang="zh-CN" sz="2400" b="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r>
              <a:rPr lang="en-US" altLang="zh-CN" sz="2400" b="0" baseline="-2500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400" b="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≥p</a:t>
            </a:r>
            <a:r>
              <a:rPr lang="en-US" altLang="zh-CN" sz="2400" b="0" baseline="-25000" dirty="0" err="1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b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。这是因为，若</a:t>
            </a:r>
            <a:r>
              <a:rPr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r>
              <a:rPr lang="en-US" altLang="zh-CN" sz="2400" b="0" baseline="-25000" dirty="0" err="1">
                <a:ea typeface="幼圆" panose="02010509060101010101" pitchFamily="49" charset="-122"/>
                <a:cs typeface="Arial" panose="020B0604020202020204" pitchFamily="34" charset="0"/>
              </a:rPr>
              <a:t>b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&gt;p</a:t>
            </a:r>
            <a:r>
              <a:rPr lang="en-US" altLang="zh-CN" sz="24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，则贪心方法会先于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考虑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b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，并把</a:t>
            </a:r>
            <a:r>
              <a:rPr lang="en-US" altLang="zh-CN" sz="2400" b="0" dirty="0">
                <a:ea typeface="幼圆" panose="02010509060101010101" pitchFamily="49" charset="-122"/>
                <a:cs typeface="Arial" panose="020B0604020202020204" pitchFamily="34" charset="0"/>
              </a:rPr>
              <a:t>b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计入到</a:t>
            </a:r>
            <a:r>
              <a:rPr lang="en-US" altLang="zh-CN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J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中去。</a:t>
            </a:r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7536160" y="3945197"/>
            <a:ext cx="3528392" cy="940246"/>
          </a:xfrm>
          <a:prstGeom prst="wedgeRoundRectCallout">
            <a:avLst>
              <a:gd name="adj1" fmla="val -42558"/>
              <a:gd name="adj2" fmla="val -64879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是使得</a:t>
            </a:r>
            <a:r>
              <a:rPr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a∈J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且</a:t>
            </a:r>
            <a:r>
              <a:rPr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a∈I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的</a:t>
            </a:r>
          </a:p>
          <a:p>
            <a:pPr algn="ctr">
              <a:spcBef>
                <a:spcPct val="0"/>
              </a:spcBef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一个最高效益值的作业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9982200" y="4179471"/>
            <a:ext cx="144015" cy="2160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Box 7"/>
          <p:cNvSpPr txBox="1"/>
          <p:nvPr/>
        </p:nvSpPr>
        <p:spPr>
          <a:xfrm flipH="1">
            <a:off x="695400" y="1397148"/>
            <a:ext cx="1036915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定理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5.2</a:t>
            </a:r>
            <a:r>
              <a:rPr kumimoji="1"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：算法</a:t>
            </a:r>
            <a:r>
              <a:rPr kumimoji="1"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GREEDY_JOB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所描述的贪心方法总是得到一个最优解。</a:t>
            </a:r>
          </a:p>
        </p:txBody>
      </p:sp>
      <p:sp>
        <p:nvSpPr>
          <p:cNvPr id="19" name="AutoShape 5"/>
          <p:cNvSpPr>
            <a:spLocks noChangeArrowheads="1"/>
          </p:cNvSpPr>
          <p:nvPr/>
        </p:nvSpPr>
        <p:spPr bwMode="auto">
          <a:xfrm>
            <a:off x="8182670" y="716112"/>
            <a:ext cx="1799530" cy="509729"/>
          </a:xfrm>
          <a:prstGeom prst="wedgeRoundRectCallout">
            <a:avLst>
              <a:gd name="adj1" fmla="val -43047"/>
              <a:gd name="adj2" fmla="val 72181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问题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得证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2301156" y="5986064"/>
            <a:ext cx="4268576" cy="5431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</a:t>
            </a:r>
            <a:r>
              <a:rPr kumimoji="1" lang="en-US" altLang="zh-CN" sz="2400" dirty="0">
                <a:solidFill>
                  <a:srgbClr val="FF0000"/>
                </a:solidFill>
              </a:rPr>
              <a:t>J</a:t>
            </a:r>
            <a:r>
              <a:rPr kumimoji="1" lang="zh-CN" altLang="en-US" sz="2400" dirty="0">
                <a:solidFill>
                  <a:srgbClr val="FF0000"/>
                </a:solidFill>
              </a:rPr>
              <a:t>和</a:t>
            </a:r>
            <a:r>
              <a:rPr kumimoji="1" lang="en-US" altLang="zh-CN" sz="2400" dirty="0">
                <a:solidFill>
                  <a:srgbClr val="FF0000"/>
                </a:solidFill>
              </a:rPr>
              <a:t>I</a:t>
            </a:r>
            <a:r>
              <a:rPr kumimoji="1" lang="zh-CN" altLang="en-US" sz="2400" dirty="0">
                <a:solidFill>
                  <a:srgbClr val="FF0000"/>
                </a:solidFill>
              </a:rPr>
              <a:t>的元素个数相同么</a:t>
            </a:r>
            <a:r>
              <a:rPr lang="zh-CN" altLang="en-US" sz="2400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6901008" y="5336464"/>
            <a:ext cx="4163544" cy="981242"/>
          </a:xfrm>
          <a:prstGeom prst="wedgeRoundRectCallout">
            <a:avLst>
              <a:gd name="adj1" fmla="val -55957"/>
              <a:gd name="adj2" fmla="val 33970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  <a:miter lim="800000"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若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⊂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，则与贪心法矛盾；</a:t>
            </a:r>
            <a:endParaRPr lang="en-US" altLang="zh-CN" sz="24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若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⊂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，则与最优解假设矛盾。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  <p:bldP spid="20" grpId="0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376" y="4352777"/>
            <a:ext cx="10874424" cy="1801961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sz="2700" dirty="0"/>
              <a:t>用</a:t>
            </a:r>
            <a:r>
              <a:rPr lang="en-US" altLang="zh-CN" sz="2700" b="1" dirty="0"/>
              <a:t>J</a:t>
            </a:r>
            <a:r>
              <a:rPr lang="zh-CN" altLang="en-US" sz="2700" b="1" dirty="0"/>
              <a:t>中作业</a:t>
            </a:r>
            <a:r>
              <a:rPr lang="en-US" altLang="zh-CN" sz="2700" b="1" dirty="0"/>
              <a:t>a</a:t>
            </a:r>
            <a:r>
              <a:rPr lang="zh-CN" altLang="en-US" sz="2700" b="1" dirty="0"/>
              <a:t>替换掉</a:t>
            </a:r>
            <a:r>
              <a:rPr lang="en-US" altLang="zh-CN" sz="2700" b="1" dirty="0"/>
              <a:t>I</a:t>
            </a:r>
            <a:r>
              <a:rPr lang="zh-CN" altLang="en-US" sz="2700" b="1" dirty="0"/>
              <a:t>中同时间片调用的作业</a:t>
            </a:r>
            <a:r>
              <a:rPr lang="en-US" altLang="zh-CN" sz="2700" b="1" dirty="0"/>
              <a:t>b</a:t>
            </a:r>
            <a:r>
              <a:rPr lang="zh-CN" altLang="en-US" sz="2700" dirty="0"/>
              <a:t>，得到作业集合</a:t>
            </a:r>
            <a:r>
              <a:rPr lang="en-US" altLang="zh-CN" sz="2700" dirty="0"/>
              <a:t>I’=I-{b}∪{a}</a:t>
            </a:r>
            <a:r>
              <a:rPr lang="zh-CN" altLang="en-US" sz="2700" dirty="0"/>
              <a:t>的一个可行调度表。显然，</a:t>
            </a:r>
            <a:r>
              <a:rPr lang="en-US" altLang="zh-CN" sz="2700" dirty="0"/>
              <a:t>I’</a:t>
            </a:r>
            <a:r>
              <a:rPr lang="zh-CN" altLang="en-US" sz="2700" dirty="0"/>
              <a:t>的效益值不小于</a:t>
            </a:r>
            <a:r>
              <a:rPr lang="en-US" altLang="zh-CN" sz="2700" dirty="0"/>
              <a:t>I</a:t>
            </a:r>
            <a:r>
              <a:rPr lang="zh-CN" altLang="en-US" sz="2700" dirty="0"/>
              <a:t>的效益值，并且</a:t>
            </a:r>
            <a:r>
              <a:rPr lang="en-US" altLang="zh-CN" sz="2700" dirty="0"/>
              <a:t>I’</a:t>
            </a:r>
            <a:r>
              <a:rPr lang="zh-CN" altLang="en-US" sz="2700" dirty="0"/>
              <a:t>比</a:t>
            </a:r>
            <a:r>
              <a:rPr lang="en-US" altLang="zh-CN" sz="2700" dirty="0"/>
              <a:t>I</a:t>
            </a:r>
            <a:r>
              <a:rPr lang="zh-CN" altLang="en-US" sz="2700" dirty="0"/>
              <a:t>少一个与</a:t>
            </a:r>
            <a:r>
              <a:rPr lang="en-US" altLang="zh-CN" sz="2700" dirty="0"/>
              <a:t>J</a:t>
            </a:r>
            <a:r>
              <a:rPr lang="zh-CN" altLang="en-US" sz="2700" dirty="0"/>
              <a:t>不同的作业。</a:t>
            </a:r>
          </a:p>
          <a:p>
            <a:r>
              <a:rPr lang="zh-CN" altLang="en-US" sz="2700" dirty="0"/>
              <a:t>重复应用上述转换，使</a:t>
            </a:r>
            <a:r>
              <a:rPr lang="en-US" altLang="zh-CN" sz="2700" dirty="0"/>
              <a:t>I</a:t>
            </a:r>
            <a:r>
              <a:rPr lang="zh-CN" altLang="en-US" sz="2700" dirty="0"/>
              <a:t>在不减效益值的情况下转换成</a:t>
            </a:r>
            <a:r>
              <a:rPr lang="en-US" altLang="zh-CN" sz="2700" dirty="0"/>
              <a:t>J</a:t>
            </a:r>
            <a:r>
              <a:rPr lang="zh-CN" altLang="en-US" sz="2700" dirty="0"/>
              <a:t>，因此</a:t>
            </a:r>
            <a:r>
              <a:rPr lang="en-US" altLang="zh-CN" sz="2700" dirty="0"/>
              <a:t>J</a:t>
            </a:r>
            <a:r>
              <a:rPr lang="zh-CN" altLang="en-US" sz="2700" dirty="0"/>
              <a:t>也必定是最优解，证毕。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79376" y="404664"/>
            <a:ext cx="10441160" cy="367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设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J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分别是</a:t>
            </a:r>
            <a:r>
              <a:rPr lang="en-US" altLang="zh-CN" sz="2400" dirty="0"/>
              <a:t>J</a:t>
            </a:r>
            <a:r>
              <a:rPr lang="zh-CN" altLang="en-US" sz="2400" dirty="0"/>
              <a:t>和</a:t>
            </a:r>
            <a:r>
              <a:rPr lang="en-US" altLang="zh-CN" sz="2400" dirty="0"/>
              <a:t>I</a:t>
            </a:r>
            <a:r>
              <a:rPr lang="zh-CN" altLang="en-US" sz="2400" dirty="0"/>
              <a:t>的可行调度表。令调度表中相同作业在相同的时间片执行。具体方法如下：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grpSp>
        <p:nvGrpSpPr>
          <p:cNvPr id="6" name="Group 104"/>
          <p:cNvGrpSpPr>
            <a:grpSpLocks/>
          </p:cNvGrpSpPr>
          <p:nvPr/>
        </p:nvGrpSpPr>
        <p:grpSpPr bwMode="auto">
          <a:xfrm>
            <a:off x="1631902" y="1125389"/>
            <a:ext cx="2808287" cy="1330325"/>
            <a:chOff x="839" y="1071"/>
            <a:chExt cx="1769" cy="838"/>
          </a:xfrm>
        </p:grpSpPr>
        <p:sp>
          <p:nvSpPr>
            <p:cNvPr id="7" name="Text Box 76"/>
            <p:cNvSpPr txBox="1">
              <a:spLocks noChangeArrowheads="1"/>
            </p:cNvSpPr>
            <p:nvPr/>
          </p:nvSpPr>
          <p:spPr bwMode="auto">
            <a:xfrm>
              <a:off x="839" y="1298"/>
              <a:ext cx="17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 S</a:t>
              </a:r>
              <a:r>
                <a:rPr lang="en-US" altLang="zh-CN" sz="2000" b="0" baseline="-25000" dirty="0"/>
                <a:t>J</a:t>
              </a:r>
              <a:r>
                <a:rPr lang="en-US" altLang="zh-CN" sz="2000" b="0" dirty="0"/>
                <a:t>: …….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….k….</a:t>
              </a:r>
            </a:p>
          </p:txBody>
        </p:sp>
        <p:sp>
          <p:nvSpPr>
            <p:cNvPr id="8" name="Text Box 77"/>
            <p:cNvSpPr txBox="1">
              <a:spLocks noChangeArrowheads="1"/>
            </p:cNvSpPr>
            <p:nvPr/>
          </p:nvSpPr>
          <p:spPr bwMode="auto">
            <a:xfrm>
              <a:off x="884" y="1599"/>
              <a:ext cx="158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S</a:t>
              </a:r>
              <a:r>
                <a:rPr lang="en-US" altLang="zh-CN" sz="2000" b="0" baseline="-25000" dirty="0"/>
                <a:t>I</a:t>
              </a:r>
              <a:r>
                <a:rPr lang="en-US" altLang="zh-CN" sz="2000" b="0" dirty="0"/>
                <a:t>: …………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.….</a:t>
              </a:r>
            </a:p>
          </p:txBody>
        </p:sp>
        <p:sp>
          <p:nvSpPr>
            <p:cNvPr id="9" name="Text Box 79"/>
            <p:cNvSpPr txBox="1">
              <a:spLocks noChangeArrowheads="1"/>
            </p:cNvSpPr>
            <p:nvPr/>
          </p:nvSpPr>
          <p:spPr bwMode="auto">
            <a:xfrm>
              <a:off x="1428" y="1071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/>
                <a:t> t &lt; t’ </a:t>
              </a:r>
            </a:p>
          </p:txBody>
        </p:sp>
        <p:sp>
          <p:nvSpPr>
            <p:cNvPr id="10" name="Line 81"/>
            <p:cNvSpPr>
              <a:spLocks noChangeShapeType="1"/>
            </p:cNvSpPr>
            <p:nvPr/>
          </p:nvSpPr>
          <p:spPr bwMode="auto">
            <a:xfrm flipH="1">
              <a:off x="1564" y="1298"/>
              <a:ext cx="0" cy="61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" name="Line 82"/>
            <p:cNvSpPr>
              <a:spLocks noChangeShapeType="1"/>
            </p:cNvSpPr>
            <p:nvPr/>
          </p:nvSpPr>
          <p:spPr bwMode="auto">
            <a:xfrm flipH="1">
              <a:off x="1836" y="1298"/>
              <a:ext cx="1" cy="61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12" name="AutoShape 84"/>
          <p:cNvSpPr>
            <a:spLocks noChangeArrowheads="1"/>
          </p:cNvSpPr>
          <p:nvPr/>
        </p:nvSpPr>
        <p:spPr bwMode="auto">
          <a:xfrm>
            <a:off x="3719462" y="1774676"/>
            <a:ext cx="1081089" cy="288925"/>
          </a:xfrm>
          <a:prstGeom prst="rightArrow">
            <a:avLst>
              <a:gd name="adj1" fmla="val 50000"/>
              <a:gd name="adj2" fmla="val 68544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b="0"/>
          </a:p>
        </p:txBody>
      </p:sp>
      <p:grpSp>
        <p:nvGrpSpPr>
          <p:cNvPr id="13" name="Group 105"/>
          <p:cNvGrpSpPr>
            <a:grpSpLocks/>
          </p:cNvGrpSpPr>
          <p:nvPr/>
        </p:nvGrpSpPr>
        <p:grpSpPr bwMode="auto">
          <a:xfrm>
            <a:off x="4871986" y="1125388"/>
            <a:ext cx="2808289" cy="1328737"/>
            <a:chOff x="2880" y="1071"/>
            <a:chExt cx="1769" cy="837"/>
          </a:xfrm>
        </p:grpSpPr>
        <p:sp>
          <p:nvSpPr>
            <p:cNvPr id="14" name="Text Box 86"/>
            <p:cNvSpPr txBox="1">
              <a:spLocks noChangeArrowheads="1"/>
            </p:cNvSpPr>
            <p:nvPr/>
          </p:nvSpPr>
          <p:spPr bwMode="auto">
            <a:xfrm>
              <a:off x="2880" y="1298"/>
              <a:ext cx="176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 S’</a:t>
              </a:r>
              <a:r>
                <a:rPr lang="en-US" altLang="zh-CN" sz="2000" b="0" baseline="-25000" dirty="0"/>
                <a:t>J</a:t>
              </a:r>
              <a:r>
                <a:rPr lang="en-US" altLang="zh-CN" sz="2000" b="0" dirty="0"/>
                <a:t>:  ..…...k…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….</a:t>
              </a:r>
            </a:p>
          </p:txBody>
        </p:sp>
        <p:sp>
          <p:nvSpPr>
            <p:cNvPr id="15" name="Text Box 87"/>
            <p:cNvSpPr txBox="1">
              <a:spLocks noChangeArrowheads="1"/>
            </p:cNvSpPr>
            <p:nvPr/>
          </p:nvSpPr>
          <p:spPr bwMode="auto">
            <a:xfrm>
              <a:off x="2970" y="1599"/>
              <a:ext cx="13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S</a:t>
              </a:r>
              <a:r>
                <a:rPr lang="en-US" altLang="zh-CN" sz="2000" b="0" baseline="-25000" dirty="0"/>
                <a:t>I</a:t>
              </a:r>
              <a:r>
                <a:rPr lang="en-US" altLang="zh-CN" sz="2000" b="0" dirty="0"/>
                <a:t>:  …………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.…</a:t>
              </a:r>
            </a:p>
          </p:txBody>
        </p:sp>
        <p:sp>
          <p:nvSpPr>
            <p:cNvPr id="16" name="Text Box 88"/>
            <p:cNvSpPr txBox="1">
              <a:spLocks noChangeArrowheads="1"/>
            </p:cNvSpPr>
            <p:nvPr/>
          </p:nvSpPr>
          <p:spPr bwMode="auto">
            <a:xfrm>
              <a:off x="3606" y="1071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 t &lt; t’ </a:t>
              </a:r>
            </a:p>
          </p:txBody>
        </p:sp>
        <p:sp>
          <p:nvSpPr>
            <p:cNvPr id="17" name="Line 89"/>
            <p:cNvSpPr>
              <a:spLocks noChangeShapeType="1"/>
            </p:cNvSpPr>
            <p:nvPr/>
          </p:nvSpPr>
          <p:spPr bwMode="auto">
            <a:xfrm>
              <a:off x="3696" y="1298"/>
              <a:ext cx="0" cy="61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8" name="Line 90"/>
            <p:cNvSpPr>
              <a:spLocks noChangeShapeType="1"/>
            </p:cNvSpPr>
            <p:nvPr/>
          </p:nvSpPr>
          <p:spPr bwMode="auto">
            <a:xfrm flipH="1">
              <a:off x="3968" y="1298"/>
              <a:ext cx="1" cy="61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grpSp>
        <p:nvGrpSpPr>
          <p:cNvPr id="19" name="Group 106"/>
          <p:cNvGrpSpPr>
            <a:grpSpLocks/>
          </p:cNvGrpSpPr>
          <p:nvPr/>
        </p:nvGrpSpPr>
        <p:grpSpPr bwMode="auto">
          <a:xfrm>
            <a:off x="1603324" y="2638275"/>
            <a:ext cx="2262188" cy="1397000"/>
            <a:chOff x="821" y="1933"/>
            <a:chExt cx="1425" cy="880"/>
          </a:xfrm>
        </p:grpSpPr>
        <p:sp>
          <p:nvSpPr>
            <p:cNvPr id="20" name="Text Box 92"/>
            <p:cNvSpPr txBox="1">
              <a:spLocks noChangeArrowheads="1"/>
            </p:cNvSpPr>
            <p:nvPr/>
          </p:nvSpPr>
          <p:spPr bwMode="auto">
            <a:xfrm>
              <a:off x="821" y="2160"/>
              <a:ext cx="142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 S</a:t>
              </a:r>
              <a:r>
                <a:rPr lang="en-US" altLang="zh-CN" sz="2000" b="0" baseline="-25000" dirty="0"/>
                <a:t>J</a:t>
              </a:r>
              <a:r>
                <a:rPr lang="en-US" altLang="zh-CN" sz="2000" b="0" dirty="0"/>
                <a:t>: ……..…..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….</a:t>
              </a:r>
            </a:p>
          </p:txBody>
        </p:sp>
        <p:sp>
          <p:nvSpPr>
            <p:cNvPr id="21" name="Text Box 93"/>
            <p:cNvSpPr txBox="1">
              <a:spLocks noChangeArrowheads="1"/>
            </p:cNvSpPr>
            <p:nvPr/>
          </p:nvSpPr>
          <p:spPr bwMode="auto">
            <a:xfrm>
              <a:off x="862" y="2446"/>
              <a:ext cx="12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S</a:t>
              </a:r>
              <a:r>
                <a:rPr lang="en-US" altLang="zh-CN" sz="2000" b="0" baseline="-25000" dirty="0"/>
                <a:t>I</a:t>
              </a:r>
              <a:r>
                <a:rPr lang="en-US" altLang="zh-CN" sz="2000" b="0" dirty="0"/>
                <a:t>: ……..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.…k...</a:t>
              </a:r>
            </a:p>
          </p:txBody>
        </p:sp>
        <p:sp>
          <p:nvSpPr>
            <p:cNvPr id="22" name="Text Box 94"/>
            <p:cNvSpPr txBox="1">
              <a:spLocks noChangeArrowheads="1"/>
            </p:cNvSpPr>
            <p:nvPr/>
          </p:nvSpPr>
          <p:spPr bwMode="auto">
            <a:xfrm>
              <a:off x="1428" y="1933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/>
                <a:t> t’ &lt; t </a:t>
              </a:r>
            </a:p>
          </p:txBody>
        </p:sp>
        <p:sp>
          <p:nvSpPr>
            <p:cNvPr id="23" name="Line 95"/>
            <p:cNvSpPr>
              <a:spLocks noChangeShapeType="1"/>
            </p:cNvSpPr>
            <p:nvPr/>
          </p:nvSpPr>
          <p:spPr bwMode="auto">
            <a:xfrm>
              <a:off x="1564" y="2204"/>
              <a:ext cx="0" cy="60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4" name="Line 96"/>
            <p:cNvSpPr>
              <a:spLocks noChangeShapeType="1"/>
            </p:cNvSpPr>
            <p:nvPr/>
          </p:nvSpPr>
          <p:spPr bwMode="auto">
            <a:xfrm>
              <a:off x="1837" y="2204"/>
              <a:ext cx="0" cy="60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25" name="AutoShape 97"/>
          <p:cNvSpPr>
            <a:spLocks noChangeArrowheads="1"/>
          </p:cNvSpPr>
          <p:nvPr/>
        </p:nvSpPr>
        <p:spPr bwMode="auto">
          <a:xfrm>
            <a:off x="3719462" y="3287564"/>
            <a:ext cx="1081089" cy="288925"/>
          </a:xfrm>
          <a:prstGeom prst="rightArrow">
            <a:avLst>
              <a:gd name="adj1" fmla="val 50000"/>
              <a:gd name="adj2" fmla="val 68544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</a:pP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6" name="Group 107"/>
          <p:cNvGrpSpPr>
            <a:grpSpLocks/>
          </p:cNvGrpSpPr>
          <p:nvPr/>
        </p:nvGrpSpPr>
        <p:grpSpPr bwMode="auto">
          <a:xfrm>
            <a:off x="4945013" y="2655737"/>
            <a:ext cx="2374900" cy="1390650"/>
            <a:chOff x="2926" y="1944"/>
            <a:chExt cx="1496" cy="876"/>
          </a:xfrm>
        </p:grpSpPr>
        <p:sp>
          <p:nvSpPr>
            <p:cNvPr id="27" name="Text Box 99"/>
            <p:cNvSpPr txBox="1">
              <a:spLocks noChangeArrowheads="1"/>
            </p:cNvSpPr>
            <p:nvPr/>
          </p:nvSpPr>
          <p:spPr bwMode="auto">
            <a:xfrm>
              <a:off x="2926" y="2160"/>
              <a:ext cx="140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 S</a:t>
              </a:r>
              <a:r>
                <a:rPr lang="en-US" altLang="zh-CN" sz="2000" b="0" baseline="-25000" dirty="0"/>
                <a:t>J</a:t>
              </a:r>
              <a:r>
                <a:rPr lang="en-US" altLang="zh-CN" sz="2000" b="0" dirty="0"/>
                <a:t>: …….……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…</a:t>
              </a:r>
            </a:p>
          </p:txBody>
        </p:sp>
        <p:sp>
          <p:nvSpPr>
            <p:cNvPr id="28" name="Text Box 100"/>
            <p:cNvSpPr txBox="1">
              <a:spLocks noChangeArrowheads="1"/>
            </p:cNvSpPr>
            <p:nvPr/>
          </p:nvSpPr>
          <p:spPr bwMode="auto">
            <a:xfrm>
              <a:off x="2960" y="2461"/>
              <a:ext cx="14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S’</a:t>
              </a:r>
              <a:r>
                <a:rPr lang="en-US" altLang="zh-CN" sz="2000" b="0" baseline="-25000" dirty="0"/>
                <a:t>I</a:t>
              </a:r>
              <a:r>
                <a:rPr lang="en-US" altLang="zh-CN" sz="2000" b="0" dirty="0"/>
                <a:t>: ……..k….</a:t>
              </a:r>
              <a:r>
                <a:rPr lang="en-US" altLang="zh-CN" sz="2000" b="0" dirty="0" err="1"/>
                <a:t>i</a:t>
              </a:r>
              <a:r>
                <a:rPr lang="en-US" altLang="zh-CN" sz="2000" b="0" dirty="0"/>
                <a:t>…..</a:t>
              </a:r>
            </a:p>
          </p:txBody>
        </p:sp>
        <p:sp>
          <p:nvSpPr>
            <p:cNvPr id="29" name="Text Box 101"/>
            <p:cNvSpPr txBox="1">
              <a:spLocks noChangeArrowheads="1"/>
            </p:cNvSpPr>
            <p:nvPr/>
          </p:nvSpPr>
          <p:spPr bwMode="auto">
            <a:xfrm>
              <a:off x="3583" y="1944"/>
              <a:ext cx="6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 dirty="0"/>
                <a:t> t’ &lt; t</a:t>
              </a:r>
            </a:p>
          </p:txBody>
        </p:sp>
        <p:sp>
          <p:nvSpPr>
            <p:cNvPr id="30" name="Line 102"/>
            <p:cNvSpPr>
              <a:spLocks noChangeShapeType="1"/>
            </p:cNvSpPr>
            <p:nvPr/>
          </p:nvSpPr>
          <p:spPr bwMode="auto">
            <a:xfrm>
              <a:off x="3696" y="2217"/>
              <a:ext cx="0" cy="60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1" name="Line 103"/>
            <p:cNvSpPr>
              <a:spLocks noChangeShapeType="1"/>
            </p:cNvSpPr>
            <p:nvPr/>
          </p:nvSpPr>
          <p:spPr bwMode="auto">
            <a:xfrm>
              <a:off x="3969" y="2204"/>
              <a:ext cx="0" cy="59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30736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判断</a:t>
            </a:r>
            <a:r>
              <a:rPr lang="en-US" altLang="zh-CN" sz="4000" dirty="0"/>
              <a:t>J</a:t>
            </a:r>
            <a:r>
              <a:rPr lang="zh-CN" altLang="en-US" sz="4000" dirty="0"/>
              <a:t>是可行解的策略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3890" y="184785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直观方法</a:t>
            </a:r>
            <a:r>
              <a:rPr lang="en-US" altLang="zh-CN" sz="2400" dirty="0"/>
              <a:t>——</a:t>
            </a:r>
            <a:r>
              <a:rPr lang="zh-CN" altLang="en-US" sz="2400" dirty="0"/>
              <a:t>检验</a:t>
            </a:r>
            <a:r>
              <a:rPr lang="en-US" altLang="zh-CN" sz="2400" dirty="0"/>
              <a:t>J</a:t>
            </a:r>
            <a:r>
              <a:rPr lang="zh-CN" altLang="en-US" sz="2400" dirty="0"/>
              <a:t>的所有可能的排列：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400" dirty="0"/>
              <a:t>б=i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,i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,…,</a:t>
            </a:r>
            <a:r>
              <a:rPr kumimoji="1" lang="en-US" altLang="zh-CN" sz="2400" dirty="0" err="1"/>
              <a:t>i</a:t>
            </a:r>
            <a:r>
              <a:rPr kumimoji="1" lang="en-US" altLang="zh-CN" sz="2400" baseline="-25000" dirty="0" err="1"/>
              <a:t>k</a:t>
            </a:r>
            <a:r>
              <a:rPr kumimoji="1" lang="zh-CN" altLang="en-US" sz="2400" dirty="0"/>
              <a:t>是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中作业的一种排列</a:t>
            </a:r>
            <a:r>
              <a:rPr kumimoji="1" lang="en-US" altLang="zh-CN" sz="2400" dirty="0"/>
              <a:t>;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400" dirty="0"/>
              <a:t>完成作业</a:t>
            </a:r>
            <a:r>
              <a:rPr kumimoji="1" lang="en-US" altLang="zh-CN" sz="2400" dirty="0" err="1"/>
              <a:t>i</a:t>
            </a:r>
            <a:r>
              <a:rPr kumimoji="1" lang="en-US" altLang="zh-CN" sz="2400" baseline="-25000" dirty="0" err="1"/>
              <a:t>j</a:t>
            </a:r>
            <a:r>
              <a:rPr kumimoji="1" lang="zh-CN" altLang="en-US" sz="2400" dirty="0"/>
              <a:t>的最早时间是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1≤j≤k</a:t>
            </a:r>
            <a:r>
              <a:rPr kumimoji="1" lang="zh-CN" altLang="en-US" sz="2400" dirty="0"/>
              <a:t>；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400" dirty="0"/>
              <a:t>若排列中的每个作业的</a:t>
            </a:r>
            <a:r>
              <a:rPr kumimoji="1" lang="en-US" altLang="zh-CN" sz="2400" dirty="0" err="1"/>
              <a:t>d</a:t>
            </a:r>
            <a:r>
              <a:rPr kumimoji="1" lang="en-US" altLang="zh-CN" sz="2400" baseline="-25000" dirty="0" err="1"/>
              <a:t>ij</a:t>
            </a:r>
            <a:r>
              <a:rPr kumimoji="1" lang="en-US" altLang="zh-CN" sz="2400" dirty="0" err="1"/>
              <a:t>≥j</a:t>
            </a:r>
            <a:r>
              <a:rPr kumimoji="1" lang="zh-CN" altLang="en-US" sz="2400" dirty="0"/>
              <a:t>，则</a:t>
            </a:r>
            <a:r>
              <a:rPr kumimoji="1" lang="en-US" altLang="zh-CN" sz="2400" dirty="0"/>
              <a:t>б</a:t>
            </a:r>
            <a:r>
              <a:rPr kumimoji="1" lang="zh-CN" altLang="en-US" sz="2400" dirty="0"/>
              <a:t>是一个允许的调度序列，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是一个可行解；否则，检验其他排列形式。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高效方法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检验一种特殊的排列：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1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按期限值的非降次序</a:t>
            </a:r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496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1"/>
            <a:ext cx="10515600" cy="792088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定理</a:t>
            </a:r>
            <a:r>
              <a:rPr lang="en-US" altLang="zh-CN" sz="4000" dirty="0"/>
              <a:t>5.3</a:t>
            </a:r>
            <a:r>
              <a:rPr kumimoji="1" lang="zh-CN" altLang="en-US" sz="4000" dirty="0"/>
              <a:t>作业调度问题的</a:t>
            </a:r>
            <a:r>
              <a:rPr lang="zh-CN" altLang="en-US" sz="4000" dirty="0"/>
              <a:t>可行</a:t>
            </a:r>
            <a:r>
              <a:rPr kumimoji="1" lang="zh-CN" altLang="en-US" sz="4000" dirty="0"/>
              <a:t>调度证明</a:t>
            </a:r>
            <a:r>
              <a:rPr kumimoji="1" lang="en-US" altLang="zh-CN" sz="4000" dirty="0"/>
              <a:t> </a:t>
            </a:r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7" name="TextBox 7"/>
          <p:cNvSpPr txBox="1"/>
          <p:nvPr/>
        </p:nvSpPr>
        <p:spPr>
          <a:xfrm flipH="1">
            <a:off x="695400" y="1052736"/>
            <a:ext cx="10729192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定理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5.3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：设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是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个作业的集合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б=i</a:t>
            </a:r>
            <a:r>
              <a:rPr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,i</a:t>
            </a:r>
            <a:r>
              <a:rPr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,…,</a:t>
            </a:r>
            <a:r>
              <a:rPr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是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中作业的一种排列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它使得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d</a:t>
            </a:r>
            <a:r>
              <a:rPr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i1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≤d</a:t>
            </a:r>
            <a:r>
              <a:rPr lang="en-US" altLang="zh-CN" sz="2400" baseline="-25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i2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≤…≤</a:t>
            </a:r>
            <a:r>
              <a:rPr lang="en-US" altLang="zh-CN" sz="24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d</a:t>
            </a:r>
            <a:r>
              <a:rPr lang="en-US" altLang="zh-CN" sz="2400" baseline="-25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ik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是一个可行解</a:t>
            </a: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当且仅当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中的作业可以按照</a:t>
            </a:r>
            <a:r>
              <a:rPr lang="en-US" altLang="zh-CN" sz="24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б</a:t>
            </a: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的次序而又不违反任何一个期限的情况来处理。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2420888"/>
            <a:ext cx="11079386" cy="2952328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证明思路：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</a:t>
            </a:r>
            <a:r>
              <a:rPr lang="en-US" altLang="zh-CN" sz="2400" dirty="0"/>
              <a:t>J</a:t>
            </a:r>
            <a:r>
              <a:rPr lang="zh-CN" altLang="en-US" sz="2400" dirty="0"/>
              <a:t>中的作业可以按照</a:t>
            </a:r>
            <a:r>
              <a:rPr kumimoji="1" lang="en-US" altLang="zh-CN" sz="2400" dirty="0"/>
              <a:t>б</a:t>
            </a:r>
            <a:r>
              <a:rPr kumimoji="1" lang="zh-CN" altLang="en-US" sz="2400" dirty="0"/>
              <a:t>的次序而又不违反任何一个期限，则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是一个可行解。</a:t>
            </a:r>
            <a:endParaRPr lang="zh-CN" altLang="en-US" sz="2400" dirty="0"/>
          </a:p>
          <a:p>
            <a:pPr lvl="1"/>
            <a:r>
              <a:rPr lang="zh-CN" altLang="en-US" sz="2400" dirty="0"/>
              <a:t>若</a:t>
            </a:r>
            <a:r>
              <a:rPr lang="en-US" altLang="zh-CN" sz="2400" dirty="0"/>
              <a:t>J</a:t>
            </a:r>
            <a:r>
              <a:rPr lang="zh-CN" altLang="en-US" sz="2400" dirty="0"/>
              <a:t>是可行解，则必存在一个排列</a:t>
            </a:r>
            <a:r>
              <a:rPr kumimoji="1" lang="en-US" altLang="zh-CN" sz="2400" dirty="0"/>
              <a:t>б’</a:t>
            </a:r>
            <a:r>
              <a:rPr lang="en-US" altLang="zh-CN" sz="2400" dirty="0"/>
              <a:t>=r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,…,</a:t>
            </a:r>
            <a:r>
              <a:rPr lang="en-US" altLang="zh-CN" sz="2400" dirty="0" err="1"/>
              <a:t>r</a:t>
            </a:r>
            <a:r>
              <a:rPr lang="en-US" altLang="zh-CN" sz="2400" baseline="-25000" dirty="0" err="1"/>
              <a:t>k</a:t>
            </a:r>
            <a:r>
              <a:rPr lang="zh-CN" altLang="en-US" sz="2400" dirty="0"/>
              <a:t>，使得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rj</a:t>
            </a:r>
            <a:r>
              <a:rPr lang="en-US" altLang="zh-CN" sz="2400" dirty="0" err="1"/>
              <a:t>≥j</a:t>
            </a:r>
            <a:r>
              <a:rPr lang="zh-CN" altLang="en-US" sz="2400" dirty="0"/>
              <a:t>，</a:t>
            </a:r>
            <a:r>
              <a:rPr lang="en-US" altLang="zh-CN" sz="2400" dirty="0"/>
              <a:t>1≤j≤k</a:t>
            </a:r>
            <a:r>
              <a:rPr lang="zh-CN" altLang="en-US" sz="2400" dirty="0"/>
              <a:t>。</a:t>
            </a:r>
          </a:p>
          <a:p>
            <a:pPr lvl="2"/>
            <a:r>
              <a:rPr lang="zh-CN" altLang="en-US" sz="2400" dirty="0"/>
              <a:t>假设</a:t>
            </a:r>
            <a:r>
              <a:rPr kumimoji="1" lang="en-US" altLang="zh-CN" sz="2400" dirty="0" err="1"/>
              <a:t>б’</a:t>
            </a:r>
            <a:r>
              <a:rPr lang="en-US" altLang="zh-CN" sz="2400" dirty="0" err="1"/>
              <a:t>≠</a:t>
            </a:r>
            <a:r>
              <a:rPr kumimoji="1" lang="en-US" altLang="zh-CN" sz="2400" dirty="0" err="1"/>
              <a:t>б</a:t>
            </a:r>
            <a:r>
              <a:rPr kumimoji="1" lang="zh-CN" altLang="en-US" sz="2400" dirty="0"/>
              <a:t>，令</a:t>
            </a:r>
            <a:r>
              <a:rPr kumimoji="1" lang="en-US" altLang="zh-CN" sz="2400" dirty="0"/>
              <a:t>a</a:t>
            </a:r>
            <a:r>
              <a:rPr kumimoji="1" lang="zh-CN" altLang="en-US" sz="2400" dirty="0"/>
              <a:t>是使得</a:t>
            </a:r>
            <a:r>
              <a:rPr kumimoji="1" lang="en-US" altLang="zh-CN" sz="2400" dirty="0" err="1"/>
              <a:t>r</a:t>
            </a:r>
            <a:r>
              <a:rPr kumimoji="1" lang="en-US" altLang="zh-CN" sz="2400" baseline="-25000" dirty="0" err="1"/>
              <a:t>a</a:t>
            </a:r>
            <a:r>
              <a:rPr kumimoji="1" lang="en-US" altLang="en-US" sz="2400" dirty="0" err="1"/>
              <a:t>≠</a:t>
            </a:r>
            <a:r>
              <a:rPr kumimoji="1" lang="en-US" altLang="zh-CN" sz="2400" dirty="0" err="1"/>
              <a:t>i</a:t>
            </a:r>
            <a:r>
              <a:rPr kumimoji="1" lang="en-US" altLang="zh-CN" sz="2400" baseline="-25000" dirty="0" err="1"/>
              <a:t>a</a:t>
            </a:r>
            <a:r>
              <a:rPr kumimoji="1" lang="zh-CN" altLang="en-US" sz="2400" dirty="0"/>
              <a:t>的最小下标；</a:t>
            </a:r>
            <a:r>
              <a:rPr lang="zh-CN" altLang="en-US" sz="2400" dirty="0"/>
              <a:t>设</a:t>
            </a:r>
            <a:r>
              <a:rPr kumimoji="1" lang="en-US" altLang="zh-CN" sz="2400" dirty="0" err="1"/>
              <a:t>r</a:t>
            </a:r>
            <a:r>
              <a:rPr kumimoji="1" lang="en-US" altLang="zh-CN" sz="2400" baseline="-25000" dirty="0" err="1"/>
              <a:t>b</a:t>
            </a:r>
            <a:r>
              <a:rPr kumimoji="1" lang="en-US" altLang="zh-CN" sz="2400" dirty="0"/>
              <a:t>=</a:t>
            </a:r>
            <a:r>
              <a:rPr kumimoji="1" lang="en-US" altLang="zh-CN" sz="2400" dirty="0" err="1"/>
              <a:t>i</a:t>
            </a:r>
            <a:r>
              <a:rPr kumimoji="1" lang="en-US" altLang="zh-CN" sz="2400" baseline="-25000" dirty="0" err="1"/>
              <a:t>a</a:t>
            </a:r>
            <a:r>
              <a:rPr kumimoji="1" lang="zh-CN" altLang="en-US" sz="2400" dirty="0"/>
              <a:t>，显然</a:t>
            </a:r>
            <a:r>
              <a:rPr kumimoji="1" lang="en-US" altLang="zh-CN" sz="2400" dirty="0"/>
              <a:t>b&gt;a</a:t>
            </a:r>
            <a:r>
              <a:rPr kumimoji="1" lang="zh-CN" altLang="en-US" sz="2400" dirty="0"/>
              <a:t>。</a:t>
            </a:r>
          </a:p>
          <a:p>
            <a:pPr lvl="2"/>
            <a:r>
              <a:rPr lang="zh-CN" altLang="en-US" sz="2400" dirty="0"/>
              <a:t>在</a:t>
            </a:r>
            <a:r>
              <a:rPr kumimoji="1" lang="en-US" altLang="zh-CN" sz="2400" dirty="0"/>
              <a:t>б’</a:t>
            </a:r>
            <a:r>
              <a:rPr lang="zh-CN" altLang="en-US" sz="2400" dirty="0"/>
              <a:t>中交换</a:t>
            </a:r>
            <a:r>
              <a:rPr lang="en-US" altLang="zh-CN" sz="2400" dirty="0" err="1"/>
              <a:t>r</a:t>
            </a:r>
            <a:r>
              <a:rPr lang="en-US" altLang="zh-CN" sz="2400" baseline="-25000" dirty="0" err="1"/>
              <a:t>a</a:t>
            </a:r>
            <a:r>
              <a:rPr lang="zh-CN" altLang="en-US" sz="2400" dirty="0"/>
              <a:t>与</a:t>
            </a:r>
            <a:r>
              <a:rPr lang="en-US" altLang="zh-CN" sz="2400" dirty="0" err="1"/>
              <a:t>r</a:t>
            </a:r>
            <a:r>
              <a:rPr lang="en-US" altLang="zh-CN" sz="2400" baseline="-25000" dirty="0" err="1"/>
              <a:t>b</a:t>
            </a:r>
            <a:r>
              <a:rPr lang="zh-CN" altLang="en-US" sz="2400" dirty="0"/>
              <a:t>的位置，产生新的可行排列</a:t>
            </a:r>
            <a:r>
              <a:rPr kumimoji="1" lang="en-US" altLang="zh-CN" sz="2400" dirty="0"/>
              <a:t>б”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dirty="0"/>
              <a:t>连续使用这种方法，就将</a:t>
            </a:r>
            <a:r>
              <a:rPr kumimoji="1" lang="en-US" altLang="zh-CN" sz="2400" dirty="0"/>
              <a:t>б’</a:t>
            </a:r>
            <a:r>
              <a:rPr lang="zh-CN" altLang="en-US" sz="2400" dirty="0"/>
              <a:t>转换成</a:t>
            </a:r>
            <a:r>
              <a:rPr kumimoji="1" lang="en-US" altLang="zh-CN" sz="2400" dirty="0"/>
              <a:t>б</a:t>
            </a:r>
            <a:r>
              <a:rPr kumimoji="1" lang="zh-CN" altLang="en-US" sz="2400" dirty="0"/>
              <a:t>且不违反任何一个期限。</a:t>
            </a:r>
            <a:endParaRPr lang="zh-CN" altLang="en-US" sz="2400" dirty="0"/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479376" y="3500165"/>
            <a:ext cx="504825" cy="216867"/>
          </a:xfrm>
          <a:prstGeom prst="rightArrow">
            <a:avLst>
              <a:gd name="adj1" fmla="val 50000"/>
              <a:gd name="adj2" fmla="val 66728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448194" y="3025883"/>
            <a:ext cx="504826" cy="218461"/>
          </a:xfrm>
          <a:prstGeom prst="leftArrow">
            <a:avLst>
              <a:gd name="adj1" fmla="val 50000"/>
              <a:gd name="adj2" fmla="val 66241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/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972646" y="5361038"/>
            <a:ext cx="3289300" cy="1079500"/>
            <a:chOff x="748" y="2795"/>
            <a:chExt cx="2072" cy="680"/>
          </a:xfrm>
        </p:grpSpPr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748" y="2795"/>
              <a:ext cx="207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б’</a:t>
              </a: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 : ……</a:t>
              </a:r>
              <a:r>
                <a:rPr lang="en-US" altLang="zh-CN" sz="2400" b="0" dirty="0" err="1">
                  <a:solidFill>
                    <a:srgbClr val="FF0000"/>
                  </a:solidFill>
                  <a:cs typeface="Arial" panose="020B0604020202020204" pitchFamily="34" charset="0"/>
                </a:rPr>
                <a:t>r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  <a:cs typeface="Arial" panose="020B0604020202020204" pitchFamily="34" charset="0"/>
                </a:rPr>
                <a:t>a</a:t>
              </a:r>
              <a:r>
                <a:rPr lang="en-US" altLang="zh-CN" sz="2400" b="0" dirty="0" err="1">
                  <a:solidFill>
                    <a:srgbClr val="FF0000"/>
                  </a:solidFill>
                  <a:cs typeface="Arial" panose="020B0604020202020204" pitchFamily="34" charset="0"/>
                </a:rPr>
                <a:t>.</a:t>
              </a: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…...…..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839" y="3096"/>
              <a:ext cx="18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б</a:t>
              </a: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 : ……</a:t>
              </a:r>
              <a:r>
                <a:rPr lang="en-US" altLang="zh-CN" sz="2400" b="0" dirty="0" err="1">
                  <a:solidFill>
                    <a:srgbClr val="FF0000"/>
                  </a:solidFill>
                  <a:cs typeface="Arial" panose="020B0604020202020204" pitchFamily="34" charset="0"/>
                </a:rPr>
                <a:t>i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  <a:cs typeface="Arial" panose="020B0604020202020204" pitchFamily="34" charset="0"/>
                </a:rPr>
                <a:t>a</a:t>
              </a: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 ………..</a:t>
              </a: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1617" y="2795"/>
              <a:ext cx="0" cy="68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792964" y="5361038"/>
            <a:ext cx="5048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en-US" altLang="zh-CN" sz="2400" b="0" baseline="-25000" dirty="0" err="1">
                <a:solidFill>
                  <a:srgbClr val="FF0000"/>
                </a:solidFill>
                <a:cs typeface="Arial" panose="020B0604020202020204" pitchFamily="34" charset="0"/>
              </a:rPr>
              <a:t>b</a:t>
            </a:r>
            <a:r>
              <a:rPr lang="en-US" altLang="zh-CN" sz="2400" b="0" baseline="-25000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3802655" y="5710558"/>
            <a:ext cx="792163" cy="288925"/>
          </a:xfrm>
          <a:prstGeom prst="rightArrow">
            <a:avLst>
              <a:gd name="adj1" fmla="val 50000"/>
              <a:gd name="adj2" fmla="val 6854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/>
          </a:p>
        </p:txBody>
      </p:sp>
      <p:grpSp>
        <p:nvGrpSpPr>
          <p:cNvPr id="17" name="Group 21"/>
          <p:cNvGrpSpPr>
            <a:grpSpLocks/>
          </p:cNvGrpSpPr>
          <p:nvPr/>
        </p:nvGrpSpPr>
        <p:grpSpPr bwMode="auto">
          <a:xfrm>
            <a:off x="4727848" y="5361038"/>
            <a:ext cx="3289300" cy="1079500"/>
            <a:chOff x="748" y="2795"/>
            <a:chExt cx="2072" cy="680"/>
          </a:xfrm>
        </p:grpSpPr>
        <p:sp>
          <p:nvSpPr>
            <p:cNvPr id="18" name="Text Box 22"/>
            <p:cNvSpPr txBox="1">
              <a:spLocks noChangeArrowheads="1"/>
            </p:cNvSpPr>
            <p:nvPr/>
          </p:nvSpPr>
          <p:spPr bwMode="auto">
            <a:xfrm>
              <a:off x="748" y="2795"/>
              <a:ext cx="207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>
                  <a:solidFill>
                    <a:srgbClr val="FF0000"/>
                  </a:solidFill>
                </a:rPr>
                <a:t>б”</a:t>
              </a:r>
              <a:r>
                <a:rPr lang="en-US" altLang="zh-CN" sz="2400" b="0">
                  <a:solidFill>
                    <a:srgbClr val="FF0000"/>
                  </a:solidFill>
                </a:rPr>
                <a:t> : ……r</a:t>
              </a:r>
              <a:r>
                <a:rPr kumimoji="1" lang="en-US" altLang="zh-CN" sz="2400" b="0" baseline="-25000">
                  <a:solidFill>
                    <a:srgbClr val="FF0000"/>
                  </a:solidFill>
                </a:rPr>
                <a:t>b</a:t>
              </a:r>
              <a:r>
                <a:rPr lang="en-US" altLang="zh-CN" sz="2400" b="0">
                  <a:solidFill>
                    <a:srgbClr val="FF0000"/>
                  </a:solidFill>
                </a:rPr>
                <a:t>.…...…..</a:t>
              </a:r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839" y="3096"/>
              <a:ext cx="18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 b="0" dirty="0">
                  <a:solidFill>
                    <a:srgbClr val="FF0000"/>
                  </a:solidFill>
                </a:rPr>
                <a:t>б</a:t>
              </a:r>
              <a:r>
                <a:rPr lang="en-US" altLang="zh-CN" sz="2400" b="0" dirty="0">
                  <a:solidFill>
                    <a:srgbClr val="FF0000"/>
                  </a:solidFill>
                </a:rPr>
                <a:t> : ……</a:t>
              </a:r>
              <a:r>
                <a:rPr lang="en-US" altLang="zh-CN" sz="2400" b="0" dirty="0" err="1">
                  <a:solidFill>
                    <a:srgbClr val="FF0000"/>
                  </a:solidFill>
                </a:rPr>
                <a:t>i</a:t>
              </a:r>
              <a:r>
                <a:rPr kumimoji="1" lang="en-US" altLang="zh-CN" sz="2400" b="0" baseline="-25000" dirty="0" err="1">
                  <a:solidFill>
                    <a:srgbClr val="FF0000"/>
                  </a:solidFill>
                </a:rPr>
                <a:t>a</a:t>
              </a:r>
              <a:r>
                <a:rPr lang="en-US" altLang="zh-CN" sz="2400" b="0" dirty="0">
                  <a:solidFill>
                    <a:srgbClr val="FF0000"/>
                  </a:solidFill>
                </a:rPr>
                <a:t> ………..</a:t>
              </a: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>
              <a:off x="1589" y="2795"/>
              <a:ext cx="0" cy="68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6504980" y="5361038"/>
            <a:ext cx="5048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 err="1">
                <a:solidFill>
                  <a:srgbClr val="FF0000"/>
                </a:solidFill>
              </a:rPr>
              <a:t>r</a:t>
            </a:r>
            <a:r>
              <a:rPr lang="en-US" altLang="zh-CN" sz="2400" b="0" baseline="-25000" dirty="0" err="1">
                <a:solidFill>
                  <a:srgbClr val="FF0000"/>
                </a:solidFill>
              </a:rPr>
              <a:t>a.</a:t>
            </a:r>
            <a:endParaRPr lang="en-US" altLang="zh-CN" sz="2400" b="0" baseline="-25000" dirty="0">
              <a:solidFill>
                <a:srgbClr val="FF0000"/>
              </a:solidFill>
            </a:endParaRPr>
          </a:p>
        </p:txBody>
      </p:sp>
      <p:sp>
        <p:nvSpPr>
          <p:cNvPr id="25" name="内容占位符 2"/>
          <p:cNvSpPr txBox="1">
            <a:spLocks/>
          </p:cNvSpPr>
          <p:nvPr/>
        </p:nvSpPr>
        <p:spPr>
          <a:xfrm>
            <a:off x="7464242" y="5600800"/>
            <a:ext cx="4248472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r</a:t>
            </a:r>
            <a:r>
              <a:rPr lang="en-US" altLang="zh-CN" sz="2400" baseline="-25000" dirty="0" err="1">
                <a:solidFill>
                  <a:srgbClr val="FF0000"/>
                </a:solidFill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延后执行是否可行？</a:t>
            </a:r>
          </a:p>
        </p:txBody>
      </p:sp>
      <p:sp>
        <p:nvSpPr>
          <p:cNvPr id="26" name="AutoShape 7"/>
          <p:cNvSpPr>
            <a:spLocks noChangeArrowheads="1"/>
          </p:cNvSpPr>
          <p:nvPr/>
        </p:nvSpPr>
        <p:spPr bwMode="auto">
          <a:xfrm>
            <a:off x="9459379" y="5063607"/>
            <a:ext cx="1651294" cy="415688"/>
          </a:xfrm>
          <a:prstGeom prst="wedgeRoundRectCallout">
            <a:avLst>
              <a:gd name="adj1" fmla="val -41290"/>
              <a:gd name="adj2" fmla="val 70288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en-US" altLang="zh-CN" sz="2000" dirty="0" err="1"/>
              <a:t>d</a:t>
            </a:r>
            <a:r>
              <a:rPr lang="en-US" altLang="zh-CN" sz="2000" baseline="-25000" dirty="0" err="1"/>
              <a:t>rb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</a:t>
            </a:r>
            <a:r>
              <a:rPr lang="en-US" altLang="zh-CN" sz="2000" baseline="-25000" dirty="0" err="1"/>
              <a:t>ia</a:t>
            </a:r>
            <a:r>
              <a:rPr lang="en-US" altLang="zh-CN" sz="2000" dirty="0" err="1"/>
              <a:t>≤d</a:t>
            </a:r>
            <a:r>
              <a:rPr lang="en-US" altLang="zh-CN" sz="2000" baseline="-25000" dirty="0" err="1"/>
              <a:t>ra</a:t>
            </a:r>
            <a:endParaRPr lang="en-US" altLang="zh-CN" sz="2000" baseline="-25000" dirty="0"/>
          </a:p>
        </p:txBody>
      </p:sp>
      <p:sp>
        <p:nvSpPr>
          <p:cNvPr id="27" name="AutoShape 5"/>
          <p:cNvSpPr>
            <a:spLocks noChangeArrowheads="1"/>
          </p:cNvSpPr>
          <p:nvPr/>
        </p:nvSpPr>
        <p:spPr bwMode="auto">
          <a:xfrm>
            <a:off x="7009805" y="406579"/>
            <a:ext cx="1799530" cy="493950"/>
          </a:xfrm>
          <a:prstGeom prst="wedgeRoundRectCallout">
            <a:avLst>
              <a:gd name="adj1" fmla="val -43047"/>
              <a:gd name="adj2" fmla="val 72181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问题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得证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527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1" grpId="0"/>
      <p:bldP spid="25" grpId="0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408" y="354883"/>
            <a:ext cx="10515600" cy="114617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基于定理</a:t>
            </a:r>
            <a:r>
              <a:rPr lang="en-US" altLang="zh-CN" sz="4000" dirty="0"/>
              <a:t>5.3</a:t>
            </a:r>
            <a:r>
              <a:rPr lang="zh-CN" altLang="en-US" sz="4000" dirty="0"/>
              <a:t>检验可行解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628800"/>
            <a:ext cx="10515600" cy="44862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zh-CN" altLang="en-US" sz="2400" dirty="0"/>
              <a:t>假设已处理了</a:t>
            </a:r>
            <a:r>
              <a:rPr kumimoji="1" lang="en-US" altLang="zh-CN" sz="2400" dirty="0" err="1"/>
              <a:t>i</a:t>
            </a:r>
            <a:r>
              <a:rPr kumimoji="1" lang="en-US" altLang="zh-CN" sz="2400" dirty="0"/>
              <a:t>–1</a:t>
            </a:r>
            <a:r>
              <a:rPr kumimoji="1" lang="zh-CN" altLang="en-US" sz="2400" dirty="0"/>
              <a:t>个作业</a:t>
            </a:r>
            <a:r>
              <a:rPr kumimoji="1" lang="en-US" altLang="zh-CN" sz="2400" dirty="0"/>
              <a:t>, </a:t>
            </a:r>
            <a:r>
              <a:rPr kumimoji="1" lang="zh-CN" altLang="en-US" sz="2400" dirty="0"/>
              <a:t>有</a:t>
            </a:r>
            <a:r>
              <a:rPr kumimoji="1" lang="en-US" altLang="zh-CN" sz="2400" dirty="0"/>
              <a:t>k</a:t>
            </a:r>
            <a:r>
              <a:rPr kumimoji="1" lang="zh-CN" altLang="en-US" sz="2400" dirty="0"/>
              <a:t>个作业已存入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</a:t>
            </a:r>
            <a:r>
              <a:rPr kumimoji="1" lang="en-US" altLang="zh-CN" sz="2400" dirty="0"/>
              <a:t>, </a:t>
            </a:r>
            <a:r>
              <a:rPr kumimoji="1" lang="zh-CN" altLang="en-US" sz="2400" dirty="0"/>
              <a:t>且</a:t>
            </a:r>
            <a:r>
              <a:rPr kumimoji="1" lang="en-US" altLang="zh-CN" sz="2400" dirty="0"/>
              <a:t>D[J(1)]≤D[J(2)]≤…≤D[J(k)]</a:t>
            </a:r>
            <a:endParaRPr kumimoji="1" lang="zh-CN" altLang="en-US" sz="2400" dirty="0"/>
          </a:p>
          <a:p>
            <a:pPr>
              <a:lnSpc>
                <a:spcPct val="90000"/>
              </a:lnSpc>
            </a:pPr>
            <a:r>
              <a:rPr kumimoji="1" lang="zh-CN" altLang="en-US" sz="2400" dirty="0"/>
              <a:t>在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中从后向前为作业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寻找位置</a:t>
            </a:r>
            <a:r>
              <a:rPr kumimoji="1" lang="en-US" altLang="zh-CN" sz="2400" dirty="0"/>
              <a:t>r+1</a:t>
            </a:r>
            <a:r>
              <a:rPr kumimoji="1" lang="zh-CN" altLang="en-US" sz="2400" dirty="0"/>
              <a:t>，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插入</a:t>
            </a:r>
            <a:r>
              <a:rPr kumimoji="1" lang="en-US" altLang="zh-CN" sz="2400" dirty="0"/>
              <a:t>r+1</a:t>
            </a:r>
            <a:r>
              <a:rPr kumimoji="1" lang="zh-CN" altLang="en-US" sz="2400" dirty="0"/>
              <a:t>位置后，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中作业仍按照期限值从小到大排列，且不违反期限值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025208" y="2518683"/>
            <a:ext cx="2519064" cy="792088"/>
          </a:xfrm>
          <a:prstGeom prst="wedgeRoundRectCallout">
            <a:avLst>
              <a:gd name="adj1" fmla="val -55143"/>
              <a:gd name="adj2" fmla="val -41516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用直接插入法比较期限值大小</a:t>
            </a:r>
            <a:endParaRPr lang="en-US" altLang="zh-CN" sz="20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450937"/>
              </p:ext>
            </p:extLst>
          </p:nvPr>
        </p:nvGraphicFramePr>
        <p:xfrm>
          <a:off x="1703512" y="3447263"/>
          <a:ext cx="871175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7973">
                  <a:extLst>
                    <a:ext uri="{9D8B030D-6E8A-4147-A177-3AD203B41FA5}">
                      <a16:colId xmlns:a16="http://schemas.microsoft.com/office/drawing/2014/main" val="1687328668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216661598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2637478681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1545481492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847847165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1778232873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1540430219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3735971027"/>
                    </a:ext>
                  </a:extLst>
                </a:gridCol>
                <a:gridCol w="967973">
                  <a:extLst>
                    <a:ext uri="{9D8B030D-6E8A-4147-A177-3AD203B41FA5}">
                      <a16:colId xmlns:a16="http://schemas.microsoft.com/office/drawing/2014/main" val="1328010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i-1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n-1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35128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240110"/>
              </p:ext>
            </p:extLst>
          </p:nvPr>
        </p:nvGraphicFramePr>
        <p:xfrm>
          <a:off x="1702297" y="4270986"/>
          <a:ext cx="44644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062">
                  <a:extLst>
                    <a:ext uri="{9D8B030D-6E8A-4147-A177-3AD203B41FA5}">
                      <a16:colId xmlns:a16="http://schemas.microsoft.com/office/drawing/2014/main" val="1193246239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1249522307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051931347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179415168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568007370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3788793076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2283688169"/>
                    </a:ext>
                  </a:extLst>
                </a:gridCol>
                <a:gridCol w="558062">
                  <a:extLst>
                    <a:ext uri="{9D8B030D-6E8A-4147-A177-3AD203B41FA5}">
                      <a16:colId xmlns:a16="http://schemas.microsoft.com/office/drawing/2014/main" val="3552947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r+1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k-1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084639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82825" y="3447904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作业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06153" y="4270986"/>
            <a:ext cx="945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集合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endParaRPr lang="zh-CN" altLang="en-US" sz="20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1702297" y="3818103"/>
            <a:ext cx="0" cy="45288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5591908" y="3818103"/>
            <a:ext cx="936141" cy="4549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7030889" y="3843503"/>
            <a:ext cx="0" cy="46189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大括号 25"/>
          <p:cNvSpPr/>
          <p:nvPr/>
        </p:nvSpPr>
        <p:spPr>
          <a:xfrm rot="16200000">
            <a:off x="4491925" y="3866281"/>
            <a:ext cx="253396" cy="1944217"/>
          </a:xfrm>
          <a:prstGeom prst="leftBrace">
            <a:avLst>
              <a:gd name="adj1" fmla="val 15272"/>
              <a:gd name="adj2" fmla="val 45930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3646513" y="4965088"/>
            <a:ext cx="45544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r+1≤l≤k, D[J(l)]&gt;l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时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允许向后移动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位</a:t>
            </a: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3430489" y="4641826"/>
            <a:ext cx="0" cy="6999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918321" y="5341814"/>
            <a:ext cx="3680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D[J(r)]≤D[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], D[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]&gt;r</a:t>
            </a:r>
            <a:r>
              <a:rPr lang="zh-CN" altLang="en-US" sz="2000" dirty="0"/>
              <a:t>，</a:t>
            </a:r>
            <a:r>
              <a:rPr lang="en-US" altLang="zh-CN" sz="2000" dirty="0"/>
              <a:t>D[J(l)]&gt;D[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601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479376" y="44624"/>
            <a:ext cx="9515400" cy="884238"/>
          </a:xfrm>
        </p:spPr>
        <p:txBody>
          <a:bodyPr>
            <a:normAutofit/>
          </a:bodyPr>
          <a:lstStyle/>
          <a:p>
            <a:pPr eaLnBrk="1" hangingPunct="1"/>
            <a:r>
              <a:rPr kumimoji="1" lang="zh-CN" altLang="en-US" sz="4000" dirty="0"/>
              <a:t>算法</a:t>
            </a:r>
            <a:r>
              <a:rPr kumimoji="1" lang="en-US" altLang="zh-CN" sz="4000" dirty="0"/>
              <a:t>5.4 </a:t>
            </a:r>
            <a:r>
              <a:rPr kumimoji="1" lang="zh-CN" altLang="en-US" sz="4000" dirty="0"/>
              <a:t>作业排序贪心算法完整描述</a:t>
            </a:r>
          </a:p>
        </p:txBody>
      </p:sp>
      <p:sp>
        <p:nvSpPr>
          <p:cNvPr id="114693" name="AutoShape 5"/>
          <p:cNvSpPr>
            <a:spLocks noChangeArrowheads="1"/>
          </p:cNvSpPr>
          <p:nvPr/>
        </p:nvSpPr>
        <p:spPr bwMode="auto">
          <a:xfrm>
            <a:off x="5447928" y="1982214"/>
            <a:ext cx="1787647" cy="500062"/>
          </a:xfrm>
          <a:prstGeom prst="wedgeRoundRectCallout">
            <a:avLst>
              <a:gd name="adj1" fmla="val -47919"/>
              <a:gd name="adj2" fmla="val 7968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寻找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r+1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位置 </a:t>
            </a:r>
          </a:p>
        </p:txBody>
      </p:sp>
      <p:sp>
        <p:nvSpPr>
          <p:cNvPr id="114696" name="AutoShape 8"/>
          <p:cNvSpPr>
            <a:spLocks noChangeArrowheads="1"/>
          </p:cNvSpPr>
          <p:nvPr/>
        </p:nvSpPr>
        <p:spPr bwMode="auto">
          <a:xfrm>
            <a:off x="5141150" y="4026490"/>
            <a:ext cx="2323002" cy="799057"/>
          </a:xfrm>
          <a:prstGeom prst="wedgeRoundRectCallout">
            <a:avLst>
              <a:gd name="adj1" fmla="val -54559"/>
              <a:gd name="adj2" fmla="val -37483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位置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r+1</a:t>
            </a:r>
            <a:r>
              <a:rPr lang="zh-CN" altLang="en-US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到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的作业依次后移一位 </a:t>
            </a:r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479376" y="908720"/>
            <a:ext cx="7915200" cy="550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36000" rIns="72000" bIns="36000"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procedure JS(D, J, n, k)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integer   D(0:n), J(0:n), </a:t>
            </a:r>
            <a:r>
              <a:rPr kumimoji="1" lang="en-US" altLang="zh-CN" sz="2400" b="0" dirty="0" err="1">
                <a:cs typeface="Arial" panose="020B0604020202020204" pitchFamily="34" charset="0"/>
              </a:rPr>
              <a:t>i</a:t>
            </a:r>
            <a:r>
              <a:rPr kumimoji="1" lang="en-US" altLang="zh-CN" sz="2400" b="0" dirty="0">
                <a:cs typeface="Arial" panose="020B0604020202020204" pitchFamily="34" charset="0"/>
              </a:rPr>
              <a:t>, k, n, 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D(0)←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J(0)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0;  k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1;  J(1)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for 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2 to n do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r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k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 while  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D(J(r))&gt;D(</a:t>
            </a:r>
            <a:r>
              <a:rPr kumimoji="1"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and 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D(J(r)) 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</a:rPr>
              <a:t>≠r</a:t>
            </a:r>
            <a:r>
              <a:rPr kumimoji="1" lang="en-US" altLang="zh-CN" sz="2400" b="0" dirty="0">
                <a:cs typeface="Arial" panose="020B0604020202020204" pitchFamily="34" charset="0"/>
              </a:rPr>
              <a:t>  do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            r ← 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r –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repeat</a:t>
            </a:r>
          </a:p>
          <a:p>
            <a:pPr eaLnBrk="1" hangingPunct="1">
              <a:lnSpc>
                <a:spcPct val="95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	    if   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D(J(r))≤D(</a:t>
            </a:r>
            <a:r>
              <a:rPr kumimoji="1"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and 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D(</a:t>
            </a:r>
            <a:r>
              <a:rPr kumimoji="1" lang="en-US" altLang="zh-CN" sz="2400" b="0" dirty="0" err="1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solidFill>
                  <a:srgbClr val="FF0000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)&gt;r 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then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	        for  l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k to r+1  by –1 do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		            J(l+1) ← 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J(l)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       repeat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    	   </a:t>
            </a:r>
            <a:r>
              <a:rPr kumimoji="1" lang="en-US" altLang="zh-CN" sz="2400" b="0" dirty="0">
                <a:cs typeface="Arial" panose="020B0604020202020204" pitchFamily="34" charset="0"/>
              </a:rPr>
              <a:t>J(r+1) ← </a:t>
            </a:r>
            <a:r>
              <a:rPr kumimoji="1" lang="en-US" altLang="zh-CN" sz="2400" b="0" dirty="0" err="1"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;   k </a:t>
            </a:r>
            <a:r>
              <a:rPr kumimoji="1" lang="en-US" altLang="zh-CN" sz="2400" b="0" dirty="0">
                <a:cs typeface="Arial" panose="020B0604020202020204" pitchFamily="34" charset="0"/>
              </a:rPr>
              <a:t>←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 k+1</a:t>
            </a:r>
            <a:r>
              <a:rPr kumimoji="1" lang="zh-CN" altLang="en-US" sz="2400" b="0" dirty="0">
                <a:cs typeface="Arial" panose="020B0604020202020204" pitchFamily="34" charset="0"/>
                <a:sym typeface="Wingdings" panose="05000000000000000000" pitchFamily="2" charset="2"/>
              </a:rPr>
              <a:t>；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 dirty="0">
                <a:cs typeface="Arial" panose="020B0604020202020204" pitchFamily="34" charset="0"/>
                <a:sym typeface="Wingdings" panose="05000000000000000000" pitchFamily="2" charset="2"/>
              </a:rPr>
              <a:t>	    </a:t>
            </a:r>
            <a:r>
              <a:rPr kumimoji="1" lang="en-US" altLang="zh-CN" sz="2400" b="0" dirty="0">
                <a:cs typeface="Arial" panose="020B0604020202020204" pitchFamily="34" charset="0"/>
                <a:sym typeface="Wingdings" panose="05000000000000000000" pitchFamily="2" charset="2"/>
              </a:rPr>
              <a:t>endif   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    repeat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cs typeface="Arial" panose="020B0604020202020204" pitchFamily="34" charset="0"/>
              </a:rPr>
              <a:t>end JS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sp>
        <p:nvSpPr>
          <p:cNvPr id="114697" name="AutoShape 9"/>
          <p:cNvSpPr>
            <a:spLocks noChangeArrowheads="1"/>
          </p:cNvSpPr>
          <p:nvPr/>
        </p:nvSpPr>
        <p:spPr bwMode="auto">
          <a:xfrm>
            <a:off x="4680919" y="5208175"/>
            <a:ext cx="2605459" cy="525462"/>
          </a:xfrm>
          <a:prstGeom prst="wedgeRoundRectCallout">
            <a:avLst>
              <a:gd name="adj1" fmla="val -44762"/>
              <a:gd name="adj2" fmla="val -7300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0"/>
              </a:spcBef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作业</a:t>
            </a:r>
            <a:r>
              <a:rPr lang="en-US" altLang="zh-CN" sz="2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i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插入到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r+1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位置</a:t>
            </a: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495292" y="5975819"/>
            <a:ext cx="4968552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</a:t>
            </a:r>
            <a:r>
              <a:rPr kumimoji="1" lang="en-US" altLang="zh-CN" sz="2400" dirty="0">
                <a:solidFill>
                  <a:srgbClr val="FF0000"/>
                </a:solidFill>
              </a:rPr>
              <a:t>1</a:t>
            </a:r>
            <a:r>
              <a:rPr kumimoji="1" lang="zh-CN" altLang="en-US" sz="2400" dirty="0">
                <a:solidFill>
                  <a:srgbClr val="FF0000"/>
                </a:solidFill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算法</a:t>
            </a:r>
            <a:r>
              <a:rPr lang="en-US" altLang="zh-CN" sz="2400" dirty="0">
                <a:solidFill>
                  <a:srgbClr val="FF0000"/>
                </a:solidFill>
              </a:rPr>
              <a:t>JS</a:t>
            </a:r>
            <a:r>
              <a:rPr lang="zh-CN" altLang="en-US" sz="2400" dirty="0">
                <a:solidFill>
                  <a:srgbClr val="FF0000"/>
                </a:solidFill>
              </a:rPr>
              <a:t>的时间复杂度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？</a:t>
            </a:r>
          </a:p>
        </p:txBody>
      </p:sp>
      <p:sp>
        <p:nvSpPr>
          <p:cNvPr id="14" name="Rectangle 3"/>
          <p:cNvSpPr>
            <a:spLocks noGrp="1" noChangeArrowheads="1"/>
          </p:cNvSpPr>
          <p:nvPr>
            <p:ph idx="1"/>
          </p:nvPr>
        </p:nvSpPr>
        <p:spPr>
          <a:xfrm>
            <a:off x="7591003" y="3362125"/>
            <a:ext cx="4464496" cy="268533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kumimoji="1" lang="zh-CN" altLang="en-US" sz="2400" dirty="0"/>
              <a:t>两个关键参数</a:t>
            </a:r>
            <a:r>
              <a:rPr kumimoji="1" lang="en-US" altLang="zh-CN" sz="2400" dirty="0"/>
              <a:t>:</a:t>
            </a:r>
          </a:p>
          <a:p>
            <a:pPr lvl="1">
              <a:lnSpc>
                <a:spcPct val="90000"/>
              </a:lnSpc>
            </a:pPr>
            <a:r>
              <a:rPr kumimoji="1" lang="zh-CN" altLang="en-US" sz="2400" dirty="0"/>
              <a:t>作业数</a:t>
            </a:r>
            <a:r>
              <a:rPr kumimoji="1" lang="en-US" altLang="zh-CN" sz="2400" dirty="0"/>
              <a:t>n </a:t>
            </a:r>
          </a:p>
          <a:p>
            <a:pPr lvl="1">
              <a:lnSpc>
                <a:spcPct val="90000"/>
              </a:lnSpc>
            </a:pPr>
            <a:r>
              <a:rPr kumimoji="1" lang="en-US" altLang="zh-CN" sz="2400" dirty="0"/>
              <a:t>J</a:t>
            </a:r>
            <a:r>
              <a:rPr kumimoji="1" lang="zh-CN" altLang="en-US" sz="2400" dirty="0"/>
              <a:t>的最终作业数 </a:t>
            </a:r>
            <a:r>
              <a:rPr kumimoji="1" lang="en-US" altLang="zh-CN" sz="2400" dirty="0"/>
              <a:t>k</a:t>
            </a:r>
          </a:p>
          <a:p>
            <a:pPr>
              <a:lnSpc>
                <a:spcPct val="90000"/>
              </a:lnSpc>
            </a:pPr>
            <a:r>
              <a:rPr kumimoji="1" lang="zh-CN" altLang="en-US" sz="2700" dirty="0">
                <a:sym typeface="Wingdings" panose="05000000000000000000" pitchFamily="2" charset="2"/>
              </a:rPr>
              <a:t>外层</a:t>
            </a:r>
            <a:r>
              <a:rPr kumimoji="1" lang="en-US" altLang="zh-CN" sz="2700" dirty="0">
                <a:sym typeface="Wingdings" panose="05000000000000000000" pitchFamily="2" charset="2"/>
              </a:rPr>
              <a:t>for</a:t>
            </a:r>
            <a:r>
              <a:rPr kumimoji="1" lang="zh-CN" altLang="en-US" sz="2700" dirty="0">
                <a:sym typeface="Wingdings" panose="05000000000000000000" pitchFamily="2" charset="2"/>
              </a:rPr>
              <a:t>执行循环</a:t>
            </a:r>
            <a:r>
              <a:rPr kumimoji="1" lang="en-US" altLang="zh-CN" sz="2700" dirty="0">
                <a:sym typeface="Wingdings" panose="05000000000000000000" pitchFamily="2" charset="2"/>
              </a:rPr>
              <a:t>n-1</a:t>
            </a:r>
            <a:r>
              <a:rPr kumimoji="1" lang="zh-CN" altLang="en-US" sz="2700" dirty="0">
                <a:sym typeface="Wingdings" panose="05000000000000000000" pitchFamily="2" charset="2"/>
              </a:rPr>
              <a:t>次</a:t>
            </a:r>
          </a:p>
          <a:p>
            <a:pPr>
              <a:lnSpc>
                <a:spcPct val="90000"/>
              </a:lnSpc>
            </a:pPr>
            <a:r>
              <a:rPr kumimoji="1" lang="zh-CN" altLang="en-US" sz="2400" dirty="0"/>
              <a:t>内层</a:t>
            </a:r>
            <a:r>
              <a:rPr kumimoji="1" lang="en-US" altLang="zh-CN" sz="2400" dirty="0">
                <a:sym typeface="Wingdings" panose="05000000000000000000" pitchFamily="2" charset="2"/>
              </a:rPr>
              <a:t>while</a:t>
            </a:r>
            <a:r>
              <a:rPr kumimoji="1" lang="zh-CN" altLang="en-US" sz="2400" dirty="0">
                <a:sym typeface="Wingdings" panose="05000000000000000000" pitchFamily="2" charset="2"/>
              </a:rPr>
              <a:t>至多循环</a:t>
            </a:r>
            <a:r>
              <a:rPr kumimoji="1" lang="en-US" altLang="zh-CN" sz="2400" dirty="0">
                <a:sym typeface="Wingdings" panose="05000000000000000000" pitchFamily="2" charset="2"/>
              </a:rPr>
              <a:t>k</a:t>
            </a:r>
            <a:r>
              <a:rPr kumimoji="1" lang="zh-CN" altLang="en-US" sz="2400" dirty="0">
                <a:sym typeface="Wingdings" panose="05000000000000000000" pitchFamily="2" charset="2"/>
              </a:rPr>
              <a:t>次</a:t>
            </a:r>
            <a:endParaRPr kumimoji="1" lang="en-US" altLang="zh-CN" sz="2400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2400" dirty="0"/>
              <a:t>JS</a:t>
            </a:r>
            <a:r>
              <a:rPr kumimoji="1" lang="zh-CN" altLang="en-US" sz="2400" dirty="0"/>
              <a:t>算法的时间复杂度为</a:t>
            </a:r>
            <a:r>
              <a:rPr kumimoji="1" lang="en-US" altLang="zh-CN" sz="2400" dirty="0"/>
              <a:t>O(n</a:t>
            </a:r>
            <a:r>
              <a:rPr kumimoji="1" lang="en-US" altLang="zh-CN" sz="2400" baseline="30000" dirty="0"/>
              <a:t>2</a:t>
            </a:r>
            <a:r>
              <a:rPr kumimoji="1"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17" name="内容占位符 2"/>
          <p:cNvSpPr txBox="1">
            <a:spLocks/>
          </p:cNvSpPr>
          <p:nvPr/>
        </p:nvSpPr>
        <p:spPr>
          <a:xfrm>
            <a:off x="6981674" y="5980912"/>
            <a:ext cx="4862544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</a:t>
            </a:r>
            <a:r>
              <a:rPr kumimoji="1" lang="en-US" altLang="zh-CN" sz="2400" dirty="0">
                <a:solidFill>
                  <a:srgbClr val="FF0000"/>
                </a:solidFill>
              </a:rPr>
              <a:t>2</a:t>
            </a:r>
            <a:r>
              <a:rPr kumimoji="1" lang="zh-CN" altLang="en-US" sz="2400" dirty="0">
                <a:solidFill>
                  <a:srgbClr val="FF0000"/>
                </a:solidFill>
              </a:rPr>
              <a:t>：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能否降低时间复杂度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uiExpand="1" build="p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33117"/>
            <a:ext cx="10515600" cy="1325563"/>
          </a:xfrm>
        </p:spPr>
        <p:txBody>
          <a:bodyPr>
            <a:normAutofit/>
          </a:bodyPr>
          <a:lstStyle/>
          <a:p>
            <a:r>
              <a:rPr kumimoji="1" lang="zh-CN" altLang="en-US" sz="4000" dirty="0">
                <a:solidFill>
                  <a:schemeClr val="tx2"/>
                </a:solidFill>
              </a:rPr>
              <a:t>优化思想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9162" y="1268270"/>
            <a:ext cx="10624637" cy="1501931"/>
          </a:xfrm>
        </p:spPr>
        <p:txBody>
          <a:bodyPr>
            <a:normAutofit fontScale="92500"/>
          </a:bodyPr>
          <a:lstStyle/>
          <a:p>
            <a:r>
              <a:rPr kumimoji="1" lang="zh-CN" altLang="en-US" sz="2400" dirty="0"/>
              <a:t>为了避免移动操作，在给作业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分配处理时间时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直接分给它时间片</a:t>
            </a:r>
            <a:r>
              <a:rPr kumimoji="1" lang="en-US" altLang="zh-CN" sz="2400" dirty="0">
                <a:solidFill>
                  <a:srgbClr val="FF0000"/>
                </a:solidFill>
              </a:rPr>
              <a:t>[α-1,α]</a:t>
            </a:r>
            <a:r>
              <a:rPr kumimoji="1" lang="en-US" altLang="zh-CN" sz="2400" dirty="0"/>
              <a:t>,</a:t>
            </a:r>
            <a:r>
              <a:rPr kumimoji="1" lang="zh-CN" altLang="en-US" sz="2400" dirty="0"/>
              <a:t>其中</a:t>
            </a:r>
            <a:r>
              <a:rPr kumimoji="1" lang="en-US" altLang="zh-CN" sz="2400" dirty="0"/>
              <a:t>α</a:t>
            </a:r>
            <a:r>
              <a:rPr kumimoji="1" lang="zh-CN" altLang="en-US" sz="2400" dirty="0"/>
              <a:t>是不大于</a:t>
            </a:r>
            <a:r>
              <a:rPr kumimoji="1" lang="en-US" altLang="zh-CN" sz="2400" dirty="0"/>
              <a:t>d</a:t>
            </a:r>
            <a:r>
              <a:rPr kumimoji="1" lang="en-US" altLang="zh-CN" sz="2400" baseline="-25000" dirty="0"/>
              <a:t>i</a:t>
            </a:r>
            <a:r>
              <a:rPr kumimoji="1" lang="zh-CN" altLang="en-US" sz="2400" dirty="0"/>
              <a:t>的最大空时间片。若不存在这样的</a:t>
            </a:r>
            <a:r>
              <a:rPr kumimoji="1" lang="en-US" altLang="zh-CN" sz="2400" dirty="0"/>
              <a:t>α,</a:t>
            </a:r>
            <a:r>
              <a:rPr kumimoji="1" lang="zh-CN" altLang="en-US" sz="2400" dirty="0"/>
              <a:t>则</a:t>
            </a:r>
            <a:r>
              <a:rPr kumimoji="1" lang="en-US" altLang="zh-CN" sz="2400" dirty="0" err="1"/>
              <a:t>i</a:t>
            </a:r>
            <a:r>
              <a:rPr kumimoji="1" lang="zh-CN" altLang="en-US" sz="2400" dirty="0"/>
              <a:t>不计入</a:t>
            </a:r>
            <a:r>
              <a:rPr kumimoji="1" lang="en-US" altLang="zh-CN" sz="2400" dirty="0"/>
              <a:t>J</a:t>
            </a:r>
            <a:r>
              <a:rPr kumimoji="1" lang="zh-CN" altLang="en-US" sz="2400" dirty="0"/>
              <a:t>中。</a:t>
            </a:r>
            <a:endParaRPr kumimoji="1" lang="en-US" altLang="zh-CN" sz="2400" dirty="0"/>
          </a:p>
          <a:p>
            <a:r>
              <a:rPr kumimoji="1" lang="zh-CN" altLang="en-US" sz="2400" dirty="0"/>
              <a:t>旨在：降低内层循环的复杂度，从而使算法的复杂度</a:t>
            </a:r>
            <a:r>
              <a:rPr lang="zh-CN" altLang="en-US" sz="2400" dirty="0"/>
              <a:t>由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降低到</a:t>
            </a:r>
            <a:r>
              <a:rPr lang="zh-CN" altLang="en-US" sz="2400" dirty="0">
                <a:solidFill>
                  <a:srgbClr val="FF0000"/>
                </a:solidFill>
              </a:rPr>
              <a:t>接近于</a:t>
            </a:r>
            <a:r>
              <a:rPr lang="en-US" altLang="zh-CN" sz="2400" dirty="0">
                <a:solidFill>
                  <a:srgbClr val="FF0000"/>
                </a:solidFill>
              </a:rPr>
              <a:t>O(n)</a:t>
            </a:r>
            <a:endParaRPr kumimoji="1" lang="zh-CN" altLang="en-US" sz="24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481806" y="5085184"/>
            <a:ext cx="3151315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如何找到</a:t>
            </a:r>
            <a:r>
              <a:rPr kumimoji="1" lang="en-US" altLang="zh-CN" sz="2400" dirty="0">
                <a:solidFill>
                  <a:srgbClr val="FF0000"/>
                </a:solidFill>
              </a:rPr>
              <a:t>α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？</a:t>
            </a:r>
          </a:p>
        </p:txBody>
      </p:sp>
      <p:graphicFrame>
        <p:nvGraphicFramePr>
          <p:cNvPr id="7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421870"/>
              </p:ext>
            </p:extLst>
          </p:nvPr>
        </p:nvGraphicFramePr>
        <p:xfrm>
          <a:off x="1164910" y="3313326"/>
          <a:ext cx="3583363" cy="1012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7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7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en-US" altLang="zh-CN" sz="1800" u="none" strike="noStrike" cap="none" normalizeH="0" baseline="-25000">
                          <a:ln>
                            <a:noFill/>
                          </a:ln>
                          <a:effectLst/>
                        </a:rPr>
                        <a:t>i</a:t>
                      </a:r>
                      <a:endParaRPr kumimoji="0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</a:t>
                      </a:r>
                      <a:r>
                        <a:rPr kumimoji="0" lang="en-US" altLang="zh-CN" sz="1800" u="none" strike="noStrike" cap="none" normalizeH="0" baseline="-25000">
                          <a:ln>
                            <a:noFill/>
                          </a:ln>
                          <a:effectLst/>
                        </a:rPr>
                        <a:t>i</a:t>
                      </a:r>
                      <a:endParaRPr kumimoji="0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54000" marR="54000" marT="46823" marB="46823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341233"/>
              </p:ext>
            </p:extLst>
          </p:nvPr>
        </p:nvGraphicFramePr>
        <p:xfrm>
          <a:off x="7811539" y="2996364"/>
          <a:ext cx="17281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40">
                  <a:extLst>
                    <a:ext uri="{9D8B030D-6E8A-4147-A177-3AD203B41FA5}">
                      <a16:colId xmlns:a16="http://schemas.microsoft.com/office/drawing/2014/main" val="1578296459"/>
                    </a:ext>
                  </a:extLst>
                </a:gridCol>
                <a:gridCol w="546488">
                  <a:extLst>
                    <a:ext uri="{9D8B030D-6E8A-4147-A177-3AD203B41FA5}">
                      <a16:colId xmlns:a16="http://schemas.microsoft.com/office/drawing/2014/main" val="250645798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61805363"/>
                    </a:ext>
                  </a:extLst>
                </a:gridCol>
              </a:tblGrid>
              <a:tr h="279788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30936"/>
                  </a:ext>
                </a:extLst>
              </a:tr>
            </a:tbl>
          </a:graphicData>
        </a:graphic>
      </p:graphicFrame>
      <p:sp>
        <p:nvSpPr>
          <p:cNvPr id="30" name="Text Box 76"/>
          <p:cNvSpPr txBox="1">
            <a:spLocks noChangeArrowheads="1"/>
          </p:cNvSpPr>
          <p:nvPr/>
        </p:nvSpPr>
        <p:spPr bwMode="auto">
          <a:xfrm>
            <a:off x="5723307" y="2988820"/>
            <a:ext cx="18662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①.</a:t>
            </a: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计入作业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kumimoji="1"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矩形 30"/>
          <p:cNvSpPr/>
          <p:nvPr/>
        </p:nvSpPr>
        <p:spPr>
          <a:xfrm>
            <a:off x="7458026" y="298785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941577"/>
              </p:ext>
            </p:extLst>
          </p:nvPr>
        </p:nvGraphicFramePr>
        <p:xfrm>
          <a:off x="7811539" y="3432793"/>
          <a:ext cx="17281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40">
                  <a:extLst>
                    <a:ext uri="{9D8B030D-6E8A-4147-A177-3AD203B41FA5}">
                      <a16:colId xmlns:a16="http://schemas.microsoft.com/office/drawing/2014/main" val="1578296459"/>
                    </a:ext>
                  </a:extLst>
                </a:gridCol>
                <a:gridCol w="546488">
                  <a:extLst>
                    <a:ext uri="{9D8B030D-6E8A-4147-A177-3AD203B41FA5}">
                      <a16:colId xmlns:a16="http://schemas.microsoft.com/office/drawing/2014/main" val="250645798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61805363"/>
                    </a:ext>
                  </a:extLst>
                </a:gridCol>
              </a:tblGrid>
              <a:tr h="2797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30936"/>
                  </a:ext>
                </a:extLst>
              </a:tr>
            </a:tbl>
          </a:graphicData>
        </a:graphic>
      </p:graphicFrame>
      <p:sp>
        <p:nvSpPr>
          <p:cNvPr id="33" name="Text Box 76"/>
          <p:cNvSpPr txBox="1">
            <a:spLocks noChangeArrowheads="1"/>
          </p:cNvSpPr>
          <p:nvPr/>
        </p:nvSpPr>
        <p:spPr bwMode="auto">
          <a:xfrm>
            <a:off x="5723307" y="3420868"/>
            <a:ext cx="18662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②.</a:t>
            </a: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计入作业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4" name="矩形 33"/>
          <p:cNvSpPr/>
          <p:nvPr/>
        </p:nvSpPr>
        <p:spPr>
          <a:xfrm>
            <a:off x="7464909" y="3424280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198688"/>
              </p:ext>
            </p:extLst>
          </p:nvPr>
        </p:nvGraphicFramePr>
        <p:xfrm>
          <a:off x="7818422" y="3858105"/>
          <a:ext cx="17281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40">
                  <a:extLst>
                    <a:ext uri="{9D8B030D-6E8A-4147-A177-3AD203B41FA5}">
                      <a16:colId xmlns:a16="http://schemas.microsoft.com/office/drawing/2014/main" val="1578296459"/>
                    </a:ext>
                  </a:extLst>
                </a:gridCol>
                <a:gridCol w="546488">
                  <a:extLst>
                    <a:ext uri="{9D8B030D-6E8A-4147-A177-3AD203B41FA5}">
                      <a16:colId xmlns:a16="http://schemas.microsoft.com/office/drawing/2014/main" val="250645798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61805363"/>
                    </a:ext>
                  </a:extLst>
                </a:gridCol>
              </a:tblGrid>
              <a:tr h="2797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30936"/>
                  </a:ext>
                </a:extLst>
              </a:tr>
            </a:tbl>
          </a:graphicData>
        </a:graphic>
      </p:graphicFrame>
      <p:sp>
        <p:nvSpPr>
          <p:cNvPr id="36" name="Text Box 76"/>
          <p:cNvSpPr txBox="1">
            <a:spLocks noChangeArrowheads="1"/>
          </p:cNvSpPr>
          <p:nvPr/>
        </p:nvSpPr>
        <p:spPr bwMode="auto">
          <a:xfrm>
            <a:off x="5753239" y="3852916"/>
            <a:ext cx="18662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③.</a:t>
            </a:r>
            <a:r>
              <a:rPr kumimoji="1"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舍弃作业</a:t>
            </a:r>
            <a:r>
              <a:rPr kumimoji="1"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3</a:t>
            </a:r>
            <a:r>
              <a:rPr kumimoji="1" lang="en-US" altLang="zh-CN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7" name="矩形 36"/>
          <p:cNvSpPr/>
          <p:nvPr/>
        </p:nvSpPr>
        <p:spPr>
          <a:xfrm>
            <a:off x="7487958" y="3849592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169425"/>
              </p:ext>
            </p:extLst>
          </p:nvPr>
        </p:nvGraphicFramePr>
        <p:xfrm>
          <a:off x="7824192" y="4319736"/>
          <a:ext cx="17281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40">
                  <a:extLst>
                    <a:ext uri="{9D8B030D-6E8A-4147-A177-3AD203B41FA5}">
                      <a16:colId xmlns:a16="http://schemas.microsoft.com/office/drawing/2014/main" val="1578296459"/>
                    </a:ext>
                  </a:extLst>
                </a:gridCol>
                <a:gridCol w="546488">
                  <a:extLst>
                    <a:ext uri="{9D8B030D-6E8A-4147-A177-3AD203B41FA5}">
                      <a16:colId xmlns:a16="http://schemas.microsoft.com/office/drawing/2014/main" val="250645798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61805363"/>
                    </a:ext>
                  </a:extLst>
                </a:gridCol>
              </a:tblGrid>
              <a:tr h="2797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30936"/>
                  </a:ext>
                </a:extLst>
              </a:tr>
            </a:tbl>
          </a:graphicData>
        </a:graphic>
      </p:graphicFrame>
      <p:sp>
        <p:nvSpPr>
          <p:cNvPr id="39" name="Text Box 76"/>
          <p:cNvSpPr txBox="1">
            <a:spLocks noChangeArrowheads="1"/>
          </p:cNvSpPr>
          <p:nvPr/>
        </p:nvSpPr>
        <p:spPr bwMode="auto">
          <a:xfrm>
            <a:off x="5759009" y="4325034"/>
            <a:ext cx="18662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④.</a:t>
            </a:r>
            <a:r>
              <a:rPr kumimoji="1"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计入作业</a:t>
            </a:r>
            <a:r>
              <a:rPr kumimoji="1"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4</a:t>
            </a:r>
            <a:r>
              <a:rPr kumimoji="1"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0" name="矩形 39"/>
          <p:cNvSpPr/>
          <p:nvPr/>
        </p:nvSpPr>
        <p:spPr>
          <a:xfrm>
            <a:off x="7493728" y="431122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193580"/>
              </p:ext>
            </p:extLst>
          </p:nvPr>
        </p:nvGraphicFramePr>
        <p:xfrm>
          <a:off x="7818422" y="4754376"/>
          <a:ext cx="17281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640">
                  <a:extLst>
                    <a:ext uri="{9D8B030D-6E8A-4147-A177-3AD203B41FA5}">
                      <a16:colId xmlns:a16="http://schemas.microsoft.com/office/drawing/2014/main" val="1578296459"/>
                    </a:ext>
                  </a:extLst>
                </a:gridCol>
                <a:gridCol w="546488">
                  <a:extLst>
                    <a:ext uri="{9D8B030D-6E8A-4147-A177-3AD203B41FA5}">
                      <a16:colId xmlns:a16="http://schemas.microsoft.com/office/drawing/2014/main" val="2506457986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261805363"/>
                    </a:ext>
                  </a:extLst>
                </a:gridCol>
              </a:tblGrid>
              <a:tr h="2797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530936"/>
                  </a:ext>
                </a:extLst>
              </a:tr>
            </a:tbl>
          </a:graphicData>
        </a:graphic>
      </p:graphicFrame>
      <p:sp>
        <p:nvSpPr>
          <p:cNvPr id="42" name="Text Box 76"/>
          <p:cNvSpPr txBox="1">
            <a:spLocks noChangeArrowheads="1"/>
          </p:cNvSpPr>
          <p:nvPr/>
        </p:nvSpPr>
        <p:spPr bwMode="auto">
          <a:xfrm>
            <a:off x="5753239" y="4757082"/>
            <a:ext cx="18662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⑤.</a:t>
            </a:r>
            <a:r>
              <a:rPr kumimoji="1" lang="zh-CN" altLang="en-US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舍弃作业</a:t>
            </a:r>
            <a:r>
              <a:rPr kumimoji="1" lang="en-US" altLang="zh-CN" sz="2000" b="0" dirty="0">
                <a:solidFill>
                  <a:srgbClr val="FF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5</a:t>
            </a:r>
            <a:r>
              <a:rPr kumimoji="1" lang="en-US" altLang="zh-CN" sz="2000" b="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3" name="矩形 42"/>
          <p:cNvSpPr/>
          <p:nvPr/>
        </p:nvSpPr>
        <p:spPr>
          <a:xfrm>
            <a:off x="7487958" y="4745863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AutoShape 96"/>
          <p:cNvSpPr>
            <a:spLocks noChangeArrowheads="1"/>
          </p:cNvSpPr>
          <p:nvPr/>
        </p:nvSpPr>
        <p:spPr bwMode="auto">
          <a:xfrm>
            <a:off x="4190029" y="5599530"/>
            <a:ext cx="1763171" cy="518385"/>
          </a:xfrm>
          <a:prstGeom prst="wedgeRoundRectCallout">
            <a:avLst>
              <a:gd name="adj1" fmla="val -38948"/>
              <a:gd name="adj2" fmla="val -86540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用空间换时间</a:t>
            </a:r>
            <a:endParaRPr lang="en-US" altLang="zh-CN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5" name="AutoShape 96"/>
          <p:cNvSpPr>
            <a:spLocks noChangeArrowheads="1"/>
          </p:cNvSpPr>
          <p:nvPr/>
        </p:nvSpPr>
        <p:spPr bwMode="auto">
          <a:xfrm>
            <a:off x="6381036" y="5529926"/>
            <a:ext cx="3313112" cy="830020"/>
          </a:xfrm>
          <a:prstGeom prst="wedgeRoundRectCallout">
            <a:avLst>
              <a:gd name="adj1" fmla="val -59017"/>
              <a:gd name="adj2" fmla="val -35447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定义一个数组记录期限</a:t>
            </a:r>
            <a:r>
              <a:rPr lang="en-US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d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当前可用的最大空时间片？</a:t>
            </a:r>
          </a:p>
          <a:p>
            <a:pPr>
              <a:spcBef>
                <a:spcPct val="0"/>
              </a:spcBef>
            </a:pPr>
            <a:endParaRPr lang="en-US" altLang="zh-CN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31C838-2CF2-C27C-A0FD-51170B2CB189}"/>
              </a:ext>
            </a:extLst>
          </p:cNvPr>
          <p:cNvSpPr/>
          <p:nvPr/>
        </p:nvSpPr>
        <p:spPr>
          <a:xfrm>
            <a:off x="5897262" y="2606983"/>
            <a:ext cx="145424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2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一维数组</a:t>
            </a:r>
            <a:r>
              <a:rPr kumimoji="1" lang="en-US" altLang="zh-CN" sz="22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53341F-990E-D296-79D0-50E5B5845EF7}"/>
              </a:ext>
            </a:extLst>
          </p:cNvPr>
          <p:cNvSpPr txBox="1"/>
          <p:nvPr/>
        </p:nvSpPr>
        <p:spPr>
          <a:xfrm>
            <a:off x="7989430" y="2641041"/>
            <a:ext cx="2427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2      3  …         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98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4" grpId="0" animBg="1"/>
      <p:bldP spid="4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1196752"/>
            <a:ext cx="11089232" cy="112699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定义一维数组</a:t>
            </a:r>
            <a:r>
              <a:rPr lang="en-US" altLang="zh-CN" sz="2800" dirty="0"/>
              <a:t>F</a:t>
            </a:r>
            <a:r>
              <a:rPr lang="zh-CN" altLang="en-US" sz="2800" dirty="0"/>
              <a:t>，</a:t>
            </a:r>
            <a:r>
              <a:rPr lang="en-US" altLang="zh-CN" sz="2800" dirty="0"/>
              <a:t>F(d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)</a:t>
            </a:r>
            <a:r>
              <a:rPr lang="zh-CN" altLang="en-US" sz="2800" dirty="0"/>
              <a:t>表示时间期限为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的作业</a:t>
            </a:r>
            <a:r>
              <a:rPr lang="en-US" altLang="zh-CN" sz="2800" dirty="0" err="1"/>
              <a:t>i</a:t>
            </a:r>
            <a:r>
              <a:rPr lang="zh-CN" altLang="en-US" sz="2800" dirty="0"/>
              <a:t>当前可用的最大空时间片。</a:t>
            </a:r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09320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29</a:t>
            </a:fld>
            <a:endParaRPr lang="en-US" altLang="zh-CN" dirty="0"/>
          </a:p>
        </p:txBody>
      </p:sp>
      <p:graphicFrame>
        <p:nvGraphicFramePr>
          <p:cNvPr id="5" name="Group 92"/>
          <p:cNvGraphicFramePr/>
          <p:nvPr/>
        </p:nvGraphicFramePr>
        <p:xfrm>
          <a:off x="799792" y="2394647"/>
          <a:ext cx="3216473" cy="792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8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7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94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作业</a:t>
                      </a:r>
                      <a:r>
                        <a:rPr kumimoji="0" lang="en-US" altLang="zh-CN" sz="20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" name="Group 36"/>
          <p:cNvGrpSpPr/>
          <p:nvPr/>
        </p:nvGrpSpPr>
        <p:grpSpPr bwMode="auto">
          <a:xfrm>
            <a:off x="4108924" y="2309414"/>
            <a:ext cx="3717183" cy="646723"/>
            <a:chOff x="-91" y="1615"/>
            <a:chExt cx="2699" cy="337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-91" y="1615"/>
              <a:ext cx="779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0" dirty="0"/>
                <a:t>F</a:t>
              </a: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初始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663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149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636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122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12" name="Group 37"/>
          <p:cNvGrpSpPr/>
          <p:nvPr/>
        </p:nvGrpSpPr>
        <p:grpSpPr bwMode="auto">
          <a:xfrm>
            <a:off x="4074258" y="2780928"/>
            <a:ext cx="3740596" cy="730289"/>
            <a:chOff x="-108" y="1978"/>
            <a:chExt cx="2716" cy="374"/>
          </a:xfrm>
        </p:grpSpPr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-108" y="1978"/>
              <a:ext cx="765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作业</a:t>
              </a:r>
              <a:r>
                <a:rPr lang="en-US" altLang="zh-CN" sz="2400" b="0" dirty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663" y="2034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1149" y="2034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1636" y="2034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7" name="Rectangle 27"/>
            <p:cNvSpPr>
              <a:spLocks noChangeArrowheads="1"/>
            </p:cNvSpPr>
            <p:nvPr/>
          </p:nvSpPr>
          <p:spPr bwMode="auto">
            <a:xfrm>
              <a:off x="2122" y="2034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18" name="Group 38"/>
          <p:cNvGrpSpPr/>
          <p:nvPr/>
        </p:nvGrpSpPr>
        <p:grpSpPr bwMode="auto">
          <a:xfrm>
            <a:off x="4057730" y="3284984"/>
            <a:ext cx="3757124" cy="710567"/>
            <a:chOff x="-120" y="2341"/>
            <a:chExt cx="2728" cy="408"/>
          </a:xfrm>
        </p:grpSpPr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-120" y="2341"/>
              <a:ext cx="777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作业</a:t>
              </a:r>
              <a:r>
                <a:rPr lang="en-US" altLang="zh-CN" sz="2400" b="0" dirty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0" name="Rectangle 30"/>
            <p:cNvSpPr>
              <a:spLocks noChangeArrowheads="1"/>
            </p:cNvSpPr>
            <p:nvPr/>
          </p:nvSpPr>
          <p:spPr bwMode="auto">
            <a:xfrm>
              <a:off x="663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1" name="Rectangle 31"/>
            <p:cNvSpPr>
              <a:spLocks noChangeArrowheads="1"/>
            </p:cNvSpPr>
            <p:nvPr/>
          </p:nvSpPr>
          <p:spPr bwMode="auto">
            <a:xfrm>
              <a:off x="1149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" name="Rectangle 32"/>
            <p:cNvSpPr>
              <a:spLocks noChangeArrowheads="1"/>
            </p:cNvSpPr>
            <p:nvPr/>
          </p:nvSpPr>
          <p:spPr bwMode="auto">
            <a:xfrm>
              <a:off x="1636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" name="Rectangle 33"/>
            <p:cNvSpPr>
              <a:spLocks noChangeArrowheads="1"/>
            </p:cNvSpPr>
            <p:nvPr/>
          </p:nvSpPr>
          <p:spPr bwMode="auto">
            <a:xfrm>
              <a:off x="2122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27" name="Group 39"/>
          <p:cNvGrpSpPr/>
          <p:nvPr/>
        </p:nvGrpSpPr>
        <p:grpSpPr bwMode="auto">
          <a:xfrm>
            <a:off x="7838304" y="3291817"/>
            <a:ext cx="3590704" cy="641239"/>
            <a:chOff x="21" y="2341"/>
            <a:chExt cx="2587" cy="361"/>
          </a:xfrm>
        </p:grpSpPr>
        <p:sp>
          <p:nvSpPr>
            <p:cNvPr id="28" name="Text Box 40"/>
            <p:cNvSpPr txBox="1">
              <a:spLocks noChangeArrowheads="1"/>
            </p:cNvSpPr>
            <p:nvPr/>
          </p:nvSpPr>
          <p:spPr bwMode="auto">
            <a:xfrm>
              <a:off x="21" y="2341"/>
              <a:ext cx="750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作业</a:t>
              </a:r>
              <a:r>
                <a:rPr lang="en-US" altLang="zh-CN" sz="2400" b="0" dirty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" name="Rectangle 41"/>
            <p:cNvSpPr>
              <a:spLocks noChangeArrowheads="1"/>
            </p:cNvSpPr>
            <p:nvPr/>
          </p:nvSpPr>
          <p:spPr bwMode="auto">
            <a:xfrm>
              <a:off x="749" y="2397"/>
              <a:ext cx="464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" name="Rectangle 42"/>
            <p:cNvSpPr>
              <a:spLocks noChangeArrowheads="1"/>
            </p:cNvSpPr>
            <p:nvPr/>
          </p:nvSpPr>
          <p:spPr bwMode="auto">
            <a:xfrm>
              <a:off x="1213" y="2397"/>
              <a:ext cx="465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1" name="Rectangle 43"/>
            <p:cNvSpPr>
              <a:spLocks noChangeArrowheads="1"/>
            </p:cNvSpPr>
            <p:nvPr/>
          </p:nvSpPr>
          <p:spPr bwMode="auto">
            <a:xfrm>
              <a:off x="1677" y="2397"/>
              <a:ext cx="465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2" name="Rectangle 44"/>
            <p:cNvSpPr>
              <a:spLocks noChangeArrowheads="1"/>
            </p:cNvSpPr>
            <p:nvPr/>
          </p:nvSpPr>
          <p:spPr bwMode="auto">
            <a:xfrm>
              <a:off x="2142" y="2397"/>
              <a:ext cx="46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33" name="Group 45"/>
          <p:cNvGrpSpPr/>
          <p:nvPr/>
        </p:nvGrpSpPr>
        <p:grpSpPr bwMode="auto">
          <a:xfrm>
            <a:off x="4073489" y="3740339"/>
            <a:ext cx="3752618" cy="666201"/>
            <a:chOff x="-108" y="2344"/>
            <a:chExt cx="2716" cy="391"/>
          </a:xfrm>
        </p:grpSpPr>
        <p:sp>
          <p:nvSpPr>
            <p:cNvPr id="34" name="Text Box 46"/>
            <p:cNvSpPr txBox="1">
              <a:spLocks noChangeArrowheads="1"/>
            </p:cNvSpPr>
            <p:nvPr/>
          </p:nvSpPr>
          <p:spPr bwMode="auto">
            <a:xfrm>
              <a:off x="-108" y="2344"/>
              <a:ext cx="844" cy="3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作业</a:t>
              </a:r>
              <a:r>
                <a:rPr lang="en-US" altLang="zh-CN" sz="2400" b="0" dirty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5" name="Rectangle 47"/>
            <p:cNvSpPr>
              <a:spLocks noChangeArrowheads="1"/>
            </p:cNvSpPr>
            <p:nvPr/>
          </p:nvSpPr>
          <p:spPr bwMode="auto">
            <a:xfrm>
              <a:off x="663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" name="Rectangle 48"/>
            <p:cNvSpPr>
              <a:spLocks noChangeArrowheads="1"/>
            </p:cNvSpPr>
            <p:nvPr/>
          </p:nvSpPr>
          <p:spPr bwMode="auto">
            <a:xfrm>
              <a:off x="1149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7" name="Rectangle 49"/>
            <p:cNvSpPr>
              <a:spLocks noChangeArrowheads="1"/>
            </p:cNvSpPr>
            <p:nvPr/>
          </p:nvSpPr>
          <p:spPr bwMode="auto">
            <a:xfrm>
              <a:off x="1636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8" name="Rectangle 50"/>
            <p:cNvSpPr>
              <a:spLocks noChangeArrowheads="1"/>
            </p:cNvSpPr>
            <p:nvPr/>
          </p:nvSpPr>
          <p:spPr bwMode="auto">
            <a:xfrm>
              <a:off x="2122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42" name="Group 53"/>
          <p:cNvGrpSpPr/>
          <p:nvPr/>
        </p:nvGrpSpPr>
        <p:grpSpPr bwMode="auto">
          <a:xfrm>
            <a:off x="7852931" y="3745992"/>
            <a:ext cx="3571661" cy="619112"/>
            <a:chOff x="-84" y="2341"/>
            <a:chExt cx="2692" cy="361"/>
          </a:xfrm>
        </p:grpSpPr>
        <p:sp>
          <p:nvSpPr>
            <p:cNvPr id="43" name="Text Box 54"/>
            <p:cNvSpPr txBox="1">
              <a:spLocks noChangeArrowheads="1"/>
            </p:cNvSpPr>
            <p:nvPr/>
          </p:nvSpPr>
          <p:spPr bwMode="auto">
            <a:xfrm>
              <a:off x="-84" y="2341"/>
              <a:ext cx="770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作业</a:t>
              </a:r>
              <a:r>
                <a:rPr lang="en-US" altLang="zh-CN" sz="2400" b="0" dirty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4" name="Rectangle 55"/>
            <p:cNvSpPr>
              <a:spLocks noChangeArrowheads="1"/>
            </p:cNvSpPr>
            <p:nvPr/>
          </p:nvSpPr>
          <p:spPr bwMode="auto">
            <a:xfrm>
              <a:off x="663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5" name="Rectangle 56"/>
            <p:cNvSpPr>
              <a:spLocks noChangeArrowheads="1"/>
            </p:cNvSpPr>
            <p:nvPr/>
          </p:nvSpPr>
          <p:spPr bwMode="auto">
            <a:xfrm>
              <a:off x="1149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6" name="Rectangle 57"/>
            <p:cNvSpPr>
              <a:spLocks noChangeArrowheads="1"/>
            </p:cNvSpPr>
            <p:nvPr/>
          </p:nvSpPr>
          <p:spPr bwMode="auto">
            <a:xfrm>
              <a:off x="1636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Rectangle 58"/>
            <p:cNvSpPr>
              <a:spLocks noChangeArrowheads="1"/>
            </p:cNvSpPr>
            <p:nvPr/>
          </p:nvSpPr>
          <p:spPr bwMode="auto">
            <a:xfrm>
              <a:off x="2122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48" name="Group 60"/>
          <p:cNvGrpSpPr/>
          <p:nvPr/>
        </p:nvGrpSpPr>
        <p:grpSpPr bwMode="auto">
          <a:xfrm>
            <a:off x="4073489" y="4224338"/>
            <a:ext cx="3745628" cy="536086"/>
            <a:chOff x="-102" y="2363"/>
            <a:chExt cx="2710" cy="302"/>
          </a:xfrm>
        </p:grpSpPr>
        <p:sp>
          <p:nvSpPr>
            <p:cNvPr id="49" name="Text Box 61"/>
            <p:cNvSpPr txBox="1">
              <a:spLocks noChangeArrowheads="1"/>
            </p:cNvSpPr>
            <p:nvPr/>
          </p:nvSpPr>
          <p:spPr bwMode="auto">
            <a:xfrm>
              <a:off x="-102" y="2363"/>
              <a:ext cx="892" cy="3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作业</a:t>
              </a:r>
              <a:r>
                <a:rPr lang="en-US" altLang="zh-CN" sz="2400" b="0" dirty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50" name="Rectangle 62"/>
            <p:cNvSpPr>
              <a:spLocks noChangeArrowheads="1"/>
            </p:cNvSpPr>
            <p:nvPr/>
          </p:nvSpPr>
          <p:spPr bwMode="auto">
            <a:xfrm>
              <a:off x="663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1" name="Rectangle 63"/>
            <p:cNvSpPr>
              <a:spLocks noChangeArrowheads="1"/>
            </p:cNvSpPr>
            <p:nvPr/>
          </p:nvSpPr>
          <p:spPr bwMode="auto">
            <a:xfrm>
              <a:off x="1149" y="2397"/>
              <a:ext cx="491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2" name="Rectangle 64"/>
            <p:cNvSpPr>
              <a:spLocks noChangeArrowheads="1"/>
            </p:cNvSpPr>
            <p:nvPr/>
          </p:nvSpPr>
          <p:spPr bwMode="auto">
            <a:xfrm>
              <a:off x="1636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3" name="Rectangle 65"/>
            <p:cNvSpPr>
              <a:spLocks noChangeArrowheads="1"/>
            </p:cNvSpPr>
            <p:nvPr/>
          </p:nvSpPr>
          <p:spPr bwMode="auto">
            <a:xfrm>
              <a:off x="2122" y="2397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0000"/>
                  </a:solidFill>
                  <a:cs typeface="Arial" panose="020B0604020202020204" pitchFamily="34" charset="0"/>
                </a:rPr>
                <a:t>0</a:t>
              </a:r>
            </a:p>
          </p:txBody>
        </p:sp>
      </p:grpSp>
      <p:sp>
        <p:nvSpPr>
          <p:cNvPr id="57" name="内容占位符 2"/>
          <p:cNvSpPr txBox="1"/>
          <p:nvPr/>
        </p:nvSpPr>
        <p:spPr>
          <a:xfrm>
            <a:off x="1055440" y="5165510"/>
            <a:ext cx="9649072" cy="1185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zh-CN" altLang="en-US" sz="2800" dirty="0"/>
              <a:t>为维护</a:t>
            </a:r>
            <a:r>
              <a:rPr lang="en-US" altLang="zh-CN" sz="2800" dirty="0"/>
              <a:t>F</a:t>
            </a:r>
            <a:r>
              <a:rPr lang="zh-CN" altLang="en-US" sz="2800" dirty="0"/>
              <a:t>，确保其正确。若仍</a:t>
            </a:r>
            <a:r>
              <a:rPr lang="zh-CN" altLang="en-US" sz="2800" dirty="0">
                <a:latin typeface="幼圆" panose="02010509060101010101" pitchFamily="49" charset="-122"/>
              </a:rPr>
              <a:t>需顺序遍历，则复杂度没减</a:t>
            </a:r>
            <a:r>
              <a:rPr kumimoji="1" lang="zh-CN" altLang="en-US" sz="2800" b="1" dirty="0"/>
              <a:t>。</a:t>
            </a:r>
            <a:endParaRPr kumimoji="1" lang="en-US" altLang="zh-CN" sz="2800" b="1" dirty="0"/>
          </a:p>
          <a:p>
            <a:pPr marL="0" indent="0">
              <a:spcBef>
                <a:spcPct val="0"/>
              </a:spcBef>
              <a:buNone/>
            </a:pPr>
            <a:r>
              <a:rPr kumimoji="1" lang="zh-CN" altLang="en-US" sz="2800" dirty="0">
                <a:solidFill>
                  <a:srgbClr val="FF0000"/>
                </a:solidFill>
              </a:rPr>
              <a:t>为进一步提高效率，借助集合树，且不再对所有的</a:t>
            </a:r>
            <a:r>
              <a:rPr kumimoji="1" lang="en-US" altLang="zh-CN" sz="2800" dirty="0">
                <a:solidFill>
                  <a:srgbClr val="FF0000"/>
                </a:solidFill>
              </a:rPr>
              <a:t>F(</a:t>
            </a:r>
            <a:r>
              <a:rPr kumimoji="1" lang="en-US" altLang="zh-CN" sz="2800" dirty="0" err="1">
                <a:solidFill>
                  <a:srgbClr val="FF0000"/>
                </a:solidFill>
              </a:rPr>
              <a:t>i</a:t>
            </a:r>
            <a:r>
              <a:rPr kumimoji="1" lang="en-US" altLang="zh-CN" sz="2800" dirty="0">
                <a:solidFill>
                  <a:srgbClr val="FF0000"/>
                </a:solidFill>
              </a:rPr>
              <a:t>)</a:t>
            </a:r>
            <a:r>
              <a:rPr kumimoji="1" lang="zh-CN" altLang="en-US" sz="2800" dirty="0">
                <a:solidFill>
                  <a:srgbClr val="FF0000"/>
                </a:solidFill>
              </a:rPr>
              <a:t>维护。</a:t>
            </a:r>
            <a:endParaRPr lang="zh-CN" altLang="en-US" sz="2800" dirty="0">
              <a:solidFill>
                <a:srgbClr val="FF0000"/>
              </a:solidFill>
              <a:latin typeface="幼圆" panose="02010509060101010101" pitchFamily="49" charset="-122"/>
            </a:endParaRPr>
          </a:p>
        </p:txBody>
      </p:sp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695400" y="3311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一维数组</a:t>
            </a:r>
            <a:r>
              <a:rPr lang="en-US" altLang="zh-CN" sz="4000" dirty="0"/>
              <a:t>F</a:t>
            </a:r>
            <a:endParaRPr lang="zh-CN" alt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274456" y="2001120"/>
            <a:ext cx="2499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1        2       3        4        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408" y="4462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一维数组</a:t>
            </a:r>
            <a:r>
              <a:rPr lang="en-US" altLang="zh-CN" sz="4000" dirty="0"/>
              <a:t>P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268760"/>
            <a:ext cx="10515600" cy="2067270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定义一维数组</a:t>
            </a:r>
            <a:r>
              <a:rPr lang="en-US" altLang="zh-CN" sz="2800" dirty="0"/>
              <a:t>P</a:t>
            </a:r>
            <a:r>
              <a:rPr lang="zh-CN" altLang="en-US" sz="2800" dirty="0"/>
              <a:t>模拟集合树，同一棵树中的节点具有相同的最大可用时间片，即</a:t>
            </a:r>
            <a:r>
              <a:rPr lang="zh-CN" altLang="en-US" sz="2800" b="1" dirty="0"/>
              <a:t>根节点</a:t>
            </a:r>
            <a:r>
              <a:rPr lang="en-US" altLang="zh-CN" sz="2800" b="1" dirty="0"/>
              <a:t>j</a:t>
            </a:r>
            <a:r>
              <a:rPr lang="zh-CN" altLang="en-US" sz="2800" b="1" dirty="0"/>
              <a:t>对应的</a:t>
            </a:r>
            <a:r>
              <a:rPr lang="en-US" altLang="zh-CN" sz="2800" b="1" dirty="0"/>
              <a:t>F(j)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lvl="1"/>
            <a:r>
              <a:rPr lang="zh-CN" altLang="en-US" sz="2800" dirty="0"/>
              <a:t>若</a:t>
            </a:r>
            <a:r>
              <a:rPr lang="en-US" altLang="zh-CN" sz="2800" dirty="0" err="1"/>
              <a:t>i</a:t>
            </a:r>
            <a:r>
              <a:rPr lang="zh-CN" altLang="en-US" sz="2800" dirty="0"/>
              <a:t>是树中的分支</a:t>
            </a:r>
            <a:r>
              <a:rPr lang="en-US" altLang="zh-CN" sz="2800" dirty="0"/>
              <a:t>/</a:t>
            </a:r>
            <a:r>
              <a:rPr lang="zh-CN" altLang="en-US" sz="2800" dirty="0"/>
              <a:t>叶节点，令</a:t>
            </a:r>
            <a:r>
              <a:rPr lang="en-US" altLang="zh-CN" sz="2800" dirty="0"/>
              <a:t>P(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)=k</a:t>
            </a:r>
            <a:r>
              <a:rPr lang="zh-CN" altLang="en-US" sz="2800" dirty="0"/>
              <a:t>，</a:t>
            </a:r>
            <a:r>
              <a:rPr lang="en-US" altLang="zh-CN" sz="2800" dirty="0"/>
              <a:t>k(k&gt;0)</a:t>
            </a:r>
            <a:r>
              <a:rPr lang="zh-CN" altLang="en-US" sz="2800" dirty="0"/>
              <a:t>是</a:t>
            </a:r>
            <a:r>
              <a:rPr lang="en-US" altLang="zh-CN" sz="2800" dirty="0" err="1"/>
              <a:t>i</a:t>
            </a:r>
            <a:r>
              <a:rPr lang="zh-CN" altLang="en-US" sz="2800" dirty="0"/>
              <a:t>的父节点；</a:t>
            </a:r>
          </a:p>
          <a:p>
            <a:pPr lvl="1"/>
            <a:r>
              <a:rPr lang="zh-CN" altLang="en-US" sz="2800" dirty="0"/>
              <a:t>若</a:t>
            </a:r>
            <a:r>
              <a:rPr lang="en-US" altLang="zh-CN" sz="2800" dirty="0" err="1"/>
              <a:t>i</a:t>
            </a:r>
            <a:r>
              <a:rPr lang="zh-CN" altLang="en-US" sz="2800" dirty="0"/>
              <a:t>是根节点，令</a:t>
            </a:r>
            <a:r>
              <a:rPr lang="en-US" altLang="zh-CN" sz="2800" dirty="0"/>
              <a:t>P(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)=-k</a:t>
            </a:r>
            <a:r>
              <a:rPr lang="zh-CN" altLang="en-US" sz="2800" dirty="0"/>
              <a:t>，</a:t>
            </a:r>
            <a:r>
              <a:rPr lang="en-US" altLang="zh-CN" sz="2800" dirty="0"/>
              <a:t>k(k&gt;0)</a:t>
            </a:r>
            <a:r>
              <a:rPr lang="zh-CN" altLang="en-US" sz="2800" dirty="0"/>
              <a:t>表示树中节点数。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30</a:t>
            </a:fld>
            <a:endParaRPr lang="en-US" altLang="zh-CN"/>
          </a:p>
        </p:txBody>
      </p:sp>
      <p:grpSp>
        <p:nvGrpSpPr>
          <p:cNvPr id="80" name="Group 36"/>
          <p:cNvGrpSpPr/>
          <p:nvPr/>
        </p:nvGrpSpPr>
        <p:grpSpPr bwMode="auto">
          <a:xfrm>
            <a:off x="1103481" y="3797213"/>
            <a:ext cx="2974048" cy="535417"/>
            <a:chOff x="324" y="1646"/>
            <a:chExt cx="2284" cy="279"/>
          </a:xfrm>
        </p:grpSpPr>
        <p:sp>
          <p:nvSpPr>
            <p:cNvPr id="81" name="Text Box 5"/>
            <p:cNvSpPr txBox="1">
              <a:spLocks noChangeArrowheads="1"/>
            </p:cNvSpPr>
            <p:nvPr/>
          </p:nvSpPr>
          <p:spPr bwMode="auto">
            <a:xfrm>
              <a:off x="324" y="1646"/>
              <a:ext cx="388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0" dirty="0"/>
                <a:t>P</a:t>
              </a:r>
              <a:endPara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82" name="Rectangle 6"/>
            <p:cNvSpPr>
              <a:spLocks noChangeArrowheads="1"/>
            </p:cNvSpPr>
            <p:nvPr/>
          </p:nvSpPr>
          <p:spPr bwMode="auto">
            <a:xfrm>
              <a:off x="663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83" name="Rectangle 7"/>
            <p:cNvSpPr>
              <a:spLocks noChangeArrowheads="1"/>
            </p:cNvSpPr>
            <p:nvPr/>
          </p:nvSpPr>
          <p:spPr bwMode="auto">
            <a:xfrm>
              <a:off x="1149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-2</a:t>
              </a:r>
            </a:p>
          </p:txBody>
        </p:sp>
        <p:sp>
          <p:nvSpPr>
            <p:cNvPr id="84" name="Rectangle 8"/>
            <p:cNvSpPr>
              <a:spLocks noChangeArrowheads="1"/>
            </p:cNvSpPr>
            <p:nvPr/>
          </p:nvSpPr>
          <p:spPr bwMode="auto">
            <a:xfrm>
              <a:off x="1636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2122" y="1671"/>
              <a:ext cx="486" cy="2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cs typeface="Arial" panose="020B0604020202020204" pitchFamily="34" charset="0"/>
                </a:rPr>
                <a:t>-1</a:t>
              </a:r>
            </a:p>
          </p:txBody>
        </p:sp>
      </p:grpSp>
      <p:grpSp>
        <p:nvGrpSpPr>
          <p:cNvPr id="89" name="Group 172"/>
          <p:cNvGrpSpPr/>
          <p:nvPr/>
        </p:nvGrpSpPr>
        <p:grpSpPr bwMode="auto">
          <a:xfrm>
            <a:off x="6485407" y="3495061"/>
            <a:ext cx="426917" cy="700255"/>
            <a:chOff x="7362" y="2505"/>
            <a:chExt cx="358" cy="645"/>
          </a:xfrm>
        </p:grpSpPr>
        <p:sp>
          <p:nvSpPr>
            <p:cNvPr id="106" name="Oval 174"/>
            <p:cNvSpPr>
              <a:spLocks noChangeArrowheads="1"/>
            </p:cNvSpPr>
            <p:nvPr/>
          </p:nvSpPr>
          <p:spPr bwMode="auto">
            <a:xfrm>
              <a:off x="7362" y="2775"/>
              <a:ext cx="358" cy="37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07" name="Text Box 173"/>
            <p:cNvSpPr txBox="1">
              <a:spLocks noChangeArrowheads="1"/>
            </p:cNvSpPr>
            <p:nvPr/>
          </p:nvSpPr>
          <p:spPr bwMode="auto">
            <a:xfrm>
              <a:off x="7484" y="2505"/>
              <a:ext cx="1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90" name="Group 169"/>
          <p:cNvGrpSpPr/>
          <p:nvPr/>
        </p:nvGrpSpPr>
        <p:grpSpPr bwMode="auto">
          <a:xfrm>
            <a:off x="6983874" y="3495061"/>
            <a:ext cx="426917" cy="700255"/>
            <a:chOff x="7362" y="2505"/>
            <a:chExt cx="358" cy="645"/>
          </a:xfrm>
        </p:grpSpPr>
        <p:sp>
          <p:nvSpPr>
            <p:cNvPr id="104" name="Oval 171"/>
            <p:cNvSpPr>
              <a:spLocks noChangeArrowheads="1"/>
            </p:cNvSpPr>
            <p:nvPr/>
          </p:nvSpPr>
          <p:spPr bwMode="auto">
            <a:xfrm>
              <a:off x="7362" y="2775"/>
              <a:ext cx="358" cy="37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cs typeface="Arial" panose="020B0604020202020204" pitchFamily="34" charset="0"/>
                </a:rPr>
                <a:t>-2</a:t>
              </a:r>
            </a:p>
          </p:txBody>
        </p:sp>
        <p:sp>
          <p:nvSpPr>
            <p:cNvPr id="105" name="Text Box 170"/>
            <p:cNvSpPr txBox="1">
              <a:spLocks noChangeArrowheads="1"/>
            </p:cNvSpPr>
            <p:nvPr/>
          </p:nvSpPr>
          <p:spPr bwMode="auto">
            <a:xfrm>
              <a:off x="7484" y="2505"/>
              <a:ext cx="1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91" name="Group 166"/>
          <p:cNvGrpSpPr/>
          <p:nvPr/>
        </p:nvGrpSpPr>
        <p:grpSpPr bwMode="auto">
          <a:xfrm>
            <a:off x="6776379" y="4534043"/>
            <a:ext cx="620103" cy="407125"/>
            <a:chOff x="6978" y="3717"/>
            <a:chExt cx="520" cy="375"/>
          </a:xfrm>
        </p:grpSpPr>
        <p:sp>
          <p:nvSpPr>
            <p:cNvPr id="102" name="Oval 168"/>
            <p:cNvSpPr>
              <a:spLocks noChangeArrowheads="1"/>
            </p:cNvSpPr>
            <p:nvPr/>
          </p:nvSpPr>
          <p:spPr bwMode="auto">
            <a:xfrm>
              <a:off x="7140" y="3717"/>
              <a:ext cx="358" cy="37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3" name="Text Box 167"/>
            <p:cNvSpPr txBox="1">
              <a:spLocks noChangeArrowheads="1"/>
            </p:cNvSpPr>
            <p:nvPr/>
          </p:nvSpPr>
          <p:spPr bwMode="auto">
            <a:xfrm>
              <a:off x="6978" y="3777"/>
              <a:ext cx="1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92" name="Group 163"/>
          <p:cNvGrpSpPr/>
          <p:nvPr/>
        </p:nvGrpSpPr>
        <p:grpSpPr bwMode="auto">
          <a:xfrm>
            <a:off x="7522887" y="3488547"/>
            <a:ext cx="426917" cy="700255"/>
            <a:chOff x="7362" y="2505"/>
            <a:chExt cx="358" cy="645"/>
          </a:xfrm>
        </p:grpSpPr>
        <p:sp>
          <p:nvSpPr>
            <p:cNvPr id="100" name="Oval 165"/>
            <p:cNvSpPr>
              <a:spLocks noChangeArrowheads="1"/>
            </p:cNvSpPr>
            <p:nvPr/>
          </p:nvSpPr>
          <p:spPr bwMode="auto">
            <a:xfrm>
              <a:off x="7362" y="2775"/>
              <a:ext cx="358" cy="37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-1</a:t>
              </a:r>
            </a:p>
          </p:txBody>
        </p:sp>
        <p:sp>
          <p:nvSpPr>
            <p:cNvPr id="101" name="Text Box 164"/>
            <p:cNvSpPr txBox="1">
              <a:spLocks noChangeArrowheads="1"/>
            </p:cNvSpPr>
            <p:nvPr/>
          </p:nvSpPr>
          <p:spPr bwMode="auto">
            <a:xfrm>
              <a:off x="7484" y="2505"/>
              <a:ext cx="1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FF0000"/>
                  </a:solidFill>
                  <a:cs typeface="Arial" panose="020B0604020202020204" pitchFamily="34" charset="0"/>
                </a:rPr>
                <a:t>4</a:t>
              </a:r>
            </a:p>
          </p:txBody>
        </p:sp>
      </p:grpSp>
      <p:sp>
        <p:nvSpPr>
          <p:cNvPr id="95" name="Line 156"/>
          <p:cNvSpPr>
            <a:spLocks noChangeShapeType="1"/>
          </p:cNvSpPr>
          <p:nvPr/>
        </p:nvSpPr>
        <p:spPr bwMode="auto">
          <a:xfrm flipV="1">
            <a:off x="7203295" y="4182288"/>
            <a:ext cx="0" cy="34198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内容占位符 2"/>
          <p:cNvSpPr txBox="1"/>
          <p:nvPr/>
        </p:nvSpPr>
        <p:spPr>
          <a:xfrm>
            <a:off x="3982238" y="3769337"/>
            <a:ext cx="2716628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/>
              <a:t>对应树状形如：</a:t>
            </a:r>
            <a:endParaRPr lang="zh-CN" altLang="en-US" sz="2400" dirty="0">
              <a:latin typeface="幼圆" panose="02010509060101010101" pitchFamily="49" charset="-122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614412" y="3466878"/>
            <a:ext cx="2499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1        2       3        4        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内容占位符 2"/>
          <p:cNvSpPr txBox="1"/>
          <p:nvPr/>
        </p:nvSpPr>
        <p:spPr>
          <a:xfrm>
            <a:off x="912640" y="5270827"/>
            <a:ext cx="10370368" cy="9334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kumimoji="1" lang="zh-CN" altLang="en-US" sz="2800" dirty="0">
                <a:solidFill>
                  <a:srgbClr val="FF0000"/>
                </a:solidFill>
              </a:rPr>
              <a:t>为作业</a:t>
            </a:r>
            <a:r>
              <a:rPr kumimoji="1" lang="en-US" altLang="zh-CN" sz="2800" dirty="0" err="1">
                <a:solidFill>
                  <a:srgbClr val="FF0000"/>
                </a:solidFill>
              </a:rPr>
              <a:t>i</a:t>
            </a:r>
            <a:r>
              <a:rPr kumimoji="1" lang="zh-CN" altLang="en-US" sz="2800" dirty="0">
                <a:solidFill>
                  <a:srgbClr val="FF0000"/>
                </a:solidFill>
              </a:rPr>
              <a:t>分配时间片时，先根据</a:t>
            </a:r>
            <a:r>
              <a:rPr kumimoji="1" lang="en-US" altLang="zh-CN" sz="2800" dirty="0">
                <a:solidFill>
                  <a:srgbClr val="FF0000"/>
                </a:solidFill>
              </a:rPr>
              <a:t>d(</a:t>
            </a:r>
            <a:r>
              <a:rPr kumimoji="1" lang="en-US" altLang="zh-CN" sz="2800" dirty="0" err="1">
                <a:solidFill>
                  <a:srgbClr val="FF0000"/>
                </a:solidFill>
              </a:rPr>
              <a:t>i</a:t>
            </a:r>
            <a:r>
              <a:rPr kumimoji="1" lang="en-US" altLang="zh-CN" sz="2800" dirty="0">
                <a:solidFill>
                  <a:srgbClr val="FF0000"/>
                </a:solidFill>
              </a:rPr>
              <a:t>)</a:t>
            </a:r>
            <a:r>
              <a:rPr kumimoji="1" lang="zh-CN" altLang="en-US" sz="2800" dirty="0">
                <a:solidFill>
                  <a:srgbClr val="FF0000"/>
                </a:solidFill>
              </a:rPr>
              <a:t>的值访问数组</a:t>
            </a:r>
            <a:r>
              <a:rPr kumimoji="1" lang="en-US" altLang="zh-CN" sz="2800" dirty="0">
                <a:solidFill>
                  <a:srgbClr val="FF0000"/>
                </a:solidFill>
              </a:rPr>
              <a:t>P</a:t>
            </a:r>
            <a:r>
              <a:rPr kumimoji="1" lang="zh-CN" altLang="en-US" sz="2800" dirty="0">
                <a:solidFill>
                  <a:srgbClr val="FF0000"/>
                </a:solidFill>
              </a:rPr>
              <a:t>，找到树根</a:t>
            </a:r>
            <a:r>
              <a:rPr kumimoji="1" lang="en-US" altLang="zh-CN" sz="2800" dirty="0">
                <a:solidFill>
                  <a:srgbClr val="FF0000"/>
                </a:solidFill>
              </a:rPr>
              <a:t>j</a:t>
            </a:r>
            <a:r>
              <a:rPr kumimoji="1" lang="zh-CN" altLang="en-US" sz="2800" dirty="0">
                <a:solidFill>
                  <a:srgbClr val="FF0000"/>
                </a:solidFill>
              </a:rPr>
              <a:t>，再访问数组</a:t>
            </a:r>
            <a:r>
              <a:rPr kumimoji="1" lang="en-US" altLang="zh-CN" sz="2800" dirty="0">
                <a:solidFill>
                  <a:srgbClr val="FF0000"/>
                </a:solidFill>
              </a:rPr>
              <a:t>F</a:t>
            </a:r>
            <a:endParaRPr lang="zh-CN" altLang="en-US" sz="2800" dirty="0">
              <a:solidFill>
                <a:srgbClr val="FF0000"/>
              </a:solidFill>
              <a:latin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207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集合树</a:t>
            </a:r>
            <a:r>
              <a:rPr lang="en-US" altLang="zh-CN" sz="4000" dirty="0"/>
              <a:t>(</a:t>
            </a:r>
            <a:r>
              <a:rPr lang="zh-CN" altLang="en-US" sz="4000" dirty="0"/>
              <a:t>补充</a:t>
            </a:r>
            <a:r>
              <a:rPr lang="en-US" altLang="zh-CN" sz="4000" dirty="0"/>
              <a:t>-1)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0122" y="1700808"/>
            <a:ext cx="10515600" cy="4351338"/>
          </a:xfrm>
        </p:spPr>
        <p:txBody>
          <a:bodyPr/>
          <a:lstStyle/>
          <a:p>
            <a:r>
              <a:rPr lang="zh-CN" altLang="en-US" sz="2800" dirty="0"/>
              <a:t>集合树表示一个集合</a:t>
            </a:r>
            <a:endParaRPr lang="en-US" altLang="zh-CN" sz="2800" dirty="0"/>
          </a:p>
          <a:p>
            <a:pPr lvl="1"/>
            <a:r>
              <a:rPr lang="zh-CN" altLang="en-US" sz="2400" dirty="0"/>
              <a:t>树中每个结点只设置</a:t>
            </a:r>
            <a:r>
              <a:rPr lang="en-US" altLang="zh-CN" sz="2400" dirty="0"/>
              <a:t>PARENT</a:t>
            </a:r>
            <a:r>
              <a:rPr lang="zh-CN" altLang="en-US" sz="2400" dirty="0"/>
              <a:t>信息段。</a:t>
            </a:r>
          </a:p>
          <a:p>
            <a:pPr lvl="1"/>
            <a:r>
              <a:rPr lang="zh-CN" altLang="en-US" sz="2400" dirty="0"/>
              <a:t>对于非根结点</a:t>
            </a:r>
            <a:r>
              <a:rPr lang="en-US" altLang="zh-CN" sz="2400" dirty="0" err="1"/>
              <a:t>i</a:t>
            </a:r>
            <a:r>
              <a:rPr lang="zh-CN" altLang="en-US" sz="2400" dirty="0"/>
              <a:t>，</a:t>
            </a:r>
            <a:r>
              <a:rPr lang="en-US" altLang="zh-CN" sz="2400" dirty="0"/>
              <a:t>PARENT(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</a:t>
            </a:r>
            <a:r>
              <a:rPr lang="zh-CN" altLang="en-US" sz="2400" dirty="0"/>
              <a:t>存放着</a:t>
            </a:r>
            <a:r>
              <a:rPr lang="en-US" altLang="zh-CN" sz="2400" dirty="0" err="1"/>
              <a:t>i</a:t>
            </a:r>
            <a:r>
              <a:rPr lang="zh-CN" altLang="en-US" sz="2400" dirty="0"/>
              <a:t>的父结点下标。</a:t>
            </a:r>
          </a:p>
          <a:p>
            <a:pPr lvl="1"/>
            <a:r>
              <a:rPr lang="zh-CN" altLang="en-US" sz="2400" dirty="0"/>
              <a:t>对于根结点</a:t>
            </a:r>
            <a:r>
              <a:rPr lang="en-US" altLang="zh-CN" sz="2400" dirty="0" err="1"/>
              <a:t>i</a:t>
            </a:r>
            <a:r>
              <a:rPr lang="zh-CN" altLang="en-US" sz="2400" dirty="0"/>
              <a:t>，</a:t>
            </a:r>
            <a:r>
              <a:rPr lang="en-US" altLang="zh-CN" sz="2400" dirty="0"/>
              <a:t>PARENT(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)= -k</a:t>
            </a:r>
            <a:r>
              <a:rPr lang="zh-CN" altLang="en-US" sz="2400" dirty="0"/>
              <a:t>，</a:t>
            </a:r>
            <a:r>
              <a:rPr lang="en-US" altLang="zh-CN" sz="2400" dirty="0"/>
              <a:t>k&gt;0</a:t>
            </a:r>
            <a:r>
              <a:rPr lang="zh-CN" altLang="en-US" sz="2400" dirty="0"/>
              <a:t>表示树中结点个数。</a:t>
            </a:r>
            <a:endParaRPr lang="en-US" altLang="zh-CN" sz="2400" dirty="0"/>
          </a:p>
          <a:p>
            <a:r>
              <a:rPr lang="zh-CN" altLang="en-US" sz="2800" dirty="0"/>
              <a:t>集合树的操作</a:t>
            </a:r>
            <a:endParaRPr lang="en-US" altLang="zh-CN" sz="2800" dirty="0"/>
          </a:p>
          <a:p>
            <a:pPr lvl="1"/>
            <a:r>
              <a:rPr lang="zh-CN" altLang="en-US" sz="2400" dirty="0"/>
              <a:t>查找：</a:t>
            </a:r>
            <a:r>
              <a:rPr lang="en-US" altLang="zh-CN" sz="2400" dirty="0"/>
              <a:t>FIND(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  <a:r>
              <a:rPr lang="zh-CN" altLang="en-US" sz="2400" dirty="0"/>
              <a:t>表示基于压缩规则查找结点</a:t>
            </a:r>
            <a:r>
              <a:rPr lang="en-US" altLang="zh-CN" sz="2400" dirty="0" err="1"/>
              <a:t>i</a:t>
            </a:r>
            <a:r>
              <a:rPr lang="zh-CN" altLang="en-US" sz="2400" dirty="0"/>
              <a:t>的根结点。</a:t>
            </a:r>
            <a:endParaRPr lang="en-US" altLang="zh-CN" sz="2400" dirty="0"/>
          </a:p>
          <a:p>
            <a:pPr lvl="1"/>
            <a:r>
              <a:rPr lang="zh-CN" altLang="en-US" sz="2400" dirty="0"/>
              <a:t>合并：</a:t>
            </a:r>
            <a:r>
              <a:rPr lang="en-US" altLang="zh-CN" sz="2400" dirty="0"/>
              <a:t>UNION(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, j)</a:t>
            </a:r>
            <a:r>
              <a:rPr lang="zh-CN" altLang="en-US" sz="2400" dirty="0"/>
              <a:t>表示基于加权规则合并两个集合树</a:t>
            </a:r>
            <a:r>
              <a:rPr lang="en-US" altLang="zh-CN" sz="2400" dirty="0" err="1"/>
              <a:t>i</a:t>
            </a:r>
            <a:r>
              <a:rPr lang="zh-CN" altLang="en-US" sz="2400" dirty="0"/>
              <a:t>和</a:t>
            </a:r>
            <a:r>
              <a:rPr lang="en-US" altLang="zh-CN" sz="2400" dirty="0"/>
              <a:t>j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集合树的查找操作</a:t>
            </a:r>
            <a:r>
              <a:rPr lang="en-US" altLang="zh-CN" sz="4000" dirty="0"/>
              <a:t>FIND(</a:t>
            </a:r>
            <a:r>
              <a:rPr lang="en-US" altLang="zh-CN" sz="4000" dirty="0" err="1"/>
              <a:t>i</a:t>
            </a:r>
            <a:r>
              <a:rPr lang="en-US" altLang="zh-CN" sz="4000" dirty="0"/>
              <a:t>)——</a:t>
            </a:r>
            <a:r>
              <a:rPr lang="zh-CN" altLang="en-US" sz="4000" dirty="0"/>
              <a:t>基于压缩规则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690690"/>
            <a:ext cx="504056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查找时使用</a:t>
            </a:r>
            <a:r>
              <a:rPr lang="zh-CN" altLang="en-US" sz="2800" dirty="0">
                <a:solidFill>
                  <a:srgbClr val="FF0000"/>
                </a:solidFill>
              </a:rPr>
              <a:t>压缩规则</a:t>
            </a:r>
            <a:r>
              <a:rPr lang="zh-CN" altLang="en-US" sz="2800" dirty="0"/>
              <a:t>：</a:t>
            </a:r>
            <a:r>
              <a:rPr kumimoji="1" lang="zh-CN" altLang="en-US" sz="2800" dirty="0"/>
              <a:t>如果</a:t>
            </a:r>
            <a:r>
              <a:rPr kumimoji="1" lang="en-US" altLang="zh-CN" sz="2800" i="1" dirty="0"/>
              <a:t>k</a:t>
            </a:r>
            <a:r>
              <a:rPr kumimoji="1" lang="zh-CN" altLang="en-US" sz="2800" dirty="0"/>
              <a:t>是由</a:t>
            </a:r>
            <a:r>
              <a:rPr kumimoji="1" lang="en-US" altLang="zh-CN" sz="2800" i="1" dirty="0" err="1"/>
              <a:t>i</a:t>
            </a:r>
            <a:r>
              <a:rPr kumimoji="1" lang="zh-CN" altLang="en-US" sz="2800" dirty="0"/>
              <a:t>到其根</a:t>
            </a:r>
            <a:r>
              <a:rPr kumimoji="1" lang="en-US" altLang="zh-CN" sz="2800" i="1" dirty="0"/>
              <a:t>j</a:t>
            </a:r>
            <a:r>
              <a:rPr kumimoji="1" lang="zh-CN" altLang="en-US" sz="2800" dirty="0"/>
              <a:t>的路径上的一个结点，则置</a:t>
            </a:r>
            <a:r>
              <a:rPr kumimoji="1" lang="en-US" altLang="zh-CN" sz="2800" dirty="0"/>
              <a:t>PARENT(</a:t>
            </a:r>
            <a:r>
              <a:rPr kumimoji="1" lang="en-US" altLang="zh-CN" sz="2800" i="1" dirty="0"/>
              <a:t>k</a:t>
            </a:r>
            <a:r>
              <a:rPr kumimoji="1" lang="en-US" altLang="zh-CN" sz="2800" dirty="0"/>
              <a:t>)</a:t>
            </a:r>
            <a:r>
              <a:rPr kumimoji="1" lang="en-US" altLang="zh-CN" sz="2800" dirty="0">
                <a:sym typeface="Symbol" panose="05050102010706020507" pitchFamily="18" charset="2"/>
              </a:rPr>
              <a:t></a:t>
            </a:r>
            <a:r>
              <a:rPr kumimoji="1" lang="en-US" altLang="zh-CN" sz="2800" i="1" dirty="0"/>
              <a:t>j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6103121" y="1720851"/>
            <a:ext cx="5688632" cy="4876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procedure FIND(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integer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, </a:t>
            </a:r>
            <a:r>
              <a:rPr lang="en-US" altLang="zh-CN" sz="2400" i="1" dirty="0"/>
              <a:t>k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i="1" dirty="0"/>
              <a:t>    </a:t>
            </a:r>
            <a:r>
              <a:rPr lang="en-US" altLang="zh-CN" sz="2400" i="1" dirty="0" err="1"/>
              <a:t>j</a:t>
            </a:r>
            <a:r>
              <a:rPr lang="en-US" altLang="zh-CN" sz="2400" dirty="0" err="1">
                <a:sym typeface="Symbol" panose="05050102010706020507" pitchFamily="18" charset="2"/>
              </a:rPr>
              <a:t></a:t>
            </a:r>
            <a:r>
              <a:rPr lang="en-US" altLang="zh-CN" sz="2400" i="1" dirty="0" err="1"/>
              <a:t>i</a:t>
            </a:r>
            <a:endParaRPr lang="en-US" altLang="zh-CN" sz="2400" i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while  PARENT(</a:t>
            </a:r>
            <a:r>
              <a:rPr lang="en-US" altLang="zh-CN" sz="2400" i="1" dirty="0"/>
              <a:t>j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</a:t>
            </a:r>
            <a:r>
              <a:rPr lang="en-US" altLang="zh-CN" sz="2400" dirty="0"/>
              <a:t>0 do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    </a:t>
            </a:r>
            <a:r>
              <a:rPr lang="en-US" altLang="zh-CN" sz="2400" i="1" dirty="0"/>
              <a:t>j </a:t>
            </a:r>
            <a:r>
              <a:rPr lang="en-US" altLang="zh-CN" sz="2400" dirty="0">
                <a:sym typeface="Symbol" panose="05050102010706020507" pitchFamily="18" charset="2"/>
              </a:rPr>
              <a:t></a:t>
            </a:r>
            <a:r>
              <a:rPr lang="en-US" altLang="zh-CN" sz="2400" dirty="0"/>
              <a:t>PARENT(</a:t>
            </a:r>
            <a:r>
              <a:rPr lang="en-US" altLang="zh-CN" sz="2400" i="1" dirty="0"/>
              <a:t>j</a:t>
            </a:r>
            <a:r>
              <a:rPr lang="en-US" altLang="zh-CN" sz="240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repeat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i="1" dirty="0"/>
              <a:t>    </a:t>
            </a:r>
            <a:r>
              <a:rPr lang="en-US" altLang="zh-CN" sz="2400" i="1" dirty="0" err="1"/>
              <a:t>k</a:t>
            </a:r>
            <a:r>
              <a:rPr lang="en-US" altLang="zh-CN" sz="2400" dirty="0" err="1">
                <a:sym typeface="Symbol" panose="05050102010706020507" pitchFamily="18" charset="2"/>
              </a:rPr>
              <a:t></a:t>
            </a:r>
            <a:r>
              <a:rPr lang="en-US" altLang="zh-CN" sz="2400" i="1" dirty="0" err="1">
                <a:sym typeface="Symbol" panose="05050102010706020507" pitchFamily="18" charset="2"/>
              </a:rPr>
              <a:t>i</a:t>
            </a:r>
            <a:endParaRPr lang="en-US" altLang="zh-CN" sz="2400" i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while </a:t>
            </a:r>
            <a:r>
              <a:rPr lang="en-US" altLang="zh-CN" sz="2400" i="1" dirty="0" err="1"/>
              <a:t>k</a:t>
            </a:r>
            <a:r>
              <a:rPr lang="en-US" altLang="zh-CN" sz="2400" dirty="0" err="1">
                <a:sym typeface="Symbol" panose="05050102010706020507" pitchFamily="18" charset="2"/>
              </a:rPr>
              <a:t></a:t>
            </a:r>
            <a:r>
              <a:rPr lang="en-US" altLang="zh-CN" sz="2400" i="1" dirty="0" err="1"/>
              <a:t>j</a:t>
            </a:r>
            <a:r>
              <a:rPr lang="en-US" altLang="zh-CN" sz="2400" dirty="0"/>
              <a:t> do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   </a:t>
            </a:r>
            <a:r>
              <a:rPr lang="en-US" altLang="zh-CN" sz="2400" i="1" dirty="0" err="1"/>
              <a:t>t</a:t>
            </a:r>
            <a:r>
              <a:rPr lang="en-US" altLang="zh-CN" sz="2400" dirty="0" err="1">
                <a:sym typeface="Symbol" panose="05050102010706020507" pitchFamily="18" charset="2"/>
              </a:rPr>
              <a:t></a:t>
            </a:r>
            <a:r>
              <a:rPr lang="en-US" altLang="zh-CN" sz="2400" dirty="0" err="1"/>
              <a:t>PARENT</a:t>
            </a:r>
            <a:r>
              <a:rPr lang="en-US" altLang="zh-CN" sz="2400" dirty="0"/>
              <a:t>(</a:t>
            </a:r>
            <a:r>
              <a:rPr lang="en-US" altLang="zh-CN" sz="2400" i="1" dirty="0"/>
              <a:t>k</a:t>
            </a:r>
            <a:r>
              <a:rPr lang="en-US" altLang="zh-CN" sz="2400" dirty="0"/>
              <a:t>); PARENT(</a:t>
            </a:r>
            <a:r>
              <a:rPr lang="en-US" altLang="zh-CN" sz="2400" i="1" dirty="0"/>
              <a:t>k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</a:t>
            </a:r>
            <a:r>
              <a:rPr lang="en-US" altLang="zh-CN" sz="2400" i="1" dirty="0"/>
              <a:t>j</a:t>
            </a:r>
            <a:r>
              <a:rPr lang="en-US" altLang="zh-CN" sz="2400" dirty="0"/>
              <a:t>; </a:t>
            </a:r>
            <a:r>
              <a:rPr lang="en-US" altLang="zh-CN" sz="2400" i="1" dirty="0" err="1"/>
              <a:t>k</a:t>
            </a:r>
            <a:r>
              <a:rPr lang="en-US" altLang="zh-CN" sz="2400" dirty="0" err="1">
                <a:sym typeface="Symbol" panose="05050102010706020507" pitchFamily="18" charset="2"/>
              </a:rPr>
              <a:t></a:t>
            </a:r>
            <a:r>
              <a:rPr lang="en-US" altLang="zh-CN" sz="2400" i="1" dirty="0" err="1"/>
              <a:t>t</a:t>
            </a:r>
            <a:endParaRPr lang="en-US" altLang="zh-CN" sz="2400" i="1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repeat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return </a:t>
            </a:r>
            <a:r>
              <a:rPr lang="en-US" altLang="zh-CN" sz="2400" i="1" dirty="0"/>
              <a:t>j</a:t>
            </a:r>
            <a:endParaRPr lang="en-US" altLang="zh-CN" sz="24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end FIND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38200" y="4437112"/>
            <a:ext cx="3888432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查找结点</a:t>
            </a:r>
            <a:r>
              <a:rPr lang="en-US" altLang="zh-CN" sz="2000" dirty="0" err="1"/>
              <a:t>i</a:t>
            </a:r>
            <a:r>
              <a:rPr lang="zh-CN" altLang="en-US" sz="2000" dirty="0"/>
              <a:t>时，将</a:t>
            </a:r>
            <a:r>
              <a:rPr lang="en-US" altLang="zh-CN" sz="2000" dirty="0" err="1"/>
              <a:t>i</a:t>
            </a:r>
            <a:r>
              <a:rPr lang="zh-CN" altLang="en-US" sz="2000" dirty="0"/>
              <a:t>到根</a:t>
            </a:r>
            <a:r>
              <a:rPr lang="en-US" altLang="zh-CN" sz="2000" dirty="0"/>
              <a:t>j</a:t>
            </a:r>
            <a:r>
              <a:rPr lang="zh-CN" altLang="en-US" sz="2000" dirty="0"/>
              <a:t>路径上的所有结点都直接连到根。经均摊分析，查找的复杂度接近于</a:t>
            </a:r>
            <a:r>
              <a:rPr lang="en-US" altLang="zh-CN" sz="2000" dirty="0"/>
              <a:t>O(1).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集合树的合并操作</a:t>
            </a:r>
            <a:r>
              <a:rPr lang="en-US" altLang="zh-CN" sz="4000" dirty="0"/>
              <a:t>——</a:t>
            </a:r>
            <a:r>
              <a:rPr lang="zh-CN" altLang="en-US" sz="4000" dirty="0"/>
              <a:t>加权规则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90"/>
            <a:ext cx="4897760" cy="274642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dirty="0"/>
              <a:t>合并时使用</a:t>
            </a:r>
            <a:r>
              <a:rPr lang="zh-CN" altLang="en-US" sz="2800" dirty="0">
                <a:solidFill>
                  <a:srgbClr val="FF0000"/>
                </a:solidFill>
              </a:rPr>
              <a:t>加权规则</a:t>
            </a:r>
            <a:r>
              <a:rPr lang="zh-CN" altLang="en-US" sz="2800" dirty="0"/>
              <a:t>：如果树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的结点数少于树</a:t>
            </a:r>
            <a:r>
              <a:rPr lang="en-US" altLang="zh-CN" sz="2800" i="1" dirty="0"/>
              <a:t>j</a:t>
            </a:r>
            <a:r>
              <a:rPr lang="zh-CN" altLang="en-US" sz="2800" dirty="0"/>
              <a:t>的结点数，则</a:t>
            </a:r>
            <a:r>
              <a:rPr lang="en-US" altLang="zh-CN" sz="2800" i="1" dirty="0"/>
              <a:t>j</a:t>
            </a:r>
            <a:r>
              <a:rPr lang="zh-CN" altLang="en-US" sz="2800" dirty="0"/>
              <a:t>为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的父亲，反之，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为</a:t>
            </a:r>
            <a:r>
              <a:rPr lang="en-US" altLang="zh-CN" sz="2800" i="1" dirty="0"/>
              <a:t>j</a:t>
            </a:r>
            <a:r>
              <a:rPr lang="zh-CN" altLang="en-US" sz="2800" dirty="0"/>
              <a:t>的父亲。</a:t>
            </a:r>
            <a:endParaRPr lang="en-US" altLang="zh-CN" sz="2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33</a:t>
            </a:fld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879976" y="1690690"/>
            <a:ext cx="6048672" cy="3653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procedure  UNION(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integer 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, </a:t>
            </a:r>
            <a:r>
              <a:rPr lang="en-US" altLang="zh-CN" sz="2400" i="1" dirty="0"/>
              <a:t>j</a:t>
            </a:r>
            <a:r>
              <a:rPr lang="en-US" altLang="zh-CN" sz="2400" dirty="0"/>
              <a:t>, </a:t>
            </a:r>
            <a:r>
              <a:rPr lang="en-US" altLang="zh-CN" sz="2400" i="1" dirty="0"/>
              <a:t>x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i="1" dirty="0"/>
              <a:t>    </a:t>
            </a:r>
            <a:r>
              <a:rPr lang="en-US" altLang="zh-CN" sz="2400" i="1" dirty="0" err="1"/>
              <a:t>x</a:t>
            </a:r>
            <a:r>
              <a:rPr lang="en-US" altLang="zh-CN" sz="2400" dirty="0" err="1">
                <a:sym typeface="Symbol" panose="05050102010706020507" pitchFamily="18" charset="2"/>
              </a:rPr>
              <a:t></a:t>
            </a:r>
            <a:r>
              <a:rPr lang="en-US" altLang="zh-CN" sz="2400" dirty="0" err="1"/>
              <a:t>PARENT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</a:t>
            </a:r>
            <a:r>
              <a:rPr lang="en-US" altLang="zh-CN" sz="2400" dirty="0"/>
              <a:t>PARENT(</a:t>
            </a:r>
            <a:r>
              <a:rPr lang="en-US" altLang="zh-CN" sz="2400" i="1" dirty="0"/>
              <a:t>j</a:t>
            </a:r>
            <a:r>
              <a:rPr lang="en-US" altLang="zh-CN" sz="2400" dirty="0"/>
              <a:t>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if </a:t>
            </a:r>
            <a:r>
              <a:rPr lang="en-US" altLang="zh-CN" sz="2400" dirty="0">
                <a:solidFill>
                  <a:srgbClr val="FF0000"/>
                </a:solidFill>
              </a:rPr>
              <a:t>PARENT(</a:t>
            </a:r>
            <a:r>
              <a:rPr lang="en-US" altLang="zh-CN" sz="2400" i="1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</a:t>
            </a:r>
            <a:r>
              <a:rPr lang="en-US" altLang="zh-CN" sz="2400" dirty="0">
                <a:solidFill>
                  <a:srgbClr val="FF0000"/>
                </a:solidFill>
              </a:rPr>
              <a:t>PARENT(</a:t>
            </a:r>
            <a:r>
              <a:rPr lang="en-US" altLang="zh-CN" sz="2400" i="1" dirty="0">
                <a:solidFill>
                  <a:srgbClr val="FF0000"/>
                </a:solidFill>
              </a:rPr>
              <a:t>j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      then  PARENT(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</a:t>
            </a:r>
            <a:r>
              <a:rPr lang="en-US" altLang="zh-CN" sz="2400" i="1" dirty="0"/>
              <a:t>j</a:t>
            </a:r>
            <a:r>
              <a:rPr lang="en-US" altLang="zh-CN" sz="2400" dirty="0"/>
              <a:t>; PARENT(</a:t>
            </a:r>
            <a:r>
              <a:rPr lang="en-US" altLang="zh-CN" sz="2400" i="1" dirty="0"/>
              <a:t>j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</a:t>
            </a:r>
            <a:r>
              <a:rPr lang="en-US" altLang="zh-CN" sz="2400" i="1" dirty="0"/>
              <a:t>x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/>
              <a:t>         else  PARENT(</a:t>
            </a:r>
            <a:r>
              <a:rPr lang="en-US" altLang="zh-CN" sz="2400" i="1" dirty="0"/>
              <a:t>j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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;  PARENT(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anose="05050102010706020507" pitchFamily="18" charset="2"/>
              </a:rPr>
              <a:t></a:t>
            </a:r>
            <a:r>
              <a:rPr lang="en-US" altLang="zh-CN" sz="2400" i="1" dirty="0"/>
              <a:t>x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en-US" altLang="zh-CN" sz="2400" dirty="0" err="1"/>
              <a:t>endif</a:t>
            </a:r>
            <a:endParaRPr lang="en-US" altLang="zh-CN" sz="2400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end UNION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4437112"/>
            <a:ext cx="4105672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合并操作的复杂度为</a:t>
            </a:r>
            <a:r>
              <a:rPr lang="en-US" altLang="zh-CN" sz="2000" dirty="0"/>
              <a:t>O(1)</a:t>
            </a:r>
            <a:r>
              <a:rPr lang="zh-CN" altLang="en-US" sz="2000" dirty="0"/>
              <a:t>。合并时，将结点数少的树往结点数多的树上合并。这样，生成的新树更矮，有利于提高查找效率。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集合树的操作总结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FF0000"/>
                </a:solidFill>
              </a:rPr>
              <a:t>FIND(</a:t>
            </a:r>
            <a:r>
              <a:rPr lang="en-US" altLang="zh-CN" sz="2800" i="1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/>
            <a:r>
              <a:rPr kumimoji="1" lang="zh-CN" altLang="en-US" sz="2800" dirty="0"/>
              <a:t>找到结点</a:t>
            </a:r>
            <a:r>
              <a:rPr kumimoji="1" lang="en-US" altLang="zh-CN" sz="2800" i="1" dirty="0" err="1"/>
              <a:t>i</a:t>
            </a:r>
            <a:r>
              <a:rPr kumimoji="1" lang="zh-CN" altLang="en-US" sz="2800" dirty="0"/>
              <a:t>所在树的树根</a:t>
            </a:r>
            <a:r>
              <a:rPr kumimoji="1" lang="en-US" altLang="zh-CN" sz="2800" i="1" dirty="0"/>
              <a:t>j</a:t>
            </a:r>
            <a:r>
              <a:rPr kumimoji="1" lang="zh-CN" altLang="en-US" sz="2800" dirty="0"/>
              <a:t>，并且将从结点</a:t>
            </a:r>
            <a:r>
              <a:rPr kumimoji="1" lang="en-US" altLang="zh-CN" sz="2800" i="1" dirty="0" err="1"/>
              <a:t>i</a:t>
            </a:r>
            <a:r>
              <a:rPr kumimoji="1" lang="zh-CN" altLang="en-US" sz="2800" dirty="0"/>
              <a:t>到树根</a:t>
            </a:r>
            <a:r>
              <a:rPr kumimoji="1" lang="en-US" altLang="zh-CN" sz="2800" i="1" dirty="0"/>
              <a:t>j</a:t>
            </a:r>
            <a:r>
              <a:rPr kumimoji="1" lang="zh-CN" altLang="en-US" sz="2800" dirty="0"/>
              <a:t>的路径上所有结点</a:t>
            </a:r>
            <a:r>
              <a:rPr kumimoji="1" lang="en-US" altLang="zh-CN" sz="2800" i="1" dirty="0"/>
              <a:t>k</a:t>
            </a:r>
            <a:r>
              <a:rPr kumimoji="1" lang="zh-CN" altLang="en-US" sz="2800" dirty="0"/>
              <a:t>的</a:t>
            </a:r>
            <a:r>
              <a:rPr kumimoji="1" lang="en-US" altLang="zh-CN" sz="2800" dirty="0"/>
              <a:t>PARENT(</a:t>
            </a:r>
            <a:r>
              <a:rPr kumimoji="1" lang="en-US" altLang="zh-CN" sz="2800" i="1" dirty="0"/>
              <a:t>k</a:t>
            </a:r>
            <a:r>
              <a:rPr kumimoji="1" lang="en-US" altLang="zh-CN" sz="2800" dirty="0"/>
              <a:t>)</a:t>
            </a:r>
            <a:r>
              <a:rPr kumimoji="1" lang="zh-CN" altLang="en-US" sz="2800" dirty="0"/>
              <a:t>都变为</a:t>
            </a:r>
            <a:r>
              <a:rPr kumimoji="1" lang="en-US" altLang="zh-CN" sz="2800" i="1" dirty="0"/>
              <a:t>j</a:t>
            </a:r>
            <a:r>
              <a:rPr kumimoji="1" lang="zh-CN" altLang="en-US" sz="2800" dirty="0"/>
              <a:t>，并返回根节点</a:t>
            </a:r>
            <a:r>
              <a:rPr kumimoji="1" lang="en-US" altLang="zh-CN" sz="2800" i="1" dirty="0"/>
              <a:t>j</a:t>
            </a:r>
            <a:endParaRPr lang="en-US" altLang="zh-CN" sz="2800" dirty="0"/>
          </a:p>
          <a:p>
            <a:r>
              <a:rPr lang="en-US" altLang="zh-CN" sz="2800" dirty="0">
                <a:solidFill>
                  <a:srgbClr val="FF0000"/>
                </a:solidFill>
              </a:rPr>
              <a:t>UNION(</a:t>
            </a:r>
            <a:r>
              <a:rPr lang="en-US" altLang="zh-CN" sz="2800" i="1" dirty="0" err="1">
                <a:solidFill>
                  <a:srgbClr val="FF0000"/>
                </a:solidFill>
              </a:rPr>
              <a:t>i</a:t>
            </a:r>
            <a:r>
              <a:rPr lang="en-US" altLang="zh-CN" sz="2800" dirty="0">
                <a:solidFill>
                  <a:srgbClr val="FF0000"/>
                </a:solidFill>
              </a:rPr>
              <a:t>, </a:t>
            </a:r>
            <a:r>
              <a:rPr lang="en-US" altLang="zh-CN" sz="2800" i="1" dirty="0">
                <a:solidFill>
                  <a:srgbClr val="FF0000"/>
                </a:solidFill>
              </a:rPr>
              <a:t>j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/>
            <a:r>
              <a:rPr kumimoji="1" lang="zh-CN" altLang="en-US" sz="2800" dirty="0"/>
              <a:t>将以</a:t>
            </a:r>
            <a:r>
              <a:rPr kumimoji="1" lang="en-US" altLang="zh-CN" sz="2800" i="1" dirty="0" err="1"/>
              <a:t>i</a:t>
            </a:r>
            <a:r>
              <a:rPr kumimoji="1" lang="zh-CN" altLang="en-US" sz="2800" dirty="0"/>
              <a:t>和</a:t>
            </a:r>
            <a:r>
              <a:rPr kumimoji="1" lang="en-US" altLang="zh-CN" sz="2800" i="1" dirty="0"/>
              <a:t>j</a:t>
            </a:r>
            <a:r>
              <a:rPr kumimoji="1" lang="zh-CN" altLang="en-US" sz="2800" dirty="0"/>
              <a:t>为根的两棵树合并为一棵树，根据加权规则，</a:t>
            </a:r>
            <a:r>
              <a:rPr lang="zh-CN" altLang="en-US" sz="2800" dirty="0"/>
              <a:t>如果树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的结点数少于树</a:t>
            </a:r>
            <a:r>
              <a:rPr lang="en-US" altLang="zh-CN" sz="2800" i="1" dirty="0"/>
              <a:t>j</a:t>
            </a:r>
            <a:r>
              <a:rPr lang="zh-CN" altLang="en-US" sz="2800" dirty="0"/>
              <a:t>的结点数，则</a:t>
            </a:r>
            <a:r>
              <a:rPr lang="en-US" altLang="zh-CN" sz="2800" i="1" dirty="0"/>
              <a:t>j</a:t>
            </a:r>
            <a:r>
              <a:rPr lang="zh-CN" altLang="en-US" sz="2800" dirty="0"/>
              <a:t>为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的父亲，反之，</a:t>
            </a:r>
            <a:r>
              <a:rPr lang="en-US" altLang="zh-CN" sz="2800" i="1" dirty="0" err="1"/>
              <a:t>i</a:t>
            </a:r>
            <a:r>
              <a:rPr lang="zh-CN" altLang="en-US" sz="2800" dirty="0"/>
              <a:t>为</a:t>
            </a:r>
            <a:r>
              <a:rPr lang="en-US" altLang="zh-CN" sz="2800" i="1" dirty="0"/>
              <a:t>j</a:t>
            </a:r>
            <a:r>
              <a:rPr lang="zh-CN" altLang="en-US" sz="2800" dirty="0"/>
              <a:t>的父亲</a:t>
            </a:r>
          </a:p>
          <a:p>
            <a:pPr>
              <a:lnSpc>
                <a:spcPct val="120000"/>
              </a:lnSpc>
              <a:buNone/>
            </a:pPr>
            <a:endParaRPr lang="zh-CN" altLang="en-US" sz="2800" dirty="0"/>
          </a:p>
          <a:p>
            <a:pPr>
              <a:lnSpc>
                <a:spcPct val="120000"/>
              </a:lnSpc>
              <a:buNone/>
            </a:pPr>
            <a:endParaRPr kumimoji="1" lang="en-US" altLang="zh-CN" sz="28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算法</a:t>
            </a:r>
            <a:r>
              <a:rPr lang="en-US" altLang="zh-CN" sz="4000" dirty="0"/>
              <a:t>5.5</a:t>
            </a:r>
            <a:r>
              <a:rPr lang="zh-CN" altLang="en-US" sz="4000" dirty="0"/>
              <a:t>设计思想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28800"/>
            <a:ext cx="10515600" cy="4351338"/>
          </a:xfrm>
        </p:spPr>
        <p:txBody>
          <a:bodyPr/>
          <a:lstStyle/>
          <a:p>
            <a:r>
              <a:rPr lang="zh-CN" altLang="en-US" sz="2600" dirty="0"/>
              <a:t>变量定义</a:t>
            </a:r>
            <a:endParaRPr lang="en-US" altLang="zh-CN" sz="2600" dirty="0"/>
          </a:p>
          <a:p>
            <a:pPr lvl="1"/>
            <a:r>
              <a:rPr lang="en-US" altLang="zh-CN" sz="2600" dirty="0">
                <a:solidFill>
                  <a:srgbClr val="FF0000"/>
                </a:solidFill>
              </a:rPr>
              <a:t>b</a:t>
            </a:r>
            <a:r>
              <a:rPr lang="en-US" altLang="zh-CN" sz="2600" dirty="0"/>
              <a:t>=min{</a:t>
            </a:r>
            <a:r>
              <a:rPr lang="en-US" altLang="zh-CN" sz="2600" dirty="0" err="1"/>
              <a:t>n,max</a:t>
            </a:r>
            <a:r>
              <a:rPr lang="en-US" altLang="zh-CN" sz="2600" dirty="0"/>
              <a:t>{</a:t>
            </a:r>
            <a:r>
              <a:rPr lang="en-US" altLang="zh-CN" sz="2600" dirty="0" err="1"/>
              <a:t>d</a:t>
            </a:r>
            <a:r>
              <a:rPr lang="en-US" altLang="zh-CN" sz="2600" baseline="-25000" dirty="0" err="1"/>
              <a:t>j</a:t>
            </a:r>
            <a:r>
              <a:rPr lang="en-US" altLang="zh-CN" sz="2600" dirty="0"/>
              <a:t>}}</a:t>
            </a:r>
            <a:r>
              <a:rPr lang="zh-CN" altLang="en-US" sz="2600" dirty="0"/>
              <a:t>，分配的时间片范围，数组的规模。</a:t>
            </a:r>
            <a:endParaRPr lang="en-US" altLang="zh-CN" sz="2600" dirty="0"/>
          </a:p>
          <a:p>
            <a:pPr lvl="1"/>
            <a:r>
              <a:rPr lang="zh-CN" altLang="en-US" sz="2600" dirty="0"/>
              <a:t>数组</a:t>
            </a:r>
            <a:r>
              <a:rPr lang="en-US" altLang="zh-CN" sz="2600" dirty="0">
                <a:solidFill>
                  <a:srgbClr val="FF0000"/>
                </a:solidFill>
              </a:rPr>
              <a:t>P</a:t>
            </a:r>
            <a:r>
              <a:rPr lang="zh-CN" altLang="en-US" sz="2600" dirty="0"/>
              <a:t>，模拟集合树，节点</a:t>
            </a:r>
            <a:r>
              <a:rPr lang="en-US" altLang="zh-CN" sz="2600" dirty="0" err="1"/>
              <a:t>i</a:t>
            </a:r>
            <a:r>
              <a:rPr lang="zh-CN" altLang="en-US" sz="2600" dirty="0"/>
              <a:t>对应期限值</a:t>
            </a:r>
            <a:r>
              <a:rPr lang="en-US" altLang="zh-CN" sz="2600" dirty="0" err="1"/>
              <a:t>i</a:t>
            </a:r>
            <a:r>
              <a:rPr lang="zh-CN" altLang="en-US" sz="2600" dirty="0"/>
              <a:t>，若</a:t>
            </a:r>
            <a:r>
              <a:rPr lang="en-US" altLang="zh-CN" sz="2600" dirty="0"/>
              <a:t>P(</a:t>
            </a:r>
            <a:r>
              <a:rPr lang="en-US" altLang="zh-CN" sz="2600" dirty="0" err="1"/>
              <a:t>i</a:t>
            </a:r>
            <a:r>
              <a:rPr lang="en-US" altLang="zh-CN" sz="2600" dirty="0"/>
              <a:t>)&lt;0, </a:t>
            </a:r>
            <a:r>
              <a:rPr lang="zh-CN" altLang="en-US" sz="2600" dirty="0"/>
              <a:t>则</a:t>
            </a:r>
            <a:r>
              <a:rPr lang="en-US" altLang="zh-CN" sz="2600" dirty="0" err="1"/>
              <a:t>i</a:t>
            </a:r>
            <a:r>
              <a:rPr lang="zh-CN" altLang="en-US" sz="2600" dirty="0"/>
              <a:t>是根节点，否则，是节点</a:t>
            </a:r>
            <a:r>
              <a:rPr lang="en-US" altLang="zh-CN" sz="2600" dirty="0" err="1"/>
              <a:t>i</a:t>
            </a:r>
            <a:r>
              <a:rPr lang="zh-CN" altLang="en-US" sz="2600" dirty="0"/>
              <a:t>的父节点下标</a:t>
            </a:r>
            <a:endParaRPr lang="en-US" altLang="zh-CN" sz="2600" dirty="0"/>
          </a:p>
          <a:p>
            <a:pPr lvl="1"/>
            <a:r>
              <a:rPr lang="zh-CN" altLang="en-US" sz="2600" dirty="0"/>
              <a:t>数组</a:t>
            </a:r>
            <a:r>
              <a:rPr lang="en-US" altLang="zh-CN" sz="2600" dirty="0">
                <a:solidFill>
                  <a:srgbClr val="FF0000"/>
                </a:solidFill>
              </a:rPr>
              <a:t>F</a:t>
            </a:r>
            <a:r>
              <a:rPr lang="zh-CN" altLang="en-US" sz="2600" dirty="0"/>
              <a:t>，</a:t>
            </a:r>
            <a:r>
              <a:rPr lang="en-US" altLang="zh-CN" sz="2600" dirty="0"/>
              <a:t>F(</a:t>
            </a:r>
            <a:r>
              <a:rPr lang="en-US" altLang="zh-CN" sz="2600" dirty="0" err="1"/>
              <a:t>i</a:t>
            </a:r>
            <a:r>
              <a:rPr lang="en-US" altLang="zh-CN" sz="2600" dirty="0"/>
              <a:t>)</a:t>
            </a:r>
            <a:r>
              <a:rPr lang="zh-CN" altLang="en-US" sz="2600" dirty="0"/>
              <a:t>表示期限值为</a:t>
            </a:r>
            <a:r>
              <a:rPr lang="en-US" altLang="zh-CN" sz="2600" dirty="0" err="1"/>
              <a:t>i</a:t>
            </a:r>
            <a:r>
              <a:rPr lang="zh-CN" altLang="en-US" sz="2600" dirty="0"/>
              <a:t>的作业当前可用的最大时间片，</a:t>
            </a:r>
            <a:r>
              <a:rPr lang="en-US" altLang="zh-CN" sz="2600" dirty="0" err="1"/>
              <a:t>i</a:t>
            </a:r>
            <a:r>
              <a:rPr lang="zh-CN" altLang="en-US" sz="2600" dirty="0"/>
              <a:t>在</a:t>
            </a:r>
            <a:r>
              <a:rPr lang="en-US" altLang="zh-CN" sz="2600" dirty="0"/>
              <a:t>P</a:t>
            </a:r>
            <a:r>
              <a:rPr lang="zh-CN" altLang="en-US" sz="2600" dirty="0"/>
              <a:t>中是根节点时</a:t>
            </a:r>
            <a:r>
              <a:rPr lang="en-US" altLang="zh-CN" sz="2600" dirty="0"/>
              <a:t>(P(</a:t>
            </a:r>
            <a:r>
              <a:rPr lang="en-US" altLang="zh-CN" sz="2600" dirty="0" err="1"/>
              <a:t>i</a:t>
            </a:r>
            <a:r>
              <a:rPr lang="en-US" altLang="zh-CN" sz="2600" dirty="0"/>
              <a:t>)&lt;0)</a:t>
            </a:r>
            <a:r>
              <a:rPr lang="zh-CN" altLang="en-US" sz="2600" dirty="0"/>
              <a:t>，该数据有效。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7686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925" y="132589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算法</a:t>
            </a:r>
            <a:r>
              <a:rPr lang="en-US" altLang="zh-CN" sz="4000" dirty="0"/>
              <a:t>5.5</a:t>
            </a:r>
            <a:r>
              <a:rPr lang="zh-CN" altLang="en-US" sz="4000" dirty="0"/>
              <a:t>设计思想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95400" y="1379978"/>
            <a:ext cx="10513168" cy="4976373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200" dirty="0"/>
              <a:t>初始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p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≥ p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… ≥ </a:t>
            </a:r>
            <a:r>
              <a:rPr lang="en-US" altLang="zh-CN" sz="2200" dirty="0" err="1"/>
              <a:t>p</a:t>
            </a:r>
            <a:r>
              <a:rPr lang="en-US" altLang="zh-CN" sz="2200" baseline="-25000" dirty="0" err="1"/>
              <a:t>n</a:t>
            </a:r>
            <a:endParaRPr lang="en-US" altLang="zh-CN" sz="2200" baseline="-250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b=min{</a:t>
            </a:r>
            <a:r>
              <a:rPr lang="en-US" altLang="zh-CN" sz="2200" dirty="0" err="1"/>
              <a:t>n,max</a:t>
            </a:r>
            <a:r>
              <a:rPr lang="en-US" altLang="zh-CN" sz="2200" dirty="0"/>
              <a:t>{</a:t>
            </a:r>
            <a:r>
              <a:rPr lang="en-US" altLang="zh-CN" sz="2200" dirty="0" err="1"/>
              <a:t>d</a:t>
            </a:r>
            <a:r>
              <a:rPr lang="en-US" altLang="zh-CN" sz="2200" baseline="-25000" dirty="0" err="1"/>
              <a:t>j</a:t>
            </a:r>
            <a:r>
              <a:rPr lang="en-US" altLang="zh-CN" sz="2200" dirty="0"/>
              <a:t>}}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F(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) ← </a:t>
            </a:r>
            <a:r>
              <a:rPr lang="en-US" altLang="zh-CN" sz="2200" dirty="0" err="1"/>
              <a:t>i</a:t>
            </a:r>
            <a:endParaRPr lang="en-US" altLang="zh-CN" sz="22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dirty="0"/>
              <a:t>P(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) ← -1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200" dirty="0"/>
              <a:t>依次检验每个作业</a:t>
            </a:r>
            <a:r>
              <a:rPr lang="en-US" altLang="zh-CN" sz="2200" dirty="0"/>
              <a:t>w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寻找</a:t>
            </a:r>
            <a:r>
              <a:rPr lang="en-US" altLang="zh-CN" sz="2200" dirty="0"/>
              <a:t>D(w)</a:t>
            </a:r>
            <a:r>
              <a:rPr lang="zh-CN" altLang="en-US" sz="2200" dirty="0"/>
              <a:t>所在树的根节点</a:t>
            </a:r>
            <a:r>
              <a:rPr lang="en-US" altLang="zh-CN" sz="2200" dirty="0"/>
              <a:t>j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如果</a:t>
            </a:r>
            <a:r>
              <a:rPr lang="en-US" altLang="zh-CN" sz="2200" dirty="0"/>
              <a:t>F(j) ≠0</a:t>
            </a:r>
            <a:r>
              <a:rPr lang="zh-CN" altLang="en-US" sz="2200" dirty="0"/>
              <a:t>， </a:t>
            </a:r>
            <a:r>
              <a:rPr lang="en-US" altLang="zh-CN" sz="2200" dirty="0"/>
              <a:t>F(j)</a:t>
            </a:r>
            <a:r>
              <a:rPr lang="zh-CN" altLang="en-US" sz="2200" dirty="0"/>
              <a:t>时间片可以分配给作业</a:t>
            </a:r>
            <a:r>
              <a:rPr lang="en-US" altLang="zh-CN" sz="2200" dirty="0"/>
              <a:t>w </a:t>
            </a:r>
            <a:r>
              <a:rPr lang="zh-CN" altLang="en-US" sz="2200" dirty="0"/>
              <a:t>，因此，将</a:t>
            </a:r>
            <a:r>
              <a:rPr lang="en-US" altLang="zh-CN" sz="2200" dirty="0"/>
              <a:t>w</a:t>
            </a:r>
            <a:r>
              <a:rPr lang="zh-CN" altLang="en-US" sz="2200" dirty="0"/>
              <a:t>并入到解集合</a:t>
            </a:r>
            <a:r>
              <a:rPr lang="en-US" altLang="zh-CN" sz="2200" dirty="0"/>
              <a:t>J</a:t>
            </a:r>
            <a:r>
              <a:rPr lang="zh-CN" altLang="en-US" sz="2200" dirty="0"/>
              <a:t>中，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200" dirty="0"/>
              <a:t>更新</a:t>
            </a:r>
            <a:r>
              <a:rPr lang="en-US" altLang="zh-CN" sz="2200" dirty="0"/>
              <a:t>F</a:t>
            </a:r>
            <a:r>
              <a:rPr lang="zh-CN" altLang="en-US" sz="2200" dirty="0"/>
              <a:t>：寻找</a:t>
            </a:r>
            <a:r>
              <a:rPr lang="en-US" altLang="zh-CN" sz="2200" dirty="0"/>
              <a:t>F(j)-1</a:t>
            </a:r>
            <a:r>
              <a:rPr lang="zh-CN" altLang="en-US" sz="2200" dirty="0"/>
              <a:t>所在树的根节点</a:t>
            </a:r>
            <a:r>
              <a:rPr lang="en-US" altLang="zh-CN" sz="2200" dirty="0"/>
              <a:t>l</a:t>
            </a:r>
            <a:r>
              <a:rPr lang="zh-CN" altLang="en-US" sz="2200" dirty="0"/>
              <a:t>，将</a:t>
            </a:r>
            <a:r>
              <a:rPr lang="en-US" altLang="zh-CN" sz="2200" dirty="0"/>
              <a:t>l</a:t>
            </a:r>
            <a:r>
              <a:rPr lang="zh-CN" altLang="en-US" sz="2200" dirty="0"/>
              <a:t>和</a:t>
            </a:r>
            <a:r>
              <a:rPr lang="en-US" altLang="zh-CN" sz="2200" dirty="0"/>
              <a:t>j</a:t>
            </a:r>
            <a:r>
              <a:rPr lang="zh-CN" altLang="en-US" sz="2200" dirty="0"/>
              <a:t>所在的两棵树合并，令</a:t>
            </a:r>
            <a:r>
              <a:rPr lang="en-US" altLang="zh-CN" sz="2200" dirty="0"/>
              <a:t>F(j) ← F(l)</a:t>
            </a:r>
            <a:r>
              <a:rPr lang="zh-CN" altLang="en-US" sz="2200" dirty="0"/>
              <a:t>。</a:t>
            </a:r>
            <a:endParaRPr lang="en-US" altLang="zh-CN" sz="2200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633018" y="3616545"/>
            <a:ext cx="2907556" cy="503237"/>
          </a:xfrm>
          <a:prstGeom prst="wedgeRoundRectCallout">
            <a:avLst>
              <a:gd name="adj1" fmla="val -49016"/>
              <a:gd name="adj2" fmla="val 87878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j ←FIND(min(n, D(w)))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7759156" y="3926680"/>
            <a:ext cx="2223044" cy="503238"/>
          </a:xfrm>
          <a:prstGeom prst="wedgeRoundRectCallout">
            <a:avLst>
              <a:gd name="adj1" fmla="val -60394"/>
              <a:gd name="adj2" fmla="val 117719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k ←k+1;J(k) ←w;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3431704" y="5774938"/>
            <a:ext cx="3888432" cy="503237"/>
          </a:xfrm>
          <a:prstGeom prst="wedgeRoundRectCallout">
            <a:avLst>
              <a:gd name="adj1" fmla="val 30231"/>
              <a:gd name="adj2" fmla="val -128886"/>
              <a:gd name="adj3" fmla="val 16667"/>
            </a:avLst>
          </a:prstGeom>
          <a:solidFill>
            <a:schemeClr val="bg1"/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zh-CN" sz="2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l←FIND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(F(j)-1);call UNION(</a:t>
            </a:r>
            <a:r>
              <a:rPr lang="en-US" altLang="zh-CN" sz="2000" dirty="0" err="1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l,j</a:t>
            </a:r>
            <a:r>
              <a:rPr lang="en-US" altLang="zh-CN" sz="20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);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807968" y="1638135"/>
            <a:ext cx="5400600" cy="9987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使用压缩规则的</a:t>
            </a:r>
            <a:r>
              <a:rPr lang="zh-CN" altLang="en-US" sz="2400" dirty="0">
                <a:solidFill>
                  <a:srgbClr val="FF0000"/>
                </a:solidFill>
              </a:rPr>
              <a:t>查找算法</a:t>
            </a:r>
            <a:r>
              <a:rPr lang="en-US" altLang="zh-CN" sz="2400" dirty="0">
                <a:solidFill>
                  <a:srgbClr val="FF0000"/>
                </a:solidFill>
              </a:rPr>
              <a:t>FIND(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</a:p>
          <a:p>
            <a:r>
              <a:rPr lang="zh-CN" altLang="en-US" sz="2400" dirty="0"/>
              <a:t>使用加权规则的</a:t>
            </a:r>
            <a:r>
              <a:rPr lang="zh-CN" altLang="en-US" sz="2400" dirty="0">
                <a:solidFill>
                  <a:srgbClr val="FF0000"/>
                </a:solidFill>
              </a:rPr>
              <a:t>合并算法</a:t>
            </a:r>
            <a:r>
              <a:rPr lang="en-US" altLang="zh-CN" sz="2400" dirty="0">
                <a:solidFill>
                  <a:srgbClr val="FF0000"/>
                </a:solidFill>
              </a:rPr>
              <a:t>UNION(</a:t>
            </a:r>
            <a:r>
              <a:rPr lang="en-US" altLang="zh-CN" sz="2400" dirty="0" err="1">
                <a:solidFill>
                  <a:srgbClr val="FF0000"/>
                </a:solidFill>
              </a:rPr>
              <a:t>i,j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616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188640"/>
            <a:ext cx="10515600" cy="97564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算法</a:t>
            </a:r>
            <a:r>
              <a:rPr lang="en-US" altLang="zh-CN" sz="4000" dirty="0"/>
              <a:t>5.5 </a:t>
            </a:r>
            <a:r>
              <a:rPr kumimoji="1" lang="zh-CN" altLang="en-US" sz="4000" dirty="0"/>
              <a:t>基于集合树的贪心算法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876636" y="1167746"/>
            <a:ext cx="10153128" cy="5373836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procedure FJS(</a:t>
            </a:r>
            <a:r>
              <a:rPr lang="en-US" altLang="zh-CN" sz="2400" dirty="0" err="1"/>
              <a:t>D,n,b,J,k</a:t>
            </a:r>
            <a:r>
              <a:rPr lang="en-US" altLang="zh-CN" sz="2400" dirty="0"/>
              <a:t>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// </a:t>
            </a:r>
            <a:r>
              <a:rPr lang="zh-CN" altLang="en-US" sz="2400" dirty="0"/>
              <a:t>找最优解</a:t>
            </a:r>
            <a:r>
              <a:rPr lang="en-US" altLang="zh-CN" sz="2400" dirty="0"/>
              <a:t>J=J(1),…,J(k)</a:t>
            </a:r>
            <a:r>
              <a:rPr lang="zh-CN" altLang="en-US" sz="2400" dirty="0"/>
              <a:t>，已知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≥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… ≥ </a:t>
            </a: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n</a:t>
            </a:r>
            <a:r>
              <a:rPr lang="en-US" altLang="zh-CN" sz="2400" dirty="0"/>
              <a:t>, b=min{</a:t>
            </a:r>
            <a:r>
              <a:rPr lang="en-US" altLang="zh-CN" sz="2400" dirty="0" err="1"/>
              <a:t>n,max</a:t>
            </a:r>
            <a:r>
              <a:rPr lang="en-US" altLang="zh-CN" sz="2400" dirty="0"/>
              <a:t>{</a:t>
            </a:r>
            <a:r>
              <a:rPr lang="en-US" altLang="zh-CN" sz="2400" dirty="0" err="1"/>
              <a:t>d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}}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integer b, D(n), J(n), F(0:b), P(0:b)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en-US" altLang="zh-CN" sz="2400" dirty="0"/>
              <a:t>←0 to </a:t>
            </a: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en-US" altLang="zh-CN" sz="2400" dirty="0"/>
              <a:t> do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F(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←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P(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 ← -1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repeat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k← 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←1 to n do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chemeClr val="tx2"/>
                </a:solidFill>
              </a:rPr>
              <a:t>j</a:t>
            </a:r>
            <a:r>
              <a:rPr lang="en-US" altLang="zh-CN" sz="2400" dirty="0"/>
              <a:t>← FIND(min(n, D(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)))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if F(j) ≠0 then k ←k+1;J(k) ←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</a:t>
            </a:r>
            <a:r>
              <a:rPr lang="en-US" altLang="zh-CN" sz="2400" dirty="0" err="1"/>
              <a:t>l←FIND</a:t>
            </a:r>
            <a:r>
              <a:rPr lang="en-US" altLang="zh-CN" sz="2400" dirty="0"/>
              <a:t>(F(j)-1);call UNION(</a:t>
            </a:r>
            <a:r>
              <a:rPr lang="en-US" altLang="zh-CN" sz="2400" dirty="0" err="1"/>
              <a:t>l,j</a:t>
            </a:r>
            <a:r>
              <a:rPr lang="en-US" altLang="zh-CN" sz="2400" dirty="0"/>
              <a:t>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F(j) ← F(l)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endif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repeat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End FJS</a:t>
            </a:r>
          </a:p>
        </p:txBody>
      </p:sp>
    </p:spTree>
    <p:extLst>
      <p:ext uri="{BB962C8B-B14F-4D97-AF65-F5344CB8AC3E}">
        <p14:creationId xmlns:p14="http://schemas.microsoft.com/office/powerpoint/2010/main" val="2919407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528284" y="157164"/>
            <a:ext cx="8229600" cy="969356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算法示例</a:t>
            </a:r>
            <a:endParaRPr lang="en-US" altLang="zh-CN" sz="4000" dirty="0"/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>
          <a:xfrm>
            <a:off x="623392" y="1112452"/>
            <a:ext cx="5504534" cy="165735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sz="2400" dirty="0"/>
              <a:t>设</a:t>
            </a:r>
            <a:r>
              <a:rPr lang="en-US" altLang="zh-CN" sz="2400" dirty="0"/>
              <a:t>n=7</a:t>
            </a:r>
            <a:r>
              <a:rPr lang="zh-CN" altLang="en-US" sz="2400" dirty="0"/>
              <a:t>，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)=(35,30,25,20,15,10,5)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…,d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)=(4,2,4,3,4,8,3)</a:t>
            </a:r>
          </a:p>
        </p:txBody>
      </p:sp>
      <p:graphicFrame>
        <p:nvGraphicFramePr>
          <p:cNvPr id="51383" name="Object 1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155886"/>
              </p:ext>
            </p:extLst>
          </p:nvPr>
        </p:nvGraphicFramePr>
        <p:xfrm>
          <a:off x="9696450" y="3355032"/>
          <a:ext cx="26828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835" imgH="202936" progId="Equation.DSMT4">
                  <p:embed/>
                </p:oleObj>
              </mc:Choice>
              <mc:Fallback>
                <p:oleObj name="Equation" r:id="rId2" imgW="126835" imgH="202936" progId="Equation.DSMT4">
                  <p:embed/>
                  <p:pic>
                    <p:nvPicPr>
                      <p:cNvPr id="0" name="Object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50" y="3355032"/>
                        <a:ext cx="268288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4" name="Text Box 214"/>
          <p:cNvSpPr txBox="1">
            <a:spLocks noChangeArrowheads="1"/>
          </p:cNvSpPr>
          <p:nvPr/>
        </p:nvSpPr>
        <p:spPr bwMode="auto">
          <a:xfrm>
            <a:off x="1055440" y="2564904"/>
            <a:ext cx="660400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考虑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作业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411" name="Text Box 211"/>
          <p:cNvSpPr txBox="1">
            <a:spLocks noChangeArrowheads="1"/>
          </p:cNvSpPr>
          <p:nvPr/>
        </p:nvSpPr>
        <p:spPr bwMode="auto">
          <a:xfrm>
            <a:off x="6898524" y="2687101"/>
            <a:ext cx="731222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树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P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1410" name="Text Box 210"/>
          <p:cNvSpPr txBox="1">
            <a:spLocks noChangeArrowheads="1"/>
          </p:cNvSpPr>
          <p:nvPr/>
        </p:nvSpPr>
        <p:spPr bwMode="auto">
          <a:xfrm>
            <a:off x="9757420" y="2708920"/>
            <a:ext cx="227012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000" b="0" dirty="0"/>
          </a:p>
        </p:txBody>
      </p:sp>
      <p:sp>
        <p:nvSpPr>
          <p:cNvPr id="51409" name="Text Box 209"/>
          <p:cNvSpPr txBox="1">
            <a:spLocks noChangeArrowheads="1"/>
          </p:cNvSpPr>
          <p:nvPr/>
        </p:nvSpPr>
        <p:spPr bwMode="auto">
          <a:xfrm>
            <a:off x="1207562" y="3415718"/>
            <a:ext cx="3412922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无</a:t>
            </a:r>
            <a:r>
              <a:rPr lang="zh-CN" altLang="en-US" sz="2000" b="0" dirty="0">
                <a:cs typeface="Arial" panose="020B0604020202020204" pitchFamily="34" charset="0"/>
              </a:rPr>
              <a:t>         </a:t>
            </a:r>
            <a:r>
              <a:rPr lang="en-US" altLang="zh-CN" sz="2000" b="0" dirty="0">
                <a:cs typeface="Arial" panose="020B0604020202020204" pitchFamily="34" charset="0"/>
              </a:rPr>
              <a:t>0  1  2  3  4  5   6  7</a:t>
            </a:r>
          </a:p>
        </p:txBody>
      </p:sp>
      <p:grpSp>
        <p:nvGrpSpPr>
          <p:cNvPr id="2" name="Group 184"/>
          <p:cNvGrpSpPr>
            <a:grpSpLocks/>
          </p:cNvGrpSpPr>
          <p:nvPr/>
        </p:nvGrpSpPr>
        <p:grpSpPr bwMode="auto">
          <a:xfrm>
            <a:off x="4924449" y="3074045"/>
            <a:ext cx="3979863" cy="713913"/>
            <a:chOff x="6314" y="1935"/>
            <a:chExt cx="3252" cy="645"/>
          </a:xfrm>
        </p:grpSpPr>
        <p:grpSp>
          <p:nvGrpSpPr>
            <p:cNvPr id="63531" name="Group 206"/>
            <p:cNvGrpSpPr>
              <a:grpSpLocks/>
            </p:cNvGrpSpPr>
            <p:nvPr/>
          </p:nvGrpSpPr>
          <p:grpSpPr bwMode="auto">
            <a:xfrm>
              <a:off x="6314" y="1935"/>
              <a:ext cx="358" cy="645"/>
              <a:chOff x="7362" y="2505"/>
              <a:chExt cx="358" cy="645"/>
            </a:xfrm>
          </p:grpSpPr>
          <p:sp>
            <p:nvSpPr>
              <p:cNvPr id="63553" name="Oval 208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54" name="Text Box 207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63532" name="Group 203"/>
            <p:cNvGrpSpPr>
              <a:grpSpLocks/>
            </p:cNvGrpSpPr>
            <p:nvPr/>
          </p:nvGrpSpPr>
          <p:grpSpPr bwMode="auto">
            <a:xfrm>
              <a:off x="6718" y="1935"/>
              <a:ext cx="358" cy="645"/>
              <a:chOff x="7362" y="2505"/>
              <a:chExt cx="358" cy="645"/>
            </a:xfrm>
          </p:grpSpPr>
          <p:sp>
            <p:nvSpPr>
              <p:cNvPr id="63551" name="Oval 205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52" name="Text Box 204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63533" name="Group 200"/>
            <p:cNvGrpSpPr>
              <a:grpSpLocks/>
            </p:cNvGrpSpPr>
            <p:nvPr/>
          </p:nvGrpSpPr>
          <p:grpSpPr bwMode="auto">
            <a:xfrm>
              <a:off x="7138" y="1935"/>
              <a:ext cx="358" cy="645"/>
              <a:chOff x="7362" y="2505"/>
              <a:chExt cx="358" cy="645"/>
            </a:xfrm>
          </p:grpSpPr>
          <p:sp>
            <p:nvSpPr>
              <p:cNvPr id="63549" name="Oval 202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50" name="Text Box 201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63534" name="Group 197"/>
            <p:cNvGrpSpPr>
              <a:grpSpLocks/>
            </p:cNvGrpSpPr>
            <p:nvPr/>
          </p:nvGrpSpPr>
          <p:grpSpPr bwMode="auto">
            <a:xfrm>
              <a:off x="7556" y="1935"/>
              <a:ext cx="358" cy="645"/>
              <a:chOff x="7362" y="2505"/>
              <a:chExt cx="358" cy="645"/>
            </a:xfrm>
          </p:grpSpPr>
          <p:sp>
            <p:nvSpPr>
              <p:cNvPr id="63547" name="Oval 199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48" name="Text Box 19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63535" name="Group 194"/>
            <p:cNvGrpSpPr>
              <a:grpSpLocks/>
            </p:cNvGrpSpPr>
            <p:nvPr/>
          </p:nvGrpSpPr>
          <p:grpSpPr bwMode="auto">
            <a:xfrm>
              <a:off x="7950" y="1935"/>
              <a:ext cx="358" cy="645"/>
              <a:chOff x="7362" y="2505"/>
              <a:chExt cx="358" cy="645"/>
            </a:xfrm>
          </p:grpSpPr>
          <p:sp>
            <p:nvSpPr>
              <p:cNvPr id="63545" name="Oval 196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46" name="Text Box 195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63536" name="Group 191"/>
            <p:cNvGrpSpPr>
              <a:grpSpLocks/>
            </p:cNvGrpSpPr>
            <p:nvPr/>
          </p:nvGrpSpPr>
          <p:grpSpPr bwMode="auto">
            <a:xfrm>
              <a:off x="8368" y="1935"/>
              <a:ext cx="358" cy="645"/>
              <a:chOff x="7362" y="2505"/>
              <a:chExt cx="358" cy="645"/>
            </a:xfrm>
          </p:grpSpPr>
          <p:sp>
            <p:nvSpPr>
              <p:cNvPr id="63543" name="Oval 193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44" name="Text Box 192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63537" name="Group 188"/>
            <p:cNvGrpSpPr>
              <a:grpSpLocks/>
            </p:cNvGrpSpPr>
            <p:nvPr/>
          </p:nvGrpSpPr>
          <p:grpSpPr bwMode="auto">
            <a:xfrm>
              <a:off x="8774" y="1935"/>
              <a:ext cx="358" cy="645"/>
              <a:chOff x="7362" y="2505"/>
              <a:chExt cx="358" cy="645"/>
            </a:xfrm>
          </p:grpSpPr>
          <p:sp>
            <p:nvSpPr>
              <p:cNvPr id="63541" name="Oval 190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42" name="Text Box 189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63538" name="Group 185"/>
            <p:cNvGrpSpPr>
              <a:grpSpLocks/>
            </p:cNvGrpSpPr>
            <p:nvPr/>
          </p:nvGrpSpPr>
          <p:grpSpPr bwMode="auto">
            <a:xfrm>
              <a:off x="9208" y="1935"/>
              <a:ext cx="358" cy="645"/>
              <a:chOff x="7362" y="2505"/>
              <a:chExt cx="358" cy="645"/>
            </a:xfrm>
          </p:grpSpPr>
          <p:sp>
            <p:nvSpPr>
              <p:cNvPr id="63539" name="Oval 187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40" name="Text Box 186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7</a:t>
                </a:r>
              </a:p>
            </p:txBody>
          </p:sp>
        </p:grpSp>
      </p:grpSp>
      <p:sp>
        <p:nvSpPr>
          <p:cNvPr id="63500" name="Text Box 182"/>
          <p:cNvSpPr txBox="1">
            <a:spLocks noChangeArrowheads="1"/>
          </p:cNvSpPr>
          <p:nvPr/>
        </p:nvSpPr>
        <p:spPr bwMode="auto">
          <a:xfrm>
            <a:off x="7364414" y="3559821"/>
            <a:ext cx="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 b="0">
              <a:latin typeface="Verdana" panose="020B0604030504040204" pitchFamily="34" charset="0"/>
            </a:endParaRPr>
          </a:p>
        </p:txBody>
      </p:sp>
      <p:sp>
        <p:nvSpPr>
          <p:cNvPr id="51381" name="Text Box 181"/>
          <p:cNvSpPr txBox="1">
            <a:spLocks noChangeArrowheads="1"/>
          </p:cNvSpPr>
          <p:nvPr/>
        </p:nvSpPr>
        <p:spPr bwMode="auto">
          <a:xfrm>
            <a:off x="2076581" y="4468270"/>
            <a:ext cx="2879725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0  1  2  3  </a:t>
            </a:r>
            <a:r>
              <a:rPr lang="en-US" altLang="zh-CN" sz="2000" b="0" dirty="0">
                <a:solidFill>
                  <a:srgbClr val="FF0000"/>
                </a:solidFill>
                <a:cs typeface="Arial" panose="020B0604020202020204" pitchFamily="34" charset="0"/>
              </a:rPr>
              <a:t>3</a:t>
            </a:r>
            <a:r>
              <a:rPr lang="en-US" altLang="zh-CN" sz="2000" b="0" dirty="0">
                <a:cs typeface="Arial" panose="020B0604020202020204" pitchFamily="34" charset="0"/>
              </a:rPr>
              <a:t>  5  6   7</a:t>
            </a:r>
          </a:p>
        </p:txBody>
      </p:sp>
      <p:grpSp>
        <p:nvGrpSpPr>
          <p:cNvPr id="11" name="Group 155"/>
          <p:cNvGrpSpPr>
            <a:grpSpLocks/>
          </p:cNvGrpSpPr>
          <p:nvPr/>
        </p:nvGrpSpPr>
        <p:grpSpPr bwMode="auto">
          <a:xfrm>
            <a:off x="4943476" y="4090047"/>
            <a:ext cx="3448725" cy="1452621"/>
            <a:chOff x="5894" y="2706"/>
            <a:chExt cx="2892" cy="1338"/>
          </a:xfrm>
        </p:grpSpPr>
        <p:grpSp>
          <p:nvGrpSpPr>
            <p:cNvPr id="63506" name="Group 178"/>
            <p:cNvGrpSpPr>
              <a:grpSpLocks/>
            </p:cNvGrpSpPr>
            <p:nvPr/>
          </p:nvGrpSpPr>
          <p:grpSpPr bwMode="auto">
            <a:xfrm>
              <a:off x="5894" y="2712"/>
              <a:ext cx="358" cy="645"/>
              <a:chOff x="7362" y="2505"/>
              <a:chExt cx="358" cy="645"/>
            </a:xfrm>
          </p:grpSpPr>
          <p:sp>
            <p:nvSpPr>
              <p:cNvPr id="63529" name="Oval 180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30" name="Text Box 179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63507" name="Group 175"/>
            <p:cNvGrpSpPr>
              <a:grpSpLocks/>
            </p:cNvGrpSpPr>
            <p:nvPr/>
          </p:nvGrpSpPr>
          <p:grpSpPr bwMode="auto">
            <a:xfrm>
              <a:off x="6298" y="2712"/>
              <a:ext cx="358" cy="645"/>
              <a:chOff x="7362" y="2505"/>
              <a:chExt cx="358" cy="645"/>
            </a:xfrm>
          </p:grpSpPr>
          <p:sp>
            <p:nvSpPr>
              <p:cNvPr id="63527" name="Oval 177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28" name="Text Box 176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63508" name="Group 172"/>
            <p:cNvGrpSpPr>
              <a:grpSpLocks/>
            </p:cNvGrpSpPr>
            <p:nvPr/>
          </p:nvGrpSpPr>
          <p:grpSpPr bwMode="auto">
            <a:xfrm>
              <a:off x="6718" y="2712"/>
              <a:ext cx="358" cy="645"/>
              <a:chOff x="7362" y="2505"/>
              <a:chExt cx="358" cy="645"/>
            </a:xfrm>
          </p:grpSpPr>
          <p:sp>
            <p:nvSpPr>
              <p:cNvPr id="63525" name="Oval 174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26" name="Text Box 173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63509" name="Group 169"/>
            <p:cNvGrpSpPr>
              <a:grpSpLocks/>
            </p:cNvGrpSpPr>
            <p:nvPr/>
          </p:nvGrpSpPr>
          <p:grpSpPr bwMode="auto">
            <a:xfrm>
              <a:off x="7136" y="2712"/>
              <a:ext cx="358" cy="645"/>
              <a:chOff x="7362" y="2505"/>
              <a:chExt cx="358" cy="645"/>
            </a:xfrm>
          </p:grpSpPr>
          <p:sp>
            <p:nvSpPr>
              <p:cNvPr id="63523" name="Oval 171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-2</a:t>
                </a:r>
              </a:p>
            </p:txBody>
          </p:sp>
          <p:sp>
            <p:nvSpPr>
              <p:cNvPr id="63524" name="Text Box 170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63510" name="Group 166"/>
            <p:cNvGrpSpPr>
              <a:grpSpLocks/>
            </p:cNvGrpSpPr>
            <p:nvPr/>
          </p:nvGrpSpPr>
          <p:grpSpPr bwMode="auto">
            <a:xfrm>
              <a:off x="6962" y="3669"/>
              <a:ext cx="520" cy="375"/>
              <a:chOff x="6978" y="3717"/>
              <a:chExt cx="520" cy="375"/>
            </a:xfrm>
          </p:grpSpPr>
          <p:sp>
            <p:nvSpPr>
              <p:cNvPr id="63521" name="Oval 168"/>
              <p:cNvSpPr>
                <a:spLocks noChangeArrowheads="1"/>
              </p:cNvSpPr>
              <p:nvPr/>
            </p:nvSpPr>
            <p:spPr bwMode="auto">
              <a:xfrm>
                <a:off x="7140" y="3717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63522" name="Text Box 167"/>
              <p:cNvSpPr txBox="1">
                <a:spLocks noChangeArrowheads="1"/>
              </p:cNvSpPr>
              <p:nvPr/>
            </p:nvSpPr>
            <p:spPr bwMode="auto">
              <a:xfrm>
                <a:off x="6978" y="3777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63511" name="Group 163"/>
            <p:cNvGrpSpPr>
              <a:grpSpLocks/>
            </p:cNvGrpSpPr>
            <p:nvPr/>
          </p:nvGrpSpPr>
          <p:grpSpPr bwMode="auto">
            <a:xfrm>
              <a:off x="7588" y="2706"/>
              <a:ext cx="358" cy="645"/>
              <a:chOff x="7362" y="2505"/>
              <a:chExt cx="358" cy="645"/>
            </a:xfrm>
          </p:grpSpPr>
          <p:sp>
            <p:nvSpPr>
              <p:cNvPr id="63519" name="Oval 165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20" name="Text Box 164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63512" name="Group 160"/>
            <p:cNvGrpSpPr>
              <a:grpSpLocks/>
            </p:cNvGrpSpPr>
            <p:nvPr/>
          </p:nvGrpSpPr>
          <p:grpSpPr bwMode="auto">
            <a:xfrm>
              <a:off x="7994" y="2706"/>
              <a:ext cx="358" cy="645"/>
              <a:chOff x="7362" y="2505"/>
              <a:chExt cx="358" cy="645"/>
            </a:xfrm>
          </p:grpSpPr>
          <p:sp>
            <p:nvSpPr>
              <p:cNvPr id="63517" name="Oval 162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18" name="Text Box 161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63513" name="Group 157"/>
            <p:cNvGrpSpPr>
              <a:grpSpLocks/>
            </p:cNvGrpSpPr>
            <p:nvPr/>
          </p:nvGrpSpPr>
          <p:grpSpPr bwMode="auto">
            <a:xfrm>
              <a:off x="8428" y="2706"/>
              <a:ext cx="358" cy="645"/>
              <a:chOff x="7362" y="2505"/>
              <a:chExt cx="358" cy="645"/>
            </a:xfrm>
          </p:grpSpPr>
          <p:sp>
            <p:nvSpPr>
              <p:cNvPr id="63515" name="Oval 159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3516" name="Text Box 15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sp>
          <p:nvSpPr>
            <p:cNvPr id="63514" name="Line 156"/>
            <p:cNvSpPr>
              <a:spLocks noChangeShapeType="1"/>
            </p:cNvSpPr>
            <p:nvPr/>
          </p:nvSpPr>
          <p:spPr bwMode="auto">
            <a:xfrm flipV="1">
              <a:off x="7320" y="3345"/>
              <a:ext cx="0" cy="31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354" name="Text Box 154"/>
          <p:cNvSpPr txBox="1">
            <a:spLocks noChangeArrowheads="1"/>
          </p:cNvSpPr>
          <p:nvPr/>
        </p:nvSpPr>
        <p:spPr bwMode="auto">
          <a:xfrm>
            <a:off x="9632950" y="4412307"/>
            <a:ext cx="495300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{1}</a:t>
            </a:r>
          </a:p>
        </p:txBody>
      </p:sp>
      <p:sp>
        <p:nvSpPr>
          <p:cNvPr id="51548" name="Text Box 348"/>
          <p:cNvSpPr txBox="1">
            <a:spLocks noChangeArrowheads="1"/>
          </p:cNvSpPr>
          <p:nvPr/>
        </p:nvSpPr>
        <p:spPr bwMode="auto">
          <a:xfrm>
            <a:off x="1919288" y="2929583"/>
            <a:ext cx="37449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 dirty="0">
                <a:cs typeface="Arial" panose="020B0604020202020204" pitchFamily="34" charset="0"/>
              </a:rPr>
              <a:t>F(0)(1)(2)(3)(4)(5)(6)(7)</a:t>
            </a:r>
          </a:p>
        </p:txBody>
      </p:sp>
      <p:sp>
        <p:nvSpPr>
          <p:cNvPr id="51550" name="Text Box 350"/>
          <p:cNvSpPr txBox="1">
            <a:spLocks noChangeArrowheads="1"/>
          </p:cNvSpPr>
          <p:nvPr/>
        </p:nvSpPr>
        <p:spPr bwMode="auto">
          <a:xfrm>
            <a:off x="1297282" y="4452951"/>
            <a:ext cx="4846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1</a:t>
            </a:r>
          </a:p>
        </p:txBody>
      </p:sp>
      <p:sp>
        <p:nvSpPr>
          <p:cNvPr id="6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4" grpId="0"/>
      <p:bldP spid="51411" grpId="0"/>
      <p:bldP spid="51410" grpId="0"/>
      <p:bldP spid="51409" grpId="0"/>
      <p:bldP spid="51381" grpId="0"/>
      <p:bldP spid="51354" grpId="0"/>
      <p:bldP spid="51548" grpId="0"/>
      <p:bldP spid="5155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ext Box 153"/>
          <p:cNvSpPr txBox="1">
            <a:spLocks noChangeArrowheads="1"/>
          </p:cNvSpPr>
          <p:nvPr/>
        </p:nvSpPr>
        <p:spPr bwMode="auto">
          <a:xfrm>
            <a:off x="2633997" y="2584188"/>
            <a:ext cx="238188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defPPr>
              <a:defRPr lang="zh-CN"/>
            </a:defPPr>
            <a:lvl1pPr>
              <a:spcBef>
                <a:spcPct val="0"/>
              </a:spcBef>
              <a:buClrTx/>
              <a:buSzTx/>
              <a:buFontTx/>
              <a:buNone/>
              <a:defRPr sz="2000" b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Arial" panose="020B0604020202020204" pitchFamily="34" charset="0"/>
              </a:rPr>
              <a:t>0  1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</a:rPr>
              <a:t>  3  3  5   6  7</a:t>
            </a:r>
          </a:p>
        </p:txBody>
      </p:sp>
      <p:grpSp>
        <p:nvGrpSpPr>
          <p:cNvPr id="64516" name="Group 127"/>
          <p:cNvGrpSpPr>
            <a:grpSpLocks/>
          </p:cNvGrpSpPr>
          <p:nvPr/>
        </p:nvGrpSpPr>
        <p:grpSpPr bwMode="auto">
          <a:xfrm>
            <a:off x="5585811" y="2259834"/>
            <a:ext cx="3285139" cy="1424996"/>
            <a:chOff x="5910" y="4206"/>
            <a:chExt cx="2716" cy="1341"/>
          </a:xfrm>
        </p:grpSpPr>
        <p:grpSp>
          <p:nvGrpSpPr>
            <p:cNvPr id="64552" name="Group 150"/>
            <p:cNvGrpSpPr>
              <a:grpSpLocks/>
            </p:cNvGrpSpPr>
            <p:nvPr/>
          </p:nvGrpSpPr>
          <p:grpSpPr bwMode="auto">
            <a:xfrm>
              <a:off x="5910" y="4212"/>
              <a:ext cx="358" cy="645"/>
              <a:chOff x="7362" y="2505"/>
              <a:chExt cx="358" cy="645"/>
            </a:xfrm>
          </p:grpSpPr>
          <p:sp>
            <p:nvSpPr>
              <p:cNvPr id="64575" name="Oval 152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76" name="Text Box 151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64553" name="Group 147"/>
            <p:cNvGrpSpPr>
              <a:grpSpLocks/>
            </p:cNvGrpSpPr>
            <p:nvPr/>
          </p:nvGrpSpPr>
          <p:grpSpPr bwMode="auto">
            <a:xfrm>
              <a:off x="6314" y="4212"/>
              <a:ext cx="358" cy="645"/>
              <a:chOff x="7362" y="2505"/>
              <a:chExt cx="358" cy="645"/>
            </a:xfrm>
          </p:grpSpPr>
          <p:sp>
            <p:nvSpPr>
              <p:cNvPr id="64573" name="Oval 149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-2</a:t>
                </a:r>
              </a:p>
            </p:txBody>
          </p:sp>
          <p:sp>
            <p:nvSpPr>
              <p:cNvPr id="64574" name="Text Box 14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64554" name="Group 144"/>
            <p:cNvGrpSpPr>
              <a:grpSpLocks/>
            </p:cNvGrpSpPr>
            <p:nvPr/>
          </p:nvGrpSpPr>
          <p:grpSpPr bwMode="auto">
            <a:xfrm>
              <a:off x="6120" y="5172"/>
              <a:ext cx="566" cy="375"/>
              <a:chOff x="6120" y="5187"/>
              <a:chExt cx="566" cy="375"/>
            </a:xfrm>
          </p:grpSpPr>
          <p:sp>
            <p:nvSpPr>
              <p:cNvPr id="64571" name="Oval 146"/>
              <p:cNvSpPr>
                <a:spLocks noChangeArrowheads="1"/>
              </p:cNvSpPr>
              <p:nvPr/>
            </p:nvSpPr>
            <p:spPr bwMode="auto">
              <a:xfrm>
                <a:off x="6328" y="5187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64572" name="Text Box 145"/>
              <p:cNvSpPr txBox="1">
                <a:spLocks noChangeArrowheads="1"/>
              </p:cNvSpPr>
              <p:nvPr/>
            </p:nvSpPr>
            <p:spPr bwMode="auto">
              <a:xfrm>
                <a:off x="6120" y="5247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64555" name="Group 141"/>
            <p:cNvGrpSpPr>
              <a:grpSpLocks/>
            </p:cNvGrpSpPr>
            <p:nvPr/>
          </p:nvGrpSpPr>
          <p:grpSpPr bwMode="auto">
            <a:xfrm>
              <a:off x="6976" y="4212"/>
              <a:ext cx="358" cy="645"/>
              <a:chOff x="7362" y="2505"/>
              <a:chExt cx="358" cy="645"/>
            </a:xfrm>
          </p:grpSpPr>
          <p:sp>
            <p:nvSpPr>
              <p:cNvPr id="64569" name="Oval 143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-2</a:t>
                </a:r>
              </a:p>
            </p:txBody>
          </p:sp>
          <p:sp>
            <p:nvSpPr>
              <p:cNvPr id="64570" name="Text Box 142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</p:grpSp>
        <p:sp>
          <p:nvSpPr>
            <p:cNvPr id="64556" name="Oval 140"/>
            <p:cNvSpPr>
              <a:spLocks noChangeArrowheads="1"/>
            </p:cNvSpPr>
            <p:nvPr/>
          </p:nvSpPr>
          <p:spPr bwMode="auto">
            <a:xfrm>
              <a:off x="6964" y="5169"/>
              <a:ext cx="358" cy="37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4557" name="Text Box 139"/>
            <p:cNvSpPr txBox="1">
              <a:spLocks noChangeArrowheads="1"/>
            </p:cNvSpPr>
            <p:nvPr/>
          </p:nvSpPr>
          <p:spPr bwMode="auto">
            <a:xfrm>
              <a:off x="6824" y="5229"/>
              <a:ext cx="13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4</a:t>
              </a:r>
            </a:p>
          </p:txBody>
        </p:sp>
        <p:grpSp>
          <p:nvGrpSpPr>
            <p:cNvPr id="64558" name="Group 136"/>
            <p:cNvGrpSpPr>
              <a:grpSpLocks/>
            </p:cNvGrpSpPr>
            <p:nvPr/>
          </p:nvGrpSpPr>
          <p:grpSpPr bwMode="auto">
            <a:xfrm>
              <a:off x="7428" y="4206"/>
              <a:ext cx="358" cy="645"/>
              <a:chOff x="7362" y="2505"/>
              <a:chExt cx="358" cy="645"/>
            </a:xfrm>
          </p:grpSpPr>
          <p:sp>
            <p:nvSpPr>
              <p:cNvPr id="64567" name="Oval 138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68" name="Text Box 137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64559" name="Group 133"/>
            <p:cNvGrpSpPr>
              <a:grpSpLocks/>
            </p:cNvGrpSpPr>
            <p:nvPr/>
          </p:nvGrpSpPr>
          <p:grpSpPr bwMode="auto">
            <a:xfrm>
              <a:off x="7834" y="4206"/>
              <a:ext cx="358" cy="645"/>
              <a:chOff x="7362" y="2505"/>
              <a:chExt cx="358" cy="645"/>
            </a:xfrm>
          </p:grpSpPr>
          <p:sp>
            <p:nvSpPr>
              <p:cNvPr id="64565" name="Oval 135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66" name="Text Box 134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64560" name="Group 130"/>
            <p:cNvGrpSpPr>
              <a:grpSpLocks/>
            </p:cNvGrpSpPr>
            <p:nvPr/>
          </p:nvGrpSpPr>
          <p:grpSpPr bwMode="auto">
            <a:xfrm>
              <a:off x="8268" y="4206"/>
              <a:ext cx="358" cy="645"/>
              <a:chOff x="7362" y="2505"/>
              <a:chExt cx="358" cy="645"/>
            </a:xfrm>
          </p:grpSpPr>
          <p:sp>
            <p:nvSpPr>
              <p:cNvPr id="64563" name="Oval 132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64" name="Text Box 131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sp>
          <p:nvSpPr>
            <p:cNvPr id="64561" name="Line 129"/>
            <p:cNvSpPr>
              <a:spLocks noChangeShapeType="1"/>
            </p:cNvSpPr>
            <p:nvPr/>
          </p:nvSpPr>
          <p:spPr bwMode="auto">
            <a:xfrm flipV="1">
              <a:off x="7160" y="4845"/>
              <a:ext cx="0" cy="3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62" name="Line 128"/>
            <p:cNvSpPr>
              <a:spLocks noChangeShapeType="1"/>
            </p:cNvSpPr>
            <p:nvPr/>
          </p:nvSpPr>
          <p:spPr bwMode="auto">
            <a:xfrm flipH="1" flipV="1">
              <a:off x="6496" y="4874"/>
              <a:ext cx="5" cy="28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517" name="Text Box 126"/>
          <p:cNvSpPr txBox="1">
            <a:spLocks noChangeArrowheads="1"/>
          </p:cNvSpPr>
          <p:nvPr/>
        </p:nvSpPr>
        <p:spPr bwMode="auto">
          <a:xfrm>
            <a:off x="9637695" y="2587323"/>
            <a:ext cx="671547" cy="350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{1,2}</a:t>
            </a:r>
          </a:p>
        </p:txBody>
      </p:sp>
      <p:sp>
        <p:nvSpPr>
          <p:cNvPr id="64518" name="Text Box 351"/>
          <p:cNvSpPr txBox="1">
            <a:spLocks noChangeArrowheads="1"/>
          </p:cNvSpPr>
          <p:nvPr/>
        </p:nvSpPr>
        <p:spPr bwMode="auto">
          <a:xfrm>
            <a:off x="1229098" y="2592101"/>
            <a:ext cx="1428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2</a:t>
            </a:r>
          </a:p>
        </p:txBody>
      </p:sp>
      <p:sp>
        <p:nvSpPr>
          <p:cNvPr id="64519" name="Text Box 214"/>
          <p:cNvSpPr txBox="1">
            <a:spLocks noChangeArrowheads="1"/>
          </p:cNvSpPr>
          <p:nvPr/>
        </p:nvSpPr>
        <p:spPr bwMode="auto">
          <a:xfrm>
            <a:off x="1029061" y="1718711"/>
            <a:ext cx="6604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考虑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作业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3340" name="Text Box 92"/>
          <p:cNvSpPr txBox="1">
            <a:spLocks noChangeArrowheads="1"/>
          </p:cNvSpPr>
          <p:nvPr/>
        </p:nvSpPr>
        <p:spPr bwMode="auto">
          <a:xfrm>
            <a:off x="2639941" y="4286038"/>
            <a:ext cx="2399489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0  1  1  </a:t>
            </a:r>
            <a:r>
              <a:rPr lang="en-US" altLang="zh-CN" sz="2000" b="0" dirty="0">
                <a:solidFill>
                  <a:srgbClr val="FF0000"/>
                </a:solidFill>
                <a:cs typeface="Arial" panose="020B0604020202020204" pitchFamily="34" charset="0"/>
              </a:rPr>
              <a:t>1</a:t>
            </a:r>
            <a:r>
              <a:rPr lang="en-US" altLang="zh-CN" sz="2000" b="0" dirty="0">
                <a:cs typeface="Arial" panose="020B0604020202020204" pitchFamily="34" charset="0"/>
              </a:rPr>
              <a:t>  3  5  6  7</a:t>
            </a:r>
          </a:p>
        </p:txBody>
      </p:sp>
      <p:grpSp>
        <p:nvGrpSpPr>
          <p:cNvPr id="2" name="Group 93"/>
          <p:cNvGrpSpPr>
            <a:grpSpLocks/>
          </p:cNvGrpSpPr>
          <p:nvPr/>
        </p:nvGrpSpPr>
        <p:grpSpPr bwMode="auto">
          <a:xfrm>
            <a:off x="5520383" y="3985171"/>
            <a:ext cx="3065113" cy="2036117"/>
            <a:chOff x="5860" y="5871"/>
            <a:chExt cx="2646" cy="2028"/>
          </a:xfrm>
        </p:grpSpPr>
        <p:grpSp>
          <p:nvGrpSpPr>
            <p:cNvPr id="64526" name="Group 94"/>
            <p:cNvGrpSpPr>
              <a:grpSpLocks/>
            </p:cNvGrpSpPr>
            <p:nvPr/>
          </p:nvGrpSpPr>
          <p:grpSpPr bwMode="auto">
            <a:xfrm>
              <a:off x="5960" y="5877"/>
              <a:ext cx="358" cy="645"/>
              <a:chOff x="7362" y="2505"/>
              <a:chExt cx="358" cy="645"/>
            </a:xfrm>
          </p:grpSpPr>
          <p:sp>
            <p:nvSpPr>
              <p:cNvPr id="64550" name="Oval 95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51" name="Text Box 96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64527" name="Group 97"/>
            <p:cNvGrpSpPr>
              <a:grpSpLocks/>
            </p:cNvGrpSpPr>
            <p:nvPr/>
          </p:nvGrpSpPr>
          <p:grpSpPr bwMode="auto">
            <a:xfrm>
              <a:off x="6364" y="5877"/>
              <a:ext cx="358" cy="645"/>
              <a:chOff x="7362" y="2505"/>
              <a:chExt cx="358" cy="645"/>
            </a:xfrm>
          </p:grpSpPr>
          <p:sp>
            <p:nvSpPr>
              <p:cNvPr id="64548" name="Oval 98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-4</a:t>
                </a:r>
              </a:p>
            </p:txBody>
          </p:sp>
          <p:sp>
            <p:nvSpPr>
              <p:cNvPr id="64549" name="Text Box 99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64528" name="Group 100"/>
            <p:cNvGrpSpPr>
              <a:grpSpLocks/>
            </p:cNvGrpSpPr>
            <p:nvPr/>
          </p:nvGrpSpPr>
          <p:grpSpPr bwMode="auto">
            <a:xfrm>
              <a:off x="5860" y="6837"/>
              <a:ext cx="566" cy="375"/>
              <a:chOff x="6120" y="5187"/>
              <a:chExt cx="566" cy="375"/>
            </a:xfrm>
          </p:grpSpPr>
          <p:sp>
            <p:nvSpPr>
              <p:cNvPr id="64546" name="Oval 101"/>
              <p:cNvSpPr>
                <a:spLocks noChangeArrowheads="1"/>
              </p:cNvSpPr>
              <p:nvPr/>
            </p:nvSpPr>
            <p:spPr bwMode="auto">
              <a:xfrm>
                <a:off x="6328" y="5187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64547" name="Text Box 102"/>
              <p:cNvSpPr txBox="1">
                <a:spLocks noChangeArrowheads="1"/>
              </p:cNvSpPr>
              <p:nvPr/>
            </p:nvSpPr>
            <p:spPr bwMode="auto">
              <a:xfrm>
                <a:off x="6120" y="5247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64529" name="Group 103"/>
            <p:cNvGrpSpPr>
              <a:grpSpLocks/>
            </p:cNvGrpSpPr>
            <p:nvPr/>
          </p:nvGrpSpPr>
          <p:grpSpPr bwMode="auto">
            <a:xfrm>
              <a:off x="7308" y="5871"/>
              <a:ext cx="358" cy="645"/>
              <a:chOff x="7362" y="2505"/>
              <a:chExt cx="358" cy="645"/>
            </a:xfrm>
          </p:grpSpPr>
          <p:sp>
            <p:nvSpPr>
              <p:cNvPr id="64544" name="Oval 104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45" name="Text Box 105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64530" name="Group 106"/>
            <p:cNvGrpSpPr>
              <a:grpSpLocks/>
            </p:cNvGrpSpPr>
            <p:nvPr/>
          </p:nvGrpSpPr>
          <p:grpSpPr bwMode="auto">
            <a:xfrm>
              <a:off x="7714" y="5871"/>
              <a:ext cx="358" cy="645"/>
              <a:chOff x="7362" y="2505"/>
              <a:chExt cx="358" cy="645"/>
            </a:xfrm>
          </p:grpSpPr>
          <p:sp>
            <p:nvSpPr>
              <p:cNvPr id="64542" name="Oval 107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43" name="Text Box 10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64531" name="Group 109"/>
            <p:cNvGrpSpPr>
              <a:grpSpLocks/>
            </p:cNvGrpSpPr>
            <p:nvPr/>
          </p:nvGrpSpPr>
          <p:grpSpPr bwMode="auto">
            <a:xfrm>
              <a:off x="8148" y="5871"/>
              <a:ext cx="358" cy="645"/>
              <a:chOff x="7362" y="2505"/>
              <a:chExt cx="358" cy="645"/>
            </a:xfrm>
          </p:grpSpPr>
          <p:sp>
            <p:nvSpPr>
              <p:cNvPr id="64540" name="Oval 110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64541" name="Text Box 111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grpSp>
          <p:nvGrpSpPr>
            <p:cNvPr id="64532" name="Group 112"/>
            <p:cNvGrpSpPr>
              <a:grpSpLocks/>
            </p:cNvGrpSpPr>
            <p:nvPr/>
          </p:nvGrpSpPr>
          <p:grpSpPr bwMode="auto">
            <a:xfrm>
              <a:off x="6534" y="6837"/>
              <a:ext cx="520" cy="1062"/>
              <a:chOff x="6650" y="6852"/>
              <a:chExt cx="520" cy="1062"/>
            </a:xfrm>
          </p:grpSpPr>
          <p:sp>
            <p:nvSpPr>
              <p:cNvPr id="64535" name="Oval 113"/>
              <p:cNvSpPr>
                <a:spLocks noChangeArrowheads="1"/>
              </p:cNvSpPr>
              <p:nvPr/>
            </p:nvSpPr>
            <p:spPr bwMode="auto">
              <a:xfrm>
                <a:off x="6812" y="6852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64536" name="Text Box 114"/>
              <p:cNvSpPr txBox="1">
                <a:spLocks noChangeArrowheads="1"/>
              </p:cNvSpPr>
              <p:nvPr/>
            </p:nvSpPr>
            <p:spPr bwMode="auto">
              <a:xfrm>
                <a:off x="6650" y="6912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64537" name="Oval 115"/>
              <p:cNvSpPr>
                <a:spLocks noChangeArrowheads="1"/>
              </p:cNvSpPr>
              <p:nvPr/>
            </p:nvSpPr>
            <p:spPr bwMode="auto">
              <a:xfrm>
                <a:off x="6800" y="7539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64538" name="Text Box 116"/>
              <p:cNvSpPr txBox="1">
                <a:spLocks noChangeArrowheads="1"/>
              </p:cNvSpPr>
              <p:nvPr/>
            </p:nvSpPr>
            <p:spPr bwMode="auto">
              <a:xfrm>
                <a:off x="6660" y="7599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64539" name="Line 117"/>
              <p:cNvSpPr>
                <a:spLocks noChangeShapeType="1"/>
              </p:cNvSpPr>
              <p:nvPr/>
            </p:nvSpPr>
            <p:spPr bwMode="auto">
              <a:xfrm flipV="1">
                <a:off x="6996" y="7215"/>
                <a:ext cx="0" cy="3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4533" name="Line 118"/>
            <p:cNvSpPr>
              <a:spLocks noChangeShapeType="1"/>
            </p:cNvSpPr>
            <p:nvPr/>
          </p:nvSpPr>
          <p:spPr bwMode="auto">
            <a:xfrm flipV="1">
              <a:off x="6260" y="6522"/>
              <a:ext cx="238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34" name="Line 119"/>
            <p:cNvSpPr>
              <a:spLocks noChangeShapeType="1"/>
            </p:cNvSpPr>
            <p:nvPr/>
          </p:nvSpPr>
          <p:spPr bwMode="auto">
            <a:xfrm flipH="1" flipV="1">
              <a:off x="6592" y="6522"/>
              <a:ext cx="254" cy="30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3368" name="Text Box 120"/>
          <p:cNvSpPr txBox="1">
            <a:spLocks noChangeArrowheads="1"/>
          </p:cNvSpPr>
          <p:nvPr/>
        </p:nvSpPr>
        <p:spPr bwMode="auto">
          <a:xfrm>
            <a:off x="9529762" y="4286038"/>
            <a:ext cx="88741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{1,2,3}</a:t>
            </a:r>
          </a:p>
        </p:txBody>
      </p:sp>
      <p:sp>
        <p:nvSpPr>
          <p:cNvPr id="53405" name="Text Box 157"/>
          <p:cNvSpPr txBox="1">
            <a:spLocks noChangeArrowheads="1"/>
          </p:cNvSpPr>
          <p:nvPr/>
        </p:nvSpPr>
        <p:spPr bwMode="auto">
          <a:xfrm>
            <a:off x="1300535" y="4286038"/>
            <a:ext cx="1428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000" b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3</a:t>
            </a:r>
          </a:p>
        </p:txBody>
      </p:sp>
      <p:sp>
        <p:nvSpPr>
          <p:cNvPr id="65" name="Rectangle 3"/>
          <p:cNvSpPr>
            <a:spLocks noGrp="1" noChangeArrowheads="1"/>
          </p:cNvSpPr>
          <p:nvPr>
            <p:ph idx="1"/>
          </p:nvPr>
        </p:nvSpPr>
        <p:spPr>
          <a:xfrm>
            <a:off x="682195" y="215101"/>
            <a:ext cx="5504534" cy="165735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sz="2400" dirty="0"/>
              <a:t>设</a:t>
            </a:r>
            <a:r>
              <a:rPr lang="en-US" altLang="zh-CN" sz="2400" dirty="0"/>
              <a:t>n=7</a:t>
            </a:r>
            <a:r>
              <a:rPr lang="zh-CN" altLang="en-US" sz="2400" dirty="0"/>
              <a:t>，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)=(35,30,25,20,15,10,5)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…,d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)=(4,2,4,3,4,8,3)</a:t>
            </a:r>
          </a:p>
        </p:txBody>
      </p:sp>
      <p:sp>
        <p:nvSpPr>
          <p:cNvPr id="66" name="Text Box 348"/>
          <p:cNvSpPr txBox="1">
            <a:spLocks noChangeArrowheads="1"/>
          </p:cNvSpPr>
          <p:nvPr/>
        </p:nvSpPr>
        <p:spPr bwMode="auto">
          <a:xfrm>
            <a:off x="2434622" y="2075262"/>
            <a:ext cx="2810129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 dirty="0">
                <a:cs typeface="Arial" panose="020B0604020202020204" pitchFamily="34" charset="0"/>
              </a:rPr>
              <a:t>F(0)(1)(2)(3)(4)(5)(6)(7)</a:t>
            </a:r>
          </a:p>
        </p:txBody>
      </p:sp>
      <p:sp>
        <p:nvSpPr>
          <p:cNvPr id="6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40" grpId="0"/>
      <p:bldP spid="53368" grpId="0"/>
      <p:bldP spid="5340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95400" y="188640"/>
            <a:ext cx="5504534" cy="165735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sz="2400" dirty="0"/>
              <a:t>设</a:t>
            </a:r>
            <a:r>
              <a:rPr lang="en-US" altLang="zh-CN" sz="2400" dirty="0"/>
              <a:t>n=7</a:t>
            </a:r>
            <a:r>
              <a:rPr lang="zh-CN" altLang="en-US" sz="2400" dirty="0"/>
              <a:t>，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)=(35,30,25,20,15,10,5)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…,d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)=(4,2,4,3,4,8,3)</a:t>
            </a:r>
          </a:p>
        </p:txBody>
      </p:sp>
      <p:sp>
        <p:nvSpPr>
          <p:cNvPr id="6" name="Text Box 214"/>
          <p:cNvSpPr txBox="1">
            <a:spLocks noChangeArrowheads="1"/>
          </p:cNvSpPr>
          <p:nvPr/>
        </p:nvSpPr>
        <p:spPr bwMode="auto">
          <a:xfrm>
            <a:off x="827126" y="1648365"/>
            <a:ext cx="6604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考虑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作业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Text Box 121"/>
          <p:cNvSpPr txBox="1">
            <a:spLocks noChangeArrowheads="1"/>
          </p:cNvSpPr>
          <p:nvPr/>
        </p:nvSpPr>
        <p:spPr bwMode="auto">
          <a:xfrm>
            <a:off x="2320267" y="2432855"/>
            <a:ext cx="26638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 0  </a:t>
            </a:r>
            <a:r>
              <a:rPr lang="en-US" altLang="zh-CN" sz="2000" b="0" dirty="0">
                <a:solidFill>
                  <a:srgbClr val="FF0000"/>
                </a:solidFill>
                <a:cs typeface="Arial" panose="020B0604020202020204" pitchFamily="34" charset="0"/>
              </a:rPr>
              <a:t>0</a:t>
            </a:r>
            <a:r>
              <a:rPr lang="en-US" altLang="zh-CN" sz="2000" b="0" dirty="0">
                <a:cs typeface="Arial" panose="020B0604020202020204" pitchFamily="34" charset="0"/>
              </a:rPr>
              <a:t>  1  1  3  5  6  7</a:t>
            </a:r>
          </a:p>
        </p:txBody>
      </p:sp>
      <p:grpSp>
        <p:nvGrpSpPr>
          <p:cNvPr id="9" name="Group 122"/>
          <p:cNvGrpSpPr>
            <a:grpSpLocks/>
          </p:cNvGrpSpPr>
          <p:nvPr/>
        </p:nvGrpSpPr>
        <p:grpSpPr bwMode="auto">
          <a:xfrm>
            <a:off x="5442313" y="2167443"/>
            <a:ext cx="3533679" cy="2051693"/>
            <a:chOff x="5678" y="7842"/>
            <a:chExt cx="2957" cy="2028"/>
          </a:xfrm>
        </p:grpSpPr>
        <p:grpSp>
          <p:nvGrpSpPr>
            <p:cNvPr id="10" name="Group 123"/>
            <p:cNvGrpSpPr>
              <a:grpSpLocks/>
            </p:cNvGrpSpPr>
            <p:nvPr/>
          </p:nvGrpSpPr>
          <p:grpSpPr bwMode="auto">
            <a:xfrm>
              <a:off x="5678" y="8688"/>
              <a:ext cx="520" cy="480"/>
              <a:chOff x="5678" y="8688"/>
              <a:chExt cx="520" cy="480"/>
            </a:xfrm>
          </p:grpSpPr>
          <p:sp>
            <p:nvSpPr>
              <p:cNvPr id="35" name="Oval 124"/>
              <p:cNvSpPr>
                <a:spLocks noChangeArrowheads="1"/>
              </p:cNvSpPr>
              <p:nvPr/>
            </p:nvSpPr>
            <p:spPr bwMode="auto">
              <a:xfrm>
                <a:off x="5840" y="8793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 dirty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6" name="Text Box 125"/>
              <p:cNvSpPr txBox="1">
                <a:spLocks noChangeArrowheads="1"/>
              </p:cNvSpPr>
              <p:nvPr/>
            </p:nvSpPr>
            <p:spPr bwMode="auto">
              <a:xfrm>
                <a:off x="5678" y="8688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solidFill>
                      <a:srgbClr val="FF0000"/>
                    </a:solidFill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11" name="Group 126"/>
            <p:cNvGrpSpPr>
              <a:grpSpLocks/>
            </p:cNvGrpSpPr>
            <p:nvPr/>
          </p:nvGrpSpPr>
          <p:grpSpPr bwMode="auto">
            <a:xfrm>
              <a:off x="6424" y="7848"/>
              <a:ext cx="358" cy="645"/>
              <a:chOff x="7362" y="2505"/>
              <a:chExt cx="358" cy="645"/>
            </a:xfrm>
          </p:grpSpPr>
          <p:sp>
            <p:nvSpPr>
              <p:cNvPr id="33" name="Oval 127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-5</a:t>
                </a:r>
              </a:p>
            </p:txBody>
          </p:sp>
          <p:sp>
            <p:nvSpPr>
              <p:cNvPr id="34" name="Text Box 12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12" name="Group 129"/>
            <p:cNvGrpSpPr>
              <a:grpSpLocks/>
            </p:cNvGrpSpPr>
            <p:nvPr/>
          </p:nvGrpSpPr>
          <p:grpSpPr bwMode="auto">
            <a:xfrm>
              <a:off x="6204" y="8808"/>
              <a:ext cx="540" cy="375"/>
              <a:chOff x="6204" y="8808"/>
              <a:chExt cx="540" cy="375"/>
            </a:xfrm>
          </p:grpSpPr>
          <p:sp>
            <p:nvSpPr>
              <p:cNvPr id="31" name="Oval 130"/>
              <p:cNvSpPr>
                <a:spLocks noChangeArrowheads="1"/>
              </p:cNvSpPr>
              <p:nvPr/>
            </p:nvSpPr>
            <p:spPr bwMode="auto">
              <a:xfrm>
                <a:off x="6386" y="8808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2" name="Text Box 131"/>
              <p:cNvSpPr txBox="1">
                <a:spLocks noChangeArrowheads="1"/>
              </p:cNvSpPr>
              <p:nvPr/>
            </p:nvSpPr>
            <p:spPr bwMode="auto">
              <a:xfrm>
                <a:off x="6204" y="8868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13" name="Group 132"/>
            <p:cNvGrpSpPr>
              <a:grpSpLocks/>
            </p:cNvGrpSpPr>
            <p:nvPr/>
          </p:nvGrpSpPr>
          <p:grpSpPr bwMode="auto">
            <a:xfrm>
              <a:off x="7449" y="7842"/>
              <a:ext cx="358" cy="645"/>
              <a:chOff x="7443" y="2505"/>
              <a:chExt cx="358" cy="645"/>
            </a:xfrm>
          </p:grpSpPr>
          <p:sp>
            <p:nvSpPr>
              <p:cNvPr id="29" name="Oval 133"/>
              <p:cNvSpPr>
                <a:spLocks noChangeArrowheads="1"/>
              </p:cNvSpPr>
              <p:nvPr/>
            </p:nvSpPr>
            <p:spPr bwMode="auto">
              <a:xfrm>
                <a:off x="7443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30" name="Text Box 134"/>
              <p:cNvSpPr txBox="1">
                <a:spLocks noChangeArrowheads="1"/>
              </p:cNvSpPr>
              <p:nvPr/>
            </p:nvSpPr>
            <p:spPr bwMode="auto">
              <a:xfrm>
                <a:off x="7565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14" name="Group 135"/>
            <p:cNvGrpSpPr>
              <a:grpSpLocks/>
            </p:cNvGrpSpPr>
            <p:nvPr/>
          </p:nvGrpSpPr>
          <p:grpSpPr bwMode="auto">
            <a:xfrm>
              <a:off x="7855" y="7842"/>
              <a:ext cx="358" cy="645"/>
              <a:chOff x="7443" y="2505"/>
              <a:chExt cx="358" cy="645"/>
            </a:xfrm>
          </p:grpSpPr>
          <p:sp>
            <p:nvSpPr>
              <p:cNvPr id="27" name="Oval 136"/>
              <p:cNvSpPr>
                <a:spLocks noChangeArrowheads="1"/>
              </p:cNvSpPr>
              <p:nvPr/>
            </p:nvSpPr>
            <p:spPr bwMode="auto">
              <a:xfrm>
                <a:off x="7443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28" name="Text Box 137"/>
              <p:cNvSpPr txBox="1">
                <a:spLocks noChangeArrowheads="1"/>
              </p:cNvSpPr>
              <p:nvPr/>
            </p:nvSpPr>
            <p:spPr bwMode="auto">
              <a:xfrm>
                <a:off x="7565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15" name="Group 138"/>
            <p:cNvGrpSpPr>
              <a:grpSpLocks/>
            </p:cNvGrpSpPr>
            <p:nvPr/>
          </p:nvGrpSpPr>
          <p:grpSpPr bwMode="auto">
            <a:xfrm>
              <a:off x="8277" y="7842"/>
              <a:ext cx="358" cy="645"/>
              <a:chOff x="7431" y="2505"/>
              <a:chExt cx="358" cy="645"/>
            </a:xfrm>
          </p:grpSpPr>
          <p:sp>
            <p:nvSpPr>
              <p:cNvPr id="25" name="Oval 139"/>
              <p:cNvSpPr>
                <a:spLocks noChangeArrowheads="1"/>
              </p:cNvSpPr>
              <p:nvPr/>
            </p:nvSpPr>
            <p:spPr bwMode="auto">
              <a:xfrm>
                <a:off x="7431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26" name="Text Box 140"/>
              <p:cNvSpPr txBox="1">
                <a:spLocks noChangeArrowheads="1"/>
              </p:cNvSpPr>
              <p:nvPr/>
            </p:nvSpPr>
            <p:spPr bwMode="auto">
              <a:xfrm>
                <a:off x="7553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grpSp>
          <p:nvGrpSpPr>
            <p:cNvPr id="16" name="Group 141"/>
            <p:cNvGrpSpPr>
              <a:grpSpLocks/>
            </p:cNvGrpSpPr>
            <p:nvPr/>
          </p:nvGrpSpPr>
          <p:grpSpPr bwMode="auto">
            <a:xfrm>
              <a:off x="6756" y="8808"/>
              <a:ext cx="520" cy="1062"/>
              <a:chOff x="6650" y="6852"/>
              <a:chExt cx="520" cy="1062"/>
            </a:xfrm>
          </p:grpSpPr>
          <p:sp>
            <p:nvSpPr>
              <p:cNvPr id="20" name="Oval 142"/>
              <p:cNvSpPr>
                <a:spLocks noChangeArrowheads="1"/>
              </p:cNvSpPr>
              <p:nvPr/>
            </p:nvSpPr>
            <p:spPr bwMode="auto">
              <a:xfrm>
                <a:off x="6812" y="6852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1" name="Text Box 143"/>
              <p:cNvSpPr txBox="1">
                <a:spLocks noChangeArrowheads="1"/>
              </p:cNvSpPr>
              <p:nvPr/>
            </p:nvSpPr>
            <p:spPr bwMode="auto">
              <a:xfrm>
                <a:off x="6650" y="6912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2" name="Oval 144"/>
              <p:cNvSpPr>
                <a:spLocks noChangeArrowheads="1"/>
              </p:cNvSpPr>
              <p:nvPr/>
            </p:nvSpPr>
            <p:spPr bwMode="auto">
              <a:xfrm>
                <a:off x="6800" y="7539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3" name="Text Box 145"/>
              <p:cNvSpPr txBox="1">
                <a:spLocks noChangeArrowheads="1"/>
              </p:cNvSpPr>
              <p:nvPr/>
            </p:nvSpPr>
            <p:spPr bwMode="auto">
              <a:xfrm>
                <a:off x="6660" y="7599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24" name="Line 146"/>
              <p:cNvSpPr>
                <a:spLocks noChangeShapeType="1"/>
              </p:cNvSpPr>
              <p:nvPr/>
            </p:nvSpPr>
            <p:spPr bwMode="auto">
              <a:xfrm flipV="1">
                <a:off x="6996" y="7215"/>
                <a:ext cx="0" cy="31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20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Line 147"/>
            <p:cNvSpPr>
              <a:spLocks noChangeShapeType="1"/>
            </p:cNvSpPr>
            <p:nvPr/>
          </p:nvSpPr>
          <p:spPr bwMode="auto">
            <a:xfrm flipV="1">
              <a:off x="6580" y="8500"/>
              <a:ext cx="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48"/>
            <p:cNvSpPr>
              <a:spLocks noChangeShapeType="1"/>
            </p:cNvSpPr>
            <p:nvPr/>
          </p:nvSpPr>
          <p:spPr bwMode="auto">
            <a:xfrm flipH="1" flipV="1">
              <a:off x="6681" y="8500"/>
              <a:ext cx="375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49"/>
            <p:cNvSpPr>
              <a:spLocks noChangeShapeType="1"/>
            </p:cNvSpPr>
            <p:nvPr/>
          </p:nvSpPr>
          <p:spPr bwMode="auto">
            <a:xfrm flipV="1">
              <a:off x="6074" y="8445"/>
              <a:ext cx="406" cy="34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Text Box 150"/>
          <p:cNvSpPr txBox="1">
            <a:spLocks noChangeArrowheads="1"/>
          </p:cNvSpPr>
          <p:nvPr/>
        </p:nvSpPr>
        <p:spPr bwMode="auto">
          <a:xfrm>
            <a:off x="9624392" y="2479090"/>
            <a:ext cx="1135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000" b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{1,2,3,4}</a:t>
            </a:r>
          </a:p>
        </p:txBody>
      </p:sp>
      <p:sp>
        <p:nvSpPr>
          <p:cNvPr id="38" name="Text Box 158"/>
          <p:cNvSpPr txBox="1">
            <a:spLocks noChangeArrowheads="1"/>
          </p:cNvSpPr>
          <p:nvPr/>
        </p:nvSpPr>
        <p:spPr bwMode="auto">
          <a:xfrm>
            <a:off x="1014451" y="2455972"/>
            <a:ext cx="1428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4</a:t>
            </a:r>
          </a:p>
        </p:txBody>
      </p:sp>
      <p:grpSp>
        <p:nvGrpSpPr>
          <p:cNvPr id="39" name="Group 223"/>
          <p:cNvGrpSpPr>
            <a:grpSpLocks/>
          </p:cNvGrpSpPr>
          <p:nvPr/>
        </p:nvGrpSpPr>
        <p:grpSpPr bwMode="auto">
          <a:xfrm>
            <a:off x="5592032" y="4601661"/>
            <a:ext cx="3529275" cy="1291380"/>
            <a:chOff x="2672" y="803"/>
            <a:chExt cx="2172" cy="836"/>
          </a:xfrm>
        </p:grpSpPr>
        <p:grpSp>
          <p:nvGrpSpPr>
            <p:cNvPr id="40" name="Group 123"/>
            <p:cNvGrpSpPr>
              <a:grpSpLocks/>
            </p:cNvGrpSpPr>
            <p:nvPr/>
          </p:nvGrpSpPr>
          <p:grpSpPr bwMode="auto">
            <a:xfrm>
              <a:off x="2672" y="1396"/>
              <a:ext cx="378" cy="235"/>
              <a:chOff x="5638" y="8772"/>
              <a:chExt cx="560" cy="375"/>
            </a:xfrm>
          </p:grpSpPr>
          <p:sp>
            <p:nvSpPr>
              <p:cNvPr id="64" name="Oval 124"/>
              <p:cNvSpPr>
                <a:spLocks noChangeArrowheads="1"/>
              </p:cNvSpPr>
              <p:nvPr/>
            </p:nvSpPr>
            <p:spPr bwMode="auto">
              <a:xfrm>
                <a:off x="5840" y="8772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65" name="Text Box 125"/>
              <p:cNvSpPr txBox="1">
                <a:spLocks noChangeArrowheads="1"/>
              </p:cNvSpPr>
              <p:nvPr/>
            </p:nvSpPr>
            <p:spPr bwMode="auto">
              <a:xfrm>
                <a:off x="5638" y="8844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 dirty="0"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41" name="Group 126"/>
            <p:cNvGrpSpPr>
              <a:grpSpLocks/>
            </p:cNvGrpSpPr>
            <p:nvPr/>
          </p:nvGrpSpPr>
          <p:grpSpPr bwMode="auto">
            <a:xfrm>
              <a:off x="3203" y="803"/>
              <a:ext cx="241" cy="404"/>
              <a:chOff x="7362" y="2505"/>
              <a:chExt cx="358" cy="645"/>
            </a:xfrm>
          </p:grpSpPr>
          <p:sp>
            <p:nvSpPr>
              <p:cNvPr id="62" name="Oval 127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-5</a:t>
                </a:r>
              </a:p>
            </p:txBody>
          </p:sp>
          <p:sp>
            <p:nvSpPr>
              <p:cNvPr id="63" name="Text Box 12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42" name="Group 129"/>
            <p:cNvGrpSpPr>
              <a:grpSpLocks/>
            </p:cNvGrpSpPr>
            <p:nvPr/>
          </p:nvGrpSpPr>
          <p:grpSpPr bwMode="auto">
            <a:xfrm>
              <a:off x="3054" y="1404"/>
              <a:ext cx="365" cy="235"/>
              <a:chOff x="6204" y="8808"/>
              <a:chExt cx="540" cy="375"/>
            </a:xfrm>
          </p:grpSpPr>
          <p:sp>
            <p:nvSpPr>
              <p:cNvPr id="60" name="Oval 130"/>
              <p:cNvSpPr>
                <a:spLocks noChangeArrowheads="1"/>
              </p:cNvSpPr>
              <p:nvPr/>
            </p:nvSpPr>
            <p:spPr bwMode="auto">
              <a:xfrm>
                <a:off x="6386" y="8808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61" name="Text Box 131"/>
              <p:cNvSpPr txBox="1">
                <a:spLocks noChangeArrowheads="1"/>
              </p:cNvSpPr>
              <p:nvPr/>
            </p:nvSpPr>
            <p:spPr bwMode="auto">
              <a:xfrm>
                <a:off x="6204" y="8868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43" name="Group 132"/>
            <p:cNvGrpSpPr>
              <a:grpSpLocks/>
            </p:cNvGrpSpPr>
            <p:nvPr/>
          </p:nvGrpSpPr>
          <p:grpSpPr bwMode="auto">
            <a:xfrm>
              <a:off x="4035" y="805"/>
              <a:ext cx="242" cy="404"/>
              <a:chOff x="7649" y="2515"/>
              <a:chExt cx="358" cy="645"/>
            </a:xfrm>
          </p:grpSpPr>
          <p:sp>
            <p:nvSpPr>
              <p:cNvPr id="58" name="Oval 133"/>
              <p:cNvSpPr>
                <a:spLocks noChangeArrowheads="1"/>
              </p:cNvSpPr>
              <p:nvPr/>
            </p:nvSpPr>
            <p:spPr bwMode="auto">
              <a:xfrm>
                <a:off x="7649" y="278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59" name="Text Box 134"/>
              <p:cNvSpPr txBox="1">
                <a:spLocks noChangeArrowheads="1"/>
              </p:cNvSpPr>
              <p:nvPr/>
            </p:nvSpPr>
            <p:spPr bwMode="auto">
              <a:xfrm>
                <a:off x="7771" y="251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44" name="Group 135"/>
            <p:cNvGrpSpPr>
              <a:grpSpLocks/>
            </p:cNvGrpSpPr>
            <p:nvPr/>
          </p:nvGrpSpPr>
          <p:grpSpPr bwMode="auto">
            <a:xfrm>
              <a:off x="4309" y="805"/>
              <a:ext cx="242" cy="404"/>
              <a:chOff x="7649" y="2515"/>
              <a:chExt cx="358" cy="645"/>
            </a:xfrm>
          </p:grpSpPr>
          <p:sp>
            <p:nvSpPr>
              <p:cNvPr id="56" name="Oval 136"/>
              <p:cNvSpPr>
                <a:spLocks noChangeArrowheads="1"/>
              </p:cNvSpPr>
              <p:nvPr/>
            </p:nvSpPr>
            <p:spPr bwMode="auto">
              <a:xfrm>
                <a:off x="7649" y="278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57" name="Text Box 137"/>
              <p:cNvSpPr txBox="1">
                <a:spLocks noChangeArrowheads="1"/>
              </p:cNvSpPr>
              <p:nvPr/>
            </p:nvSpPr>
            <p:spPr bwMode="auto">
              <a:xfrm>
                <a:off x="7771" y="251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45" name="Group 138"/>
            <p:cNvGrpSpPr>
              <a:grpSpLocks/>
            </p:cNvGrpSpPr>
            <p:nvPr/>
          </p:nvGrpSpPr>
          <p:grpSpPr bwMode="auto">
            <a:xfrm>
              <a:off x="4602" y="805"/>
              <a:ext cx="242" cy="404"/>
              <a:chOff x="7649" y="2515"/>
              <a:chExt cx="358" cy="645"/>
            </a:xfrm>
          </p:grpSpPr>
          <p:sp>
            <p:nvSpPr>
              <p:cNvPr id="54" name="Oval 139"/>
              <p:cNvSpPr>
                <a:spLocks noChangeArrowheads="1"/>
              </p:cNvSpPr>
              <p:nvPr/>
            </p:nvSpPr>
            <p:spPr bwMode="auto">
              <a:xfrm>
                <a:off x="7649" y="278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55" name="Text Box 140"/>
              <p:cNvSpPr txBox="1">
                <a:spLocks noChangeArrowheads="1"/>
              </p:cNvSpPr>
              <p:nvPr/>
            </p:nvSpPr>
            <p:spPr bwMode="auto">
              <a:xfrm>
                <a:off x="7771" y="251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sp>
          <p:nvSpPr>
            <p:cNvPr id="46" name="Oval 142"/>
            <p:cNvSpPr>
              <a:spLocks noChangeArrowheads="1"/>
            </p:cNvSpPr>
            <p:nvPr/>
          </p:nvSpPr>
          <p:spPr bwMode="auto">
            <a:xfrm>
              <a:off x="3536" y="1404"/>
              <a:ext cx="242" cy="23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7" name="Text Box 143"/>
            <p:cNvSpPr txBox="1">
              <a:spLocks noChangeArrowheads="1"/>
            </p:cNvSpPr>
            <p:nvPr/>
          </p:nvSpPr>
          <p:spPr bwMode="auto">
            <a:xfrm>
              <a:off x="3427" y="1442"/>
              <a:ext cx="92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48" name="Oval 144"/>
            <p:cNvSpPr>
              <a:spLocks noChangeArrowheads="1"/>
            </p:cNvSpPr>
            <p:nvPr/>
          </p:nvSpPr>
          <p:spPr bwMode="auto">
            <a:xfrm>
              <a:off x="3833" y="1394"/>
              <a:ext cx="242" cy="23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solidFill>
                    <a:srgbClr val="FF0000"/>
                  </a:solidFill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9" name="Text Box 145"/>
            <p:cNvSpPr txBox="1">
              <a:spLocks noChangeArrowheads="1"/>
            </p:cNvSpPr>
            <p:nvPr/>
          </p:nvSpPr>
          <p:spPr bwMode="auto">
            <a:xfrm>
              <a:off x="4131" y="1432"/>
              <a:ext cx="92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50" name="Line 146"/>
            <p:cNvSpPr>
              <a:spLocks noChangeShapeType="1"/>
            </p:cNvSpPr>
            <p:nvPr/>
          </p:nvSpPr>
          <p:spPr bwMode="auto">
            <a:xfrm flipH="1" flipV="1">
              <a:off x="3399" y="1177"/>
              <a:ext cx="479" cy="2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147"/>
            <p:cNvSpPr>
              <a:spLocks noChangeShapeType="1"/>
            </p:cNvSpPr>
            <p:nvPr/>
          </p:nvSpPr>
          <p:spPr bwMode="auto">
            <a:xfrm flipV="1">
              <a:off x="3308" y="1190"/>
              <a:ext cx="1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148"/>
            <p:cNvSpPr>
              <a:spLocks noChangeShapeType="1"/>
            </p:cNvSpPr>
            <p:nvPr/>
          </p:nvSpPr>
          <p:spPr bwMode="auto">
            <a:xfrm flipH="1" flipV="1">
              <a:off x="3355" y="1199"/>
              <a:ext cx="274" cy="2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149"/>
            <p:cNvSpPr>
              <a:spLocks noChangeShapeType="1"/>
            </p:cNvSpPr>
            <p:nvPr/>
          </p:nvSpPr>
          <p:spPr bwMode="auto">
            <a:xfrm flipV="1">
              <a:off x="2966" y="1194"/>
              <a:ext cx="295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6" name="Text Box 151"/>
          <p:cNvSpPr txBox="1">
            <a:spLocks noChangeArrowheads="1"/>
          </p:cNvSpPr>
          <p:nvPr/>
        </p:nvSpPr>
        <p:spPr bwMode="auto">
          <a:xfrm>
            <a:off x="2171012" y="4857951"/>
            <a:ext cx="2524718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200025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0  0  1  1  3  5  6  7</a:t>
            </a:r>
          </a:p>
        </p:txBody>
      </p:sp>
      <p:sp>
        <p:nvSpPr>
          <p:cNvPr id="67" name="Text Box 180"/>
          <p:cNvSpPr txBox="1">
            <a:spLocks noChangeArrowheads="1"/>
          </p:cNvSpPr>
          <p:nvPr/>
        </p:nvSpPr>
        <p:spPr bwMode="auto">
          <a:xfrm>
            <a:off x="9652173" y="4868012"/>
            <a:ext cx="10795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{1,2,3,4}</a:t>
            </a:r>
          </a:p>
        </p:txBody>
      </p:sp>
      <p:sp>
        <p:nvSpPr>
          <p:cNvPr id="68" name="Text Box 226"/>
          <p:cNvSpPr txBox="1">
            <a:spLocks noChangeArrowheads="1"/>
          </p:cNvSpPr>
          <p:nvPr/>
        </p:nvSpPr>
        <p:spPr bwMode="auto">
          <a:xfrm>
            <a:off x="784465" y="5161666"/>
            <a:ext cx="7764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000" b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舍弃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</a:p>
        </p:txBody>
      </p:sp>
      <p:sp>
        <p:nvSpPr>
          <p:cNvPr id="69" name="Text Box 227"/>
          <p:cNvSpPr txBox="1">
            <a:spLocks noChangeArrowheads="1"/>
          </p:cNvSpPr>
          <p:nvPr/>
        </p:nvSpPr>
        <p:spPr bwMode="auto">
          <a:xfrm>
            <a:off x="1049083" y="4862215"/>
            <a:ext cx="215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000" b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5</a:t>
            </a:r>
          </a:p>
        </p:txBody>
      </p:sp>
      <p:sp>
        <p:nvSpPr>
          <p:cNvPr id="70" name="Text Box 348"/>
          <p:cNvSpPr txBox="1">
            <a:spLocks noChangeArrowheads="1"/>
          </p:cNvSpPr>
          <p:nvPr/>
        </p:nvSpPr>
        <p:spPr bwMode="auto">
          <a:xfrm>
            <a:off x="2179614" y="1954223"/>
            <a:ext cx="2810129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 dirty="0">
                <a:cs typeface="Arial" panose="020B0604020202020204" pitchFamily="34" charset="0"/>
              </a:rPr>
              <a:t>F(0)(1)(2)(3)(4)(5)(6)(7)</a:t>
            </a:r>
          </a:p>
        </p:txBody>
      </p:sp>
    </p:spTree>
    <p:extLst>
      <p:ext uri="{BB962C8B-B14F-4D97-AF65-F5344CB8AC3E}">
        <p14:creationId xmlns:p14="http://schemas.microsoft.com/office/powerpoint/2010/main" val="109494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95400" y="188640"/>
            <a:ext cx="5504534" cy="1657350"/>
          </a:xfrm>
        </p:spPr>
        <p:txBody>
          <a:bodyPr>
            <a:norm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sz="2400" dirty="0"/>
              <a:t>设</a:t>
            </a:r>
            <a:r>
              <a:rPr lang="en-US" altLang="zh-CN" sz="2400" dirty="0"/>
              <a:t>n=7</a:t>
            </a:r>
            <a:r>
              <a:rPr lang="zh-CN" altLang="en-US" sz="2400" dirty="0"/>
              <a:t>，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…,p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)=(35,30,25,20,15,10,5)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400" dirty="0"/>
              <a:t>(d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d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…,d</a:t>
            </a:r>
            <a:r>
              <a:rPr lang="en-US" altLang="zh-CN" sz="2400" baseline="-25000" dirty="0"/>
              <a:t>7</a:t>
            </a:r>
            <a:r>
              <a:rPr lang="en-US" altLang="zh-CN" sz="2400" dirty="0"/>
              <a:t>)=(4,2,4,3,4,8,3)</a:t>
            </a:r>
          </a:p>
        </p:txBody>
      </p:sp>
      <p:sp>
        <p:nvSpPr>
          <p:cNvPr id="6" name="Text Box 181"/>
          <p:cNvSpPr txBox="1">
            <a:spLocks noChangeArrowheads="1"/>
          </p:cNvSpPr>
          <p:nvPr/>
        </p:nvSpPr>
        <p:spPr bwMode="auto">
          <a:xfrm>
            <a:off x="2566914" y="2595930"/>
            <a:ext cx="25939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0  0  1  1  3  5   6  </a:t>
            </a:r>
            <a:r>
              <a:rPr lang="en-US" altLang="zh-CN" sz="2000" b="0" dirty="0">
                <a:solidFill>
                  <a:srgbClr val="FF0000"/>
                </a:solidFill>
                <a:cs typeface="Arial" panose="020B0604020202020204" pitchFamily="34" charset="0"/>
              </a:rPr>
              <a:t>6</a:t>
            </a:r>
          </a:p>
        </p:txBody>
      </p:sp>
      <p:grpSp>
        <p:nvGrpSpPr>
          <p:cNvPr id="7" name="Group 224"/>
          <p:cNvGrpSpPr>
            <a:grpSpLocks/>
          </p:cNvGrpSpPr>
          <p:nvPr/>
        </p:nvGrpSpPr>
        <p:grpSpPr bwMode="auto">
          <a:xfrm>
            <a:off x="5560210" y="2278568"/>
            <a:ext cx="3342716" cy="1345633"/>
            <a:chOff x="2517" y="1888"/>
            <a:chExt cx="2056" cy="845"/>
          </a:xfrm>
        </p:grpSpPr>
        <p:grpSp>
          <p:nvGrpSpPr>
            <p:cNvPr id="8" name="Group 183"/>
            <p:cNvGrpSpPr>
              <a:grpSpLocks/>
            </p:cNvGrpSpPr>
            <p:nvPr/>
          </p:nvGrpSpPr>
          <p:grpSpPr bwMode="auto">
            <a:xfrm>
              <a:off x="2517" y="2418"/>
              <a:ext cx="356" cy="300"/>
              <a:chOff x="5678" y="8688"/>
              <a:chExt cx="520" cy="480"/>
            </a:xfrm>
          </p:grpSpPr>
          <p:sp>
            <p:nvSpPr>
              <p:cNvPr id="33" name="Oval 184"/>
              <p:cNvSpPr>
                <a:spLocks noChangeArrowheads="1"/>
              </p:cNvSpPr>
              <p:nvPr/>
            </p:nvSpPr>
            <p:spPr bwMode="auto">
              <a:xfrm>
                <a:off x="5840" y="8793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4" name="Text Box 185"/>
              <p:cNvSpPr txBox="1">
                <a:spLocks noChangeArrowheads="1"/>
              </p:cNvSpPr>
              <p:nvPr/>
            </p:nvSpPr>
            <p:spPr bwMode="auto">
              <a:xfrm>
                <a:off x="5678" y="8688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0</a:t>
                </a:r>
              </a:p>
            </p:txBody>
          </p:sp>
        </p:grpSp>
        <p:grpSp>
          <p:nvGrpSpPr>
            <p:cNvPr id="9" name="Group 186"/>
            <p:cNvGrpSpPr>
              <a:grpSpLocks/>
            </p:cNvGrpSpPr>
            <p:nvPr/>
          </p:nvGrpSpPr>
          <p:grpSpPr bwMode="auto">
            <a:xfrm>
              <a:off x="3027" y="1892"/>
              <a:ext cx="245" cy="404"/>
              <a:chOff x="7362" y="2505"/>
              <a:chExt cx="358" cy="645"/>
            </a:xfrm>
          </p:grpSpPr>
          <p:sp>
            <p:nvSpPr>
              <p:cNvPr id="31" name="Oval 187"/>
              <p:cNvSpPr>
                <a:spLocks noChangeArrowheads="1"/>
              </p:cNvSpPr>
              <p:nvPr/>
            </p:nvSpPr>
            <p:spPr bwMode="auto">
              <a:xfrm>
                <a:off x="7362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-5</a:t>
                </a:r>
              </a:p>
            </p:txBody>
          </p:sp>
          <p:sp>
            <p:nvSpPr>
              <p:cNvPr id="32" name="Text Box 188"/>
              <p:cNvSpPr txBox="1">
                <a:spLocks noChangeArrowheads="1"/>
              </p:cNvSpPr>
              <p:nvPr/>
            </p:nvSpPr>
            <p:spPr bwMode="auto">
              <a:xfrm>
                <a:off x="7484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10" name="Group 189"/>
            <p:cNvGrpSpPr>
              <a:grpSpLocks/>
            </p:cNvGrpSpPr>
            <p:nvPr/>
          </p:nvGrpSpPr>
          <p:grpSpPr bwMode="auto">
            <a:xfrm>
              <a:off x="2877" y="2493"/>
              <a:ext cx="369" cy="235"/>
              <a:chOff x="6204" y="8808"/>
              <a:chExt cx="540" cy="375"/>
            </a:xfrm>
          </p:grpSpPr>
          <p:sp>
            <p:nvSpPr>
              <p:cNvPr id="29" name="Oval 190"/>
              <p:cNvSpPr>
                <a:spLocks noChangeArrowheads="1"/>
              </p:cNvSpPr>
              <p:nvPr/>
            </p:nvSpPr>
            <p:spPr bwMode="auto">
              <a:xfrm>
                <a:off x="6386" y="8808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30" name="Text Box 191"/>
              <p:cNvSpPr txBox="1">
                <a:spLocks noChangeArrowheads="1"/>
              </p:cNvSpPr>
              <p:nvPr/>
            </p:nvSpPr>
            <p:spPr bwMode="auto">
              <a:xfrm>
                <a:off x="6204" y="8868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11" name="Group 192"/>
            <p:cNvGrpSpPr>
              <a:grpSpLocks/>
            </p:cNvGrpSpPr>
            <p:nvPr/>
          </p:nvGrpSpPr>
          <p:grpSpPr bwMode="auto">
            <a:xfrm>
              <a:off x="4051" y="1888"/>
              <a:ext cx="244" cy="404"/>
              <a:chOff x="7584" y="2505"/>
              <a:chExt cx="358" cy="645"/>
            </a:xfrm>
          </p:grpSpPr>
          <p:sp>
            <p:nvSpPr>
              <p:cNvPr id="27" name="Oval 193"/>
              <p:cNvSpPr>
                <a:spLocks noChangeArrowheads="1"/>
              </p:cNvSpPr>
              <p:nvPr/>
            </p:nvSpPr>
            <p:spPr bwMode="auto">
              <a:xfrm>
                <a:off x="7584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-1</a:t>
                </a:r>
              </a:p>
            </p:txBody>
          </p:sp>
          <p:sp>
            <p:nvSpPr>
              <p:cNvPr id="28" name="Text Box 194"/>
              <p:cNvSpPr txBox="1">
                <a:spLocks noChangeArrowheads="1"/>
              </p:cNvSpPr>
              <p:nvPr/>
            </p:nvSpPr>
            <p:spPr bwMode="auto">
              <a:xfrm>
                <a:off x="7706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 dirty="0">
                    <a:ea typeface="幼圆" panose="02010509060101010101" pitchFamily="49" charset="-122"/>
                    <a:cs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12" name="Group 195"/>
            <p:cNvGrpSpPr>
              <a:grpSpLocks/>
            </p:cNvGrpSpPr>
            <p:nvPr/>
          </p:nvGrpSpPr>
          <p:grpSpPr bwMode="auto">
            <a:xfrm>
              <a:off x="4328" y="1888"/>
              <a:ext cx="245" cy="404"/>
              <a:chOff x="7584" y="2505"/>
              <a:chExt cx="358" cy="645"/>
            </a:xfrm>
          </p:grpSpPr>
          <p:sp>
            <p:nvSpPr>
              <p:cNvPr id="25" name="Oval 196"/>
              <p:cNvSpPr>
                <a:spLocks noChangeArrowheads="1"/>
              </p:cNvSpPr>
              <p:nvPr/>
            </p:nvSpPr>
            <p:spPr bwMode="auto">
              <a:xfrm>
                <a:off x="7584" y="27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-2</a:t>
                </a:r>
              </a:p>
            </p:txBody>
          </p:sp>
          <p:sp>
            <p:nvSpPr>
              <p:cNvPr id="26" name="Text Box 197"/>
              <p:cNvSpPr txBox="1">
                <a:spLocks noChangeArrowheads="1"/>
              </p:cNvSpPr>
              <p:nvPr/>
            </p:nvSpPr>
            <p:spPr bwMode="auto">
              <a:xfrm>
                <a:off x="7706" y="250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13" name="Group 198"/>
            <p:cNvGrpSpPr>
              <a:grpSpLocks/>
            </p:cNvGrpSpPr>
            <p:nvPr/>
          </p:nvGrpSpPr>
          <p:grpSpPr bwMode="auto">
            <a:xfrm>
              <a:off x="4236" y="2499"/>
              <a:ext cx="337" cy="234"/>
              <a:chOff x="8068" y="12975"/>
              <a:chExt cx="492" cy="375"/>
            </a:xfrm>
          </p:grpSpPr>
          <p:sp>
            <p:nvSpPr>
              <p:cNvPr id="23" name="Oval 199"/>
              <p:cNvSpPr>
                <a:spLocks noChangeArrowheads="1"/>
              </p:cNvSpPr>
              <p:nvPr/>
            </p:nvSpPr>
            <p:spPr bwMode="auto">
              <a:xfrm>
                <a:off x="8202" y="12975"/>
                <a:ext cx="358" cy="37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24" name="Text Box 200"/>
              <p:cNvSpPr txBox="1">
                <a:spLocks noChangeArrowheads="1"/>
              </p:cNvSpPr>
              <p:nvPr/>
            </p:nvSpPr>
            <p:spPr bwMode="auto">
              <a:xfrm>
                <a:off x="8068" y="13035"/>
                <a:ext cx="136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0">
                    <a:ea typeface="幼圆" panose="02010509060101010101" pitchFamily="49" charset="-122"/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sp>
          <p:nvSpPr>
            <p:cNvPr id="14" name="Oval 202"/>
            <p:cNvSpPr>
              <a:spLocks noChangeArrowheads="1"/>
            </p:cNvSpPr>
            <p:nvPr/>
          </p:nvSpPr>
          <p:spPr bwMode="auto">
            <a:xfrm>
              <a:off x="3365" y="2493"/>
              <a:ext cx="245" cy="23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幼圆" panose="02010509060101010101" pitchFamily="49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5" name="Text Box 203"/>
            <p:cNvSpPr txBox="1">
              <a:spLocks noChangeArrowheads="1"/>
            </p:cNvSpPr>
            <p:nvPr/>
          </p:nvSpPr>
          <p:spPr bwMode="auto">
            <a:xfrm>
              <a:off x="3254" y="2531"/>
              <a:ext cx="93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幼圆" panose="02010509060101010101" pitchFamily="49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6" name="Oval 204"/>
            <p:cNvSpPr>
              <a:spLocks noChangeArrowheads="1"/>
            </p:cNvSpPr>
            <p:nvPr/>
          </p:nvSpPr>
          <p:spPr bwMode="auto">
            <a:xfrm>
              <a:off x="3732" y="2493"/>
              <a:ext cx="245" cy="23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ea typeface="幼圆" panose="02010509060101010101" pitchFamily="49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7" name="Text Box 205"/>
            <p:cNvSpPr txBox="1">
              <a:spLocks noChangeArrowheads="1"/>
            </p:cNvSpPr>
            <p:nvPr/>
          </p:nvSpPr>
          <p:spPr bwMode="auto">
            <a:xfrm>
              <a:off x="3639" y="2475"/>
              <a:ext cx="93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ea typeface="幼圆" panose="02010509060101010101" pitchFamily="49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8" name="Line 206"/>
            <p:cNvSpPr>
              <a:spLocks noChangeShapeType="1"/>
            </p:cNvSpPr>
            <p:nvPr/>
          </p:nvSpPr>
          <p:spPr bwMode="auto">
            <a:xfrm flipH="1" flipV="1">
              <a:off x="3243" y="2251"/>
              <a:ext cx="544" cy="2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Line 207"/>
            <p:cNvSpPr>
              <a:spLocks noChangeShapeType="1"/>
            </p:cNvSpPr>
            <p:nvPr/>
          </p:nvSpPr>
          <p:spPr bwMode="auto">
            <a:xfrm flipV="1">
              <a:off x="3134" y="2296"/>
              <a:ext cx="3" cy="1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0" name="Line 208"/>
            <p:cNvSpPr>
              <a:spLocks noChangeShapeType="1"/>
            </p:cNvSpPr>
            <p:nvPr/>
          </p:nvSpPr>
          <p:spPr bwMode="auto">
            <a:xfrm flipH="1" flipV="1">
              <a:off x="3197" y="2287"/>
              <a:ext cx="262" cy="2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1" name="Line 209"/>
            <p:cNvSpPr>
              <a:spLocks noChangeShapeType="1"/>
            </p:cNvSpPr>
            <p:nvPr/>
          </p:nvSpPr>
          <p:spPr bwMode="auto">
            <a:xfrm flipV="1">
              <a:off x="2788" y="2266"/>
              <a:ext cx="277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2" name="Line 210"/>
            <p:cNvSpPr>
              <a:spLocks noChangeShapeType="1"/>
            </p:cNvSpPr>
            <p:nvPr/>
          </p:nvSpPr>
          <p:spPr bwMode="auto">
            <a:xfrm flipV="1">
              <a:off x="4438" y="2291"/>
              <a:ext cx="0" cy="20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35" name="Text Box 211"/>
          <p:cNvSpPr txBox="1">
            <a:spLocks noChangeArrowheads="1"/>
          </p:cNvSpPr>
          <p:nvPr/>
        </p:nvSpPr>
        <p:spPr bwMode="auto">
          <a:xfrm>
            <a:off x="9624392" y="2547689"/>
            <a:ext cx="14763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{1,2,3,4,6}</a:t>
            </a:r>
          </a:p>
        </p:txBody>
      </p:sp>
      <p:sp>
        <p:nvSpPr>
          <p:cNvPr id="36" name="Text Box 212"/>
          <p:cNvSpPr txBox="1">
            <a:spLocks noChangeArrowheads="1"/>
          </p:cNvSpPr>
          <p:nvPr/>
        </p:nvSpPr>
        <p:spPr bwMode="auto">
          <a:xfrm>
            <a:off x="2387797" y="3962854"/>
            <a:ext cx="58578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indent="200025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0  0  1  1  3  5   6  6                          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同上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" name="Text Box 225"/>
          <p:cNvSpPr txBox="1">
            <a:spLocks noChangeArrowheads="1"/>
          </p:cNvSpPr>
          <p:nvPr/>
        </p:nvSpPr>
        <p:spPr bwMode="auto">
          <a:xfrm>
            <a:off x="907230" y="5038788"/>
            <a:ext cx="67177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最优解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r>
              <a:rPr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＝ 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{1,2,3,4,6}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，处理次序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4,2,3,1,6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，效益值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38" name="Text Box 228"/>
          <p:cNvSpPr txBox="1">
            <a:spLocks noChangeArrowheads="1"/>
          </p:cNvSpPr>
          <p:nvPr/>
        </p:nvSpPr>
        <p:spPr bwMode="auto">
          <a:xfrm>
            <a:off x="1235267" y="2624336"/>
            <a:ext cx="215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6</a:t>
            </a:r>
          </a:p>
        </p:txBody>
      </p:sp>
      <p:sp>
        <p:nvSpPr>
          <p:cNvPr id="39" name="Text Box 229"/>
          <p:cNvSpPr txBox="1">
            <a:spLocks noChangeArrowheads="1"/>
          </p:cNvSpPr>
          <p:nvPr/>
        </p:nvSpPr>
        <p:spPr bwMode="auto">
          <a:xfrm>
            <a:off x="1235267" y="3976737"/>
            <a:ext cx="2159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0" dirty="0">
                <a:cs typeface="Arial" panose="020B0604020202020204" pitchFamily="34" charset="0"/>
              </a:rPr>
              <a:t>7</a:t>
            </a:r>
          </a:p>
        </p:txBody>
      </p:sp>
      <p:sp>
        <p:nvSpPr>
          <p:cNvPr id="40" name="Text Box 230"/>
          <p:cNvSpPr txBox="1">
            <a:spLocks noChangeArrowheads="1"/>
          </p:cNvSpPr>
          <p:nvPr/>
        </p:nvSpPr>
        <p:spPr bwMode="auto">
          <a:xfrm>
            <a:off x="947930" y="4265662"/>
            <a:ext cx="9366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舍弃</a:t>
            </a:r>
            <a:r>
              <a:rPr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1" name="Text Box 214"/>
          <p:cNvSpPr txBox="1">
            <a:spLocks noChangeArrowheads="1"/>
          </p:cNvSpPr>
          <p:nvPr/>
        </p:nvSpPr>
        <p:spPr bwMode="auto">
          <a:xfrm>
            <a:off x="1104293" y="1812278"/>
            <a:ext cx="660400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考虑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作业</a:t>
            </a: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3" name="Text Box 348"/>
          <p:cNvSpPr txBox="1">
            <a:spLocks noChangeArrowheads="1"/>
          </p:cNvSpPr>
          <p:nvPr/>
        </p:nvSpPr>
        <p:spPr bwMode="auto">
          <a:xfrm>
            <a:off x="2360444" y="2075428"/>
            <a:ext cx="2810129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0" dirty="0">
                <a:cs typeface="Arial" panose="020B0604020202020204" pitchFamily="34" charset="0"/>
              </a:rPr>
              <a:t>F(0)(1)(2)(3)(4)(5)(6)(7)</a:t>
            </a:r>
          </a:p>
        </p:txBody>
      </p:sp>
    </p:spTree>
    <p:extLst>
      <p:ext uri="{BB962C8B-B14F-4D97-AF65-F5344CB8AC3E}">
        <p14:creationId xmlns:p14="http://schemas.microsoft.com/office/powerpoint/2010/main" val="350538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9" grpId="0"/>
      <p:bldP spid="4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5.4 </a:t>
            </a:r>
            <a:r>
              <a:rPr lang="zh-CN" altLang="en-US" sz="4000" dirty="0"/>
              <a:t>最小生成树问题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问题回顾</a:t>
            </a:r>
            <a:endParaRPr lang="en-US" altLang="zh-CN" sz="2800" dirty="0"/>
          </a:p>
          <a:p>
            <a:r>
              <a:rPr lang="en-US" altLang="zh-CN" sz="2800" dirty="0" err="1"/>
              <a:t>Kruskal</a:t>
            </a:r>
            <a:r>
              <a:rPr lang="zh-CN" altLang="en-US" sz="2800" dirty="0"/>
              <a:t>算法描述</a:t>
            </a:r>
            <a:endParaRPr lang="en-US" altLang="zh-CN" sz="2800" dirty="0"/>
          </a:p>
          <a:p>
            <a:r>
              <a:rPr lang="zh-CN" altLang="en-US" sz="2800" dirty="0"/>
              <a:t>贪心策略分析</a:t>
            </a:r>
            <a:endParaRPr lang="en-US" altLang="zh-CN" sz="2800" dirty="0"/>
          </a:p>
          <a:p>
            <a:r>
              <a:rPr lang="zh-CN" altLang="en-US" sz="2800" dirty="0"/>
              <a:t>实例运行</a:t>
            </a:r>
            <a:endParaRPr lang="en-US" altLang="zh-CN" sz="2800" dirty="0"/>
          </a:p>
          <a:p>
            <a:r>
              <a:rPr lang="zh-CN" altLang="en-US" sz="2800" dirty="0"/>
              <a:t>证明贪心解最优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84996" name="圆角矩形标注 9"/>
          <p:cNvSpPr>
            <a:spLocks noChangeArrowheads="1"/>
          </p:cNvSpPr>
          <p:nvPr/>
        </p:nvSpPr>
        <p:spPr bwMode="auto">
          <a:xfrm>
            <a:off x="5231904" y="1710842"/>
            <a:ext cx="4391916" cy="1440754"/>
          </a:xfrm>
          <a:prstGeom prst="wedgeRoundRectCallout">
            <a:avLst>
              <a:gd name="adj1" fmla="val -55861"/>
              <a:gd name="adj2" fmla="val -64981"/>
              <a:gd name="adj3" fmla="val 16667"/>
            </a:avLst>
          </a:prstGeom>
          <a:noFill/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贪心法解决的一个有名问题是最小生成树问题，本节介绍最小生成树的</a:t>
            </a:r>
            <a:r>
              <a:rPr lang="en-US" altLang="zh-CN" sz="2400" b="0" dirty="0" err="1">
                <a:ea typeface="幼圆" panose="02010509060101010101" pitchFamily="49" charset="-122"/>
                <a:cs typeface="Arial" panose="020B0604020202020204" pitchFamily="34" charset="0"/>
              </a:rPr>
              <a:t>Kruskal</a:t>
            </a:r>
            <a:r>
              <a:rPr lang="zh-CN" altLang="en-US" sz="2400" b="0" dirty="0">
                <a:latin typeface="幼圆" panose="02010509060101010101" pitchFamily="49" charset="-122"/>
                <a:ea typeface="幼圆" panose="02010509060101010101" pitchFamily="49" charset="-122"/>
              </a:rPr>
              <a:t>方法</a:t>
            </a:r>
            <a:endParaRPr lang="en-US" altLang="zh-CN" sz="24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838200" y="103209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问题回顾</a:t>
            </a:r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>
          <a:xfrm>
            <a:off x="837120" y="1340768"/>
            <a:ext cx="10153128" cy="3230562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最小生成树的定义：</a:t>
            </a:r>
            <a:endParaRPr lang="en-US" altLang="zh-CN" sz="2400" dirty="0"/>
          </a:p>
          <a:p>
            <a:pPr lvl="1"/>
            <a:r>
              <a:rPr lang="zh-CN" altLang="en-US" sz="2400" dirty="0"/>
              <a:t>设</a:t>
            </a:r>
            <a:r>
              <a:rPr lang="en-US" altLang="zh-CN" sz="2400" dirty="0"/>
              <a:t>G=(V,E)</a:t>
            </a:r>
            <a:r>
              <a:rPr lang="zh-CN" altLang="en-US" sz="2400" dirty="0"/>
              <a:t>是一个加权无向连通图。</a:t>
            </a:r>
            <a:r>
              <a:rPr lang="en-US" altLang="zh-CN" sz="2400" dirty="0"/>
              <a:t>V</a:t>
            </a:r>
            <a:r>
              <a:rPr lang="zh-CN" altLang="en-US" sz="2400" dirty="0"/>
              <a:t>表示顶点集合，</a:t>
            </a:r>
            <a:r>
              <a:rPr lang="en-US" altLang="zh-CN" sz="2400" dirty="0"/>
              <a:t>E</a:t>
            </a:r>
            <a:r>
              <a:rPr lang="zh-CN" altLang="en-US" sz="2400" dirty="0"/>
              <a:t>表示边集合。</a:t>
            </a:r>
            <a:r>
              <a:rPr lang="en-US" altLang="zh-CN" sz="2400" dirty="0"/>
              <a:t>G</a:t>
            </a:r>
            <a:r>
              <a:rPr lang="zh-CN" altLang="en-US" sz="2400" dirty="0"/>
              <a:t>的一棵生成树是一棵无向树</a:t>
            </a:r>
            <a:r>
              <a:rPr lang="en-US" altLang="zh-CN" sz="2400" dirty="0"/>
              <a:t>T=(V, E’)</a:t>
            </a:r>
            <a:r>
              <a:rPr lang="zh-CN" altLang="en-US" sz="2400" dirty="0"/>
              <a:t>，其中</a:t>
            </a:r>
            <a:r>
              <a:rPr lang="en-US" altLang="zh-CN" sz="2400" dirty="0"/>
              <a:t>E’</a:t>
            </a:r>
            <a:r>
              <a:rPr lang="zh-CN" altLang="en-US" sz="2400" dirty="0"/>
              <a:t>是</a:t>
            </a:r>
            <a:r>
              <a:rPr lang="en-US" altLang="zh-CN" sz="2400" dirty="0"/>
              <a:t>E</a:t>
            </a:r>
            <a:r>
              <a:rPr lang="zh-CN" altLang="en-US" sz="2400" dirty="0"/>
              <a:t>的子集。生成树的权是</a:t>
            </a:r>
            <a:r>
              <a:rPr lang="en-US" altLang="zh-CN" sz="2400" dirty="0"/>
              <a:t>E’</a:t>
            </a:r>
            <a:r>
              <a:rPr lang="zh-CN" altLang="en-US" sz="2400" dirty="0"/>
              <a:t>的所有权之和。</a:t>
            </a:r>
            <a:r>
              <a:rPr lang="en-US" altLang="zh-CN" sz="2400" dirty="0"/>
              <a:t>G</a:t>
            </a:r>
            <a:r>
              <a:rPr lang="zh-CN" altLang="en-US" sz="2400" dirty="0"/>
              <a:t>的最小生成树是</a:t>
            </a:r>
            <a:r>
              <a:rPr lang="en-US" altLang="zh-CN" sz="2400" dirty="0"/>
              <a:t>G</a:t>
            </a:r>
            <a:r>
              <a:rPr lang="zh-CN" altLang="en-US" sz="2400" dirty="0"/>
              <a:t>的具有最小权值的生成树。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grpSp>
        <p:nvGrpSpPr>
          <p:cNvPr id="5" name="组合 43"/>
          <p:cNvGrpSpPr>
            <a:grpSpLocks/>
          </p:cNvGrpSpPr>
          <p:nvPr/>
        </p:nvGrpSpPr>
        <p:grpSpPr bwMode="auto">
          <a:xfrm>
            <a:off x="1527329" y="3333870"/>
            <a:ext cx="4032910" cy="2474919"/>
            <a:chOff x="735453" y="804744"/>
            <a:chExt cx="4297077" cy="2742663"/>
          </a:xfrm>
          <a:noFill/>
        </p:grpSpPr>
        <p:sp>
          <p:nvSpPr>
            <p:cNvPr id="6" name="椭圆 5"/>
            <p:cNvSpPr/>
            <p:nvPr/>
          </p:nvSpPr>
          <p:spPr>
            <a:xfrm>
              <a:off x="880232" y="836506"/>
              <a:ext cx="503292" cy="50501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843290" y="804744"/>
              <a:ext cx="504880" cy="503431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880232" y="2492903"/>
              <a:ext cx="503292" cy="50343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844059" y="2492903"/>
              <a:ext cx="504880" cy="50343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529239" y="1628973"/>
              <a:ext cx="503291" cy="50343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>
              <a:stCxn id="6" idx="6"/>
              <a:endCxn id="10" idx="2"/>
            </p:cNvCxnSpPr>
            <p:nvPr/>
          </p:nvCxnSpPr>
          <p:spPr>
            <a:xfrm>
              <a:off x="1383524" y="1089015"/>
              <a:ext cx="3145714" cy="791673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1886323" y="899428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300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13" name="直接连接符 12"/>
            <p:cNvCxnSpPr>
              <a:stCxn id="6" idx="5"/>
              <a:endCxn id="9" idx="1"/>
            </p:cNvCxnSpPr>
            <p:nvPr/>
          </p:nvCxnSpPr>
          <p:spPr>
            <a:xfrm>
              <a:off x="1309819" y="1267566"/>
              <a:ext cx="1608179" cy="1299063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5"/>
            <p:cNvSpPr txBox="1">
              <a:spLocks noChangeArrowheads="1"/>
            </p:cNvSpPr>
            <p:nvPr/>
          </p:nvSpPr>
          <p:spPr bwMode="auto">
            <a:xfrm>
              <a:off x="1230075" y="1364589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80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15" name="直接连接符 14"/>
            <p:cNvCxnSpPr>
              <a:stCxn id="6" idx="4"/>
              <a:endCxn id="8" idx="0"/>
            </p:cNvCxnSpPr>
            <p:nvPr/>
          </p:nvCxnSpPr>
          <p:spPr>
            <a:xfrm>
              <a:off x="1131879" y="1341523"/>
              <a:ext cx="0" cy="1151380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9"/>
            <p:cNvSpPr txBox="1">
              <a:spLocks noChangeArrowheads="1"/>
            </p:cNvSpPr>
            <p:nvPr/>
          </p:nvSpPr>
          <p:spPr bwMode="auto">
            <a:xfrm>
              <a:off x="735453" y="1628800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50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17" name="直接连接符 16"/>
            <p:cNvCxnSpPr>
              <a:stCxn id="7" idx="3"/>
              <a:endCxn id="8" idx="7"/>
            </p:cNvCxnSpPr>
            <p:nvPr/>
          </p:nvCxnSpPr>
          <p:spPr>
            <a:xfrm flipH="1">
              <a:off x="1309820" y="1234450"/>
              <a:ext cx="1607409" cy="1332179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23"/>
            <p:cNvSpPr txBox="1">
              <a:spLocks noChangeArrowheads="1"/>
            </p:cNvSpPr>
            <p:nvPr/>
          </p:nvSpPr>
          <p:spPr bwMode="auto">
            <a:xfrm>
              <a:off x="1656150" y="2082771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200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19" name="直接连接符 18"/>
            <p:cNvCxnSpPr>
              <a:stCxn id="7" idx="4"/>
              <a:endCxn id="9" idx="0"/>
            </p:cNvCxnSpPr>
            <p:nvPr/>
          </p:nvCxnSpPr>
          <p:spPr>
            <a:xfrm>
              <a:off x="3095731" y="1308175"/>
              <a:ext cx="769" cy="1184729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28"/>
            <p:cNvSpPr txBox="1">
              <a:spLocks noChangeArrowheads="1"/>
            </p:cNvSpPr>
            <p:nvPr/>
          </p:nvSpPr>
          <p:spPr bwMode="auto">
            <a:xfrm>
              <a:off x="3131840" y="1696162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cs typeface="Arial" panose="020B0604020202020204" pitchFamily="34" charset="0"/>
                </a:rPr>
                <a:t>75</a:t>
              </a:r>
              <a:endParaRPr lang="zh-CN" altLang="en-US" sz="1800" b="0">
                <a:cs typeface="Arial" panose="020B0604020202020204" pitchFamily="34" charset="0"/>
              </a:endParaRPr>
            </a:p>
          </p:txBody>
        </p:sp>
        <p:cxnSp>
          <p:nvCxnSpPr>
            <p:cNvPr id="21" name="直接连接符 20"/>
            <p:cNvCxnSpPr>
              <a:stCxn id="8" idx="6"/>
              <a:endCxn id="9" idx="2"/>
            </p:cNvCxnSpPr>
            <p:nvPr/>
          </p:nvCxnSpPr>
          <p:spPr>
            <a:xfrm>
              <a:off x="1383525" y="2744618"/>
              <a:ext cx="1460534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0" idx="3"/>
              <a:endCxn id="9" idx="6"/>
            </p:cNvCxnSpPr>
            <p:nvPr/>
          </p:nvCxnSpPr>
          <p:spPr>
            <a:xfrm flipH="1">
              <a:off x="3348939" y="2058677"/>
              <a:ext cx="1254004" cy="685941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7" idx="6"/>
              <a:endCxn id="10" idx="1"/>
            </p:cNvCxnSpPr>
            <p:nvPr/>
          </p:nvCxnSpPr>
          <p:spPr>
            <a:xfrm>
              <a:off x="3348170" y="1056460"/>
              <a:ext cx="1254774" cy="646238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39"/>
            <p:cNvSpPr txBox="1">
              <a:spLocks noChangeArrowheads="1"/>
            </p:cNvSpPr>
            <p:nvPr/>
          </p:nvSpPr>
          <p:spPr bwMode="auto">
            <a:xfrm>
              <a:off x="1841612" y="2812285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cs typeface="Arial" panose="020B0604020202020204" pitchFamily="34" charset="0"/>
                </a:rPr>
                <a:t>90</a:t>
              </a:r>
              <a:endParaRPr lang="zh-CN" altLang="en-US" sz="1800" b="0">
                <a:cs typeface="Arial" panose="020B0604020202020204" pitchFamily="34" charset="0"/>
              </a:endParaRPr>
            </a:p>
          </p:txBody>
        </p:sp>
        <p:sp>
          <p:nvSpPr>
            <p:cNvPr id="25" name="TextBox 40"/>
            <p:cNvSpPr txBox="1">
              <a:spLocks noChangeArrowheads="1"/>
            </p:cNvSpPr>
            <p:nvPr/>
          </p:nvSpPr>
          <p:spPr bwMode="auto">
            <a:xfrm>
              <a:off x="3838716" y="2347788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60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sp>
          <p:nvSpPr>
            <p:cNvPr id="26" name="TextBox 41"/>
            <p:cNvSpPr txBox="1">
              <a:spLocks noChangeArrowheads="1"/>
            </p:cNvSpPr>
            <p:nvPr/>
          </p:nvSpPr>
          <p:spPr bwMode="auto">
            <a:xfrm>
              <a:off x="3838716" y="1077699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70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sp>
          <p:nvSpPr>
            <p:cNvPr id="27" name="TextBox 42"/>
            <p:cNvSpPr txBox="1">
              <a:spLocks noChangeArrowheads="1"/>
            </p:cNvSpPr>
            <p:nvPr/>
          </p:nvSpPr>
          <p:spPr bwMode="auto">
            <a:xfrm>
              <a:off x="1767148" y="3178075"/>
              <a:ext cx="190821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latin typeface="幼圆" panose="02010509060101010101" pitchFamily="49" charset="-122"/>
                  <a:ea typeface="幼圆" panose="02010509060101010101" pitchFamily="49" charset="-122"/>
                  <a:cs typeface="Arial" panose="020B0604020202020204" pitchFamily="34" charset="0"/>
                </a:rPr>
                <a:t>加权连通无向图</a:t>
              </a:r>
            </a:p>
          </p:txBody>
        </p:sp>
      </p:grpSp>
      <p:grpSp>
        <p:nvGrpSpPr>
          <p:cNvPr id="28" name="组合 67"/>
          <p:cNvGrpSpPr>
            <a:grpSpLocks/>
          </p:cNvGrpSpPr>
          <p:nvPr/>
        </p:nvGrpSpPr>
        <p:grpSpPr bwMode="auto">
          <a:xfrm>
            <a:off x="6642052" y="3362531"/>
            <a:ext cx="3660044" cy="2378625"/>
            <a:chOff x="539552" y="804744"/>
            <a:chExt cx="4001404" cy="2809576"/>
          </a:xfrm>
          <a:noFill/>
        </p:grpSpPr>
        <p:sp>
          <p:nvSpPr>
            <p:cNvPr id="29" name="椭圆 28"/>
            <p:cNvSpPr/>
            <p:nvPr/>
          </p:nvSpPr>
          <p:spPr>
            <a:xfrm>
              <a:off x="683990" y="836488"/>
              <a:ext cx="503151" cy="50472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304290" y="804744"/>
              <a:ext cx="504739" cy="50472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683990" y="2493513"/>
              <a:ext cx="503151" cy="50313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2350619" y="2493513"/>
              <a:ext cx="504739" cy="503137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4036217" y="1628495"/>
              <a:ext cx="504739" cy="504726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/>
            <p:cNvCxnSpPr>
              <a:stCxn id="29" idx="5"/>
              <a:endCxn id="32" idx="1"/>
            </p:cNvCxnSpPr>
            <p:nvPr/>
          </p:nvCxnSpPr>
          <p:spPr>
            <a:xfrm>
              <a:off x="1113456" y="1267299"/>
              <a:ext cx="1311080" cy="1299898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76"/>
            <p:cNvSpPr txBox="1">
              <a:spLocks noChangeArrowheads="1"/>
            </p:cNvSpPr>
            <p:nvPr/>
          </p:nvSpPr>
          <p:spPr bwMode="auto">
            <a:xfrm>
              <a:off x="1547664" y="1331477"/>
              <a:ext cx="648072" cy="43624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cs typeface="Arial" panose="020B0604020202020204" pitchFamily="34" charset="0"/>
                </a:rPr>
                <a:t>80</a:t>
              </a:r>
              <a:endParaRPr lang="zh-CN" altLang="en-US" sz="1800" b="0">
                <a:cs typeface="Arial" panose="020B0604020202020204" pitchFamily="34" charset="0"/>
              </a:endParaRPr>
            </a:p>
          </p:txBody>
        </p:sp>
        <p:cxnSp>
          <p:nvCxnSpPr>
            <p:cNvPr id="36" name="直接连接符 35"/>
            <p:cNvCxnSpPr>
              <a:stCxn id="29" idx="4"/>
              <a:endCxn id="31" idx="0"/>
            </p:cNvCxnSpPr>
            <p:nvPr/>
          </p:nvCxnSpPr>
          <p:spPr>
            <a:xfrm>
              <a:off x="936359" y="1341214"/>
              <a:ext cx="0" cy="1152299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78"/>
            <p:cNvSpPr txBox="1">
              <a:spLocks noChangeArrowheads="1"/>
            </p:cNvSpPr>
            <p:nvPr/>
          </p:nvSpPr>
          <p:spPr bwMode="auto">
            <a:xfrm>
              <a:off x="539552" y="1628800"/>
              <a:ext cx="648072" cy="43624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cs typeface="Arial" panose="020B0604020202020204" pitchFamily="34" charset="0"/>
                </a:rPr>
                <a:t>50</a:t>
              </a:r>
              <a:endParaRPr lang="zh-CN" altLang="en-US" sz="1800" b="0">
                <a:cs typeface="Arial" panose="020B0604020202020204" pitchFamily="34" charset="0"/>
              </a:endParaRPr>
            </a:p>
          </p:txBody>
        </p:sp>
        <p:cxnSp>
          <p:nvCxnSpPr>
            <p:cNvPr id="38" name="直接连接符 37"/>
            <p:cNvCxnSpPr>
              <a:stCxn id="33" idx="3"/>
              <a:endCxn id="32" idx="6"/>
            </p:cNvCxnSpPr>
            <p:nvPr/>
          </p:nvCxnSpPr>
          <p:spPr>
            <a:xfrm flipH="1">
              <a:off x="2855359" y="2059306"/>
              <a:ext cx="1254775" cy="685777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>
              <a:stCxn id="30" idx="6"/>
              <a:endCxn id="33" idx="1"/>
            </p:cNvCxnSpPr>
            <p:nvPr/>
          </p:nvCxnSpPr>
          <p:spPr>
            <a:xfrm>
              <a:off x="2809029" y="1057107"/>
              <a:ext cx="1301104" cy="645304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87"/>
            <p:cNvSpPr txBox="1">
              <a:spLocks noChangeArrowheads="1"/>
            </p:cNvSpPr>
            <p:nvPr/>
          </p:nvSpPr>
          <p:spPr bwMode="auto">
            <a:xfrm>
              <a:off x="3327701" y="2442953"/>
              <a:ext cx="648072" cy="43624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60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sp>
          <p:nvSpPr>
            <p:cNvPr id="41" name="TextBox 88"/>
            <p:cNvSpPr txBox="1">
              <a:spLocks noChangeArrowheads="1"/>
            </p:cNvSpPr>
            <p:nvPr/>
          </p:nvSpPr>
          <p:spPr bwMode="auto">
            <a:xfrm>
              <a:off x="3248977" y="984807"/>
              <a:ext cx="648072" cy="43624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70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sp>
          <p:nvSpPr>
            <p:cNvPr id="42" name="TextBox 89"/>
            <p:cNvSpPr txBox="1">
              <a:spLocks noChangeArrowheads="1"/>
            </p:cNvSpPr>
            <p:nvPr/>
          </p:nvSpPr>
          <p:spPr bwMode="auto">
            <a:xfrm>
              <a:off x="1595774" y="3178074"/>
              <a:ext cx="1908212" cy="43624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0" dirty="0">
                  <a:ea typeface="幼圆" panose="02010509060101010101" pitchFamily="49" charset="-122"/>
                  <a:cs typeface="Arial" panose="020B0604020202020204" pitchFamily="34" charset="0"/>
                </a:rPr>
                <a:t>最小生成树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/>
              <a:t>Kruskal</a:t>
            </a:r>
            <a:r>
              <a:rPr lang="zh-CN" altLang="en-US" sz="4000" dirty="0"/>
              <a:t>算法描述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43065"/>
            <a:ext cx="8424862" cy="476091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altLang="zh-CN" sz="2400" dirty="0"/>
              <a:t>input</a:t>
            </a:r>
            <a:r>
              <a:rPr lang="zh-CN" altLang="en-US" sz="2400" dirty="0"/>
              <a:t>：一个加权连通无向图</a:t>
            </a:r>
            <a:r>
              <a:rPr lang="en-US" altLang="zh-CN" sz="2400" dirty="0"/>
              <a:t>G=(V,E)</a:t>
            </a:r>
          </a:p>
          <a:p>
            <a:pPr>
              <a:defRPr/>
            </a:pPr>
            <a:r>
              <a:rPr lang="en-US" altLang="zh-CN" sz="2400" dirty="0"/>
              <a:t>output</a:t>
            </a:r>
            <a:r>
              <a:rPr lang="zh-CN" altLang="en-US" sz="2400" dirty="0"/>
              <a:t>：图</a:t>
            </a:r>
            <a:r>
              <a:rPr lang="en-US" altLang="zh-CN" sz="2400" dirty="0"/>
              <a:t>G</a:t>
            </a:r>
            <a:r>
              <a:rPr lang="zh-CN" altLang="en-US" sz="2400" dirty="0"/>
              <a:t>的一棵最小生成树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zh-CN" altLang="en-US" sz="2400" dirty="0"/>
              <a:t>  </a:t>
            </a:r>
            <a:r>
              <a:rPr lang="en-US" altLang="zh-CN" sz="2400" dirty="0"/>
              <a:t>T</a:t>
            </a:r>
            <a:r>
              <a:rPr lang="en-US" altLang="zh-CN" sz="2400" dirty="0">
                <a:latin typeface="Arial Unicode MS"/>
                <a:ea typeface="Arial Unicode MS"/>
                <a:cs typeface="Arial Unicode MS"/>
              </a:rPr>
              <a:t>←∅ </a:t>
            </a:r>
            <a:r>
              <a:rPr lang="en-US" altLang="zh-CN" sz="2400" dirty="0"/>
              <a:t>//</a:t>
            </a:r>
            <a:r>
              <a:rPr lang="zh-CN" altLang="en-US" sz="2400" dirty="0"/>
              <a:t>存储选中的边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>
                <a:latin typeface="Arial Unicode MS"/>
                <a:ea typeface="Arial Unicode MS"/>
                <a:cs typeface="Arial Unicode MS"/>
              </a:rPr>
              <a:t>  </a:t>
            </a:r>
            <a:r>
              <a:rPr lang="en-US" altLang="zh-CN" sz="2400" dirty="0"/>
              <a:t>while </a:t>
            </a:r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r>
              <a:rPr lang="zh-CN" altLang="en-US" sz="2400" dirty="0">
                <a:solidFill>
                  <a:srgbClr val="FF0000"/>
                </a:solidFill>
              </a:rPr>
              <a:t>所含的边数少于</a:t>
            </a:r>
            <a:r>
              <a:rPr lang="en-US" altLang="zh-CN" sz="2400" dirty="0">
                <a:solidFill>
                  <a:srgbClr val="FF0000"/>
                </a:solidFill>
              </a:rPr>
              <a:t>n-1 </a:t>
            </a:r>
            <a:r>
              <a:rPr lang="en-US" altLang="zh-CN" sz="2400" dirty="0"/>
              <a:t>do                                           </a:t>
            </a:r>
          </a:p>
          <a:p>
            <a:pPr marL="0" indent="0">
              <a:buNone/>
              <a:defRPr/>
            </a:pPr>
            <a:r>
              <a:rPr lang="en-US" altLang="zh-CN" sz="2400" dirty="0"/>
              <a:t>        </a:t>
            </a:r>
            <a:r>
              <a:rPr lang="zh-CN" altLang="en-US" sz="2400" dirty="0"/>
              <a:t>从</a:t>
            </a:r>
            <a:r>
              <a:rPr lang="en-US" altLang="zh-CN" sz="2400" dirty="0"/>
              <a:t>E</a:t>
            </a:r>
            <a:r>
              <a:rPr lang="zh-CN" altLang="en-US" sz="2400" dirty="0"/>
              <a:t>中选择一条最小权值的边</a:t>
            </a:r>
            <a:r>
              <a:rPr lang="en-US" altLang="zh-CN" sz="2400" dirty="0"/>
              <a:t>(</a:t>
            </a:r>
            <a:r>
              <a:rPr lang="en-US" altLang="zh-CN" sz="2400" dirty="0" err="1"/>
              <a:t>v,w</a:t>
            </a:r>
            <a:r>
              <a:rPr lang="en-US" altLang="zh-CN" sz="2400" dirty="0"/>
              <a:t>)</a:t>
            </a:r>
            <a:r>
              <a:rPr lang="zh-CN" altLang="en-US" sz="2400" dirty="0"/>
              <a:t>；从</a:t>
            </a:r>
            <a:r>
              <a:rPr lang="en-US" altLang="zh-CN" sz="2400" dirty="0"/>
              <a:t>E</a:t>
            </a:r>
            <a:r>
              <a:rPr lang="zh-CN" altLang="en-US" sz="2400" dirty="0"/>
              <a:t>中删除该边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        if (</a:t>
            </a:r>
            <a:r>
              <a:rPr lang="zh-CN" altLang="en-US" sz="2400" dirty="0">
                <a:solidFill>
                  <a:srgbClr val="FF0000"/>
                </a:solidFill>
              </a:rPr>
              <a:t>将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v,w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>
                <a:solidFill>
                  <a:srgbClr val="FF0000"/>
                </a:solidFill>
              </a:rPr>
              <a:t>加入</a:t>
            </a:r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r>
              <a:rPr lang="zh-CN" altLang="en-US" sz="2400" dirty="0">
                <a:solidFill>
                  <a:srgbClr val="FF0000"/>
                </a:solidFill>
              </a:rPr>
              <a:t>中没有形成回路</a:t>
            </a:r>
            <a:r>
              <a:rPr lang="en-US" altLang="zh-CN" sz="2400" dirty="0"/>
              <a:t>)</a:t>
            </a:r>
          </a:p>
          <a:p>
            <a:pPr marL="0" indent="0">
              <a:buNone/>
              <a:defRPr/>
            </a:pPr>
            <a:r>
              <a:rPr lang="en-US" altLang="zh-CN" sz="2400" dirty="0"/>
              <a:t>              then </a:t>
            </a:r>
            <a:r>
              <a:rPr lang="zh-CN" altLang="en-US" sz="2400" dirty="0"/>
              <a:t>将</a:t>
            </a:r>
            <a:r>
              <a:rPr lang="en-US" altLang="zh-CN" sz="2400" dirty="0"/>
              <a:t>(</a:t>
            </a:r>
            <a:r>
              <a:rPr lang="en-US" altLang="zh-CN" sz="2400" dirty="0" err="1"/>
              <a:t>v,w</a:t>
            </a:r>
            <a:r>
              <a:rPr lang="en-US" altLang="zh-CN" sz="2400" dirty="0"/>
              <a:t>)</a:t>
            </a:r>
            <a:r>
              <a:rPr lang="zh-CN" altLang="en-US" sz="2400" dirty="0"/>
              <a:t>加入</a:t>
            </a:r>
            <a:r>
              <a:rPr lang="en-US" altLang="zh-CN" sz="2400" dirty="0"/>
              <a:t>T</a:t>
            </a:r>
            <a:r>
              <a:rPr lang="zh-CN" altLang="en-US" sz="2400" dirty="0"/>
              <a:t>中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              else </a:t>
            </a:r>
            <a:r>
              <a:rPr lang="zh-CN" altLang="en-US" sz="2400" dirty="0"/>
              <a:t>放弃</a:t>
            </a:r>
            <a:r>
              <a:rPr lang="en-US" altLang="zh-CN" sz="2400" dirty="0"/>
              <a:t>(</a:t>
            </a:r>
            <a:r>
              <a:rPr lang="en-US" altLang="zh-CN" sz="2400" dirty="0" err="1"/>
              <a:t>v,w</a:t>
            </a:r>
            <a:r>
              <a:rPr lang="en-US" altLang="zh-CN" sz="2400" dirty="0"/>
              <a:t>)</a:t>
            </a:r>
          </a:p>
          <a:p>
            <a:pPr marL="0" indent="0">
              <a:buNone/>
              <a:defRPr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endif</a:t>
            </a:r>
            <a:endParaRPr lang="en-US" altLang="zh-CN" sz="2400" dirty="0"/>
          </a:p>
          <a:p>
            <a:pPr marL="0" indent="0">
              <a:buNone/>
              <a:defRPr/>
            </a:pPr>
            <a:r>
              <a:rPr lang="en-US" altLang="zh-CN" sz="2400" dirty="0"/>
              <a:t>  repeat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7" name="圆角矩形标注 8"/>
          <p:cNvSpPr>
            <a:spLocks noChangeArrowheads="1"/>
          </p:cNvSpPr>
          <p:nvPr/>
        </p:nvSpPr>
        <p:spPr bwMode="auto">
          <a:xfrm>
            <a:off x="6853194" y="1985378"/>
            <a:ext cx="3851318" cy="1227598"/>
          </a:xfrm>
          <a:prstGeom prst="wedgeRoundRectCallout">
            <a:avLst>
              <a:gd name="adj1" fmla="val -65377"/>
              <a:gd name="adj2" fmla="val -27122"/>
              <a:gd name="adj3" fmla="val 16667"/>
            </a:avLst>
          </a:prstGeom>
          <a:solidFill>
            <a:schemeClr val="bg1"/>
          </a:solidFill>
          <a:ln w="12700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时间复杂度为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O(</a:t>
            </a:r>
            <a:r>
              <a:rPr lang="en-US" altLang="zh-CN" sz="2000" b="0" dirty="0" err="1">
                <a:ea typeface="幼圆" panose="02010509060101010101" pitchFamily="49" charset="-122"/>
                <a:cs typeface="Arial" panose="020B0604020202020204" pitchFamily="34" charset="0"/>
              </a:rPr>
              <a:t>eloge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),e</a:t>
            </a:r>
            <a:r>
              <a:rPr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为边数</a:t>
            </a:r>
            <a:r>
              <a:rPr lang="en-US" altLang="zh-CN" sz="2000" b="0" dirty="0">
                <a:latin typeface="幼圆" panose="02010509060101010101" pitchFamily="49" charset="-122"/>
                <a:ea typeface="幼圆" panose="02010509060101010101" pitchFamily="49" charset="-122"/>
              </a:rPr>
              <a:t>;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用点数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000" b="0" dirty="0">
                <a:ea typeface="幼圆" panose="02010509060101010101" pitchFamily="49" charset="-122"/>
                <a:cs typeface="Arial" panose="020B0604020202020204" pitchFamily="34" charset="0"/>
              </a:rPr>
              <a:t>来表示为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O(n</a:t>
            </a:r>
            <a:r>
              <a:rPr lang="en-US" altLang="zh-CN" sz="2000" b="0" baseline="30000" dirty="0"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logn)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0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标题 1"/>
          <p:cNvSpPr>
            <a:spLocks noGrp="1"/>
          </p:cNvSpPr>
          <p:nvPr>
            <p:ph type="title"/>
          </p:nvPr>
        </p:nvSpPr>
        <p:spPr>
          <a:xfrm>
            <a:off x="736601" y="18245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实例运行</a:t>
            </a:r>
          </a:p>
        </p:txBody>
      </p:sp>
      <p:sp>
        <p:nvSpPr>
          <p:cNvPr id="91140" name="内容占位符 2"/>
          <p:cNvSpPr>
            <a:spLocks noGrp="1"/>
          </p:cNvSpPr>
          <p:nvPr>
            <p:ph idx="1"/>
          </p:nvPr>
        </p:nvSpPr>
        <p:spPr>
          <a:xfrm>
            <a:off x="573643" y="1617942"/>
            <a:ext cx="3322638" cy="3463925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/>
              <a:t>边的权值排序：</a:t>
            </a:r>
            <a:endParaRPr lang="en-US" altLang="zh-CN" sz="2400" dirty="0"/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(AE)  50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(CD)  60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(BC)  70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(BD)  75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(AD)  80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(ED)  90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(BE)  200</a:t>
            </a:r>
          </a:p>
          <a:p>
            <a:pPr lvl="1"/>
            <a:r>
              <a:rPr lang="zh-CN" altLang="en-US" sz="2000" dirty="0"/>
              <a:t>边</a:t>
            </a:r>
            <a:r>
              <a:rPr lang="en-US" altLang="zh-CN" sz="2000" dirty="0"/>
              <a:t>(AC)  300</a:t>
            </a:r>
          </a:p>
          <a:p>
            <a:endParaRPr lang="zh-CN" altLang="en-US" dirty="0"/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grpSp>
        <p:nvGrpSpPr>
          <p:cNvPr id="30" name="组合 43"/>
          <p:cNvGrpSpPr>
            <a:grpSpLocks/>
          </p:cNvGrpSpPr>
          <p:nvPr/>
        </p:nvGrpSpPr>
        <p:grpSpPr bwMode="auto">
          <a:xfrm>
            <a:off x="2927186" y="2359725"/>
            <a:ext cx="4032910" cy="2144838"/>
            <a:chOff x="735453" y="804744"/>
            <a:chExt cx="4297077" cy="2376873"/>
          </a:xfrm>
          <a:noFill/>
        </p:grpSpPr>
        <p:sp>
          <p:nvSpPr>
            <p:cNvPr id="31" name="椭圆 30"/>
            <p:cNvSpPr/>
            <p:nvPr/>
          </p:nvSpPr>
          <p:spPr>
            <a:xfrm>
              <a:off x="880232" y="836506"/>
              <a:ext cx="503292" cy="50501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2843290" y="804744"/>
              <a:ext cx="504880" cy="503431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880232" y="2492903"/>
              <a:ext cx="503292" cy="50343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2844059" y="2492903"/>
              <a:ext cx="504880" cy="50343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4529239" y="1628973"/>
              <a:ext cx="503291" cy="50343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6" name="直接连接符 35"/>
            <p:cNvCxnSpPr>
              <a:stCxn id="31" idx="6"/>
              <a:endCxn id="35" idx="2"/>
            </p:cNvCxnSpPr>
            <p:nvPr/>
          </p:nvCxnSpPr>
          <p:spPr>
            <a:xfrm>
              <a:off x="1383524" y="1089015"/>
              <a:ext cx="3145714" cy="791673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11"/>
            <p:cNvSpPr txBox="1">
              <a:spLocks noChangeArrowheads="1"/>
            </p:cNvSpPr>
            <p:nvPr/>
          </p:nvSpPr>
          <p:spPr bwMode="auto">
            <a:xfrm>
              <a:off x="1886323" y="899428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300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38" name="直接连接符 37"/>
            <p:cNvCxnSpPr>
              <a:stCxn id="31" idx="5"/>
              <a:endCxn id="34" idx="1"/>
            </p:cNvCxnSpPr>
            <p:nvPr/>
          </p:nvCxnSpPr>
          <p:spPr>
            <a:xfrm>
              <a:off x="1309819" y="1267566"/>
              <a:ext cx="1608179" cy="1299063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15"/>
            <p:cNvSpPr txBox="1">
              <a:spLocks noChangeArrowheads="1"/>
            </p:cNvSpPr>
            <p:nvPr/>
          </p:nvSpPr>
          <p:spPr bwMode="auto">
            <a:xfrm>
              <a:off x="1230075" y="1364589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80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40" name="直接连接符 39"/>
            <p:cNvCxnSpPr>
              <a:stCxn id="31" idx="4"/>
              <a:endCxn id="33" idx="0"/>
            </p:cNvCxnSpPr>
            <p:nvPr/>
          </p:nvCxnSpPr>
          <p:spPr>
            <a:xfrm>
              <a:off x="1131879" y="1341523"/>
              <a:ext cx="0" cy="1151380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19"/>
            <p:cNvSpPr txBox="1">
              <a:spLocks noChangeArrowheads="1"/>
            </p:cNvSpPr>
            <p:nvPr/>
          </p:nvSpPr>
          <p:spPr bwMode="auto">
            <a:xfrm>
              <a:off x="735453" y="1628800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50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42" name="直接连接符 41"/>
            <p:cNvCxnSpPr>
              <a:stCxn id="32" idx="3"/>
              <a:endCxn id="33" idx="7"/>
            </p:cNvCxnSpPr>
            <p:nvPr/>
          </p:nvCxnSpPr>
          <p:spPr>
            <a:xfrm flipH="1">
              <a:off x="1309820" y="1234450"/>
              <a:ext cx="1607409" cy="1332179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23"/>
            <p:cNvSpPr txBox="1">
              <a:spLocks noChangeArrowheads="1"/>
            </p:cNvSpPr>
            <p:nvPr/>
          </p:nvSpPr>
          <p:spPr bwMode="auto">
            <a:xfrm>
              <a:off x="1656150" y="2082771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200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cxnSp>
          <p:nvCxnSpPr>
            <p:cNvPr id="44" name="直接连接符 43"/>
            <p:cNvCxnSpPr>
              <a:stCxn id="32" idx="4"/>
              <a:endCxn id="34" idx="0"/>
            </p:cNvCxnSpPr>
            <p:nvPr/>
          </p:nvCxnSpPr>
          <p:spPr>
            <a:xfrm>
              <a:off x="3095731" y="1308175"/>
              <a:ext cx="769" cy="1184729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28"/>
            <p:cNvSpPr txBox="1">
              <a:spLocks noChangeArrowheads="1"/>
            </p:cNvSpPr>
            <p:nvPr/>
          </p:nvSpPr>
          <p:spPr bwMode="auto">
            <a:xfrm>
              <a:off x="3131840" y="1696162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cs typeface="Arial" panose="020B0604020202020204" pitchFamily="34" charset="0"/>
                </a:rPr>
                <a:t>75</a:t>
              </a:r>
              <a:endParaRPr lang="zh-CN" altLang="en-US" sz="1800" b="0">
                <a:cs typeface="Arial" panose="020B0604020202020204" pitchFamily="34" charset="0"/>
              </a:endParaRPr>
            </a:p>
          </p:txBody>
        </p:sp>
        <p:cxnSp>
          <p:nvCxnSpPr>
            <p:cNvPr id="46" name="直接连接符 45"/>
            <p:cNvCxnSpPr>
              <a:stCxn id="33" idx="6"/>
              <a:endCxn id="34" idx="2"/>
            </p:cNvCxnSpPr>
            <p:nvPr/>
          </p:nvCxnSpPr>
          <p:spPr>
            <a:xfrm>
              <a:off x="1383525" y="2744618"/>
              <a:ext cx="1460534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35" idx="3"/>
              <a:endCxn id="34" idx="6"/>
            </p:cNvCxnSpPr>
            <p:nvPr/>
          </p:nvCxnSpPr>
          <p:spPr>
            <a:xfrm flipH="1">
              <a:off x="3348939" y="2058677"/>
              <a:ext cx="1254004" cy="685941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32" idx="6"/>
              <a:endCxn id="35" idx="1"/>
            </p:cNvCxnSpPr>
            <p:nvPr/>
          </p:nvCxnSpPr>
          <p:spPr>
            <a:xfrm>
              <a:off x="3348170" y="1056460"/>
              <a:ext cx="1254774" cy="646238"/>
            </a:xfrm>
            <a:prstGeom prst="line">
              <a:avLst/>
            </a:prstGeom>
            <a:grpFill/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39"/>
            <p:cNvSpPr txBox="1">
              <a:spLocks noChangeArrowheads="1"/>
            </p:cNvSpPr>
            <p:nvPr/>
          </p:nvSpPr>
          <p:spPr bwMode="auto">
            <a:xfrm>
              <a:off x="1841612" y="2812285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cs typeface="Arial" panose="020B0604020202020204" pitchFamily="34" charset="0"/>
                </a:rPr>
                <a:t>90</a:t>
              </a:r>
              <a:endParaRPr lang="zh-CN" altLang="en-US" sz="1800" b="0">
                <a:cs typeface="Arial" panose="020B0604020202020204" pitchFamily="34" charset="0"/>
              </a:endParaRPr>
            </a:p>
          </p:txBody>
        </p:sp>
        <p:sp>
          <p:nvSpPr>
            <p:cNvPr id="50" name="TextBox 40"/>
            <p:cNvSpPr txBox="1">
              <a:spLocks noChangeArrowheads="1"/>
            </p:cNvSpPr>
            <p:nvPr/>
          </p:nvSpPr>
          <p:spPr bwMode="auto">
            <a:xfrm>
              <a:off x="3838716" y="2347788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60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  <p:sp>
          <p:nvSpPr>
            <p:cNvPr id="51" name="TextBox 41"/>
            <p:cNvSpPr txBox="1">
              <a:spLocks noChangeArrowheads="1"/>
            </p:cNvSpPr>
            <p:nvPr/>
          </p:nvSpPr>
          <p:spPr bwMode="auto">
            <a:xfrm>
              <a:off x="3838716" y="1077699"/>
              <a:ext cx="648072" cy="3693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cs typeface="Arial" panose="020B0604020202020204" pitchFamily="34" charset="0"/>
                </a:rPr>
                <a:t>70</a:t>
              </a:r>
              <a:endParaRPr lang="zh-CN" altLang="en-US" sz="1800" b="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59"/>
          <p:cNvGrpSpPr>
            <a:grpSpLocks/>
          </p:cNvGrpSpPr>
          <p:nvPr/>
        </p:nvGrpSpPr>
        <p:grpSpPr bwMode="auto">
          <a:xfrm>
            <a:off x="7507263" y="2591743"/>
            <a:ext cx="565521" cy="1557337"/>
            <a:chOff x="3921554" y="3861048"/>
            <a:chExt cx="564123" cy="1557555"/>
          </a:xfrm>
        </p:grpSpPr>
        <p:sp>
          <p:nvSpPr>
            <p:cNvPr id="54" name="椭圆 53"/>
            <p:cNvSpPr/>
            <p:nvPr/>
          </p:nvSpPr>
          <p:spPr>
            <a:xfrm>
              <a:off x="4096117" y="3861048"/>
              <a:ext cx="389560" cy="36358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4096117" y="5055015"/>
              <a:ext cx="389560" cy="36358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</a:rPr>
                <a:t>E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接连接符 55"/>
            <p:cNvCxnSpPr>
              <a:stCxn id="54" idx="4"/>
              <a:endCxn id="55" idx="0"/>
            </p:cNvCxnSpPr>
            <p:nvPr/>
          </p:nvCxnSpPr>
          <p:spPr>
            <a:xfrm>
              <a:off x="4290898" y="4224636"/>
              <a:ext cx="0" cy="83037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8"/>
            <p:cNvSpPr txBox="1">
              <a:spLocks noChangeArrowheads="1"/>
            </p:cNvSpPr>
            <p:nvPr/>
          </p:nvSpPr>
          <p:spPr bwMode="auto">
            <a:xfrm>
              <a:off x="3921554" y="4432152"/>
              <a:ext cx="500410" cy="369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/>
                <a:t>50</a:t>
              </a:r>
              <a:endParaRPr lang="zh-CN" altLang="en-US" sz="1800" b="0" dirty="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9350537" y="3130283"/>
            <a:ext cx="1930039" cy="985838"/>
            <a:chOff x="7723287" y="5257800"/>
            <a:chExt cx="1930039" cy="985838"/>
          </a:xfrm>
        </p:grpSpPr>
        <p:sp>
          <p:nvSpPr>
            <p:cNvPr id="59" name="椭圆 58"/>
            <p:cNvSpPr/>
            <p:nvPr/>
          </p:nvSpPr>
          <p:spPr bwMode="auto">
            <a:xfrm>
              <a:off x="7723287" y="5880100"/>
              <a:ext cx="388937" cy="3635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椭圆 59"/>
            <p:cNvSpPr/>
            <p:nvPr/>
          </p:nvSpPr>
          <p:spPr bwMode="auto">
            <a:xfrm>
              <a:off x="9264388" y="5257800"/>
              <a:ext cx="388938" cy="3635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dirty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直接连接符 60"/>
            <p:cNvCxnSpPr>
              <a:stCxn id="60" idx="3"/>
              <a:endCxn id="59" idx="6"/>
            </p:cNvCxnSpPr>
            <p:nvPr/>
          </p:nvCxnSpPr>
          <p:spPr bwMode="auto">
            <a:xfrm flipH="1">
              <a:off x="8112224" y="5568099"/>
              <a:ext cx="1209123" cy="49377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9"/>
            <p:cNvSpPr txBox="1">
              <a:spLocks noChangeArrowheads="1"/>
            </p:cNvSpPr>
            <p:nvPr/>
          </p:nvSpPr>
          <p:spPr bwMode="auto">
            <a:xfrm>
              <a:off x="8688324" y="5727372"/>
              <a:ext cx="5004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/>
                <a:t>60</a:t>
              </a:r>
              <a:endParaRPr lang="zh-CN" altLang="en-US" sz="1800" b="0" dirty="0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307462" y="2558776"/>
            <a:ext cx="1641135" cy="624746"/>
            <a:chOff x="7132173" y="4548161"/>
            <a:chExt cx="1641135" cy="624746"/>
          </a:xfrm>
        </p:grpSpPr>
        <p:sp>
          <p:nvSpPr>
            <p:cNvPr id="63" name="椭圆 62"/>
            <p:cNvSpPr/>
            <p:nvPr/>
          </p:nvSpPr>
          <p:spPr bwMode="auto">
            <a:xfrm>
              <a:off x="7132173" y="4548161"/>
              <a:ext cx="388938" cy="36353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altLang="zh-CN" sz="2000" dirty="0">
                  <a:solidFill>
                    <a:schemeClr val="tx1"/>
                  </a:solidFill>
                </a:rPr>
                <a:t>B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直接连接符 63"/>
            <p:cNvCxnSpPr>
              <a:stCxn id="63" idx="6"/>
              <a:endCxn id="60" idx="1"/>
            </p:cNvCxnSpPr>
            <p:nvPr/>
          </p:nvCxnSpPr>
          <p:spPr bwMode="auto">
            <a:xfrm>
              <a:off x="7521111" y="4729930"/>
              <a:ext cx="1252197" cy="44297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50"/>
            <p:cNvSpPr txBox="1">
              <a:spLocks noChangeArrowheads="1"/>
            </p:cNvSpPr>
            <p:nvPr/>
          </p:nvSpPr>
          <p:spPr bwMode="auto">
            <a:xfrm>
              <a:off x="8028733" y="4617005"/>
              <a:ext cx="5004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/>
                <a:t>70</a:t>
              </a:r>
              <a:endParaRPr lang="zh-CN" altLang="en-US" sz="1800" b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040216" y="2902041"/>
            <a:ext cx="1391903" cy="903781"/>
            <a:chOff x="5812243" y="4891426"/>
            <a:chExt cx="1391903" cy="903781"/>
          </a:xfrm>
        </p:grpSpPr>
        <p:cxnSp>
          <p:nvCxnSpPr>
            <p:cNvPr id="66" name="直接连接符 65"/>
            <p:cNvCxnSpPr>
              <a:stCxn id="54" idx="5"/>
              <a:endCxn id="59" idx="1"/>
            </p:cNvCxnSpPr>
            <p:nvPr/>
          </p:nvCxnSpPr>
          <p:spPr bwMode="auto">
            <a:xfrm>
              <a:off x="5812243" y="4891426"/>
              <a:ext cx="1391903" cy="90378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7"/>
            <p:cNvSpPr txBox="1">
              <a:spLocks noChangeArrowheads="1"/>
            </p:cNvSpPr>
            <p:nvPr/>
          </p:nvSpPr>
          <p:spPr bwMode="auto">
            <a:xfrm>
              <a:off x="5812243" y="5058345"/>
              <a:ext cx="5003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/>
                <a:t>80</a:t>
              </a:r>
              <a:endParaRPr lang="zh-CN" altLang="en-US" sz="1800" b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>
          <a:xfrm>
            <a:off x="838200" y="2606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/>
              <a:t>贪心策略分析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455114"/>
            <a:ext cx="9793088" cy="51422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400" dirty="0"/>
              <a:t>问题原型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构造加权无向连通图</a:t>
            </a:r>
            <a:r>
              <a:rPr lang="en-US" altLang="zh-CN" sz="2400" dirty="0"/>
              <a:t>G=(V,E)</a:t>
            </a:r>
            <a:r>
              <a:rPr lang="zh-CN" altLang="en-US" sz="2400" dirty="0"/>
              <a:t>的最小生成树</a:t>
            </a:r>
            <a:r>
              <a:rPr lang="en-US" altLang="zh-CN" sz="2400" dirty="0"/>
              <a:t>T=(V, E’) </a:t>
            </a:r>
            <a:r>
              <a:rPr lang="zh-CN" altLang="en-US" sz="2400" dirty="0"/>
              <a:t>，</a:t>
            </a:r>
            <a:r>
              <a:rPr lang="en-US" altLang="zh-CN" sz="2400" dirty="0"/>
              <a:t>|V|=n</a:t>
            </a:r>
          </a:p>
          <a:p>
            <a:pPr>
              <a:defRPr/>
            </a:pPr>
            <a:r>
              <a:rPr lang="zh-CN" altLang="en-US" sz="2400" dirty="0"/>
              <a:t>约束条件：</a:t>
            </a:r>
            <a:endParaRPr lang="en-US" altLang="zh-CN" sz="2400" dirty="0"/>
          </a:p>
          <a:p>
            <a:pPr lvl="1">
              <a:defRPr/>
            </a:pPr>
            <a:r>
              <a:rPr lang="en-US" altLang="zh-CN" sz="2400" dirty="0"/>
              <a:t>T</a:t>
            </a:r>
            <a:r>
              <a:rPr lang="zh-CN" altLang="en-US" sz="2400" dirty="0"/>
              <a:t>中</a:t>
            </a:r>
            <a:r>
              <a:rPr lang="en-US" altLang="zh-CN" sz="2400" dirty="0"/>
              <a:t>|V|=n</a:t>
            </a:r>
            <a:r>
              <a:rPr lang="zh-CN" altLang="en-US" sz="2400" dirty="0"/>
              <a:t>；</a:t>
            </a:r>
            <a:r>
              <a:rPr lang="en-US" altLang="zh-CN" sz="2400" dirty="0"/>
              <a:t>T</a:t>
            </a:r>
            <a:r>
              <a:rPr lang="zh-CN" altLang="en-US" sz="2400" dirty="0"/>
              <a:t>中</a:t>
            </a:r>
            <a:r>
              <a:rPr lang="en-US" altLang="zh-CN" sz="2400" dirty="0"/>
              <a:t>|E’|= n-1</a:t>
            </a:r>
            <a:r>
              <a:rPr lang="zh-CN" altLang="en-US" sz="2400" dirty="0"/>
              <a:t>，</a:t>
            </a:r>
            <a:r>
              <a:rPr lang="en-US" altLang="zh-CN" sz="2400" dirty="0"/>
              <a:t>E’</a:t>
            </a:r>
            <a:r>
              <a:rPr lang="zh-CN" altLang="en-US" sz="2400" dirty="0">
                <a:latin typeface="Arial Unicode MS"/>
                <a:ea typeface="Arial Unicode MS"/>
                <a:cs typeface="Arial Unicode MS"/>
              </a:rPr>
              <a:t>⊆</a:t>
            </a:r>
            <a:r>
              <a:rPr lang="en-US" altLang="zh-CN" sz="2400" dirty="0"/>
              <a:t>E</a:t>
            </a:r>
            <a:r>
              <a:rPr lang="zh-CN" altLang="en-US" sz="2400" dirty="0"/>
              <a:t>；</a:t>
            </a:r>
            <a:r>
              <a:rPr lang="en-US" altLang="zh-CN" sz="2400" dirty="0"/>
              <a:t>T</a:t>
            </a:r>
            <a:r>
              <a:rPr lang="zh-CN" altLang="en-US" sz="2400" dirty="0"/>
              <a:t>中没有环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目标函数：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权值和最小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量度标准：</a:t>
            </a:r>
            <a:endParaRPr lang="en-US" altLang="zh-CN" sz="2400" dirty="0"/>
          </a:p>
          <a:p>
            <a:pPr lvl="1">
              <a:defRPr/>
            </a:pPr>
            <a:r>
              <a:rPr lang="zh-CN" altLang="en-US" sz="2400" dirty="0"/>
              <a:t>将边按权值从小到大排列</a:t>
            </a:r>
            <a:endParaRPr lang="en-US" altLang="zh-CN" sz="2400" dirty="0"/>
          </a:p>
          <a:p>
            <a:pPr lvl="1">
              <a:defRPr/>
            </a:pPr>
            <a:endParaRPr lang="en-US" altLang="zh-CN" sz="2400" dirty="0"/>
          </a:p>
          <a:p>
            <a:pPr lvl="1">
              <a:defRPr/>
            </a:pPr>
            <a:endParaRPr lang="zh-CN" altLang="en-US" sz="24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107668" y="5338361"/>
            <a:ext cx="5976664" cy="495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</a:pPr>
            <a:r>
              <a:rPr kumimoji="1" lang="zh-CN" altLang="en-US" sz="2400" dirty="0">
                <a:solidFill>
                  <a:srgbClr val="FF0000"/>
                </a:solidFill>
              </a:rPr>
              <a:t>思考：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该量度标准是否是最优量度标准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</a:rPr>
              <a:t>？</a:t>
            </a:r>
          </a:p>
        </p:txBody>
      </p:sp>
      <p:sp>
        <p:nvSpPr>
          <p:cNvPr id="5" name="圆角矩形标注 7"/>
          <p:cNvSpPr>
            <a:spLocks noChangeArrowheads="1"/>
          </p:cNvSpPr>
          <p:nvPr/>
        </p:nvSpPr>
        <p:spPr bwMode="auto">
          <a:xfrm>
            <a:off x="3359696" y="3933056"/>
            <a:ext cx="3254375" cy="566269"/>
          </a:xfrm>
          <a:prstGeom prst="wedgeRoundRectCallout">
            <a:avLst>
              <a:gd name="adj1" fmla="val -55503"/>
              <a:gd name="adj2" fmla="val 83657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把目标函数作为度量标准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744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>
          <a:xfrm>
            <a:off x="695400" y="525463"/>
            <a:ext cx="10076690" cy="11557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证明：</a:t>
            </a:r>
            <a:r>
              <a:rPr lang="en-US" altLang="zh-CN" sz="3600" dirty="0" err="1">
                <a:solidFill>
                  <a:schemeClr val="accent1">
                    <a:lumMod val="75000"/>
                  </a:schemeClr>
                </a:solidFill>
              </a:rPr>
              <a:t>Kruskal</a:t>
            </a: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算法对于每一个无向连通图</a:t>
            </a:r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</a:rPr>
              <a:t>G</a:t>
            </a: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</a:rPr>
              <a:t>产生一棵最小生成树。</a:t>
            </a:r>
          </a:p>
        </p:txBody>
      </p:sp>
      <p:sp>
        <p:nvSpPr>
          <p:cNvPr id="96259" name="内容占位符 2"/>
          <p:cNvSpPr>
            <a:spLocks noGrp="1"/>
          </p:cNvSpPr>
          <p:nvPr>
            <p:ph idx="1"/>
          </p:nvPr>
        </p:nvSpPr>
        <p:spPr>
          <a:xfrm>
            <a:off x="839416" y="2997200"/>
            <a:ext cx="10153128" cy="295275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证明思路：</a:t>
            </a:r>
            <a:endParaRPr lang="en-US" altLang="zh-CN" sz="2400" dirty="0"/>
          </a:p>
          <a:p>
            <a:pPr lvl="1"/>
            <a:r>
              <a:rPr lang="zh-CN" altLang="en-US" sz="2400" dirty="0"/>
              <a:t>用</a:t>
            </a:r>
            <a:r>
              <a:rPr lang="en-US" altLang="zh-CN" sz="2400" b="1" dirty="0">
                <a:solidFill>
                  <a:srgbClr val="FF0000"/>
                </a:solidFill>
              </a:rPr>
              <a:t>e</a:t>
            </a:r>
            <a:r>
              <a:rPr lang="zh-CN" altLang="en-US" sz="2400" b="1" dirty="0">
                <a:solidFill>
                  <a:srgbClr val="FF0000"/>
                </a:solidFill>
              </a:rPr>
              <a:t>替换掉</a:t>
            </a:r>
            <a:r>
              <a:rPr lang="en-US" altLang="zh-CN" sz="2400" b="1" dirty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j</a:t>
            </a:r>
            <a:r>
              <a:rPr lang="zh-CN" altLang="en-US" sz="2400" dirty="0"/>
              <a:t>，获得新的可行解</a:t>
            </a:r>
            <a:r>
              <a:rPr lang="en-US" altLang="zh-CN" sz="2400" dirty="0"/>
              <a:t>T ’’,</a:t>
            </a:r>
            <a:r>
              <a:rPr lang="zh-CN" altLang="en-US" sz="2400" dirty="0"/>
              <a:t>证明新解目标函数进一步</a:t>
            </a:r>
            <a:r>
              <a:rPr lang="zh-CN" altLang="en-US" sz="2400" b="1" dirty="0">
                <a:solidFill>
                  <a:srgbClr val="FF0000"/>
                </a:solidFill>
              </a:rPr>
              <a:t>变小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不增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即也是最优解</a:t>
            </a:r>
            <a:r>
              <a:rPr lang="en-US" altLang="zh-CN" sz="2400" dirty="0"/>
              <a:t>(</a:t>
            </a:r>
            <a:r>
              <a:rPr lang="zh-CN" altLang="en-US" sz="2400" dirty="0"/>
              <a:t>最小生成树</a:t>
            </a:r>
            <a:r>
              <a:rPr lang="en-US" altLang="zh-CN" sz="2400" dirty="0"/>
              <a:t>)</a:t>
            </a:r>
            <a:r>
              <a:rPr lang="zh-CN" altLang="en-US" sz="2400" dirty="0"/>
              <a:t>。反复替换，从而命题得证。</a:t>
            </a:r>
            <a:endParaRPr lang="en-US" altLang="zh-CN" sz="2400" dirty="0"/>
          </a:p>
          <a:p>
            <a:r>
              <a:rPr lang="zh-CN" altLang="en-US" sz="2400" dirty="0"/>
              <a:t>证明关键点：</a:t>
            </a:r>
            <a:endParaRPr lang="en-US" altLang="zh-CN" sz="2400" dirty="0"/>
          </a:p>
          <a:p>
            <a:pPr lvl="1"/>
            <a:r>
              <a:rPr lang="zh-CN" altLang="en-US" sz="2400" dirty="0"/>
              <a:t>如何选择</a:t>
            </a:r>
            <a:r>
              <a:rPr lang="en-US" altLang="zh-CN" sz="2400" dirty="0"/>
              <a:t>e</a:t>
            </a:r>
            <a:r>
              <a:rPr lang="zh-CN" altLang="en-US" sz="2400" dirty="0"/>
              <a:t>和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j</a:t>
            </a:r>
            <a:r>
              <a:rPr lang="zh-CN" altLang="en-US" sz="2400" dirty="0"/>
              <a:t>？</a:t>
            </a:r>
            <a:endParaRPr lang="en-US" altLang="zh-CN" sz="2400" dirty="0"/>
          </a:p>
          <a:p>
            <a:pPr lvl="1"/>
            <a:r>
              <a:rPr lang="zh-CN" altLang="en-US" sz="2400" dirty="0"/>
              <a:t>怎样确定</a:t>
            </a:r>
            <a:r>
              <a:rPr lang="en-US" altLang="zh-CN" sz="2400" dirty="0"/>
              <a:t>e</a:t>
            </a:r>
            <a:r>
              <a:rPr lang="zh-CN" altLang="en-US" sz="2400" dirty="0"/>
              <a:t>和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j</a:t>
            </a:r>
            <a:r>
              <a:rPr lang="zh-CN" altLang="en-US" sz="2400" dirty="0"/>
              <a:t>的成本关系？</a:t>
            </a:r>
          </a:p>
        </p:txBody>
      </p:sp>
      <p:sp>
        <p:nvSpPr>
          <p:cNvPr id="4" name="椭圆 3"/>
          <p:cNvSpPr/>
          <p:nvPr/>
        </p:nvSpPr>
        <p:spPr>
          <a:xfrm>
            <a:off x="5664200" y="1412876"/>
            <a:ext cx="2808288" cy="9366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816726" y="1628776"/>
            <a:ext cx="2735263" cy="9366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384925" y="1628776"/>
            <a:ext cx="46038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263" name="TextBox 8"/>
          <p:cNvSpPr txBox="1">
            <a:spLocks noChangeArrowheads="1"/>
          </p:cNvSpPr>
          <p:nvPr/>
        </p:nvSpPr>
        <p:spPr bwMode="auto">
          <a:xfrm>
            <a:off x="6257925" y="1628776"/>
            <a:ext cx="3429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ea typeface="幼圆" panose="02010509060101010101" pitchFamily="49" charset="-122"/>
                <a:cs typeface="Arial" panose="020B0604020202020204" pitchFamily="34" charset="0"/>
              </a:rPr>
              <a:t>e</a:t>
            </a:r>
            <a:endParaRPr lang="zh-CN" altLang="en-US" sz="2000" b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264" name="TextBox 9"/>
          <p:cNvSpPr txBox="1">
            <a:spLocks noChangeArrowheads="1"/>
          </p:cNvSpPr>
          <p:nvPr/>
        </p:nvSpPr>
        <p:spPr bwMode="auto">
          <a:xfrm>
            <a:off x="5089525" y="2349501"/>
            <a:ext cx="2159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贪心法成本树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T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的</a:t>
            </a:r>
            <a:endParaRPr lang="en-US" altLang="zh-CN" sz="20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边集合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E(T)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265" name="TextBox 10"/>
          <p:cNvSpPr txBox="1">
            <a:spLocks noChangeArrowheads="1"/>
          </p:cNvSpPr>
          <p:nvPr/>
        </p:nvSpPr>
        <p:spPr bwMode="auto">
          <a:xfrm>
            <a:off x="7394576" y="2597151"/>
            <a:ext cx="244584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最小成本树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T’</a:t>
            </a: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的</a:t>
            </a:r>
            <a:endParaRPr lang="en-US" altLang="zh-CN" sz="2000" b="0" dirty="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边集合</a:t>
            </a: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E(T’)</a:t>
            </a:r>
            <a:endParaRPr lang="zh-CN" altLang="en-US" sz="2000" b="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832850" y="1773239"/>
            <a:ext cx="46038" cy="71437"/>
          </a:xfrm>
          <a:prstGeom prst="ellipse">
            <a:avLst/>
          </a:prstGeom>
          <a:solidFill>
            <a:schemeClr val="tx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000">
              <a:latin typeface="幼圆" panose="02010509060101010101" pitchFamily="49" charset="-122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6267" name="TextBox 14"/>
          <p:cNvSpPr txBox="1">
            <a:spLocks noChangeArrowheads="1"/>
          </p:cNvSpPr>
          <p:nvPr/>
        </p:nvSpPr>
        <p:spPr bwMode="auto">
          <a:xfrm>
            <a:off x="8707439" y="1773238"/>
            <a:ext cx="4857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幼圆" panose="02010509060101010101" pitchFamily="49" charset="-122"/>
                <a:cs typeface="Arial" panose="020B0604020202020204" pitchFamily="34" charset="0"/>
              </a:rPr>
              <a:t>e</a:t>
            </a:r>
            <a:r>
              <a:rPr lang="en-US" altLang="zh-CN" sz="2000" b="0" baseline="-25000" dirty="0">
                <a:ea typeface="幼圆" panose="02010509060101010101" pitchFamily="49" charset="-122"/>
                <a:cs typeface="Arial" panose="020B0604020202020204" pitchFamily="34" charset="0"/>
              </a:rPr>
              <a:t>j</a:t>
            </a:r>
            <a:endParaRPr lang="zh-CN" altLang="en-US" sz="2000" b="0" baseline="-25000" dirty="0"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210338" y="133977"/>
            <a:ext cx="11161240" cy="6253948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200" dirty="0"/>
              <a:t>设</a:t>
            </a:r>
            <a:r>
              <a:rPr lang="en-US" altLang="zh-CN" sz="2200" dirty="0">
                <a:solidFill>
                  <a:srgbClr val="FF0000"/>
                </a:solidFill>
              </a:rPr>
              <a:t>T</a:t>
            </a:r>
            <a:r>
              <a:rPr lang="zh-CN" altLang="en-US" sz="2200" dirty="0"/>
              <a:t>是</a:t>
            </a:r>
            <a:r>
              <a:rPr lang="en-US" altLang="zh-CN" sz="2200" dirty="0" err="1"/>
              <a:t>Kruskal</a:t>
            </a:r>
            <a:r>
              <a:rPr lang="zh-CN" altLang="en-US" sz="2200" dirty="0"/>
              <a:t>算法产生的</a:t>
            </a:r>
            <a:r>
              <a:rPr lang="en-US" altLang="zh-CN" sz="2200" dirty="0"/>
              <a:t>G</a:t>
            </a:r>
            <a:r>
              <a:rPr lang="zh-CN" altLang="en-US" sz="2200" dirty="0"/>
              <a:t>的生成树，</a:t>
            </a:r>
            <a:r>
              <a:rPr lang="en-US" altLang="zh-CN" sz="2200" dirty="0">
                <a:solidFill>
                  <a:srgbClr val="FF0000"/>
                </a:solidFill>
              </a:rPr>
              <a:t>T’</a:t>
            </a:r>
            <a:r>
              <a:rPr lang="zh-CN" altLang="en-US" sz="2200" dirty="0"/>
              <a:t>是</a:t>
            </a:r>
            <a:r>
              <a:rPr lang="en-US" altLang="zh-CN" sz="2200" dirty="0"/>
              <a:t>G</a:t>
            </a:r>
            <a:r>
              <a:rPr lang="zh-CN" altLang="en-US" sz="2200" dirty="0"/>
              <a:t>的最小成本生成树。现在要证明</a:t>
            </a:r>
            <a:r>
              <a:rPr lang="en-US" altLang="zh-CN" sz="2200" dirty="0"/>
              <a:t>T</a:t>
            </a:r>
            <a:r>
              <a:rPr lang="zh-CN" altLang="en-US" sz="2200" dirty="0"/>
              <a:t>和</a:t>
            </a:r>
            <a:r>
              <a:rPr lang="en-US" altLang="zh-CN" sz="2200" dirty="0"/>
              <a:t>T’</a:t>
            </a:r>
            <a:r>
              <a:rPr lang="zh-CN" altLang="en-US" sz="2200" dirty="0"/>
              <a:t>具有相同的成本。设</a:t>
            </a:r>
            <a:r>
              <a:rPr lang="en-US" altLang="zh-CN" sz="2200" dirty="0"/>
              <a:t>E(T)</a:t>
            </a:r>
            <a:r>
              <a:rPr lang="zh-CN" altLang="en-US" sz="2200" dirty="0"/>
              <a:t>和</a:t>
            </a:r>
            <a:r>
              <a:rPr lang="en-US" altLang="zh-CN" sz="2200" dirty="0"/>
              <a:t>E(T’)</a:t>
            </a:r>
            <a:r>
              <a:rPr lang="zh-CN" altLang="en-US" sz="2200" dirty="0"/>
              <a:t>分别是</a:t>
            </a:r>
            <a:r>
              <a:rPr lang="en-US" altLang="zh-CN" sz="2200" dirty="0"/>
              <a:t>T</a:t>
            </a:r>
            <a:r>
              <a:rPr lang="zh-CN" altLang="en-US" sz="2200" dirty="0"/>
              <a:t>和</a:t>
            </a:r>
            <a:r>
              <a:rPr lang="en-US" altLang="zh-CN" sz="2200" dirty="0"/>
              <a:t>T’</a:t>
            </a:r>
            <a:r>
              <a:rPr lang="zh-CN" altLang="en-US" sz="2200" dirty="0"/>
              <a:t>的边集。若</a:t>
            </a:r>
            <a:r>
              <a:rPr lang="en-US" altLang="zh-CN" sz="2200" dirty="0"/>
              <a:t>n</a:t>
            </a:r>
            <a:r>
              <a:rPr lang="zh-CN" altLang="en-US" sz="2200" dirty="0"/>
              <a:t>是</a:t>
            </a:r>
            <a:r>
              <a:rPr lang="en-US" altLang="zh-CN" sz="2200" dirty="0"/>
              <a:t>G</a:t>
            </a:r>
            <a:r>
              <a:rPr lang="zh-CN" altLang="en-US" sz="2200" dirty="0"/>
              <a:t>中的节点数，则</a:t>
            </a:r>
            <a:r>
              <a:rPr lang="en-US" altLang="zh-CN" sz="2200" dirty="0"/>
              <a:t>T</a:t>
            </a:r>
            <a:r>
              <a:rPr lang="zh-CN" altLang="en-US" sz="2200" dirty="0"/>
              <a:t>和</a:t>
            </a:r>
            <a:r>
              <a:rPr lang="en-US" altLang="zh-CN" sz="2200" dirty="0"/>
              <a:t>T’</a:t>
            </a:r>
            <a:r>
              <a:rPr lang="zh-CN" altLang="en-US" sz="2200" dirty="0"/>
              <a:t>都有</a:t>
            </a:r>
            <a:r>
              <a:rPr lang="en-US" altLang="zh-CN" sz="2200" dirty="0"/>
              <a:t>n-1</a:t>
            </a:r>
            <a:r>
              <a:rPr lang="zh-CN" altLang="en-US" sz="2200" dirty="0"/>
              <a:t>条边。</a:t>
            </a:r>
            <a:endParaRPr lang="en-US" altLang="zh-CN" sz="2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200" dirty="0"/>
              <a:t>若</a:t>
            </a:r>
            <a:r>
              <a:rPr lang="en-US" altLang="zh-CN" sz="2200" dirty="0"/>
              <a:t>E(T)=E(T’)</a:t>
            </a:r>
            <a:r>
              <a:rPr lang="zh-CN" altLang="en-US" sz="2200" dirty="0"/>
              <a:t>，则</a:t>
            </a:r>
            <a:r>
              <a:rPr lang="en-US" altLang="zh-CN" sz="2200" dirty="0"/>
              <a:t>T</a:t>
            </a:r>
            <a:r>
              <a:rPr lang="zh-CN" altLang="en-US" sz="2200" dirty="0"/>
              <a:t>显然就是最小成本生成树。</a:t>
            </a:r>
            <a:endParaRPr lang="en-US" altLang="zh-CN" sz="2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200" dirty="0"/>
              <a:t>若</a:t>
            </a:r>
            <a:r>
              <a:rPr lang="en-US" altLang="zh-CN" sz="2200" dirty="0"/>
              <a:t>E(T)≠E(T’)</a:t>
            </a:r>
            <a:r>
              <a:rPr lang="zh-CN" altLang="en-US" sz="2200" dirty="0"/>
              <a:t>，则假设</a:t>
            </a:r>
            <a:r>
              <a:rPr lang="en-US" altLang="zh-CN" sz="2200" b="1" dirty="0">
                <a:solidFill>
                  <a:srgbClr val="FF0000"/>
                </a:solidFill>
              </a:rPr>
              <a:t>e</a:t>
            </a:r>
            <a:r>
              <a:rPr lang="zh-CN" altLang="en-US" sz="2200" b="1" dirty="0">
                <a:solidFill>
                  <a:srgbClr val="FF0000"/>
                </a:solidFill>
              </a:rPr>
              <a:t>是一条使得</a:t>
            </a:r>
            <a:r>
              <a:rPr lang="en-US" altLang="zh-CN" sz="2200" b="1" dirty="0" err="1">
                <a:solidFill>
                  <a:srgbClr val="FF0000"/>
                </a:solidFill>
              </a:rPr>
              <a:t>e</a:t>
            </a:r>
            <a:r>
              <a:rPr lang="en-US" altLang="zh-CN" sz="2200" b="1" dirty="0" err="1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∈</a:t>
            </a:r>
            <a:r>
              <a:rPr lang="en-US" altLang="zh-CN" sz="2200" b="1" dirty="0" err="1">
                <a:solidFill>
                  <a:srgbClr val="FF0000"/>
                </a:solidFill>
              </a:rPr>
              <a:t>E</a:t>
            </a:r>
            <a:r>
              <a:rPr lang="en-US" altLang="zh-CN" sz="2200" b="1" dirty="0">
                <a:solidFill>
                  <a:srgbClr val="FF0000"/>
                </a:solidFill>
              </a:rPr>
              <a:t>(T)</a:t>
            </a:r>
            <a:r>
              <a:rPr lang="zh-CN" altLang="en-US" sz="2200" b="1" dirty="0">
                <a:solidFill>
                  <a:srgbClr val="FF0000"/>
                </a:solidFill>
              </a:rPr>
              <a:t>但</a:t>
            </a:r>
            <a:r>
              <a:rPr lang="en-US" altLang="zh-CN" sz="2200" b="1" dirty="0">
                <a:solidFill>
                  <a:srgbClr val="FF0000"/>
                </a:solidFill>
              </a:rPr>
              <a:t>e </a:t>
            </a:r>
            <a:r>
              <a:rPr lang="en-US" altLang="zh-CN" sz="2200" b="1" dirty="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∉</a:t>
            </a:r>
            <a:r>
              <a:rPr lang="en-US" altLang="zh-CN" sz="2200" b="1" dirty="0">
                <a:solidFill>
                  <a:srgbClr val="FF0000"/>
                </a:solidFill>
              </a:rPr>
              <a:t>E(T’)</a:t>
            </a:r>
            <a:r>
              <a:rPr lang="zh-CN" altLang="en-US" sz="2200" b="1" dirty="0">
                <a:solidFill>
                  <a:srgbClr val="FF0000"/>
                </a:solidFill>
              </a:rPr>
              <a:t>的最小成本的边</a:t>
            </a:r>
            <a:r>
              <a:rPr lang="zh-CN" altLang="en-US" sz="2200" dirty="0"/>
              <a:t>。把</a:t>
            </a:r>
            <a:r>
              <a:rPr lang="en-US" altLang="zh-CN" sz="2200" dirty="0"/>
              <a:t>e</a:t>
            </a:r>
            <a:r>
              <a:rPr lang="zh-CN" altLang="en-US" sz="2200" dirty="0"/>
              <a:t>加入到</a:t>
            </a:r>
            <a:r>
              <a:rPr lang="en-US" altLang="zh-CN" sz="2200" dirty="0"/>
              <a:t>T’</a:t>
            </a:r>
            <a:r>
              <a:rPr lang="zh-CN" altLang="en-US" sz="2200" dirty="0"/>
              <a:t>中，则一定会产生一个环。假设</a:t>
            </a:r>
            <a:r>
              <a:rPr lang="en-US" altLang="zh-CN" sz="2200" dirty="0"/>
              <a:t>e,e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,e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,…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k</a:t>
            </a:r>
            <a:r>
              <a:rPr lang="zh-CN" altLang="en-US" sz="2200" dirty="0"/>
              <a:t>是这个环，可知</a:t>
            </a:r>
            <a:r>
              <a:rPr lang="en-US" altLang="zh-CN" sz="2200" dirty="0"/>
              <a:t>e</a:t>
            </a:r>
            <a:r>
              <a:rPr lang="en-US" altLang="zh-CN" sz="2200" baseline="-25000" dirty="0"/>
              <a:t>1</a:t>
            </a:r>
            <a:r>
              <a:rPr lang="en-US" altLang="zh-CN" sz="2200" dirty="0"/>
              <a:t>,e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,…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k</a:t>
            </a:r>
            <a:r>
              <a:rPr lang="zh-CN" altLang="en-US" sz="2200" dirty="0"/>
              <a:t>中至少有一条不在</a:t>
            </a:r>
            <a:r>
              <a:rPr lang="en-US" altLang="zh-CN" sz="2200" dirty="0"/>
              <a:t>E(T)</a:t>
            </a:r>
            <a:r>
              <a:rPr lang="zh-CN" altLang="en-US" sz="2200" dirty="0"/>
              <a:t>中。如若不然，则</a:t>
            </a:r>
            <a:r>
              <a:rPr lang="en-US" altLang="zh-CN" sz="2200" dirty="0"/>
              <a:t>T</a:t>
            </a:r>
            <a:r>
              <a:rPr lang="zh-CN" altLang="en-US" sz="2200" dirty="0"/>
              <a:t>也包含这个环，与算法矛盾。</a:t>
            </a:r>
            <a:endParaRPr lang="en-US" altLang="zh-CN" sz="2200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200" b="1" dirty="0"/>
              <a:t>设</a:t>
            </a:r>
            <a:r>
              <a:rPr lang="en-US" altLang="zh-CN" sz="2200" b="1" dirty="0" err="1">
                <a:solidFill>
                  <a:srgbClr val="FF0000"/>
                </a:solidFill>
              </a:rPr>
              <a:t>e</a:t>
            </a:r>
            <a:r>
              <a:rPr lang="en-US" altLang="zh-CN" sz="2200" b="1" baseline="-25000" dirty="0" err="1">
                <a:solidFill>
                  <a:srgbClr val="FF0000"/>
                </a:solidFill>
              </a:rPr>
              <a:t>j</a:t>
            </a:r>
            <a:r>
              <a:rPr lang="zh-CN" altLang="en-US" sz="2200" b="1" dirty="0">
                <a:solidFill>
                  <a:srgbClr val="FF0000"/>
                </a:solidFill>
              </a:rPr>
              <a:t>是环中</a:t>
            </a:r>
            <a:r>
              <a:rPr lang="en-US" altLang="zh-CN" sz="2200" b="1" dirty="0" err="1">
                <a:solidFill>
                  <a:srgbClr val="FF0000"/>
                </a:solidFill>
              </a:rPr>
              <a:t>e</a:t>
            </a:r>
            <a:r>
              <a:rPr lang="en-US" altLang="zh-CN" sz="2200" b="1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2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∉ </a:t>
            </a:r>
            <a:r>
              <a:rPr lang="en-US" altLang="zh-CN" sz="2200" b="1" dirty="0">
                <a:solidFill>
                  <a:srgbClr val="FF0000"/>
                </a:solidFill>
              </a:rPr>
              <a:t>E(T)</a:t>
            </a:r>
            <a:r>
              <a:rPr lang="zh-CN" altLang="en-US" sz="2200" b="1" dirty="0">
                <a:solidFill>
                  <a:srgbClr val="FF0000"/>
                </a:solidFill>
              </a:rPr>
              <a:t>的一条边</a:t>
            </a:r>
            <a:r>
              <a:rPr lang="zh-CN" altLang="en-US" sz="2200" dirty="0"/>
              <a:t>。此时，有边的权值</a:t>
            </a:r>
            <a:r>
              <a:rPr lang="en-US" altLang="zh-CN" sz="2200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c(</a:t>
            </a:r>
            <a:r>
              <a:rPr lang="en-US" altLang="zh-CN" sz="2200" b="1" dirty="0">
                <a:solidFill>
                  <a:srgbClr val="FF0000"/>
                </a:solidFill>
              </a:rPr>
              <a:t>e)</a:t>
            </a:r>
            <a:r>
              <a:rPr lang="en-US" altLang="zh-CN" sz="22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≤</a:t>
            </a:r>
            <a:r>
              <a:rPr lang="en-US" altLang="zh-CN" sz="2200" b="1" dirty="0">
                <a:solidFill>
                  <a:srgbClr val="FF0000"/>
                </a:solidFill>
              </a:rPr>
              <a:t>c(</a:t>
            </a:r>
            <a:r>
              <a:rPr lang="en-US" altLang="zh-CN" sz="2200" b="1" dirty="0" err="1">
                <a:solidFill>
                  <a:srgbClr val="FF0000"/>
                </a:solidFill>
              </a:rPr>
              <a:t>e</a:t>
            </a:r>
            <a:r>
              <a:rPr lang="en-US" altLang="zh-CN" sz="2200" b="1" baseline="-25000" dirty="0" err="1">
                <a:solidFill>
                  <a:srgbClr val="FF0000"/>
                </a:solidFill>
              </a:rPr>
              <a:t>j</a:t>
            </a:r>
            <a:r>
              <a:rPr lang="en-US" altLang="zh-CN" sz="2200" b="1" dirty="0">
                <a:solidFill>
                  <a:srgbClr val="FF0000"/>
                </a:solidFill>
              </a:rPr>
              <a:t>)</a:t>
            </a:r>
            <a:r>
              <a:rPr lang="en-US" altLang="zh-CN" sz="2200" b="1" dirty="0"/>
              <a:t>.</a:t>
            </a:r>
            <a:r>
              <a:rPr lang="zh-CN" altLang="en-US" sz="22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2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因为</a:t>
            </a:r>
            <a:r>
              <a:rPr lang="zh-CN" altLang="en-US" sz="2200" dirty="0"/>
              <a:t>如果</a:t>
            </a:r>
            <a:r>
              <a:rPr lang="en-US" altLang="zh-CN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c(</a:t>
            </a:r>
            <a:r>
              <a:rPr lang="en-US" altLang="zh-CN" sz="2200" dirty="0"/>
              <a:t>e)&gt;c(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j</a:t>
            </a:r>
            <a:r>
              <a:rPr lang="en-US" altLang="zh-CN" sz="2200" dirty="0"/>
              <a:t>)</a:t>
            </a:r>
            <a:r>
              <a:rPr lang="zh-CN" altLang="en-US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200" dirty="0"/>
              <a:t>，</a:t>
            </a:r>
            <a:r>
              <a:rPr lang="en-US" altLang="zh-CN" sz="2200" dirty="0"/>
              <a:t>Kruskal</a:t>
            </a:r>
            <a:r>
              <a:rPr lang="zh-CN" altLang="en-US" sz="2200" dirty="0"/>
              <a:t>算法会在</a:t>
            </a:r>
            <a:r>
              <a:rPr lang="en-US" altLang="zh-CN" sz="2200" dirty="0"/>
              <a:t>e</a:t>
            </a:r>
            <a:r>
              <a:rPr lang="zh-CN" altLang="en-US" sz="2200" dirty="0"/>
              <a:t>之前考虑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j</a:t>
            </a:r>
            <a:r>
              <a:rPr lang="en-US" altLang="zh-CN" sz="2200" baseline="-25000" dirty="0"/>
              <a:t> </a:t>
            </a:r>
            <a:r>
              <a:rPr lang="zh-CN" altLang="en-US" sz="2200" dirty="0"/>
              <a:t>，并把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j</a:t>
            </a:r>
            <a:r>
              <a:rPr lang="zh-CN" altLang="en-US" sz="2200" dirty="0"/>
              <a:t>计入</a:t>
            </a:r>
            <a:r>
              <a:rPr lang="en-US" altLang="zh-CN" sz="2200" dirty="0"/>
              <a:t>T</a:t>
            </a:r>
            <a:r>
              <a:rPr lang="zh-CN" altLang="en-US" sz="2200" dirty="0"/>
              <a:t>中。这</a:t>
            </a:r>
            <a:r>
              <a:rPr lang="zh-CN" altLang="en-US" sz="2200" u="sng" dirty="0"/>
              <a:t>与假设矛盾</a:t>
            </a:r>
            <a:r>
              <a:rPr lang="zh-CN" altLang="en-US" sz="2200" dirty="0"/>
              <a:t>，因此</a:t>
            </a:r>
            <a:r>
              <a:rPr lang="en-US" altLang="zh-CN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c(</a:t>
            </a:r>
            <a:r>
              <a:rPr lang="en-US" altLang="zh-CN" sz="2200" dirty="0"/>
              <a:t>e)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≤</a:t>
            </a:r>
            <a:r>
              <a:rPr lang="en-US" altLang="zh-CN" sz="2200" dirty="0"/>
              <a:t>c(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j</a:t>
            </a:r>
            <a:r>
              <a:rPr lang="en-US" altLang="zh-CN" sz="2200" dirty="0"/>
              <a:t>).</a:t>
            </a:r>
            <a:r>
              <a:rPr lang="zh-CN" altLang="en-US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en-US" altLang="zh-CN" sz="2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CN" altLang="en-US" sz="2200" dirty="0">
                <a:solidFill>
                  <a:srgbClr val="FF0000"/>
                </a:solidFill>
                <a:ea typeface="Arial Unicode MS" panose="020B0604020202020204" pitchFamily="34" charset="-122"/>
              </a:rPr>
              <a:t>替换</a:t>
            </a:r>
            <a:r>
              <a:rPr lang="zh-CN" altLang="en-US" sz="2200" dirty="0">
                <a:ea typeface="Arial Unicode MS" panose="020B0604020202020204" pitchFamily="34" charset="-122"/>
              </a:rPr>
              <a:t>：</a:t>
            </a:r>
            <a:r>
              <a:rPr lang="en-US" altLang="zh-CN" sz="2200" dirty="0"/>
              <a:t>E(T’) </a:t>
            </a:r>
            <a:r>
              <a:rPr lang="en-US" altLang="zh-CN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⋃ {</a:t>
            </a:r>
            <a:r>
              <a:rPr lang="en-US" altLang="zh-CN" sz="2200" dirty="0"/>
              <a:t>e</a:t>
            </a:r>
            <a:r>
              <a:rPr lang="en-US" altLang="zh-CN" sz="2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r>
              <a:rPr lang="zh-CN" altLang="en-US" sz="2200" dirty="0"/>
              <a:t>，删去边</a:t>
            </a:r>
            <a:r>
              <a:rPr lang="en-US" altLang="zh-CN" sz="2200" dirty="0" err="1"/>
              <a:t>e</a:t>
            </a:r>
            <a:r>
              <a:rPr lang="en-US" altLang="zh-CN" sz="2200" baseline="-25000" dirty="0" err="1"/>
              <a:t>j</a:t>
            </a:r>
            <a:r>
              <a:rPr lang="en-US" altLang="zh-CN" sz="2200" baseline="-25000" dirty="0"/>
              <a:t> </a:t>
            </a:r>
            <a:r>
              <a:rPr lang="zh-CN" altLang="en-US" sz="2200" dirty="0"/>
              <a:t>，产生新树</a:t>
            </a:r>
            <a:r>
              <a:rPr lang="en-US" altLang="zh-CN" sz="2200" dirty="0"/>
              <a:t>T”,</a:t>
            </a:r>
            <a:r>
              <a:rPr lang="zh-CN" altLang="en-US" sz="2200" dirty="0"/>
              <a:t> </a:t>
            </a:r>
            <a:r>
              <a:rPr lang="en-US" altLang="zh-CN" sz="2200" b="1" dirty="0">
                <a:solidFill>
                  <a:srgbClr val="FF0000"/>
                </a:solidFill>
              </a:rPr>
              <a:t>T”</a:t>
            </a:r>
            <a:r>
              <a:rPr lang="zh-CN" altLang="en-US" sz="2200" b="1" dirty="0">
                <a:solidFill>
                  <a:srgbClr val="FF0000"/>
                </a:solidFill>
              </a:rPr>
              <a:t>的成本小于等于</a:t>
            </a:r>
            <a:r>
              <a:rPr lang="en-US" altLang="zh-CN" sz="2200" b="1" dirty="0">
                <a:solidFill>
                  <a:srgbClr val="FF0000"/>
                </a:solidFill>
              </a:rPr>
              <a:t>T’</a:t>
            </a:r>
            <a:r>
              <a:rPr lang="zh-CN" altLang="en-US" sz="2200" b="1" dirty="0">
                <a:solidFill>
                  <a:srgbClr val="FF0000"/>
                </a:solidFill>
              </a:rPr>
              <a:t>的成本</a:t>
            </a:r>
            <a:r>
              <a:rPr lang="zh-CN" altLang="en-US" sz="2200" dirty="0"/>
              <a:t>。因此</a:t>
            </a:r>
            <a:r>
              <a:rPr lang="en-US" altLang="zh-CN" sz="2200" dirty="0"/>
              <a:t>T”</a:t>
            </a:r>
            <a:r>
              <a:rPr lang="zh-CN" altLang="en-US" sz="2200" dirty="0"/>
              <a:t>也是一棵最小成本树。反复上述转换，树</a:t>
            </a:r>
            <a:r>
              <a:rPr lang="en-US" altLang="zh-CN" sz="2200" dirty="0"/>
              <a:t>T’</a:t>
            </a:r>
            <a:r>
              <a:rPr lang="zh-CN" altLang="en-US" sz="2200" dirty="0"/>
              <a:t>转换成</a:t>
            </a:r>
            <a:r>
              <a:rPr lang="en-US" altLang="zh-CN" sz="2200" dirty="0"/>
              <a:t>T</a:t>
            </a:r>
            <a:r>
              <a:rPr lang="zh-CN" altLang="en-US" sz="2200" dirty="0"/>
              <a:t>而成本没有任何增加，故</a:t>
            </a:r>
            <a:r>
              <a:rPr lang="en-US" altLang="zh-CN" sz="2200" dirty="0"/>
              <a:t>T</a:t>
            </a:r>
            <a:r>
              <a:rPr lang="zh-CN" altLang="en-US" sz="2200" dirty="0"/>
              <a:t>是一棵最小成本生成树，证毕。</a:t>
            </a:r>
            <a:endParaRPr lang="en-US" altLang="zh-CN" sz="2200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9CEF7D-A822-7FE7-413B-2BD65D3D8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1196752"/>
            <a:ext cx="2479676" cy="108193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5.5 </a:t>
            </a:r>
            <a:r>
              <a:rPr lang="zh-CN" altLang="en-US" sz="4000" dirty="0"/>
              <a:t>货郎担问题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2400" kern="0" dirty="0">
                <a:latin typeface="幼圆" panose="02010509060101010101" pitchFamily="49" charset="-122"/>
                <a:cs typeface="微软雅黑" charset="0"/>
              </a:rPr>
              <a:t>货郎担问题也叫旅行商问题，即</a:t>
            </a:r>
            <a:r>
              <a:rPr lang="en-US" altLang="zh-CN" sz="2400" kern="0" dirty="0"/>
              <a:t>TSP</a:t>
            </a:r>
            <a:r>
              <a:rPr lang="zh-CN" altLang="en-US" sz="2400" kern="0" dirty="0">
                <a:latin typeface="幼圆" panose="02010509060101010101" pitchFamily="49" charset="-122"/>
                <a:cs typeface="微软雅黑" charset="0"/>
              </a:rPr>
              <a:t>问题</a:t>
            </a:r>
            <a:r>
              <a:rPr lang="en-US" altLang="zh-CN" sz="2400" kern="0" dirty="0">
                <a:latin typeface="幼圆" panose="02010509060101010101" pitchFamily="49" charset="-122"/>
                <a:cs typeface="微软雅黑" charset="0"/>
              </a:rPr>
              <a:t>(</a:t>
            </a:r>
            <a:r>
              <a:rPr lang="en-US" altLang="zh-CN" sz="2400" kern="0" dirty="0"/>
              <a:t>Traveling Salesman Problem</a:t>
            </a:r>
            <a:r>
              <a:rPr lang="en-US" altLang="zh-CN" sz="2400" kern="0" dirty="0">
                <a:latin typeface="幼圆" panose="02010509060101010101" pitchFamily="49" charset="-122"/>
                <a:cs typeface="微软雅黑" charset="0"/>
              </a:rPr>
              <a:t>)</a:t>
            </a:r>
            <a:r>
              <a:rPr lang="zh-CN" altLang="en-US" sz="2400" kern="0" dirty="0">
                <a:latin typeface="幼圆" panose="02010509060101010101" pitchFamily="49" charset="-122"/>
                <a:cs typeface="微软雅黑" charset="0"/>
              </a:rPr>
              <a:t>，是数学领域中著名问题之一。</a:t>
            </a:r>
          </a:p>
          <a:p>
            <a:pPr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幼圆" panose="02010509060101010101" pitchFamily="49" charset="-122"/>
                <a:cs typeface="微软雅黑" charset="0"/>
              </a:rPr>
              <a:t>问题描述：</a:t>
            </a:r>
            <a:r>
              <a:rPr lang="zh-CN" altLang="en-US" sz="2400" kern="0" dirty="0">
                <a:latin typeface="幼圆" panose="02010509060101010101" pitchFamily="49" charset="-122"/>
                <a:cs typeface="微软雅黑" charset="0"/>
              </a:rPr>
              <a:t>某售货员要到若干个城市销售货物，已知各城市之间的距离，要求售货员从某一城市出发并选择旅行路线，使每个城市经过一次，最后回到原出发城市，而总路程最短。</a:t>
            </a:r>
            <a:endParaRPr lang="en-US" altLang="zh-CN" sz="2400" kern="0" dirty="0">
              <a:latin typeface="幼圆" panose="02010509060101010101" pitchFamily="49" charset="-122"/>
              <a:cs typeface="微软雅黑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555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408" y="16290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贪心策略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16" y="1441311"/>
            <a:ext cx="10369152" cy="210034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根据目标函数，选择距离当前城市最短距离的城市</a:t>
            </a:r>
            <a:endParaRPr lang="en-US" altLang="zh-CN" sz="2400" dirty="0"/>
          </a:p>
          <a:p>
            <a:pPr lvl="1"/>
            <a:r>
              <a:rPr lang="zh-CN" altLang="en-US" sz="2400" dirty="0"/>
              <a:t>从某一个城市开始，每次选择一个新城市，直到所有的城市被走完。 </a:t>
            </a:r>
            <a:endParaRPr lang="en-US" altLang="zh-CN" sz="2400" dirty="0"/>
          </a:p>
          <a:p>
            <a:pPr lvl="1"/>
            <a:r>
              <a:rPr lang="zh-CN" altLang="en-US" sz="2400" dirty="0"/>
              <a:t>在选择下一个城市时，只考虑当前情况，保证当前选择的城市距离最小且不形成回路。</a:t>
            </a:r>
            <a:endParaRPr lang="en-US" altLang="zh-CN" sz="2400" dirty="0"/>
          </a:p>
          <a:p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  <p:grpSp>
        <p:nvGrpSpPr>
          <p:cNvPr id="53" name="组合 52"/>
          <p:cNvGrpSpPr/>
          <p:nvPr/>
        </p:nvGrpSpPr>
        <p:grpSpPr>
          <a:xfrm>
            <a:off x="2027700" y="3469650"/>
            <a:ext cx="2592288" cy="2271367"/>
            <a:chOff x="2639616" y="2420888"/>
            <a:chExt cx="2592288" cy="2271367"/>
          </a:xfrm>
        </p:grpSpPr>
        <p:sp>
          <p:nvSpPr>
            <p:cNvPr id="5" name="椭圆 4"/>
            <p:cNvSpPr/>
            <p:nvPr/>
          </p:nvSpPr>
          <p:spPr>
            <a:xfrm>
              <a:off x="3719736" y="2420888"/>
              <a:ext cx="288032" cy="288032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639616" y="3284984"/>
              <a:ext cx="288032" cy="288032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871864" y="3284984"/>
              <a:ext cx="288032" cy="288032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143672" y="4221088"/>
              <a:ext cx="288032" cy="288032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439816" y="4221088"/>
              <a:ext cx="288032" cy="288032"/>
            </a:xfrm>
            <a:prstGeom prst="ellipse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" name="直接箭头连接符 11"/>
            <p:cNvCxnSpPr>
              <a:stCxn id="5" idx="3"/>
              <a:endCxn id="6" idx="7"/>
            </p:cNvCxnSpPr>
            <p:nvPr/>
          </p:nvCxnSpPr>
          <p:spPr>
            <a:xfrm flipH="1">
              <a:off x="2885467" y="2666739"/>
              <a:ext cx="876450" cy="660426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359696" y="256490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>
              <a:stCxn id="5" idx="4"/>
              <a:endCxn id="8" idx="0"/>
            </p:cNvCxnSpPr>
            <p:nvPr/>
          </p:nvCxnSpPr>
          <p:spPr>
            <a:xfrm flipH="1">
              <a:off x="3287688" y="2708920"/>
              <a:ext cx="576064" cy="151216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3575720" y="278092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cxnSp>
          <p:nvCxnSpPr>
            <p:cNvPr id="18" name="直接箭头连接符 17"/>
            <p:cNvCxnSpPr>
              <a:stCxn id="5" idx="5"/>
              <a:endCxn id="7" idx="1"/>
            </p:cNvCxnSpPr>
            <p:nvPr/>
          </p:nvCxnSpPr>
          <p:spPr>
            <a:xfrm>
              <a:off x="3965587" y="2666739"/>
              <a:ext cx="948458" cy="660426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4079776" y="256490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cxnSp>
          <p:nvCxnSpPr>
            <p:cNvPr id="23" name="直接箭头连接符 22"/>
            <p:cNvCxnSpPr>
              <a:stCxn id="5" idx="4"/>
              <a:endCxn id="9" idx="0"/>
            </p:cNvCxnSpPr>
            <p:nvPr/>
          </p:nvCxnSpPr>
          <p:spPr>
            <a:xfrm>
              <a:off x="3863752" y="2708920"/>
              <a:ext cx="720080" cy="1512168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3863752" y="278092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6</a:t>
              </a:r>
              <a:endParaRPr lang="zh-CN" altLang="en-US" dirty="0"/>
            </a:p>
          </p:txBody>
        </p:sp>
        <p:cxnSp>
          <p:nvCxnSpPr>
            <p:cNvPr id="27" name="直接箭头连接符 26"/>
            <p:cNvCxnSpPr>
              <a:stCxn id="6" idx="6"/>
              <a:endCxn id="7" idx="2"/>
            </p:cNvCxnSpPr>
            <p:nvPr/>
          </p:nvCxnSpPr>
          <p:spPr>
            <a:xfrm>
              <a:off x="2927648" y="3429000"/>
              <a:ext cx="1944216" cy="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6" idx="5"/>
              <a:endCxn id="8" idx="1"/>
            </p:cNvCxnSpPr>
            <p:nvPr/>
          </p:nvCxnSpPr>
          <p:spPr>
            <a:xfrm>
              <a:off x="2885467" y="3530835"/>
              <a:ext cx="300386" cy="732434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6" idx="6"/>
              <a:endCxn id="9" idx="1"/>
            </p:cNvCxnSpPr>
            <p:nvPr/>
          </p:nvCxnSpPr>
          <p:spPr>
            <a:xfrm>
              <a:off x="2927648" y="3429000"/>
              <a:ext cx="1554349" cy="834269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7" idx="2"/>
              <a:endCxn id="8" idx="7"/>
            </p:cNvCxnSpPr>
            <p:nvPr/>
          </p:nvCxnSpPr>
          <p:spPr>
            <a:xfrm flipH="1">
              <a:off x="3389523" y="3429000"/>
              <a:ext cx="1482341" cy="834269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>
              <a:stCxn id="7" idx="4"/>
              <a:endCxn id="9" idx="7"/>
            </p:cNvCxnSpPr>
            <p:nvPr/>
          </p:nvCxnSpPr>
          <p:spPr>
            <a:xfrm flipH="1">
              <a:off x="4685667" y="3573016"/>
              <a:ext cx="330213" cy="690253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8" idx="6"/>
              <a:endCxn id="9" idx="2"/>
            </p:cNvCxnSpPr>
            <p:nvPr/>
          </p:nvCxnSpPr>
          <p:spPr>
            <a:xfrm>
              <a:off x="3431704" y="4365104"/>
              <a:ext cx="1008112" cy="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3744608" y="336316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711624" y="357301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927648" y="342900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4596186" y="3451066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871864" y="361714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  <a:endParaRPr lang="zh-CN" altLang="en-US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811479" y="4322923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</p:grpSp>
      <p:graphicFrame>
        <p:nvGraphicFramePr>
          <p:cNvPr id="55" name="表格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449789"/>
              </p:ext>
            </p:extLst>
          </p:nvPr>
        </p:nvGraphicFramePr>
        <p:xfrm>
          <a:off x="6517956" y="3671856"/>
          <a:ext cx="2582750" cy="1828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16550">
                  <a:extLst>
                    <a:ext uri="{9D8B030D-6E8A-4147-A177-3AD203B41FA5}">
                      <a16:colId xmlns:a16="http://schemas.microsoft.com/office/drawing/2014/main" val="1516023414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200660563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3481116674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228023552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3148914704"/>
                    </a:ext>
                  </a:extLst>
                </a:gridCol>
              </a:tblGrid>
              <a:tr h="323107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0335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676034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8391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30386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914294"/>
                  </a:ext>
                </a:extLst>
              </a:tr>
            </a:tbl>
          </a:graphicData>
        </a:graphic>
      </p:graphicFrame>
      <p:sp>
        <p:nvSpPr>
          <p:cNvPr id="56" name="文本框 55"/>
          <p:cNvSpPr txBox="1"/>
          <p:nvPr/>
        </p:nvSpPr>
        <p:spPr>
          <a:xfrm>
            <a:off x="6023993" y="3575918"/>
            <a:ext cx="433306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1     2     3     4       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   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600056" y="3284984"/>
            <a:ext cx="251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1      2      3       4       5    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546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876052"/>
              </p:ext>
            </p:extLst>
          </p:nvPr>
        </p:nvGraphicFramePr>
        <p:xfrm>
          <a:off x="1604689" y="1591462"/>
          <a:ext cx="2582750" cy="1828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16550">
                  <a:extLst>
                    <a:ext uri="{9D8B030D-6E8A-4147-A177-3AD203B41FA5}">
                      <a16:colId xmlns:a16="http://schemas.microsoft.com/office/drawing/2014/main" val="1516023414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200660563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3481116674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228023552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3148914704"/>
                    </a:ext>
                  </a:extLst>
                </a:gridCol>
              </a:tblGrid>
              <a:tr h="323107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0335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676034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8391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30386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914294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131634" y="1495524"/>
            <a:ext cx="41239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12  3    4       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   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86789" y="1204590"/>
            <a:ext cx="251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1      2      3       4       5    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1848211" y="569967"/>
            <a:ext cx="1728192" cy="504825"/>
          </a:xfrm>
          <a:prstGeom prst="wedgeRoundRectCallout">
            <a:avLst>
              <a:gd name="adj1" fmla="val -44932"/>
              <a:gd name="adj2" fmla="val 103557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从城市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出发</a:t>
            </a:r>
          </a:p>
        </p:txBody>
      </p:sp>
      <p:sp>
        <p:nvSpPr>
          <p:cNvPr id="9" name="矩形 8"/>
          <p:cNvSpPr/>
          <p:nvPr/>
        </p:nvSpPr>
        <p:spPr>
          <a:xfrm>
            <a:off x="1634996" y="2733069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184581" y="2382079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43108" y="3074950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703791" y="2018309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274476" y="3630904"/>
            <a:ext cx="3922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kern="0" dirty="0">
                <a:latin typeface="微软雅黑" charset="0"/>
                <a:ea typeface="微软雅黑" charset="0"/>
                <a:cs typeface="微软雅黑" charset="0"/>
              </a:rPr>
              <a:t>1-&gt;4-&gt;3-&gt;5-&gt;2-&gt;1</a:t>
            </a:r>
            <a:r>
              <a:rPr lang="zh-CN" altLang="en-US" sz="2000" kern="0" dirty="0">
                <a:latin typeface="微软雅黑" charset="0"/>
                <a:ea typeface="微软雅黑" charset="0"/>
                <a:cs typeface="微软雅黑" charset="0"/>
              </a:rPr>
              <a:t>，总距离</a:t>
            </a:r>
            <a:r>
              <a:rPr lang="en-US" altLang="zh-CN" sz="2000" kern="0" dirty="0">
                <a:latin typeface="微软雅黑" charset="0"/>
                <a:ea typeface="微软雅黑" charset="0"/>
                <a:cs typeface="微软雅黑" charset="0"/>
              </a:rPr>
              <a:t>14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572761"/>
              </p:ext>
            </p:extLst>
          </p:nvPr>
        </p:nvGraphicFramePr>
        <p:xfrm>
          <a:off x="7040466" y="1504027"/>
          <a:ext cx="2582750" cy="18288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16550">
                  <a:extLst>
                    <a:ext uri="{9D8B030D-6E8A-4147-A177-3AD203B41FA5}">
                      <a16:colId xmlns:a16="http://schemas.microsoft.com/office/drawing/2014/main" val="1516023414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200660563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3481116674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228023552"/>
                    </a:ext>
                  </a:extLst>
                </a:gridCol>
                <a:gridCol w="516550">
                  <a:extLst>
                    <a:ext uri="{9D8B030D-6E8A-4147-A177-3AD203B41FA5}">
                      <a16:colId xmlns:a16="http://schemas.microsoft.com/office/drawing/2014/main" val="3148914704"/>
                    </a:ext>
                  </a:extLst>
                </a:gridCol>
              </a:tblGrid>
              <a:tr h="323107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0335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676034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8391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530386"/>
                  </a:ext>
                </a:extLst>
              </a:tr>
              <a:tr h="323107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∞</a:t>
                      </a:r>
                      <a:endParaRPr lang="zh-CN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914294"/>
                  </a:ext>
                </a:extLst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572181" y="1408089"/>
            <a:ext cx="40762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1     2     3     4       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   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22566" y="1117155"/>
            <a:ext cx="251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1      2      3       4       5     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7746504" y="531920"/>
            <a:ext cx="1728192" cy="504825"/>
          </a:xfrm>
          <a:prstGeom prst="wedgeRoundRectCallout">
            <a:avLst>
              <a:gd name="adj1" fmla="val -43107"/>
              <a:gd name="adj2" fmla="val 97311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从城市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出发</a:t>
            </a:r>
          </a:p>
        </p:txBody>
      </p:sp>
      <p:sp>
        <p:nvSpPr>
          <p:cNvPr id="18" name="矩形 17"/>
          <p:cNvSpPr/>
          <p:nvPr/>
        </p:nvSpPr>
        <p:spPr>
          <a:xfrm>
            <a:off x="7587335" y="3050993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170399" y="2632406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626281" y="1553415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704836" y="3575008"/>
            <a:ext cx="3922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kern="0" dirty="0">
                <a:latin typeface="微软雅黑" charset="0"/>
                <a:ea typeface="微软雅黑" charset="0"/>
                <a:cs typeface="微软雅黑" charset="0"/>
              </a:rPr>
              <a:t>2-&gt;5-&gt;4-&gt;1-&gt;3-&gt;2</a:t>
            </a:r>
            <a:r>
              <a:rPr lang="zh-CN" altLang="en-US" sz="2000" kern="0" dirty="0">
                <a:latin typeface="微软雅黑" charset="0"/>
                <a:ea typeface="微软雅黑" charset="0"/>
                <a:cs typeface="微软雅黑" charset="0"/>
              </a:rPr>
              <a:t>，总距离</a:t>
            </a:r>
            <a:r>
              <a:rPr lang="en-US" altLang="zh-CN" sz="2000" kern="0" dirty="0">
                <a:latin typeface="微软雅黑" charset="0"/>
                <a:ea typeface="微软雅黑" charset="0"/>
                <a:cs typeface="微软雅黑" charset="0"/>
              </a:rPr>
              <a:t>17</a:t>
            </a:r>
          </a:p>
        </p:txBody>
      </p:sp>
      <p:sp>
        <p:nvSpPr>
          <p:cNvPr id="23" name="矩形 22"/>
          <p:cNvSpPr/>
          <p:nvPr/>
        </p:nvSpPr>
        <p:spPr>
          <a:xfrm>
            <a:off x="7094892" y="2294644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9BD532-D45C-99B1-B20C-F2771B00BABB}"/>
              </a:ext>
            </a:extLst>
          </p:cNvPr>
          <p:cNvSpPr txBox="1"/>
          <p:nvPr/>
        </p:nvSpPr>
        <p:spPr>
          <a:xfrm>
            <a:off x="1263723" y="4976356"/>
            <a:ext cx="9647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kumimoji="1" lang="zh-CN" altLang="en-US" sz="2400" dirty="0"/>
              <a:t>贪心策略所求得的解，不一定是最优解；</a:t>
            </a:r>
            <a:endParaRPr kumimoji="1" lang="en-US" altLang="zh-CN" sz="2400" dirty="0"/>
          </a:p>
          <a:p>
            <a:pPr>
              <a:spcBef>
                <a:spcPct val="0"/>
              </a:spcBef>
            </a:pPr>
            <a:r>
              <a:rPr kumimoji="1" lang="zh-CN" altLang="en-US" sz="2400" dirty="0"/>
              <a:t>对货郎担问题，贪心策略可以用来求近似解。</a:t>
            </a:r>
            <a:endParaRPr lang="zh-CN" altLang="en-US" sz="2400" dirty="0">
              <a:latin typeface="幼圆" panose="0201050906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24892" y="1642324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060302" y="1914200"/>
            <a:ext cx="318339" cy="2475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48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7" grpId="0" animBg="1"/>
      <p:bldP spid="18" grpId="0" animBg="1"/>
      <p:bldP spid="19" grpId="0" animBg="1"/>
      <p:bldP spid="20" grpId="0" animBg="1"/>
      <p:bldP spid="22" grpId="0"/>
      <p:bldP spid="23" grpId="0" animBg="1"/>
      <p:bldP spid="3" grpId="0"/>
      <p:bldP spid="24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518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5.6 </a:t>
            </a:r>
            <a:r>
              <a:rPr lang="zh-CN" altLang="en-US" sz="4000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15506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贪心法特点：</a:t>
            </a:r>
            <a:endParaRPr lang="en-US" altLang="zh-CN" sz="2400" dirty="0"/>
          </a:p>
          <a:p>
            <a:pPr lvl="1"/>
            <a:r>
              <a:rPr lang="zh-CN" altLang="en-US" sz="2400" dirty="0"/>
              <a:t>多步判断，只顾眼前</a:t>
            </a:r>
            <a:endParaRPr lang="en-US" altLang="zh-CN" sz="2400" dirty="0"/>
          </a:p>
          <a:p>
            <a:pPr lvl="2"/>
            <a:r>
              <a:rPr lang="zh-CN" altLang="en-US" sz="2400" dirty="0"/>
              <a:t>不考虑子问题的计算结果的优劣</a:t>
            </a:r>
            <a:endParaRPr lang="en-US" altLang="zh-CN" sz="2400" dirty="0"/>
          </a:p>
          <a:p>
            <a:pPr lvl="2"/>
            <a:r>
              <a:rPr lang="zh-CN" altLang="en-US" sz="2400" dirty="0"/>
              <a:t>只考虑子问题当前决策的优劣</a:t>
            </a:r>
            <a:endParaRPr lang="en-US" altLang="zh-CN" sz="2400" dirty="0"/>
          </a:p>
          <a:p>
            <a:pPr lvl="1"/>
            <a:r>
              <a:rPr lang="zh-CN" altLang="en-US" sz="2400" dirty="0"/>
              <a:t>有时只能获得局部最优解</a:t>
            </a:r>
            <a:endParaRPr lang="en-US" altLang="zh-CN" sz="2400" dirty="0"/>
          </a:p>
          <a:p>
            <a:pPr lvl="1"/>
            <a:r>
              <a:rPr lang="zh-CN" altLang="en-US" sz="2400" dirty="0"/>
              <a:t>全局最优解需要经过正确性证明</a:t>
            </a:r>
            <a:endParaRPr lang="en-US" altLang="zh-CN" sz="2400" dirty="0"/>
          </a:p>
          <a:p>
            <a:r>
              <a:rPr lang="zh-CN" altLang="en-US" sz="2400" dirty="0"/>
              <a:t>对于许多</a:t>
            </a:r>
            <a:r>
              <a:rPr lang="en-US" altLang="zh-CN" sz="2400" dirty="0"/>
              <a:t>NP</a:t>
            </a:r>
            <a:r>
              <a:rPr lang="zh-CN" altLang="en-US" sz="2400" dirty="0"/>
              <a:t>难的组合优化问题，近似算法是一种比较可行的途径</a:t>
            </a:r>
            <a:endParaRPr lang="en-US" altLang="zh-CN" sz="2400" dirty="0"/>
          </a:p>
          <a:p>
            <a:pPr lvl="1"/>
            <a:r>
              <a:rPr lang="zh-CN" altLang="en-US" sz="2400" dirty="0"/>
              <a:t>贪心法常用于这些近似算法的设计中。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7238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5.6 </a:t>
            </a:r>
            <a:r>
              <a:rPr lang="zh-CN" altLang="en-US" sz="4000" dirty="0"/>
              <a:t>小结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5.1</a:t>
            </a:r>
            <a:r>
              <a:rPr lang="en-US" altLang="zh-CN" sz="2400" dirty="0">
                <a:latin typeface="幼圆" panose="02010509060101010101" pitchFamily="49" charset="-122"/>
              </a:rPr>
              <a:t> </a:t>
            </a:r>
            <a:r>
              <a:rPr lang="zh-CN" altLang="en-US" sz="2400" dirty="0">
                <a:latin typeface="幼圆" panose="02010509060101010101" pitchFamily="49" charset="-122"/>
              </a:rPr>
              <a:t>一般方法</a:t>
            </a:r>
            <a:endParaRPr lang="en-US" altLang="zh-CN" sz="2400" dirty="0">
              <a:latin typeface="幼圆" panose="02010509060101010101" pitchFamily="49" charset="-122"/>
            </a:endParaRPr>
          </a:p>
          <a:p>
            <a:pPr lvl="1"/>
            <a:r>
              <a:rPr lang="zh-CN" altLang="zh-CN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掌握约束条件、可行解、最优解、目标函数的定义；理解量度标准的意义；掌握贪心方法适用的问题特点和求解思想等基本知识。能掌握贪心法求解问题的一般过程。</a:t>
            </a:r>
            <a:endParaRPr lang="en-US" altLang="zh-CN" sz="2400" kern="0" dirty="0">
              <a:solidFill>
                <a:srgbClr val="000000"/>
              </a:solidFill>
              <a:latin typeface="幼圆" panose="020105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dirty="0"/>
              <a:t>5.2 </a:t>
            </a:r>
            <a:r>
              <a:rPr lang="zh-CN" altLang="en-US" sz="2400" dirty="0"/>
              <a:t>背包问题</a:t>
            </a:r>
            <a:endParaRPr lang="en-US" altLang="zh-CN" sz="2400" dirty="0"/>
          </a:p>
          <a:p>
            <a:r>
              <a:rPr lang="en-US" altLang="zh-CN" sz="2400" dirty="0"/>
              <a:t>5.3 </a:t>
            </a:r>
            <a:r>
              <a:rPr lang="zh-CN" altLang="en-US" sz="2400" dirty="0"/>
              <a:t>带有期限的作业排序</a:t>
            </a:r>
          </a:p>
          <a:p>
            <a:pPr lvl="1"/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掌握</a:t>
            </a:r>
            <a:r>
              <a:rPr lang="zh-CN" altLang="zh-CN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贪心法最优解证明的一般方法和贪心算法设计的一般思想。</a:t>
            </a:r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深入理解贪心法时间复杂度的影响因素，掌握贪心法优化思路。</a:t>
            </a:r>
            <a:endParaRPr lang="en-US" altLang="zh-CN" sz="2400" dirty="0"/>
          </a:p>
          <a:p>
            <a:pPr lvl="1"/>
            <a:endParaRPr lang="zh-CN" altLang="zh-CN" sz="2700" kern="100" dirty="0">
              <a:latin typeface="幼圆" panose="020105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sz="2100" dirty="0"/>
          </a:p>
          <a:p>
            <a:endParaRPr lang="zh-CN" altLang="zh-CN" sz="2400" kern="100" dirty="0">
              <a:latin typeface="幼圆" panose="02010509060101010101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1191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5.6 </a:t>
            </a:r>
            <a:r>
              <a:rPr lang="zh-CN" altLang="en-US" sz="4000" dirty="0"/>
              <a:t>小结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9457" y="1772816"/>
            <a:ext cx="10515600" cy="2524163"/>
          </a:xfrm>
        </p:spPr>
        <p:txBody>
          <a:bodyPr/>
          <a:lstStyle/>
          <a:p>
            <a:r>
              <a:rPr lang="en-US" altLang="zh-CN" sz="2400" dirty="0"/>
              <a:t>5.4 </a:t>
            </a:r>
            <a:r>
              <a:rPr lang="zh-CN" altLang="en-US" sz="2400" dirty="0"/>
              <a:t>最小生成树问题</a:t>
            </a:r>
            <a:endParaRPr lang="en-US" altLang="zh-CN" sz="2400" dirty="0"/>
          </a:p>
          <a:p>
            <a:pPr lvl="1"/>
            <a:r>
              <a:rPr lang="zh-CN" altLang="en-US" sz="2400" dirty="0"/>
              <a:t>深入理解贪心法适用的问题特征，掌握复杂问题求解办法。</a:t>
            </a:r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掌握</a:t>
            </a:r>
            <a:r>
              <a:rPr lang="zh-CN" altLang="zh-CN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贪心法</a:t>
            </a:r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求解复杂问题时</a:t>
            </a:r>
            <a:r>
              <a:rPr lang="zh-CN" altLang="zh-CN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最优解</a:t>
            </a:r>
            <a:r>
              <a:rPr lang="zh-CN" altLang="en-US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400" kern="0" dirty="0">
                <a:solidFill>
                  <a:srgbClr val="000000"/>
                </a:solidFill>
                <a:latin typeface="幼圆" panose="02010509060101010101" pitchFamily="49" charset="-122"/>
                <a:cs typeface="Times New Roman" panose="02020603050405020304" pitchFamily="18" charset="0"/>
              </a:rPr>
              <a:t>证明方法。</a:t>
            </a:r>
            <a:endParaRPr lang="en-US" altLang="zh-CN" sz="2400" dirty="0"/>
          </a:p>
          <a:p>
            <a:r>
              <a:rPr lang="en-US" altLang="zh-CN" sz="2400" dirty="0"/>
              <a:t>5.5 </a:t>
            </a:r>
            <a:r>
              <a:rPr lang="zh-CN" altLang="en-US" sz="2400" dirty="0"/>
              <a:t>货郎担问题</a:t>
            </a:r>
            <a:endParaRPr lang="en-US" altLang="zh-CN" sz="2400" dirty="0"/>
          </a:p>
          <a:p>
            <a:pPr lvl="1"/>
            <a:r>
              <a:rPr lang="zh-CN" altLang="en-US" sz="2400" dirty="0"/>
              <a:t>理解贪心法近似解和实际最优解间的差异。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127448" y="5095833"/>
            <a:ext cx="10585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能够识别出适合贪心法的可计算性问题、独立设计算法和分析算法复杂度。</a:t>
            </a:r>
            <a:endParaRPr lang="zh-CN" altLang="en-US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91620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本 章 结 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62984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第五章 贪心方法</a:t>
            </a:r>
            <a:r>
              <a:rPr lang="en-US" altLang="zh-CN" sz="4800" dirty="0"/>
              <a:t>—</a:t>
            </a:r>
            <a:r>
              <a:rPr lang="zh-CN" altLang="en-US" sz="4800" dirty="0"/>
              <a:t>补充内容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88760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6786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0808"/>
            <a:ext cx="10515600" cy="4404147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练习</a:t>
            </a:r>
            <a:r>
              <a:rPr lang="en-US" altLang="zh-CN" sz="2800" dirty="0"/>
              <a:t>1. </a:t>
            </a:r>
            <a:r>
              <a:rPr lang="zh-CN" altLang="en-US" sz="2800" dirty="0"/>
              <a:t>活动选择</a:t>
            </a:r>
            <a:r>
              <a:rPr lang="en-US" altLang="zh-CN" sz="2800" dirty="0"/>
              <a:t>/</a:t>
            </a:r>
            <a:r>
              <a:rPr lang="zh-CN" altLang="en-US" sz="2800" dirty="0"/>
              <a:t>活动安排问题</a:t>
            </a:r>
          </a:p>
          <a:p>
            <a:r>
              <a:rPr lang="zh-CN" altLang="en-US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练习</a:t>
            </a:r>
            <a:r>
              <a:rPr lang="en-US" altLang="zh-CN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2. </a:t>
            </a:r>
            <a:r>
              <a:rPr lang="zh-CN" altLang="en-US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贪心方法得不到最优解的例子</a:t>
            </a:r>
            <a:r>
              <a:rPr lang="en-US" altLang="zh-CN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兑换硬币</a:t>
            </a:r>
            <a:endParaRPr lang="en-US" altLang="zh-CN" sz="28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练习</a:t>
            </a:r>
            <a:r>
              <a:rPr lang="en-US" altLang="zh-CN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3. </a:t>
            </a:r>
            <a:r>
              <a:rPr lang="zh-CN" altLang="en-US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贪心方法得不到最优解的例子</a:t>
            </a:r>
            <a:r>
              <a:rPr lang="en-US" altLang="zh-CN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800" dirty="0"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埃及分数</a:t>
            </a:r>
            <a:endParaRPr lang="en-US" altLang="zh-CN" sz="28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E838A2-A49A-4A20-A5DD-EFD81F6874A2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8232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417068BF-876E-4A6E-8615-D281E04B4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练习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活动选择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活动安排问题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767E51E3-2295-408C-AAD9-DFAE283BC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400" y="1833107"/>
            <a:ext cx="9721080" cy="19559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项活动申请使用同一个礼堂，每项活动有一个开始时间和一个结束时间；同一时间只允许一个活动占用礼堂；问如何选择这些活动，使得被安排的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活动数量达到最多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0E79CA00-0A95-4C6A-87C2-91E7F32D4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BB841A-3323-4882-A7FD-FFAD7D9CC7DB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zh-CN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EBAD9C-CF8B-47D6-3518-3483421EFDA0}"/>
              </a:ext>
            </a:extLst>
          </p:cNvPr>
          <p:cNvSpPr txBox="1"/>
          <p:nvPr/>
        </p:nvSpPr>
        <p:spPr>
          <a:xfrm>
            <a:off x="983432" y="4149080"/>
            <a:ext cx="9289032" cy="11440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分析：问题输入、解向量、约束条件、可行解、目标函数、最优解分别是什么？</a:t>
            </a:r>
          </a:p>
        </p:txBody>
      </p:sp>
    </p:spTree>
    <p:extLst>
      <p:ext uri="{BB962C8B-B14F-4D97-AF65-F5344CB8AC3E}">
        <p14:creationId xmlns:p14="http://schemas.microsoft.com/office/powerpoint/2010/main" val="295021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0154C808-19AE-4735-88F9-553CC1AE1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问题建模如下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CDD19896-7E51-41C3-AABA-463D877DE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={1,2,…,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为活动的集合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活动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占用的时间段为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是活动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的开始时间，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是活动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的结束时间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活动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与活动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相容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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两两相容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的活动子集</a:t>
            </a: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C1702FC6-5B6B-43B1-AA5D-5B1505E1C1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7ADAD8-DD63-49A4-A6CC-4069C40B0886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zh-CN" sz="1000"/>
          </a:p>
        </p:txBody>
      </p:sp>
      <p:graphicFrame>
        <p:nvGraphicFramePr>
          <p:cNvPr id="31749" name="对象 4">
            <a:extLst>
              <a:ext uri="{FF2B5EF4-FFF2-40B4-BE49-F238E27FC236}">
                <a16:creationId xmlns:a16="http://schemas.microsoft.com/office/drawing/2014/main" id="{6E2DAC3D-F79A-4E7D-9B3B-7527FEC1F8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283611"/>
              </p:ext>
            </p:extLst>
          </p:nvPr>
        </p:nvGraphicFramePr>
        <p:xfrm>
          <a:off x="3935760" y="3421525"/>
          <a:ext cx="528637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442400" imgH="5791200" progId="">
                  <p:embed/>
                </p:oleObj>
              </mc:Choice>
              <mc:Fallback>
                <p:oleObj r:id="rId2" imgW="34442400" imgH="5791200" progId="">
                  <p:embed/>
                  <p:pic>
                    <p:nvPicPr>
                      <p:cNvPr id="31749" name="对象 4">
                        <a:extLst>
                          <a:ext uri="{FF2B5EF4-FFF2-40B4-BE49-F238E27FC236}">
                            <a16:creationId xmlns:a16="http://schemas.microsoft.com/office/drawing/2014/main" id="{6E2DAC3D-F79A-4E7D-9B3B-7527FEC1F8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3421525"/>
                        <a:ext cx="5286375" cy="8905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79342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236BF7F8-348C-4B49-96F5-6BA8F2F68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贪心策略的量度标准：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98D6D-27BE-472F-9BE6-79B31DDEE9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把活动按照</a:t>
            </a:r>
            <a:r>
              <a:rPr lang="zh-CN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开始时间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从小到大排序，然后从前向后挑选，只要与前面选的活动相容，就可以把这项活动选入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把活动按照</a:t>
            </a:r>
            <a:r>
              <a:rPr lang="zh-CN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占用时间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从小到大排序，然后从前向后挑选，只要与前面选的活动相容，就可以把这项活动选入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把活动按照</a:t>
            </a:r>
            <a:r>
              <a:rPr lang="zh-CN" altLang="en-US" sz="24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结束时间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从小到大排序，然后从前向后挑选，只要与前面选的活动相容，就可以把这项活动选入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A8D521B1-627A-4F56-89F4-1C8772FC79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085D6B-46F6-4B74-BD60-41AD0D2DFA0F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zh-CN" sz="1000"/>
          </a:p>
        </p:txBody>
      </p:sp>
    </p:spTree>
    <p:extLst>
      <p:ext uri="{BB962C8B-B14F-4D97-AF65-F5344CB8AC3E}">
        <p14:creationId xmlns:p14="http://schemas.microsoft.com/office/powerpoint/2010/main" val="81140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9222811A-B1AD-444F-A362-60B006599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策略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：按开始时间排序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ADF258AE-F3DF-44E7-B78B-1DA4F6B2E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761856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S={1,2,3}</a:t>
            </a: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对应的开始和结束时间分别为：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[0,20), [2,5), [8,15)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8F4A5470-3446-4D5B-BC60-F3F9CE7CB6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765905-4A90-48F7-81FE-B36F44B8996B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zh-CN" sz="100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2A5A45A-E6DF-4D4C-BF7D-02E748B834A1}"/>
              </a:ext>
            </a:extLst>
          </p:cNvPr>
          <p:cNvSpPr/>
          <p:nvPr/>
        </p:nvSpPr>
        <p:spPr>
          <a:xfrm>
            <a:off x="5663952" y="1916832"/>
            <a:ext cx="5112567" cy="8640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开始时间虽然早，但是占用时间长</a:t>
            </a:r>
          </a:p>
        </p:txBody>
      </p:sp>
    </p:spTree>
    <p:extLst>
      <p:ext uri="{BB962C8B-B14F-4D97-AF65-F5344CB8AC3E}">
        <p14:creationId xmlns:p14="http://schemas.microsoft.com/office/powerpoint/2010/main" val="42729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C87CADAF-7C47-4527-8C57-1B6B826C3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策略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：按占用时长排序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44BC2E05-25E6-4597-8ABD-9A7537BF5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7772400" cy="20354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S={1,2,3}</a:t>
            </a: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对应的开始和结束时间分别为：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[0,8), [7,9), [8,15)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995A1701-499E-4A38-B27D-C40F4F0D0C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0FD2CD-60A2-4442-9FCA-BBA010A89ABC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zh-CN" sz="100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202B055-D00B-40AA-906F-F1CF8035B929}"/>
              </a:ext>
            </a:extLst>
          </p:cNvPr>
          <p:cNvSpPr/>
          <p:nvPr/>
        </p:nvSpPr>
        <p:spPr>
          <a:xfrm>
            <a:off x="5087888" y="3391303"/>
            <a:ext cx="6696744" cy="7914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600" dirty="0">
                <a:solidFill>
                  <a:schemeClr val="tx1"/>
                </a:solidFill>
              </a:rPr>
              <a:t>占用时间虽然短，但是跟其他活动不相容</a:t>
            </a:r>
          </a:p>
        </p:txBody>
      </p:sp>
    </p:spTree>
    <p:extLst>
      <p:ext uri="{BB962C8B-B14F-4D97-AF65-F5344CB8AC3E}">
        <p14:creationId xmlns:p14="http://schemas.microsoft.com/office/powerpoint/2010/main" val="122270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C360F5B2-F84D-407F-AF4C-08E7E207C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6858" y="1341287"/>
            <a:ext cx="5543847" cy="581025"/>
          </a:xfrm>
        </p:spPr>
        <p:txBody>
          <a:bodyPr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例：活动的开始时间和结束时间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DA0AACEE-F521-421B-86E4-314AEA76FD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27448" y="2084545"/>
          <a:ext cx="8353621" cy="1800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25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35070">
                <a:tc>
                  <a:txBody>
                    <a:bodyPr/>
                    <a:lstStyle/>
                    <a:p>
                      <a:r>
                        <a:rPr lang="en-US" altLang="zh-C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070">
                <a:tc>
                  <a:txBody>
                    <a:bodyPr/>
                    <a:lstStyle/>
                    <a:p>
                      <a:r>
                        <a:rPr lang="en-US" altLang="zh-CN" sz="2400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400" b="1" i="1" baseline="-25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2400" i="1" dirty="0"/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332">
                <a:tc>
                  <a:txBody>
                    <a:bodyPr/>
                    <a:lstStyle/>
                    <a:p>
                      <a:r>
                        <a:rPr lang="en-US" altLang="zh-C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1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2400" i="1" dirty="0"/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12" marB="4571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917" name="灯片编号占位符 3">
            <a:extLst>
              <a:ext uri="{FF2B5EF4-FFF2-40B4-BE49-F238E27FC236}">
                <a16:creationId xmlns:a16="http://schemas.microsoft.com/office/drawing/2014/main" id="{C702D073-85DE-4F07-9EA9-E9799C4460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C24A55-9848-4F54-9822-927FEFC93368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zh-CN" sz="100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43995C0-6679-4698-860B-EACDE8E6309C}"/>
              </a:ext>
            </a:extLst>
          </p:cNvPr>
          <p:cNvSpPr/>
          <p:nvPr/>
        </p:nvSpPr>
        <p:spPr>
          <a:xfrm>
            <a:off x="2783633" y="4869160"/>
            <a:ext cx="5628987" cy="932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活动集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A={1,4,8} 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最终完成时间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t=11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BF2910-EAF1-4286-88CE-48FDC9D6E109}"/>
              </a:ext>
            </a:extLst>
          </p:cNvPr>
          <p:cNvSpPr txBox="1"/>
          <p:nvPr/>
        </p:nvSpPr>
        <p:spPr>
          <a:xfrm>
            <a:off x="479376" y="305020"/>
            <a:ext cx="75849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策略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：按结束时间排序</a:t>
            </a:r>
          </a:p>
        </p:txBody>
      </p:sp>
    </p:spTree>
    <p:extLst>
      <p:ext uri="{BB962C8B-B14F-4D97-AF65-F5344CB8AC3E}">
        <p14:creationId xmlns:p14="http://schemas.microsoft.com/office/powerpoint/2010/main" val="225201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AA99AA1E-01BF-4AE3-AF49-2D452A842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3164" y="342995"/>
            <a:ext cx="8491413" cy="113982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按活动结束时间排序的贪心算法描述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A110C976-DEAA-4439-8366-C670C2548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GreedySelect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输入：活动集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活动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的开始时间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和结束时间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=1,2,…,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活动按结束时间从小到大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已排序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的活动子集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{1};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1;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for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2 to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do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if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≥ 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Then A A</a:t>
            </a:r>
            <a:r>
              <a:rPr lang="en-US" altLang="zh-CN" dirty="0">
                <a:latin typeface="Times New Roman" panose="02020603050405020304" pitchFamily="18" charset="0"/>
              </a:rPr>
              <a:t> ∪{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};  </a:t>
            </a:r>
            <a:r>
              <a:rPr lang="en-US" altLang="zh-CN" i="1" dirty="0">
                <a:latin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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;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  endif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Return 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GreedySelect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9FF80A32-0BAE-4526-9E30-48C8449F49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3A8E71-2319-4519-8665-20FFDC6062AC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zh-CN" sz="1000"/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6D5DFD39-D819-4871-AA6F-74A49B44AE7F}"/>
              </a:ext>
            </a:extLst>
          </p:cNvPr>
          <p:cNvSpPr/>
          <p:nvPr/>
        </p:nvSpPr>
        <p:spPr>
          <a:xfrm>
            <a:off x="6383339" y="3213100"/>
            <a:ext cx="3673475" cy="659970"/>
          </a:xfrm>
          <a:prstGeom prst="wedgeRectCallout">
            <a:avLst>
              <a:gd name="adj1" fmla="val -98938"/>
              <a:gd name="adj2" fmla="val 60342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最早结束，首先放入活动子集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中最后一个活动；</a:t>
            </a: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F91241A7-56DC-48EE-8E98-3A3C86BC7B47}"/>
              </a:ext>
            </a:extLst>
          </p:cNvPr>
          <p:cNvSpPr/>
          <p:nvPr/>
        </p:nvSpPr>
        <p:spPr>
          <a:xfrm>
            <a:off x="6535738" y="4077072"/>
            <a:ext cx="3805968" cy="523220"/>
          </a:xfrm>
          <a:prstGeom prst="wedgeRectCallout">
            <a:avLst>
              <a:gd name="adj1" fmla="val -114334"/>
              <a:gd name="adj2" fmla="val 47883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只需判断活动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是否与活动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相容即可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8941AA4-EA25-4108-954F-FE6412F84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609" y="5285901"/>
            <a:ext cx="2304256" cy="523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时间复杂度？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C3D893F-5FCD-42A6-8A20-EE44BA66CC2A}"/>
              </a:ext>
            </a:extLst>
          </p:cNvPr>
          <p:cNvSpPr/>
          <p:nvPr/>
        </p:nvSpPr>
        <p:spPr>
          <a:xfrm>
            <a:off x="8214335" y="5091178"/>
            <a:ext cx="1727200" cy="79216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E593AC0E-E162-4739-A6DE-BD626598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609" y="6013777"/>
            <a:ext cx="508900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/>
              <a:t>该算法得到的解，是最优解吗？</a:t>
            </a:r>
          </a:p>
        </p:txBody>
      </p:sp>
    </p:spTree>
    <p:extLst>
      <p:ext uri="{BB962C8B-B14F-4D97-AF65-F5344CB8AC3E}">
        <p14:creationId xmlns:p14="http://schemas.microsoft.com/office/powerpoint/2010/main" val="241266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46CDD1-B632-477C-80A7-A26767B1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666" y="426546"/>
            <a:ext cx="8435281" cy="583264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最优解证明：</a:t>
            </a:r>
            <a:endParaRPr lang="en-US" altLang="zh-CN" sz="40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设贪心法得到的活动子集为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最优解为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Y;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由算法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可知，活动按结束时间从小到大排序，且按算法规则，活动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一定包含在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altLang="zh-CN" sz="2400" dirty="0"/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altLang="zh-CN" sz="2400" dirty="0"/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endParaRPr lang="en-US" altLang="zh-CN" sz="2400" dirty="0"/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不等于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（第一个活动），则可将其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，因为活动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的结束时间小于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的结束时间，替换不影响后续其他活动。</a:t>
            </a:r>
          </a:p>
        </p:txBody>
      </p:sp>
      <p:sp>
        <p:nvSpPr>
          <p:cNvPr id="39939" name="灯片编号占位符 3">
            <a:extLst>
              <a:ext uri="{FF2B5EF4-FFF2-40B4-BE49-F238E27FC236}">
                <a16:creationId xmlns:a16="http://schemas.microsoft.com/office/drawing/2014/main" id="{E35AB51A-602A-4F4C-BE1C-F5BD58409D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8FE6BE-8837-4D19-B612-FC092EBE5930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zh-CN" sz="100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71066CF-263C-49CC-829C-DE0E72D2C9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1802" y="2747725"/>
          <a:ext cx="4104307" cy="691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2613600" imgH="5486400" progId="">
                  <p:embed/>
                </p:oleObj>
              </mc:Choice>
              <mc:Fallback>
                <p:oleObj r:id="rId2" imgW="32613600" imgH="5486400" progId="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71066CF-263C-49CC-829C-DE0E72D2C9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802" y="2747725"/>
                        <a:ext cx="4104307" cy="6918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76F8A0D-0B90-4CEE-8198-F81E9DD34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7570" y="3342870"/>
          <a:ext cx="3960291" cy="73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9565600" imgH="5486400" progId="">
                  <p:embed/>
                </p:oleObj>
              </mc:Choice>
              <mc:Fallback>
                <p:oleObj r:id="rId4" imgW="29565600" imgH="5486400" progId="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76F8A0D-0B90-4CEE-8198-F81E9DD34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570" y="3342870"/>
                        <a:ext cx="3960291" cy="735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圆角矩形 7">
            <a:extLst>
              <a:ext uri="{FF2B5EF4-FFF2-40B4-BE49-F238E27FC236}">
                <a16:creationId xmlns:a16="http://schemas.microsoft.com/office/drawing/2014/main" id="{E52E32BE-C0EC-46A1-A538-A045DA544EB0}"/>
              </a:ext>
            </a:extLst>
          </p:cNvPr>
          <p:cNvSpPr/>
          <p:nvPr/>
        </p:nvSpPr>
        <p:spPr>
          <a:xfrm>
            <a:off x="7222694" y="3161382"/>
            <a:ext cx="2880320" cy="8640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集合中的次序是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结束时间由小到大</a:t>
            </a:r>
          </a:p>
        </p:txBody>
      </p:sp>
    </p:spTree>
    <p:extLst>
      <p:ext uri="{BB962C8B-B14F-4D97-AF65-F5344CB8AC3E}">
        <p14:creationId xmlns:p14="http://schemas.microsoft.com/office/powerpoint/2010/main" val="145677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B8D225-A469-4A5B-8E94-77C8285EC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400693"/>
            <a:ext cx="9858164" cy="57172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中下一个不等于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的活动，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可否在最优解</a:t>
            </a:r>
            <a:r>
              <a:rPr lang="en-US" altLang="zh-CN"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中将</a:t>
            </a:r>
            <a:r>
              <a:rPr lang="en-US" altLang="zh-CN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替换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i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endParaRPr lang="en-US" altLang="zh-CN" sz="2400" dirty="0">
              <a:solidFill>
                <a:srgbClr val="C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0963" name="灯片编号占位符 3">
            <a:extLst>
              <a:ext uri="{FF2B5EF4-FFF2-40B4-BE49-F238E27FC236}">
                <a16:creationId xmlns:a16="http://schemas.microsoft.com/office/drawing/2014/main" id="{86730491-7886-4B70-99C8-D09D5F538B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7A7F7A-61F8-45E5-BEFA-88DD1ADE4A4C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zh-CN" sz="1000"/>
          </a:p>
        </p:txBody>
      </p:sp>
      <p:sp>
        <p:nvSpPr>
          <p:cNvPr id="12" name="圆角矩形 7">
            <a:extLst>
              <a:ext uri="{FF2B5EF4-FFF2-40B4-BE49-F238E27FC236}">
                <a16:creationId xmlns:a16="http://schemas.microsoft.com/office/drawing/2014/main" id="{A07F1514-EBF9-4912-B967-1F92C5C216AF}"/>
              </a:ext>
            </a:extLst>
          </p:cNvPr>
          <p:cNvSpPr/>
          <p:nvPr/>
        </p:nvSpPr>
        <p:spPr>
          <a:xfrm>
            <a:off x="4666129" y="1174768"/>
            <a:ext cx="6671020" cy="15429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44000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活动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在贪心解中，说明其开始时间</a:t>
            </a:r>
            <a:r>
              <a:rPr lang="zh-CN" altLang="en-US" sz="20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与之前的活动相容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；由贪心策略的量度标准可知，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结束时间一定小于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结束时间，即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00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后面的活动也相容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；所以，可替换。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8246FB-DFD3-4B45-A550-B1B4517DCEDC}"/>
              </a:ext>
            </a:extLst>
          </p:cNvPr>
          <p:cNvSpPr txBox="1"/>
          <p:nvPr/>
        </p:nvSpPr>
        <p:spPr>
          <a:xfrm>
            <a:off x="479376" y="3187803"/>
            <a:ext cx="10585176" cy="50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如法炮制，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逐一替换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。下面说明，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中活动数目与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中活动数目的关系。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88570B1-490B-45AE-127E-8C6D541BD298}"/>
              </a:ext>
            </a:extLst>
          </p:cNvPr>
          <p:cNvSpPr txBox="1">
            <a:spLocks noChangeArrowheads="1"/>
          </p:cNvSpPr>
          <p:nvPr/>
        </p:nvSpPr>
        <p:spPr>
          <a:xfrm>
            <a:off x="839416" y="3959541"/>
            <a:ext cx="10060561" cy="1356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rgbClr val="1E5293"/>
              </a:buClr>
              <a:buSzPct val="70000"/>
              <a:buFont typeface="Wingdings" panose="05000000000000000000" pitchFamily="2" charset="2"/>
              <a:buChar char="l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>
                  <a:lumMod val="60000"/>
                  <a:lumOff val="40000"/>
                </a:schemeClr>
              </a:buClr>
              <a:buSzPct val="70000"/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是最优解，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中活动数目一定</a:t>
            </a:r>
            <a:r>
              <a:rPr lang="zh-CN" altLang="en-US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大于等于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中的活动数目。如果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中活动数目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中活动数目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，当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中前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个活动改造成与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相同后，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中还会有其他活动，且其结束时间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的结束时间；根据贪心算法，这些活动也会放入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中；故这种情况不可能出现，所以，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的活动数目相等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63DF5E-D85F-1539-0315-0EE86A2CA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08" y="1391768"/>
            <a:ext cx="3939881" cy="1325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563E66A-FB57-A7DD-3021-9EDBFE86AB38}"/>
              </a:ext>
            </a:extLst>
          </p:cNvPr>
          <p:cNvSpPr txBox="1"/>
          <p:nvPr/>
        </p:nvSpPr>
        <p:spPr>
          <a:xfrm>
            <a:off x="515408" y="5657380"/>
            <a:ext cx="10513111" cy="58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lang="zh-C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综上，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可以被改造成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活动数目相等，因此，</a:t>
            </a:r>
            <a:r>
              <a:rPr lang="en-US" altLang="zh-CN" sz="2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是最优解，得证。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5640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" grpId="0" animBg="1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CFE29614-11EA-4E23-B4DD-F50710659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练习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2. 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贪心方法得不到最优解的例子</a:t>
            </a:r>
            <a:b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</a:b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——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兑换硬币问题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C71BCB-7273-4624-B91F-50E730043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916832"/>
            <a:ext cx="10081120" cy="3340968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buClr>
                <a:schemeClr val="accent1"/>
              </a:buClr>
              <a:defRPr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设有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硬币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重量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币值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需要用硬币付款的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总金额为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；要求找到一种组合方案，使兑换的硬币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总重量最轻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defRPr/>
            </a:pPr>
            <a:endParaRPr lang="zh-CN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DB1EC3-37F6-4176-BA81-308BFB180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F37EDB-E670-4320-B074-661A42260144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506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标题 1">
            <a:extLst>
              <a:ext uri="{FF2B5EF4-FFF2-40B4-BE49-F238E27FC236}">
                <a16:creationId xmlns:a16="http://schemas.microsoft.com/office/drawing/2014/main" id="{F259E83B-B04F-4708-BDAE-6576E1933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兑换硬币问题的形式化描述</a:t>
            </a:r>
          </a:p>
        </p:txBody>
      </p:sp>
      <p:sp>
        <p:nvSpPr>
          <p:cNvPr id="54276" name="内容占位符 2">
            <a:extLst>
              <a:ext uri="{FF2B5EF4-FFF2-40B4-BE49-F238E27FC236}">
                <a16:creationId xmlns:a16="http://schemas.microsoft.com/office/drawing/2014/main" id="{604EADCB-95EB-4B11-9FAA-1BA02501B9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28612"/>
            <a:ext cx="8229600" cy="7493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解向量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, …, 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，其中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sz="2400" dirty="0">
                <a:latin typeface="Times New Roman" panose="02020603050405020304" pitchFamily="18" charset="0"/>
              </a:rPr>
              <a:t>为非负整数，要满足约束条件</a:t>
            </a:r>
            <a:endParaRPr lang="zh-CN" altLang="en-US" sz="2400" dirty="0"/>
          </a:p>
        </p:txBody>
      </p:sp>
      <p:graphicFrame>
        <p:nvGraphicFramePr>
          <p:cNvPr id="10246" name="Object 6">
            <a:extLst>
              <a:ext uri="{FF2B5EF4-FFF2-40B4-BE49-F238E27FC236}">
                <a16:creationId xmlns:a16="http://schemas.microsoft.com/office/drawing/2014/main" id="{872E0A35-B6B4-4F2C-9170-86C7479AA3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6959120"/>
              </p:ext>
            </p:extLst>
          </p:nvPr>
        </p:nvGraphicFramePr>
        <p:xfrm>
          <a:off x="4871865" y="2150269"/>
          <a:ext cx="1692275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459200" imgH="10363200" progId="Equation.3">
                  <p:embed/>
                </p:oleObj>
              </mc:Choice>
              <mc:Fallback>
                <p:oleObj name="公式" r:id="rId2" imgW="16459200" imgH="10363200" progId="Equation.3">
                  <p:embed/>
                  <p:pic>
                    <p:nvPicPr>
                      <p:cNvPr id="10246" name="Object 6">
                        <a:extLst>
                          <a:ext uri="{FF2B5EF4-FFF2-40B4-BE49-F238E27FC236}">
                            <a16:creationId xmlns:a16="http://schemas.microsoft.com/office/drawing/2014/main" id="{872E0A35-B6B4-4F2C-9170-86C7479AA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5" y="2150269"/>
                        <a:ext cx="1692275" cy="98583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>
            <a:extLst>
              <a:ext uri="{FF2B5EF4-FFF2-40B4-BE49-F238E27FC236}">
                <a16:creationId xmlns:a16="http://schemas.microsoft.com/office/drawing/2014/main" id="{012BDB95-43E6-49F2-9825-E7940D7CF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3145986"/>
            <a:ext cx="7429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使得目标函数最小</a:t>
            </a:r>
          </a:p>
        </p:txBody>
      </p:sp>
      <p:graphicFrame>
        <p:nvGraphicFramePr>
          <p:cNvPr id="10248" name="Object 8">
            <a:extLst>
              <a:ext uri="{FF2B5EF4-FFF2-40B4-BE49-F238E27FC236}">
                <a16:creationId xmlns:a16="http://schemas.microsoft.com/office/drawing/2014/main" id="{14F09BA0-0396-4E51-9A73-51846C190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498104"/>
              </p:ext>
            </p:extLst>
          </p:nvPr>
        </p:nvGraphicFramePr>
        <p:xfrm>
          <a:off x="4392613" y="3643313"/>
          <a:ext cx="30734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870400" imgH="10363200" progId="Equation.3">
                  <p:embed/>
                </p:oleObj>
              </mc:Choice>
              <mc:Fallback>
                <p:oleObj name="公式" r:id="rId4" imgW="29870400" imgH="10363200" progId="Equation.3">
                  <p:embed/>
                  <p:pic>
                    <p:nvPicPr>
                      <p:cNvPr id="10248" name="Object 8">
                        <a:extLst>
                          <a:ext uri="{FF2B5EF4-FFF2-40B4-BE49-F238E27FC236}">
                            <a16:creationId xmlns:a16="http://schemas.microsoft.com/office/drawing/2014/main" id="{14F09BA0-0396-4E51-9A73-51846C190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643313"/>
                        <a:ext cx="3073400" cy="10668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8E1E81A-DB7E-48FC-A30A-FBCD5A94D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5229388"/>
            <a:ext cx="10370368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贪心方法可以求得兑换硬币问题的最优解吗？如果能，如何设计贪心策略？</a:t>
            </a:r>
          </a:p>
        </p:txBody>
      </p:sp>
    </p:spTree>
    <p:extLst>
      <p:ext uri="{BB962C8B-B14F-4D97-AF65-F5344CB8AC3E}">
        <p14:creationId xmlns:p14="http://schemas.microsoft.com/office/powerpoint/2010/main" val="107678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2">
            <a:extLst>
              <a:ext uri="{FF2B5EF4-FFF2-40B4-BE49-F238E27FC236}">
                <a16:creationId xmlns:a16="http://schemas.microsoft.com/office/drawing/2014/main" id="{EBCA881D-48E4-4419-B179-65D50F1818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9237" y="4718808"/>
            <a:ext cx="11233526" cy="11398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楷体_GB2312"/>
                <a:cs typeface="楷体_GB2312"/>
              </a:rPr>
              <a:t>贪心策略：</a:t>
            </a:r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  <a:cs typeface="楷体_GB2312"/>
              </a:rPr>
              <a:t>按</a:t>
            </a:r>
            <a:r>
              <a:rPr lang="zh-CN" altLang="en-US" sz="2400" dirty="0">
                <a:solidFill>
                  <a:srgbClr val="C00000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楷体_GB2312"/>
              </a:rPr>
              <a:t>单位价值的重量</a:t>
            </a:r>
            <a:r>
              <a:rPr lang="zh-CN" altLang="en-US" sz="2400" dirty="0">
                <a:solidFill>
                  <a:srgbClr val="0000CC"/>
                </a:solidFill>
                <a:latin typeface="华文宋体" panose="02010600040101010101" pitchFamily="2" charset="-122"/>
                <a:ea typeface="华文宋体" panose="02010600040101010101" pitchFamily="2" charset="-122"/>
                <a:cs typeface="楷体_GB2312"/>
              </a:rPr>
              <a:t>从小到大</a:t>
            </a:r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  <a:cs typeface="楷体_GB2312"/>
              </a:rPr>
              <a:t>的顺序</a:t>
            </a:r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（即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/>
                <a:cs typeface="楷体_GB2312"/>
              </a:rPr>
              <a:t>w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/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lang="en-US" altLang="zh-CN" sz="2400" dirty="0">
                <a:latin typeface="Lucida Sans Unicode" panose="020B0602030504020204" pitchFamily="34" charset="0"/>
                <a:ea typeface="楷体_GB2312"/>
                <a:cs typeface="Lucida Sans Unicode" panose="020B0602030504020204" pitchFamily="34" charset="0"/>
              </a:rPr>
              <a:t>≤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/>
                <a:cs typeface="楷体_GB2312"/>
              </a:rPr>
              <a:t>w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/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/>
                <a:cs typeface="楷体_GB2312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400" dirty="0">
                <a:latin typeface="Lucida Sans Unicode" panose="020B0602030504020204" pitchFamily="34" charset="0"/>
                <a:ea typeface="楷体_GB2312"/>
                <a:cs typeface="Lucida Sans Unicode" panose="020B0602030504020204" pitchFamily="34" charset="0"/>
              </a:rPr>
              <a:t>≤ 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… </a:t>
            </a:r>
            <a:r>
              <a:rPr lang="en-US" altLang="zh-CN" sz="2400" dirty="0">
                <a:latin typeface="Lucida Sans Unicode" panose="020B0602030504020204" pitchFamily="34" charset="0"/>
                <a:ea typeface="楷体_GB2312"/>
                <a:cs typeface="Lucida Sans Unicode" panose="020B0602030504020204" pitchFamily="34" charset="0"/>
              </a:rPr>
              <a:t>≤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w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/</a:t>
            </a:r>
            <a:r>
              <a:rPr lang="en-US" altLang="zh-CN" sz="2400" i="1" dirty="0" err="1">
                <a:latin typeface="Times New Roman" panose="02020603050405020304" pitchFamily="18" charset="0"/>
                <a:ea typeface="楷体_GB2312"/>
                <a:cs typeface="楷体_GB2312"/>
              </a:rPr>
              <a:t>v</a:t>
            </a:r>
            <a:r>
              <a:rPr lang="en-US" altLang="zh-CN" sz="2400" baseline="-25000" dirty="0" err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zh-CN" altLang="en-US" sz="2400" dirty="0">
                <a:latin typeface="华文宋体" panose="02010600040101010101" pitchFamily="2" charset="-122"/>
                <a:ea typeface="华文宋体" panose="02010600040101010101" pitchFamily="2" charset="-122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</a:rPr>
              <a:t>选取硬币，可行否？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09789C-2E15-479F-ADAD-303579CA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F37EDB-E670-4320-B074-661A42260144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E58D98D-B5A9-4715-8F86-16E23EA6F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1384" y="329976"/>
            <a:ext cx="8229600" cy="1139825"/>
          </a:xfrm>
        </p:spPr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对比兑换硬币问题与背包问题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D1A8DB-F77C-2BF8-6344-236694DD8987}"/>
              </a:ext>
            </a:extLst>
          </p:cNvPr>
          <p:cNvGraphicFramePr>
            <a:graphicFrameLocks noGrp="1"/>
          </p:cNvGraphicFramePr>
          <p:nvPr/>
        </p:nvGraphicFramePr>
        <p:xfrm>
          <a:off x="1199456" y="1628800"/>
          <a:ext cx="8136903" cy="25922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685">
                <a:tc>
                  <a:txBody>
                    <a:bodyPr/>
                    <a:lstStyle/>
                    <a:p>
                      <a:endParaRPr lang="zh-CN" alt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b="1" dirty="0">
                          <a:solidFill>
                            <a:schemeClr val="bg1"/>
                          </a:solidFill>
                        </a:rPr>
                        <a:t>背包问题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b="1" dirty="0">
                          <a:solidFill>
                            <a:schemeClr val="bg1"/>
                          </a:solidFill>
                        </a:rPr>
                        <a:t>兑换硬币问题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685"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rgbClr val="0000FF"/>
                          </a:solidFill>
                        </a:rPr>
                        <a:t>约束条件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重量总和固定</a:t>
                      </a:r>
                      <a:r>
                        <a:rPr lang="en-US" altLang="zh-CN" sz="2000" b="1" dirty="0"/>
                        <a:t>/</a:t>
                      </a:r>
                      <a:r>
                        <a:rPr lang="zh-CN" altLang="en-US" sz="2000" b="1" dirty="0"/>
                        <a:t>不超标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价值总和固定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685"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rgbClr val="0000FF"/>
                          </a:solidFill>
                        </a:rPr>
                        <a:t>目标函数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价值和最大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/>
                        <a:t>重量和最小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685"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rgbClr val="0000FF"/>
                          </a:solidFill>
                        </a:rPr>
                        <a:t>可行解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</a:t>
                      </a: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</a:t>
                      </a:r>
                      <a:r>
                        <a:rPr lang="en-US" altLang="zh-CN" sz="2000" b="1" dirty="0">
                          <a:latin typeface="宋体" panose="02010600030101010101" pitchFamily="2" charset="-122"/>
                        </a:rPr>
                        <a:t>1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i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为非负整数</a:t>
                      </a:r>
                      <a:endParaRPr lang="zh-CN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549"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rgbClr val="0000FF"/>
                          </a:solidFill>
                        </a:rPr>
                        <a:t>贪心策略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单位重量价值最大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单位价值重量最小？</a:t>
                      </a:r>
                      <a:endParaRPr lang="zh-CN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37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内容占位符 2">
            <a:extLst>
              <a:ext uri="{FF2B5EF4-FFF2-40B4-BE49-F238E27FC236}">
                <a16:creationId xmlns:a16="http://schemas.microsoft.com/office/drawing/2014/main" id="{93F48450-CD8D-4D5F-A63A-3A8154795A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8118" y="231537"/>
            <a:ext cx="10282378" cy="1026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例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种硬币，重量</a:t>
            </a:r>
            <a:r>
              <a:rPr lang="en-US" altLang="zh-C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币值分别是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=14,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=18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/>
              <a:t>贪心策略：单位价值的重量从小到大</a:t>
            </a:r>
            <a:endParaRPr lang="en-US" altLang="zh-CN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27DA15-0F01-405E-87F6-1A84826C3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99964"/>
              </p:ext>
            </p:extLst>
          </p:nvPr>
        </p:nvGraphicFramePr>
        <p:xfrm>
          <a:off x="2926656" y="2115438"/>
          <a:ext cx="5977656" cy="2712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7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约束条件</a:t>
                      </a:r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y=26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y=28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4 </a:t>
                      </a:r>
                      <a:endParaRPr lang="zh-CN" altLang="en-US" sz="24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3 </a:t>
                      </a:r>
                      <a:endParaRPr lang="zh-CN" altLang="en-US" sz="24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2 </a:t>
                      </a:r>
                      <a:endParaRPr lang="zh-CN" altLang="en-US" sz="24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6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400" b="1" baseline="-25000" dirty="0">
                          <a:latin typeface="Times New Roman" panose="02020603050405020304" pitchFamily="18" charset="0"/>
                        </a:rPr>
                        <a:t>1 </a:t>
                      </a:r>
                      <a:endParaRPr lang="zh-CN" altLang="en-US" sz="24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5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/>
                        <a:t>目标函数值</a:t>
                      </a: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96E1B6-0242-4B65-B5DD-CA440B008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9" y="2614614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104CF-C177-43CE-AD85-4BB4F9E8B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9" y="3043239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2E2D4-C11F-4985-8A7F-D58F288FB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9" y="3471864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08B54-E871-4ED5-B3B9-604671818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9" y="3900489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A41-30F1-409D-B864-40E2A6CEF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64" y="2616200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626AA-71FA-46C1-BFC0-B4D2DFEBF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64" y="3044825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B8320F-3E92-4389-AD37-6D17967FB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64" y="3473450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4794EE-AC55-4890-8DE7-D6856E49B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64" y="3902075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67F861-BF3B-4A6C-87D0-B4C0324F5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5939" y="440055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2FBA7C-ED10-4D8D-A70E-F97D38F4A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64" y="440055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2F6517C1-AA4F-4C2F-9BE7-1FCCA3CA5220}"/>
              </a:ext>
            </a:extLst>
          </p:cNvPr>
          <p:cNvSpPr txBox="1">
            <a:spLocks/>
          </p:cNvSpPr>
          <p:nvPr/>
        </p:nvSpPr>
        <p:spPr bwMode="auto">
          <a:xfrm>
            <a:off x="554355" y="5189167"/>
            <a:ext cx="10801200" cy="142782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en-US" altLang="zh-CN" sz="2600" i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6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=28</a:t>
            </a:r>
            <a:r>
              <a:rPr lang="zh-CN" altLang="en-US" sz="26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时，最优解是</a:t>
            </a:r>
            <a:r>
              <a:rPr lang="en-US" altLang="zh-CN" sz="26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600" i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600" kern="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6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=14</a:t>
            </a:r>
            <a:r>
              <a:rPr lang="zh-CN" altLang="en-US" sz="2600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的硬币；</a:t>
            </a:r>
            <a:endParaRPr lang="en-US" altLang="zh-CN" sz="2600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zh-CN" altLang="en-US" sz="2000" kern="0" dirty="0"/>
              <a:t>兑换硬币问题无法通过贪心方法得到最优解，证明详见如下书籍，建议有兴趣的同学阅读：</a:t>
            </a:r>
            <a:endParaRPr lang="en-US" altLang="zh-CN" sz="20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defRPr/>
            </a:pPr>
            <a:r>
              <a:rPr lang="zh-CN" altLang="en-US" sz="2000" dirty="0"/>
              <a:t>屈婉玲</a:t>
            </a:r>
            <a:r>
              <a:rPr lang="en-US" altLang="zh-CN" sz="2000" dirty="0"/>
              <a:t>,</a:t>
            </a:r>
            <a:r>
              <a:rPr lang="zh-CN" altLang="en-US" sz="2000" dirty="0"/>
              <a:t>刘田</a:t>
            </a:r>
            <a:r>
              <a:rPr lang="en-US" altLang="zh-CN" sz="2000" dirty="0"/>
              <a:t>,</a:t>
            </a:r>
            <a:r>
              <a:rPr lang="zh-CN" altLang="en-US" sz="2000" dirty="0"/>
              <a:t>张立昂</a:t>
            </a:r>
            <a:r>
              <a:rPr lang="en-US" altLang="zh-CN" sz="2000" dirty="0"/>
              <a:t>,</a:t>
            </a:r>
            <a:r>
              <a:rPr lang="zh-CN" altLang="en-US" sz="2000" dirty="0"/>
              <a:t>王捍贫</a:t>
            </a:r>
            <a:r>
              <a:rPr lang="en-US" altLang="zh-CN" sz="2000" dirty="0"/>
              <a:t>,</a:t>
            </a:r>
            <a:r>
              <a:rPr lang="zh-CN" altLang="en-US" sz="2000" dirty="0"/>
              <a:t>算法设计与分析</a:t>
            </a:r>
            <a:r>
              <a:rPr lang="en-US" altLang="zh-CN" sz="2000" dirty="0"/>
              <a:t>,</a:t>
            </a:r>
            <a:r>
              <a:rPr lang="zh-CN" altLang="en-US" sz="2000" dirty="0"/>
              <a:t>清华大学出版社</a:t>
            </a:r>
            <a:r>
              <a:rPr lang="en-US" altLang="zh-CN" sz="2000" dirty="0"/>
              <a:t>,2011</a:t>
            </a:r>
            <a:r>
              <a:rPr lang="zh-CN" altLang="en-US" sz="2000" dirty="0"/>
              <a:t>年版</a:t>
            </a:r>
            <a:r>
              <a:rPr lang="en-US" altLang="zh-CN" sz="2000" dirty="0"/>
              <a:t>,2013</a:t>
            </a:r>
            <a:r>
              <a:rPr lang="zh-CN" altLang="en-US" sz="2000" dirty="0"/>
              <a:t>年重印</a:t>
            </a:r>
            <a:r>
              <a:rPr lang="en-US" altLang="zh-CN" sz="2000" dirty="0"/>
              <a:t>.  </a:t>
            </a:r>
            <a:endParaRPr lang="en-US" altLang="zh-CN" sz="2000" kern="0" dirty="0"/>
          </a:p>
        </p:txBody>
      </p:sp>
      <p:sp>
        <p:nvSpPr>
          <p:cNvPr id="16" name="矩形标注 15">
            <a:extLst>
              <a:ext uri="{FF2B5EF4-FFF2-40B4-BE49-F238E27FC236}">
                <a16:creationId xmlns:a16="http://schemas.microsoft.com/office/drawing/2014/main" id="{995252E8-FFF4-4674-829E-CD2D3A7BAB03}"/>
              </a:ext>
            </a:extLst>
          </p:cNvPr>
          <p:cNvSpPr/>
          <p:nvPr/>
        </p:nvSpPr>
        <p:spPr>
          <a:xfrm>
            <a:off x="9017794" y="1818816"/>
            <a:ext cx="1928812" cy="447871"/>
          </a:xfrm>
          <a:prstGeom prst="wedgeRectCallout">
            <a:avLst>
              <a:gd name="adj1" fmla="val -47297"/>
              <a:gd name="adj2" fmla="val 127954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chemeClr val="tx1"/>
                </a:solidFill>
              </a:rPr>
              <a:t>最优解是什么</a:t>
            </a:r>
            <a:r>
              <a:rPr lang="en-US" altLang="zh-CN" dirty="0">
                <a:solidFill>
                  <a:schemeClr val="tx1"/>
                </a:solidFill>
              </a:rPr>
              <a:t>?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D87D53-F9F3-44F6-98DA-A1FE54ED9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F37EDB-E670-4320-B074-661A42260144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22F77E-9000-464E-A37A-3D78B0C82733}"/>
              </a:ext>
            </a:extLst>
          </p:cNvPr>
          <p:cNvSpPr txBox="1"/>
          <p:nvPr/>
        </p:nvSpPr>
        <p:spPr>
          <a:xfrm>
            <a:off x="381000" y="1387929"/>
            <a:ext cx="822960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200" dirty="0"/>
              <a:t>问题可泛化：</a:t>
            </a:r>
            <a:r>
              <a:rPr lang="zh-CN" altLang="en-US" sz="2200" dirty="0">
                <a:solidFill>
                  <a:srgbClr val="0000CC"/>
                </a:solidFill>
              </a:rPr>
              <a:t>重量</a:t>
            </a:r>
            <a:r>
              <a:rPr lang="zh-CN" altLang="en-US" sz="2200" dirty="0"/>
              <a:t>表示代价</a:t>
            </a:r>
            <a:r>
              <a:rPr lang="en-US" altLang="zh-CN" sz="2200" dirty="0"/>
              <a:t>/</a:t>
            </a:r>
            <a:r>
              <a:rPr lang="zh-CN" altLang="en-US" sz="2200" dirty="0"/>
              <a:t>成本</a:t>
            </a:r>
            <a:r>
              <a:rPr lang="en-US" altLang="zh-CN" sz="2200" dirty="0"/>
              <a:t>/</a:t>
            </a:r>
            <a:r>
              <a:rPr lang="zh-CN" altLang="en-US" sz="2200" dirty="0"/>
              <a:t>约束，</a:t>
            </a:r>
            <a:r>
              <a:rPr lang="zh-CN" altLang="en-US" sz="2200" dirty="0">
                <a:solidFill>
                  <a:srgbClr val="0000CC"/>
                </a:solidFill>
              </a:rPr>
              <a:t>价值</a:t>
            </a:r>
            <a:r>
              <a:rPr lang="zh-CN" altLang="en-US" sz="2200" dirty="0"/>
              <a:t>表示效益</a:t>
            </a:r>
            <a:r>
              <a:rPr lang="en-US" altLang="zh-CN" sz="2200" dirty="0"/>
              <a:t>/</a:t>
            </a:r>
            <a:r>
              <a:rPr lang="zh-CN" altLang="en-US" sz="2200" dirty="0"/>
              <a:t>约束。</a:t>
            </a:r>
          </a:p>
        </p:txBody>
      </p:sp>
    </p:spTree>
    <p:extLst>
      <p:ext uri="{BB962C8B-B14F-4D97-AF65-F5344CB8AC3E}">
        <p14:creationId xmlns:p14="http://schemas.microsoft.com/office/powerpoint/2010/main" val="122250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368" y="365127"/>
            <a:ext cx="10515600" cy="1325563"/>
          </a:xfrm>
        </p:spPr>
        <p:txBody>
          <a:bodyPr/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练习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3. 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贪心方法得不到最优解的例子</a:t>
            </a:r>
            <a:r>
              <a:rPr lang="en-US" altLang="zh-CN" sz="4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埃及分数问题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690690"/>
            <a:ext cx="9721080" cy="2530398"/>
          </a:xfrm>
        </p:spPr>
        <p:txBody>
          <a:bodyPr>
            <a:normAutofit lnSpcReduction="10000"/>
          </a:bodyPr>
          <a:lstStyle/>
          <a:p>
            <a:pPr marL="342900" lvl="1" indent="-342900">
              <a:lnSpc>
                <a:spcPct val="150000"/>
              </a:lnSpc>
              <a:buClr>
                <a:schemeClr val="accent1"/>
              </a:buClr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真分数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是指大于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的分数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Clr>
                <a:schemeClr val="accent1"/>
              </a:buClr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埃及分数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是指分子为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的分数，如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1/6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用埃及分数之和表示真分数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，例如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7/8=1/2+1/3+1/24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埃及分数问题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是指：用</a:t>
            </a:r>
            <a:r>
              <a:rPr lang="zh-CN" altLang="en-US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最少数目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的埃及分数的和来表示一个真分数。</a:t>
            </a:r>
          </a:p>
          <a:p>
            <a:endParaRPr lang="zh-CN" altLang="en-US" sz="3200" dirty="0"/>
          </a:p>
        </p:txBody>
      </p:sp>
      <p:sp>
        <p:nvSpPr>
          <p:cNvPr id="4" name="圆角矩形 3"/>
          <p:cNvSpPr/>
          <p:nvPr/>
        </p:nvSpPr>
        <p:spPr>
          <a:xfrm>
            <a:off x="1415480" y="4653136"/>
            <a:ext cx="6596806" cy="12144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dirty="0">
                <a:solidFill>
                  <a:schemeClr val="tx1"/>
                </a:solidFill>
              </a:rPr>
              <a:t>直观上看，考虑用贪心方法：</a:t>
            </a:r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每次选取可用的分母最小的埃及分数</a:t>
            </a:r>
          </a:p>
        </p:txBody>
      </p:sp>
    </p:spTree>
    <p:extLst>
      <p:ext uri="{BB962C8B-B14F-4D97-AF65-F5344CB8AC3E}">
        <p14:creationId xmlns:p14="http://schemas.microsoft.com/office/powerpoint/2010/main" val="397843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6">
            <a:extLst>
              <a:ext uri="{FF2B5EF4-FFF2-40B4-BE49-F238E27FC236}">
                <a16:creationId xmlns:a16="http://schemas.microsoft.com/office/drawing/2014/main" id="{C38813CE-9B02-4D34-912B-BF2E83B9D3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01D435-308F-4683-8EB2-4C8FEEC6001A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zh-CN" sz="10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6C59F0C-5431-43F9-B135-0E606E0D3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尝试贪心方法的解决途径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3369908-9B99-40A5-B898-70CF3AA302A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11424" y="1652543"/>
            <a:ext cx="5040560" cy="45307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逐步选择所包含的最大埃及分数</a:t>
            </a:r>
          </a:p>
          <a:p>
            <a:pPr>
              <a:lnSpc>
                <a:spcPct val="150000"/>
              </a:lnSpc>
            </a:pP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en-US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7/8</a:t>
            </a:r>
          </a:p>
        </p:txBody>
      </p:sp>
      <p:graphicFrame>
        <p:nvGraphicFramePr>
          <p:cNvPr id="126980" name="Object 4">
            <a:extLst>
              <a:ext uri="{FF2B5EF4-FFF2-40B4-BE49-F238E27FC236}">
                <a16:creationId xmlns:a16="http://schemas.microsoft.com/office/drawing/2014/main" id="{A03C8D59-5FD7-4A2D-B512-1F39E311650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888088" y="1556792"/>
          <a:ext cx="2592981" cy="4402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65200" imgH="1638300" progId="Equation.3">
                  <p:embed/>
                </p:oleObj>
              </mc:Choice>
              <mc:Fallback>
                <p:oleObj r:id="rId2" imgW="965200" imgH="1638300" progId="Equation.3">
                  <p:embed/>
                  <p:pic>
                    <p:nvPicPr>
                      <p:cNvPr id="126980" name="Object 4">
                        <a:extLst>
                          <a:ext uri="{FF2B5EF4-FFF2-40B4-BE49-F238E27FC236}">
                            <a16:creationId xmlns:a16="http://schemas.microsoft.com/office/drawing/2014/main" id="{A03C8D59-5FD7-4A2D-B512-1F39E311650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1556792"/>
                        <a:ext cx="2592981" cy="440227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115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7F1DFC9C-4840-449F-9F58-9B751F0F90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97C573-EE22-47B0-8F67-43BAF89609E4}" type="slidenum">
              <a:rPr lang="en-US" altLang="zh-CN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zh-CN" sz="10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B62AB1A-67CF-4B02-AA50-284C4B15F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0" y="277814"/>
            <a:ext cx="9875440" cy="774923"/>
          </a:xfrm>
        </p:spPr>
        <p:txBody>
          <a:bodyPr>
            <a:noAutofit/>
          </a:bodyPr>
          <a:lstStyle/>
          <a:p>
            <a:r>
              <a:rPr lang="zh-CN" altLang="en-US" sz="4000" dirty="0">
                <a:solidFill>
                  <a:schemeClr val="accent1">
                    <a:lumMod val="75000"/>
                  </a:schemeClr>
                </a:solidFill>
              </a:rPr>
              <a:t>贪心法求埃及分数问题，总能得到最优解吗？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E61E4963-CAAC-4532-900A-4D6372D8DA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5400" y="1398204"/>
            <a:ext cx="8229600" cy="61435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用</a:t>
            </a:r>
            <a:r>
              <a:rPr lang="zh-CN" altLang="en-US" sz="2400" dirty="0">
                <a:solidFill>
                  <a:srgbClr val="C00000"/>
                </a:solidFill>
              </a:rPr>
              <a:t>最少数目</a:t>
            </a:r>
            <a:r>
              <a:rPr lang="zh-CN" altLang="en-US" sz="2400" dirty="0"/>
              <a:t>的埃及分数的和来表示一个真分数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1966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3432" y="2028526"/>
            <a:ext cx="7410037" cy="351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708068" y="2284109"/>
          <a:ext cx="2880320" cy="85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33440" imgH="393480" progId="Equation.3">
                  <p:embed/>
                </p:oleObj>
              </mc:Choice>
              <mc:Fallback>
                <p:oleObj name="公式" r:id="rId3" imgW="1333440" imgH="39348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068" y="2284109"/>
                        <a:ext cx="2880320" cy="85038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87319" y="6016617"/>
            <a:ext cx="8001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更多埃及分数知识：</a:t>
            </a:r>
            <a:r>
              <a:rPr lang="en-US" altLang="zh-CN" sz="1200" b="1" dirty="0"/>
              <a:t> https://www.ituring.com.cn/article/75208 </a:t>
            </a:r>
            <a:endParaRPr lang="zh-CN" altLang="en-US" sz="12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456040" y="3519806"/>
            <a:ext cx="3384376" cy="11440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举一个反例，即可说明算法不正确。</a:t>
            </a:r>
          </a:p>
        </p:txBody>
      </p:sp>
    </p:spTree>
    <p:extLst>
      <p:ext uri="{BB962C8B-B14F-4D97-AF65-F5344CB8AC3E}">
        <p14:creationId xmlns:p14="http://schemas.microsoft.com/office/powerpoint/2010/main" val="99448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/>
              <a:t>补 充 内 容 结 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A97C73-4753-4E13-93B1-7B82872482E2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2349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heme/theme1.xml><?xml version="1.0" encoding="utf-8"?>
<a:theme xmlns:a="http://schemas.openxmlformats.org/drawingml/2006/main" name="算法分析模板073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算法分析新模板2023" id="{FADB3A85-5174-4FA5-A51F-55BEA2B76671}" vid="{DDE32136-80A6-4B40-8420-6E71B6F92444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算法分析新模板2023</Template>
  <TotalTime>23618</TotalTime>
  <Words>8290</Words>
  <Application>Microsoft Office PowerPoint</Application>
  <PresentationFormat>宽屏</PresentationFormat>
  <Paragraphs>1220</Paragraphs>
  <Slides>74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74</vt:i4>
      </vt:variant>
    </vt:vector>
  </HeadingPairs>
  <TitlesOfParts>
    <vt:vector size="91" baseType="lpstr">
      <vt:lpstr>Arial Unicode MS</vt:lpstr>
      <vt:lpstr>等线</vt:lpstr>
      <vt:lpstr>华文宋体</vt:lpstr>
      <vt:lpstr>华文新魏</vt:lpstr>
      <vt:lpstr>宋体</vt:lpstr>
      <vt:lpstr>微软雅黑</vt:lpstr>
      <vt:lpstr>幼圆</vt:lpstr>
      <vt:lpstr>Arial</vt:lpstr>
      <vt:lpstr>Lucida Sans Unicode</vt:lpstr>
      <vt:lpstr>Symbol</vt:lpstr>
      <vt:lpstr>Times New Roman</vt:lpstr>
      <vt:lpstr>Verdana</vt:lpstr>
      <vt:lpstr>Wingdings</vt:lpstr>
      <vt:lpstr>算法分析模板0731</vt:lpstr>
      <vt:lpstr>Equation</vt:lpstr>
      <vt:lpstr>公式</vt:lpstr>
      <vt:lpstr>Equation.3</vt:lpstr>
      <vt:lpstr>第五章 贪心方法</vt:lpstr>
      <vt:lpstr>目录</vt:lpstr>
      <vt:lpstr>5.1 一般方法</vt:lpstr>
      <vt:lpstr>一个现实世界中的例子</vt:lpstr>
      <vt:lpstr>贪心方法适用的问题特点</vt:lpstr>
      <vt:lpstr>贪心法的求解思想</vt:lpstr>
      <vt:lpstr>算法5.1 贪心法的抽象化控制</vt:lpstr>
      <vt:lpstr>贪心法的特点</vt:lpstr>
      <vt:lpstr>5.2  背包问题</vt:lpstr>
      <vt:lpstr>问题描述</vt:lpstr>
      <vt:lpstr>背包问题实例</vt:lpstr>
      <vt:lpstr>算法5.2 背包问题的贪心算法</vt:lpstr>
      <vt:lpstr>最优量度标准证明的基本思想</vt:lpstr>
      <vt:lpstr>定理5.1 背包问题的最优解证明</vt:lpstr>
      <vt:lpstr>PowerPoint 演示文稿</vt:lpstr>
      <vt:lpstr>PowerPoint 演示文稿</vt:lpstr>
      <vt:lpstr>PowerPoint 演示文稿</vt:lpstr>
      <vt:lpstr>5.3 带有期限的作业选择问题</vt:lpstr>
      <vt:lpstr>问题描述</vt:lpstr>
      <vt:lpstr>问题实例</vt:lpstr>
      <vt:lpstr>算法5.3 贪心法实现思想</vt:lpstr>
      <vt:lpstr>定理5.2 作业调度问题的最优解证明</vt:lpstr>
      <vt:lpstr>PowerPoint 演示文稿</vt:lpstr>
      <vt:lpstr>判断J是可行解的策略</vt:lpstr>
      <vt:lpstr>定理5.3作业调度问题的可行调度证明 </vt:lpstr>
      <vt:lpstr>基于定理5.3检验可行解</vt:lpstr>
      <vt:lpstr>算法5.4 作业排序贪心算法完整描述</vt:lpstr>
      <vt:lpstr>优化思想</vt:lpstr>
      <vt:lpstr>一维数组F</vt:lpstr>
      <vt:lpstr>一维数组P</vt:lpstr>
      <vt:lpstr>集合树(补充-1)</vt:lpstr>
      <vt:lpstr>集合树的查找操作FIND(i)——基于压缩规则</vt:lpstr>
      <vt:lpstr>集合树的合并操作——加权规则</vt:lpstr>
      <vt:lpstr>集合树的操作总结</vt:lpstr>
      <vt:lpstr>算法5.5设计思想</vt:lpstr>
      <vt:lpstr>算法5.5设计思想</vt:lpstr>
      <vt:lpstr>算法5.5 基于集合树的贪心算法</vt:lpstr>
      <vt:lpstr>算法示例</vt:lpstr>
      <vt:lpstr>PowerPoint 演示文稿</vt:lpstr>
      <vt:lpstr>PowerPoint 演示文稿</vt:lpstr>
      <vt:lpstr>PowerPoint 演示文稿</vt:lpstr>
      <vt:lpstr>5.4 最小生成树问题</vt:lpstr>
      <vt:lpstr>问题回顾</vt:lpstr>
      <vt:lpstr>Kruskal算法描述</vt:lpstr>
      <vt:lpstr>实例运行</vt:lpstr>
      <vt:lpstr>贪心策略分析</vt:lpstr>
      <vt:lpstr>证明：Kruskal算法对于每一个无向连通图G产生一棵最小生成树。</vt:lpstr>
      <vt:lpstr>PowerPoint 演示文稿</vt:lpstr>
      <vt:lpstr>5.5 货郎担问题</vt:lpstr>
      <vt:lpstr>贪心策略</vt:lpstr>
      <vt:lpstr>PowerPoint 演示文稿</vt:lpstr>
      <vt:lpstr>5.6 小结</vt:lpstr>
      <vt:lpstr>5.6 小结</vt:lpstr>
      <vt:lpstr>5.6 小结</vt:lpstr>
      <vt:lpstr>本 章 结 束</vt:lpstr>
      <vt:lpstr>第五章 贪心方法—补充内容</vt:lpstr>
      <vt:lpstr>目录</vt:lpstr>
      <vt:lpstr>练习1. 活动选择/活动安排问题</vt:lpstr>
      <vt:lpstr>问题建模如下</vt:lpstr>
      <vt:lpstr>贪心策略的量度标准：</vt:lpstr>
      <vt:lpstr>策略1：按开始时间排序</vt:lpstr>
      <vt:lpstr>策略2：按占用时长排序</vt:lpstr>
      <vt:lpstr>例：活动的开始时间和结束时间</vt:lpstr>
      <vt:lpstr>按活动结束时间排序的贪心算法描述</vt:lpstr>
      <vt:lpstr>PowerPoint 演示文稿</vt:lpstr>
      <vt:lpstr>PowerPoint 演示文稿</vt:lpstr>
      <vt:lpstr>练习2. 贪心方法得不到最优解的例子 —— 兑换硬币问题</vt:lpstr>
      <vt:lpstr>兑换硬币问题的形式化描述</vt:lpstr>
      <vt:lpstr>对比兑换硬币问题与背包问题</vt:lpstr>
      <vt:lpstr>PowerPoint 演示文稿</vt:lpstr>
      <vt:lpstr>练习3. 贪心方法得不到最优解的例子——埃及分数问题</vt:lpstr>
      <vt:lpstr>尝试贪心方法的解决途径</vt:lpstr>
      <vt:lpstr>贪心法求埃及分数问题，总能得到最优解吗？</vt:lpstr>
      <vt:lpstr>补 充 内 容 结 束</vt:lpstr>
    </vt:vector>
  </TitlesOfParts>
  <Company>Microsoft 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why</dc:creator>
  <cp:lastModifiedBy>a</cp:lastModifiedBy>
  <cp:revision>1439</cp:revision>
  <dcterms:created xsi:type="dcterms:W3CDTF">2005-08-10T02:20:16Z</dcterms:created>
  <dcterms:modified xsi:type="dcterms:W3CDTF">2025-03-13T01:43:28Z</dcterms:modified>
</cp:coreProperties>
</file>