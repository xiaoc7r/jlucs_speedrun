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4"/>
  </p:notesMasterIdLst>
  <p:sldIdLst>
    <p:sldId id="383" r:id="rId2"/>
    <p:sldId id="466" r:id="rId3"/>
    <p:sldId id="258" r:id="rId4"/>
    <p:sldId id="259" r:id="rId5"/>
    <p:sldId id="260" r:id="rId6"/>
    <p:sldId id="384" r:id="rId7"/>
    <p:sldId id="385" r:id="rId8"/>
    <p:sldId id="312" r:id="rId9"/>
    <p:sldId id="263" r:id="rId10"/>
    <p:sldId id="264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5" r:id="rId19"/>
    <p:sldId id="320" r:id="rId20"/>
    <p:sldId id="273" r:id="rId21"/>
    <p:sldId id="397" r:id="rId22"/>
    <p:sldId id="399" r:id="rId23"/>
    <p:sldId id="400" r:id="rId24"/>
    <p:sldId id="401" r:id="rId25"/>
    <p:sldId id="275" r:id="rId26"/>
    <p:sldId id="402" r:id="rId27"/>
    <p:sldId id="403" r:id="rId28"/>
    <p:sldId id="277" r:id="rId29"/>
    <p:sldId id="280" r:id="rId30"/>
    <p:sldId id="341" r:id="rId31"/>
    <p:sldId id="284" r:id="rId32"/>
    <p:sldId id="286" r:id="rId33"/>
    <p:sldId id="288" r:id="rId34"/>
    <p:sldId id="289" r:id="rId35"/>
    <p:sldId id="404" r:id="rId36"/>
    <p:sldId id="292" r:id="rId37"/>
    <p:sldId id="416" r:id="rId38"/>
    <p:sldId id="1162" r:id="rId39"/>
    <p:sldId id="323" r:id="rId40"/>
    <p:sldId id="300" r:id="rId41"/>
    <p:sldId id="301" r:id="rId42"/>
    <p:sldId id="406" r:id="rId43"/>
    <p:sldId id="424" r:id="rId44"/>
    <p:sldId id="411" r:id="rId45"/>
    <p:sldId id="415" r:id="rId46"/>
    <p:sldId id="433" r:id="rId47"/>
    <p:sldId id="434" r:id="rId48"/>
    <p:sldId id="435" r:id="rId49"/>
    <p:sldId id="436" r:id="rId50"/>
    <p:sldId id="437" r:id="rId51"/>
    <p:sldId id="417" r:id="rId52"/>
    <p:sldId id="445" r:id="rId53"/>
    <p:sldId id="423" r:id="rId54"/>
    <p:sldId id="442" r:id="rId55"/>
    <p:sldId id="447" r:id="rId56"/>
    <p:sldId id="444" r:id="rId57"/>
    <p:sldId id="448" r:id="rId58"/>
    <p:sldId id="449" r:id="rId59"/>
    <p:sldId id="450" r:id="rId60"/>
    <p:sldId id="368" r:id="rId61"/>
    <p:sldId id="455" r:id="rId62"/>
    <p:sldId id="370" r:id="rId63"/>
    <p:sldId id="382" r:id="rId64"/>
    <p:sldId id="463" r:id="rId65"/>
    <p:sldId id="464" r:id="rId66"/>
    <p:sldId id="465" r:id="rId67"/>
    <p:sldId id="462" r:id="rId68"/>
    <p:sldId id="486" r:id="rId69"/>
    <p:sldId id="1163" r:id="rId70"/>
    <p:sldId id="314" r:id="rId71"/>
    <p:sldId id="315" r:id="rId72"/>
    <p:sldId id="317" r:id="rId73"/>
    <p:sldId id="524" r:id="rId74"/>
    <p:sldId id="473" r:id="rId75"/>
    <p:sldId id="527" r:id="rId76"/>
    <p:sldId id="528" r:id="rId77"/>
    <p:sldId id="1165" r:id="rId78"/>
    <p:sldId id="479" r:id="rId79"/>
    <p:sldId id="480" r:id="rId80"/>
    <p:sldId id="481" r:id="rId81"/>
    <p:sldId id="529" r:id="rId82"/>
    <p:sldId id="521" r:id="rId83"/>
  </p:sldIdLst>
  <p:sldSz cx="12192000" cy="6858000"/>
  <p:notesSz cx="6858000" cy="9144000"/>
  <p:custDataLst>
    <p:tags r:id="rId8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CCFF"/>
    <a:srgbClr val="006600"/>
    <a:srgbClr val="00CC66"/>
    <a:srgbClr val="D60093"/>
    <a:srgbClr val="CC0066"/>
    <a:srgbClr val="CC00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86084" autoAdjust="0"/>
  </p:normalViewPr>
  <p:slideViewPr>
    <p:cSldViewPr showGuides="1">
      <p:cViewPr varScale="1">
        <p:scale>
          <a:sx n="74" d="100"/>
          <a:sy n="74" d="100"/>
        </p:scale>
        <p:origin x="902" y="53"/>
      </p:cViewPr>
      <p:guideLst>
        <p:guide orient="horz" pos="2160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7AC7FEC-468E-4D8A-84A0-590D873C97AC}" type="datetimeFigureOut">
              <a:rPr lang="zh-CN" altLang="en-US"/>
              <a:t>2025/3/4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24168A9-6BF6-466F-B596-178C56A69A71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rgbClr val="FF0000"/>
                </a:solidFill>
              </a:rPr>
              <a:t>成语：过犹不及</a:t>
            </a:r>
            <a:endParaRPr kumimoji="1" lang="en-US" altLang="zh-CN" sz="1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523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kumimoji="1" lang="zh-CN" altLang="en-US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取中间位置，在事前分析中是最优方案。</a:t>
            </a:r>
            <a:endParaRPr kumimoji="1" lang="en-US" altLang="zh-CN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831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dirty="0">
                <a:latin typeface="幼圆" panose="02010509060101010101" pitchFamily="49" charset="-122"/>
                <a:ea typeface="幼圆" panose="02010509060101010101" pitchFamily="49" charset="-122"/>
              </a:rPr>
              <a:t>程序的正确性证明至今还是一个尚未解决的课题。这里仅给出非形式证明。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[</a:t>
            </a:r>
            <a:r>
              <a:rPr lang="en-US" altLang="zh-CN" dirty="0" err="1"/>
              <a:t>low,high</a:t>
            </a:r>
            <a:r>
              <a:rPr lang="en-US" altLang="zh-CN" dirty="0"/>
              <a:t>)</a:t>
            </a:r>
            <a:r>
              <a:rPr lang="zh-CN" altLang="en-US" dirty="0"/>
              <a:t>上去查找，每次比较总是分为两个子问题。自行画二元比较树。答案否。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026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8A2DB49-93BB-4144-A7FF-0F5A356DE4B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17B285B-9738-4D8E-9EC1-122B4D3C5F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Partition [ low, high)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/>
              <a:t>外结点所在最大层数为</a:t>
            </a:r>
            <a:r>
              <a:rPr kumimoji="1" lang="en-US" altLang="zh-CN" sz="1200" dirty="0"/>
              <a:t>T(n)</a:t>
            </a:r>
            <a:r>
              <a:rPr kumimoji="1" lang="zh-CN" altLang="en-US" sz="1200" dirty="0"/>
              <a:t>，</a:t>
            </a:r>
            <a:r>
              <a:rPr kumimoji="1" lang="en-US" altLang="zh-CN" sz="1200" dirty="0"/>
              <a:t>2</a:t>
            </a:r>
            <a:r>
              <a:rPr kumimoji="1" lang="en-US" altLang="zh-CN" sz="1200" baseline="30000" dirty="0"/>
              <a:t>T(n) </a:t>
            </a:r>
            <a:r>
              <a:rPr kumimoji="1" lang="zh-CN" altLang="en-US" sz="1200" baseline="30000" dirty="0"/>
              <a:t>为该层的最大结点数，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827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）第一种情况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06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EC5D228-CA80-4C53-8453-8FE41EE2388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2F4454D-EDE6-42C7-9D5F-C2628D913E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但事后测试所用时间，确不一定谁多谁少。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183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https://www.cnblogs.com/jclian91/p/9151120.html </a:t>
            </a:r>
            <a:endParaRPr lang="en-US" altLang="zh-CN" dirty="0"/>
          </a:p>
          <a:p>
            <a:pPr lvl="0"/>
            <a:r>
              <a:rPr lang="en-US" altLang="zh-CN" dirty="0"/>
              <a:t>https://blog.csdn.net/lengxiao1993/article/details/52303492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168A9-6BF6-466F-B596-178C56A69A71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089" y="1418544"/>
            <a:ext cx="6257321" cy="25142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" y="1418545"/>
            <a:ext cx="5872659" cy="250839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0" y="5399618"/>
            <a:ext cx="12203093" cy="1485900"/>
            <a:chOff x="0" y="5305425"/>
            <a:chExt cx="12203093" cy="1485900"/>
          </a:xfrm>
        </p:grpSpPr>
        <p:sp>
          <p:nvSpPr>
            <p:cNvPr id="13" name="矩形 12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</p:grpSp>
      <p:sp>
        <p:nvSpPr>
          <p:cNvPr id="10" name="平行四边形 9"/>
          <p:cNvSpPr/>
          <p:nvPr/>
        </p:nvSpPr>
        <p:spPr>
          <a:xfrm>
            <a:off x="-8879" y="1225462"/>
            <a:ext cx="12211803" cy="2894556"/>
          </a:xfrm>
          <a:prstGeom prst="parallelogram">
            <a:avLst>
              <a:gd name="adj" fmla="val 0"/>
            </a:avLst>
          </a:prstGeom>
          <a:solidFill>
            <a:srgbClr val="1B5091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01361" y="5471049"/>
            <a:ext cx="9831977" cy="781595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solidFill>
                  <a:srgbClr val="1E5293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1361" y="4274636"/>
            <a:ext cx="9831977" cy="999627"/>
          </a:xfrm>
        </p:spPr>
        <p:txBody>
          <a:bodyPr anchor="b">
            <a:normAutofit/>
          </a:bodyPr>
          <a:lstStyle>
            <a:lvl1pPr algn="ctr">
              <a:defRPr sz="3750">
                <a:solidFill>
                  <a:srgbClr val="1E529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727" y="358201"/>
            <a:ext cx="1689716" cy="5627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" y="1360704"/>
            <a:ext cx="12169984" cy="253572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2200" y="5372100"/>
            <a:ext cx="12203093" cy="1485900"/>
            <a:chOff x="0" y="5305425"/>
            <a:chExt cx="12203093" cy="1485900"/>
          </a:xfrm>
        </p:grpSpPr>
        <p:sp>
          <p:nvSpPr>
            <p:cNvPr id="13" name="矩形 12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</p:grpSp>
      <p:sp>
        <p:nvSpPr>
          <p:cNvPr id="10" name="平行四边形 9"/>
          <p:cNvSpPr/>
          <p:nvPr/>
        </p:nvSpPr>
        <p:spPr>
          <a:xfrm>
            <a:off x="0" y="1175806"/>
            <a:ext cx="12211803" cy="2894556"/>
          </a:xfrm>
          <a:prstGeom prst="parallelogram">
            <a:avLst>
              <a:gd name="adj" fmla="val 0"/>
            </a:avLst>
          </a:prstGeom>
          <a:solidFill>
            <a:schemeClr val="accent1">
              <a:lumMod val="75000"/>
              <a:alpha val="580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01361" y="5471049"/>
            <a:ext cx="9831977" cy="781595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solidFill>
                  <a:srgbClr val="1E5293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1361" y="4264255"/>
            <a:ext cx="9831977" cy="999627"/>
          </a:xfrm>
        </p:spPr>
        <p:txBody>
          <a:bodyPr anchor="b">
            <a:normAutofit/>
          </a:bodyPr>
          <a:lstStyle>
            <a:lvl1pPr algn="ctr">
              <a:defRPr sz="3750">
                <a:solidFill>
                  <a:srgbClr val="1E529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727" y="358201"/>
            <a:ext cx="1689716" cy="5627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10000"/>
              </a:lnSpc>
              <a:defRPr sz="2800"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2400"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2400"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2400"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2400"/>
            </a:lvl5pPr>
          </a:lstStyle>
          <a:p>
            <a:pPr lvl="0"/>
            <a:r>
              <a:rPr lang="zh-CN" altLang="en-US" dirty="0"/>
              <a:t> 编辑母版文本样式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 第二级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 第三级</a:t>
            </a:r>
          </a:p>
          <a:p>
            <a:pPr lvl="3"/>
            <a:r>
              <a:rPr lang="zh-CN" altLang="en-US" dirty="0"/>
              <a:t> 第四级</a:t>
            </a:r>
          </a:p>
          <a:p>
            <a:pPr lvl="4"/>
            <a:r>
              <a:rPr lang="zh-CN" altLang="en-US" dirty="0"/>
              <a:t> 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021F18-285E-4444-AFFC-BDBEE8C67D6D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016099" y="3250773"/>
          <a:ext cx="949235" cy="396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9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sz="20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91E4-B1DF-47AC-B4AA-7FE3CBE2FF72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021F18-285E-4444-AFFC-BDBEE8C67D6D}" type="slidenum">
              <a:rPr lang="en-US" altLang="zh-CN" smtClean="0"/>
              <a:t>‹#›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0" y="5372100"/>
            <a:ext cx="12203093" cy="1485900"/>
            <a:chOff x="0" y="5305425"/>
            <a:chExt cx="12203093" cy="14859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021F18-285E-4444-AFFC-BDBEE8C67D6D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5127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1384665"/>
            <a:ext cx="6172200" cy="4476387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021F18-285E-4444-AFFC-BDBEE8C67D6D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8" name="内容占位符 2"/>
          <p:cNvSpPr>
            <a:spLocks noGrp="1"/>
          </p:cNvSpPr>
          <p:nvPr>
            <p:ph idx="13" hasCustomPrompt="1"/>
          </p:nvPr>
        </p:nvSpPr>
        <p:spPr>
          <a:xfrm>
            <a:off x="839788" y="1384665"/>
            <a:ext cx="3932237" cy="4476387"/>
          </a:xfrm>
        </p:spPr>
        <p:txBody>
          <a:bodyPr/>
          <a:lstStyle>
            <a:lvl1pPr>
              <a:lnSpc>
                <a:spcPct val="110000"/>
              </a:lnSpc>
              <a:defRPr sz="2100"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1800"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1800"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1800"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733697" y="129996"/>
            <a:ext cx="10515600" cy="132556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1E5293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 sz="2700" dirty="0"/>
              <a:t>单击此处编辑母版标题样式</a:t>
            </a:r>
            <a:r>
              <a:rPr lang="en-US" altLang="zh-CN" sz="2700" dirty="0" err="1"/>
              <a:t>abc</a:t>
            </a:r>
            <a:endParaRPr lang="zh-CN" altLang="en-US" sz="27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928" y="2664190"/>
            <a:ext cx="10515600" cy="1325563"/>
          </a:xfrm>
        </p:spPr>
        <p:txBody>
          <a:bodyPr>
            <a:normAutofit/>
          </a:bodyPr>
          <a:lstStyle>
            <a:lvl1pPr marL="0" algn="ctr" defTabSz="685800" rtl="0" eaLnBrk="1" latinLnBrk="0" hangingPunct="1">
              <a:defRPr lang="zh-CN" altLang="en-US" sz="4050" kern="1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021F18-285E-4444-AFFC-BDBEE8C67D6D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6D5D576-C4A5-4339-8466-EF437A0FB5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7B72042-8580-4AF2-AD6D-B2AC2D1B358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10044-93FC-4344-8BBF-FF8361439457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9BD1F39-8263-41C9-AC0E-EC84DCDCFFA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51A65-B1B6-43F7-A01B-AEA861D3655E}" type="datetime1">
              <a:rPr lang="zh-CN" altLang="en-US" smtClean="0"/>
              <a:t>2025/3/4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154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A021F18-285E-4444-AFFC-BDBEE8C67D6D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7" name="标题占位符 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01650" y="314420"/>
            <a:ext cx="10852151" cy="660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6200" tIns="28575" rIns="57150" bIns="28575" numCol="1" anchor="t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rgbClr val="1B509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</a:lstStyle>
          <a:p>
            <a:endParaRPr lang="zh-CN" altLang="en-US" sz="27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1E5293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1E5293"/>
        </a:buClr>
        <a:buSzPct val="70000"/>
        <a:buFont typeface="Wingdings" panose="05000000000000000000" pitchFamily="2" charset="2"/>
        <a:buChar char="l"/>
        <a:defRPr sz="21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2.wmf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17.wmf"/><Relationship Id="rId21" Type="http://schemas.openxmlformats.org/officeDocument/2006/relationships/image" Target="../media/image26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4.w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23" Type="http://schemas.openxmlformats.org/officeDocument/2006/relationships/image" Target="../media/image27.w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25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0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2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4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2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8.w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5.bin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6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3.w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01361" y="4264255"/>
            <a:ext cx="9831977" cy="964945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第四章 分治法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目录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2058136"/>
            <a:ext cx="4464496" cy="273775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kumimoji="1" lang="en-US" altLang="zh-CN" sz="2800" dirty="0"/>
              <a:t> 4.1 </a:t>
            </a:r>
            <a:r>
              <a:rPr kumimoji="1" lang="zh-CN" altLang="en-US" sz="2800" dirty="0"/>
              <a:t>一般方法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2800" dirty="0"/>
              <a:t> 4.2 </a:t>
            </a:r>
            <a:r>
              <a:rPr kumimoji="1" lang="zh-CN" altLang="en-US" sz="2800" dirty="0"/>
              <a:t>二分查找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2800" dirty="0"/>
              <a:t> 4.3 </a:t>
            </a:r>
            <a:r>
              <a:rPr kumimoji="1" lang="zh-CN" altLang="en-US" sz="2800" dirty="0"/>
              <a:t>归并排序</a:t>
            </a:r>
            <a:endParaRPr kumimoji="1" lang="en-US" altLang="zh-CN" sz="2800" dirty="0"/>
          </a:p>
          <a:p>
            <a:pPr>
              <a:lnSpc>
                <a:spcPct val="90000"/>
              </a:lnSpc>
            </a:pPr>
            <a:r>
              <a:rPr kumimoji="1" lang="en-US" altLang="zh-CN" dirty="0"/>
              <a:t> 4.4 </a:t>
            </a:r>
            <a:r>
              <a:rPr kumimoji="1" lang="zh-CN" altLang="en-US" dirty="0"/>
              <a:t>斯特拉森矩阵乘法</a:t>
            </a:r>
            <a:endParaRPr kumimoji="1" lang="en-US" altLang="zh-CN" dirty="0"/>
          </a:p>
          <a:p>
            <a:pPr marL="0" indent="0" eaLnBrk="1" hangingPunct="1">
              <a:lnSpc>
                <a:spcPct val="90000"/>
              </a:lnSpc>
              <a:buNone/>
            </a:pPr>
            <a:endParaRPr kumimoji="1" lang="en-US" altLang="zh-CN" sz="2800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118773" y="2047016"/>
            <a:ext cx="4464496" cy="231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kumimoji="1" lang="en-US" altLang="zh-CN" dirty="0">
                <a:sym typeface="+mn-ea"/>
              </a:rPr>
              <a:t> 4.5 </a:t>
            </a:r>
            <a:r>
              <a:rPr kumimoji="1" lang="zh-CN" altLang="en-US" dirty="0">
                <a:sym typeface="+mn-ea"/>
              </a:rPr>
              <a:t>二维极大点问题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 4.6 </a:t>
            </a:r>
            <a:r>
              <a:rPr kumimoji="1" lang="zh-CN" altLang="en-US" dirty="0">
                <a:sym typeface="+mn-ea"/>
              </a:rPr>
              <a:t>分治法的优化</a:t>
            </a:r>
            <a:endParaRPr kumimoji="1" lang="en-US" altLang="zh-CN" dirty="0"/>
          </a:p>
          <a:p>
            <a:pPr>
              <a:lnSpc>
                <a:spcPct val="90000"/>
              </a:lnSpc>
            </a:pPr>
            <a:r>
              <a:rPr kumimoji="1" lang="en-US" altLang="zh-CN" dirty="0"/>
              <a:t> 4.7 </a:t>
            </a:r>
            <a:r>
              <a:rPr kumimoji="1" lang="zh-CN" altLang="en-US" dirty="0">
                <a:sym typeface="+mn-ea"/>
              </a:rPr>
              <a:t>主定理</a:t>
            </a:r>
          </a:p>
          <a:p>
            <a:pPr>
              <a:lnSpc>
                <a:spcPct val="90000"/>
              </a:lnSpc>
            </a:pPr>
            <a:r>
              <a:rPr kumimoji="1" lang="en-US" altLang="zh-CN" dirty="0"/>
              <a:t> 4.8 </a:t>
            </a:r>
            <a:r>
              <a:rPr kumimoji="1" lang="zh-CN" altLang="en-US" dirty="0"/>
              <a:t>小结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1" lang="en-US" altLang="zh-CN" dirty="0"/>
              <a:t>4.1 </a:t>
            </a:r>
            <a:r>
              <a:rPr kumimoji="1" lang="zh-CN" altLang="en-US" dirty="0"/>
              <a:t>一般方法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2971527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zh-CN" altLang="en-US" sz="2800" dirty="0"/>
              <a:t>分治法适用的问题</a:t>
            </a:r>
          </a:p>
          <a:p>
            <a:pPr marL="0" indent="0" eaLnBrk="1" hangingPunct="1">
              <a:buNone/>
            </a:pPr>
            <a:r>
              <a:rPr lang="zh-CN" altLang="en-US" sz="2800" dirty="0"/>
              <a:t>分治法的求解思想</a:t>
            </a:r>
          </a:p>
          <a:p>
            <a:pPr marL="0" indent="0" eaLnBrk="1" hangingPunct="1">
              <a:buNone/>
            </a:pPr>
            <a:r>
              <a:rPr kumimoji="1" lang="zh-CN" altLang="en-US" sz="2800" dirty="0">
                <a:solidFill>
                  <a:srgbClr val="000000"/>
                </a:solidFill>
              </a:rPr>
              <a:t>分治策略</a:t>
            </a:r>
            <a:r>
              <a:rPr kumimoji="1" lang="en-US" altLang="zh-CN" sz="2800" dirty="0">
                <a:solidFill>
                  <a:srgbClr val="000000"/>
                </a:solidFill>
              </a:rPr>
              <a:t>DANDC</a:t>
            </a:r>
            <a:r>
              <a:rPr kumimoji="1" lang="zh-CN" altLang="en-US" sz="2800" dirty="0">
                <a:solidFill>
                  <a:srgbClr val="000000"/>
                </a:solidFill>
              </a:rPr>
              <a:t>的抽象化控制</a:t>
            </a:r>
          </a:p>
          <a:p>
            <a:pPr marL="0" indent="0" eaLnBrk="1" hangingPunct="1">
              <a:buNone/>
            </a:pPr>
            <a:r>
              <a:rPr kumimoji="1" lang="zh-CN" altLang="en-US" sz="2800" dirty="0">
                <a:solidFill>
                  <a:srgbClr val="000000"/>
                </a:solidFill>
              </a:rPr>
              <a:t>分治策略</a:t>
            </a:r>
            <a:r>
              <a:rPr kumimoji="1" lang="en-US" altLang="zh-CN" sz="2800" dirty="0"/>
              <a:t>DANDC</a:t>
            </a:r>
            <a:r>
              <a:rPr kumimoji="1" lang="zh-CN" altLang="en-US" sz="2800" dirty="0"/>
              <a:t>的计算时间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分治法适用的问题</a:t>
            </a:r>
          </a:p>
        </p:txBody>
      </p:sp>
      <p:sp>
        <p:nvSpPr>
          <p:cNvPr id="7171" name="Rectangle 13"/>
          <p:cNvSpPr>
            <a:spLocks noChangeArrowheads="1"/>
          </p:cNvSpPr>
          <p:nvPr/>
        </p:nvSpPr>
        <p:spPr bwMode="auto">
          <a:xfrm>
            <a:off x="7824192" y="1340768"/>
            <a:ext cx="2119710" cy="434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问题</a:t>
            </a:r>
            <a:r>
              <a:rPr lang="en-US" altLang="zh-CN" sz="2000" b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(n</a:t>
            </a:r>
            <a:r>
              <a:rPr lang="zh-CN" altLang="en-US" sz="2000" b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个输入</a:t>
            </a:r>
            <a:r>
              <a:rPr lang="en-US" altLang="zh-CN" sz="2000" b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173" name="Text Box 17"/>
          <p:cNvSpPr txBox="1">
            <a:spLocks noChangeArrowheads="1"/>
          </p:cNvSpPr>
          <p:nvPr/>
        </p:nvSpPr>
        <p:spPr bwMode="auto">
          <a:xfrm>
            <a:off x="9214932" y="2736685"/>
            <a:ext cx="728970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… …</a:t>
            </a:r>
          </a:p>
        </p:txBody>
      </p:sp>
      <p:grpSp>
        <p:nvGrpSpPr>
          <p:cNvPr id="7174" name="Group 33"/>
          <p:cNvGrpSpPr/>
          <p:nvPr/>
        </p:nvGrpSpPr>
        <p:grpSpPr bwMode="auto">
          <a:xfrm>
            <a:off x="6734132" y="1775679"/>
            <a:ext cx="4506757" cy="1202695"/>
            <a:chOff x="249" y="1597"/>
            <a:chExt cx="3085" cy="880"/>
          </a:xfrm>
          <a:solidFill>
            <a:schemeClr val="bg1"/>
          </a:solidFill>
        </p:grpSpPr>
        <p:sp>
          <p:nvSpPr>
            <p:cNvPr id="7189" name="Rectangle 15"/>
            <p:cNvSpPr>
              <a:spLocks noChangeArrowheads="1"/>
            </p:cNvSpPr>
            <p:nvPr/>
          </p:nvSpPr>
          <p:spPr bwMode="auto">
            <a:xfrm>
              <a:off x="249" y="2160"/>
              <a:ext cx="817" cy="317"/>
            </a:xfrm>
            <a:prstGeom prst="rect">
              <a:avLst/>
            </a:prstGeom>
            <a:grpFill/>
            <a:ln w="9525">
              <a:solidFill>
                <a:schemeClr val="tx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子问题</a:t>
              </a:r>
              <a:r>
                <a:rPr lang="en-US" altLang="zh-CN" sz="20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190" name="Rectangle 16"/>
            <p:cNvSpPr>
              <a:spLocks noChangeArrowheads="1"/>
            </p:cNvSpPr>
            <p:nvPr/>
          </p:nvSpPr>
          <p:spPr bwMode="auto">
            <a:xfrm>
              <a:off x="1111" y="2160"/>
              <a:ext cx="817" cy="317"/>
            </a:xfrm>
            <a:prstGeom prst="rect">
              <a:avLst/>
            </a:prstGeom>
            <a:grpFill/>
            <a:ln w="9525">
              <a:solidFill>
                <a:schemeClr val="tx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子问题</a:t>
              </a:r>
              <a:r>
                <a:rPr lang="en-US" altLang="zh-CN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191" name="Rectangle 18"/>
            <p:cNvSpPr>
              <a:spLocks noChangeArrowheads="1"/>
            </p:cNvSpPr>
            <p:nvPr/>
          </p:nvSpPr>
          <p:spPr bwMode="auto">
            <a:xfrm>
              <a:off x="2517" y="2160"/>
              <a:ext cx="817" cy="317"/>
            </a:xfrm>
            <a:prstGeom prst="rect">
              <a:avLst/>
            </a:prstGeom>
            <a:grpFill/>
            <a:ln w="9525">
              <a:solidFill>
                <a:schemeClr val="tx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子问题</a:t>
              </a:r>
              <a:r>
                <a:rPr lang="en-US" altLang="zh-CN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k</a:t>
              </a:r>
            </a:p>
          </p:txBody>
        </p:sp>
        <p:sp>
          <p:nvSpPr>
            <p:cNvPr id="7192" name="Line 19"/>
            <p:cNvSpPr>
              <a:spLocks noChangeShapeType="1"/>
            </p:cNvSpPr>
            <p:nvPr/>
          </p:nvSpPr>
          <p:spPr bwMode="auto">
            <a:xfrm flipH="1">
              <a:off x="657" y="1597"/>
              <a:ext cx="1141" cy="563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193" name="Line 20"/>
            <p:cNvSpPr>
              <a:spLocks noChangeShapeType="1"/>
            </p:cNvSpPr>
            <p:nvPr/>
          </p:nvSpPr>
          <p:spPr bwMode="auto">
            <a:xfrm flipH="1">
              <a:off x="1565" y="1615"/>
              <a:ext cx="233" cy="54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194" name="Line 21"/>
            <p:cNvSpPr>
              <a:spLocks noChangeShapeType="1"/>
            </p:cNvSpPr>
            <p:nvPr/>
          </p:nvSpPr>
          <p:spPr bwMode="auto">
            <a:xfrm>
              <a:off x="1798" y="1615"/>
              <a:ext cx="1127" cy="54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175" name="Group 36"/>
          <p:cNvGrpSpPr/>
          <p:nvPr/>
        </p:nvGrpSpPr>
        <p:grpSpPr bwMode="auto">
          <a:xfrm>
            <a:off x="6751873" y="3028400"/>
            <a:ext cx="4303697" cy="680616"/>
            <a:chOff x="296" y="2478"/>
            <a:chExt cx="2946" cy="498"/>
          </a:xfrm>
          <a:solidFill>
            <a:schemeClr val="bg1"/>
          </a:solidFill>
        </p:grpSpPr>
        <p:sp>
          <p:nvSpPr>
            <p:cNvPr id="7183" name="Oval 22"/>
            <p:cNvSpPr>
              <a:spLocks noChangeArrowheads="1"/>
            </p:cNvSpPr>
            <p:nvPr/>
          </p:nvSpPr>
          <p:spPr bwMode="auto">
            <a:xfrm>
              <a:off x="296" y="2704"/>
              <a:ext cx="680" cy="272"/>
            </a:xfrm>
            <a:prstGeom prst="ellipse">
              <a:avLst/>
            </a:prstGeom>
            <a:grpFill/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解</a:t>
              </a:r>
              <a:r>
                <a:rPr lang="en-US" altLang="zh-CN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184" name="Oval 23"/>
            <p:cNvSpPr>
              <a:spLocks noChangeArrowheads="1"/>
            </p:cNvSpPr>
            <p:nvPr/>
          </p:nvSpPr>
          <p:spPr bwMode="auto">
            <a:xfrm>
              <a:off x="1249" y="2704"/>
              <a:ext cx="680" cy="272"/>
            </a:xfrm>
            <a:prstGeom prst="ellipse">
              <a:avLst/>
            </a:prstGeom>
            <a:grpFill/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解</a:t>
              </a:r>
              <a:r>
                <a:rPr lang="en-US" altLang="zh-CN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185" name="Oval 24"/>
            <p:cNvSpPr>
              <a:spLocks noChangeArrowheads="1"/>
            </p:cNvSpPr>
            <p:nvPr/>
          </p:nvSpPr>
          <p:spPr bwMode="auto">
            <a:xfrm>
              <a:off x="2562" y="2704"/>
              <a:ext cx="680" cy="272"/>
            </a:xfrm>
            <a:prstGeom prst="ellipse">
              <a:avLst/>
            </a:prstGeom>
            <a:grpFill/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解</a:t>
              </a:r>
              <a:r>
                <a:rPr lang="en-US" altLang="zh-CN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k</a:t>
              </a:r>
            </a:p>
          </p:txBody>
        </p:sp>
        <p:sp>
          <p:nvSpPr>
            <p:cNvPr id="7186" name="Line 26"/>
            <p:cNvSpPr>
              <a:spLocks noChangeShapeType="1"/>
            </p:cNvSpPr>
            <p:nvPr/>
          </p:nvSpPr>
          <p:spPr bwMode="auto">
            <a:xfrm>
              <a:off x="659" y="2478"/>
              <a:ext cx="0" cy="22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187" name="Line 27"/>
            <p:cNvSpPr>
              <a:spLocks noChangeShapeType="1"/>
            </p:cNvSpPr>
            <p:nvPr/>
          </p:nvSpPr>
          <p:spPr bwMode="auto">
            <a:xfrm>
              <a:off x="1566" y="2478"/>
              <a:ext cx="0" cy="22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188" name="Line 28"/>
            <p:cNvSpPr>
              <a:spLocks noChangeShapeType="1"/>
            </p:cNvSpPr>
            <p:nvPr/>
          </p:nvSpPr>
          <p:spPr bwMode="auto">
            <a:xfrm>
              <a:off x="2925" y="2478"/>
              <a:ext cx="0" cy="22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176" name="Group 37"/>
          <p:cNvGrpSpPr/>
          <p:nvPr/>
        </p:nvGrpSpPr>
        <p:grpSpPr bwMode="auto">
          <a:xfrm>
            <a:off x="7219349" y="3708613"/>
            <a:ext cx="3373128" cy="1100192"/>
            <a:chOff x="570" y="2943"/>
            <a:chExt cx="2309" cy="805"/>
          </a:xfrm>
          <a:solidFill>
            <a:schemeClr val="bg1"/>
          </a:solidFill>
        </p:grpSpPr>
        <p:sp>
          <p:nvSpPr>
            <p:cNvPr id="7179" name="Oval 29"/>
            <p:cNvSpPr>
              <a:spLocks noChangeArrowheads="1"/>
            </p:cNvSpPr>
            <p:nvPr/>
          </p:nvSpPr>
          <p:spPr bwMode="auto">
            <a:xfrm>
              <a:off x="1110" y="3339"/>
              <a:ext cx="1452" cy="409"/>
            </a:xfrm>
            <a:prstGeom prst="ellipse">
              <a:avLst/>
            </a:prstGeom>
            <a:grpFill/>
            <a:ln w="9525">
              <a:solidFill>
                <a:schemeClr val="tx2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整个问题的解</a:t>
              </a:r>
            </a:p>
          </p:txBody>
        </p:sp>
        <p:sp>
          <p:nvSpPr>
            <p:cNvPr id="7180" name="Line 30"/>
            <p:cNvSpPr>
              <a:spLocks noChangeShapeType="1"/>
            </p:cNvSpPr>
            <p:nvPr/>
          </p:nvSpPr>
          <p:spPr bwMode="auto">
            <a:xfrm>
              <a:off x="570" y="2943"/>
              <a:ext cx="1267" cy="39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181" name="Line 31"/>
            <p:cNvSpPr>
              <a:spLocks noChangeShapeType="1"/>
            </p:cNvSpPr>
            <p:nvPr/>
          </p:nvSpPr>
          <p:spPr bwMode="auto">
            <a:xfrm>
              <a:off x="1563" y="2943"/>
              <a:ext cx="274" cy="39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182" name="Line 32"/>
            <p:cNvSpPr>
              <a:spLocks noChangeShapeType="1"/>
            </p:cNvSpPr>
            <p:nvPr/>
          </p:nvSpPr>
          <p:spPr bwMode="auto">
            <a:xfrm flipH="1">
              <a:off x="1837" y="2972"/>
              <a:ext cx="1042" cy="36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28" name="Rectangle 3"/>
          <p:cNvSpPr>
            <a:spLocks noGrp="1" noChangeArrowheads="1"/>
          </p:cNvSpPr>
          <p:nvPr>
            <p:ph idx="1"/>
          </p:nvPr>
        </p:nvSpPr>
        <p:spPr>
          <a:xfrm>
            <a:off x="790431" y="1694226"/>
            <a:ext cx="5701190" cy="3637344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zh-CN" dirty="0">
                <a:latin typeface="幼圆" panose="02010509060101010101" pitchFamily="49" charset="-122"/>
              </a:rPr>
              <a:t>n</a:t>
            </a:r>
            <a:r>
              <a:rPr lang="zh-CN" altLang="en-US" dirty="0">
                <a:latin typeface="幼圆" panose="02010509060101010101" pitchFamily="49" charset="-122"/>
              </a:rPr>
              <a:t>取值相当大，直接求解往往非常困难，甚至无法求出。</a:t>
            </a:r>
            <a:endParaRPr lang="en-US" altLang="zh-CN" dirty="0">
              <a:latin typeface="幼圆" panose="02010509060101010101" pitchFamily="49" charset="-122"/>
            </a:endParaRPr>
          </a:p>
          <a:p>
            <a:pPr eaLnBrk="1" hangingPunct="1"/>
            <a:r>
              <a:rPr lang="zh-CN" altLang="en-US" dirty="0">
                <a:latin typeface="幼圆" panose="02010509060101010101" pitchFamily="49" charset="-122"/>
              </a:rPr>
              <a:t>将</a:t>
            </a:r>
            <a:r>
              <a:rPr lang="en-US" altLang="zh-CN" dirty="0">
                <a:latin typeface="幼圆" panose="02010509060101010101" pitchFamily="49" charset="-122"/>
              </a:rPr>
              <a:t>n</a:t>
            </a:r>
            <a:r>
              <a:rPr lang="zh-CN" altLang="en-US" dirty="0">
                <a:latin typeface="幼圆" panose="02010509060101010101" pitchFamily="49" charset="-122"/>
              </a:rPr>
              <a:t>个输入分解成</a:t>
            </a:r>
            <a:r>
              <a:rPr lang="en-US" altLang="zh-CN" dirty="0">
                <a:latin typeface="幼圆" panose="02010509060101010101" pitchFamily="49" charset="-122"/>
              </a:rPr>
              <a:t>k</a:t>
            </a:r>
            <a:r>
              <a:rPr lang="zh-CN" altLang="en-US" dirty="0">
                <a:latin typeface="幼圆" panose="02010509060101010101" pitchFamily="49" charset="-122"/>
              </a:rPr>
              <a:t>个不同子集，得到</a:t>
            </a:r>
            <a:r>
              <a:rPr lang="en-US" altLang="zh-CN" dirty="0">
                <a:latin typeface="幼圆" panose="02010509060101010101" pitchFamily="49" charset="-122"/>
              </a:rPr>
              <a:t>k</a:t>
            </a:r>
            <a:r>
              <a:rPr lang="zh-CN" altLang="en-US" dirty="0">
                <a:latin typeface="幼圆" panose="02010509060101010101" pitchFamily="49" charset="-122"/>
              </a:rPr>
              <a:t>个不同的可独立求解的子问题。</a:t>
            </a:r>
            <a:endParaRPr lang="en-US" altLang="zh-CN" dirty="0">
              <a:latin typeface="幼圆" panose="02010509060101010101" pitchFamily="49" charset="-122"/>
            </a:endParaRPr>
          </a:p>
          <a:p>
            <a:pPr eaLnBrk="1" hangingPunct="1"/>
            <a:r>
              <a:rPr lang="zh-CN" altLang="en-US" dirty="0">
                <a:latin typeface="幼圆" panose="02010509060101010101" pitchFamily="49" charset="-122"/>
              </a:rPr>
              <a:t>在求出子问题的解之后，能找到适当的方法把它们合并成整个问题的解。</a:t>
            </a:r>
          </a:p>
          <a:p>
            <a:endParaRPr lang="zh-CN" altLang="en-US" sz="2400" dirty="0">
              <a:latin typeface="幼圆" panose="02010509060101010101" pitchFamily="49" charset="-122"/>
            </a:endParaRPr>
          </a:p>
          <a:p>
            <a:pPr eaLnBrk="1" hangingPunct="1"/>
            <a:endParaRPr kumimoji="1"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分治法的求解思想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717380"/>
            <a:ext cx="9793088" cy="341977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800" dirty="0"/>
              <a:t>思想：将整个问题分成若干个小问题后分而治之。</a:t>
            </a:r>
          </a:p>
          <a:p>
            <a:pPr lvl="1" eaLnBrk="1" hangingPunct="1"/>
            <a:r>
              <a:rPr lang="zh-CN" altLang="en-US" sz="2400" dirty="0"/>
              <a:t>分</a:t>
            </a:r>
            <a:r>
              <a:rPr lang="en-US" altLang="zh-CN" sz="2400" dirty="0"/>
              <a:t>(Divide)</a:t>
            </a:r>
            <a:r>
              <a:rPr lang="zh-CN" altLang="en-US" sz="2400" dirty="0"/>
              <a:t>：子问题与原问题具有相同的特征，但规模更小。</a:t>
            </a:r>
            <a:endParaRPr lang="en-US" altLang="zh-CN" sz="2400" dirty="0"/>
          </a:p>
          <a:p>
            <a:pPr lvl="1"/>
            <a:r>
              <a:rPr lang="zh-CN" altLang="en-US" sz="2400" dirty="0"/>
              <a:t>治</a:t>
            </a:r>
            <a:r>
              <a:rPr lang="en-US" altLang="zh-CN" sz="2400" dirty="0"/>
              <a:t>(</a:t>
            </a:r>
            <a:r>
              <a:rPr kumimoji="1" lang="en-US" altLang="zh-CN" sz="2400" dirty="0"/>
              <a:t>Conquer</a:t>
            </a:r>
            <a:r>
              <a:rPr lang="en-US" altLang="zh-CN" sz="2400" dirty="0"/>
              <a:t>)</a:t>
            </a:r>
            <a:r>
              <a:rPr lang="zh-CN" altLang="en-US" sz="2400" dirty="0"/>
              <a:t>：反复使用分治策略，直到可以直接求解子问题为止。</a:t>
            </a:r>
          </a:p>
          <a:p>
            <a:pPr lvl="1" eaLnBrk="1" hangingPunct="1"/>
            <a:r>
              <a:rPr lang="zh-CN" altLang="en-US" sz="2400" dirty="0"/>
              <a:t>合</a:t>
            </a:r>
            <a:r>
              <a:rPr lang="en-US" altLang="zh-CN" sz="2400" dirty="0"/>
              <a:t>(Combine)</a:t>
            </a:r>
            <a:r>
              <a:rPr lang="zh-CN" altLang="en-US" sz="2400" dirty="0"/>
              <a:t>：将子问题的解组合成原问题的解。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7" name="内容占位符 2"/>
          <p:cNvSpPr txBox="1"/>
          <p:nvPr/>
        </p:nvSpPr>
        <p:spPr>
          <a:xfrm>
            <a:off x="3539716" y="4509120"/>
            <a:ext cx="4536504" cy="885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7152162" y="3789040"/>
            <a:ext cx="2238203" cy="1057556"/>
          </a:xfrm>
          <a:prstGeom prst="wedgeRoundRectCallout">
            <a:avLst>
              <a:gd name="adj1" fmla="val 6157"/>
              <a:gd name="adj2" fmla="val -71501"/>
              <a:gd name="adj3" fmla="val 16667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分治法天然适合递归实现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分治策略</a:t>
            </a:r>
            <a:r>
              <a:rPr lang="en-US" altLang="zh-CN" dirty="0"/>
              <a:t>DANDC</a:t>
            </a:r>
            <a:r>
              <a:rPr lang="zh-CN" altLang="en-US" dirty="0"/>
              <a:t>的抽象化控制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12024" y="2043301"/>
            <a:ext cx="4753744" cy="396044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SMALL</a:t>
            </a:r>
            <a:r>
              <a:rPr lang="zh-CN" altLang="en-US" sz="2400" dirty="0"/>
              <a:t>：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判断输入规模</a:t>
            </a:r>
            <a:r>
              <a:rPr kumimoji="1" lang="en-US" altLang="zh-CN" sz="2400" dirty="0"/>
              <a:t>q-p+1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是否足够小，可直接求解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r>
              <a:rPr kumimoji="1" lang="en-US" altLang="zh-CN" sz="2400" dirty="0"/>
              <a:t>G</a:t>
            </a:r>
            <a:r>
              <a:rPr kumimoji="1" lang="zh-CN" altLang="en-US" sz="2400" dirty="0"/>
              <a:t>：</a:t>
            </a:r>
            <a:r>
              <a:rPr kumimoji="1" lang="zh-CN" altLang="en-US" sz="2400" dirty="0">
                <a:latin typeface="幼圆" panose="02010509060101010101" pitchFamily="49" charset="-122"/>
              </a:rPr>
              <a:t>求解该规模问题的函数</a:t>
            </a:r>
            <a:endParaRPr kumimoji="1" lang="en-US" altLang="zh-CN" sz="2400" dirty="0">
              <a:latin typeface="幼圆" panose="02010509060101010101" pitchFamily="49" charset="-122"/>
            </a:endParaRPr>
          </a:p>
          <a:p>
            <a:r>
              <a:rPr kumimoji="1" lang="en-US" altLang="zh-CN" sz="2400" dirty="0"/>
              <a:t>DIVIDE</a:t>
            </a:r>
            <a:r>
              <a:rPr kumimoji="1" lang="zh-CN" altLang="en-US" sz="2400" dirty="0"/>
              <a:t>：</a:t>
            </a:r>
            <a:r>
              <a:rPr kumimoji="1" lang="zh-CN" altLang="en-US" sz="2400" dirty="0">
                <a:latin typeface="幼圆" panose="02010509060101010101" pitchFamily="49" charset="-122"/>
              </a:rPr>
              <a:t>分割函数</a:t>
            </a:r>
            <a:r>
              <a:rPr kumimoji="1" lang="en-US" altLang="zh-CN" sz="2400" dirty="0">
                <a:latin typeface="幼圆" panose="02010509060101010101" pitchFamily="49" charset="-122"/>
              </a:rPr>
              <a:t>, </a:t>
            </a:r>
            <a:r>
              <a:rPr kumimoji="1" lang="en-US" altLang="zh-CN" sz="2400" dirty="0" err="1">
                <a:solidFill>
                  <a:srgbClr val="000000"/>
                </a:solidFill>
                <a:sym typeface="Wingdings" panose="05000000000000000000" pitchFamily="2" charset="2"/>
              </a:rPr>
              <a:t>p≤m≤q</a:t>
            </a:r>
            <a:r>
              <a:rPr kumimoji="1" lang="zh-CN" altLang="en-US" sz="2400" dirty="0">
                <a:solidFill>
                  <a:srgbClr val="000000"/>
                </a:solidFill>
                <a:sym typeface="Wingdings" panose="05000000000000000000" pitchFamily="2" charset="2"/>
              </a:rPr>
              <a:t>，</a:t>
            </a:r>
            <a:r>
              <a:rPr kumimoji="1" lang="en-US" altLang="zh-CN" sz="2400" dirty="0">
                <a:solidFill>
                  <a:srgbClr val="000000"/>
                </a:solidFill>
                <a:latin typeface="幼圆" panose="02010509060101010101" pitchFamily="49" charset="-122"/>
                <a:sym typeface="Wingdings" panose="05000000000000000000" pitchFamily="2" charset="2"/>
              </a:rPr>
              <a:t> </a:t>
            </a:r>
            <a:r>
              <a:rPr kumimoji="1" lang="zh-CN" altLang="en-US" sz="2400" dirty="0">
                <a:latin typeface="幼圆" panose="02010509060101010101" pitchFamily="49" charset="-122"/>
              </a:rPr>
              <a:t>原问题被分为</a:t>
            </a:r>
            <a:r>
              <a:rPr kumimoji="1" lang="en-US" altLang="zh-CN" sz="2400" dirty="0"/>
              <a:t>A(</a:t>
            </a:r>
            <a:r>
              <a:rPr kumimoji="1" lang="en-US" altLang="zh-CN" sz="2400" dirty="0" err="1"/>
              <a:t>p:m</a:t>
            </a:r>
            <a:r>
              <a:rPr kumimoji="1" lang="en-US" altLang="zh-CN" sz="2400" dirty="0"/>
              <a:t>)</a:t>
            </a:r>
            <a:r>
              <a:rPr kumimoji="1" lang="zh-CN" altLang="en-US" sz="2400" dirty="0">
                <a:latin typeface="幼圆" panose="02010509060101010101" pitchFamily="49" charset="-122"/>
              </a:rPr>
              <a:t>和</a:t>
            </a:r>
            <a:r>
              <a:rPr kumimoji="1" lang="en-US" altLang="zh-CN" sz="2400" dirty="0"/>
              <a:t>A(m+1:q)</a:t>
            </a:r>
            <a:r>
              <a:rPr kumimoji="1" lang="zh-CN" altLang="en-US" sz="2400" dirty="0">
                <a:latin typeface="幼圆" panose="02010509060101010101" pitchFamily="49" charset="-122"/>
              </a:rPr>
              <a:t>两个子问题</a:t>
            </a:r>
            <a:endParaRPr kumimoji="1" lang="en-US" altLang="zh-CN" sz="2400" dirty="0">
              <a:latin typeface="幼圆" panose="02010509060101010101" pitchFamily="49" charset="-122"/>
            </a:endParaRPr>
          </a:p>
          <a:p>
            <a:r>
              <a:rPr kumimoji="1" lang="en-US" altLang="zh-CN" sz="2400" dirty="0"/>
              <a:t>COMBINE</a:t>
            </a:r>
            <a:r>
              <a:rPr kumimoji="1" lang="zh-CN" altLang="en-US" sz="2400" dirty="0"/>
              <a:t>：</a:t>
            </a:r>
            <a:r>
              <a:rPr kumimoji="1" lang="zh-CN" altLang="en-US" sz="2400" dirty="0">
                <a:latin typeface="幼圆" panose="02010509060101010101" pitchFamily="49" charset="-122"/>
              </a:rPr>
              <a:t>合并函数，将两个子问题的解合并为原问题的解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5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1424" y="1556792"/>
            <a:ext cx="4876810" cy="420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procedure DANDC(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p,q</a:t>
            </a:r>
            <a:r>
              <a:rPr kumimoji="1" lang="en-US" altLang="zh-CN" sz="2400" b="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global  n, A(1:n); integer  m, p, q;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//1≤p≤q≤n//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if  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SMALL</a:t>
            </a:r>
            <a:r>
              <a:rPr kumimoji="1" lang="en-US" altLang="zh-CN" sz="2400" b="0" dirty="0">
                <a:cs typeface="Arial" panose="020B0604020202020204" pitchFamily="34" charset="0"/>
              </a:rPr>
              <a:t>(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p,q</a:t>
            </a:r>
            <a:r>
              <a:rPr kumimoji="1" lang="en-US" altLang="zh-CN" sz="2400" b="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then  return(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r>
              <a:rPr kumimoji="1" lang="en-US" altLang="zh-CN" sz="2400" b="0" dirty="0">
                <a:cs typeface="Arial" panose="020B0604020202020204" pitchFamily="34" charset="0"/>
              </a:rPr>
              <a:t>(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p,q</a:t>
            </a:r>
            <a:r>
              <a:rPr kumimoji="1" lang="en-US" altLang="zh-CN" sz="2400" b="0" dirty="0">
                <a:cs typeface="Arial" panose="020B0604020202020204" pitchFamily="34" charset="0"/>
              </a:rPr>
              <a:t>))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else  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m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kumimoji="1" lang="en-US" altLang="zh-CN" sz="2400" b="0" dirty="0" err="1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DIVIDE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p,q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return(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COMBINE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( DANDC(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p,m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), DANDC(m+1,q)))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endif</a:t>
            </a:r>
            <a:endParaRPr kumimoji="1" lang="en-US" altLang="zh-CN" sz="2400" b="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end DANDC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3241080" y="5157972"/>
            <a:ext cx="2744491" cy="917714"/>
          </a:xfrm>
          <a:prstGeom prst="wedgeRoundRectCallout">
            <a:avLst>
              <a:gd name="adj1" fmla="val -33317"/>
              <a:gd name="adj2" fmla="val -69583"/>
              <a:gd name="adj3" fmla="val 16667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原问题为</a:t>
            </a:r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A(1:n)</a:t>
            </a:r>
            <a:r>
              <a:rPr kumimoji="1" lang="en-US" altLang="zh-CN" sz="20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, </a:t>
            </a:r>
            <a:r>
              <a:rPr kumimoji="1" lang="zh-CN" altLang="en-US" sz="20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调用函数</a:t>
            </a:r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DANDC(1,n)</a:t>
            </a:r>
            <a:r>
              <a:rPr kumimoji="1" lang="zh-CN" altLang="en-US" sz="20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kumimoji="1" lang="en-US" altLang="zh-CN" sz="20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分治策略</a:t>
            </a:r>
            <a:r>
              <a:rPr lang="en-US" altLang="zh-CN" dirty="0"/>
              <a:t>DANDC</a:t>
            </a:r>
            <a:r>
              <a:rPr lang="zh-CN" altLang="en-US" dirty="0"/>
              <a:t>的计算时间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6394" y="1709742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假设所分成的两个子问题的输入规模大致相等，则</a:t>
            </a:r>
            <a:r>
              <a:rPr kumimoji="1" lang="en-US" altLang="zh-CN" dirty="0">
                <a:solidFill>
                  <a:srgbClr val="000000"/>
                </a:solidFill>
              </a:rPr>
              <a:t>DANDC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的计算时间可表示为：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dirty="0"/>
              <a:t> T(n) </a:t>
            </a:r>
            <a:r>
              <a:rPr kumimoji="1" lang="zh-CN" altLang="en-US" dirty="0">
                <a:latin typeface="Times New Roman" panose="02020603050405020304" pitchFamily="18" charset="0"/>
              </a:rPr>
              <a:t>是输入规模为</a:t>
            </a:r>
            <a:r>
              <a:rPr kumimoji="1" lang="en-US" altLang="zh-CN" dirty="0"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Times New Roman" panose="02020603050405020304" pitchFamily="18" charset="0"/>
              </a:rPr>
              <a:t>的分治策略的计算时间</a:t>
            </a:r>
          </a:p>
          <a:p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/>
              <a:t>g(n)</a:t>
            </a:r>
            <a:r>
              <a:rPr kumimoji="1" lang="zh-CN" altLang="en-US" dirty="0">
                <a:latin typeface="Times New Roman" panose="02020603050405020304" pitchFamily="18" charset="0"/>
              </a:rPr>
              <a:t>是对足够小的输入规模能直接计算出答案的时间</a:t>
            </a:r>
          </a:p>
          <a:p>
            <a:r>
              <a:rPr kumimoji="1" lang="zh-CN" altLang="en-US" dirty="0">
                <a:latin typeface="Times New Roman" panose="02020603050405020304" pitchFamily="18" charset="0"/>
              </a:rPr>
              <a:t> </a:t>
            </a:r>
            <a:r>
              <a:rPr kumimoji="1" lang="en-US" altLang="zh-CN" dirty="0"/>
              <a:t>f(n) </a:t>
            </a:r>
            <a:r>
              <a:rPr kumimoji="1" lang="zh-CN" altLang="en-US" dirty="0">
                <a:latin typeface="Times New Roman" panose="02020603050405020304" pitchFamily="18" charset="0"/>
              </a:rPr>
              <a:t>是</a:t>
            </a:r>
            <a:r>
              <a:rPr kumimoji="1" lang="en-US" altLang="zh-CN" sz="2800" b="0" dirty="0">
                <a:cs typeface="Arial" panose="020B0604020202020204" pitchFamily="34" charset="0"/>
                <a:sym typeface="Wingdings" panose="05000000000000000000" pitchFamily="2" charset="2"/>
              </a:rPr>
              <a:t>DIVIDE</a:t>
            </a:r>
            <a:r>
              <a:rPr kumimoji="1" lang="zh-CN" altLang="en-US" sz="2800" b="0" dirty="0">
                <a:cs typeface="Arial" panose="020B0604020202020204" pitchFamily="34" charset="0"/>
                <a:sym typeface="Wingdings" panose="05000000000000000000" pitchFamily="2" charset="2"/>
              </a:rPr>
              <a:t>与</a:t>
            </a:r>
            <a:r>
              <a:rPr kumimoji="1" lang="en-US" altLang="zh-CN" dirty="0"/>
              <a:t>COMBINE</a:t>
            </a:r>
            <a:r>
              <a:rPr kumimoji="1" lang="zh-CN" altLang="en-US" dirty="0">
                <a:latin typeface="Times New Roman" panose="02020603050405020304" pitchFamily="18" charset="0"/>
              </a:rPr>
              <a:t>函数的计算时间，即问题分解与解合成的计算时间</a:t>
            </a:r>
          </a:p>
          <a:p>
            <a:endParaRPr kumimoji="1"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7</a:t>
            </a:fld>
            <a:endParaRPr lang="en-US" altLang="zh-CN"/>
          </a:p>
        </p:txBody>
      </p:sp>
      <p:grpSp>
        <p:nvGrpSpPr>
          <p:cNvPr id="5" name="Group 6"/>
          <p:cNvGrpSpPr/>
          <p:nvPr/>
        </p:nvGrpSpPr>
        <p:grpSpPr bwMode="auto">
          <a:xfrm>
            <a:off x="2711624" y="2841735"/>
            <a:ext cx="4597401" cy="969194"/>
            <a:chOff x="996" y="1616"/>
            <a:chExt cx="2896" cy="856"/>
          </a:xfrm>
        </p:grpSpPr>
        <p:sp>
          <p:nvSpPr>
            <p:cNvPr id="6" name="AutoShape 7"/>
            <p:cNvSpPr/>
            <p:nvPr/>
          </p:nvSpPr>
          <p:spPr bwMode="auto">
            <a:xfrm>
              <a:off x="1653" y="1745"/>
              <a:ext cx="74" cy="644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>
                <a:cs typeface="Arial" panose="020B0604020202020204" pitchFamily="34" charset="0"/>
              </a:endParaRP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1757" y="1616"/>
              <a:ext cx="2135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cs typeface="Arial" panose="020B0604020202020204" pitchFamily="34" charset="0"/>
                </a:rPr>
                <a:t>g(n)	              </a:t>
              </a:r>
              <a:r>
                <a:rPr kumimoji="1" lang="en-US" altLang="zh-CN" sz="2400" b="0" dirty="0">
                  <a:ea typeface="幼圆" panose="02010509060101010101" pitchFamily="49" charset="-122"/>
                  <a:cs typeface="Arial" panose="020B0604020202020204" pitchFamily="34" charset="0"/>
                </a:rPr>
                <a:t>n</a:t>
              </a:r>
              <a:r>
                <a:rPr kumimoji="1"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足够小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1757" y="2097"/>
              <a:ext cx="1828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cs typeface="Arial" panose="020B0604020202020204" pitchFamily="34" charset="0"/>
                </a:rPr>
                <a:t>2T(n/2)+f(n)	   </a:t>
              </a:r>
              <a:r>
                <a:rPr kumimoji="1"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否则</a:t>
              </a: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996" y="1851"/>
              <a:ext cx="731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cs typeface="Arial" panose="020B0604020202020204" pitchFamily="34" charset="0"/>
                </a:rPr>
                <a:t>T(n)=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31913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子问题的个数</a:t>
            </a:r>
            <a:r>
              <a:rPr lang="en-US" altLang="zh-CN" sz="4000" dirty="0"/>
              <a:t>K?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772816"/>
            <a:ext cx="10225136" cy="38862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800" dirty="0"/>
              <a:t>显然有</a:t>
            </a:r>
            <a:r>
              <a:rPr lang="en-US" altLang="zh-CN" sz="2800" dirty="0"/>
              <a:t>K&gt;1, K</a:t>
            </a:r>
            <a:r>
              <a:rPr lang="zh-CN" altLang="en-US" sz="2800" dirty="0"/>
              <a:t>越大越好么</a:t>
            </a:r>
            <a:r>
              <a:rPr lang="en-US" altLang="zh-CN" sz="2800" dirty="0"/>
              <a:t>?</a:t>
            </a:r>
          </a:p>
          <a:p>
            <a:pPr eaLnBrk="1" hangingPunct="1"/>
            <a:r>
              <a:rPr lang="zh-CN" altLang="en-US" sz="2800" dirty="0"/>
              <a:t>蚯蚓的故事</a:t>
            </a:r>
          </a:p>
          <a:p>
            <a:pPr lvl="1" eaLnBrk="1" hangingPunct="1"/>
            <a:r>
              <a:rPr lang="zh-CN" altLang="en-US" sz="2400" dirty="0"/>
              <a:t>蚯蚓一家这天很无聊，小蚯蚓想了想，把自己切成两段，打羽毛球去了。蚯蚓妈妈觉得这方法法不错，就把自己切成四段，打麻将去了。没过一会，蚯蚓爸爸就把自己切成了肉末。蚯蚓妈妈哭着说：</a:t>
            </a:r>
            <a:r>
              <a:rPr lang="en-US" altLang="zh-CN" sz="2400" dirty="0"/>
              <a:t>"</a:t>
            </a:r>
            <a:r>
              <a:rPr lang="zh-CN" altLang="en-US" sz="2400" dirty="0"/>
              <a:t>你怎么那么傻，切得那么碎会死的。</a:t>
            </a:r>
            <a:r>
              <a:rPr lang="en-US" altLang="zh-CN" sz="2400" dirty="0"/>
              <a:t>"</a:t>
            </a:r>
            <a:r>
              <a:rPr lang="zh-CN" altLang="en-US" sz="2400" dirty="0"/>
              <a:t>蚯蚓爸爸弱弱地说：</a:t>
            </a:r>
            <a:r>
              <a:rPr lang="en-US" altLang="zh-CN" sz="2400" dirty="0"/>
              <a:t>"……</a:t>
            </a:r>
            <a:r>
              <a:rPr lang="zh-CN" altLang="en-US" sz="2400" dirty="0"/>
              <a:t>突然想踢足球</a:t>
            </a:r>
            <a:r>
              <a:rPr lang="en-US" altLang="zh-CN" sz="2400" dirty="0"/>
              <a:t>……"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5" name="内容占位符 2"/>
          <p:cNvSpPr txBox="1"/>
          <p:nvPr/>
        </p:nvSpPr>
        <p:spPr>
          <a:xfrm>
            <a:off x="1469486" y="4998013"/>
            <a:ext cx="9109012" cy="661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800" dirty="0">
                <a:solidFill>
                  <a:srgbClr val="FF0000"/>
                </a:solidFill>
              </a:rPr>
              <a:t>思考：子问题的规模相近或不相近是否会影响算法效率？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3827748" y="4914921"/>
            <a:ext cx="4536504" cy="5530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5879976" y="1916832"/>
            <a:ext cx="2238203" cy="637719"/>
          </a:xfrm>
          <a:prstGeom prst="wedgeRoundRectCallout">
            <a:avLst>
              <a:gd name="adj1" fmla="val -45427"/>
              <a:gd name="adj2" fmla="val 73333"/>
              <a:gd name="adj3" fmla="val 16667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分与合的代价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 dirty="0"/>
              <a:t>4.2 </a:t>
            </a:r>
            <a:r>
              <a:rPr kumimoji="1" lang="zh-CN" altLang="en-US" dirty="0"/>
              <a:t>二分查找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668464"/>
            <a:ext cx="4752528" cy="3344712"/>
          </a:xfrm>
        </p:spPr>
        <p:txBody>
          <a:bodyPr>
            <a:normAutofit/>
          </a:bodyPr>
          <a:lstStyle/>
          <a:p>
            <a:pPr eaLnBrk="1" hangingPunct="1"/>
            <a:r>
              <a:rPr kumimoji="1" lang="zh-CN" altLang="en-US" sz="2800" dirty="0"/>
              <a:t>问题描述</a:t>
            </a:r>
            <a:endParaRPr kumimoji="1" lang="en-US" altLang="zh-CN" sz="2800" dirty="0"/>
          </a:p>
          <a:p>
            <a:pPr eaLnBrk="1" hangingPunct="1"/>
            <a:r>
              <a:rPr kumimoji="1" lang="zh-CN" altLang="en-US"/>
              <a:t>分治法建模</a:t>
            </a:r>
            <a:endParaRPr kumimoji="1" lang="zh-CN" altLang="en-US" sz="2800" dirty="0"/>
          </a:p>
          <a:p>
            <a:pPr eaLnBrk="1" hangingPunct="1"/>
            <a:r>
              <a:rPr kumimoji="1" lang="zh-CN" altLang="en-US" sz="2800" dirty="0"/>
              <a:t>算法描述</a:t>
            </a:r>
            <a:endParaRPr kumimoji="1" lang="en-US" altLang="zh-CN" sz="2800" dirty="0"/>
          </a:p>
          <a:p>
            <a:r>
              <a:rPr kumimoji="1" lang="zh-CN" altLang="en-US" dirty="0"/>
              <a:t>算法正确性证明</a:t>
            </a:r>
          </a:p>
          <a:p>
            <a:pPr eaLnBrk="1" hangingPunct="1"/>
            <a:r>
              <a:rPr kumimoji="1" lang="zh-CN" altLang="en-US" dirty="0"/>
              <a:t>算法</a:t>
            </a:r>
            <a:r>
              <a:rPr kumimoji="1" lang="zh-CN" altLang="en-US" sz="2800" dirty="0"/>
              <a:t>实例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737176" y="1679577"/>
            <a:ext cx="5152443" cy="3045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算法的计算时间分析</a:t>
            </a:r>
          </a:p>
          <a:p>
            <a:r>
              <a:rPr kumimoji="1" lang="zh-CN" altLang="en-US" dirty="0"/>
              <a:t>二元比较树</a:t>
            </a:r>
          </a:p>
          <a:p>
            <a:r>
              <a:rPr lang="zh-CN" altLang="en-US" dirty="0"/>
              <a:t>算法</a:t>
            </a:r>
            <a:r>
              <a:rPr lang="en-US" altLang="zh-CN" dirty="0"/>
              <a:t>BINSRCH</a:t>
            </a:r>
            <a:r>
              <a:rPr lang="zh-CN" altLang="en-US" dirty="0"/>
              <a:t>的时间复杂度</a:t>
            </a:r>
            <a:endParaRPr lang="en-US" altLang="zh-CN" dirty="0"/>
          </a:p>
          <a:p>
            <a:r>
              <a:rPr lang="zh-CN" altLang="en-US" dirty="0"/>
              <a:t>算法</a:t>
            </a:r>
            <a:r>
              <a:rPr lang="en-US" altLang="zh-CN" dirty="0"/>
              <a:t>BINSRCH</a:t>
            </a:r>
            <a:r>
              <a:rPr lang="zh-CN" altLang="en-US" dirty="0"/>
              <a:t>的变型</a:t>
            </a:r>
            <a:endParaRPr lang="en-US" altLang="zh-CN" dirty="0"/>
          </a:p>
          <a:p>
            <a:r>
              <a:rPr kumimoji="1" lang="zh-CN" altLang="en-US" dirty="0"/>
              <a:t>以比较为基础查找的时间下界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2848" y="414312"/>
            <a:ext cx="10583752" cy="1371600"/>
          </a:xfrm>
        </p:spPr>
        <p:txBody>
          <a:bodyPr/>
          <a:lstStyle/>
          <a:p>
            <a:pPr eaLnBrk="1" hangingPunct="1"/>
            <a:r>
              <a:rPr kumimoji="1" lang="zh-CN" altLang="en-US" dirty="0">
                <a:solidFill>
                  <a:schemeClr val="tx2"/>
                </a:solidFill>
              </a:rPr>
              <a:t>问题描述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12848" y="1916832"/>
            <a:ext cx="10007687" cy="352616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kumimoji="1" lang="zh-CN" altLang="en-US" dirty="0">
                <a:solidFill>
                  <a:srgbClr val="C00000"/>
                </a:solidFill>
              </a:rPr>
              <a:t>查找问题</a:t>
            </a:r>
            <a:r>
              <a:rPr kumimoji="1" lang="zh-CN" altLang="en-US" dirty="0"/>
              <a:t>：已知一个</a:t>
            </a:r>
            <a:r>
              <a:rPr kumimoji="1" lang="zh-CN" altLang="en-US" b="1" dirty="0"/>
              <a:t>非降序</a:t>
            </a:r>
            <a:r>
              <a:rPr kumimoji="1" lang="zh-CN" altLang="en-US" dirty="0"/>
              <a:t>排列</a:t>
            </a:r>
            <a:r>
              <a:rPr kumimoji="1" lang="en-US" altLang="zh-CN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 , a</a:t>
            </a:r>
            <a:r>
              <a:rPr kumimoji="1" lang="en-US" altLang="zh-CN" baseline="-25000" dirty="0"/>
              <a:t>n</a:t>
            </a:r>
            <a:r>
              <a:rPr kumimoji="1" lang="en-US" altLang="zh-CN" dirty="0"/>
              <a:t>, </a:t>
            </a:r>
            <a:r>
              <a:rPr kumimoji="1" lang="zh-CN" altLang="en-US" dirty="0"/>
              <a:t>判定给定元素</a:t>
            </a:r>
            <a:r>
              <a:rPr kumimoji="1" lang="en-US" altLang="zh-CN" dirty="0"/>
              <a:t>x</a:t>
            </a:r>
            <a:r>
              <a:rPr kumimoji="1" lang="zh-CN" altLang="en-US" dirty="0"/>
              <a:t>是否在其中。若是</a:t>
            </a:r>
            <a:r>
              <a:rPr kumimoji="1" lang="en-US" altLang="zh-CN" dirty="0"/>
              <a:t>, </a:t>
            </a:r>
            <a:r>
              <a:rPr kumimoji="1" lang="zh-CN" altLang="en-US" dirty="0"/>
              <a:t>则找出</a:t>
            </a:r>
            <a:r>
              <a:rPr kumimoji="1" lang="en-US" altLang="zh-CN" dirty="0"/>
              <a:t>x</a:t>
            </a:r>
            <a:r>
              <a:rPr kumimoji="1" lang="zh-CN" altLang="en-US" dirty="0"/>
              <a:t>位置，并将下标赋给变量</a:t>
            </a:r>
            <a:r>
              <a:rPr kumimoji="1" lang="en-US" altLang="zh-CN" dirty="0"/>
              <a:t>j</a:t>
            </a:r>
            <a:r>
              <a:rPr kumimoji="1" lang="zh-CN" altLang="en-US" dirty="0"/>
              <a:t>；否则，</a:t>
            </a:r>
            <a:r>
              <a:rPr kumimoji="1" lang="en-US" altLang="zh-CN" dirty="0"/>
              <a:t>j</a:t>
            </a:r>
            <a:r>
              <a:rPr kumimoji="1" lang="zh-CN" altLang="en-US" dirty="0"/>
              <a:t>置成</a:t>
            </a:r>
            <a:r>
              <a:rPr kumimoji="1" lang="en-US" altLang="zh-CN" dirty="0"/>
              <a:t>0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eaLnBrk="1" hangingPunct="1"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12776"/>
            <a:ext cx="9650288" cy="47641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将查找问题表示为：</a:t>
            </a:r>
            <a:r>
              <a:rPr kumimoji="1" lang="en-US" altLang="zh-CN" dirty="0"/>
              <a:t>P=(n, 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… , a</a:t>
            </a:r>
            <a:r>
              <a:rPr kumimoji="1" lang="en-US" altLang="zh-CN" baseline="-25000" dirty="0"/>
              <a:t>n</a:t>
            </a:r>
            <a:r>
              <a:rPr kumimoji="1" lang="en-US" altLang="zh-CN" dirty="0"/>
              <a:t>, x)</a:t>
            </a:r>
          </a:p>
          <a:p>
            <a:pPr lvl="1">
              <a:lnSpc>
                <a:spcPct val="120000"/>
              </a:lnSpc>
            </a:pPr>
            <a:r>
              <a:rPr kumimoji="1" lang="zh-CN" altLang="en-US" b="1" dirty="0">
                <a:solidFill>
                  <a:srgbClr val="C00000"/>
                </a:solidFill>
              </a:rPr>
              <a:t>分</a:t>
            </a:r>
            <a:r>
              <a:rPr kumimoji="1" lang="zh-CN" altLang="en-US" dirty="0"/>
              <a:t>：选取一个下标</a:t>
            </a:r>
            <a:r>
              <a:rPr kumimoji="1" lang="en-US" altLang="zh-CN" dirty="0">
                <a:solidFill>
                  <a:srgbClr val="FF0000"/>
                </a:solidFill>
              </a:rPr>
              <a:t>k</a:t>
            </a:r>
            <a:r>
              <a:rPr kumimoji="1" lang="zh-CN" altLang="en-US" dirty="0"/>
              <a:t>，可得到三个子问题</a:t>
            </a:r>
            <a:endParaRPr kumimoji="1" lang="en-US" altLang="zh-CN" dirty="0"/>
          </a:p>
          <a:p>
            <a:pPr lvl="2">
              <a:lnSpc>
                <a:spcPct val="120000"/>
              </a:lnSpc>
            </a:pPr>
            <a:r>
              <a:rPr kumimoji="1" lang="en-US" altLang="zh-CN" dirty="0"/>
              <a:t>P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=(k-1, 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… , a</a:t>
            </a:r>
            <a:r>
              <a:rPr kumimoji="1" lang="en-US" altLang="zh-CN" baseline="-25000" dirty="0"/>
              <a:t>k-1</a:t>
            </a:r>
            <a:r>
              <a:rPr kumimoji="1" lang="en-US" altLang="zh-CN" dirty="0"/>
              <a:t>, x)</a:t>
            </a:r>
          </a:p>
          <a:p>
            <a:pPr lvl="2">
              <a:lnSpc>
                <a:spcPct val="120000"/>
              </a:lnSpc>
            </a:pPr>
            <a:r>
              <a:rPr kumimoji="1" lang="en-US" altLang="zh-CN" dirty="0"/>
              <a:t>P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=(1, 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k</a:t>
            </a:r>
            <a:r>
              <a:rPr kumimoji="1" lang="en-US" altLang="zh-CN" dirty="0"/>
              <a:t>, x)</a:t>
            </a:r>
          </a:p>
          <a:p>
            <a:pPr lvl="2">
              <a:lnSpc>
                <a:spcPct val="120000"/>
              </a:lnSpc>
            </a:pPr>
            <a:r>
              <a:rPr kumimoji="1" lang="en-US" altLang="zh-CN" dirty="0"/>
              <a:t>P</a:t>
            </a:r>
            <a:r>
              <a:rPr kumimoji="1" lang="en-US" altLang="zh-CN" baseline="-25000" dirty="0"/>
              <a:t>3</a:t>
            </a:r>
            <a:r>
              <a:rPr kumimoji="1" lang="en-US" altLang="zh-CN" dirty="0"/>
              <a:t>=(n-k, a</a:t>
            </a:r>
            <a:r>
              <a:rPr kumimoji="1" lang="en-US" altLang="zh-CN" baseline="-25000" dirty="0"/>
              <a:t>k+1</a:t>
            </a:r>
            <a:r>
              <a:rPr kumimoji="1" lang="en-US" altLang="zh-CN" dirty="0"/>
              <a:t>, … , a</a:t>
            </a:r>
            <a:r>
              <a:rPr kumimoji="1" lang="en-US" altLang="zh-CN" baseline="-25000" dirty="0"/>
              <a:t>n</a:t>
            </a:r>
            <a:r>
              <a:rPr kumimoji="1" lang="en-US" altLang="zh-CN" dirty="0"/>
              <a:t>, x)</a:t>
            </a:r>
          </a:p>
          <a:p>
            <a:pPr lvl="1">
              <a:lnSpc>
                <a:spcPct val="120000"/>
              </a:lnSpc>
            </a:pPr>
            <a:r>
              <a:rPr kumimoji="1" lang="zh-CN" altLang="en-US" dirty="0">
                <a:solidFill>
                  <a:srgbClr val="C00000"/>
                </a:solidFill>
              </a:rPr>
              <a:t>治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lvl="2">
              <a:lnSpc>
                <a:spcPct val="120000"/>
              </a:lnSpc>
            </a:pPr>
            <a:r>
              <a:rPr kumimoji="1" lang="zh-CN" altLang="en-US" dirty="0"/>
              <a:t>若</a:t>
            </a:r>
            <a:r>
              <a:rPr kumimoji="1" lang="en-US" altLang="zh-CN" dirty="0"/>
              <a:t>x = 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k</a:t>
            </a:r>
            <a:r>
              <a:rPr kumimoji="1" lang="zh-CN" altLang="en-US" dirty="0"/>
              <a:t>，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j</a:t>
            </a:r>
            <a:r>
              <a:rPr kumimoji="1" lang="en-US" altLang="zh-CN" dirty="0" err="1"/>
              <a:t>k</a:t>
            </a:r>
            <a:r>
              <a:rPr kumimoji="1" lang="zh-CN" altLang="en-US" dirty="0"/>
              <a:t>，算法结束</a:t>
            </a:r>
            <a:endParaRPr kumimoji="1" lang="en-US" altLang="zh-CN" dirty="0"/>
          </a:p>
          <a:p>
            <a:pPr lvl="2">
              <a:lnSpc>
                <a:spcPct val="120000"/>
              </a:lnSpc>
            </a:pPr>
            <a:r>
              <a:rPr kumimoji="1" lang="zh-CN" altLang="en-US" dirty="0"/>
              <a:t>若</a:t>
            </a:r>
            <a:r>
              <a:rPr kumimoji="1" lang="en-US" altLang="zh-CN" dirty="0"/>
              <a:t>x &lt;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k</a:t>
            </a:r>
            <a:r>
              <a:rPr kumimoji="1" lang="zh-CN" altLang="en-US" dirty="0"/>
              <a:t>，在子问题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1</a:t>
            </a:r>
            <a:r>
              <a:rPr kumimoji="1" lang="zh-CN" altLang="en-US" dirty="0"/>
              <a:t>中求解</a:t>
            </a:r>
            <a:endParaRPr kumimoji="1" lang="en-US" altLang="zh-CN" dirty="0"/>
          </a:p>
          <a:p>
            <a:pPr lvl="2">
              <a:lnSpc>
                <a:spcPct val="120000"/>
              </a:lnSpc>
            </a:pPr>
            <a:r>
              <a:rPr kumimoji="1" lang="zh-CN" altLang="en-US" dirty="0"/>
              <a:t>若</a:t>
            </a:r>
            <a:r>
              <a:rPr kumimoji="1" lang="en-US" altLang="zh-CN" dirty="0"/>
              <a:t>x &gt;</a:t>
            </a:r>
            <a:r>
              <a:rPr kumimoji="1" lang="en-US" altLang="zh-CN" dirty="0" err="1"/>
              <a:t>a</a:t>
            </a:r>
            <a:r>
              <a:rPr kumimoji="1" lang="en-US" altLang="zh-CN" baseline="-25000" dirty="0" err="1"/>
              <a:t>k</a:t>
            </a:r>
            <a:r>
              <a:rPr kumimoji="1" lang="zh-CN" altLang="en-US" dirty="0"/>
              <a:t>，在子问题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3</a:t>
            </a:r>
            <a:r>
              <a:rPr kumimoji="1" lang="zh-CN" altLang="en-US" dirty="0"/>
              <a:t>中求解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b="1" dirty="0">
                <a:solidFill>
                  <a:srgbClr val="C00000"/>
                </a:solidFill>
              </a:rPr>
              <a:t>合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lvl="2">
              <a:lnSpc>
                <a:spcPct val="120000"/>
              </a:lnSpc>
            </a:pPr>
            <a:r>
              <a:rPr kumimoji="1" lang="zh-CN" altLang="en-US" dirty="0">
                <a:sym typeface="Wingdings" panose="05000000000000000000" pitchFamily="2" charset="2"/>
              </a:rPr>
              <a:t>当前子问题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的解就是</a:t>
            </a:r>
            <a:r>
              <a:rPr kumimoji="1" lang="en-US" altLang="zh-CN" dirty="0"/>
              <a:t>P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的解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5" name="内容占位符 2"/>
          <p:cNvSpPr txBox="1"/>
          <p:nvPr/>
        </p:nvSpPr>
        <p:spPr>
          <a:xfrm>
            <a:off x="6168008" y="4149080"/>
            <a:ext cx="4392488" cy="18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</a:t>
            </a:r>
            <a:r>
              <a:rPr kumimoji="1" lang="en-US" altLang="zh-CN" sz="2400" dirty="0">
                <a:solidFill>
                  <a:srgbClr val="FF0000"/>
                </a:solidFill>
              </a:rPr>
              <a:t>1</a:t>
            </a:r>
            <a:r>
              <a:rPr kumimoji="1" lang="zh-CN" altLang="en-US" sz="2400" dirty="0">
                <a:solidFill>
                  <a:srgbClr val="FF0000"/>
                </a:solidFill>
              </a:rPr>
              <a:t>：</a:t>
            </a:r>
            <a:r>
              <a:rPr kumimoji="1" lang="en-US" altLang="zh-CN" sz="2400" dirty="0">
                <a:solidFill>
                  <a:srgbClr val="FF0000"/>
                </a:solidFill>
              </a:rPr>
              <a:t>k=</a:t>
            </a:r>
            <a:r>
              <a:rPr kumimoji="1" lang="zh-CN" altLang="en-US" sz="2400" dirty="0">
                <a:solidFill>
                  <a:srgbClr val="FF0000"/>
                </a:solidFill>
              </a:rPr>
              <a:t>？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</a:t>
            </a:r>
            <a:r>
              <a:rPr kumimoji="1" lang="en-US" altLang="zh-CN" sz="2400" dirty="0">
                <a:solidFill>
                  <a:srgbClr val="FF0000"/>
                </a:solidFill>
              </a:rPr>
              <a:t>2</a:t>
            </a:r>
            <a:r>
              <a:rPr kumimoji="1" lang="zh-CN" altLang="en-US" sz="2400" dirty="0">
                <a:solidFill>
                  <a:srgbClr val="FF0000"/>
                </a:solidFill>
              </a:rPr>
              <a:t>：合并策略是否正确？即为什么可以忽略掉其他子问题？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9582" y="7665"/>
            <a:ext cx="10515600" cy="1325563"/>
          </a:xfrm>
        </p:spPr>
        <p:txBody>
          <a:bodyPr/>
          <a:lstStyle/>
          <a:p>
            <a:r>
              <a:rPr lang="zh-CN" altLang="en-US" dirty="0"/>
              <a:t>算法描述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046424"/>
            <a:ext cx="6984776" cy="559673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olidFill>
                  <a:srgbClr val="000000"/>
                </a:solidFill>
              </a:rPr>
              <a:t>procedure BINSRCH(A, n, x, j)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olidFill>
                  <a:srgbClr val="000000"/>
                </a:solidFill>
              </a:rPr>
              <a:t>  integer  low, high, mid, j, n;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olidFill>
                  <a:srgbClr val="000000"/>
                </a:solidFill>
              </a:rPr>
              <a:t>  low</a:t>
            </a:r>
            <a:r>
              <a:rPr kumimoji="1" lang="en-US" altLang="zh-CN" sz="2400" dirty="0">
                <a:solidFill>
                  <a:srgbClr val="000000"/>
                </a:solidFill>
                <a:sym typeface="Wingdings" panose="05000000000000000000" pitchFamily="2" charset="2"/>
              </a:rPr>
              <a:t>1;    </a:t>
            </a:r>
            <a:r>
              <a:rPr kumimoji="1" lang="en-US" altLang="zh-CN" sz="2400" dirty="0" err="1">
                <a:solidFill>
                  <a:srgbClr val="000000"/>
                </a:solidFill>
                <a:sym typeface="Wingdings" panose="05000000000000000000" pitchFamily="2" charset="2"/>
              </a:rPr>
              <a:t>highn</a:t>
            </a:r>
            <a:endParaRPr kumimoji="1" lang="en-US" altLang="zh-CN" sz="24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olidFill>
                  <a:srgbClr val="000000"/>
                </a:solidFill>
                <a:sym typeface="Wingdings" panose="05000000000000000000" pitchFamily="2" charset="2"/>
              </a:rPr>
              <a:t>  while </a:t>
            </a:r>
            <a:r>
              <a:rPr kumimoji="1" lang="en-US" altLang="zh-CN" sz="2400" dirty="0" err="1">
                <a:solidFill>
                  <a:srgbClr val="000000"/>
                </a:solidFill>
                <a:sym typeface="Wingdings" panose="05000000000000000000" pitchFamily="2" charset="2"/>
              </a:rPr>
              <a:t>low≤high</a:t>
            </a:r>
            <a:r>
              <a:rPr kumimoji="1" lang="en-US" altLang="zh-CN" sz="2400" dirty="0">
                <a:solidFill>
                  <a:srgbClr val="000000"/>
                </a:solidFill>
                <a:sym typeface="Wingdings" panose="05000000000000000000" pitchFamily="2" charset="2"/>
              </a:rPr>
              <a:t> do 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olidFill>
                  <a:srgbClr val="000000"/>
                </a:solidFill>
                <a:sym typeface="Wingdings" panose="05000000000000000000" pitchFamily="2" charset="2"/>
              </a:rPr>
              <a:t>           </a:t>
            </a:r>
            <a:r>
              <a:rPr kumimoji="1" lang="en-US" altLang="zh-CN" sz="2400" dirty="0">
                <a:sym typeface="Wingdings" panose="05000000000000000000" pitchFamily="2" charset="2"/>
              </a:rPr>
              <a:t>mid</a:t>
            </a:r>
            <a:r>
              <a:rPr kumimoji="1" lang="en-US" altLang="zh-CN" sz="2400" dirty="0"/>
              <a:t>←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⌊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low+high</a:t>
            </a:r>
            <a:r>
              <a:rPr lang="en-US" altLang="zh-CN" sz="2400" dirty="0">
                <a:solidFill>
                  <a:srgbClr val="FF0000"/>
                </a:solidFill>
              </a:rPr>
              <a:t>)/2</a:t>
            </a:r>
            <a:r>
              <a:rPr lang="zh-CN" altLang="en-US" sz="2400" dirty="0">
                <a:solidFill>
                  <a:srgbClr val="FF0000"/>
                </a:solidFill>
              </a:rPr>
              <a:t>⌋</a:t>
            </a:r>
            <a:r>
              <a:rPr kumimoji="1"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      </a:t>
            </a:r>
            <a:r>
              <a:rPr kumimoji="1" lang="en-US" altLang="zh-CN" sz="2400" dirty="0">
                <a:sym typeface="Wingdings" panose="05000000000000000000" pitchFamily="2" charset="2"/>
              </a:rPr>
              <a:t>//</a:t>
            </a:r>
            <a:r>
              <a:rPr kumimoji="1" lang="zh-CN" altLang="en-US" sz="2400" dirty="0">
                <a:sym typeface="Wingdings" panose="05000000000000000000" pitchFamily="2" charset="2"/>
              </a:rPr>
              <a:t>取中间值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zh-CN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        </a:t>
            </a:r>
            <a:r>
              <a:rPr kumimoji="1" lang="en-US" altLang="zh-CN" sz="2400" dirty="0">
                <a:sym typeface="Wingdings" panose="05000000000000000000" pitchFamily="2" charset="2"/>
              </a:rPr>
              <a:t>case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ym typeface="Wingdings" panose="05000000000000000000" pitchFamily="2" charset="2"/>
              </a:rPr>
              <a:t>           :x&lt;A(mid):  highmid-1 //</a:t>
            </a:r>
            <a:r>
              <a:rPr kumimoji="1" lang="zh-CN" altLang="en-US" sz="2400" dirty="0">
                <a:sym typeface="Wingdings" panose="05000000000000000000" pitchFamily="2" charset="2"/>
              </a:rPr>
              <a:t>前一半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zh-CN" altLang="en-US" sz="2400" dirty="0">
                <a:sym typeface="Wingdings" panose="05000000000000000000" pitchFamily="2" charset="2"/>
              </a:rPr>
              <a:t>           </a:t>
            </a:r>
            <a:r>
              <a:rPr kumimoji="1" lang="en-US" altLang="zh-CN" sz="2400" dirty="0">
                <a:sym typeface="Wingdings" panose="05000000000000000000" pitchFamily="2" charset="2"/>
              </a:rPr>
              <a:t>:x&gt;A(mid):  lowmid+1  //</a:t>
            </a:r>
            <a:r>
              <a:rPr kumimoji="1" lang="zh-CN" altLang="en-US" sz="2400" dirty="0">
                <a:sym typeface="Wingdings" panose="05000000000000000000" pitchFamily="2" charset="2"/>
              </a:rPr>
              <a:t>后一半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zh-CN" altLang="en-US" sz="2400" dirty="0">
                <a:sym typeface="Wingdings" panose="05000000000000000000" pitchFamily="2" charset="2"/>
              </a:rPr>
              <a:t>           </a:t>
            </a:r>
            <a:r>
              <a:rPr kumimoji="1" lang="en-US" altLang="zh-CN" sz="2400" dirty="0">
                <a:sym typeface="Wingdings" panose="05000000000000000000" pitchFamily="2" charset="2"/>
              </a:rPr>
              <a:t>:else:   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jmid</a:t>
            </a:r>
            <a:r>
              <a:rPr kumimoji="1" lang="en-US" altLang="zh-CN" sz="2400" dirty="0">
                <a:sym typeface="Wingdings" panose="05000000000000000000" pitchFamily="2" charset="2"/>
              </a:rPr>
              <a:t>;  return;    //</a:t>
            </a:r>
            <a:r>
              <a:rPr kumimoji="1" lang="zh-CN" altLang="en-US" sz="2400" dirty="0">
                <a:sym typeface="Wingdings" panose="05000000000000000000" pitchFamily="2" charset="2"/>
              </a:rPr>
              <a:t>查找成功结束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zh-CN" altLang="en-US" sz="2400" dirty="0">
                <a:sym typeface="Wingdings" panose="05000000000000000000" pitchFamily="2" charset="2"/>
              </a:rPr>
              <a:t>        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endcase</a:t>
            </a:r>
            <a:endParaRPr kumimoji="1" lang="en-US" altLang="zh-CN" sz="2400" dirty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olidFill>
                  <a:srgbClr val="000000"/>
                </a:solidFill>
                <a:sym typeface="Wingdings" panose="05000000000000000000" pitchFamily="2" charset="2"/>
              </a:rPr>
              <a:t>  repeat  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olidFill>
                  <a:srgbClr val="000000"/>
                </a:solidFill>
                <a:sym typeface="Wingdings" panose="05000000000000000000" pitchFamily="2" charset="2"/>
              </a:rPr>
              <a:t>  j0                                          </a:t>
            </a:r>
            <a:r>
              <a:rPr kumimoji="1" lang="en-US" altLang="zh-CN" sz="2400" dirty="0">
                <a:sym typeface="Wingdings" panose="05000000000000000000" pitchFamily="2" charset="2"/>
              </a:rPr>
              <a:t>//</a:t>
            </a:r>
            <a:r>
              <a:rPr kumimoji="1" lang="zh-CN" altLang="en-US" sz="2400" dirty="0">
                <a:sym typeface="Wingdings" panose="05000000000000000000" pitchFamily="2" charset="2"/>
              </a:rPr>
              <a:t>查找失败</a:t>
            </a:r>
          </a:p>
          <a:p>
            <a:pPr>
              <a:spcBef>
                <a:spcPts val="0"/>
              </a:spcBef>
              <a:buClr>
                <a:srgbClr val="A50021"/>
              </a:buClr>
              <a:buNone/>
            </a:pPr>
            <a:r>
              <a:rPr kumimoji="1" lang="en-US" altLang="zh-CN" sz="2400" dirty="0">
                <a:solidFill>
                  <a:srgbClr val="000000"/>
                </a:solidFill>
                <a:sym typeface="Wingdings" panose="05000000000000000000" pitchFamily="2" charset="2"/>
              </a:rPr>
              <a:t>end BINSRCH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947B3B6-C510-5AF3-87D3-D7229690D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60" y="247947"/>
            <a:ext cx="4367386" cy="3414502"/>
          </a:xfrm>
          <a:prstGeom prst="rect">
            <a:avLst/>
          </a:prstGeom>
          <a:ln w="12700">
            <a:solidFill>
              <a:srgbClr val="0000FF"/>
            </a:solidFill>
          </a:ln>
        </p:spPr>
      </p:pic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622" y="239313"/>
            <a:ext cx="10515600" cy="1325563"/>
          </a:xfrm>
        </p:spPr>
        <p:txBody>
          <a:bodyPr/>
          <a:lstStyle/>
          <a:p>
            <a:pPr eaLnBrk="1" hangingPunct="1"/>
            <a:r>
              <a:rPr kumimoji="1" lang="zh-CN" altLang="en-US" dirty="0">
                <a:solidFill>
                  <a:schemeClr val="tx2"/>
                </a:solidFill>
              </a:rPr>
              <a:t>算法正确性证明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65622" y="2505640"/>
            <a:ext cx="10730607" cy="398969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2200" dirty="0"/>
              <a:t>如果</a:t>
            </a:r>
            <a:r>
              <a:rPr kumimoji="1" lang="en-US" altLang="zh-CN" sz="2200" dirty="0"/>
              <a:t>n=0</a:t>
            </a:r>
            <a:r>
              <a:rPr kumimoji="1" lang="zh-CN" altLang="en-US" sz="2200" dirty="0"/>
              <a:t>，则不进入循环，</a:t>
            </a:r>
            <a:r>
              <a:rPr kumimoji="1" lang="en-US" altLang="zh-CN" sz="2200" dirty="0"/>
              <a:t>j=0</a:t>
            </a:r>
            <a:r>
              <a:rPr kumimoji="1" lang="zh-CN" altLang="en-US" sz="2200" dirty="0"/>
              <a:t>，算法终止。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200" dirty="0"/>
              <a:t>否则就会进入循环与数组</a:t>
            </a:r>
            <a:r>
              <a:rPr kumimoji="1" lang="en-US" altLang="zh-CN" sz="2200" dirty="0"/>
              <a:t>A</a:t>
            </a:r>
            <a:r>
              <a:rPr kumimoji="1" lang="zh-CN" altLang="en-US" sz="2200" dirty="0"/>
              <a:t>中的元素进行比较。</a:t>
            </a:r>
            <a:endParaRPr kumimoji="1" lang="en-US" altLang="zh-CN" sz="2200" dirty="0"/>
          </a:p>
          <a:p>
            <a:r>
              <a:rPr kumimoji="1" lang="zh-CN" altLang="en-US" sz="2200" dirty="0">
                <a:solidFill>
                  <a:srgbClr val="FF0000"/>
                </a:solidFill>
              </a:rPr>
              <a:t>成功</a:t>
            </a:r>
            <a:r>
              <a:rPr kumimoji="1" lang="zh-CN" altLang="en-US" sz="2200" dirty="0"/>
              <a:t>情况：</a:t>
            </a:r>
          </a:p>
          <a:p>
            <a:pPr lvl="1"/>
            <a:r>
              <a:rPr kumimoji="1" lang="zh-CN" altLang="en-US" sz="2200" dirty="0"/>
              <a:t>若</a:t>
            </a:r>
            <a:r>
              <a:rPr kumimoji="1" lang="en-US" altLang="zh-CN" sz="2200" dirty="0"/>
              <a:t>x=A[mid]</a:t>
            </a:r>
            <a:r>
              <a:rPr kumimoji="1" lang="zh-CN" altLang="en-US" sz="2200" dirty="0"/>
              <a:t>，则</a:t>
            </a:r>
            <a:r>
              <a:rPr kumimoji="1" lang="en-US" altLang="zh-CN" sz="2200" dirty="0"/>
              <a:t>j=mid</a:t>
            </a:r>
            <a:r>
              <a:rPr kumimoji="1" lang="zh-CN" altLang="en-US" sz="2200" dirty="0"/>
              <a:t>，查找成功，算法终止。</a:t>
            </a:r>
          </a:p>
          <a:p>
            <a:pPr lvl="1"/>
            <a:r>
              <a:rPr kumimoji="1" lang="zh-CN" altLang="en-US" sz="2200" dirty="0"/>
              <a:t>否则，若</a:t>
            </a:r>
            <a:r>
              <a:rPr kumimoji="1" lang="en-US" altLang="zh-CN" sz="2200" dirty="0"/>
              <a:t>x&lt;A(mid)</a:t>
            </a:r>
            <a:r>
              <a:rPr kumimoji="1" lang="zh-CN" altLang="en-US" sz="2200" dirty="0"/>
              <a:t>，则</a:t>
            </a:r>
            <a:r>
              <a:rPr kumimoji="1" lang="en-US" altLang="zh-CN" sz="2200" dirty="0"/>
              <a:t>x</a:t>
            </a:r>
            <a:r>
              <a:rPr kumimoji="1" lang="zh-CN" altLang="en-US" sz="2200" dirty="0"/>
              <a:t>根本不可能在</a:t>
            </a:r>
            <a:r>
              <a:rPr kumimoji="1" lang="en-US" altLang="zh-CN" sz="2200" dirty="0" err="1"/>
              <a:t>mid~high</a:t>
            </a:r>
            <a:r>
              <a:rPr kumimoji="1" lang="zh-CN" altLang="en-US" sz="2200" dirty="0"/>
              <a:t>，查找范围缩小到</a:t>
            </a:r>
            <a:r>
              <a:rPr kumimoji="1" lang="en-US" altLang="zh-CN" sz="2200" dirty="0"/>
              <a:t>low~mid-1</a:t>
            </a:r>
            <a:r>
              <a:rPr kumimoji="1" lang="zh-CN" altLang="en-US" sz="2200" dirty="0"/>
              <a:t>。反之，</a:t>
            </a:r>
            <a:r>
              <a:rPr kumimoji="1" lang="en-US" altLang="zh-CN" sz="2200" dirty="0"/>
              <a:t>x&gt;A(mid)</a:t>
            </a:r>
            <a:r>
              <a:rPr kumimoji="1" lang="zh-CN" altLang="en-US" sz="2200" dirty="0"/>
              <a:t>时亦然。</a:t>
            </a:r>
          </a:p>
          <a:p>
            <a:r>
              <a:rPr kumimoji="1" lang="zh-CN" altLang="en-US" sz="2200" dirty="0">
                <a:solidFill>
                  <a:srgbClr val="FF0000"/>
                </a:solidFill>
              </a:rPr>
              <a:t>不成功</a:t>
            </a:r>
            <a:r>
              <a:rPr kumimoji="1" lang="zh-CN" altLang="en-US" sz="2200" dirty="0"/>
              <a:t>情况：</a:t>
            </a:r>
          </a:p>
          <a:p>
            <a:pPr lvl="1"/>
            <a:r>
              <a:rPr kumimoji="1" lang="zh-CN" altLang="en-US" sz="2200" dirty="0"/>
              <a:t>因为</a:t>
            </a:r>
            <a:r>
              <a:rPr kumimoji="1" lang="en-US" altLang="zh-CN" sz="2200" dirty="0"/>
              <a:t>low</a:t>
            </a:r>
            <a:r>
              <a:rPr kumimoji="1" lang="zh-CN" altLang="en-US" sz="2200" dirty="0"/>
              <a:t>，</a:t>
            </a:r>
            <a:r>
              <a:rPr kumimoji="1" lang="en-US" altLang="zh-CN" sz="2200" dirty="0"/>
              <a:t>high</a:t>
            </a:r>
            <a:r>
              <a:rPr kumimoji="1" lang="zh-CN" altLang="en-US" sz="2200" dirty="0"/>
              <a:t>和</a:t>
            </a:r>
            <a:r>
              <a:rPr kumimoji="1" lang="en-US" altLang="zh-CN" sz="2200" dirty="0"/>
              <a:t>mid</a:t>
            </a:r>
            <a:r>
              <a:rPr kumimoji="1" lang="zh-CN" altLang="en-US" sz="2200" dirty="0"/>
              <a:t>都是整形变量，按算法所述方式缩小查找范围总可以在有限步内使</a:t>
            </a:r>
            <a:r>
              <a:rPr kumimoji="1" lang="en-US" altLang="zh-CN" sz="2200" dirty="0"/>
              <a:t>low&gt;high</a:t>
            </a:r>
            <a:r>
              <a:rPr kumimoji="1" lang="zh-CN" altLang="en-US" sz="2200" dirty="0"/>
              <a:t>，说明</a:t>
            </a:r>
            <a:r>
              <a:rPr kumimoji="1" lang="en-US" altLang="zh-CN" sz="2200" dirty="0"/>
              <a:t>x</a:t>
            </a:r>
            <a:r>
              <a:rPr kumimoji="1" lang="zh-CN" altLang="en-US" sz="2200" dirty="0"/>
              <a:t>不在</a:t>
            </a:r>
            <a:r>
              <a:rPr kumimoji="1" lang="en-US" altLang="zh-CN" sz="2200" dirty="0"/>
              <a:t>A</a:t>
            </a:r>
            <a:r>
              <a:rPr kumimoji="1" lang="zh-CN" altLang="en-US" sz="2200" dirty="0"/>
              <a:t>中，退出循环，</a:t>
            </a:r>
            <a:r>
              <a:rPr kumimoji="1" lang="en-US" altLang="zh-CN" sz="2200" dirty="0"/>
              <a:t>j=0</a:t>
            </a:r>
            <a:r>
              <a:rPr kumimoji="1" lang="zh-CN" altLang="en-US" sz="2200" dirty="0"/>
              <a:t>，算法终止。</a:t>
            </a:r>
          </a:p>
          <a:p>
            <a:pPr eaLnBrk="1" hangingPunct="1">
              <a:lnSpc>
                <a:spcPct val="110000"/>
              </a:lnSpc>
            </a:pPr>
            <a:endParaRPr kumimoji="1" lang="zh-CN" altLang="en-US" sz="2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33FF32-4BC8-8276-C57A-0F8194BE8CC4}"/>
              </a:ext>
            </a:extLst>
          </p:cNvPr>
          <p:cNvSpPr txBox="1"/>
          <p:nvPr/>
        </p:nvSpPr>
        <p:spPr>
          <a:xfrm>
            <a:off x="365622" y="1261003"/>
            <a:ext cx="6285791" cy="1050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200" b="0" dirty="0">
                <a:latin typeface="幼圆" panose="02010509060101010101" pitchFamily="49" charset="-122"/>
                <a:ea typeface="幼圆" panose="02010509060101010101" pitchFamily="49" charset="-122"/>
              </a:rPr>
              <a:t>仅给出非形式证明，思路：</a:t>
            </a:r>
            <a:endParaRPr lang="en-US" altLang="zh-CN" sz="22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200" b="0" dirty="0">
                <a:latin typeface="幼圆" panose="02010509060101010101" pitchFamily="49" charset="-122"/>
                <a:ea typeface="幼圆" panose="02010509060101010101" pitchFamily="49" charset="-122"/>
              </a:rPr>
              <a:t>检验到参数的每类取值，检验到算法的每个分支。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算法实例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14</a:t>
            </a:fld>
            <a:endParaRPr lang="en-US" altLang="zh-CN"/>
          </a:p>
        </p:txBody>
      </p:sp>
      <p:graphicFrame>
        <p:nvGraphicFramePr>
          <p:cNvPr id="5" name="Group 56"/>
          <p:cNvGraphicFramePr>
            <a:graphicFrameLocks noGrp="1"/>
          </p:cNvGraphicFramePr>
          <p:nvPr/>
        </p:nvGraphicFramePr>
        <p:xfrm>
          <a:off x="3092599" y="2059847"/>
          <a:ext cx="6618287" cy="5207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-15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-6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 Box 78"/>
          <p:cNvSpPr txBox="1">
            <a:spLocks noChangeArrowheads="1"/>
          </p:cNvSpPr>
          <p:nvPr/>
        </p:nvSpPr>
        <p:spPr bwMode="auto">
          <a:xfrm>
            <a:off x="3071664" y="1556792"/>
            <a:ext cx="6840760" cy="42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3DFF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B21BE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A[1]  A[2]   A[3]  A[4]   A[5]   A[6]  A[7]  A[8]   A[9]</a:t>
            </a:r>
          </a:p>
        </p:txBody>
      </p:sp>
      <p:grpSp>
        <p:nvGrpSpPr>
          <p:cNvPr id="7" name="Group 79"/>
          <p:cNvGrpSpPr/>
          <p:nvPr/>
        </p:nvGrpSpPr>
        <p:grpSpPr bwMode="auto">
          <a:xfrm>
            <a:off x="6161471" y="2632140"/>
            <a:ext cx="406400" cy="847725"/>
            <a:chOff x="2781" y="1744"/>
            <a:chExt cx="296" cy="762"/>
          </a:xfrm>
        </p:grpSpPr>
        <p:sp>
          <p:nvSpPr>
            <p:cNvPr id="8" name="Line 80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 dirty="0"/>
            </a:p>
          </p:txBody>
        </p:sp>
        <p:sp>
          <p:nvSpPr>
            <p:cNvPr id="9" name="Text Box 81"/>
            <p:cNvSpPr txBox="1">
              <a:spLocks noChangeArrowheads="1"/>
            </p:cNvSpPr>
            <p:nvPr/>
          </p:nvSpPr>
          <p:spPr bwMode="auto">
            <a:xfrm>
              <a:off x="2781" y="2093"/>
              <a:ext cx="296" cy="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</a:rPr>
                <a:t>①</a:t>
              </a:r>
            </a:p>
          </p:txBody>
        </p:sp>
      </p:grpSp>
      <p:sp>
        <p:nvSpPr>
          <p:cNvPr id="10" name="Rectangle 5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7408" y="2913098"/>
            <a:ext cx="216024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情况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x=9</a:t>
            </a:r>
            <a:endParaRPr kumimoji="1" lang="en-US" altLang="zh-CN" sz="2400" b="0" dirty="0">
              <a:solidFill>
                <a:srgbClr val="FF0000"/>
              </a:solidFill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Rectangle 5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4407" y="3790141"/>
            <a:ext cx="288032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情况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x=-15</a:t>
            </a:r>
            <a:endParaRPr kumimoji="1" lang="en-US" altLang="zh-CN" sz="2400" b="0" dirty="0">
              <a:solidFill>
                <a:srgbClr val="FF0000"/>
              </a:solidFill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3" name="Group 28"/>
          <p:cNvGrpSpPr/>
          <p:nvPr/>
        </p:nvGrpSpPr>
        <p:grpSpPr bwMode="auto">
          <a:xfrm>
            <a:off x="6193050" y="3479867"/>
            <a:ext cx="406400" cy="813238"/>
            <a:chOff x="2798" y="1744"/>
            <a:chExt cx="296" cy="731"/>
          </a:xfrm>
        </p:grpSpPr>
        <p:sp>
          <p:nvSpPr>
            <p:cNvPr id="14" name="Line 29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5" name="Text Box 30"/>
            <p:cNvSpPr txBox="1">
              <a:spLocks noChangeArrowheads="1"/>
            </p:cNvSpPr>
            <p:nvPr/>
          </p:nvSpPr>
          <p:spPr bwMode="auto">
            <a:xfrm>
              <a:off x="2798" y="2062"/>
              <a:ext cx="296" cy="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</a:rPr>
                <a:t>①</a:t>
              </a:r>
            </a:p>
          </p:txBody>
        </p:sp>
      </p:grpSp>
      <p:grpSp>
        <p:nvGrpSpPr>
          <p:cNvPr id="16" name="Group 31"/>
          <p:cNvGrpSpPr/>
          <p:nvPr/>
        </p:nvGrpSpPr>
        <p:grpSpPr bwMode="auto">
          <a:xfrm>
            <a:off x="4128070" y="3475927"/>
            <a:ext cx="406400" cy="849599"/>
            <a:chOff x="2808" y="1744"/>
            <a:chExt cx="296" cy="768"/>
          </a:xfrm>
        </p:grpSpPr>
        <p:sp>
          <p:nvSpPr>
            <p:cNvPr id="17" name="Line 32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②</a:t>
              </a:r>
            </a:p>
          </p:txBody>
        </p:sp>
      </p:grpSp>
      <p:grpSp>
        <p:nvGrpSpPr>
          <p:cNvPr id="19" name="Group 34"/>
          <p:cNvGrpSpPr/>
          <p:nvPr/>
        </p:nvGrpSpPr>
        <p:grpSpPr bwMode="auto">
          <a:xfrm>
            <a:off x="3291928" y="3475927"/>
            <a:ext cx="406400" cy="849601"/>
            <a:chOff x="2808" y="1744"/>
            <a:chExt cx="296" cy="768"/>
          </a:xfrm>
        </p:grpSpPr>
        <p:sp>
          <p:nvSpPr>
            <p:cNvPr id="20" name="Line 35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1" name="Text Box 36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</a:rPr>
                <a:t>③</a:t>
              </a:r>
            </a:p>
          </p:txBody>
        </p:sp>
      </p:grpSp>
      <p:sp>
        <p:nvSpPr>
          <p:cNvPr id="22" name="Rectangle 5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4407" y="4679998"/>
            <a:ext cx="288032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情况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3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x=101</a:t>
            </a:r>
            <a:endParaRPr kumimoji="1" lang="en-US" altLang="zh-CN" sz="2400" b="0" dirty="0">
              <a:solidFill>
                <a:srgbClr val="FF0000"/>
              </a:solidFill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3" name="Group 26"/>
          <p:cNvGrpSpPr/>
          <p:nvPr/>
        </p:nvGrpSpPr>
        <p:grpSpPr bwMode="auto">
          <a:xfrm>
            <a:off x="6228868" y="4343024"/>
            <a:ext cx="406400" cy="847725"/>
            <a:chOff x="2808" y="1744"/>
            <a:chExt cx="296" cy="762"/>
          </a:xfrm>
        </p:grpSpPr>
        <p:sp>
          <p:nvSpPr>
            <p:cNvPr id="24" name="Line 27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①</a:t>
              </a:r>
            </a:p>
          </p:txBody>
        </p:sp>
      </p:grpSp>
      <p:grpSp>
        <p:nvGrpSpPr>
          <p:cNvPr id="26" name="Group 51"/>
          <p:cNvGrpSpPr/>
          <p:nvPr/>
        </p:nvGrpSpPr>
        <p:grpSpPr bwMode="auto">
          <a:xfrm>
            <a:off x="7725880" y="4347787"/>
            <a:ext cx="406400" cy="849601"/>
            <a:chOff x="2808" y="1744"/>
            <a:chExt cx="296" cy="768"/>
          </a:xfrm>
        </p:grpSpPr>
        <p:sp>
          <p:nvSpPr>
            <p:cNvPr id="27" name="Line 52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8" name="Text Box 53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②</a:t>
              </a:r>
            </a:p>
          </p:txBody>
        </p:sp>
      </p:grpSp>
      <p:grpSp>
        <p:nvGrpSpPr>
          <p:cNvPr id="29" name="Group 54"/>
          <p:cNvGrpSpPr/>
          <p:nvPr/>
        </p:nvGrpSpPr>
        <p:grpSpPr bwMode="auto">
          <a:xfrm>
            <a:off x="8470418" y="4347787"/>
            <a:ext cx="406400" cy="849601"/>
            <a:chOff x="2808" y="1744"/>
            <a:chExt cx="296" cy="768"/>
          </a:xfrm>
        </p:grpSpPr>
        <p:sp>
          <p:nvSpPr>
            <p:cNvPr id="30" name="Line 55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" name="Text Box 56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③</a:t>
              </a:r>
            </a:p>
          </p:txBody>
        </p:sp>
      </p:grpSp>
      <p:grpSp>
        <p:nvGrpSpPr>
          <p:cNvPr id="32" name="Group 57"/>
          <p:cNvGrpSpPr/>
          <p:nvPr/>
        </p:nvGrpSpPr>
        <p:grpSpPr bwMode="auto">
          <a:xfrm>
            <a:off x="9202255" y="4347787"/>
            <a:ext cx="406400" cy="849601"/>
            <a:chOff x="2808" y="1744"/>
            <a:chExt cx="296" cy="768"/>
          </a:xfrm>
        </p:grpSpPr>
        <p:sp>
          <p:nvSpPr>
            <p:cNvPr id="33" name="Line 58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4" name="Text Box 59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B21BE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47" name="内容占位符 2"/>
          <p:cNvSpPr txBox="1"/>
          <p:nvPr/>
        </p:nvSpPr>
        <p:spPr>
          <a:xfrm>
            <a:off x="6945536" y="5332030"/>
            <a:ext cx="4264071" cy="12056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思考：对称的元素为什么比较次数不同？</a:t>
            </a:r>
          </a:p>
        </p:txBody>
      </p:sp>
      <p:sp>
        <p:nvSpPr>
          <p:cNvPr id="48" name="Rectangle 5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9416" y="5589240"/>
            <a:ext cx="1944216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情况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4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x=8</a:t>
            </a:r>
            <a:endParaRPr kumimoji="1" lang="en-US" altLang="zh-CN" sz="2400" b="0" dirty="0">
              <a:solidFill>
                <a:srgbClr val="FF0000"/>
              </a:solidFill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9" name="Group 26"/>
          <p:cNvGrpSpPr/>
          <p:nvPr/>
        </p:nvGrpSpPr>
        <p:grpSpPr bwMode="auto">
          <a:xfrm>
            <a:off x="6254651" y="5373216"/>
            <a:ext cx="406400" cy="847725"/>
            <a:chOff x="2808" y="1744"/>
            <a:chExt cx="296" cy="762"/>
          </a:xfrm>
        </p:grpSpPr>
        <p:sp>
          <p:nvSpPr>
            <p:cNvPr id="50" name="Line 27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</a:rPr>
                <a:t>①</a:t>
              </a:r>
            </a:p>
          </p:txBody>
        </p:sp>
      </p:grpSp>
      <p:grpSp>
        <p:nvGrpSpPr>
          <p:cNvPr id="52" name="Group 45"/>
          <p:cNvGrpSpPr/>
          <p:nvPr/>
        </p:nvGrpSpPr>
        <p:grpSpPr bwMode="auto">
          <a:xfrm>
            <a:off x="4079776" y="5377979"/>
            <a:ext cx="406400" cy="849601"/>
            <a:chOff x="2808" y="1744"/>
            <a:chExt cx="296" cy="768"/>
          </a:xfrm>
        </p:grpSpPr>
        <p:sp>
          <p:nvSpPr>
            <p:cNvPr id="53" name="Line 46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54" name="Text Box 47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9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②</a:t>
              </a:r>
            </a:p>
          </p:txBody>
        </p:sp>
      </p:grpSp>
      <p:grpSp>
        <p:nvGrpSpPr>
          <p:cNvPr id="55" name="Group 48"/>
          <p:cNvGrpSpPr/>
          <p:nvPr/>
        </p:nvGrpSpPr>
        <p:grpSpPr bwMode="auto">
          <a:xfrm>
            <a:off x="4825901" y="5377979"/>
            <a:ext cx="406400" cy="849601"/>
            <a:chOff x="2808" y="1744"/>
            <a:chExt cx="296" cy="768"/>
          </a:xfrm>
        </p:grpSpPr>
        <p:sp>
          <p:nvSpPr>
            <p:cNvPr id="56" name="Line 49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57" name="Text Box 50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9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③</a:t>
              </a:r>
            </a:p>
          </p:txBody>
        </p:sp>
      </p:grpSp>
      <p:grpSp>
        <p:nvGrpSpPr>
          <p:cNvPr id="58" name="Group 51"/>
          <p:cNvGrpSpPr/>
          <p:nvPr/>
        </p:nvGrpSpPr>
        <p:grpSpPr bwMode="auto">
          <a:xfrm>
            <a:off x="5545038" y="5377979"/>
            <a:ext cx="406400" cy="849601"/>
            <a:chOff x="2808" y="1744"/>
            <a:chExt cx="296" cy="768"/>
          </a:xfrm>
        </p:grpSpPr>
        <p:sp>
          <p:nvSpPr>
            <p:cNvPr id="59" name="Line 52"/>
            <p:cNvSpPr>
              <a:spLocks noChangeShapeType="1"/>
            </p:cNvSpPr>
            <p:nvPr/>
          </p:nvSpPr>
          <p:spPr bwMode="auto">
            <a:xfrm flipV="1">
              <a:off x="2962" y="1744"/>
              <a:ext cx="0" cy="387"/>
            </a:xfrm>
            <a:prstGeom prst="lin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60" name="Text Box 53"/>
            <p:cNvSpPr txBox="1">
              <a:spLocks noChangeArrowheads="1"/>
            </p:cNvSpPr>
            <p:nvPr/>
          </p:nvSpPr>
          <p:spPr bwMode="auto">
            <a:xfrm>
              <a:off x="2808" y="2093"/>
              <a:ext cx="296" cy="419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3DFF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latin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1" name="Rectangle 5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2254288" y="2123579"/>
            <a:ext cx="817376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n=9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算法的计算时间分析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6714"/>
            <a:ext cx="10082336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A</a:t>
            </a:r>
            <a:r>
              <a:rPr kumimoji="1" lang="zh-CN" altLang="en-US" sz="2400" dirty="0"/>
              <a:t>有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个元素，</a:t>
            </a:r>
            <a:r>
              <a:rPr kumimoji="1" lang="en-US" altLang="zh-CN" sz="2400" dirty="0"/>
              <a:t>x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中元素比较</a:t>
            </a:r>
            <a:endParaRPr kumimoji="1" lang="en-US" altLang="zh-CN" sz="2400" dirty="0"/>
          </a:p>
          <a:p>
            <a:pPr lvl="1"/>
            <a:r>
              <a:rPr kumimoji="1" lang="zh-CN" altLang="en-US" dirty="0">
                <a:solidFill>
                  <a:srgbClr val="000000"/>
                </a:solidFill>
              </a:rPr>
              <a:t>成功查找：</a:t>
            </a:r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</a:rPr>
              <a:t>种情况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lvl="1"/>
            <a:r>
              <a:rPr kumimoji="1" lang="zh-CN" altLang="en-US" dirty="0">
                <a:solidFill>
                  <a:srgbClr val="000000"/>
                </a:solidFill>
              </a:rPr>
              <a:t>不成功查找：</a:t>
            </a:r>
            <a:r>
              <a:rPr kumimoji="1" lang="en-US" altLang="zh-CN" dirty="0">
                <a:solidFill>
                  <a:srgbClr val="FF0000"/>
                </a:solidFill>
              </a:rPr>
              <a:t>n+1</a:t>
            </a:r>
            <a:r>
              <a:rPr kumimoji="1" lang="zh-CN" altLang="en-US" dirty="0">
                <a:solidFill>
                  <a:srgbClr val="000000"/>
                </a:solidFill>
              </a:rPr>
              <a:t>种情况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r>
              <a:rPr kumimoji="1" lang="zh-CN" altLang="en-US" sz="2400" dirty="0">
                <a:solidFill>
                  <a:srgbClr val="000000"/>
                </a:solidFill>
              </a:rPr>
              <a:t>分析算法时间复杂度</a:t>
            </a:r>
            <a:endParaRPr kumimoji="1" lang="en-US" altLang="zh-CN" sz="2400" dirty="0">
              <a:solidFill>
                <a:srgbClr val="000000"/>
              </a:solidFill>
            </a:endParaRPr>
          </a:p>
          <a:p>
            <a:pPr lvl="1"/>
            <a:r>
              <a:rPr kumimoji="1" lang="zh-CN" altLang="en-US" dirty="0"/>
              <a:t>成功查找：最好、平均、最坏情况下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不成功查找：最好、平均、最坏情况下</a:t>
            </a:r>
            <a:endParaRPr kumimoji="1" lang="en-US" altLang="zh-CN" dirty="0"/>
          </a:p>
          <a:p>
            <a:pPr lvl="1"/>
            <a:endParaRPr kumimoji="1" lang="en-US" altLang="zh-CN" dirty="0">
              <a:solidFill>
                <a:srgbClr val="000000"/>
              </a:solidFill>
            </a:endParaRPr>
          </a:p>
          <a:p>
            <a:endParaRPr kumimoji="1" lang="zh-CN" altLang="en-US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15</a:t>
            </a:fld>
            <a:endParaRPr lang="en-US" altLang="zh-CN" dirty="0"/>
          </a:p>
        </p:txBody>
      </p:sp>
      <p:sp>
        <p:nvSpPr>
          <p:cNvPr id="6" name="内容占位符 2"/>
          <p:cNvSpPr txBox="1"/>
          <p:nvPr/>
        </p:nvSpPr>
        <p:spPr>
          <a:xfrm>
            <a:off x="3719736" y="4717933"/>
            <a:ext cx="4752528" cy="569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思考：算法的基本运算是什么？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1817762" y="5264263"/>
            <a:ext cx="9073008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用一棵二元比较树来描述关键字比较的过程，即算法的执行过程。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104112" y="3933056"/>
            <a:ext cx="1836204" cy="654782"/>
          </a:xfrm>
          <a:prstGeom prst="wedgeRoundRectCallout">
            <a:avLst>
              <a:gd name="adj1" fmla="val -52733"/>
              <a:gd name="adj2" fmla="val 80015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关键字比较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2"/>
                </a:solidFill>
              </a:rPr>
              <a:t>二元比较树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48320"/>
            <a:ext cx="10586392" cy="2087947"/>
          </a:xfrm>
        </p:spPr>
        <p:txBody>
          <a:bodyPr/>
          <a:lstStyle/>
          <a:p>
            <a:r>
              <a:rPr lang="zh-CN" altLang="en-US" sz="2400" dirty="0">
                <a:latin typeface="幼圆" panose="02010509060101010101" pitchFamily="49" charset="-122"/>
              </a:rPr>
              <a:t>描述二分查找算法执行过程的二元比较树由内结点和外结点组成</a:t>
            </a:r>
            <a:endParaRPr lang="en-US" altLang="zh-CN" sz="2400" dirty="0">
              <a:latin typeface="幼圆" panose="02010509060101010101" pitchFamily="49" charset="-122"/>
            </a:endParaRPr>
          </a:p>
          <a:p>
            <a:pPr lvl="1"/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内结点</a:t>
            </a:r>
            <a:r>
              <a:rPr kumimoji="1" lang="zh-CN" altLang="en-US" dirty="0">
                <a:latin typeface="Times New Roman" panose="02020603050405020304" pitchFamily="18" charset="0"/>
              </a:rPr>
              <a:t>记录一个</a:t>
            </a:r>
            <a:r>
              <a:rPr kumimoji="1" lang="en-US" altLang="zh-CN" dirty="0">
                <a:latin typeface="Times New Roman" panose="02020603050405020304" pitchFamily="18" charset="0"/>
              </a:rPr>
              <a:t>mid</a:t>
            </a:r>
            <a:r>
              <a:rPr kumimoji="1" lang="zh-CN" altLang="en-US" dirty="0">
                <a:latin typeface="Times New Roman" panose="02020603050405020304" pitchFamily="18" charset="0"/>
              </a:rPr>
              <a:t>值，表示一次元素的比较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kumimoji="1" lang="zh-CN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外结点</a:t>
            </a:r>
            <a:r>
              <a:rPr kumimoji="1" lang="zh-CN" altLang="en-US" dirty="0">
                <a:latin typeface="Tahoma" panose="020B0604030504040204" pitchFamily="34" charset="0"/>
              </a:rPr>
              <a:t>表示不成功查找的一种情况</a:t>
            </a:r>
            <a:endParaRPr kumimoji="1" lang="en-US" altLang="zh-CN" dirty="0">
              <a:latin typeface="Tahoma" panose="020B0604030504040204" pitchFamily="34" charset="0"/>
            </a:endParaRPr>
          </a:p>
          <a:p>
            <a:pPr lvl="1"/>
            <a:r>
              <a:rPr kumimoji="1" lang="zh-CN" altLang="en-US" dirty="0">
                <a:latin typeface="Tahoma" panose="020B0604030504040204" pitchFamily="34" charset="0"/>
              </a:rPr>
              <a:t>一条路径表示一个元素的比较序列</a:t>
            </a:r>
            <a:endParaRPr kumimoji="1" lang="en-US" altLang="zh-CN" dirty="0">
              <a:latin typeface="Tahoma" panose="020B0604030504040204" pitchFamily="34" charset="0"/>
            </a:endParaRPr>
          </a:p>
          <a:p>
            <a:pPr marL="342900" lvl="1" indent="0">
              <a:buNone/>
            </a:pP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endParaRPr kumimoji="1" lang="zh-CN" altLang="en-US" dirty="0">
              <a:latin typeface="Tahoma" panose="020B0604030504040204" pitchFamily="34" charset="0"/>
            </a:endParaRPr>
          </a:p>
          <a:p>
            <a:pPr lvl="1"/>
            <a:endParaRPr kumimoji="1" lang="zh-CN" altLang="en-US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幼圆" panose="020105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16</a:t>
            </a:fld>
            <a:endParaRPr lang="en-US" altLang="zh-CN" dirty="0"/>
          </a:p>
        </p:txBody>
      </p:sp>
      <p:graphicFrame>
        <p:nvGraphicFramePr>
          <p:cNvPr id="50" name="Group 56"/>
          <p:cNvGraphicFramePr>
            <a:graphicFrameLocks noGrp="1"/>
          </p:cNvGraphicFramePr>
          <p:nvPr/>
        </p:nvGraphicFramePr>
        <p:xfrm>
          <a:off x="782365" y="4499573"/>
          <a:ext cx="5529656" cy="398468"/>
        </p:xfrm>
        <a:graphic>
          <a:graphicData uri="http://schemas.openxmlformats.org/drawingml/2006/table">
            <a:tbl>
              <a:tblPr/>
              <a:tblGrid>
                <a:gridCol w="615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5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2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5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9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-15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-6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90000" marR="90000" marT="46834" marB="468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Text Box 78"/>
          <p:cNvSpPr txBox="1">
            <a:spLocks noChangeArrowheads="1"/>
          </p:cNvSpPr>
          <p:nvPr/>
        </p:nvSpPr>
        <p:spPr bwMode="auto">
          <a:xfrm>
            <a:off x="773212" y="4005064"/>
            <a:ext cx="5538809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3DFF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B21BE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A[1]  A[2]   A[3]  A[4]   A[5]   A[6]  A[7]  A[8]   A[9]</a:t>
            </a:r>
          </a:p>
        </p:txBody>
      </p:sp>
      <p:sp>
        <p:nvSpPr>
          <p:cNvPr id="52" name="Rectangle 5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19336" y="4537677"/>
            <a:ext cx="817376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n=9</a:t>
            </a:r>
          </a:p>
        </p:txBody>
      </p:sp>
      <p:grpSp>
        <p:nvGrpSpPr>
          <p:cNvPr id="53" name="Group 150"/>
          <p:cNvGrpSpPr/>
          <p:nvPr/>
        </p:nvGrpSpPr>
        <p:grpSpPr bwMode="auto">
          <a:xfrm>
            <a:off x="7032104" y="2679819"/>
            <a:ext cx="3672486" cy="2183596"/>
            <a:chOff x="1746" y="436"/>
            <a:chExt cx="2880" cy="1860"/>
          </a:xfrm>
          <a:solidFill>
            <a:schemeClr val="bg1"/>
          </a:solidFill>
        </p:grpSpPr>
        <p:sp>
          <p:nvSpPr>
            <p:cNvPr id="54" name="Line 4"/>
            <p:cNvSpPr>
              <a:spLocks noChangeShapeType="1"/>
            </p:cNvSpPr>
            <p:nvPr/>
          </p:nvSpPr>
          <p:spPr bwMode="auto">
            <a:xfrm>
              <a:off x="3152" y="618"/>
              <a:ext cx="488" cy="304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Line 5"/>
            <p:cNvSpPr>
              <a:spLocks noChangeShapeType="1"/>
            </p:cNvSpPr>
            <p:nvPr/>
          </p:nvSpPr>
          <p:spPr bwMode="auto">
            <a:xfrm>
              <a:off x="2472" y="1117"/>
              <a:ext cx="136" cy="273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ine 8"/>
            <p:cNvSpPr>
              <a:spLocks noChangeShapeType="1"/>
            </p:cNvSpPr>
            <p:nvPr/>
          </p:nvSpPr>
          <p:spPr bwMode="auto">
            <a:xfrm>
              <a:off x="2744" y="1706"/>
              <a:ext cx="151" cy="263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28"/>
            <p:cNvSpPr>
              <a:spLocks noChangeShapeType="1"/>
            </p:cNvSpPr>
            <p:nvPr/>
          </p:nvSpPr>
          <p:spPr bwMode="auto">
            <a:xfrm flipH="1">
              <a:off x="2472" y="618"/>
              <a:ext cx="357" cy="272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Line 29"/>
            <p:cNvSpPr>
              <a:spLocks noChangeShapeType="1"/>
            </p:cNvSpPr>
            <p:nvPr/>
          </p:nvSpPr>
          <p:spPr bwMode="auto">
            <a:xfrm flipH="1">
              <a:off x="1927" y="1026"/>
              <a:ext cx="409" cy="499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auto">
            <a:xfrm>
              <a:off x="2835" y="436"/>
              <a:ext cx="317" cy="318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0" name="Oval 39"/>
            <p:cNvSpPr>
              <a:spLocks noChangeArrowheads="1"/>
            </p:cNvSpPr>
            <p:nvPr/>
          </p:nvSpPr>
          <p:spPr bwMode="auto">
            <a:xfrm>
              <a:off x="2199" y="845"/>
              <a:ext cx="318" cy="317"/>
            </a:xfrm>
            <a:prstGeom prst="ellipse">
              <a:avLst/>
            </a:prstGeom>
            <a:grpFill/>
            <a:ln w="19050" algn="ctr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1" name="Oval 45"/>
            <p:cNvSpPr>
              <a:spLocks noChangeArrowheads="1"/>
            </p:cNvSpPr>
            <p:nvPr/>
          </p:nvSpPr>
          <p:spPr bwMode="auto">
            <a:xfrm>
              <a:off x="2517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2" name="Oval 138"/>
            <p:cNvSpPr>
              <a:spLocks noChangeArrowheads="1"/>
            </p:cNvSpPr>
            <p:nvPr/>
          </p:nvSpPr>
          <p:spPr bwMode="auto">
            <a:xfrm>
              <a:off x="1746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3" name="Oval 139"/>
            <p:cNvSpPr>
              <a:spLocks noChangeArrowheads="1"/>
            </p:cNvSpPr>
            <p:nvPr/>
          </p:nvSpPr>
          <p:spPr bwMode="auto">
            <a:xfrm>
              <a:off x="2762" y="197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64" name="Line 140"/>
            <p:cNvSpPr>
              <a:spLocks noChangeShapeType="1"/>
            </p:cNvSpPr>
            <p:nvPr/>
          </p:nvSpPr>
          <p:spPr bwMode="auto">
            <a:xfrm>
              <a:off x="3742" y="1072"/>
              <a:ext cx="227" cy="317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Line 141"/>
            <p:cNvSpPr>
              <a:spLocks noChangeShapeType="1"/>
            </p:cNvSpPr>
            <p:nvPr/>
          </p:nvSpPr>
          <p:spPr bwMode="auto">
            <a:xfrm>
              <a:off x="4195" y="1616"/>
              <a:ext cx="228" cy="350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Line 145"/>
            <p:cNvSpPr>
              <a:spLocks noChangeShapeType="1"/>
            </p:cNvSpPr>
            <p:nvPr/>
          </p:nvSpPr>
          <p:spPr bwMode="auto">
            <a:xfrm flipH="1">
              <a:off x="3398" y="981"/>
              <a:ext cx="208" cy="479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Oval 146"/>
            <p:cNvSpPr>
              <a:spLocks noChangeArrowheads="1"/>
            </p:cNvSpPr>
            <p:nvPr/>
          </p:nvSpPr>
          <p:spPr bwMode="auto">
            <a:xfrm>
              <a:off x="3469" y="800"/>
              <a:ext cx="318" cy="317"/>
            </a:xfrm>
            <a:prstGeom prst="ellipse">
              <a:avLst/>
            </a:prstGeom>
            <a:grpFill/>
            <a:ln w="19050" algn="ctr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68" name="Oval 147"/>
            <p:cNvSpPr>
              <a:spLocks noChangeArrowheads="1"/>
            </p:cNvSpPr>
            <p:nvPr/>
          </p:nvSpPr>
          <p:spPr bwMode="auto">
            <a:xfrm>
              <a:off x="3924" y="1344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69" name="Oval 148"/>
            <p:cNvSpPr>
              <a:spLocks noChangeArrowheads="1"/>
            </p:cNvSpPr>
            <p:nvPr/>
          </p:nvSpPr>
          <p:spPr bwMode="auto">
            <a:xfrm>
              <a:off x="3236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0" name="Oval 149"/>
            <p:cNvSpPr>
              <a:spLocks noChangeArrowheads="1"/>
            </p:cNvSpPr>
            <p:nvPr/>
          </p:nvSpPr>
          <p:spPr bwMode="auto">
            <a:xfrm>
              <a:off x="4309" y="1934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9</a:t>
              </a:r>
            </a:p>
          </p:txBody>
        </p:sp>
      </p:grpSp>
      <p:sp>
        <p:nvSpPr>
          <p:cNvPr id="81" name="AutoShape 5"/>
          <p:cNvSpPr>
            <a:spLocks noChangeArrowheads="1"/>
          </p:cNvSpPr>
          <p:nvPr/>
        </p:nvSpPr>
        <p:spPr bwMode="auto">
          <a:xfrm>
            <a:off x="10776520" y="3933056"/>
            <a:ext cx="985424" cy="460373"/>
          </a:xfrm>
          <a:prstGeom prst="wedgeRoundRectCallout">
            <a:avLst>
              <a:gd name="adj1" fmla="val -52733"/>
              <a:gd name="adj2" fmla="val 80015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x=101</a:t>
            </a:r>
            <a:endParaRPr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6736959" y="4128208"/>
            <a:ext cx="4366320" cy="1370624"/>
            <a:chOff x="6448927" y="4233068"/>
            <a:chExt cx="4366320" cy="1434102"/>
          </a:xfrm>
        </p:grpSpPr>
        <p:grpSp>
          <p:nvGrpSpPr>
            <p:cNvPr id="83" name="Group 10"/>
            <p:cNvGrpSpPr/>
            <p:nvPr/>
          </p:nvGrpSpPr>
          <p:grpSpPr bwMode="auto">
            <a:xfrm>
              <a:off x="7464152" y="4271412"/>
              <a:ext cx="365994" cy="731190"/>
              <a:chOff x="1968" y="2645"/>
              <a:chExt cx="390" cy="478"/>
            </a:xfrm>
            <a:solidFill>
              <a:schemeClr val="bg1"/>
            </a:solidFill>
          </p:grpSpPr>
          <p:sp>
            <p:nvSpPr>
              <p:cNvPr id="107" name="Rectangle 11"/>
              <p:cNvSpPr>
                <a:spLocks noChangeArrowheads="1"/>
              </p:cNvSpPr>
              <p:nvPr/>
            </p:nvSpPr>
            <p:spPr bwMode="auto">
              <a:xfrm>
                <a:off x="1968" y="2896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8" name="Line 12"/>
              <p:cNvSpPr>
                <a:spLocks noChangeShapeType="1"/>
              </p:cNvSpPr>
              <p:nvPr/>
            </p:nvSpPr>
            <p:spPr bwMode="auto">
              <a:xfrm flipH="1">
                <a:off x="2104" y="2645"/>
                <a:ext cx="254" cy="24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6" name="Group 66"/>
            <p:cNvGrpSpPr/>
            <p:nvPr/>
          </p:nvGrpSpPr>
          <p:grpSpPr bwMode="auto">
            <a:xfrm>
              <a:off x="7690292" y="4946445"/>
              <a:ext cx="1077646" cy="720725"/>
              <a:chOff x="4312" y="3136"/>
              <a:chExt cx="1065" cy="515"/>
            </a:xfrm>
            <a:solidFill>
              <a:schemeClr val="bg1"/>
            </a:solidFill>
          </p:grpSpPr>
          <p:sp>
            <p:nvSpPr>
              <p:cNvPr id="95" name="Rectangle 67"/>
              <p:cNvSpPr>
                <a:spLocks noChangeArrowheads="1"/>
              </p:cNvSpPr>
              <p:nvPr/>
            </p:nvSpPr>
            <p:spPr bwMode="auto">
              <a:xfrm>
                <a:off x="4312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" name="Rectangle 68"/>
              <p:cNvSpPr>
                <a:spLocks noChangeArrowheads="1"/>
              </p:cNvSpPr>
              <p:nvPr/>
            </p:nvSpPr>
            <p:spPr bwMode="auto">
              <a:xfrm>
                <a:off x="5014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" name="Line 69"/>
              <p:cNvSpPr>
                <a:spLocks noChangeShapeType="1"/>
              </p:cNvSpPr>
              <p:nvPr/>
            </p:nvSpPr>
            <p:spPr bwMode="auto">
              <a:xfrm flipH="1">
                <a:off x="4458" y="3176"/>
                <a:ext cx="284" cy="24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8" name="Line 70"/>
              <p:cNvSpPr>
                <a:spLocks noChangeShapeType="1"/>
              </p:cNvSpPr>
              <p:nvPr/>
            </p:nvSpPr>
            <p:spPr bwMode="auto">
              <a:xfrm>
                <a:off x="4992" y="3136"/>
                <a:ext cx="263" cy="28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7" name="Group 142"/>
            <p:cNvGrpSpPr/>
            <p:nvPr/>
          </p:nvGrpSpPr>
          <p:grpSpPr bwMode="auto">
            <a:xfrm>
              <a:off x="9335963" y="4233068"/>
              <a:ext cx="370669" cy="708720"/>
              <a:chOff x="1824" y="2614"/>
              <a:chExt cx="363" cy="509"/>
            </a:xfrm>
            <a:solidFill>
              <a:schemeClr val="bg1"/>
            </a:solidFill>
          </p:grpSpPr>
          <p:sp>
            <p:nvSpPr>
              <p:cNvPr id="93" name="Rectangle 143"/>
              <p:cNvSpPr>
                <a:spLocks noChangeArrowheads="1"/>
              </p:cNvSpPr>
              <p:nvPr/>
            </p:nvSpPr>
            <p:spPr bwMode="auto">
              <a:xfrm>
                <a:off x="1824" y="2896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4" name="Line 144"/>
              <p:cNvSpPr>
                <a:spLocks noChangeShapeType="1"/>
              </p:cNvSpPr>
              <p:nvPr/>
            </p:nvSpPr>
            <p:spPr bwMode="auto">
              <a:xfrm flipH="1">
                <a:off x="2006" y="2614"/>
                <a:ext cx="138" cy="2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8" name="Group 151"/>
            <p:cNvGrpSpPr/>
            <p:nvPr/>
          </p:nvGrpSpPr>
          <p:grpSpPr bwMode="auto">
            <a:xfrm>
              <a:off x="9760874" y="4916961"/>
              <a:ext cx="1054373" cy="720725"/>
              <a:chOff x="4409" y="3136"/>
              <a:chExt cx="1042" cy="515"/>
            </a:xfrm>
            <a:solidFill>
              <a:schemeClr val="bg1"/>
            </a:solidFill>
          </p:grpSpPr>
          <p:sp>
            <p:nvSpPr>
              <p:cNvPr id="89" name="Rectangle 152"/>
              <p:cNvSpPr>
                <a:spLocks noChangeArrowheads="1"/>
              </p:cNvSpPr>
              <p:nvPr/>
            </p:nvSpPr>
            <p:spPr bwMode="auto">
              <a:xfrm>
                <a:off x="4409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0" name="Rectangle 153"/>
              <p:cNvSpPr>
                <a:spLocks noChangeArrowheads="1"/>
              </p:cNvSpPr>
              <p:nvPr/>
            </p:nvSpPr>
            <p:spPr bwMode="auto">
              <a:xfrm>
                <a:off x="5088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1" name="Line 154"/>
              <p:cNvSpPr>
                <a:spLocks noChangeShapeType="1"/>
              </p:cNvSpPr>
              <p:nvPr/>
            </p:nvSpPr>
            <p:spPr bwMode="auto">
              <a:xfrm flipH="1">
                <a:off x="4558" y="3136"/>
                <a:ext cx="194" cy="287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" name="Line 155"/>
              <p:cNvSpPr>
                <a:spLocks noChangeShapeType="1"/>
              </p:cNvSpPr>
              <p:nvPr/>
            </p:nvSpPr>
            <p:spPr bwMode="auto">
              <a:xfrm>
                <a:off x="4992" y="3136"/>
                <a:ext cx="288" cy="28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09" name="Group 66"/>
            <p:cNvGrpSpPr/>
            <p:nvPr/>
          </p:nvGrpSpPr>
          <p:grpSpPr bwMode="auto">
            <a:xfrm>
              <a:off x="6448927" y="4271127"/>
              <a:ext cx="950150" cy="720725"/>
              <a:chOff x="4393" y="3136"/>
              <a:chExt cx="939" cy="515"/>
            </a:xfrm>
            <a:solidFill>
              <a:schemeClr val="bg1"/>
            </a:solidFill>
          </p:grpSpPr>
          <p:sp>
            <p:nvSpPr>
              <p:cNvPr id="110" name="Rectangle 67"/>
              <p:cNvSpPr>
                <a:spLocks noChangeArrowheads="1"/>
              </p:cNvSpPr>
              <p:nvPr/>
            </p:nvSpPr>
            <p:spPr bwMode="auto">
              <a:xfrm>
                <a:off x="4393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1" name="Rectangle 68"/>
              <p:cNvSpPr>
                <a:spLocks noChangeArrowheads="1"/>
              </p:cNvSpPr>
              <p:nvPr/>
            </p:nvSpPr>
            <p:spPr bwMode="auto">
              <a:xfrm>
                <a:off x="4969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2" name="Line 69"/>
              <p:cNvSpPr>
                <a:spLocks noChangeShapeType="1"/>
              </p:cNvSpPr>
              <p:nvPr/>
            </p:nvSpPr>
            <p:spPr bwMode="auto">
              <a:xfrm flipH="1">
                <a:off x="4540" y="3136"/>
                <a:ext cx="242" cy="275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3" name="Line 70"/>
              <p:cNvSpPr>
                <a:spLocks noChangeShapeType="1"/>
              </p:cNvSpPr>
              <p:nvPr/>
            </p:nvSpPr>
            <p:spPr bwMode="auto">
              <a:xfrm>
                <a:off x="4942" y="3136"/>
                <a:ext cx="244" cy="28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4" name="Group 66"/>
            <p:cNvGrpSpPr/>
            <p:nvPr/>
          </p:nvGrpSpPr>
          <p:grpSpPr bwMode="auto">
            <a:xfrm>
              <a:off x="8464699" y="4279284"/>
              <a:ext cx="806463" cy="663347"/>
              <a:chOff x="4503" y="3177"/>
              <a:chExt cx="797" cy="474"/>
            </a:xfrm>
            <a:solidFill>
              <a:schemeClr val="bg1"/>
            </a:solidFill>
          </p:grpSpPr>
          <p:sp>
            <p:nvSpPr>
              <p:cNvPr id="115" name="Rectangle 67"/>
              <p:cNvSpPr>
                <a:spLocks noChangeArrowheads="1"/>
              </p:cNvSpPr>
              <p:nvPr/>
            </p:nvSpPr>
            <p:spPr bwMode="auto">
              <a:xfrm>
                <a:off x="4503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6" name="Rectangle 68"/>
              <p:cNvSpPr>
                <a:spLocks noChangeArrowheads="1"/>
              </p:cNvSpPr>
              <p:nvPr/>
            </p:nvSpPr>
            <p:spPr bwMode="auto">
              <a:xfrm>
                <a:off x="4937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" name="Line 69"/>
              <p:cNvSpPr>
                <a:spLocks noChangeShapeType="1"/>
              </p:cNvSpPr>
              <p:nvPr/>
            </p:nvSpPr>
            <p:spPr bwMode="auto">
              <a:xfrm flipH="1">
                <a:off x="4653" y="3177"/>
                <a:ext cx="168" cy="244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8" name="Line 70"/>
              <p:cNvSpPr>
                <a:spLocks noChangeShapeType="1"/>
              </p:cNvSpPr>
              <p:nvPr/>
            </p:nvSpPr>
            <p:spPr bwMode="auto">
              <a:xfrm>
                <a:off x="4921" y="3182"/>
                <a:ext cx="162" cy="242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120" name="AutoShape 5"/>
          <p:cNvSpPr>
            <a:spLocks noChangeArrowheads="1"/>
          </p:cNvSpPr>
          <p:nvPr/>
        </p:nvSpPr>
        <p:spPr bwMode="auto">
          <a:xfrm>
            <a:off x="9200277" y="5046940"/>
            <a:ext cx="712147" cy="439104"/>
          </a:xfrm>
          <a:prstGeom prst="wedgeRoundRectCallout">
            <a:avLst>
              <a:gd name="adj1" fmla="val -65563"/>
              <a:gd name="adj2" fmla="val 38975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x=8</a:t>
            </a:r>
            <a:endParaRPr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1" name="Text Box 71"/>
          <p:cNvSpPr txBox="1">
            <a:spLocks noChangeArrowheads="1"/>
          </p:cNvSpPr>
          <p:nvPr/>
        </p:nvSpPr>
        <p:spPr bwMode="auto">
          <a:xfrm>
            <a:off x="1273600" y="5898081"/>
            <a:ext cx="939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算法的执行过程实质上就是</a:t>
            </a:r>
            <a:r>
              <a:rPr lang="en-US" altLang="zh-CN" sz="24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与一系列中间元素</a:t>
            </a:r>
            <a:r>
              <a:rPr lang="en-US" altLang="zh-CN" sz="24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A(mid)</a:t>
            </a:r>
            <a:r>
              <a:rPr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的比较过程。</a:t>
            </a:r>
          </a:p>
        </p:txBody>
      </p:sp>
      <p:sp>
        <p:nvSpPr>
          <p:cNvPr id="122" name="Text Box 71"/>
          <p:cNvSpPr txBox="1">
            <a:spLocks noChangeArrowheads="1"/>
          </p:cNvSpPr>
          <p:nvPr/>
        </p:nvSpPr>
        <p:spPr bwMode="auto">
          <a:xfrm>
            <a:off x="1267831" y="5415607"/>
            <a:ext cx="67517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思考：二元比较树的结构受问题实例影响么？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120" grpId="0" animBg="1"/>
      <p:bldP spid="121" grpId="0"/>
      <p:bldP spid="1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2"/>
                </a:solidFill>
              </a:rPr>
              <a:t>二元比较树分析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17</a:t>
            </a:fld>
            <a:endParaRPr lang="en-US" altLang="zh-CN" dirty="0"/>
          </a:p>
        </p:txBody>
      </p:sp>
      <p:grpSp>
        <p:nvGrpSpPr>
          <p:cNvPr id="9" name="Group 150"/>
          <p:cNvGrpSpPr/>
          <p:nvPr/>
        </p:nvGrpSpPr>
        <p:grpSpPr bwMode="auto">
          <a:xfrm>
            <a:off x="6456040" y="501561"/>
            <a:ext cx="3672486" cy="2183596"/>
            <a:chOff x="1746" y="436"/>
            <a:chExt cx="2880" cy="1860"/>
          </a:xfrm>
          <a:solidFill>
            <a:schemeClr val="bg1"/>
          </a:solidFill>
        </p:grpSpPr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3152" y="618"/>
              <a:ext cx="488" cy="304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472" y="1117"/>
              <a:ext cx="136" cy="273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744" y="1706"/>
              <a:ext cx="151" cy="263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 flipH="1">
              <a:off x="2472" y="618"/>
              <a:ext cx="357" cy="272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 flipH="1">
              <a:off x="1927" y="1026"/>
              <a:ext cx="409" cy="499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36"/>
            <p:cNvSpPr>
              <a:spLocks noChangeArrowheads="1"/>
            </p:cNvSpPr>
            <p:nvPr/>
          </p:nvSpPr>
          <p:spPr bwMode="auto">
            <a:xfrm>
              <a:off x="2835" y="436"/>
              <a:ext cx="317" cy="318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6" name="Oval 39"/>
            <p:cNvSpPr>
              <a:spLocks noChangeArrowheads="1"/>
            </p:cNvSpPr>
            <p:nvPr/>
          </p:nvSpPr>
          <p:spPr bwMode="auto">
            <a:xfrm>
              <a:off x="2199" y="845"/>
              <a:ext cx="318" cy="317"/>
            </a:xfrm>
            <a:prstGeom prst="ellipse">
              <a:avLst/>
            </a:prstGeom>
            <a:grpFill/>
            <a:ln w="19050" algn="ctr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7" name="Oval 45"/>
            <p:cNvSpPr>
              <a:spLocks noChangeArrowheads="1"/>
            </p:cNvSpPr>
            <p:nvPr/>
          </p:nvSpPr>
          <p:spPr bwMode="auto">
            <a:xfrm>
              <a:off x="2517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8" name="Oval 138"/>
            <p:cNvSpPr>
              <a:spLocks noChangeArrowheads="1"/>
            </p:cNvSpPr>
            <p:nvPr/>
          </p:nvSpPr>
          <p:spPr bwMode="auto">
            <a:xfrm>
              <a:off x="1746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9" name="Oval 139"/>
            <p:cNvSpPr>
              <a:spLocks noChangeArrowheads="1"/>
            </p:cNvSpPr>
            <p:nvPr/>
          </p:nvSpPr>
          <p:spPr bwMode="auto">
            <a:xfrm>
              <a:off x="2762" y="197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0" name="Line 140"/>
            <p:cNvSpPr>
              <a:spLocks noChangeShapeType="1"/>
            </p:cNvSpPr>
            <p:nvPr/>
          </p:nvSpPr>
          <p:spPr bwMode="auto">
            <a:xfrm>
              <a:off x="3742" y="1072"/>
              <a:ext cx="227" cy="317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41"/>
            <p:cNvSpPr>
              <a:spLocks noChangeShapeType="1"/>
            </p:cNvSpPr>
            <p:nvPr/>
          </p:nvSpPr>
          <p:spPr bwMode="auto">
            <a:xfrm>
              <a:off x="4195" y="1616"/>
              <a:ext cx="228" cy="350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145"/>
            <p:cNvSpPr>
              <a:spLocks noChangeShapeType="1"/>
            </p:cNvSpPr>
            <p:nvPr/>
          </p:nvSpPr>
          <p:spPr bwMode="auto">
            <a:xfrm flipH="1">
              <a:off x="3398" y="981"/>
              <a:ext cx="208" cy="479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146"/>
            <p:cNvSpPr>
              <a:spLocks noChangeArrowheads="1"/>
            </p:cNvSpPr>
            <p:nvPr/>
          </p:nvSpPr>
          <p:spPr bwMode="auto">
            <a:xfrm>
              <a:off x="3469" y="800"/>
              <a:ext cx="318" cy="317"/>
            </a:xfrm>
            <a:prstGeom prst="ellipse">
              <a:avLst/>
            </a:prstGeom>
            <a:grpFill/>
            <a:ln w="19050" algn="ctr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4" name="Oval 147"/>
            <p:cNvSpPr>
              <a:spLocks noChangeArrowheads="1"/>
            </p:cNvSpPr>
            <p:nvPr/>
          </p:nvSpPr>
          <p:spPr bwMode="auto">
            <a:xfrm>
              <a:off x="3924" y="1344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5" name="Oval 148"/>
            <p:cNvSpPr>
              <a:spLocks noChangeArrowheads="1"/>
            </p:cNvSpPr>
            <p:nvPr/>
          </p:nvSpPr>
          <p:spPr bwMode="auto">
            <a:xfrm>
              <a:off x="3236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6" name="Oval 149"/>
            <p:cNvSpPr>
              <a:spLocks noChangeArrowheads="1"/>
            </p:cNvSpPr>
            <p:nvPr/>
          </p:nvSpPr>
          <p:spPr bwMode="auto">
            <a:xfrm>
              <a:off x="4309" y="1934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9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60895" y="1949950"/>
            <a:ext cx="4366321" cy="1370624"/>
            <a:chOff x="6448927" y="4233068"/>
            <a:chExt cx="4366321" cy="1434102"/>
          </a:xfrm>
        </p:grpSpPr>
        <p:grpSp>
          <p:nvGrpSpPr>
            <p:cNvPr id="29" name="Group 10"/>
            <p:cNvGrpSpPr/>
            <p:nvPr/>
          </p:nvGrpSpPr>
          <p:grpSpPr bwMode="auto">
            <a:xfrm>
              <a:off x="7464152" y="4271412"/>
              <a:ext cx="365994" cy="731190"/>
              <a:chOff x="1968" y="2645"/>
              <a:chExt cx="390" cy="478"/>
            </a:xfrm>
            <a:solidFill>
              <a:schemeClr val="bg1"/>
            </a:solidFill>
          </p:grpSpPr>
          <p:sp>
            <p:nvSpPr>
              <p:cNvPr id="53" name="Rectangle 11"/>
              <p:cNvSpPr>
                <a:spLocks noChangeArrowheads="1"/>
              </p:cNvSpPr>
              <p:nvPr/>
            </p:nvSpPr>
            <p:spPr bwMode="auto">
              <a:xfrm>
                <a:off x="1968" y="2896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" name="Line 12"/>
              <p:cNvSpPr>
                <a:spLocks noChangeShapeType="1"/>
              </p:cNvSpPr>
              <p:nvPr/>
            </p:nvSpPr>
            <p:spPr bwMode="auto">
              <a:xfrm flipH="1">
                <a:off x="2104" y="2645"/>
                <a:ext cx="254" cy="24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0" name="Group 66"/>
            <p:cNvGrpSpPr/>
            <p:nvPr/>
          </p:nvGrpSpPr>
          <p:grpSpPr bwMode="auto">
            <a:xfrm>
              <a:off x="7690293" y="4946445"/>
              <a:ext cx="1152525" cy="720725"/>
              <a:chOff x="4312" y="3136"/>
              <a:chExt cx="1139" cy="515"/>
            </a:xfrm>
            <a:solidFill>
              <a:schemeClr val="bg1"/>
            </a:solidFill>
          </p:grpSpPr>
          <p:sp>
            <p:nvSpPr>
              <p:cNvPr id="49" name="Rectangle 67"/>
              <p:cNvSpPr>
                <a:spLocks noChangeArrowheads="1"/>
              </p:cNvSpPr>
              <p:nvPr/>
            </p:nvSpPr>
            <p:spPr bwMode="auto">
              <a:xfrm>
                <a:off x="4312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0" name="Rectangle 68"/>
              <p:cNvSpPr>
                <a:spLocks noChangeArrowheads="1"/>
              </p:cNvSpPr>
              <p:nvPr/>
            </p:nvSpPr>
            <p:spPr bwMode="auto">
              <a:xfrm>
                <a:off x="5088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1" name="Line 69"/>
              <p:cNvSpPr>
                <a:spLocks noChangeShapeType="1"/>
              </p:cNvSpPr>
              <p:nvPr/>
            </p:nvSpPr>
            <p:spPr bwMode="auto">
              <a:xfrm flipH="1">
                <a:off x="4458" y="3163"/>
                <a:ext cx="284" cy="256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" name="Line 70"/>
              <p:cNvSpPr>
                <a:spLocks noChangeShapeType="1"/>
              </p:cNvSpPr>
              <p:nvPr/>
            </p:nvSpPr>
            <p:spPr bwMode="auto">
              <a:xfrm>
                <a:off x="4992" y="3136"/>
                <a:ext cx="288" cy="28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1" name="Group 142"/>
            <p:cNvGrpSpPr/>
            <p:nvPr/>
          </p:nvGrpSpPr>
          <p:grpSpPr bwMode="auto">
            <a:xfrm>
              <a:off x="9335963" y="4233068"/>
              <a:ext cx="370669" cy="708720"/>
              <a:chOff x="1824" y="2614"/>
              <a:chExt cx="363" cy="509"/>
            </a:xfrm>
            <a:solidFill>
              <a:schemeClr val="bg1"/>
            </a:solidFill>
          </p:grpSpPr>
          <p:sp>
            <p:nvSpPr>
              <p:cNvPr id="47" name="Rectangle 143"/>
              <p:cNvSpPr>
                <a:spLocks noChangeArrowheads="1"/>
              </p:cNvSpPr>
              <p:nvPr/>
            </p:nvSpPr>
            <p:spPr bwMode="auto">
              <a:xfrm>
                <a:off x="1824" y="2896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" name="Line 144"/>
              <p:cNvSpPr>
                <a:spLocks noChangeShapeType="1"/>
              </p:cNvSpPr>
              <p:nvPr/>
            </p:nvSpPr>
            <p:spPr bwMode="auto">
              <a:xfrm flipH="1">
                <a:off x="1977" y="2614"/>
                <a:ext cx="167" cy="261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2" name="Group 151"/>
            <p:cNvGrpSpPr/>
            <p:nvPr/>
          </p:nvGrpSpPr>
          <p:grpSpPr bwMode="auto">
            <a:xfrm>
              <a:off x="9662723" y="4916961"/>
              <a:ext cx="1152525" cy="720725"/>
              <a:chOff x="4312" y="3136"/>
              <a:chExt cx="1139" cy="515"/>
            </a:xfrm>
            <a:solidFill>
              <a:schemeClr val="bg1"/>
            </a:solidFill>
          </p:grpSpPr>
          <p:sp>
            <p:nvSpPr>
              <p:cNvPr id="43" name="Rectangle 152"/>
              <p:cNvSpPr>
                <a:spLocks noChangeArrowheads="1"/>
              </p:cNvSpPr>
              <p:nvPr/>
            </p:nvSpPr>
            <p:spPr bwMode="auto">
              <a:xfrm>
                <a:off x="4312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" name="Rectangle 153"/>
              <p:cNvSpPr>
                <a:spLocks noChangeArrowheads="1"/>
              </p:cNvSpPr>
              <p:nvPr/>
            </p:nvSpPr>
            <p:spPr bwMode="auto">
              <a:xfrm>
                <a:off x="5088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" name="Line 154"/>
              <p:cNvSpPr>
                <a:spLocks noChangeShapeType="1"/>
              </p:cNvSpPr>
              <p:nvPr/>
            </p:nvSpPr>
            <p:spPr bwMode="auto">
              <a:xfrm flipH="1">
                <a:off x="4458" y="3136"/>
                <a:ext cx="294" cy="28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" name="Line 155"/>
              <p:cNvSpPr>
                <a:spLocks noChangeShapeType="1"/>
              </p:cNvSpPr>
              <p:nvPr/>
            </p:nvSpPr>
            <p:spPr bwMode="auto">
              <a:xfrm>
                <a:off x="4992" y="3136"/>
                <a:ext cx="288" cy="28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3" name="Group 66"/>
            <p:cNvGrpSpPr/>
            <p:nvPr/>
          </p:nvGrpSpPr>
          <p:grpSpPr bwMode="auto">
            <a:xfrm>
              <a:off x="6448927" y="4271127"/>
              <a:ext cx="950150" cy="720725"/>
              <a:chOff x="4393" y="3136"/>
              <a:chExt cx="939" cy="515"/>
            </a:xfrm>
            <a:solidFill>
              <a:schemeClr val="bg1"/>
            </a:solidFill>
          </p:grpSpPr>
          <p:sp>
            <p:nvSpPr>
              <p:cNvPr id="39" name="Rectangle 67"/>
              <p:cNvSpPr>
                <a:spLocks noChangeArrowheads="1"/>
              </p:cNvSpPr>
              <p:nvPr/>
            </p:nvSpPr>
            <p:spPr bwMode="auto">
              <a:xfrm>
                <a:off x="4393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" name="Rectangle 68"/>
              <p:cNvSpPr>
                <a:spLocks noChangeArrowheads="1"/>
              </p:cNvSpPr>
              <p:nvPr/>
            </p:nvSpPr>
            <p:spPr bwMode="auto">
              <a:xfrm>
                <a:off x="4969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" name="Line 69"/>
              <p:cNvSpPr>
                <a:spLocks noChangeShapeType="1"/>
              </p:cNvSpPr>
              <p:nvPr/>
            </p:nvSpPr>
            <p:spPr bwMode="auto">
              <a:xfrm flipH="1">
                <a:off x="4540" y="3136"/>
                <a:ext cx="242" cy="275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" name="Line 70"/>
              <p:cNvSpPr>
                <a:spLocks noChangeShapeType="1"/>
              </p:cNvSpPr>
              <p:nvPr/>
            </p:nvSpPr>
            <p:spPr bwMode="auto">
              <a:xfrm>
                <a:off x="4942" y="3136"/>
                <a:ext cx="244" cy="28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4" name="Group 66"/>
            <p:cNvGrpSpPr/>
            <p:nvPr/>
          </p:nvGrpSpPr>
          <p:grpSpPr bwMode="auto">
            <a:xfrm>
              <a:off x="8464699" y="4279284"/>
              <a:ext cx="806463" cy="663347"/>
              <a:chOff x="4503" y="3177"/>
              <a:chExt cx="797" cy="474"/>
            </a:xfrm>
            <a:solidFill>
              <a:schemeClr val="bg1"/>
            </a:solidFill>
          </p:grpSpPr>
          <p:sp>
            <p:nvSpPr>
              <p:cNvPr id="35" name="Rectangle 67"/>
              <p:cNvSpPr>
                <a:spLocks noChangeArrowheads="1"/>
              </p:cNvSpPr>
              <p:nvPr/>
            </p:nvSpPr>
            <p:spPr bwMode="auto">
              <a:xfrm>
                <a:off x="4503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Rectangle 68"/>
              <p:cNvSpPr>
                <a:spLocks noChangeArrowheads="1"/>
              </p:cNvSpPr>
              <p:nvPr/>
            </p:nvSpPr>
            <p:spPr bwMode="auto">
              <a:xfrm>
                <a:off x="4937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" name="Line 69"/>
              <p:cNvSpPr>
                <a:spLocks noChangeShapeType="1"/>
              </p:cNvSpPr>
              <p:nvPr/>
            </p:nvSpPr>
            <p:spPr bwMode="auto">
              <a:xfrm flipH="1">
                <a:off x="4653" y="3177"/>
                <a:ext cx="168" cy="244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" name="Line 70"/>
              <p:cNvSpPr>
                <a:spLocks noChangeShapeType="1"/>
              </p:cNvSpPr>
              <p:nvPr/>
            </p:nvSpPr>
            <p:spPr bwMode="auto">
              <a:xfrm>
                <a:off x="4921" y="3182"/>
                <a:ext cx="162" cy="242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6" name="Group 195"/>
          <p:cNvGraphicFramePr>
            <a:graphicFrameLocks noGrp="1"/>
          </p:cNvGraphicFramePr>
          <p:nvPr>
            <p:ph/>
          </p:nvPr>
        </p:nvGraphicFramePr>
        <p:xfrm>
          <a:off x="7502922" y="4744803"/>
          <a:ext cx="3402481" cy="1188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25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最好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最坏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平均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成功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25/9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失败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34/10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内容占位符 2"/>
          <p:cNvSpPr>
            <a:spLocks noGrp="1"/>
          </p:cNvSpPr>
          <p:nvPr>
            <p:ph idx="1"/>
          </p:nvPr>
        </p:nvSpPr>
        <p:spPr>
          <a:xfrm>
            <a:off x="839625" y="2607095"/>
            <a:ext cx="10224927" cy="197403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二元比较树分析：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defRPr/>
            </a:pPr>
            <a:r>
              <a:rPr kumimoji="1" lang="zh-CN" altLang="en-US" dirty="0">
                <a:latin typeface="Times New Roman" panose="02020603050405020304" pitchFamily="18" charset="0"/>
              </a:rPr>
              <a:t>令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根在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级，</a:t>
            </a:r>
            <a:r>
              <a:rPr kumimoji="1" lang="zh-CN" altLang="en-US" dirty="0">
                <a:latin typeface="Times New Roman" panose="02020603050405020304" pitchFamily="18" charset="0"/>
              </a:rPr>
              <a:t>内节点最大级数为</a:t>
            </a:r>
            <a:r>
              <a:rPr kumimoji="1" lang="en-US" altLang="zh-CN" dirty="0"/>
              <a:t>k</a:t>
            </a:r>
          </a:p>
          <a:p>
            <a:pPr lvl="1">
              <a:spcBef>
                <a:spcPts val="0"/>
              </a:spcBef>
              <a:defRPr/>
            </a:pPr>
            <a:r>
              <a:rPr kumimoji="1" lang="zh-CN" altLang="en-US" dirty="0">
                <a:latin typeface="Times New Roman" panose="02020603050405020304" pitchFamily="18" charset="0"/>
              </a:rPr>
              <a:t>成功：元素比较次数等于内节点级数，最少</a:t>
            </a:r>
            <a:r>
              <a:rPr kumimoji="1" lang="en-US" altLang="zh-CN" dirty="0">
                <a:latin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</a:rPr>
              <a:t>次，最多</a:t>
            </a:r>
            <a:r>
              <a:rPr kumimoji="1" lang="en-US" altLang="zh-CN" dirty="0">
                <a:latin typeface="Times New Roman" panose="02020603050405020304" pitchFamily="18" charset="0"/>
              </a:rPr>
              <a:t>k</a:t>
            </a:r>
          </a:p>
          <a:p>
            <a:pPr lvl="1">
              <a:spcBef>
                <a:spcPts val="0"/>
              </a:spcBef>
              <a:defRPr/>
            </a:pPr>
            <a:r>
              <a:rPr kumimoji="1" lang="zh-CN" altLang="en-US" dirty="0">
                <a:latin typeface="Times New Roman" panose="02020603050405020304" pitchFamily="18" charset="0"/>
              </a:rPr>
              <a:t>失败：元素比较次数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等于外节点级数</a:t>
            </a:r>
            <a:r>
              <a:rPr kumimoji="1" lang="zh-CN" altLang="en-US" dirty="0">
                <a:sym typeface="Symbol" panose="05050102010706020507" pitchFamily="18" charset="2"/>
              </a:rPr>
              <a:t></a:t>
            </a:r>
            <a:r>
              <a:rPr kumimoji="1" lang="en-US" altLang="zh-CN" dirty="0"/>
              <a:t>1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，最少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k-1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次，最多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次</a:t>
            </a:r>
            <a:endParaRPr kumimoji="1" lang="en-US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60" name="Text Box 71"/>
          <p:cNvSpPr txBox="1">
            <a:spLocks noChangeArrowheads="1"/>
          </p:cNvSpPr>
          <p:nvPr/>
        </p:nvSpPr>
        <p:spPr bwMode="auto">
          <a:xfrm>
            <a:off x="2656382" y="4362533"/>
            <a:ext cx="34396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思考：平均比较次数？</a:t>
            </a:r>
          </a:p>
        </p:txBody>
      </p:sp>
      <p:sp>
        <p:nvSpPr>
          <p:cNvPr id="62" name="内容占位符 2"/>
          <p:cNvSpPr txBox="1"/>
          <p:nvPr/>
        </p:nvSpPr>
        <p:spPr>
          <a:xfrm>
            <a:off x="839625" y="4794987"/>
            <a:ext cx="10718443" cy="1442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kumimoji="1" lang="en-US" altLang="zh-CN" sz="2400" dirty="0"/>
              <a:t>n=9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>
              <a:spcBef>
                <a:spcPts val="0"/>
              </a:spcBef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幼圆" panose="02010509060101010101" pitchFamily="49" charset="-122"/>
              </a:rPr>
              <a:t>成功比较总数</a:t>
            </a:r>
            <a:r>
              <a:rPr kumimoji="1" lang="en-US" altLang="zh-CN" dirty="0">
                <a:solidFill>
                  <a:srgbClr val="000000"/>
                </a:solidFill>
              </a:rPr>
              <a:t>=1+2+2+3+3+3+3+4+4=25</a:t>
            </a:r>
          </a:p>
          <a:p>
            <a:pPr lvl="1">
              <a:spcBef>
                <a:spcPts val="0"/>
              </a:spcBef>
              <a:defRPr/>
            </a:pPr>
            <a:r>
              <a:rPr kumimoji="1" lang="zh-CN" altLang="en-US" dirty="0">
                <a:solidFill>
                  <a:srgbClr val="000000"/>
                </a:solidFill>
              </a:rPr>
              <a:t>失败比较总数</a:t>
            </a:r>
            <a:r>
              <a:rPr kumimoji="1" lang="en-US" altLang="zh-CN" dirty="0">
                <a:solidFill>
                  <a:srgbClr val="000000"/>
                </a:solidFill>
              </a:rPr>
              <a:t>=3+3+3+4+4+3+3+3+4+4=34</a:t>
            </a:r>
            <a:endParaRPr kumimoji="1" lang="zh-CN" altLang="en-US" dirty="0">
              <a:solidFill>
                <a:srgbClr val="0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60" grpId="0"/>
      <p:bldP spid="6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2"/>
                </a:solidFill>
              </a:rPr>
              <a:t>二元比较树分析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18</a:t>
            </a:fld>
            <a:endParaRPr lang="en-US" altLang="zh-CN" dirty="0"/>
          </a:p>
        </p:txBody>
      </p:sp>
      <p:grpSp>
        <p:nvGrpSpPr>
          <p:cNvPr id="9" name="Group 150"/>
          <p:cNvGrpSpPr/>
          <p:nvPr/>
        </p:nvGrpSpPr>
        <p:grpSpPr bwMode="auto">
          <a:xfrm>
            <a:off x="6096000" y="681995"/>
            <a:ext cx="3672486" cy="2183596"/>
            <a:chOff x="1746" y="436"/>
            <a:chExt cx="2880" cy="1860"/>
          </a:xfrm>
          <a:solidFill>
            <a:schemeClr val="bg1"/>
          </a:solidFill>
        </p:grpSpPr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3152" y="618"/>
              <a:ext cx="488" cy="304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472" y="1117"/>
              <a:ext cx="136" cy="273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744" y="1706"/>
              <a:ext cx="151" cy="263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 flipH="1">
              <a:off x="2472" y="618"/>
              <a:ext cx="357" cy="272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 flipH="1">
              <a:off x="1927" y="1026"/>
              <a:ext cx="409" cy="499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36"/>
            <p:cNvSpPr>
              <a:spLocks noChangeArrowheads="1"/>
            </p:cNvSpPr>
            <p:nvPr/>
          </p:nvSpPr>
          <p:spPr bwMode="auto">
            <a:xfrm>
              <a:off x="2835" y="436"/>
              <a:ext cx="317" cy="318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6" name="Oval 39"/>
            <p:cNvSpPr>
              <a:spLocks noChangeArrowheads="1"/>
            </p:cNvSpPr>
            <p:nvPr/>
          </p:nvSpPr>
          <p:spPr bwMode="auto">
            <a:xfrm>
              <a:off x="2199" y="845"/>
              <a:ext cx="318" cy="317"/>
            </a:xfrm>
            <a:prstGeom prst="ellipse">
              <a:avLst/>
            </a:prstGeom>
            <a:grpFill/>
            <a:ln w="19050" algn="ctr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7" name="Oval 45"/>
            <p:cNvSpPr>
              <a:spLocks noChangeArrowheads="1"/>
            </p:cNvSpPr>
            <p:nvPr/>
          </p:nvSpPr>
          <p:spPr bwMode="auto">
            <a:xfrm>
              <a:off x="2517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8" name="Oval 138"/>
            <p:cNvSpPr>
              <a:spLocks noChangeArrowheads="1"/>
            </p:cNvSpPr>
            <p:nvPr/>
          </p:nvSpPr>
          <p:spPr bwMode="auto">
            <a:xfrm>
              <a:off x="1746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9" name="Oval 139"/>
            <p:cNvSpPr>
              <a:spLocks noChangeArrowheads="1"/>
            </p:cNvSpPr>
            <p:nvPr/>
          </p:nvSpPr>
          <p:spPr bwMode="auto">
            <a:xfrm>
              <a:off x="2762" y="197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0" name="Line 140"/>
            <p:cNvSpPr>
              <a:spLocks noChangeShapeType="1"/>
            </p:cNvSpPr>
            <p:nvPr/>
          </p:nvSpPr>
          <p:spPr bwMode="auto">
            <a:xfrm>
              <a:off x="3742" y="1072"/>
              <a:ext cx="227" cy="317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41"/>
            <p:cNvSpPr>
              <a:spLocks noChangeShapeType="1"/>
            </p:cNvSpPr>
            <p:nvPr/>
          </p:nvSpPr>
          <p:spPr bwMode="auto">
            <a:xfrm>
              <a:off x="4195" y="1616"/>
              <a:ext cx="228" cy="350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145"/>
            <p:cNvSpPr>
              <a:spLocks noChangeShapeType="1"/>
            </p:cNvSpPr>
            <p:nvPr/>
          </p:nvSpPr>
          <p:spPr bwMode="auto">
            <a:xfrm flipH="1">
              <a:off x="3398" y="981"/>
              <a:ext cx="208" cy="479"/>
            </a:xfrm>
            <a:prstGeom prst="lin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146"/>
            <p:cNvSpPr>
              <a:spLocks noChangeArrowheads="1"/>
            </p:cNvSpPr>
            <p:nvPr/>
          </p:nvSpPr>
          <p:spPr bwMode="auto">
            <a:xfrm>
              <a:off x="3469" y="800"/>
              <a:ext cx="318" cy="317"/>
            </a:xfrm>
            <a:prstGeom prst="ellipse">
              <a:avLst/>
            </a:prstGeom>
            <a:grpFill/>
            <a:ln w="19050" algn="ctr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4" name="Oval 147"/>
            <p:cNvSpPr>
              <a:spLocks noChangeArrowheads="1"/>
            </p:cNvSpPr>
            <p:nvPr/>
          </p:nvSpPr>
          <p:spPr bwMode="auto">
            <a:xfrm>
              <a:off x="3924" y="1344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5" name="Oval 148"/>
            <p:cNvSpPr>
              <a:spLocks noChangeArrowheads="1"/>
            </p:cNvSpPr>
            <p:nvPr/>
          </p:nvSpPr>
          <p:spPr bwMode="auto">
            <a:xfrm>
              <a:off x="3236" y="1389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6" name="Oval 149"/>
            <p:cNvSpPr>
              <a:spLocks noChangeArrowheads="1"/>
            </p:cNvSpPr>
            <p:nvPr/>
          </p:nvSpPr>
          <p:spPr bwMode="auto">
            <a:xfrm>
              <a:off x="4309" y="1934"/>
              <a:ext cx="317" cy="317"/>
            </a:xfrm>
            <a:prstGeom prst="ellipse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9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800855" y="2130384"/>
            <a:ext cx="4366321" cy="1370624"/>
            <a:chOff x="6448927" y="4233068"/>
            <a:chExt cx="4366321" cy="1434102"/>
          </a:xfrm>
        </p:grpSpPr>
        <p:grpSp>
          <p:nvGrpSpPr>
            <p:cNvPr id="29" name="Group 10"/>
            <p:cNvGrpSpPr/>
            <p:nvPr/>
          </p:nvGrpSpPr>
          <p:grpSpPr bwMode="auto">
            <a:xfrm>
              <a:off x="7464152" y="4271412"/>
              <a:ext cx="365994" cy="731190"/>
              <a:chOff x="1968" y="2645"/>
              <a:chExt cx="390" cy="478"/>
            </a:xfrm>
            <a:solidFill>
              <a:schemeClr val="bg1"/>
            </a:solidFill>
          </p:grpSpPr>
          <p:sp>
            <p:nvSpPr>
              <p:cNvPr id="53" name="Rectangle 11"/>
              <p:cNvSpPr>
                <a:spLocks noChangeArrowheads="1"/>
              </p:cNvSpPr>
              <p:nvPr/>
            </p:nvSpPr>
            <p:spPr bwMode="auto">
              <a:xfrm>
                <a:off x="1968" y="2896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" name="Line 12"/>
              <p:cNvSpPr>
                <a:spLocks noChangeShapeType="1"/>
              </p:cNvSpPr>
              <p:nvPr/>
            </p:nvSpPr>
            <p:spPr bwMode="auto">
              <a:xfrm flipH="1">
                <a:off x="2104" y="2645"/>
                <a:ext cx="254" cy="24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0" name="Group 66"/>
            <p:cNvGrpSpPr/>
            <p:nvPr/>
          </p:nvGrpSpPr>
          <p:grpSpPr bwMode="auto">
            <a:xfrm>
              <a:off x="7690293" y="4946445"/>
              <a:ext cx="1152525" cy="720725"/>
              <a:chOff x="4312" y="3136"/>
              <a:chExt cx="1139" cy="515"/>
            </a:xfrm>
            <a:solidFill>
              <a:schemeClr val="bg1"/>
            </a:solidFill>
          </p:grpSpPr>
          <p:sp>
            <p:nvSpPr>
              <p:cNvPr id="49" name="Rectangle 67"/>
              <p:cNvSpPr>
                <a:spLocks noChangeArrowheads="1"/>
              </p:cNvSpPr>
              <p:nvPr/>
            </p:nvSpPr>
            <p:spPr bwMode="auto">
              <a:xfrm>
                <a:off x="4312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0" name="Rectangle 68"/>
              <p:cNvSpPr>
                <a:spLocks noChangeArrowheads="1"/>
              </p:cNvSpPr>
              <p:nvPr/>
            </p:nvSpPr>
            <p:spPr bwMode="auto">
              <a:xfrm>
                <a:off x="5088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1" name="Line 69"/>
              <p:cNvSpPr>
                <a:spLocks noChangeShapeType="1"/>
              </p:cNvSpPr>
              <p:nvPr/>
            </p:nvSpPr>
            <p:spPr bwMode="auto">
              <a:xfrm flipH="1">
                <a:off x="4458" y="3163"/>
                <a:ext cx="284" cy="256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" name="Line 70"/>
              <p:cNvSpPr>
                <a:spLocks noChangeShapeType="1"/>
              </p:cNvSpPr>
              <p:nvPr/>
            </p:nvSpPr>
            <p:spPr bwMode="auto">
              <a:xfrm>
                <a:off x="4992" y="3136"/>
                <a:ext cx="288" cy="28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1" name="Group 142"/>
            <p:cNvGrpSpPr/>
            <p:nvPr/>
          </p:nvGrpSpPr>
          <p:grpSpPr bwMode="auto">
            <a:xfrm>
              <a:off x="9335963" y="4233068"/>
              <a:ext cx="370669" cy="708720"/>
              <a:chOff x="1824" y="2614"/>
              <a:chExt cx="363" cy="509"/>
            </a:xfrm>
            <a:solidFill>
              <a:schemeClr val="bg1"/>
            </a:solidFill>
          </p:grpSpPr>
          <p:sp>
            <p:nvSpPr>
              <p:cNvPr id="47" name="Rectangle 143"/>
              <p:cNvSpPr>
                <a:spLocks noChangeArrowheads="1"/>
              </p:cNvSpPr>
              <p:nvPr/>
            </p:nvSpPr>
            <p:spPr bwMode="auto">
              <a:xfrm>
                <a:off x="1824" y="2896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" name="Line 144"/>
              <p:cNvSpPr>
                <a:spLocks noChangeShapeType="1"/>
              </p:cNvSpPr>
              <p:nvPr/>
            </p:nvSpPr>
            <p:spPr bwMode="auto">
              <a:xfrm flipH="1">
                <a:off x="1977" y="2614"/>
                <a:ext cx="167" cy="261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2" name="Group 151"/>
            <p:cNvGrpSpPr/>
            <p:nvPr/>
          </p:nvGrpSpPr>
          <p:grpSpPr bwMode="auto">
            <a:xfrm>
              <a:off x="9662723" y="4916961"/>
              <a:ext cx="1152525" cy="720725"/>
              <a:chOff x="4312" y="3136"/>
              <a:chExt cx="1139" cy="515"/>
            </a:xfrm>
            <a:solidFill>
              <a:schemeClr val="bg1"/>
            </a:solidFill>
          </p:grpSpPr>
          <p:sp>
            <p:nvSpPr>
              <p:cNvPr id="43" name="Rectangle 152"/>
              <p:cNvSpPr>
                <a:spLocks noChangeArrowheads="1"/>
              </p:cNvSpPr>
              <p:nvPr/>
            </p:nvSpPr>
            <p:spPr bwMode="auto">
              <a:xfrm>
                <a:off x="4312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" name="Rectangle 153"/>
              <p:cNvSpPr>
                <a:spLocks noChangeArrowheads="1"/>
              </p:cNvSpPr>
              <p:nvPr/>
            </p:nvSpPr>
            <p:spPr bwMode="auto">
              <a:xfrm>
                <a:off x="5088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" name="Line 154"/>
              <p:cNvSpPr>
                <a:spLocks noChangeShapeType="1"/>
              </p:cNvSpPr>
              <p:nvPr/>
            </p:nvSpPr>
            <p:spPr bwMode="auto">
              <a:xfrm flipH="1">
                <a:off x="4458" y="3136"/>
                <a:ext cx="294" cy="28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" name="Line 155"/>
              <p:cNvSpPr>
                <a:spLocks noChangeShapeType="1"/>
              </p:cNvSpPr>
              <p:nvPr/>
            </p:nvSpPr>
            <p:spPr bwMode="auto">
              <a:xfrm>
                <a:off x="4992" y="3136"/>
                <a:ext cx="288" cy="28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3" name="Group 66"/>
            <p:cNvGrpSpPr/>
            <p:nvPr/>
          </p:nvGrpSpPr>
          <p:grpSpPr bwMode="auto">
            <a:xfrm>
              <a:off x="6448927" y="4271127"/>
              <a:ext cx="950150" cy="720725"/>
              <a:chOff x="4393" y="3136"/>
              <a:chExt cx="939" cy="515"/>
            </a:xfrm>
            <a:solidFill>
              <a:schemeClr val="bg1"/>
            </a:solidFill>
          </p:grpSpPr>
          <p:sp>
            <p:nvSpPr>
              <p:cNvPr id="39" name="Rectangle 67"/>
              <p:cNvSpPr>
                <a:spLocks noChangeArrowheads="1"/>
              </p:cNvSpPr>
              <p:nvPr/>
            </p:nvSpPr>
            <p:spPr bwMode="auto">
              <a:xfrm>
                <a:off x="4393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" name="Rectangle 68"/>
              <p:cNvSpPr>
                <a:spLocks noChangeArrowheads="1"/>
              </p:cNvSpPr>
              <p:nvPr/>
            </p:nvSpPr>
            <p:spPr bwMode="auto">
              <a:xfrm>
                <a:off x="4969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" name="Line 69"/>
              <p:cNvSpPr>
                <a:spLocks noChangeShapeType="1"/>
              </p:cNvSpPr>
              <p:nvPr/>
            </p:nvSpPr>
            <p:spPr bwMode="auto">
              <a:xfrm flipH="1">
                <a:off x="4540" y="3136"/>
                <a:ext cx="242" cy="275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" name="Line 70"/>
              <p:cNvSpPr>
                <a:spLocks noChangeShapeType="1"/>
              </p:cNvSpPr>
              <p:nvPr/>
            </p:nvSpPr>
            <p:spPr bwMode="auto">
              <a:xfrm>
                <a:off x="4942" y="3136"/>
                <a:ext cx="244" cy="28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4" name="Group 66"/>
            <p:cNvGrpSpPr/>
            <p:nvPr/>
          </p:nvGrpSpPr>
          <p:grpSpPr bwMode="auto">
            <a:xfrm>
              <a:off x="8464699" y="4279284"/>
              <a:ext cx="806463" cy="663347"/>
              <a:chOff x="4503" y="3177"/>
              <a:chExt cx="797" cy="474"/>
            </a:xfrm>
            <a:solidFill>
              <a:schemeClr val="bg1"/>
            </a:solidFill>
          </p:grpSpPr>
          <p:sp>
            <p:nvSpPr>
              <p:cNvPr id="35" name="Rectangle 67"/>
              <p:cNvSpPr>
                <a:spLocks noChangeArrowheads="1"/>
              </p:cNvSpPr>
              <p:nvPr/>
            </p:nvSpPr>
            <p:spPr bwMode="auto">
              <a:xfrm>
                <a:off x="4503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Rectangle 68"/>
              <p:cNvSpPr>
                <a:spLocks noChangeArrowheads="1"/>
              </p:cNvSpPr>
              <p:nvPr/>
            </p:nvSpPr>
            <p:spPr bwMode="auto">
              <a:xfrm>
                <a:off x="4937" y="3424"/>
                <a:ext cx="363" cy="2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" name="Line 69"/>
              <p:cNvSpPr>
                <a:spLocks noChangeShapeType="1"/>
              </p:cNvSpPr>
              <p:nvPr/>
            </p:nvSpPr>
            <p:spPr bwMode="auto">
              <a:xfrm flipH="1">
                <a:off x="4653" y="3177"/>
                <a:ext cx="168" cy="244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" name="Line 70"/>
              <p:cNvSpPr>
                <a:spLocks noChangeShapeType="1"/>
              </p:cNvSpPr>
              <p:nvPr/>
            </p:nvSpPr>
            <p:spPr bwMode="auto">
              <a:xfrm>
                <a:off x="4921" y="3182"/>
                <a:ext cx="162" cy="242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59" name="内容占位符 2"/>
          <p:cNvSpPr>
            <a:spLocks noGrp="1"/>
          </p:cNvSpPr>
          <p:nvPr>
            <p:ph idx="1"/>
          </p:nvPr>
        </p:nvSpPr>
        <p:spPr>
          <a:xfrm>
            <a:off x="712816" y="3447090"/>
            <a:ext cx="10718443" cy="234502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kumimoji="1" lang="zh-CN" altLang="en-US" sz="2400" dirty="0"/>
              <a:t>内节点个数</a:t>
            </a:r>
            <a:r>
              <a:rPr kumimoji="1" lang="en-US" altLang="zh-CN" sz="2400" dirty="0"/>
              <a:t>n</a:t>
            </a:r>
            <a:r>
              <a:rPr kumimoji="1" lang="zh-CN" altLang="en-US" sz="2400" dirty="0">
                <a:latin typeface="幼圆" panose="02010509060101010101" pitchFamily="49" charset="-122"/>
              </a:rPr>
              <a:t>与</a:t>
            </a:r>
            <a:r>
              <a:rPr kumimoji="1" lang="en-US" altLang="zh-CN" sz="2400" dirty="0"/>
              <a:t>k</a:t>
            </a:r>
            <a:r>
              <a:rPr kumimoji="1" lang="zh-CN" altLang="en-US" sz="2400" dirty="0">
                <a:latin typeface="幼圆" panose="02010509060101010101" pitchFamily="49" charset="-122"/>
              </a:rPr>
              <a:t>之间的关系：</a:t>
            </a:r>
            <a:endParaRPr kumimoji="1" lang="en-US" altLang="zh-CN" sz="2400" dirty="0">
              <a:latin typeface="幼圆" panose="02010509060101010101" pitchFamily="49" charset="-122"/>
            </a:endParaRPr>
          </a:p>
          <a:p>
            <a:pPr lvl="1">
              <a:spcBef>
                <a:spcPts val="0"/>
              </a:spcBef>
              <a:defRPr/>
            </a:pPr>
            <a:r>
              <a:rPr kumimoji="1" lang="zh-CN" altLang="en-US" dirty="0">
                <a:latin typeface="Times New Roman" panose="02020603050405020304" pitchFamily="18" charset="0"/>
              </a:rPr>
              <a:t>内节点最大级数为</a:t>
            </a:r>
            <a:r>
              <a:rPr kumimoji="1" lang="en-US" altLang="zh-CN" dirty="0"/>
              <a:t>k</a:t>
            </a:r>
            <a:r>
              <a:rPr lang="zh-CN" altLang="en-US" dirty="0"/>
              <a:t>的二元比较树，其</a:t>
            </a:r>
            <a:r>
              <a:rPr lang="en-US" altLang="zh-CN" dirty="0"/>
              <a:t>k-1</a:t>
            </a:r>
            <a:r>
              <a:rPr lang="zh-CN" altLang="en-US" dirty="0"/>
              <a:t>层必为满；</a:t>
            </a:r>
            <a:r>
              <a:rPr lang="en-US" altLang="zh-CN" dirty="0"/>
              <a:t>n</a:t>
            </a:r>
            <a:r>
              <a:rPr lang="zh-CN" altLang="en-US" dirty="0"/>
              <a:t>满足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en-US" altLang="zh-CN" baseline="30000" dirty="0">
                <a:solidFill>
                  <a:srgbClr val="C00000"/>
                </a:solidFill>
              </a:rPr>
              <a:t>k-1</a:t>
            </a:r>
            <a:r>
              <a:rPr lang="en-US" altLang="zh-CN" dirty="0">
                <a:solidFill>
                  <a:srgbClr val="C00000"/>
                </a:solidFill>
              </a:rPr>
              <a:t> ≤n&lt; 2</a:t>
            </a:r>
            <a:r>
              <a:rPr lang="en-US" altLang="zh-CN" baseline="30000" dirty="0">
                <a:solidFill>
                  <a:srgbClr val="C00000"/>
                </a:solidFill>
              </a:rPr>
              <a:t>k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，有</a:t>
            </a:r>
            <a:endParaRPr kumimoji="1" lang="en-US" altLang="zh-CN" dirty="0">
              <a:latin typeface="幼圆" panose="02010509060101010101" pitchFamily="49" charset="-122"/>
            </a:endParaRPr>
          </a:p>
          <a:p>
            <a:pPr lvl="1">
              <a:spcBef>
                <a:spcPts val="0"/>
              </a:spcBef>
              <a:defRPr/>
            </a:pPr>
            <a:endParaRPr kumimoji="1" lang="en-US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defRPr/>
            </a:pPr>
            <a:endParaRPr kumimoji="1" lang="en-US" altLang="zh-CN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graphicFrame>
        <p:nvGraphicFramePr>
          <p:cNvPr id="60" name="对象 59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80939167"/>
              </p:ext>
            </p:extLst>
          </p:nvPr>
        </p:nvGraphicFramePr>
        <p:xfrm>
          <a:off x="1333500" y="4621213"/>
          <a:ext cx="5043488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27300" imgH="431800" progId="Equation.3">
                  <p:embed/>
                </p:oleObj>
              </mc:Choice>
              <mc:Fallback>
                <p:oleObj name="公式" r:id="rId2" imgW="2527300" imgH="431800" progId="Equation.3">
                  <p:embed/>
                  <p:pic>
                    <p:nvPicPr>
                      <p:cNvPr id="0" name="对象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4621213"/>
                        <a:ext cx="5043488" cy="862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9263810" y="4709416"/>
            <a:ext cx="1704313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k=Θ(</a:t>
            </a:r>
            <a:r>
              <a:rPr kumimoji="1"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logn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55043" y="334088"/>
            <a:ext cx="10515600" cy="1325563"/>
          </a:xfrm>
        </p:spPr>
        <p:txBody>
          <a:bodyPr/>
          <a:lstStyle/>
          <a:p>
            <a:pPr eaLnBrk="1" hangingPunct="1"/>
            <a:r>
              <a:rPr lang="zh-CN" altLang="en-US" dirty="0"/>
              <a:t>算法</a:t>
            </a:r>
            <a:r>
              <a:rPr lang="en-US" altLang="zh-CN" dirty="0"/>
              <a:t>BINSRCH</a:t>
            </a:r>
            <a:r>
              <a:rPr lang="zh-CN" altLang="en-US" dirty="0"/>
              <a:t>的时间复杂度分析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6" name="TextBox 7"/>
          <p:cNvSpPr txBox="1"/>
          <p:nvPr/>
        </p:nvSpPr>
        <p:spPr>
          <a:xfrm flipH="1">
            <a:off x="655043" y="1659651"/>
            <a:ext cx="10553525" cy="9048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defRPr/>
            </a:pP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定理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4.1:</a:t>
            </a:r>
            <a:r>
              <a:rPr kumimoji="1"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若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n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在区域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[2</a:t>
            </a:r>
            <a:r>
              <a:rPr kumimoji="1" lang="en-US" altLang="zh-CN" sz="2400" baseline="30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k-1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 2</a:t>
            </a:r>
            <a:r>
              <a:rPr kumimoji="1" lang="en-US" altLang="zh-CN" sz="2400" baseline="30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)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中，则对于一次成功的查找，二分查找算法至多作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次比较，而对于一次不成功的查找，或者作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k-1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次比较或者作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次比较。</a:t>
            </a:r>
            <a:endParaRPr kumimoji="1" lang="en-US" altLang="zh-CN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51384" y="2893133"/>
            <a:ext cx="10619259" cy="181743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证明</a:t>
            </a:r>
            <a:endParaRPr lang="en-US" altLang="zh-CN" sz="2400" b="1" dirty="0"/>
          </a:p>
          <a:p>
            <a:pPr marL="342900" lvl="1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考察二分查找算法执行过程的二元比较树：成功查找在内结点终止，不成功查找在外结点终止。当</a:t>
            </a:r>
            <a:r>
              <a:rPr kumimoji="1" lang="en-US" altLang="zh-CN" dirty="0">
                <a:latin typeface="Times New Roman" panose="02020603050405020304" pitchFamily="18" charset="0"/>
              </a:rPr>
              <a:t>2</a:t>
            </a:r>
            <a:r>
              <a:rPr kumimoji="1" lang="en-US" altLang="zh-CN" baseline="30000" dirty="0">
                <a:latin typeface="Times New Roman" panose="02020603050405020304" pitchFamily="18" charset="0"/>
              </a:rPr>
              <a:t>k</a:t>
            </a:r>
            <a:r>
              <a:rPr kumimoji="1"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1" lang="en-US" altLang="zh-CN" baseline="30000" dirty="0">
                <a:latin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n &lt;</a:t>
            </a:r>
            <a:r>
              <a:rPr kumimoji="1" lang="en-US" altLang="zh-CN" dirty="0">
                <a:latin typeface="Times New Roman" panose="02020603050405020304" pitchFamily="18" charset="0"/>
              </a:rPr>
              <a:t>2</a:t>
            </a:r>
            <a:r>
              <a:rPr kumimoji="1" lang="en-US" altLang="zh-CN" baseline="30000" dirty="0">
                <a:latin typeface="Times New Roman" panose="02020603050405020304" pitchFamily="18" charset="0"/>
              </a:rPr>
              <a:t>k</a:t>
            </a:r>
            <a:r>
              <a:rPr kumimoji="1" lang="zh-CN" altLang="en-US" dirty="0">
                <a:latin typeface="Times New Roman" panose="02020603050405020304" pitchFamily="18" charset="0"/>
              </a:rPr>
              <a:t>时，内结点级数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k(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根在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级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en-US" altLang="zh-CN" dirty="0">
                <a:latin typeface="Times New Roman" panose="02020603050405020304" pitchFamily="18" charset="0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</a:rPr>
              <a:t>外结点级数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kumimoji="1" lang="en-US" altLang="zh-CN" dirty="0">
                <a:latin typeface="Times New Roman" panose="02020603050405020304" pitchFamily="18" charset="0"/>
              </a:rPr>
              <a:t>k+1</a:t>
            </a:r>
            <a:r>
              <a:rPr kumimoji="1" lang="zh-CN" altLang="en-US" dirty="0">
                <a:latin typeface="Times New Roman" panose="02020603050405020304" pitchFamily="18" charset="0"/>
              </a:rPr>
              <a:t>级。又知成功查找所需要的元素比较次数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级数</a:t>
            </a:r>
            <a:r>
              <a:rPr kumimoji="1" lang="zh-CN" altLang="en-US" dirty="0">
                <a:latin typeface="Times New Roman" panose="02020603050405020304" pitchFamily="18" charset="0"/>
              </a:rPr>
              <a:t>，不成功查找所需要的元素比较次数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级数</a:t>
            </a:r>
            <a:r>
              <a:rPr kumimoji="1" lang="en-US" altLang="zh-CN" dirty="0">
                <a:latin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</a:rPr>
              <a:t>。定理得证。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endParaRPr lang="zh-CN" altLang="en-US" sz="2000" dirty="0"/>
          </a:p>
        </p:txBody>
      </p:sp>
      <p:sp>
        <p:nvSpPr>
          <p:cNvPr id="13" name="矩形 12"/>
          <p:cNvSpPr/>
          <p:nvPr/>
        </p:nvSpPr>
        <p:spPr>
          <a:xfrm>
            <a:off x="9048164" y="2672207"/>
            <a:ext cx="1704313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k=Θ(</a:t>
            </a:r>
            <a:r>
              <a:rPr kumimoji="1"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logn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4" name="Text Box 71"/>
          <p:cNvSpPr txBox="1">
            <a:spLocks noChangeArrowheads="1"/>
          </p:cNvSpPr>
          <p:nvPr/>
        </p:nvSpPr>
        <p:spPr bwMode="auto">
          <a:xfrm>
            <a:off x="911424" y="4840012"/>
            <a:ext cx="804101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None/>
              <a:defRPr/>
            </a:pPr>
            <a:r>
              <a:rPr kumimoji="1"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思考：基于该定理可知算法在哪些情况下的时间复杂度？</a:t>
            </a:r>
            <a:endParaRPr kumimoji="1" lang="en-US" altLang="zh-CN" sz="2400" b="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3" name="内容占位符 26">
            <a:extLst>
              <a:ext uri="{FF2B5EF4-FFF2-40B4-BE49-F238E27FC236}">
                <a16:creationId xmlns:a16="http://schemas.microsoft.com/office/drawing/2014/main" id="{975108EF-4F3D-B40D-A72C-82AD69AA7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584973"/>
              </p:ext>
            </p:extLst>
          </p:nvPr>
        </p:nvGraphicFramePr>
        <p:xfrm>
          <a:off x="1559496" y="5468052"/>
          <a:ext cx="5012226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计算时间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最好情况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最坏情况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平均情况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成功查找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Θ(1)</a:t>
                      </a:r>
                      <a:endParaRPr lang="zh-CN" altLang="en-US" sz="1800" dirty="0"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18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失败查找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18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18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18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成功查找平均情况下的时间复杂度？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492897"/>
            <a:ext cx="10370367" cy="3600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</a:rPr>
              <a:t>内</a:t>
            </a:r>
            <a:r>
              <a:rPr lang="zh-CN" altLang="en-US" sz="2400" dirty="0"/>
              <a:t>部路径长度</a:t>
            </a:r>
            <a:r>
              <a:rPr lang="en-US" altLang="zh-CN" sz="2400" dirty="0"/>
              <a:t>I</a:t>
            </a:r>
            <a:r>
              <a:rPr lang="zh-CN" altLang="en-US" sz="2400" dirty="0"/>
              <a:t>：根到所有内节点的距离之和；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</a:rPr>
              <a:t>外</a:t>
            </a:r>
            <a:r>
              <a:rPr lang="zh-CN" altLang="en-US" sz="2400" dirty="0"/>
              <a:t>部路径长度</a:t>
            </a:r>
            <a:r>
              <a:rPr lang="en-US" altLang="zh-CN" sz="2400" dirty="0"/>
              <a:t>E</a:t>
            </a:r>
            <a:r>
              <a:rPr lang="zh-CN" altLang="en-US" sz="2400" dirty="0"/>
              <a:t>：根到所有外节点的距离之和；</a:t>
            </a:r>
          </a:p>
          <a:p>
            <a:pPr eaLnBrk="1" hangingPunct="1">
              <a:defRPr/>
            </a:pPr>
            <a:r>
              <a:rPr lang="zh-CN" altLang="en-US" sz="2400" dirty="0"/>
              <a:t>容易证明</a:t>
            </a:r>
            <a:r>
              <a:rPr lang="en-US" altLang="zh-CN" sz="2400" dirty="0">
                <a:solidFill>
                  <a:srgbClr val="FF0000"/>
                </a:solidFill>
              </a:rPr>
              <a:t>E=I+2n</a:t>
            </a:r>
            <a:r>
              <a:rPr lang="zh-CN" altLang="en-US" sz="2400" dirty="0"/>
              <a:t>；</a:t>
            </a:r>
          </a:p>
          <a:p>
            <a:pPr>
              <a:defRPr/>
            </a:pPr>
            <a:r>
              <a:rPr lang="zh-CN" altLang="en-US" sz="2400" dirty="0"/>
              <a:t>成功查找的平均比较次数</a:t>
            </a:r>
            <a:r>
              <a:rPr lang="en-US" altLang="zh-CN" sz="2400" dirty="0"/>
              <a:t>S(n)=(I/n)+1;</a:t>
            </a:r>
          </a:p>
          <a:p>
            <a:pPr eaLnBrk="1" hangingPunct="1">
              <a:defRPr/>
            </a:pPr>
            <a:r>
              <a:rPr lang="zh-CN" altLang="en-US" sz="2400" dirty="0"/>
              <a:t>不成功查找的平均比较次数</a:t>
            </a:r>
            <a:r>
              <a:rPr lang="en-US" altLang="zh-CN" sz="2400" dirty="0"/>
              <a:t>U(n)=E/(n+1);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460710"/>
              </p:ext>
            </p:extLst>
          </p:nvPr>
        </p:nvGraphicFramePr>
        <p:xfrm>
          <a:off x="6817022" y="4175732"/>
          <a:ext cx="4536778" cy="1067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90800" imgH="609600" progId="Equation.3">
                  <p:embed/>
                </p:oleObj>
              </mc:Choice>
              <mc:Fallback>
                <p:oleObj r:id="rId2" imgW="2590800" imgH="6096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7022" y="4175732"/>
                        <a:ext cx="4536778" cy="106761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3611365" y="1516251"/>
            <a:ext cx="6805116" cy="852373"/>
          </a:xfrm>
          <a:prstGeom prst="wedgeRoundRectCallout">
            <a:avLst>
              <a:gd name="adj1" fmla="val -35420"/>
              <a:gd name="adj2" fmla="val -68402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思想：利用内外节点到根的距离和之间的一种简单关系，由不成功查找的平均比较数求出成功查找的平均比较数。</a:t>
            </a:r>
          </a:p>
        </p:txBody>
      </p:sp>
      <p:sp>
        <p:nvSpPr>
          <p:cNvPr id="4" name="矩形 3"/>
          <p:cNvSpPr/>
          <p:nvPr/>
        </p:nvSpPr>
        <p:spPr>
          <a:xfrm>
            <a:off x="4254492" y="5487615"/>
            <a:ext cx="3281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S(n)=</a:t>
            </a:r>
            <a:r>
              <a:rPr kumimoji="1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Θ(U(n)) =Θ(</a:t>
            </a:r>
            <a:r>
              <a:rPr kumimoji="1"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logn</a:t>
            </a:r>
            <a:r>
              <a:rPr kumimoji="1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BINSRCH</a:t>
            </a:r>
            <a:r>
              <a:rPr lang="zh-CN" altLang="en-US" dirty="0"/>
              <a:t>的时间复杂度和空间复杂度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空间</a:t>
            </a:r>
            <a:endParaRPr lang="en-US" altLang="zh-CN" dirty="0"/>
          </a:p>
          <a:p>
            <a:pPr lvl="1"/>
            <a:r>
              <a:rPr kumimoji="1" lang="zh-CN" altLang="en-US" dirty="0">
                <a:solidFill>
                  <a:srgbClr val="000000"/>
                </a:solidFill>
              </a:rPr>
              <a:t>用</a:t>
            </a:r>
            <a:r>
              <a:rPr kumimoji="1" lang="en-US" altLang="zh-CN" dirty="0">
                <a:solidFill>
                  <a:srgbClr val="000000"/>
                </a:solidFill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</a:rPr>
              <a:t>个位置存放数组</a:t>
            </a:r>
            <a:r>
              <a:rPr kumimoji="1" lang="en-US" altLang="zh-CN" dirty="0">
                <a:solidFill>
                  <a:srgbClr val="000000"/>
                </a:solidFill>
              </a:rPr>
              <a:t>A</a:t>
            </a:r>
            <a:r>
              <a:rPr kumimoji="1" lang="zh-CN" altLang="en-US" dirty="0">
                <a:solidFill>
                  <a:srgbClr val="000000"/>
                </a:solidFill>
              </a:rPr>
              <a:t>，还有</a:t>
            </a:r>
            <a:r>
              <a:rPr kumimoji="1" lang="en-US" altLang="zh-CN" dirty="0">
                <a:solidFill>
                  <a:srgbClr val="000000"/>
                </a:solidFill>
              </a:rPr>
              <a:t>low, high, mid, x, j</a:t>
            </a:r>
            <a:r>
              <a:rPr kumimoji="1" lang="zh-CN" altLang="en-US" dirty="0">
                <a:solidFill>
                  <a:srgbClr val="000000"/>
                </a:solidFill>
              </a:rPr>
              <a:t>五个变量需要存储，</a:t>
            </a:r>
            <a:r>
              <a:rPr kumimoji="1" lang="zh-CN" altLang="en-US" dirty="0"/>
              <a:t>共需空间 </a:t>
            </a:r>
            <a:r>
              <a:rPr kumimoji="1" lang="en-US" altLang="zh-CN" dirty="0"/>
              <a:t>n+5= Θ(n)</a:t>
            </a:r>
            <a:endParaRPr kumimoji="1"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21</a:t>
            </a:fld>
            <a:endParaRPr lang="en-US" altLang="zh-CN"/>
          </a:p>
        </p:txBody>
      </p:sp>
      <p:graphicFrame>
        <p:nvGraphicFramePr>
          <p:cNvPr id="5" name="内容占位符 26"/>
          <p:cNvGraphicFramePr/>
          <p:nvPr/>
        </p:nvGraphicFramePr>
        <p:xfrm>
          <a:off x="1199456" y="2564904"/>
          <a:ext cx="6591176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7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计算时间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最好情况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最坏情况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平均情况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成功查找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Θ(1)</a:t>
                      </a:r>
                      <a:endParaRPr lang="zh-CN" altLang="en-US" sz="2000" dirty="0"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20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2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2000" kern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200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20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失败查找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20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2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20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2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Θ(</a:t>
                      </a:r>
                      <a:r>
                        <a:rPr kumimoji="1" lang="en-US" altLang="zh-CN" sz="20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logn</a:t>
                      </a:r>
                      <a:r>
                        <a:rPr kumimoji="1" lang="en-US" altLang="zh-CN" sz="2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)</a:t>
                      </a:r>
                      <a:endParaRPr kumimoji="1" lang="zh-CN" altLang="en-US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算法结束后的思考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幼圆" panose="02010509060101010101" pitchFamily="49" charset="-122"/>
              </a:rPr>
              <a:t>二分思想下的查找算法的时间复杂度是固定不变的么？时间复杂度会受到算法描述细节的影响吗？</a:t>
            </a:r>
            <a:endParaRPr lang="en-US" altLang="zh-CN" dirty="0">
              <a:latin typeface="幼圆" panose="02010509060101010101" pitchFamily="49" charset="-122"/>
            </a:endParaRPr>
          </a:p>
          <a:p>
            <a:r>
              <a:rPr lang="en-US" altLang="zh-CN" dirty="0"/>
              <a:t>BINSRCH</a:t>
            </a:r>
            <a:r>
              <a:rPr lang="zh-CN" altLang="en-US" dirty="0"/>
              <a:t>算法是解决查找问题的最优算法么？是否可以进一步优化？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710205"/>
            <a:ext cx="4532910" cy="2107431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case</a:t>
            </a:r>
            <a:r>
              <a:rPr lang="zh-CN" altLang="en-US" sz="2400" dirty="0">
                <a:latin typeface="幼圆" panose="02010509060101010101" pitchFamily="49" charset="-122"/>
              </a:rPr>
              <a:t>语句用</a:t>
            </a:r>
            <a:r>
              <a:rPr lang="en-US" altLang="zh-CN" sz="2400" dirty="0"/>
              <a:t>if</a:t>
            </a:r>
            <a:r>
              <a:rPr lang="zh-CN" altLang="en-US" sz="2400" dirty="0">
                <a:latin typeface="幼圆" panose="02010509060101010101" pitchFamily="49" charset="-122"/>
              </a:rPr>
              <a:t>语句来替换。</a:t>
            </a:r>
            <a:r>
              <a:rPr kumimoji="1" lang="zh-CN" altLang="en-US" sz="2400" dirty="0">
                <a:latin typeface="幼圆" panose="02010509060101010101" pitchFamily="49" charset="-122"/>
              </a:rPr>
              <a:t>一次关键字比较不是三种分支，而是两种分支。</a:t>
            </a:r>
            <a:endParaRPr kumimoji="1" lang="en-US" altLang="zh-CN" sz="2400" dirty="0">
              <a:latin typeface="幼圆" panose="02010509060101010101" pitchFamily="49" charset="-122"/>
            </a:endParaRPr>
          </a:p>
          <a:p>
            <a:r>
              <a:rPr lang="zh-CN" altLang="en-US" sz="2400" dirty="0">
                <a:latin typeface="幼圆" panose="02010509060101010101" pitchFamily="49" charset="-122"/>
              </a:rPr>
              <a:t>最坏情况下，</a:t>
            </a:r>
            <a:r>
              <a:rPr lang="en-US" altLang="zh-CN" sz="2400" dirty="0"/>
              <a:t>x</a:t>
            </a:r>
            <a:r>
              <a:rPr lang="zh-CN" altLang="en-US" sz="2400" dirty="0">
                <a:latin typeface="幼圆" panose="02010509060101010101" pitchFamily="49" charset="-122"/>
              </a:rPr>
              <a:t>总被比较两次。</a:t>
            </a:r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23392" y="260648"/>
            <a:ext cx="10515600" cy="1325563"/>
          </a:xfrm>
        </p:spPr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BINSRCH</a:t>
            </a:r>
            <a:r>
              <a:rPr lang="zh-CN" altLang="en-US" dirty="0"/>
              <a:t>的变型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876685" y="1675049"/>
            <a:ext cx="5467830" cy="470789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procedure BINSRCH(A, n, x, j)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  integer  low, high, mid, j, n;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  low←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1;   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high</a:t>
            </a:r>
            <a:r>
              <a:rPr kumimoji="1" lang="en-US" altLang="zh-CN" sz="2000" b="0" dirty="0" err="1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n</a:t>
            </a:r>
            <a:endParaRPr kumimoji="1" lang="en-US" altLang="zh-CN" sz="2000" b="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while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low≤high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do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mid</a:t>
            </a:r>
            <a:r>
              <a:rPr kumimoji="1" lang="en-US" altLang="zh-CN" sz="2000" b="0" dirty="0">
                <a:cs typeface="Arial" panose="020B0604020202020204" pitchFamily="34" charset="0"/>
              </a:rPr>
              <a:t> ←</a:t>
            </a:r>
            <a:r>
              <a:rPr lang="zh-CN" altLang="en-US" sz="2000" b="0" dirty="0"/>
              <a:t>⌊</a:t>
            </a:r>
            <a:r>
              <a:rPr lang="en-US" altLang="zh-CN" sz="2000" b="0" dirty="0"/>
              <a:t>(</a:t>
            </a:r>
            <a:r>
              <a:rPr lang="en-US" altLang="zh-CN" sz="2000" b="0" dirty="0" err="1"/>
              <a:t>low+high</a:t>
            </a:r>
            <a:r>
              <a:rPr lang="en-US" altLang="zh-CN" sz="2000" b="0" dirty="0"/>
              <a:t>)/2</a:t>
            </a:r>
            <a:r>
              <a:rPr lang="zh-CN" altLang="en-US" sz="2000" b="0" dirty="0"/>
              <a:t>⌋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      if 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x&lt;A(mid)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then high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mid-1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else if x&gt;A(mid)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   then low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mid+1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   else 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j</a:t>
            </a:r>
            <a:r>
              <a:rPr kumimoji="1" lang="en-US" altLang="zh-CN" sz="2000" b="0" dirty="0" err="1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mid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; return;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endif</a:t>
            </a:r>
            <a:endParaRPr kumimoji="1" lang="en-US" altLang="zh-CN" sz="2000" b="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endif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repeat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j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end BINSRCH</a:t>
            </a:r>
          </a:p>
        </p:txBody>
      </p:sp>
      <p:sp>
        <p:nvSpPr>
          <p:cNvPr id="8" name="矩形 7"/>
          <p:cNvSpPr/>
          <p:nvPr/>
        </p:nvSpPr>
        <p:spPr>
          <a:xfrm>
            <a:off x="6092709" y="3284984"/>
            <a:ext cx="3531683" cy="208823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</p:spPr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BINSRCH</a:t>
            </a:r>
            <a:r>
              <a:rPr lang="zh-CN" altLang="en-US" dirty="0"/>
              <a:t>的变型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447928" y="1382286"/>
            <a:ext cx="5761037" cy="4093428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procedure BINSRCH1(A, n, x, j)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  integer  low, high, mid, j, n;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  low←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1;    high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n+1  </a:t>
            </a:r>
            <a:r>
              <a:rPr kumimoji="1" lang="en-US" altLang="zh-CN" sz="2000" dirty="0">
                <a:cs typeface="Arial" panose="020B0604020202020204" pitchFamily="34" charset="0"/>
                <a:sym typeface="Wingdings" panose="05000000000000000000" pitchFamily="2" charset="2"/>
              </a:rPr>
              <a:t>//</a:t>
            </a:r>
            <a:r>
              <a:rPr kumimoji="1" lang="zh-CN" altLang="en-US" sz="2000" dirty="0">
                <a:cs typeface="Arial" panose="020B0604020202020204" pitchFamily="34" charset="0"/>
                <a:sym typeface="Wingdings" panose="05000000000000000000" pitchFamily="2" charset="2"/>
              </a:rPr>
              <a:t>在 </a:t>
            </a:r>
            <a:r>
              <a:rPr lang="en-US" altLang="zh-CN" sz="2000" dirty="0">
                <a:solidFill>
                  <a:srgbClr val="C00000"/>
                </a:solidFill>
              </a:rPr>
              <a:t>[</a:t>
            </a:r>
            <a:r>
              <a:rPr lang="en-US" altLang="zh-CN" sz="2000" dirty="0" err="1">
                <a:solidFill>
                  <a:srgbClr val="C00000"/>
                </a:solidFill>
              </a:rPr>
              <a:t>low,high</a:t>
            </a:r>
            <a:r>
              <a:rPr lang="en-US" altLang="zh-CN" sz="2000" dirty="0">
                <a:solidFill>
                  <a:srgbClr val="C00000"/>
                </a:solidFill>
              </a:rPr>
              <a:t>)</a:t>
            </a:r>
            <a:r>
              <a:rPr kumimoji="1" lang="zh-CN" altLang="en-US" sz="2000" dirty="0">
                <a:cs typeface="Arial" panose="020B0604020202020204" pitchFamily="34" charset="0"/>
                <a:sym typeface="Wingdings" panose="05000000000000000000" pitchFamily="2" charset="2"/>
              </a:rPr>
              <a:t>区间查找</a:t>
            </a:r>
            <a:endParaRPr kumimoji="1" lang="en-US" altLang="zh-CN" sz="200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while low&lt;high-1 do  //</a:t>
            </a:r>
            <a:r>
              <a:rPr kumimoji="1" lang="zh-CN" altLang="en-US" sz="2000" b="0" dirty="0">
                <a:cs typeface="Arial" panose="020B0604020202020204" pitchFamily="34" charset="0"/>
                <a:sym typeface="Wingdings" panose="05000000000000000000" pitchFamily="2" charset="2"/>
              </a:rPr>
              <a:t>区间内元素数大于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mid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lang="zh-CN" altLang="en-US" sz="2000" b="0" dirty="0"/>
              <a:t>⌊</a:t>
            </a:r>
            <a:r>
              <a:rPr lang="en-US" altLang="zh-CN" sz="2000" b="0" dirty="0"/>
              <a:t>(</a:t>
            </a:r>
            <a:r>
              <a:rPr lang="en-US" altLang="zh-CN" sz="2000" b="0" dirty="0" err="1"/>
              <a:t>low+high</a:t>
            </a:r>
            <a:r>
              <a:rPr lang="en-US" altLang="zh-CN" sz="2000" b="0" dirty="0"/>
              <a:t>)/2</a:t>
            </a:r>
            <a:r>
              <a:rPr lang="zh-CN" altLang="en-US" sz="2000" b="0" dirty="0"/>
              <a:t>⌋ 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if </a:t>
            </a:r>
            <a:r>
              <a:rPr kumimoji="1" lang="en-US" altLang="zh-CN" sz="2000" b="0" dirty="0">
                <a:solidFill>
                  <a:srgbClr val="0000FF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x&lt;A(mid) 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//</a:t>
            </a:r>
            <a:r>
              <a:rPr kumimoji="1"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每次循环只比较一次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 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then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high</a:t>
            </a:r>
            <a:r>
              <a:rPr kumimoji="1" lang="en-US" altLang="zh-CN" sz="2000" b="0" dirty="0" err="1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mid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 else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low</a:t>
            </a:r>
            <a:r>
              <a:rPr kumimoji="1" lang="en-US" altLang="zh-CN" sz="2000" b="0" dirty="0" err="1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mid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//</a:t>
            </a:r>
            <a:r>
              <a:rPr kumimoji="1" lang="zh-CN" altLang="en-US" sz="2000" b="0" dirty="0">
                <a:cs typeface="Arial" panose="020B0604020202020204" pitchFamily="34" charset="0"/>
                <a:sym typeface="Wingdings" panose="05000000000000000000" pitchFamily="2" charset="2"/>
              </a:rPr>
              <a:t>若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x&gt;=A(mid)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endif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repeat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if x=A(low) then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j</a:t>
            </a:r>
            <a:r>
              <a:rPr kumimoji="1" lang="en-US" altLang="zh-CN" sz="2000" b="0" dirty="0" err="1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low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//x</a:t>
            </a:r>
            <a:r>
              <a:rPr kumimoji="1"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出现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     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else j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0 //x</a:t>
            </a:r>
            <a:r>
              <a:rPr kumimoji="1"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不出现</a:t>
            </a:r>
            <a:endParaRPr kumimoji="1" lang="en-US" altLang="zh-CN" sz="2000" b="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end BINSRCH1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1727176" y="2192711"/>
            <a:ext cx="3186926" cy="1304318"/>
          </a:xfrm>
          <a:prstGeom prst="wedgeRoundRectCallout">
            <a:avLst>
              <a:gd name="adj1" fmla="val 44408"/>
              <a:gd name="adj2" fmla="val -70747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最好、最坏和平均情况时间对于成功和不成功的查找都是</a:t>
            </a: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Θ(</a:t>
            </a:r>
            <a:r>
              <a:rPr kumimoji="1" lang="en-US" altLang="zh-CN" sz="2000" b="0" dirty="0" err="1">
                <a:ea typeface="幼圆" panose="02010509060101010101" pitchFamily="49" charset="-122"/>
                <a:cs typeface="Arial" panose="020B0604020202020204" pitchFamily="34" charset="0"/>
              </a:rPr>
              <a:t>logn</a:t>
            </a: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)</a:t>
            </a:r>
            <a:r>
              <a:rPr kumimoji="1"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9" name="矩形 8"/>
          <p:cNvSpPr/>
          <p:nvPr/>
        </p:nvSpPr>
        <p:spPr>
          <a:xfrm>
            <a:off x="885425" y="5873464"/>
            <a:ext cx="93632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思考：二分思想下的查找算法的时间复杂度是固定不变的么？时间复杂度会受到算法实现细节的影响吗？</a:t>
            </a:r>
            <a:endParaRPr lang="en-US" altLang="zh-CN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chemeClr val="tx2"/>
                </a:solidFill>
              </a:rPr>
              <a:t>以比较为基础查找的时间下界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23392" y="1825625"/>
            <a:ext cx="10730408" cy="4351338"/>
          </a:xfrm>
        </p:spPr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对于已排序的</a:t>
            </a:r>
            <a:r>
              <a:rPr kumimoji="1" lang="en-US" altLang="zh-CN" dirty="0">
                <a:solidFill>
                  <a:srgbClr val="000000"/>
                </a:solidFill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</a:rPr>
              <a:t>个元素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zh-CN" altLang="en-US" dirty="0">
                <a:solidFill>
                  <a:srgbClr val="000000"/>
                </a:solidFill>
              </a:rPr>
              <a:t>查找某元素</a:t>
            </a:r>
            <a:r>
              <a:rPr kumimoji="1" lang="en-US" altLang="zh-CN" dirty="0">
                <a:solidFill>
                  <a:srgbClr val="000000"/>
                </a:solidFill>
              </a:rPr>
              <a:t>x</a:t>
            </a:r>
            <a:r>
              <a:rPr kumimoji="1" lang="zh-CN" altLang="en-US" dirty="0">
                <a:solidFill>
                  <a:srgbClr val="000000"/>
                </a:solidFill>
              </a:rPr>
              <a:t>是否出现时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zh-CN" altLang="en-US" dirty="0">
                <a:solidFill>
                  <a:srgbClr val="000000"/>
                </a:solidFill>
              </a:rPr>
              <a:t>是否存在以比较为基础的查找算法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zh-CN" altLang="en-US" dirty="0">
                <a:solidFill>
                  <a:srgbClr val="000000"/>
                </a:solidFill>
              </a:rPr>
              <a:t>在</a:t>
            </a:r>
            <a:r>
              <a:rPr kumimoji="1" lang="zh-CN" altLang="en-US" dirty="0">
                <a:solidFill>
                  <a:srgbClr val="FF0000"/>
                </a:solidFill>
              </a:rPr>
              <a:t>最坏</a:t>
            </a:r>
            <a:r>
              <a:rPr kumimoji="1" lang="zh-CN" altLang="en-US" dirty="0"/>
              <a:t>情况下</a:t>
            </a:r>
            <a:r>
              <a:rPr kumimoji="1" lang="zh-CN" altLang="en-US" dirty="0">
                <a:solidFill>
                  <a:srgbClr val="000000"/>
                </a:solidFill>
              </a:rPr>
              <a:t>该算法的计算时间比二分查找算法的计算时间更低？</a:t>
            </a:r>
          </a:p>
          <a:p>
            <a:pPr lvl="1"/>
            <a:r>
              <a:rPr kumimoji="1" lang="zh-CN" altLang="en-US" dirty="0">
                <a:solidFill>
                  <a:srgbClr val="000000"/>
                </a:solidFill>
              </a:rPr>
              <a:t>对于以比较为基础的查找算法的分析，采取构建二元比较树的方式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26</a:t>
            </a:fld>
            <a:endParaRPr lang="en-US" altLang="zh-CN"/>
          </a:p>
        </p:txBody>
      </p:sp>
      <p:sp>
        <p:nvSpPr>
          <p:cNvPr id="6" name="TextBox 7"/>
          <p:cNvSpPr txBox="1"/>
          <p:nvPr/>
        </p:nvSpPr>
        <p:spPr>
          <a:xfrm flipH="1">
            <a:off x="695400" y="379953"/>
            <a:ext cx="10081120" cy="9787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[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问题描述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] </a:t>
            </a:r>
            <a:r>
              <a:rPr lang="zh-CN" altLang="en-US" sz="2400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有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个如下关系的元素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:   A(1)&lt;A(2)…&lt;A(n),</a:t>
            </a:r>
            <a:r>
              <a:rPr lang="zh-CN" altLang="en-US" sz="2400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查找某一给定元素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是否在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中出现。</a:t>
            </a:r>
          </a:p>
        </p:txBody>
      </p:sp>
      <p:grpSp>
        <p:nvGrpSpPr>
          <p:cNvPr id="7" name="Group 94"/>
          <p:cNvGrpSpPr/>
          <p:nvPr/>
        </p:nvGrpSpPr>
        <p:grpSpPr bwMode="auto">
          <a:xfrm>
            <a:off x="944617" y="1674020"/>
            <a:ext cx="2449513" cy="4275138"/>
            <a:chOff x="22" y="1253"/>
            <a:chExt cx="1543" cy="2693"/>
          </a:xfrm>
          <a:noFill/>
        </p:grpSpPr>
        <p:grpSp>
          <p:nvGrpSpPr>
            <p:cNvPr id="8" name="Group 55"/>
            <p:cNvGrpSpPr/>
            <p:nvPr/>
          </p:nvGrpSpPr>
          <p:grpSpPr bwMode="auto">
            <a:xfrm>
              <a:off x="22" y="1253"/>
              <a:ext cx="1543" cy="2359"/>
              <a:chOff x="385" y="1207"/>
              <a:chExt cx="1985" cy="2544"/>
            </a:xfrm>
            <a:grpFill/>
          </p:grpSpPr>
          <p:sp>
            <p:nvSpPr>
              <p:cNvPr id="10" name="AutoShape 6"/>
              <p:cNvSpPr>
                <a:spLocks noChangeArrowheads="1"/>
              </p:cNvSpPr>
              <p:nvPr/>
            </p:nvSpPr>
            <p:spPr bwMode="auto">
              <a:xfrm>
                <a:off x="612" y="1207"/>
                <a:ext cx="720" cy="240"/>
              </a:xfrm>
              <a:prstGeom prst="roundRect">
                <a:avLst>
                  <a:gd name="adj" fmla="val 46667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 dirty="0">
                    <a:latin typeface="Tahoma" panose="020B0604030504040204" pitchFamily="34" charset="0"/>
                  </a:rPr>
                  <a:t>X:A(1)</a:t>
                </a:r>
              </a:p>
            </p:txBody>
          </p:sp>
          <p:sp>
            <p:nvSpPr>
              <p:cNvPr id="11" name="AutoShape 7"/>
              <p:cNvSpPr>
                <a:spLocks noChangeArrowheads="1"/>
              </p:cNvSpPr>
              <p:nvPr/>
            </p:nvSpPr>
            <p:spPr bwMode="auto">
              <a:xfrm>
                <a:off x="1020" y="1975"/>
                <a:ext cx="720" cy="240"/>
              </a:xfrm>
              <a:prstGeom prst="roundRect">
                <a:avLst>
                  <a:gd name="adj" fmla="val 46667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X:A(2)</a:t>
                </a:r>
              </a:p>
            </p:txBody>
          </p:sp>
          <p:sp>
            <p:nvSpPr>
              <p:cNvPr id="12" name="AutoShape 8"/>
              <p:cNvSpPr>
                <a:spLocks noChangeArrowheads="1"/>
              </p:cNvSpPr>
              <p:nvPr/>
            </p:nvSpPr>
            <p:spPr bwMode="auto">
              <a:xfrm>
                <a:off x="1383" y="2750"/>
                <a:ext cx="720" cy="240"/>
              </a:xfrm>
              <a:prstGeom prst="roundRect">
                <a:avLst>
                  <a:gd name="adj" fmla="val 46667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X:A(n)</a:t>
                </a: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385" y="1975"/>
                <a:ext cx="624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721" y="2743"/>
                <a:ext cx="624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1066" y="3511"/>
                <a:ext cx="624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 dirty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1746" y="3511"/>
                <a:ext cx="624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 dirty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997" y="1447"/>
                <a:ext cx="295" cy="53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1408" y="2239"/>
                <a:ext cx="293" cy="511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19" name="Line 15"/>
              <p:cNvSpPr>
                <a:spLocks noChangeShapeType="1"/>
              </p:cNvSpPr>
              <p:nvPr/>
            </p:nvSpPr>
            <p:spPr bwMode="auto">
              <a:xfrm>
                <a:off x="1789" y="3011"/>
                <a:ext cx="290" cy="493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 flipH="1">
                <a:off x="1429" y="3011"/>
                <a:ext cx="209" cy="50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 flipH="1">
                <a:off x="1009" y="2239"/>
                <a:ext cx="283" cy="504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 flipH="1">
                <a:off x="673" y="1447"/>
                <a:ext cx="210" cy="52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</p:grpSp>
        <p:sp>
          <p:nvSpPr>
            <p:cNvPr id="9" name="Text Box 19"/>
            <p:cNvSpPr txBox="1">
              <a:spLocks noChangeArrowheads="1"/>
            </p:cNvSpPr>
            <p:nvPr/>
          </p:nvSpPr>
          <p:spPr bwMode="auto">
            <a:xfrm>
              <a:off x="283" y="3694"/>
              <a:ext cx="763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0" dirty="0">
                  <a:latin typeface="幼圆" panose="02010509060101010101" pitchFamily="49" charset="-122"/>
                  <a:ea typeface="幼圆" panose="02010509060101010101" pitchFamily="49" charset="-122"/>
                </a:rPr>
                <a:t>线性查找</a:t>
              </a:r>
            </a:p>
          </p:txBody>
        </p:sp>
      </p:grpSp>
      <p:grpSp>
        <p:nvGrpSpPr>
          <p:cNvPr id="23" name="Group 93"/>
          <p:cNvGrpSpPr/>
          <p:nvPr/>
        </p:nvGrpSpPr>
        <p:grpSpPr bwMode="auto">
          <a:xfrm>
            <a:off x="3656068" y="1592264"/>
            <a:ext cx="7153275" cy="4357016"/>
            <a:chOff x="1210" y="1208"/>
            <a:chExt cx="4506" cy="2710"/>
          </a:xfrm>
          <a:noFill/>
        </p:grpSpPr>
        <p:grpSp>
          <p:nvGrpSpPr>
            <p:cNvPr id="24" name="Group 91"/>
            <p:cNvGrpSpPr/>
            <p:nvPr/>
          </p:nvGrpSpPr>
          <p:grpSpPr bwMode="auto">
            <a:xfrm>
              <a:off x="1210" y="1208"/>
              <a:ext cx="4506" cy="2388"/>
              <a:chOff x="1210" y="1298"/>
              <a:chExt cx="4506" cy="2388"/>
            </a:xfrm>
            <a:grpFill/>
          </p:grpSpPr>
          <p:sp>
            <p:nvSpPr>
              <p:cNvPr id="26" name="AutoShape 57"/>
              <p:cNvSpPr>
                <a:spLocks noChangeArrowheads="1"/>
              </p:cNvSpPr>
              <p:nvPr/>
            </p:nvSpPr>
            <p:spPr bwMode="auto">
              <a:xfrm>
                <a:off x="3058" y="1298"/>
                <a:ext cx="1040" cy="324"/>
              </a:xfrm>
              <a:prstGeom prst="roundRect">
                <a:avLst>
                  <a:gd name="adj" fmla="val 500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 dirty="0">
                    <a:latin typeface="Tahoma" panose="020B0604030504040204" pitchFamily="34" charset="0"/>
                  </a:rPr>
                  <a:t>X:A([(n+1)/2])</a:t>
                </a:r>
              </a:p>
            </p:txBody>
          </p:sp>
          <p:sp>
            <p:nvSpPr>
              <p:cNvPr id="27" name="AutoShape 58"/>
              <p:cNvSpPr>
                <a:spLocks noChangeArrowheads="1"/>
              </p:cNvSpPr>
              <p:nvPr/>
            </p:nvSpPr>
            <p:spPr bwMode="auto">
              <a:xfrm>
                <a:off x="4081" y="1933"/>
                <a:ext cx="1039" cy="361"/>
              </a:xfrm>
              <a:prstGeom prst="roundRect">
                <a:avLst>
                  <a:gd name="adj" fmla="val 500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X:A([(3n+1)/4])</a:t>
                </a:r>
              </a:p>
            </p:txBody>
          </p:sp>
          <p:sp>
            <p:nvSpPr>
              <p:cNvPr id="28" name="AutoShape 59"/>
              <p:cNvSpPr>
                <a:spLocks noChangeArrowheads="1"/>
              </p:cNvSpPr>
              <p:nvPr/>
            </p:nvSpPr>
            <p:spPr bwMode="auto">
              <a:xfrm>
                <a:off x="1793" y="1933"/>
                <a:ext cx="1039" cy="363"/>
              </a:xfrm>
              <a:prstGeom prst="roundRect">
                <a:avLst>
                  <a:gd name="adj" fmla="val 500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X:A([(n+1)/4])</a:t>
                </a:r>
              </a:p>
            </p:txBody>
          </p:sp>
          <p:sp>
            <p:nvSpPr>
              <p:cNvPr id="29" name="AutoShape 60"/>
              <p:cNvSpPr>
                <a:spLocks noChangeArrowheads="1"/>
              </p:cNvSpPr>
              <p:nvPr/>
            </p:nvSpPr>
            <p:spPr bwMode="auto">
              <a:xfrm>
                <a:off x="4795" y="2594"/>
                <a:ext cx="722" cy="351"/>
              </a:xfrm>
              <a:prstGeom prst="roundRect">
                <a:avLst>
                  <a:gd name="adj" fmla="val 500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X:A(n)])</a:t>
                </a:r>
              </a:p>
            </p:txBody>
          </p:sp>
          <p:sp>
            <p:nvSpPr>
              <p:cNvPr id="30" name="AutoShape 61"/>
              <p:cNvSpPr>
                <a:spLocks noChangeArrowheads="1"/>
              </p:cNvSpPr>
              <p:nvPr/>
            </p:nvSpPr>
            <p:spPr bwMode="auto">
              <a:xfrm>
                <a:off x="3451" y="2640"/>
                <a:ext cx="1174" cy="363"/>
              </a:xfrm>
              <a:prstGeom prst="roundRect">
                <a:avLst>
                  <a:gd name="adj" fmla="val 500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X:A([(2n+1)/2]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+1)</a:t>
                </a:r>
              </a:p>
            </p:txBody>
          </p:sp>
          <p:sp>
            <p:nvSpPr>
              <p:cNvPr id="31" name="AutoShape 62"/>
              <p:cNvSpPr>
                <a:spLocks noChangeArrowheads="1"/>
              </p:cNvSpPr>
              <p:nvPr/>
            </p:nvSpPr>
            <p:spPr bwMode="auto">
              <a:xfrm>
                <a:off x="2290" y="2640"/>
                <a:ext cx="1130" cy="363"/>
              </a:xfrm>
              <a:prstGeom prst="roundRect">
                <a:avLst>
                  <a:gd name="adj" fmla="val 500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X:A([(2n+1)/2]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-1)</a:t>
                </a:r>
              </a:p>
            </p:txBody>
          </p:sp>
          <p:sp>
            <p:nvSpPr>
              <p:cNvPr id="32" name="AutoShape 63"/>
              <p:cNvSpPr>
                <a:spLocks noChangeArrowheads="1"/>
              </p:cNvSpPr>
              <p:nvPr/>
            </p:nvSpPr>
            <p:spPr bwMode="auto">
              <a:xfrm>
                <a:off x="1326" y="2685"/>
                <a:ext cx="769" cy="368"/>
              </a:xfrm>
              <a:prstGeom prst="roundRect">
                <a:avLst>
                  <a:gd name="adj" fmla="val 500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b="0">
                    <a:latin typeface="Tahoma" panose="020B0604030504040204" pitchFamily="34" charset="0"/>
                  </a:rPr>
                  <a:t>X:A(1)</a:t>
                </a:r>
              </a:p>
            </p:txBody>
          </p:sp>
          <p:sp>
            <p:nvSpPr>
              <p:cNvPr id="33" name="Rectangle 64"/>
              <p:cNvSpPr>
                <a:spLocks noChangeArrowheads="1"/>
              </p:cNvSpPr>
              <p:nvPr/>
            </p:nvSpPr>
            <p:spPr bwMode="auto">
              <a:xfrm>
                <a:off x="1210" y="3442"/>
                <a:ext cx="452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 dirty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34" name="Rectangle 65"/>
              <p:cNvSpPr>
                <a:spLocks noChangeArrowheads="1"/>
              </p:cNvSpPr>
              <p:nvPr/>
            </p:nvSpPr>
            <p:spPr bwMode="auto">
              <a:xfrm>
                <a:off x="1721" y="3446"/>
                <a:ext cx="497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35" name="Rectangle 66"/>
              <p:cNvSpPr>
                <a:spLocks noChangeArrowheads="1"/>
              </p:cNvSpPr>
              <p:nvPr/>
            </p:nvSpPr>
            <p:spPr bwMode="auto">
              <a:xfrm>
                <a:off x="2278" y="3439"/>
                <a:ext cx="541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36" name="Rectangle 67"/>
              <p:cNvSpPr>
                <a:spLocks noChangeArrowheads="1"/>
              </p:cNvSpPr>
              <p:nvPr/>
            </p:nvSpPr>
            <p:spPr bwMode="auto">
              <a:xfrm>
                <a:off x="2907" y="3429"/>
                <a:ext cx="452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37" name="Rectangle 68"/>
              <p:cNvSpPr>
                <a:spLocks noChangeArrowheads="1"/>
              </p:cNvSpPr>
              <p:nvPr/>
            </p:nvSpPr>
            <p:spPr bwMode="auto">
              <a:xfrm>
                <a:off x="3423" y="3413"/>
                <a:ext cx="542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38" name="Rectangle 69"/>
              <p:cNvSpPr>
                <a:spLocks noChangeArrowheads="1"/>
              </p:cNvSpPr>
              <p:nvPr/>
            </p:nvSpPr>
            <p:spPr bwMode="auto">
              <a:xfrm>
                <a:off x="4045" y="3414"/>
                <a:ext cx="542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39" name="Rectangle 70"/>
              <p:cNvSpPr>
                <a:spLocks noChangeArrowheads="1"/>
              </p:cNvSpPr>
              <p:nvPr/>
            </p:nvSpPr>
            <p:spPr bwMode="auto">
              <a:xfrm>
                <a:off x="4646" y="3413"/>
                <a:ext cx="497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40" name="Rectangle 71"/>
              <p:cNvSpPr>
                <a:spLocks noChangeArrowheads="1"/>
              </p:cNvSpPr>
              <p:nvPr/>
            </p:nvSpPr>
            <p:spPr bwMode="auto">
              <a:xfrm>
                <a:off x="5219" y="3413"/>
                <a:ext cx="497" cy="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 b="0">
                    <a:latin typeface="Tahoma" panose="020B0604030504040204" pitchFamily="34" charset="0"/>
                  </a:rPr>
                  <a:t>不成功</a:t>
                </a:r>
              </a:p>
            </p:txBody>
          </p:sp>
          <p:sp>
            <p:nvSpPr>
              <p:cNvPr id="41" name="Line 72"/>
              <p:cNvSpPr>
                <a:spLocks noChangeShapeType="1"/>
              </p:cNvSpPr>
              <p:nvPr/>
            </p:nvSpPr>
            <p:spPr bwMode="auto">
              <a:xfrm flipH="1">
                <a:off x="1354" y="3058"/>
                <a:ext cx="224" cy="389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42" name="Line 73"/>
              <p:cNvSpPr>
                <a:spLocks noChangeShapeType="1"/>
              </p:cNvSpPr>
              <p:nvPr/>
            </p:nvSpPr>
            <p:spPr bwMode="auto">
              <a:xfrm>
                <a:off x="1720" y="3062"/>
                <a:ext cx="212" cy="385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43" name="Line 74"/>
              <p:cNvSpPr>
                <a:spLocks noChangeShapeType="1"/>
              </p:cNvSpPr>
              <p:nvPr/>
            </p:nvSpPr>
            <p:spPr bwMode="auto">
              <a:xfrm flipH="1">
                <a:off x="2440" y="3022"/>
                <a:ext cx="286" cy="4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44" name="Line 75"/>
              <p:cNvSpPr>
                <a:spLocks noChangeShapeType="1"/>
              </p:cNvSpPr>
              <p:nvPr/>
            </p:nvSpPr>
            <p:spPr bwMode="auto">
              <a:xfrm>
                <a:off x="2888" y="3013"/>
                <a:ext cx="277" cy="40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45" name="Line 76"/>
              <p:cNvSpPr>
                <a:spLocks noChangeShapeType="1"/>
              </p:cNvSpPr>
              <p:nvPr/>
            </p:nvSpPr>
            <p:spPr bwMode="auto">
              <a:xfrm flipH="1">
                <a:off x="3701" y="3001"/>
                <a:ext cx="219" cy="39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46" name="Line 77"/>
              <p:cNvSpPr>
                <a:spLocks noChangeShapeType="1"/>
              </p:cNvSpPr>
              <p:nvPr/>
            </p:nvSpPr>
            <p:spPr bwMode="auto">
              <a:xfrm>
                <a:off x="4045" y="3021"/>
                <a:ext cx="254" cy="3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47" name="Line 78"/>
              <p:cNvSpPr>
                <a:spLocks noChangeShapeType="1"/>
              </p:cNvSpPr>
              <p:nvPr/>
            </p:nvSpPr>
            <p:spPr bwMode="auto">
              <a:xfrm flipH="1">
                <a:off x="4829" y="2943"/>
                <a:ext cx="229" cy="47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48" name="Line 79"/>
              <p:cNvSpPr>
                <a:spLocks noChangeShapeType="1"/>
              </p:cNvSpPr>
              <p:nvPr/>
            </p:nvSpPr>
            <p:spPr bwMode="auto">
              <a:xfrm>
                <a:off x="5240" y="2945"/>
                <a:ext cx="311" cy="46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49" name="Line 80"/>
              <p:cNvSpPr>
                <a:spLocks noChangeShapeType="1"/>
              </p:cNvSpPr>
              <p:nvPr/>
            </p:nvSpPr>
            <p:spPr bwMode="auto">
              <a:xfrm flipH="1">
                <a:off x="1687" y="2294"/>
                <a:ext cx="468" cy="39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50" name="Line 81"/>
              <p:cNvSpPr>
                <a:spLocks noChangeShapeType="1"/>
              </p:cNvSpPr>
              <p:nvPr/>
            </p:nvSpPr>
            <p:spPr bwMode="auto">
              <a:xfrm>
                <a:off x="2470" y="2294"/>
                <a:ext cx="543" cy="336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51" name="Line 82"/>
              <p:cNvSpPr>
                <a:spLocks noChangeShapeType="1"/>
              </p:cNvSpPr>
              <p:nvPr/>
            </p:nvSpPr>
            <p:spPr bwMode="auto">
              <a:xfrm flipH="1">
                <a:off x="4038" y="2294"/>
                <a:ext cx="476" cy="35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52" name="Line 83"/>
              <p:cNvSpPr>
                <a:spLocks noChangeShapeType="1"/>
              </p:cNvSpPr>
              <p:nvPr/>
            </p:nvSpPr>
            <p:spPr bwMode="auto">
              <a:xfrm>
                <a:off x="4710" y="2294"/>
                <a:ext cx="388" cy="30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53" name="Line 84"/>
              <p:cNvSpPr>
                <a:spLocks noChangeShapeType="1"/>
              </p:cNvSpPr>
              <p:nvPr/>
            </p:nvSpPr>
            <p:spPr bwMode="auto">
              <a:xfrm flipH="1">
                <a:off x="2517" y="1622"/>
                <a:ext cx="947" cy="311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54" name="Line 85"/>
              <p:cNvSpPr>
                <a:spLocks noChangeShapeType="1"/>
              </p:cNvSpPr>
              <p:nvPr/>
            </p:nvSpPr>
            <p:spPr bwMode="auto">
              <a:xfrm>
                <a:off x="3736" y="1622"/>
                <a:ext cx="822" cy="311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600"/>
              </a:p>
            </p:txBody>
          </p:sp>
          <p:sp>
            <p:nvSpPr>
              <p:cNvPr id="55" name="Text Box 86"/>
              <p:cNvSpPr txBox="1">
                <a:spLocks noChangeArrowheads="1"/>
              </p:cNvSpPr>
              <p:nvPr/>
            </p:nvSpPr>
            <p:spPr bwMode="auto">
              <a:xfrm>
                <a:off x="2116" y="2572"/>
                <a:ext cx="310" cy="250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…</a:t>
                </a:r>
                <a:endParaRPr kumimoji="1" lang="en-US" altLang="zh-CN" sz="2000" b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6" name="Text Box 87"/>
              <p:cNvSpPr txBox="1">
                <a:spLocks noChangeArrowheads="1"/>
              </p:cNvSpPr>
              <p:nvPr/>
            </p:nvSpPr>
            <p:spPr bwMode="auto">
              <a:xfrm>
                <a:off x="4746" y="2582"/>
                <a:ext cx="310" cy="250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…</a:t>
                </a:r>
                <a:endParaRPr kumimoji="1" lang="en-US" altLang="zh-CN" sz="2000" b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7" name="Text Box 88"/>
              <p:cNvSpPr txBox="1">
                <a:spLocks noChangeArrowheads="1"/>
              </p:cNvSpPr>
              <p:nvPr/>
            </p:nvSpPr>
            <p:spPr bwMode="auto">
              <a:xfrm>
                <a:off x="2074" y="2848"/>
                <a:ext cx="278" cy="25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…</a:t>
                </a:r>
                <a:endParaRPr kumimoji="1" lang="en-US" altLang="zh-CN" sz="2000" b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8" name="Text Box 89"/>
              <p:cNvSpPr txBox="1">
                <a:spLocks noChangeArrowheads="1"/>
              </p:cNvSpPr>
              <p:nvPr/>
            </p:nvSpPr>
            <p:spPr bwMode="auto">
              <a:xfrm>
                <a:off x="4551" y="2810"/>
                <a:ext cx="278" cy="252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…</a:t>
                </a:r>
                <a:endParaRPr kumimoji="1" lang="en-US" altLang="zh-CN" sz="2000" b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5" name="Text Box 92"/>
            <p:cNvSpPr txBox="1">
              <a:spLocks noChangeArrowheads="1"/>
            </p:cNvSpPr>
            <p:nvPr/>
          </p:nvSpPr>
          <p:spPr bwMode="auto">
            <a:xfrm>
              <a:off x="3153" y="3666"/>
              <a:ext cx="767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0" dirty="0">
                  <a:latin typeface="幼圆" panose="02010509060101010101" pitchFamily="49" charset="-122"/>
                  <a:ea typeface="幼圆" panose="02010509060101010101" pitchFamily="49" charset="-122"/>
                </a:rPr>
                <a:t>二分查找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以比较为基础查找的时间下界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0922" y="3131189"/>
            <a:ext cx="10515600" cy="202788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600" dirty="0"/>
              <a:t>证明：通过考察模拟求解查找问题的各种可能算法的比较树可知，</a:t>
            </a:r>
            <a:r>
              <a:rPr lang="en-US" altLang="zh-CN" sz="2600" dirty="0"/>
              <a:t>FIND(n)</a:t>
            </a:r>
            <a:r>
              <a:rPr lang="zh-CN" altLang="en-US" sz="2600" dirty="0"/>
              <a:t>不大于树中由根到一个叶子的</a:t>
            </a:r>
            <a:r>
              <a:rPr lang="zh-CN" altLang="en-US" sz="2600" b="1" dirty="0"/>
              <a:t>最长路径的距离</a:t>
            </a:r>
            <a:r>
              <a:rPr lang="zh-CN" altLang="en-US" sz="2600" dirty="0"/>
              <a:t>。在这所有的树中都必定有</a:t>
            </a:r>
            <a:r>
              <a:rPr lang="en-US" altLang="zh-CN" sz="2600" dirty="0"/>
              <a:t>n</a:t>
            </a:r>
            <a:r>
              <a:rPr lang="zh-CN" altLang="en-US" sz="2600" dirty="0"/>
              <a:t>个内节点与</a:t>
            </a:r>
            <a:r>
              <a:rPr lang="en-US" altLang="zh-CN" sz="2600" dirty="0"/>
              <a:t>x</a:t>
            </a:r>
            <a:r>
              <a:rPr lang="zh-CN" altLang="en-US" sz="2600" dirty="0"/>
              <a:t>在</a:t>
            </a:r>
            <a:r>
              <a:rPr lang="en-US" altLang="zh-CN" sz="2600" dirty="0"/>
              <a:t>A</a:t>
            </a:r>
            <a:r>
              <a:rPr lang="zh-CN" altLang="en-US" sz="2600" dirty="0"/>
              <a:t>中可能的</a:t>
            </a:r>
            <a:r>
              <a:rPr lang="en-US" altLang="zh-CN" sz="2600" dirty="0"/>
              <a:t>n</a:t>
            </a:r>
            <a:r>
              <a:rPr lang="zh-CN" altLang="en-US" sz="2600" dirty="0"/>
              <a:t>种出现情况相对应。如果一棵二元树的所有内节点所在的级数小于或等于级数</a:t>
            </a:r>
            <a:r>
              <a:rPr lang="en-US" altLang="zh-CN" sz="2600" dirty="0"/>
              <a:t>k</a:t>
            </a:r>
            <a:r>
              <a:rPr lang="zh-CN" altLang="en-US" sz="2600" dirty="0"/>
              <a:t>，则最多有</a:t>
            </a:r>
            <a:r>
              <a:rPr lang="en-US" altLang="zh-CN" sz="2600" dirty="0"/>
              <a:t>2</a:t>
            </a:r>
            <a:r>
              <a:rPr lang="en-US" altLang="zh-CN" sz="2600" baseline="30000" dirty="0"/>
              <a:t>k</a:t>
            </a:r>
            <a:r>
              <a:rPr lang="en-US" altLang="zh-CN" sz="2600" dirty="0"/>
              <a:t>-1</a:t>
            </a:r>
            <a:r>
              <a:rPr lang="zh-CN" altLang="en-US" sz="2600" dirty="0"/>
              <a:t>个内节点。因此</a:t>
            </a:r>
            <a:r>
              <a:rPr lang="en-US" altLang="zh-CN" sz="2600" dirty="0"/>
              <a:t>n&lt;= 2</a:t>
            </a:r>
            <a:r>
              <a:rPr lang="en-US" altLang="zh-CN" sz="2600" baseline="30000" dirty="0"/>
              <a:t>k</a:t>
            </a:r>
            <a:r>
              <a:rPr lang="en-US" altLang="zh-CN" sz="2600" dirty="0"/>
              <a:t>-1 </a:t>
            </a:r>
            <a:r>
              <a:rPr lang="zh-CN" altLang="en-US" sz="2600" dirty="0"/>
              <a:t>，即</a:t>
            </a:r>
            <a:r>
              <a:rPr kumimoji="1" lang="en-US" altLang="zh-CN" sz="2600" dirty="0">
                <a:solidFill>
                  <a:srgbClr val="FF0000"/>
                </a:solidFill>
              </a:rPr>
              <a:t>FIND(n)=k≥ </a:t>
            </a:r>
            <a:r>
              <a:rPr lang="zh-CN" altLang="en-US" sz="2400" dirty="0">
                <a:solidFill>
                  <a:srgbClr val="FF0000"/>
                </a:solidFill>
              </a:rPr>
              <a:t>⌈</a:t>
            </a:r>
            <a:r>
              <a:rPr kumimoji="1" lang="en-US" altLang="zh-CN" sz="2600" dirty="0">
                <a:solidFill>
                  <a:srgbClr val="FF0000"/>
                </a:solidFill>
              </a:rPr>
              <a:t>log(n+1)</a:t>
            </a:r>
            <a:r>
              <a:rPr lang="zh-CN" altLang="en-US" sz="2400" dirty="0">
                <a:solidFill>
                  <a:srgbClr val="FF0000"/>
                </a:solidFill>
              </a:rPr>
              <a:t>⌉</a:t>
            </a:r>
            <a:r>
              <a:rPr kumimoji="1" lang="en-US" altLang="zh-CN" sz="2600" dirty="0">
                <a:solidFill>
                  <a:srgbClr val="FF0000"/>
                </a:solidFill>
              </a:rPr>
              <a:t> </a:t>
            </a:r>
            <a:r>
              <a:rPr kumimoji="1" lang="zh-CN" altLang="en-US" sz="2600" dirty="0"/>
              <a:t>。证毕。</a:t>
            </a:r>
            <a:endParaRPr kumimoji="1" lang="en-US" altLang="zh-CN" sz="26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27</a:t>
            </a:fld>
            <a:endParaRPr lang="en-US" altLang="zh-CN"/>
          </a:p>
        </p:txBody>
      </p:sp>
      <p:sp>
        <p:nvSpPr>
          <p:cNvPr id="5" name="TextBox 7"/>
          <p:cNvSpPr txBox="1"/>
          <p:nvPr/>
        </p:nvSpPr>
        <p:spPr>
          <a:xfrm flipH="1">
            <a:off x="976868" y="1687641"/>
            <a:ext cx="10409654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定理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4.2: 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设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A(1:n)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含有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n(n≥1)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个不同的元素，排序为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A(1)&lt;A(2)&lt;…&lt;A(n)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。又设以比较为基础去判断是否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x∈A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(1:n)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的任何算法在最坏情况下所需的最小比较次数是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FIND(n)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，那么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FIND(n)≥ </a:t>
            </a:r>
            <a:r>
              <a:rPr lang="zh-CN" altLang="en-US" sz="2400" dirty="0"/>
              <a:t>⌈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log(n+1)</a:t>
            </a:r>
            <a:r>
              <a:rPr lang="zh-CN" altLang="en-US" sz="2400" dirty="0"/>
              <a:t>⌉</a:t>
            </a:r>
            <a:endParaRPr kumimoji="1" lang="en-US" altLang="zh-CN" sz="2400" dirty="0"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39616" y="5332512"/>
            <a:ext cx="81211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不存在其最坏情况下计算时间低于</a:t>
            </a:r>
            <a:r>
              <a:rPr kumimoji="1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Θ (</a:t>
            </a:r>
            <a:r>
              <a:rPr kumimoji="1"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logn</a:t>
            </a:r>
            <a:r>
              <a:rPr kumimoji="1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)</a:t>
            </a:r>
            <a:r>
              <a:rPr kumimoji="1"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的算法。</a:t>
            </a:r>
            <a:endParaRPr kumimoji="1" lang="en-US" altLang="zh-CN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spcBef>
                <a:spcPct val="0"/>
              </a:spcBef>
            </a:pPr>
            <a:r>
              <a:rPr kumimoji="1"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二分查找是解决查找问题最坏情况的最优算法</a:t>
            </a:r>
            <a:endParaRPr lang="en-US" altLang="zh-CN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思考题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837743" y="1844824"/>
            <a:ext cx="10516057" cy="3886200"/>
          </a:xfrm>
        </p:spPr>
        <p:txBody>
          <a:bodyPr/>
          <a:lstStyle/>
          <a:p>
            <a:pPr eaLnBrk="1" hangingPunct="1"/>
            <a:r>
              <a:rPr lang="zh-CN" altLang="en-US" dirty="0"/>
              <a:t>证明</a:t>
            </a:r>
            <a:r>
              <a:rPr lang="en-US" altLang="zh-CN" dirty="0"/>
              <a:t>E=I+2n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证明</a:t>
            </a:r>
            <a:r>
              <a:rPr lang="en-US" altLang="zh-CN" dirty="0"/>
              <a:t>BINSRCH1</a:t>
            </a:r>
            <a:r>
              <a:rPr lang="zh-CN" altLang="en-US" dirty="0"/>
              <a:t>的最好、最坏和平均情况时间对于成功和不成功的查找都是</a:t>
            </a:r>
            <a:r>
              <a:rPr kumimoji="1" lang="en-US" altLang="zh-CN" dirty="0"/>
              <a:t>Θ(</a:t>
            </a:r>
            <a:r>
              <a:rPr kumimoji="1" lang="en-US" altLang="zh-CN" dirty="0" err="1"/>
              <a:t>logn</a:t>
            </a:r>
            <a:r>
              <a:rPr kumimoji="1" lang="en-US" altLang="zh-CN" dirty="0"/>
              <a:t>)</a:t>
            </a:r>
            <a:r>
              <a:rPr kumimoji="1" lang="zh-CN" altLang="en-US" dirty="0"/>
              <a:t>。</a:t>
            </a:r>
          </a:p>
          <a:p>
            <a:pPr eaLnBrk="1" hangingPunct="1"/>
            <a:r>
              <a:rPr lang="zh-CN" altLang="en-US" dirty="0"/>
              <a:t>三分（多分）查找会得到更优的结果吗？</a:t>
            </a:r>
          </a:p>
          <a:p>
            <a:pPr eaLnBrk="1" hangingPunct="1"/>
            <a:endParaRPr kumimoji="1"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4.3 </a:t>
            </a:r>
            <a:r>
              <a:rPr lang="zh-CN" altLang="en-US" dirty="0"/>
              <a:t>归并排序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问题描述及一般方法思想</a:t>
            </a:r>
            <a:r>
              <a:rPr lang="en-US" altLang="zh-CN" dirty="0"/>
              <a:t>(</a:t>
            </a:r>
            <a:r>
              <a:rPr lang="zh-CN" altLang="en-US" dirty="0"/>
              <a:t>直接插入法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kumimoji="1" lang="zh-CN" altLang="en-US" dirty="0"/>
              <a:t>归并排序算法思想、描述及实例</a:t>
            </a:r>
          </a:p>
          <a:p>
            <a:pPr eaLnBrk="1" hangingPunct="1">
              <a:lnSpc>
                <a:spcPct val="90000"/>
              </a:lnSpc>
            </a:pPr>
            <a:r>
              <a:rPr kumimoji="1" lang="zh-CN" altLang="en-US" dirty="0"/>
              <a:t>合并算法思想、描述及实例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归并排序算法的计算时间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归并排序算法的缺点及改进思想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以比较为基础的排序算法时间下界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问题描述及一般方法思想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839804" y="1690690"/>
            <a:ext cx="10296756" cy="38862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问题描述：</a:t>
            </a:r>
            <a:r>
              <a:rPr kumimoji="1" lang="zh-CN" altLang="en-US" dirty="0"/>
              <a:t>给定一个含有</a:t>
            </a:r>
            <a:r>
              <a:rPr kumimoji="1" lang="en-US" altLang="zh-CN" dirty="0"/>
              <a:t>n</a:t>
            </a:r>
            <a:r>
              <a:rPr kumimoji="1" lang="zh-CN" altLang="en-US" dirty="0"/>
              <a:t>个元素的集合，要求把它们按非降次序排列。</a:t>
            </a:r>
          </a:p>
          <a:p>
            <a:pPr eaLnBrk="1" hangingPunct="1"/>
            <a:r>
              <a:rPr kumimoji="1" lang="zh-CN" altLang="en-US" dirty="0"/>
              <a:t>一般方法</a:t>
            </a:r>
            <a:r>
              <a:rPr kumimoji="1" lang="en-US" altLang="zh-CN" dirty="0"/>
              <a:t>(</a:t>
            </a:r>
            <a:r>
              <a:rPr kumimoji="1" lang="zh-CN" altLang="en-US" dirty="0"/>
              <a:t>直接插入法</a:t>
            </a:r>
            <a:r>
              <a:rPr kumimoji="1" lang="en-US" altLang="zh-CN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400" dirty="0"/>
              <a:t>    for j←2 to n do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1" lang="en-US" altLang="zh-CN" dirty="0"/>
              <a:t>   	</a:t>
            </a:r>
            <a:r>
              <a:rPr kumimoji="1" lang="zh-CN" altLang="en-US" dirty="0"/>
              <a:t>将</a:t>
            </a:r>
            <a:r>
              <a:rPr kumimoji="1" lang="en-US" altLang="zh-CN" dirty="0"/>
              <a:t>A(j)</a:t>
            </a:r>
            <a:r>
              <a:rPr kumimoji="1" lang="zh-CN" altLang="en-US" dirty="0"/>
              <a:t>放入已排序</a:t>
            </a:r>
            <a:r>
              <a:rPr kumimoji="1" lang="en-US" altLang="zh-CN" dirty="0"/>
              <a:t>A(1:j-1)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1" lang="en-US" altLang="zh-CN" dirty="0"/>
              <a:t>repeat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30</a:t>
            </a:fld>
            <a:endParaRPr lang="en-US" altLang="zh-CN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591944" y="4077072"/>
            <a:ext cx="2304256" cy="875330"/>
          </a:xfrm>
          <a:prstGeom prst="wedgeRoundRectCallout">
            <a:avLst>
              <a:gd name="adj1" fmla="val -49388"/>
              <a:gd name="adj2" fmla="val -77078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最好情况：</a:t>
            </a:r>
            <a:r>
              <a:rPr lang="en-US" altLang="zh-CN" sz="2000" b="0" dirty="0">
                <a:solidFill>
                  <a:srgbClr val="FF0000"/>
                </a:solidFill>
              </a:rPr>
              <a:t>O(n)</a:t>
            </a:r>
            <a:endParaRPr lang="zh-CN" altLang="en-US" sz="2000" b="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最坏情况：</a:t>
            </a:r>
            <a:r>
              <a:rPr lang="en-US" altLang="zh-CN" sz="2000" b="0" dirty="0">
                <a:solidFill>
                  <a:srgbClr val="FF0000"/>
                </a:solidFill>
              </a:rPr>
              <a:t>O(n</a:t>
            </a:r>
            <a:r>
              <a:rPr lang="en-US" altLang="zh-CN" sz="2000" b="0" baseline="30000" dirty="0">
                <a:solidFill>
                  <a:srgbClr val="FF0000"/>
                </a:solidFill>
              </a:rPr>
              <a:t>2</a:t>
            </a:r>
            <a:r>
              <a:rPr lang="en-US" altLang="zh-CN" sz="2000" b="0" dirty="0">
                <a:solidFill>
                  <a:srgbClr val="FF0000"/>
                </a:solidFill>
              </a:rPr>
              <a:t>)</a:t>
            </a:r>
            <a:endParaRPr lang="zh-CN" altLang="en-US" sz="2000" b="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kumimoji="1"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chemeClr val="tx2"/>
                </a:solidFill>
              </a:rPr>
              <a:t>分治策略设计归并排序算法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479376" y="1951831"/>
            <a:ext cx="10515600" cy="4111625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</a:rPr>
              <a:t>分</a:t>
            </a:r>
            <a:r>
              <a:rPr kumimoji="1" lang="zh-CN" altLang="en-US" dirty="0"/>
              <a:t>：将</a:t>
            </a:r>
            <a:r>
              <a:rPr kumimoji="1" lang="en-US" altLang="zh-CN" dirty="0"/>
              <a:t>A(1),…A(n)</a:t>
            </a:r>
            <a:r>
              <a:rPr kumimoji="1" lang="zh-CN" altLang="en-US" dirty="0"/>
              <a:t>平均分为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个子集</a:t>
            </a:r>
            <a:r>
              <a:rPr kumimoji="1" lang="en-US" altLang="zh-CN" dirty="0"/>
              <a:t>:A(1),…,A(</a:t>
            </a:r>
            <a:r>
              <a:rPr lang="zh-CN" altLang="en-US" dirty="0"/>
              <a:t>⌊</a:t>
            </a:r>
            <a:r>
              <a:rPr kumimoji="1" lang="en-US" altLang="zh-CN" dirty="0"/>
              <a:t>n/2</a:t>
            </a:r>
            <a:r>
              <a:rPr lang="zh-CN" altLang="en-US" dirty="0"/>
              <a:t>⌋</a:t>
            </a:r>
            <a:r>
              <a:rPr kumimoji="1" lang="en-US" altLang="zh-CN" dirty="0"/>
              <a:t>)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A(</a:t>
            </a:r>
            <a:r>
              <a:rPr lang="zh-CN" altLang="en-US" dirty="0"/>
              <a:t>⌊</a:t>
            </a:r>
            <a:r>
              <a:rPr kumimoji="1" lang="en-US" altLang="zh-CN" dirty="0"/>
              <a:t>n/2</a:t>
            </a:r>
            <a:r>
              <a:rPr lang="zh-CN" altLang="en-US" dirty="0"/>
              <a:t>⌋</a:t>
            </a:r>
            <a:r>
              <a:rPr kumimoji="1" lang="en-US" altLang="zh-CN" dirty="0"/>
              <a:t>+ 1),…,A(n)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</a:rPr>
              <a:t>治</a:t>
            </a:r>
            <a:r>
              <a:rPr kumimoji="1" lang="zh-CN" altLang="en-US" dirty="0"/>
              <a:t>：递归调用，将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个子集排序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</a:rPr>
              <a:t>合</a:t>
            </a:r>
            <a:r>
              <a:rPr kumimoji="1" lang="zh-CN" altLang="en-US" dirty="0"/>
              <a:t>：将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个排好序的子集合并为一个有序集合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MERGESORT</a:t>
            </a:r>
            <a:r>
              <a:rPr kumimoji="1" lang="zh-CN" altLang="en-US" dirty="0">
                <a:solidFill>
                  <a:schemeClr val="tx2"/>
                </a:solidFill>
              </a:rPr>
              <a:t>算法描述</a:t>
            </a: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946597" y="1659744"/>
            <a:ext cx="579120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Procedure MERGESORT(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low,high</a:t>
            </a:r>
            <a:r>
              <a:rPr kumimoji="1" lang="en-US" altLang="zh-CN" sz="2400" b="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 err="1">
                <a:cs typeface="Arial" panose="020B0604020202020204" pitchFamily="34" charset="0"/>
              </a:rPr>
              <a:t>int</a:t>
            </a:r>
            <a:r>
              <a:rPr kumimoji="1" lang="en-US" altLang="zh-CN" sz="2400" b="0" dirty="0">
                <a:cs typeface="Arial" panose="020B0604020202020204" pitchFamily="34" charset="0"/>
              </a:rPr>
              <a:t>  low, high, mid;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if  low&lt;high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then   mid=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zh-CN" altLang="en-US" sz="2400" dirty="0"/>
              <a:t>⌊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low+high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)/2</a:t>
            </a:r>
            <a:r>
              <a:rPr lang="zh-CN" altLang="en-US" sz="2400" dirty="0"/>
              <a:t>⌋</a:t>
            </a:r>
            <a:endParaRPr kumimoji="1" lang="en-US" altLang="zh-CN" sz="2400" b="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call  MERGESORT(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low,mid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call  MERGESORT(mid+1,high)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call  MERGE(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low,mid,high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endif</a:t>
            </a:r>
            <a:endParaRPr kumimoji="1" lang="en-US" altLang="zh-CN" sz="2400" b="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end  MERGESORT</a:t>
            </a:r>
            <a:endParaRPr kumimoji="1" lang="en-US" altLang="zh-CN" sz="2400" b="0" dirty="0"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32</a:t>
            </a:fld>
            <a:endParaRPr lang="en-US" altLang="zh-CN"/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6528048" y="2569602"/>
            <a:ext cx="2376264" cy="875330"/>
          </a:xfrm>
          <a:prstGeom prst="wedgeRoundRectCallout">
            <a:avLst>
              <a:gd name="adj1" fmla="val -54846"/>
              <a:gd name="adj2" fmla="val 45324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递归调用，分别对两个子问题排序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kumimoji="1" lang="zh-CN" altLang="en-US" sz="2000" b="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auto">
          <a:xfrm>
            <a:off x="6264384" y="4323844"/>
            <a:ext cx="2805725" cy="875330"/>
          </a:xfrm>
          <a:prstGeom prst="wedgeRoundRectCallout">
            <a:avLst>
              <a:gd name="adj1" fmla="val -63009"/>
              <a:gd name="adj2" fmla="val -45422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kumimoji="1"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合并两个已排好的子集，得到原问题的解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kumimoji="1" lang="zh-CN" altLang="en-US" sz="2000" b="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 dirty="0">
                <a:solidFill>
                  <a:schemeClr val="tx2"/>
                </a:solidFill>
              </a:rPr>
              <a:t>MERGE</a:t>
            </a:r>
            <a:r>
              <a:rPr kumimoji="1" lang="zh-CN" altLang="en-US" dirty="0">
                <a:solidFill>
                  <a:schemeClr val="tx2"/>
                </a:solidFill>
              </a:rPr>
              <a:t>算法思想</a:t>
            </a:r>
          </a:p>
        </p:txBody>
      </p:sp>
      <p:sp>
        <p:nvSpPr>
          <p:cNvPr id="45059" name="Rectangle 4"/>
          <p:cNvSpPr>
            <a:spLocks noChangeArrowheads="1"/>
          </p:cNvSpPr>
          <p:nvPr/>
        </p:nvSpPr>
        <p:spPr bwMode="auto">
          <a:xfrm>
            <a:off x="1128912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60" name="Rectangle 5"/>
          <p:cNvSpPr>
            <a:spLocks noChangeArrowheads="1"/>
          </p:cNvSpPr>
          <p:nvPr/>
        </p:nvSpPr>
        <p:spPr bwMode="auto">
          <a:xfrm>
            <a:off x="1487687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61" name="Rectangle 6"/>
          <p:cNvSpPr>
            <a:spLocks noChangeArrowheads="1"/>
          </p:cNvSpPr>
          <p:nvPr/>
        </p:nvSpPr>
        <p:spPr bwMode="auto">
          <a:xfrm>
            <a:off x="1848049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62" name="Rectangle 7"/>
          <p:cNvSpPr>
            <a:spLocks noChangeArrowheads="1"/>
          </p:cNvSpPr>
          <p:nvPr/>
        </p:nvSpPr>
        <p:spPr bwMode="auto">
          <a:xfrm>
            <a:off x="2208412" y="2006032"/>
            <a:ext cx="35877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/>
              <a:t>…</a:t>
            </a:r>
          </a:p>
        </p:txBody>
      </p:sp>
      <p:sp>
        <p:nvSpPr>
          <p:cNvPr id="45063" name="Rectangle 8"/>
          <p:cNvSpPr>
            <a:spLocks noChangeArrowheads="1"/>
          </p:cNvSpPr>
          <p:nvPr/>
        </p:nvSpPr>
        <p:spPr bwMode="auto">
          <a:xfrm>
            <a:off x="2568774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64" name="Rectangle 9"/>
          <p:cNvSpPr>
            <a:spLocks noChangeArrowheads="1"/>
          </p:cNvSpPr>
          <p:nvPr/>
        </p:nvSpPr>
        <p:spPr bwMode="auto">
          <a:xfrm>
            <a:off x="2929137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65" name="Rectangle 10"/>
          <p:cNvSpPr>
            <a:spLocks noChangeArrowheads="1"/>
          </p:cNvSpPr>
          <p:nvPr/>
        </p:nvSpPr>
        <p:spPr bwMode="auto">
          <a:xfrm>
            <a:off x="5015880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66" name="Rectangle 11"/>
          <p:cNvSpPr>
            <a:spLocks noChangeArrowheads="1"/>
          </p:cNvSpPr>
          <p:nvPr/>
        </p:nvSpPr>
        <p:spPr bwMode="auto">
          <a:xfrm>
            <a:off x="5375474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67" name="Rectangle 12"/>
          <p:cNvSpPr>
            <a:spLocks noChangeArrowheads="1"/>
          </p:cNvSpPr>
          <p:nvPr/>
        </p:nvSpPr>
        <p:spPr bwMode="auto">
          <a:xfrm>
            <a:off x="5734249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68" name="Rectangle 13"/>
          <p:cNvSpPr>
            <a:spLocks noChangeArrowheads="1"/>
          </p:cNvSpPr>
          <p:nvPr/>
        </p:nvSpPr>
        <p:spPr bwMode="auto">
          <a:xfrm>
            <a:off x="6093024" y="2006032"/>
            <a:ext cx="35877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/>
              <a:t>…</a:t>
            </a:r>
          </a:p>
        </p:txBody>
      </p:sp>
      <p:sp>
        <p:nvSpPr>
          <p:cNvPr id="45069" name="Rectangle 14"/>
          <p:cNvSpPr>
            <a:spLocks noChangeArrowheads="1"/>
          </p:cNvSpPr>
          <p:nvPr/>
        </p:nvSpPr>
        <p:spPr bwMode="auto">
          <a:xfrm>
            <a:off x="6453387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70" name="Rectangle 15"/>
          <p:cNvSpPr>
            <a:spLocks noChangeArrowheads="1"/>
          </p:cNvSpPr>
          <p:nvPr/>
        </p:nvSpPr>
        <p:spPr bwMode="auto">
          <a:xfrm>
            <a:off x="6812162" y="2006032"/>
            <a:ext cx="358775" cy="36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71" name="Text Box 16"/>
          <p:cNvSpPr txBox="1">
            <a:spLocks noChangeArrowheads="1"/>
          </p:cNvSpPr>
          <p:nvPr/>
        </p:nvSpPr>
        <p:spPr bwMode="auto">
          <a:xfrm>
            <a:off x="911424" y="1566295"/>
            <a:ext cx="26638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/>
              <a:t>A(low)    …   A(mid)</a:t>
            </a:r>
          </a:p>
        </p:txBody>
      </p:sp>
      <p:sp>
        <p:nvSpPr>
          <p:cNvPr id="45072" name="Text Box 17"/>
          <p:cNvSpPr txBox="1">
            <a:spLocks noChangeArrowheads="1"/>
          </p:cNvSpPr>
          <p:nvPr/>
        </p:nvSpPr>
        <p:spPr bwMode="auto">
          <a:xfrm>
            <a:off x="4726186" y="1574233"/>
            <a:ext cx="3167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/>
              <a:t>A(mid+1)    …   A(high)</a:t>
            </a:r>
          </a:p>
        </p:txBody>
      </p:sp>
      <p:sp>
        <p:nvSpPr>
          <p:cNvPr id="45073" name="Rectangle 18"/>
          <p:cNvSpPr>
            <a:spLocks noChangeArrowheads="1"/>
          </p:cNvSpPr>
          <p:nvPr/>
        </p:nvSpPr>
        <p:spPr bwMode="auto">
          <a:xfrm>
            <a:off x="1127324" y="3309370"/>
            <a:ext cx="35877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74" name="Rectangle 19"/>
          <p:cNvSpPr>
            <a:spLocks noChangeArrowheads="1"/>
          </p:cNvSpPr>
          <p:nvPr/>
        </p:nvSpPr>
        <p:spPr bwMode="auto">
          <a:xfrm>
            <a:off x="1486099" y="3309370"/>
            <a:ext cx="35877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75" name="Rectangle 20"/>
          <p:cNvSpPr>
            <a:spLocks noChangeArrowheads="1"/>
          </p:cNvSpPr>
          <p:nvPr/>
        </p:nvSpPr>
        <p:spPr bwMode="auto">
          <a:xfrm>
            <a:off x="1846462" y="3309370"/>
            <a:ext cx="35877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76" name="Rectangle 21"/>
          <p:cNvSpPr>
            <a:spLocks noChangeArrowheads="1"/>
          </p:cNvSpPr>
          <p:nvPr/>
        </p:nvSpPr>
        <p:spPr bwMode="auto">
          <a:xfrm>
            <a:off x="4005462" y="3309370"/>
            <a:ext cx="358775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/>
              <a:t>…</a:t>
            </a:r>
          </a:p>
        </p:txBody>
      </p:sp>
      <p:sp>
        <p:nvSpPr>
          <p:cNvPr id="45077" name="Rectangle 22"/>
          <p:cNvSpPr>
            <a:spLocks noChangeArrowheads="1"/>
          </p:cNvSpPr>
          <p:nvPr/>
        </p:nvSpPr>
        <p:spPr bwMode="auto">
          <a:xfrm>
            <a:off x="6453387" y="3309370"/>
            <a:ext cx="35877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78" name="Rectangle 23"/>
          <p:cNvSpPr>
            <a:spLocks noChangeArrowheads="1"/>
          </p:cNvSpPr>
          <p:nvPr/>
        </p:nvSpPr>
        <p:spPr bwMode="auto">
          <a:xfrm>
            <a:off x="6813749" y="3309370"/>
            <a:ext cx="35877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45079" name="Text Box 24"/>
          <p:cNvSpPr txBox="1">
            <a:spLocks noChangeArrowheads="1"/>
          </p:cNvSpPr>
          <p:nvPr/>
        </p:nvSpPr>
        <p:spPr bwMode="auto">
          <a:xfrm>
            <a:off x="909836" y="2869633"/>
            <a:ext cx="65516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/>
              <a:t>B(low)                                …                               B(high)</a:t>
            </a:r>
          </a:p>
        </p:txBody>
      </p:sp>
      <p:grpSp>
        <p:nvGrpSpPr>
          <p:cNvPr id="45080" name="Group 32"/>
          <p:cNvGrpSpPr/>
          <p:nvPr/>
        </p:nvGrpSpPr>
        <p:grpSpPr bwMode="auto">
          <a:xfrm>
            <a:off x="4940499" y="2366394"/>
            <a:ext cx="288925" cy="431800"/>
            <a:chOff x="3106" y="1480"/>
            <a:chExt cx="182" cy="272"/>
          </a:xfrm>
        </p:grpSpPr>
        <p:sp>
          <p:nvSpPr>
            <p:cNvPr id="45090" name="Line 27"/>
            <p:cNvSpPr>
              <a:spLocks noChangeShapeType="1"/>
            </p:cNvSpPr>
            <p:nvPr/>
          </p:nvSpPr>
          <p:spPr bwMode="auto">
            <a:xfrm flipV="1">
              <a:off x="3243" y="1480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1" name="Text Box 28"/>
            <p:cNvSpPr txBox="1">
              <a:spLocks noChangeArrowheads="1"/>
            </p:cNvSpPr>
            <p:nvPr/>
          </p:nvSpPr>
          <p:spPr bwMode="auto">
            <a:xfrm>
              <a:off x="3106" y="1502"/>
              <a:ext cx="1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/>
                <a:t>j</a:t>
              </a:r>
            </a:p>
          </p:txBody>
        </p:sp>
      </p:grpSp>
      <p:grpSp>
        <p:nvGrpSpPr>
          <p:cNvPr id="45081" name="Group 31"/>
          <p:cNvGrpSpPr/>
          <p:nvPr/>
        </p:nvGrpSpPr>
        <p:grpSpPr bwMode="auto">
          <a:xfrm>
            <a:off x="979687" y="2366394"/>
            <a:ext cx="288925" cy="431800"/>
            <a:chOff x="611" y="1480"/>
            <a:chExt cx="182" cy="272"/>
          </a:xfrm>
        </p:grpSpPr>
        <p:sp>
          <p:nvSpPr>
            <p:cNvPr id="45088" name="Line 25"/>
            <p:cNvSpPr>
              <a:spLocks noChangeShapeType="1"/>
            </p:cNvSpPr>
            <p:nvPr/>
          </p:nvSpPr>
          <p:spPr bwMode="auto">
            <a:xfrm flipV="1">
              <a:off x="793" y="1480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9" name="Text Box 26"/>
            <p:cNvSpPr txBox="1">
              <a:spLocks noChangeArrowheads="1"/>
            </p:cNvSpPr>
            <p:nvPr/>
          </p:nvSpPr>
          <p:spPr bwMode="auto">
            <a:xfrm>
              <a:off x="611" y="1502"/>
              <a:ext cx="1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/>
                <a:t>h</a:t>
              </a:r>
            </a:p>
          </p:txBody>
        </p:sp>
      </p:grpSp>
      <p:grpSp>
        <p:nvGrpSpPr>
          <p:cNvPr id="45082" name="Group 33"/>
          <p:cNvGrpSpPr/>
          <p:nvPr/>
        </p:nvGrpSpPr>
        <p:grpSpPr bwMode="auto">
          <a:xfrm>
            <a:off x="1052712" y="3669732"/>
            <a:ext cx="288925" cy="431800"/>
            <a:chOff x="657" y="3702"/>
            <a:chExt cx="182" cy="272"/>
          </a:xfrm>
        </p:grpSpPr>
        <p:sp>
          <p:nvSpPr>
            <p:cNvPr id="45086" name="Line 29"/>
            <p:cNvSpPr>
              <a:spLocks noChangeShapeType="1"/>
            </p:cNvSpPr>
            <p:nvPr/>
          </p:nvSpPr>
          <p:spPr bwMode="auto">
            <a:xfrm flipV="1">
              <a:off x="794" y="3702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Text Box 30"/>
            <p:cNvSpPr txBox="1">
              <a:spLocks noChangeArrowheads="1"/>
            </p:cNvSpPr>
            <p:nvPr/>
          </p:nvSpPr>
          <p:spPr bwMode="auto">
            <a:xfrm>
              <a:off x="657" y="3724"/>
              <a:ext cx="1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/>
                <a:t>i</a:t>
              </a:r>
            </a:p>
          </p:txBody>
        </p:sp>
      </p:grpSp>
      <p:sp>
        <p:nvSpPr>
          <p:cNvPr id="43042" name="Text Box 34"/>
          <p:cNvSpPr txBox="1">
            <a:spLocks noChangeArrowheads="1"/>
          </p:cNvSpPr>
          <p:nvPr/>
        </p:nvSpPr>
        <p:spPr bwMode="auto">
          <a:xfrm>
            <a:off x="1105731" y="4392793"/>
            <a:ext cx="820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arenBoth"/>
            </a:pPr>
            <a:r>
              <a:rPr lang="en-US" altLang="zh-CN" sz="2400" b="0"/>
              <a:t> </a:t>
            </a:r>
            <a:r>
              <a:rPr lang="zh-CN" altLang="en-US" sz="2400" b="0"/>
              <a:t>如果</a:t>
            </a:r>
            <a:r>
              <a:rPr lang="en-US" altLang="zh-CN" sz="2400" b="0"/>
              <a:t>h ≤mid </a:t>
            </a:r>
            <a:r>
              <a:rPr lang="zh-CN" altLang="en-US" sz="2400" b="0"/>
              <a:t>且 </a:t>
            </a:r>
            <a:r>
              <a:rPr lang="en-US" altLang="zh-CN" sz="2400" b="0"/>
              <a:t>j ≤high</a:t>
            </a:r>
            <a:r>
              <a:rPr lang="zh-CN" altLang="en-US" sz="2400" b="0"/>
              <a:t>，那么</a:t>
            </a:r>
            <a:r>
              <a:rPr lang="en-US" altLang="zh-CN" sz="2400" b="0"/>
              <a:t>B(i) </a:t>
            </a:r>
            <a:r>
              <a:rPr kumimoji="1" lang="en-US" altLang="zh-CN" sz="2400" b="0"/>
              <a:t>←min(A(h),A(j))</a:t>
            </a:r>
          </a:p>
        </p:txBody>
      </p:sp>
      <p:sp>
        <p:nvSpPr>
          <p:cNvPr id="43043" name="Text Box 35"/>
          <p:cNvSpPr txBox="1">
            <a:spLocks noChangeArrowheads="1"/>
          </p:cNvSpPr>
          <p:nvPr/>
        </p:nvSpPr>
        <p:spPr bwMode="auto">
          <a:xfrm>
            <a:off x="1105731" y="4872218"/>
            <a:ext cx="820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/>
              <a:t>(2) </a:t>
            </a:r>
            <a:r>
              <a:rPr lang="zh-CN" altLang="en-US" sz="2400" b="0"/>
              <a:t>如果</a:t>
            </a:r>
            <a:r>
              <a:rPr lang="en-US" altLang="zh-CN" sz="2400" b="0"/>
              <a:t>h &gt;mid </a:t>
            </a:r>
            <a:r>
              <a:rPr lang="zh-CN" altLang="en-US" sz="2400" b="0"/>
              <a:t>且 </a:t>
            </a:r>
            <a:r>
              <a:rPr lang="en-US" altLang="zh-CN" sz="2400" b="0"/>
              <a:t>j ≤high</a:t>
            </a:r>
            <a:r>
              <a:rPr lang="zh-CN" altLang="en-US" sz="2400" b="0"/>
              <a:t>，那么</a:t>
            </a:r>
            <a:r>
              <a:rPr lang="en-US" altLang="zh-CN" sz="2400" b="0"/>
              <a:t>B(i) </a:t>
            </a:r>
            <a:r>
              <a:rPr kumimoji="1" lang="en-US" altLang="zh-CN" sz="2400" b="0"/>
              <a:t>←A(j)</a:t>
            </a:r>
          </a:p>
        </p:txBody>
      </p:sp>
      <p:sp>
        <p:nvSpPr>
          <p:cNvPr id="43044" name="Text Box 36"/>
          <p:cNvSpPr txBox="1">
            <a:spLocks noChangeArrowheads="1"/>
          </p:cNvSpPr>
          <p:nvPr/>
        </p:nvSpPr>
        <p:spPr bwMode="auto">
          <a:xfrm>
            <a:off x="1105731" y="5377043"/>
            <a:ext cx="820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/>
              <a:t>(3) </a:t>
            </a:r>
            <a:r>
              <a:rPr lang="zh-CN" altLang="en-US" sz="2400" b="0"/>
              <a:t>如果</a:t>
            </a:r>
            <a:r>
              <a:rPr lang="en-US" altLang="zh-CN" sz="2400" b="0"/>
              <a:t>h ≤mid </a:t>
            </a:r>
            <a:r>
              <a:rPr lang="zh-CN" altLang="en-US" sz="2400" b="0"/>
              <a:t>且 </a:t>
            </a:r>
            <a:r>
              <a:rPr lang="en-US" altLang="zh-CN" sz="2400" b="0"/>
              <a:t>j &gt;high</a:t>
            </a:r>
            <a:r>
              <a:rPr lang="zh-CN" altLang="en-US" sz="2400" b="0"/>
              <a:t>，那么</a:t>
            </a:r>
            <a:r>
              <a:rPr lang="en-US" altLang="zh-CN" sz="2400" b="0"/>
              <a:t>B(i) </a:t>
            </a:r>
            <a:r>
              <a:rPr kumimoji="1" lang="en-US" altLang="zh-CN" sz="2400" b="0"/>
              <a:t>←A(h)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2" grpId="0"/>
      <p:bldP spid="43043" grpId="0"/>
      <p:bldP spid="430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2712" y="406400"/>
            <a:ext cx="8229600" cy="955675"/>
          </a:xfrm>
        </p:spPr>
        <p:txBody>
          <a:bodyPr/>
          <a:lstStyle/>
          <a:p>
            <a:pPr eaLnBrk="1" hangingPunct="1"/>
            <a:r>
              <a:rPr kumimoji="1" lang="en-US" altLang="zh-CN" dirty="0">
                <a:solidFill>
                  <a:schemeClr val="tx2"/>
                </a:solidFill>
              </a:rPr>
              <a:t>MERGE</a:t>
            </a:r>
            <a:r>
              <a:rPr kumimoji="1" lang="zh-CN" altLang="en-US" dirty="0">
                <a:solidFill>
                  <a:schemeClr val="tx2"/>
                </a:solidFill>
              </a:rPr>
              <a:t>算法描述</a:t>
            </a:r>
          </a:p>
        </p:txBody>
      </p:sp>
      <p:sp>
        <p:nvSpPr>
          <p:cNvPr id="46084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912712" y="1430341"/>
            <a:ext cx="10224938" cy="487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procedure MERGE(low, mid, high)</a:t>
            </a:r>
          </a:p>
          <a:p>
            <a:pPr eaLnBrk="1" hangingPunct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integer h, </a:t>
            </a:r>
            <a:r>
              <a:rPr kumimoji="1" lang="en-US" altLang="zh-CN" sz="2000" b="0" dirty="0" err="1">
                <a:cs typeface="Arial" panose="020B0604020202020204" pitchFamily="34" charset="0"/>
              </a:rPr>
              <a:t>i</a:t>
            </a:r>
            <a:r>
              <a:rPr kumimoji="1" lang="en-US" altLang="zh-CN" sz="2000" b="0" dirty="0">
                <a:cs typeface="Arial" panose="020B0604020202020204" pitchFamily="34" charset="0"/>
              </a:rPr>
              <a:t>, j, k, low, mid, high; global A(low : high);   local B(low : high)</a:t>
            </a:r>
          </a:p>
          <a:p>
            <a:pPr eaLnBrk="1" hangingPunct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h ← 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low; 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low;  j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mid+1;</a:t>
            </a:r>
          </a:p>
          <a:p>
            <a:pPr>
              <a:lnSpc>
                <a:spcPct val="80000"/>
              </a:lnSpc>
              <a:buClr>
                <a:srgbClr val="A50021"/>
              </a:buClr>
              <a:buNone/>
            </a:pPr>
            <a:r>
              <a:rPr kumimoji="1" lang="en-US" altLang="zh-CN" sz="2000" dirty="0">
                <a:solidFill>
                  <a:srgbClr val="C0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//</a:t>
            </a:r>
            <a:r>
              <a:rPr kumimoji="1" lang="en-US" altLang="zh-CN" sz="2000" dirty="0">
                <a:solidFill>
                  <a:srgbClr val="C00000"/>
                </a:solidFill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zh-CN" altLang="en-US" sz="2000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处理两个已排好序的集合</a:t>
            </a:r>
            <a:endParaRPr kumimoji="1" lang="en-US" altLang="zh-CN" sz="2000" dirty="0">
              <a:solidFill>
                <a:srgbClr val="C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  <a:buClr>
                <a:srgbClr val="A50021"/>
              </a:buClr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while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h≤mid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and 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j≤high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do</a:t>
            </a:r>
            <a:endParaRPr kumimoji="1" lang="en-US" altLang="zh-CN" sz="2000" b="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if A(h) ≤A(j)  then B(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A(h); h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h+1</a:t>
            </a: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           else  B(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A(j);  j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j+1;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endif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i+1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repeat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000" dirty="0">
                <a:solidFill>
                  <a:srgbClr val="C00000"/>
                </a:solidFill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//</a:t>
            </a:r>
            <a:r>
              <a:rPr kumimoji="1" lang="zh-CN" altLang="en-US" sz="2000" dirty="0">
                <a:solidFill>
                  <a:srgbClr val="C0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剩余元素处理过程</a:t>
            </a:r>
            <a:r>
              <a:rPr kumimoji="1" lang="en-US" altLang="zh-CN" sz="2000" dirty="0">
                <a:solidFill>
                  <a:srgbClr val="C00000"/>
                </a:solidFill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</a:t>
            </a:r>
          </a:p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if h&gt;mid  then for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k</a:t>
            </a:r>
            <a:r>
              <a:rPr kumimoji="1" lang="en-US" altLang="zh-CN" sz="2000" b="0" dirty="0" err="1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j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to high do B(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A(k);i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i+1;repeat</a:t>
            </a: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                 else for 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k</a:t>
            </a:r>
            <a:r>
              <a:rPr kumimoji="1" lang="en-US" altLang="zh-CN" sz="2000" b="0" dirty="0" err="1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h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to mid do B(</a:t>
            </a:r>
            <a:r>
              <a:rPr kumimoji="1" lang="en-US" altLang="zh-CN" sz="20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A(k);i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i+1;repeat</a:t>
            </a:r>
          </a:p>
          <a:p>
            <a:pPr>
              <a:lnSpc>
                <a:spcPct val="110000"/>
              </a:lnSpc>
              <a:buClr>
                <a:srgbClr val="A50021"/>
              </a:buClr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for k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low to high do   A(k) </a:t>
            </a:r>
            <a:r>
              <a:rPr kumimoji="1" lang="en-US" altLang="zh-CN" sz="2000" b="0" dirty="0">
                <a:cs typeface="Arial" panose="020B0604020202020204" pitchFamily="34" charset="0"/>
              </a:rPr>
              <a:t>←</a:t>
            </a: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 B(k)</a:t>
            </a:r>
            <a:endParaRPr kumimoji="1"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cs typeface="Arial" panose="020B0604020202020204" pitchFamily="34" charset="0"/>
                <a:sym typeface="Wingdings" panose="05000000000000000000" pitchFamily="2" charset="2"/>
              </a:rPr>
              <a:t>end  MERGE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算法实例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35</a:t>
            </a:fld>
            <a:endParaRPr lang="en-US" altLang="zh-CN"/>
          </a:p>
        </p:txBody>
      </p:sp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4720390" y="559660"/>
          <a:ext cx="3775075" cy="792480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1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A[1]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A[2]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A[3]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A[4]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A[5]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5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680830" y="735237"/>
            <a:ext cx="817376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n=5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366626" y="1695674"/>
            <a:ext cx="792162" cy="43180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>
                <a:cs typeface="Arial" panose="020B0604020202020204" pitchFamily="34" charset="0"/>
              </a:rPr>
              <a:t>1,5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8385926" y="2337024"/>
            <a:ext cx="792162" cy="43235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>
                <a:cs typeface="Arial" panose="020B0604020202020204" pitchFamily="34" charset="0"/>
              </a:rPr>
              <a:t>4,5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648382" y="2337024"/>
            <a:ext cx="792162" cy="43235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cs typeface="Arial" panose="020B0604020202020204" pitchFamily="34" charset="0"/>
              </a:rPr>
              <a:t>1,3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9547977" y="3086324"/>
            <a:ext cx="719137" cy="43235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cs typeface="Arial" panose="020B0604020202020204" pitchFamily="34" charset="0"/>
              </a:rPr>
              <a:t>5,5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7458827" y="3067274"/>
            <a:ext cx="719137" cy="43235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cs typeface="Arial" panose="020B0604020202020204" pitchFamily="34" charset="0"/>
              </a:rPr>
              <a:t>4,4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5808911" y="3086324"/>
            <a:ext cx="719137" cy="43235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cs typeface="Arial" panose="020B0604020202020204" pitchFamily="34" charset="0"/>
              </a:rPr>
              <a:t>3,3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431704" y="3060924"/>
            <a:ext cx="719137" cy="43235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cs typeface="Arial" panose="020B0604020202020204" pitchFamily="34" charset="0"/>
              </a:rPr>
              <a:t>1,2</a:t>
            </a: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2783632" y="3789040"/>
            <a:ext cx="719137" cy="43235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1,1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4079039" y="3789040"/>
            <a:ext cx="719137" cy="43235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2,2</a:t>
            </a:r>
          </a:p>
        </p:txBody>
      </p:sp>
      <p:sp>
        <p:nvSpPr>
          <p:cNvPr id="21" name="Line 13"/>
          <p:cNvSpPr>
            <a:spLocks noChangeShapeType="1"/>
          </p:cNvSpPr>
          <p:nvPr/>
        </p:nvSpPr>
        <p:spPr bwMode="auto">
          <a:xfrm flipH="1">
            <a:off x="5440544" y="2124300"/>
            <a:ext cx="1207069" cy="405685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14"/>
          <p:cNvSpPr>
            <a:spLocks noChangeShapeType="1"/>
          </p:cNvSpPr>
          <p:nvPr/>
        </p:nvSpPr>
        <p:spPr bwMode="auto">
          <a:xfrm flipH="1">
            <a:off x="3959976" y="2768824"/>
            <a:ext cx="838200" cy="29210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 flipH="1">
            <a:off x="3201666" y="3499623"/>
            <a:ext cx="475590" cy="275625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16"/>
          <p:cNvSpPr>
            <a:spLocks noChangeShapeType="1"/>
          </p:cNvSpPr>
          <p:nvPr/>
        </p:nvSpPr>
        <p:spPr bwMode="auto">
          <a:xfrm>
            <a:off x="3846184" y="3492724"/>
            <a:ext cx="545593" cy="292101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17"/>
          <p:cNvSpPr>
            <a:spLocks noChangeShapeType="1"/>
          </p:cNvSpPr>
          <p:nvPr/>
        </p:nvSpPr>
        <p:spPr bwMode="auto">
          <a:xfrm>
            <a:off x="5001377" y="2781524"/>
            <a:ext cx="858837" cy="30480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Line 18"/>
          <p:cNvSpPr>
            <a:spLocks noChangeShapeType="1"/>
          </p:cNvSpPr>
          <p:nvPr/>
        </p:nvSpPr>
        <p:spPr bwMode="auto">
          <a:xfrm>
            <a:off x="6857164" y="2137000"/>
            <a:ext cx="1522413" cy="428625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Line 19"/>
          <p:cNvSpPr>
            <a:spLocks noChangeShapeType="1"/>
          </p:cNvSpPr>
          <p:nvPr/>
        </p:nvSpPr>
        <p:spPr bwMode="auto">
          <a:xfrm flipH="1">
            <a:off x="7808076" y="2781524"/>
            <a:ext cx="857250" cy="28575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>
            <a:off x="8951076" y="2775174"/>
            <a:ext cx="971550" cy="32385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AutoShape 21"/>
          <p:cNvSpPr>
            <a:spLocks noChangeArrowheads="1"/>
          </p:cNvSpPr>
          <p:nvPr/>
        </p:nvSpPr>
        <p:spPr bwMode="auto">
          <a:xfrm>
            <a:off x="7909676" y="1406749"/>
            <a:ext cx="2400300" cy="781050"/>
          </a:xfrm>
          <a:prstGeom prst="wedgeRoundRectCallout">
            <a:avLst>
              <a:gd name="adj1" fmla="val -80356"/>
              <a:gd name="adj2" fmla="val 16667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表示一次调用时的</a:t>
            </a:r>
            <a:r>
              <a:rPr kumimoji="1"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low</a:t>
            </a: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和</a:t>
            </a:r>
            <a:r>
              <a:rPr kumimoji="1"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high</a:t>
            </a: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的值</a:t>
            </a:r>
          </a:p>
        </p:txBody>
      </p:sp>
      <p:sp>
        <p:nvSpPr>
          <p:cNvPr id="30" name="AutoShape 22"/>
          <p:cNvSpPr>
            <a:spLocks noChangeArrowheads="1"/>
          </p:cNvSpPr>
          <p:nvPr/>
        </p:nvSpPr>
        <p:spPr bwMode="auto">
          <a:xfrm>
            <a:off x="1219951" y="2801491"/>
            <a:ext cx="1638300" cy="771525"/>
          </a:xfrm>
          <a:prstGeom prst="wedgeRoundRectCallout">
            <a:avLst>
              <a:gd name="adj1" fmla="val 60412"/>
              <a:gd name="adj2" fmla="val 77197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只含单个元素的子集合</a:t>
            </a:r>
          </a:p>
        </p:txBody>
      </p:sp>
      <p:sp>
        <p:nvSpPr>
          <p:cNvPr id="31" name="Rectangle 40"/>
          <p:cNvSpPr>
            <a:spLocks noChangeArrowheads="1"/>
          </p:cNvSpPr>
          <p:nvPr/>
        </p:nvSpPr>
        <p:spPr bwMode="auto">
          <a:xfrm>
            <a:off x="3210677" y="1663925"/>
            <a:ext cx="3019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/>
              <a:t>MERGESORT(</a:t>
            </a:r>
            <a:r>
              <a:rPr kumimoji="1" lang="en-US" altLang="zh-CN" sz="2000" b="0" dirty="0" err="1"/>
              <a:t>low,high</a:t>
            </a:r>
            <a:r>
              <a:rPr kumimoji="1" lang="en-US" altLang="zh-CN" sz="2000" b="0" dirty="0"/>
              <a:t>)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2997951" y="4234819"/>
            <a:ext cx="1677987" cy="840498"/>
            <a:chOff x="2645369" y="4306827"/>
            <a:chExt cx="1677987" cy="840498"/>
          </a:xfrm>
        </p:grpSpPr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2645369" y="4690125"/>
              <a:ext cx="1677987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</a:t>
              </a:r>
              <a:r>
                <a:rPr kumimoji="1" lang="zh-CN" altLang="en-US" sz="2000" b="0">
                  <a:cs typeface="Arial" panose="020B0604020202020204" pitchFamily="34" charset="0"/>
                </a:rPr>
                <a:t>，</a:t>
              </a:r>
              <a:r>
                <a:rPr kumimoji="1" lang="en-US" altLang="zh-CN" sz="2000" b="0">
                  <a:cs typeface="Arial" panose="020B0604020202020204" pitchFamily="34" charset="0"/>
                </a:rPr>
                <a:t>1</a:t>
              </a:r>
              <a:r>
                <a:rPr kumimoji="1" lang="zh-CN" altLang="en-US" sz="2000" b="0">
                  <a:cs typeface="Arial" panose="020B0604020202020204" pitchFamily="34" charset="0"/>
                </a:rPr>
                <a:t>，</a:t>
              </a:r>
              <a:r>
                <a:rPr kumimoji="1" lang="en-US" altLang="zh-CN" sz="2000" b="0">
                  <a:cs typeface="Arial" panose="020B0604020202020204" pitchFamily="34" charset="0"/>
                </a:rPr>
                <a:t>2</a:t>
              </a:r>
            </a:p>
          </p:txBody>
        </p:sp>
        <p:grpSp>
          <p:nvGrpSpPr>
            <p:cNvPr id="36" name="Group 27"/>
            <p:cNvGrpSpPr/>
            <p:nvPr/>
          </p:nvGrpSpPr>
          <p:grpSpPr bwMode="auto">
            <a:xfrm>
              <a:off x="2870200" y="4306827"/>
              <a:ext cx="1158875" cy="378167"/>
              <a:chOff x="1202" y="2268"/>
              <a:chExt cx="730" cy="26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37" name="Line 28"/>
              <p:cNvSpPr>
                <a:spLocks noChangeShapeType="1"/>
              </p:cNvSpPr>
              <p:nvPr/>
            </p:nvSpPr>
            <p:spPr bwMode="auto">
              <a:xfrm>
                <a:off x="1202" y="2268"/>
                <a:ext cx="274" cy="256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38" name="Line 29"/>
              <p:cNvSpPr>
                <a:spLocks noChangeShapeType="1"/>
              </p:cNvSpPr>
              <p:nvPr/>
            </p:nvSpPr>
            <p:spPr bwMode="auto">
              <a:xfrm flipH="1">
                <a:off x="1696" y="2274"/>
                <a:ext cx="236" cy="256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7743785" y="3518676"/>
            <a:ext cx="2168526" cy="1094578"/>
            <a:chOff x="7391203" y="3590684"/>
            <a:chExt cx="2168526" cy="1094578"/>
          </a:xfrm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7639050" y="4228062"/>
              <a:ext cx="1677987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cs typeface="Arial" panose="020B0604020202020204" pitchFamily="34" charset="0"/>
                </a:rPr>
                <a:t>4</a:t>
              </a:r>
              <a:r>
                <a:rPr kumimoji="1" lang="zh-CN" altLang="en-US" sz="2000" b="0" dirty="0">
                  <a:cs typeface="Arial" panose="020B0604020202020204" pitchFamily="34" charset="0"/>
                </a:rPr>
                <a:t>，</a:t>
              </a:r>
              <a:r>
                <a:rPr kumimoji="1" lang="en-US" altLang="zh-CN" sz="2000" b="0" dirty="0">
                  <a:cs typeface="Arial" panose="020B0604020202020204" pitchFamily="34" charset="0"/>
                </a:rPr>
                <a:t>4</a:t>
              </a:r>
              <a:r>
                <a:rPr kumimoji="1" lang="zh-CN" altLang="en-US" sz="2000" b="0" dirty="0">
                  <a:cs typeface="Arial" panose="020B0604020202020204" pitchFamily="34" charset="0"/>
                </a:rPr>
                <a:t>，</a:t>
              </a:r>
              <a:r>
                <a:rPr kumimoji="1" lang="en-US" altLang="zh-CN" sz="2000" b="0" dirty="0"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39" name="Group 30"/>
            <p:cNvGrpSpPr/>
            <p:nvPr/>
          </p:nvGrpSpPr>
          <p:grpSpPr bwMode="auto">
            <a:xfrm>
              <a:off x="7391203" y="3590684"/>
              <a:ext cx="2168526" cy="636588"/>
              <a:chOff x="4080" y="1776"/>
              <a:chExt cx="1366" cy="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0" name="Line 31"/>
              <p:cNvSpPr>
                <a:spLocks noChangeShapeType="1"/>
              </p:cNvSpPr>
              <p:nvPr/>
            </p:nvSpPr>
            <p:spPr bwMode="auto">
              <a:xfrm>
                <a:off x="4080" y="1776"/>
                <a:ext cx="581" cy="401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1" name="Line 32"/>
              <p:cNvSpPr>
                <a:spLocks noChangeShapeType="1"/>
              </p:cNvSpPr>
              <p:nvPr/>
            </p:nvSpPr>
            <p:spPr bwMode="auto">
              <a:xfrm flipH="1">
                <a:off x="4899" y="1788"/>
                <a:ext cx="547" cy="389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6088542" y="4632710"/>
            <a:ext cx="2542654" cy="1748618"/>
            <a:chOff x="5735960" y="4704718"/>
            <a:chExt cx="2542654" cy="1748618"/>
          </a:xfrm>
        </p:grpSpPr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5735960" y="5996136"/>
              <a:ext cx="1562100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</a:t>
              </a:r>
              <a:r>
                <a:rPr kumimoji="1" lang="zh-CN" altLang="en-US" sz="2000" b="0">
                  <a:cs typeface="Arial" panose="020B0604020202020204" pitchFamily="34" charset="0"/>
                </a:rPr>
                <a:t>，</a:t>
              </a:r>
              <a:r>
                <a:rPr kumimoji="1" lang="en-US" altLang="zh-CN" sz="2000" b="0">
                  <a:cs typeface="Arial" panose="020B0604020202020204" pitchFamily="34" charset="0"/>
                </a:rPr>
                <a:t>3</a:t>
              </a:r>
              <a:r>
                <a:rPr kumimoji="1" lang="zh-CN" altLang="en-US" sz="2000" b="0">
                  <a:cs typeface="Arial" panose="020B0604020202020204" pitchFamily="34" charset="0"/>
                </a:rPr>
                <a:t>，</a:t>
              </a:r>
              <a:r>
                <a:rPr kumimoji="1" lang="en-US" altLang="zh-CN" sz="2000" b="0"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45" name="Group 36"/>
            <p:cNvGrpSpPr/>
            <p:nvPr/>
          </p:nvGrpSpPr>
          <p:grpSpPr bwMode="auto">
            <a:xfrm>
              <a:off x="5808463" y="4704718"/>
              <a:ext cx="2470151" cy="1276350"/>
              <a:chOff x="3136" y="2485"/>
              <a:chExt cx="1556" cy="804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6" name="Line 37"/>
              <p:cNvSpPr>
                <a:spLocks noChangeShapeType="1"/>
              </p:cNvSpPr>
              <p:nvPr/>
            </p:nvSpPr>
            <p:spPr bwMode="auto">
              <a:xfrm>
                <a:off x="3136" y="3171"/>
                <a:ext cx="226" cy="118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 flipH="1">
                <a:off x="3764" y="2485"/>
                <a:ext cx="928" cy="804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8" name="AutoShape 39"/>
          <p:cNvSpPr>
            <a:spLocks noChangeArrowheads="1"/>
          </p:cNvSpPr>
          <p:nvPr/>
        </p:nvSpPr>
        <p:spPr bwMode="auto">
          <a:xfrm>
            <a:off x="1374435" y="5288343"/>
            <a:ext cx="2657475" cy="740481"/>
          </a:xfrm>
          <a:prstGeom prst="wedgeRoundRectCallout">
            <a:avLst>
              <a:gd name="adj1" fmla="val 40169"/>
              <a:gd name="adj2" fmla="val -69481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表示</a:t>
            </a:r>
            <a:r>
              <a:rPr kumimoji="1"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MERGE</a:t>
            </a: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调用时</a:t>
            </a:r>
            <a:r>
              <a:rPr kumimoji="1"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low, mid, high </a:t>
            </a: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的值</a:t>
            </a:r>
          </a:p>
        </p:txBody>
      </p:sp>
      <p:sp>
        <p:nvSpPr>
          <p:cNvPr id="49" name="Rectangle 41"/>
          <p:cNvSpPr>
            <a:spLocks noChangeArrowheads="1"/>
          </p:cNvSpPr>
          <p:nvPr/>
        </p:nvSpPr>
        <p:spPr bwMode="auto">
          <a:xfrm>
            <a:off x="292040" y="4604683"/>
            <a:ext cx="27080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MERGE(</a:t>
            </a:r>
            <a:r>
              <a:rPr kumimoji="1" lang="en-US" altLang="zh-CN" sz="2000" dirty="0" err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low,mid,high</a:t>
            </a:r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614820" y="3531463"/>
            <a:ext cx="1578724" cy="2177483"/>
            <a:chOff x="4244281" y="3585533"/>
            <a:chExt cx="1578724" cy="2177483"/>
          </a:xfrm>
        </p:grpSpPr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4244281" y="5305816"/>
              <a:ext cx="1563687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cs typeface="Arial" panose="020B0604020202020204" pitchFamily="34" charset="0"/>
                </a:rPr>
                <a:t>1</a:t>
              </a:r>
              <a:r>
                <a:rPr kumimoji="1" lang="zh-CN" altLang="en-US" sz="2000" b="0" dirty="0">
                  <a:cs typeface="Arial" panose="020B0604020202020204" pitchFamily="34" charset="0"/>
                </a:rPr>
                <a:t>，</a:t>
              </a:r>
              <a:r>
                <a:rPr kumimoji="1" lang="en-US" altLang="zh-CN" sz="2000" b="0" dirty="0">
                  <a:cs typeface="Arial" panose="020B0604020202020204" pitchFamily="34" charset="0"/>
                </a:rPr>
                <a:t>2</a:t>
              </a:r>
              <a:r>
                <a:rPr kumimoji="1" lang="zh-CN" altLang="en-US" sz="2000" b="0" dirty="0">
                  <a:cs typeface="Arial" panose="020B0604020202020204" pitchFamily="34" charset="0"/>
                </a:rPr>
                <a:t>，</a:t>
              </a:r>
              <a:r>
                <a:rPr kumimoji="1" lang="en-US" altLang="zh-CN" sz="2000" b="0" dirty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2" name="Line 28"/>
            <p:cNvSpPr>
              <a:spLocks noChangeShapeType="1"/>
            </p:cNvSpPr>
            <p:nvPr/>
          </p:nvSpPr>
          <p:spPr bwMode="auto">
            <a:xfrm>
              <a:off x="4323357" y="4941169"/>
              <a:ext cx="548508" cy="364648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3" name="Line 29"/>
            <p:cNvSpPr>
              <a:spLocks noChangeShapeType="1"/>
            </p:cNvSpPr>
            <p:nvPr/>
          </p:nvSpPr>
          <p:spPr bwMode="auto">
            <a:xfrm flipH="1">
              <a:off x="4950938" y="3585533"/>
              <a:ext cx="872067" cy="1720282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50" name="Text Box 71"/>
          <p:cNvSpPr txBox="1">
            <a:spLocks noChangeArrowheads="1"/>
          </p:cNvSpPr>
          <p:nvPr/>
        </p:nvSpPr>
        <p:spPr bwMode="auto">
          <a:xfrm>
            <a:off x="8204951" y="5170260"/>
            <a:ext cx="29316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思考：算法调用过程受问题实例影响么？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4" grpId="0" animBg="1" autoUpdateAnimBg="0"/>
      <p:bldP spid="15" grpId="0" animBg="1" autoUpdateAnimBg="0"/>
      <p:bldP spid="16" grpId="0" animBg="1" autoUpdateAnimBg="0"/>
      <p:bldP spid="17" grpId="0" animBg="1" autoUpdateAnimBg="0"/>
      <p:bldP spid="18" grpId="0" animBg="1" autoUpdateAnimBg="0"/>
      <p:bldP spid="19" grpId="0" animBg="1" autoUpdateAnimBg="0"/>
      <p:bldP spid="20" grpId="0" animBg="1" autoUpdateAnimBg="0"/>
      <p:bldP spid="30" grpId="0" animBg="1" autoUpdateAnimBg="0"/>
      <p:bldP spid="48" grpId="0" animBg="1" autoUpdateAnimBg="0"/>
      <p:bldP spid="49" grpId="0" animBg="1"/>
      <p:bldP spid="5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116666"/>
            <a:ext cx="8229600" cy="1371600"/>
          </a:xfrm>
        </p:spPr>
        <p:txBody>
          <a:bodyPr/>
          <a:lstStyle/>
          <a:p>
            <a:pPr eaLnBrk="1" hangingPunct="1"/>
            <a:r>
              <a:rPr kumimoji="1" lang="zh-CN" altLang="en-US" dirty="0"/>
              <a:t>归并排序的计算时间</a:t>
            </a:r>
          </a:p>
        </p:txBody>
      </p:sp>
      <p:grpSp>
        <p:nvGrpSpPr>
          <p:cNvPr id="50180" name="Group 4"/>
          <p:cNvGrpSpPr/>
          <p:nvPr/>
        </p:nvGrpSpPr>
        <p:grpSpPr bwMode="auto">
          <a:xfrm>
            <a:off x="2311401" y="1484314"/>
            <a:ext cx="1336675" cy="865187"/>
            <a:chOff x="654" y="946"/>
            <a:chExt cx="842" cy="545"/>
          </a:xfrm>
        </p:grpSpPr>
        <p:sp>
          <p:nvSpPr>
            <p:cNvPr id="49161" name="Text Box 5"/>
            <p:cNvSpPr txBox="1">
              <a:spLocks noChangeArrowheads="1"/>
            </p:cNvSpPr>
            <p:nvPr/>
          </p:nvSpPr>
          <p:spPr bwMode="auto">
            <a:xfrm>
              <a:off x="654" y="1008"/>
              <a:ext cx="67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b="0" dirty="0">
                  <a:cs typeface="Arial" panose="020B0604020202020204" pitchFamily="34" charset="0"/>
                </a:rPr>
                <a:t>T(n)=</a:t>
              </a:r>
            </a:p>
          </p:txBody>
        </p:sp>
        <p:sp>
          <p:nvSpPr>
            <p:cNvPr id="49162" name="AutoShape 6"/>
            <p:cNvSpPr/>
            <p:nvPr/>
          </p:nvSpPr>
          <p:spPr bwMode="auto">
            <a:xfrm>
              <a:off x="1337" y="946"/>
              <a:ext cx="159" cy="545"/>
            </a:xfrm>
            <a:prstGeom prst="leftBrace">
              <a:avLst>
                <a:gd name="adj1" fmla="val 2043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>
                <a:cs typeface="Arial" panose="020B0604020202020204" pitchFamily="34" charset="0"/>
              </a:endParaRPr>
            </a:p>
          </p:txBody>
        </p:sp>
      </p:grp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3665539" y="1882775"/>
            <a:ext cx="47387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800" b="0" dirty="0">
                <a:cs typeface="Arial" panose="020B0604020202020204" pitchFamily="34" charset="0"/>
              </a:rPr>
              <a:t>2T(n/2)+</a:t>
            </a:r>
            <a:r>
              <a:rPr kumimoji="1" lang="en-US" altLang="zh-CN" sz="2800" b="0" dirty="0" err="1">
                <a:cs typeface="Arial" panose="020B0604020202020204" pitchFamily="34" charset="0"/>
              </a:rPr>
              <a:t>cn</a:t>
            </a:r>
            <a:r>
              <a:rPr kumimoji="1" lang="en-US" altLang="zh-CN" sz="2800" b="0" dirty="0">
                <a:cs typeface="Arial" panose="020B0604020202020204" pitchFamily="34" charset="0"/>
              </a:rPr>
              <a:t>	     n&gt;1 , c</a:t>
            </a:r>
            <a:r>
              <a:rPr kumimoji="1" lang="zh-CN" altLang="en-US" sz="28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是常数</a:t>
            </a: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911424" y="2775760"/>
            <a:ext cx="7126654" cy="3342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解：</a:t>
            </a:r>
            <a:endParaRPr kumimoji="1" lang="en-US" altLang="zh-CN" sz="2400" b="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当</a:t>
            </a:r>
            <a:r>
              <a:rPr kumimoji="1" lang="zh-CN" altLang="en-US" sz="2400" b="0" dirty="0">
                <a:cs typeface="Arial" panose="020B0604020202020204" pitchFamily="34" charset="0"/>
              </a:rPr>
              <a:t> </a:t>
            </a:r>
            <a:r>
              <a:rPr kumimoji="1" lang="en-US" altLang="zh-CN" sz="2400" b="0" dirty="0">
                <a:cs typeface="Arial" panose="020B0604020202020204" pitchFamily="34" charset="0"/>
              </a:rPr>
              <a:t>n=2</a:t>
            </a:r>
            <a:r>
              <a:rPr kumimoji="1" lang="en-US" altLang="zh-CN" sz="2400" b="0" baseline="30000" dirty="0">
                <a:cs typeface="Arial" panose="020B0604020202020204" pitchFamily="34" charset="0"/>
              </a:rPr>
              <a:t>k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时，可得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T(n) = 2(2T(n/4)+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cn</a:t>
            </a:r>
            <a:r>
              <a:rPr kumimoji="1" lang="en-US" altLang="zh-CN" sz="2400" b="0" dirty="0">
                <a:cs typeface="Arial" panose="020B0604020202020204" pitchFamily="34" charset="0"/>
              </a:rPr>
              <a:t>/2)+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cn</a:t>
            </a:r>
            <a:r>
              <a:rPr kumimoji="1" lang="en-US" altLang="zh-CN" sz="2400" b="0" dirty="0">
                <a:cs typeface="Arial" panose="020B0604020202020204" pitchFamily="34" charset="0"/>
              </a:rPr>
              <a:t>=2</a:t>
            </a:r>
            <a:r>
              <a:rPr kumimoji="1" lang="en-US" altLang="zh-CN" sz="2400" b="0" baseline="30000" dirty="0">
                <a:cs typeface="Arial" panose="020B0604020202020204" pitchFamily="34" charset="0"/>
              </a:rPr>
              <a:t>2</a:t>
            </a:r>
            <a:r>
              <a:rPr kumimoji="1" lang="en-US" altLang="zh-CN" sz="2400" b="0" dirty="0">
                <a:cs typeface="Arial" panose="020B0604020202020204" pitchFamily="34" charset="0"/>
              </a:rPr>
              <a:t>T(n/4)+2cn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    = 2</a:t>
            </a:r>
            <a:r>
              <a:rPr kumimoji="1" lang="en-US" altLang="zh-CN" sz="2400" b="0" baseline="30000" dirty="0">
                <a:cs typeface="Arial" panose="020B0604020202020204" pitchFamily="34" charset="0"/>
              </a:rPr>
              <a:t>2</a:t>
            </a:r>
            <a:r>
              <a:rPr kumimoji="1" lang="en-US" altLang="zh-CN" sz="2400" b="0" dirty="0">
                <a:cs typeface="Arial" panose="020B0604020202020204" pitchFamily="34" charset="0"/>
              </a:rPr>
              <a:t>(2T(n/8)+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cn</a:t>
            </a:r>
            <a:r>
              <a:rPr kumimoji="1" lang="en-US" altLang="zh-CN" sz="2400" b="0" dirty="0">
                <a:cs typeface="Arial" panose="020B0604020202020204" pitchFamily="34" charset="0"/>
              </a:rPr>
              <a:t>/4)+2cn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    = 2</a:t>
            </a:r>
            <a:r>
              <a:rPr kumimoji="1" lang="en-US" altLang="zh-CN" sz="2400" b="0" baseline="30000" dirty="0">
                <a:cs typeface="Arial" panose="020B0604020202020204" pitchFamily="34" charset="0"/>
              </a:rPr>
              <a:t>3</a:t>
            </a:r>
            <a:r>
              <a:rPr kumimoji="1" lang="en-US" altLang="zh-CN" sz="2400" b="0" dirty="0">
                <a:cs typeface="Arial" panose="020B0604020202020204" pitchFamily="34" charset="0"/>
              </a:rPr>
              <a:t>T(n/8)+3cn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    ……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    = 2</a:t>
            </a:r>
            <a:r>
              <a:rPr kumimoji="1" lang="en-US" altLang="zh-CN" sz="2400" b="0" baseline="30000" dirty="0">
                <a:cs typeface="Arial" panose="020B0604020202020204" pitchFamily="34" charset="0"/>
              </a:rPr>
              <a:t>k</a:t>
            </a:r>
            <a:r>
              <a:rPr kumimoji="1" lang="en-US" altLang="zh-CN" sz="2400" b="0" dirty="0">
                <a:cs typeface="Arial" panose="020B0604020202020204" pitchFamily="34" charset="0"/>
              </a:rPr>
              <a:t>T(1)+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kcn</a:t>
            </a:r>
            <a:endParaRPr kumimoji="1" lang="en-US" altLang="zh-CN" sz="2400" b="0" dirty="0"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    = 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an+cnlogn</a:t>
            </a:r>
            <a:endParaRPr kumimoji="1" lang="en-US" altLang="zh-CN" sz="2400" b="0" dirty="0">
              <a:cs typeface="Arial" panose="020B0604020202020204" pitchFamily="34" charset="0"/>
            </a:endParaRP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4727848" y="5085184"/>
            <a:ext cx="5472608" cy="9070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如果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kumimoji="1" lang="en-US" altLang="zh-CN" sz="2400" b="0" baseline="30000" dirty="0"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&lt;n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≤ 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kumimoji="1" lang="en-US" altLang="zh-CN" sz="2400" b="0" baseline="30000" dirty="0">
                <a:ea typeface="幼圆" panose="02010509060101010101" pitchFamily="49" charset="-122"/>
                <a:cs typeface="Arial" panose="020B0604020202020204" pitchFamily="34" charset="0"/>
              </a:rPr>
              <a:t>k+1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，显然有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T(n)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≤T(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kumimoji="1" lang="en-US" altLang="zh-CN" sz="2400" b="0" baseline="30000" dirty="0">
                <a:ea typeface="幼圆" panose="02010509060101010101" pitchFamily="49" charset="-122"/>
                <a:cs typeface="Arial" panose="020B0604020202020204" pitchFamily="34" charset="0"/>
              </a:rPr>
              <a:t>k+1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则有</a:t>
            </a:r>
            <a:r>
              <a:rPr kumimoji="1" lang="en-US" altLang="zh-CN" sz="24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T(n)=O(</a:t>
            </a:r>
            <a:r>
              <a:rPr kumimoji="1" lang="en-US" altLang="zh-CN" sz="2400" b="0" dirty="0" err="1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nlogn</a:t>
            </a:r>
            <a:r>
              <a:rPr kumimoji="1" lang="en-US" altLang="zh-CN" sz="24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kumimoji="1" lang="en-US" altLang="zh-CN" sz="2400" b="0" dirty="0">
              <a:solidFill>
                <a:srgbClr val="FF0000"/>
              </a:solidFill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0187" name="Text Box 11"/>
          <p:cNvSpPr txBox="1">
            <a:spLocks noChangeArrowheads="1"/>
          </p:cNvSpPr>
          <p:nvPr/>
        </p:nvSpPr>
        <p:spPr bwMode="auto">
          <a:xfrm>
            <a:off x="3648075" y="1341438"/>
            <a:ext cx="48093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0" dirty="0">
                <a:cs typeface="Arial" panose="020B0604020202020204" pitchFamily="34" charset="0"/>
              </a:rPr>
              <a:t>a	               n=1 , a</a:t>
            </a:r>
            <a:r>
              <a:rPr kumimoji="1" lang="zh-CN" altLang="en-US" sz="28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是常数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36</a:t>
            </a:fld>
            <a:endParaRPr lang="en-US" altLang="zh-CN"/>
          </a:p>
        </p:txBody>
      </p:sp>
      <p:sp>
        <p:nvSpPr>
          <p:cNvPr id="12" name="AutoShape 21"/>
          <p:cNvSpPr>
            <a:spLocks noChangeArrowheads="1"/>
          </p:cNvSpPr>
          <p:nvPr/>
        </p:nvSpPr>
        <p:spPr bwMode="auto">
          <a:xfrm>
            <a:off x="7016788" y="2512666"/>
            <a:ext cx="3960440" cy="957292"/>
          </a:xfrm>
          <a:prstGeom prst="wedgeRoundRectCallout">
            <a:avLst>
              <a:gd name="adj1" fmla="val -43342"/>
              <a:gd name="adj2" fmla="val -61482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归并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个子数组所需的元素比较次数在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n/2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到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n-1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之间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4" grpId="0"/>
      <p:bldP spid="50185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/>
              <a:t>归并排序算法的优化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90690"/>
            <a:ext cx="10586392" cy="4327525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1" lang="zh-CN" altLang="en-US" sz="2400" dirty="0"/>
              <a:t>时间：递归处理消耗了很多时间。</a:t>
            </a:r>
          </a:p>
          <a:p>
            <a:pPr lvl="1" eaLnBrk="1" hangingPunct="1">
              <a:lnSpc>
                <a:spcPct val="150000"/>
              </a:lnSpc>
            </a:pPr>
            <a:r>
              <a:rPr kumimoji="1" lang="zh-CN" altLang="en-US" dirty="0"/>
              <a:t>当子集合的元素个数很少时，采用</a:t>
            </a:r>
            <a:r>
              <a:rPr kumimoji="1" lang="zh-CN" altLang="en-US" dirty="0">
                <a:solidFill>
                  <a:srgbClr val="FF0000"/>
                </a:solidFill>
              </a:rPr>
              <a:t>直接插入排序算法</a:t>
            </a:r>
            <a:r>
              <a:rPr kumimoji="1" lang="zh-CN" altLang="en-US" dirty="0"/>
              <a:t>减少时间消耗。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 dirty="0"/>
              <a:t>空间：</a:t>
            </a:r>
            <a:r>
              <a:rPr kumimoji="1" lang="zh-CN" altLang="en-US" sz="2400" b="1" dirty="0"/>
              <a:t>辅助数组</a:t>
            </a:r>
            <a:r>
              <a:rPr kumimoji="1" lang="en-US" altLang="zh-CN" sz="2400" dirty="0"/>
              <a:t>B</a:t>
            </a:r>
            <a:r>
              <a:rPr kumimoji="1" lang="zh-CN" altLang="en-US" sz="2400" dirty="0"/>
              <a:t>增加了算法空间，每次调用</a:t>
            </a:r>
            <a:r>
              <a:rPr kumimoji="1" lang="en-US" altLang="zh-CN" sz="2400" dirty="0"/>
              <a:t>MERGE</a:t>
            </a:r>
            <a:r>
              <a:rPr kumimoji="1" lang="zh-CN" altLang="en-US" sz="2400" dirty="0"/>
              <a:t>时，</a:t>
            </a:r>
            <a:r>
              <a:rPr kumimoji="1" lang="en-US" altLang="zh-CN" sz="2400" dirty="0"/>
              <a:t>B</a:t>
            </a:r>
            <a:r>
              <a:rPr kumimoji="1" lang="zh-CN" altLang="en-US" sz="2400" dirty="0"/>
              <a:t>中结果</a:t>
            </a:r>
            <a:r>
              <a:rPr kumimoji="1" lang="zh-CN" altLang="en-US" sz="2400" b="1" dirty="0"/>
              <a:t>复制</a:t>
            </a:r>
            <a:r>
              <a:rPr kumimoji="1" lang="zh-CN" altLang="en-US" sz="2400" dirty="0"/>
              <a:t>到</a:t>
            </a:r>
            <a:r>
              <a:rPr kumimoji="1" lang="en-US" altLang="zh-CN" sz="2400" dirty="0"/>
              <a:t>A </a:t>
            </a:r>
            <a:r>
              <a:rPr kumimoji="1" lang="zh-CN" altLang="en-US" sz="2400" dirty="0"/>
              <a:t>中，消耗了一部分时间。</a:t>
            </a:r>
          </a:p>
          <a:p>
            <a:pPr lvl="1" eaLnBrk="1" hangingPunct="1">
              <a:lnSpc>
                <a:spcPct val="150000"/>
              </a:lnSpc>
            </a:pPr>
            <a:r>
              <a:rPr kumimoji="1" lang="zh-CN" altLang="en-US" dirty="0"/>
              <a:t>用一个</a:t>
            </a:r>
            <a:r>
              <a:rPr kumimoji="1" lang="zh-CN" altLang="en-US" dirty="0">
                <a:solidFill>
                  <a:srgbClr val="FF0000"/>
                </a:solidFill>
              </a:rPr>
              <a:t>链接数组</a:t>
            </a:r>
            <a:r>
              <a:rPr kumimoji="1" lang="en-US" altLang="zh-CN" dirty="0">
                <a:solidFill>
                  <a:srgbClr val="FF0000"/>
                </a:solidFill>
              </a:rPr>
              <a:t>LINK(1:n)</a:t>
            </a:r>
            <a:r>
              <a:rPr kumimoji="1" lang="zh-CN" altLang="en-US" dirty="0"/>
              <a:t>代替</a:t>
            </a:r>
            <a:r>
              <a:rPr kumimoji="1" lang="en-US" altLang="zh-CN" dirty="0"/>
              <a:t>B</a:t>
            </a:r>
            <a:r>
              <a:rPr kumimoji="1" lang="zh-CN" altLang="en-US" dirty="0"/>
              <a:t>，</a:t>
            </a:r>
            <a:r>
              <a:rPr kumimoji="1" lang="en-US" altLang="zh-CN" dirty="0"/>
              <a:t>LINK</a:t>
            </a:r>
            <a:r>
              <a:rPr kumimoji="1" lang="zh-CN" altLang="en-US" dirty="0"/>
              <a:t>中元素为</a:t>
            </a:r>
            <a:r>
              <a:rPr kumimoji="1" lang="en-US" altLang="zh-CN" dirty="0"/>
              <a:t>A</a:t>
            </a:r>
            <a:r>
              <a:rPr kumimoji="1" lang="zh-CN" altLang="en-US" dirty="0"/>
              <a:t>中元素的静态指针，它指向下一个元素所在的下标位置。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37</a:t>
            </a:fld>
            <a:endParaRPr lang="en-US" altLang="zh-CN"/>
          </a:p>
        </p:txBody>
      </p:sp>
      <p:sp>
        <p:nvSpPr>
          <p:cNvPr id="5" name="Text Box 71"/>
          <p:cNvSpPr txBox="1">
            <a:spLocks noChangeArrowheads="1"/>
          </p:cNvSpPr>
          <p:nvPr/>
        </p:nvSpPr>
        <p:spPr bwMode="auto">
          <a:xfrm>
            <a:off x="825608" y="5494786"/>
            <a:ext cx="9650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思考：能否采用自底向上的设计方式来取消对系统栈空间的需要？</a:t>
            </a:r>
            <a:endParaRPr lang="en-US" altLang="zh-CN" sz="2400" b="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>
            <a:extLst>
              <a:ext uri="{FF2B5EF4-FFF2-40B4-BE49-F238E27FC236}">
                <a16:creationId xmlns:a16="http://schemas.microsoft.com/office/drawing/2014/main" id="{23C51F37-CDD4-4270-8848-434F9B99A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分治策略的排序</a:t>
            </a:r>
            <a:r>
              <a:rPr lang="en-US" altLang="zh-CN" dirty="0">
                <a:solidFill>
                  <a:schemeClr val="tx2"/>
                </a:solidFill>
              </a:rPr>
              <a:t>——</a:t>
            </a:r>
            <a:r>
              <a:rPr lang="zh-CN" altLang="en-US" dirty="0">
                <a:solidFill>
                  <a:schemeClr val="tx2"/>
                </a:solidFill>
              </a:rPr>
              <a:t>快速排序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34456A8-6EE5-444C-83F6-09DFAE24BF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3432" y="1967708"/>
            <a:ext cx="8784976" cy="41116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分：</a:t>
            </a:r>
            <a:r>
              <a:rPr lang="zh-CN" altLang="en-US" dirty="0">
                <a:solidFill>
                  <a:srgbClr val="FF0000"/>
                </a:solidFill>
              </a:rPr>
              <a:t>一次分划过程</a:t>
            </a:r>
            <a:r>
              <a:rPr lang="zh-CN" altLang="en-US" dirty="0"/>
              <a:t>；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治：递归调用，将</a:t>
            </a:r>
            <a:r>
              <a:rPr lang="en-US" altLang="zh-CN" dirty="0"/>
              <a:t>2</a:t>
            </a:r>
            <a:r>
              <a:rPr lang="zh-CN" altLang="en-US" dirty="0"/>
              <a:t>个子集分别分类；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合：将</a:t>
            </a:r>
            <a:r>
              <a:rPr lang="en-US" altLang="zh-CN" dirty="0"/>
              <a:t>2</a:t>
            </a:r>
            <a:r>
              <a:rPr lang="zh-CN" altLang="en-US" dirty="0"/>
              <a:t>个已分好类的子集，合并为一个集合。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5EB5F8-F33E-552C-4082-E03F777A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994E16D1-9726-45BA-9B53-E7023DD83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792597"/>
            <a:ext cx="4552950" cy="1009650"/>
          </a:xfrm>
          <a:prstGeom prst="rect">
            <a:avLst/>
          </a:prstGeom>
          <a:solidFill>
            <a:schemeClr val="bg1"/>
          </a:solidFill>
          <a:ln w="12700">
            <a:solidFill>
              <a:srgbClr val="FF66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0"/>
          </a:p>
        </p:txBody>
      </p:sp>
      <p:sp>
        <p:nvSpPr>
          <p:cNvPr id="67589" name="Text Box 5">
            <a:extLst>
              <a:ext uri="{FF2B5EF4-FFF2-40B4-BE49-F238E27FC236}">
                <a16:creationId xmlns:a16="http://schemas.microsoft.com/office/drawing/2014/main" id="{C2797B06-60F9-40AE-8F4E-82AD25DA3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365228"/>
            <a:ext cx="4610100" cy="710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A82DED"/>
              </a:buClr>
              <a:buSzTx/>
              <a:buNone/>
            </a:pPr>
            <a:r>
              <a:rPr lang="zh-CN" altLang="en-US" sz="4000" b="0" dirty="0">
                <a:solidFill>
                  <a:schemeClr val="tx2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快速排序算法</a:t>
            </a:r>
          </a:p>
        </p:txBody>
      </p:sp>
      <p:sp>
        <p:nvSpPr>
          <p:cNvPr id="84998" name="AutoShape 6">
            <a:extLst>
              <a:ext uri="{FF2B5EF4-FFF2-40B4-BE49-F238E27FC236}">
                <a16:creationId xmlns:a16="http://schemas.microsoft.com/office/drawing/2014/main" id="{BC28DB61-5676-4421-BCD6-48E9B29E1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2024" y="2519405"/>
            <a:ext cx="3816424" cy="1008112"/>
          </a:xfrm>
          <a:prstGeom prst="wedgeRoundRectCallout">
            <a:avLst>
              <a:gd name="adj1" fmla="val -78283"/>
              <a:gd name="adj2" fmla="val 53677"/>
              <a:gd name="adj3" fmla="val 16667"/>
            </a:avLst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分划操作：函数执行完后</a:t>
            </a:r>
            <a:r>
              <a:rPr lang="en-US" altLang="zh-CN" sz="24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返回基准元素的下标。</a:t>
            </a:r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CD522DBA-D7FC-4902-86A5-738F0D267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4" y="1196752"/>
            <a:ext cx="5836915" cy="4661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</a:rPr>
              <a:t>procedure QUICKSORT(</a:t>
            </a:r>
            <a:r>
              <a:rPr lang="en-US" altLang="zh-CN" sz="2800" b="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low,high</a:t>
            </a:r>
            <a:r>
              <a:rPr lang="en-US" altLang="zh-CN" sz="2800" b="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</a:rPr>
              <a:t>int </a:t>
            </a:r>
            <a:r>
              <a:rPr lang="en-US" altLang="zh-CN" sz="2800" b="0" dirty="0" err="1">
                <a:latin typeface="Times New Roman" panose="02020603050405020304" pitchFamily="18" charset="0"/>
              </a:rPr>
              <a:t>low,high</a:t>
            </a:r>
            <a:r>
              <a:rPr lang="en-US" altLang="zh-CN" sz="2800" b="0" dirty="0">
                <a:latin typeface="Times New Roman" panose="02020603050405020304" pitchFamily="18" charset="0"/>
              </a:rPr>
              <a:t>; global n, A(1:n)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</a:rPr>
              <a:t>if </a:t>
            </a:r>
            <a:r>
              <a:rPr lang="en-US" altLang="zh-CN" sz="2800" b="0" dirty="0">
                <a:solidFill>
                  <a:srgbClr val="C00000"/>
                </a:solidFill>
                <a:latin typeface="Times New Roman" panose="02020603050405020304" pitchFamily="18" charset="0"/>
              </a:rPr>
              <a:t>low&lt;high </a:t>
            </a:r>
            <a:r>
              <a:rPr lang="en-US" altLang="zh-CN" sz="2800" b="0" dirty="0">
                <a:latin typeface="Times New Roman" panose="02020603050405020304" pitchFamily="18" charset="0"/>
              </a:rPr>
              <a:t>then 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</a:rPr>
              <a:t>        {  j</a:t>
            </a:r>
            <a:r>
              <a:rPr lang="en-US" altLang="zh-CN" sz="2800" b="0" dirty="0">
                <a:latin typeface="Times New Roman" panose="02020603050405020304" pitchFamily="18" charset="0"/>
                <a:sym typeface="Wingdings" panose="05000000000000000000" pitchFamily="2" charset="2"/>
              </a:rPr>
              <a:t>high+1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</a:t>
            </a:r>
            <a:r>
              <a:rPr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call PARTITION(low, j)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</a:t>
            </a:r>
            <a:r>
              <a:rPr lang="en-US" altLang="zh-CN" sz="2800" b="0" dirty="0">
                <a:solidFill>
                  <a:srgbClr val="3333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call QUICKSORT(low, j-1)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3333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         call QUICKSORT(j+1, high)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} endif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800" b="0" dirty="0">
                <a:latin typeface="Times New Roman" panose="02020603050405020304" pitchFamily="18" charset="0"/>
                <a:sym typeface="Wingdings" panose="05000000000000000000" pitchFamily="2" charset="2"/>
              </a:rPr>
              <a:t>end  QUICKSORT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719B1F-E9F9-54E0-D7C6-01B0B23A8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310044-93FC-4344-8BBF-FF8361439457}" type="slidenum">
              <a:rPr lang="en-US" altLang="zh-CN" smtClean="0"/>
              <a:pPr>
                <a:defRPr/>
              </a:pPr>
              <a:t>39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animBg="1"/>
      <p:bldP spid="8499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/>
              <a:t>以比较为基础排序的时间下界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/>
              <a:t>任何以关键字比较为基础的排序算法，最坏情况下的时间下界都是</a:t>
            </a:r>
            <a:r>
              <a:rPr kumimoji="1" lang="en-US" altLang="zh-CN" dirty="0">
                <a:solidFill>
                  <a:srgbClr val="FF0000"/>
                </a:solidFill>
              </a:rPr>
              <a:t>Ω(</a:t>
            </a:r>
            <a:r>
              <a:rPr kumimoji="1" lang="en-US" altLang="zh-CN" dirty="0" err="1">
                <a:solidFill>
                  <a:srgbClr val="FF0000"/>
                </a:solidFill>
              </a:rPr>
              <a:t>nlogn</a:t>
            </a:r>
            <a:r>
              <a:rPr kumimoji="1" lang="en-US" altLang="zh-CN" dirty="0">
                <a:solidFill>
                  <a:srgbClr val="FF0000"/>
                </a:solidFill>
              </a:rPr>
              <a:t>)</a:t>
            </a:r>
            <a:r>
              <a:rPr kumimoji="1" lang="zh-CN" altLang="en-US" dirty="0"/>
              <a:t>，因此从数量级角度看</a:t>
            </a:r>
            <a:r>
              <a:rPr kumimoji="1" lang="en-US" altLang="zh-CN" dirty="0"/>
              <a:t>, </a:t>
            </a:r>
            <a:r>
              <a:rPr kumimoji="1" lang="zh-CN" altLang="en-US" dirty="0"/>
              <a:t>归并算法是最坏情况下的最优算法。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652156" y="714382"/>
            <a:ext cx="10139671" cy="1008063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假设参加排序的</a:t>
            </a:r>
            <a:r>
              <a:rPr lang="en-US" altLang="zh-CN" sz="2400" dirty="0"/>
              <a:t>n</a:t>
            </a:r>
            <a:r>
              <a:rPr lang="zh-CN" altLang="en-US" sz="2400" dirty="0"/>
              <a:t>个关键字</a:t>
            </a:r>
            <a:r>
              <a:rPr lang="en-US" altLang="zh-CN" sz="2400" dirty="0"/>
              <a:t>A(1),…,A(n)</a:t>
            </a:r>
            <a:r>
              <a:rPr lang="zh-CN" altLang="en-US" sz="2400" dirty="0"/>
              <a:t>各不相同。采用二元比较树记录关键字比较。</a:t>
            </a:r>
          </a:p>
        </p:txBody>
      </p:sp>
      <p:grpSp>
        <p:nvGrpSpPr>
          <p:cNvPr id="59429" name="Group 37"/>
          <p:cNvGrpSpPr/>
          <p:nvPr/>
        </p:nvGrpSpPr>
        <p:grpSpPr bwMode="auto">
          <a:xfrm>
            <a:off x="2001166" y="1861715"/>
            <a:ext cx="7550635" cy="3227346"/>
            <a:chOff x="341" y="1599"/>
            <a:chExt cx="5223" cy="2324"/>
          </a:xfrm>
          <a:noFill/>
        </p:grpSpPr>
        <p:sp>
          <p:nvSpPr>
            <p:cNvPr id="53256" name="Oval 4"/>
            <p:cNvSpPr>
              <a:spLocks noChangeArrowheads="1"/>
            </p:cNvSpPr>
            <p:nvPr/>
          </p:nvSpPr>
          <p:spPr bwMode="auto">
            <a:xfrm>
              <a:off x="2795" y="1599"/>
              <a:ext cx="408" cy="3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cs typeface="Arial" panose="020B0604020202020204" pitchFamily="34" charset="0"/>
                </a:rPr>
                <a:t>1:2</a:t>
              </a:r>
            </a:p>
          </p:txBody>
        </p:sp>
        <p:sp>
          <p:nvSpPr>
            <p:cNvPr id="53257" name="Oval 5"/>
            <p:cNvSpPr>
              <a:spLocks noChangeArrowheads="1"/>
            </p:cNvSpPr>
            <p:nvPr/>
          </p:nvSpPr>
          <p:spPr bwMode="auto">
            <a:xfrm>
              <a:off x="3636" y="2931"/>
              <a:ext cx="408" cy="3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1:3</a:t>
              </a:r>
            </a:p>
          </p:txBody>
        </p:sp>
        <p:sp>
          <p:nvSpPr>
            <p:cNvPr id="53258" name="Oval 6"/>
            <p:cNvSpPr>
              <a:spLocks noChangeArrowheads="1"/>
            </p:cNvSpPr>
            <p:nvPr/>
          </p:nvSpPr>
          <p:spPr bwMode="auto">
            <a:xfrm>
              <a:off x="1963" y="2931"/>
              <a:ext cx="378" cy="36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1:3</a:t>
              </a:r>
            </a:p>
          </p:txBody>
        </p:sp>
        <p:sp>
          <p:nvSpPr>
            <p:cNvPr id="53259" name="Oval 7"/>
            <p:cNvSpPr>
              <a:spLocks noChangeArrowheads="1"/>
            </p:cNvSpPr>
            <p:nvPr/>
          </p:nvSpPr>
          <p:spPr bwMode="auto">
            <a:xfrm>
              <a:off x="4065" y="2205"/>
              <a:ext cx="408" cy="3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2:3</a:t>
              </a:r>
            </a:p>
          </p:txBody>
        </p:sp>
        <p:sp>
          <p:nvSpPr>
            <p:cNvPr id="53260" name="Oval 8"/>
            <p:cNvSpPr>
              <a:spLocks noChangeArrowheads="1"/>
            </p:cNvSpPr>
            <p:nvPr/>
          </p:nvSpPr>
          <p:spPr bwMode="auto">
            <a:xfrm>
              <a:off x="1343" y="2251"/>
              <a:ext cx="385" cy="36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cs typeface="Arial" panose="020B0604020202020204" pitchFamily="34" charset="0"/>
                </a:rPr>
                <a:t>2:3</a:t>
              </a:r>
            </a:p>
          </p:txBody>
        </p:sp>
        <p:sp>
          <p:nvSpPr>
            <p:cNvPr id="53261" name="Rectangle 9"/>
            <p:cNvSpPr>
              <a:spLocks noChangeArrowheads="1"/>
            </p:cNvSpPr>
            <p:nvPr/>
          </p:nvSpPr>
          <p:spPr bwMode="auto">
            <a:xfrm>
              <a:off x="419" y="3022"/>
              <a:ext cx="743" cy="26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1,2,3</a:t>
              </a:r>
            </a:p>
          </p:txBody>
        </p:sp>
        <p:sp>
          <p:nvSpPr>
            <p:cNvPr id="53262" name="Rectangle 10"/>
            <p:cNvSpPr>
              <a:spLocks noChangeArrowheads="1"/>
            </p:cNvSpPr>
            <p:nvPr/>
          </p:nvSpPr>
          <p:spPr bwMode="auto">
            <a:xfrm>
              <a:off x="1190" y="3657"/>
              <a:ext cx="743" cy="26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1,3,2</a:t>
              </a:r>
            </a:p>
          </p:txBody>
        </p:sp>
        <p:sp>
          <p:nvSpPr>
            <p:cNvPr id="53263" name="Rectangle 11"/>
            <p:cNvSpPr>
              <a:spLocks noChangeArrowheads="1"/>
            </p:cNvSpPr>
            <p:nvPr/>
          </p:nvSpPr>
          <p:spPr bwMode="auto">
            <a:xfrm>
              <a:off x="2279" y="3657"/>
              <a:ext cx="743" cy="26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3,1,2</a:t>
              </a:r>
            </a:p>
          </p:txBody>
        </p:sp>
        <p:sp>
          <p:nvSpPr>
            <p:cNvPr id="53264" name="Rectangle 12"/>
            <p:cNvSpPr>
              <a:spLocks noChangeArrowheads="1"/>
            </p:cNvSpPr>
            <p:nvPr/>
          </p:nvSpPr>
          <p:spPr bwMode="auto">
            <a:xfrm>
              <a:off x="3067" y="3657"/>
              <a:ext cx="743" cy="26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2,1,3</a:t>
              </a:r>
            </a:p>
          </p:txBody>
        </p:sp>
        <p:sp>
          <p:nvSpPr>
            <p:cNvPr id="53265" name="Rectangle 13"/>
            <p:cNvSpPr>
              <a:spLocks noChangeArrowheads="1"/>
            </p:cNvSpPr>
            <p:nvPr/>
          </p:nvSpPr>
          <p:spPr bwMode="auto">
            <a:xfrm>
              <a:off x="4020" y="3657"/>
              <a:ext cx="743" cy="26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2,3,1</a:t>
              </a:r>
            </a:p>
          </p:txBody>
        </p:sp>
        <p:sp>
          <p:nvSpPr>
            <p:cNvPr id="53266" name="Rectangle 14"/>
            <p:cNvSpPr>
              <a:spLocks noChangeArrowheads="1"/>
            </p:cNvSpPr>
            <p:nvPr/>
          </p:nvSpPr>
          <p:spPr bwMode="auto">
            <a:xfrm>
              <a:off x="4821" y="3022"/>
              <a:ext cx="743" cy="26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cs typeface="Arial" panose="020B0604020202020204" pitchFamily="34" charset="0"/>
                </a:rPr>
                <a:t>3,2,1</a:t>
              </a:r>
            </a:p>
          </p:txBody>
        </p:sp>
        <p:sp>
          <p:nvSpPr>
            <p:cNvPr id="53267" name="Line 15"/>
            <p:cNvSpPr>
              <a:spLocks noChangeShapeType="1"/>
            </p:cNvSpPr>
            <p:nvPr/>
          </p:nvSpPr>
          <p:spPr bwMode="auto">
            <a:xfrm flipH="1">
              <a:off x="1706" y="1842"/>
              <a:ext cx="1089" cy="49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68" name="Line 16"/>
            <p:cNvSpPr>
              <a:spLocks noChangeShapeType="1"/>
            </p:cNvSpPr>
            <p:nvPr/>
          </p:nvSpPr>
          <p:spPr bwMode="auto">
            <a:xfrm flipH="1">
              <a:off x="882" y="2573"/>
              <a:ext cx="507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69" name="Line 17"/>
            <p:cNvSpPr>
              <a:spLocks noChangeShapeType="1"/>
            </p:cNvSpPr>
            <p:nvPr/>
          </p:nvSpPr>
          <p:spPr bwMode="auto">
            <a:xfrm>
              <a:off x="1661" y="2568"/>
              <a:ext cx="453" cy="363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70" name="Line 18"/>
            <p:cNvSpPr>
              <a:spLocks noChangeShapeType="1"/>
            </p:cNvSpPr>
            <p:nvPr/>
          </p:nvSpPr>
          <p:spPr bwMode="auto">
            <a:xfrm flipH="1">
              <a:off x="1570" y="3249"/>
              <a:ext cx="454" cy="40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71" name="Line 19"/>
            <p:cNvSpPr>
              <a:spLocks noChangeShapeType="1"/>
            </p:cNvSpPr>
            <p:nvPr/>
          </p:nvSpPr>
          <p:spPr bwMode="auto">
            <a:xfrm>
              <a:off x="2263" y="3249"/>
              <a:ext cx="441" cy="40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72" name="Line 20"/>
            <p:cNvSpPr>
              <a:spLocks noChangeShapeType="1"/>
            </p:cNvSpPr>
            <p:nvPr/>
          </p:nvSpPr>
          <p:spPr bwMode="auto">
            <a:xfrm>
              <a:off x="3203" y="1840"/>
              <a:ext cx="874" cy="45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73" name="Line 21"/>
            <p:cNvSpPr>
              <a:spLocks noChangeShapeType="1"/>
            </p:cNvSpPr>
            <p:nvPr/>
          </p:nvSpPr>
          <p:spPr bwMode="auto">
            <a:xfrm flipH="1">
              <a:off x="3873" y="2568"/>
              <a:ext cx="316" cy="36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74" name="Line 22"/>
            <p:cNvSpPr>
              <a:spLocks noChangeShapeType="1"/>
            </p:cNvSpPr>
            <p:nvPr/>
          </p:nvSpPr>
          <p:spPr bwMode="auto">
            <a:xfrm>
              <a:off x="4428" y="2523"/>
              <a:ext cx="691" cy="49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75" name="Line 23"/>
            <p:cNvSpPr>
              <a:spLocks noChangeShapeType="1"/>
            </p:cNvSpPr>
            <p:nvPr/>
          </p:nvSpPr>
          <p:spPr bwMode="auto">
            <a:xfrm flipH="1">
              <a:off x="3385" y="3310"/>
              <a:ext cx="369" cy="34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76" name="Line 24"/>
            <p:cNvSpPr>
              <a:spLocks noChangeShapeType="1"/>
            </p:cNvSpPr>
            <p:nvPr/>
          </p:nvSpPr>
          <p:spPr bwMode="auto">
            <a:xfrm>
              <a:off x="3932" y="3311"/>
              <a:ext cx="525" cy="34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77" name="Text Box 25"/>
            <p:cNvSpPr txBox="1">
              <a:spLocks noChangeArrowheads="1"/>
            </p:cNvSpPr>
            <p:nvPr/>
          </p:nvSpPr>
          <p:spPr bwMode="auto">
            <a:xfrm>
              <a:off x="1579" y="1822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A(1)&lt;A(2)</a:t>
              </a:r>
            </a:p>
          </p:txBody>
        </p:sp>
        <p:sp>
          <p:nvSpPr>
            <p:cNvPr id="53278" name="Text Box 26"/>
            <p:cNvSpPr txBox="1">
              <a:spLocks noChangeArrowheads="1"/>
            </p:cNvSpPr>
            <p:nvPr/>
          </p:nvSpPr>
          <p:spPr bwMode="auto">
            <a:xfrm>
              <a:off x="3417" y="1761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A(1)&gt;A(2)</a:t>
              </a:r>
            </a:p>
          </p:txBody>
        </p:sp>
        <p:sp>
          <p:nvSpPr>
            <p:cNvPr id="53279" name="Text Box 27"/>
            <p:cNvSpPr txBox="1">
              <a:spLocks noChangeArrowheads="1"/>
            </p:cNvSpPr>
            <p:nvPr/>
          </p:nvSpPr>
          <p:spPr bwMode="auto">
            <a:xfrm>
              <a:off x="341" y="2548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A(2)&lt;A(3)</a:t>
              </a:r>
            </a:p>
          </p:txBody>
        </p:sp>
        <p:sp>
          <p:nvSpPr>
            <p:cNvPr id="53280" name="Text Box 28"/>
            <p:cNvSpPr txBox="1">
              <a:spLocks noChangeArrowheads="1"/>
            </p:cNvSpPr>
            <p:nvPr/>
          </p:nvSpPr>
          <p:spPr bwMode="auto">
            <a:xfrm>
              <a:off x="1814" y="2537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A(2)&gt;A(3)</a:t>
              </a:r>
            </a:p>
          </p:txBody>
        </p:sp>
        <p:sp>
          <p:nvSpPr>
            <p:cNvPr id="53281" name="Text Box 29"/>
            <p:cNvSpPr txBox="1">
              <a:spLocks noChangeArrowheads="1"/>
            </p:cNvSpPr>
            <p:nvPr/>
          </p:nvSpPr>
          <p:spPr bwMode="auto">
            <a:xfrm>
              <a:off x="976" y="3249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A(1)&lt;A(3)</a:t>
              </a:r>
            </a:p>
          </p:txBody>
        </p:sp>
        <p:sp>
          <p:nvSpPr>
            <p:cNvPr id="53282" name="Text Box 30"/>
            <p:cNvSpPr txBox="1">
              <a:spLocks noChangeArrowheads="1"/>
            </p:cNvSpPr>
            <p:nvPr/>
          </p:nvSpPr>
          <p:spPr bwMode="auto">
            <a:xfrm>
              <a:off x="2151" y="3269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A(1)&gt;A(3)</a:t>
              </a:r>
            </a:p>
          </p:txBody>
        </p:sp>
        <p:sp>
          <p:nvSpPr>
            <p:cNvPr id="53283" name="Text Box 31"/>
            <p:cNvSpPr txBox="1">
              <a:spLocks noChangeArrowheads="1"/>
            </p:cNvSpPr>
            <p:nvPr/>
          </p:nvSpPr>
          <p:spPr bwMode="auto">
            <a:xfrm>
              <a:off x="3224" y="2580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A(2)&lt;A(3)</a:t>
              </a:r>
            </a:p>
          </p:txBody>
        </p:sp>
        <p:sp>
          <p:nvSpPr>
            <p:cNvPr id="53284" name="Text Box 32"/>
            <p:cNvSpPr txBox="1">
              <a:spLocks noChangeArrowheads="1"/>
            </p:cNvSpPr>
            <p:nvPr/>
          </p:nvSpPr>
          <p:spPr bwMode="auto">
            <a:xfrm>
              <a:off x="4653" y="2585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A(2)&gt;A(3)</a:t>
              </a:r>
            </a:p>
          </p:txBody>
        </p:sp>
        <p:sp>
          <p:nvSpPr>
            <p:cNvPr id="53285" name="Text Box 33"/>
            <p:cNvSpPr txBox="1">
              <a:spLocks noChangeArrowheads="1"/>
            </p:cNvSpPr>
            <p:nvPr/>
          </p:nvSpPr>
          <p:spPr bwMode="auto">
            <a:xfrm>
              <a:off x="2972" y="3276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A(1)&lt;A(3)</a:t>
              </a:r>
            </a:p>
          </p:txBody>
        </p:sp>
        <p:sp>
          <p:nvSpPr>
            <p:cNvPr id="53286" name="Text Box 34"/>
            <p:cNvSpPr txBox="1">
              <a:spLocks noChangeArrowheads="1"/>
            </p:cNvSpPr>
            <p:nvPr/>
          </p:nvSpPr>
          <p:spPr bwMode="auto">
            <a:xfrm>
              <a:off x="4066" y="3249"/>
              <a:ext cx="901" cy="28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2"/>
                  </a:solidFill>
                  <a:cs typeface="Arial" panose="020B0604020202020204" pitchFamily="34" charset="0"/>
                </a:rPr>
                <a:t>A(1)&gt;A(3)</a:t>
              </a:r>
            </a:p>
          </p:txBody>
        </p:sp>
      </p:grpSp>
      <p:sp>
        <p:nvSpPr>
          <p:cNvPr id="59427" name="AutoShape 35"/>
          <p:cNvSpPr>
            <a:spLocks noChangeArrowheads="1"/>
          </p:cNvSpPr>
          <p:nvPr/>
        </p:nvSpPr>
        <p:spPr bwMode="auto">
          <a:xfrm>
            <a:off x="8074195" y="2173508"/>
            <a:ext cx="1910237" cy="535412"/>
          </a:xfrm>
          <a:prstGeom prst="wedgeRoundRectCallout">
            <a:avLst>
              <a:gd name="adj1" fmla="val -53076"/>
              <a:gd name="adj2" fmla="val 88366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0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表示一次比较</a:t>
            </a:r>
          </a:p>
        </p:txBody>
      </p:sp>
      <p:sp>
        <p:nvSpPr>
          <p:cNvPr id="59428" name="AutoShape 36"/>
          <p:cNvSpPr>
            <a:spLocks noChangeArrowheads="1"/>
          </p:cNvSpPr>
          <p:nvPr/>
        </p:nvSpPr>
        <p:spPr bwMode="auto">
          <a:xfrm>
            <a:off x="713693" y="4436370"/>
            <a:ext cx="1676353" cy="792163"/>
          </a:xfrm>
          <a:prstGeom prst="wedgeRoundRectCallout">
            <a:avLst>
              <a:gd name="adj1" fmla="val 55451"/>
              <a:gd name="adj2" fmla="val -7239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0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一种可能的排序序列</a:t>
            </a:r>
          </a:p>
        </p:txBody>
      </p:sp>
      <p:sp>
        <p:nvSpPr>
          <p:cNvPr id="59431" name="Rectangle 39"/>
          <p:cNvSpPr>
            <a:spLocks noChangeArrowheads="1"/>
          </p:cNvSpPr>
          <p:nvPr/>
        </p:nvSpPr>
        <p:spPr bwMode="auto">
          <a:xfrm>
            <a:off x="4129236" y="5337331"/>
            <a:ext cx="433965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对</a:t>
            </a:r>
            <a:r>
              <a:rPr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个关键字排序的二元比较树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solidFill>
            <a:schemeClr val="bg1"/>
          </a:solidFill>
        </p:spPr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27" grpId="0" animBg="1"/>
      <p:bldP spid="59428" grpId="0" animBg="1"/>
      <p:bldP spid="594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证明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51639"/>
            <a:ext cx="10730408" cy="435133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已知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个关键字有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！种排列。</a:t>
            </a:r>
            <a:endParaRPr kumimoji="1" lang="en-US" altLang="zh-CN" sz="2400" dirty="0"/>
          </a:p>
          <a:p>
            <a:r>
              <a:rPr kumimoji="1" lang="zh-CN" altLang="en-US" sz="2400" dirty="0"/>
              <a:t>观察二元比较树从根到外节点的每一条路径，分别与一种唯一的排列相对应。则比较树必定至少有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！个外节点。且</a:t>
            </a:r>
            <a:r>
              <a:rPr kumimoji="1" lang="zh-CN" altLang="en-US" sz="2400" dirty="0">
                <a:latin typeface="幼圆" panose="02010509060101010101" pitchFamily="49" charset="-122"/>
              </a:rPr>
              <a:t>最坏情况下比较次数等于树高</a:t>
            </a:r>
            <a:r>
              <a:rPr kumimoji="1" lang="en-US" altLang="zh-CN" sz="2400" dirty="0"/>
              <a:t>T(n)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r>
              <a:rPr kumimoji="1" lang="zh-CN" altLang="en-US" sz="2400" dirty="0"/>
              <a:t>则必有</a:t>
            </a:r>
            <a:r>
              <a:rPr kumimoji="1" lang="en-US" altLang="zh-CN" sz="2400" dirty="0"/>
              <a:t>2</a:t>
            </a:r>
            <a:r>
              <a:rPr kumimoji="1" lang="en-US" altLang="zh-CN" sz="2400" baseline="30000" dirty="0"/>
              <a:t>T(n)</a:t>
            </a:r>
            <a:r>
              <a:rPr kumimoji="1" lang="en-US" altLang="zh-CN" sz="2400" dirty="0"/>
              <a:t>≥n! </a:t>
            </a:r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42</a:t>
            </a:fld>
            <a:endParaRPr lang="en-US" altLang="zh-CN" dirty="0"/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1919536" y="3429000"/>
            <a:ext cx="6192838" cy="1685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0" dirty="0"/>
              <a:t>2</a:t>
            </a:r>
            <a:r>
              <a:rPr kumimoji="1" lang="en-US" altLang="zh-CN" sz="2400" b="0" baseline="30000" dirty="0"/>
              <a:t>T(n)</a:t>
            </a:r>
            <a:r>
              <a:rPr kumimoji="1" lang="en-US" altLang="zh-CN" sz="2400" b="0" dirty="0"/>
              <a:t>≥n! ≥ n(n-1)(n-2)…(</a:t>
            </a:r>
            <a:r>
              <a:rPr lang="zh-CN" altLang="en-US" sz="2400" dirty="0">
                <a:cs typeface="Arial" panose="020B0604020202020204" pitchFamily="34" charset="0"/>
              </a:rPr>
              <a:t>⌊</a:t>
            </a:r>
            <a:r>
              <a:rPr kumimoji="1" lang="en-US" altLang="zh-CN" sz="2400" b="0" dirty="0">
                <a:cs typeface="Arial" panose="020B0604020202020204" pitchFamily="34" charset="0"/>
              </a:rPr>
              <a:t>n/2</a:t>
            </a:r>
            <a:r>
              <a:rPr lang="zh-CN" altLang="en-US" sz="2400" dirty="0">
                <a:cs typeface="Arial" panose="020B0604020202020204" pitchFamily="34" charset="0"/>
              </a:rPr>
              <a:t>⌋</a:t>
            </a:r>
            <a:r>
              <a:rPr kumimoji="1" lang="en-US" altLang="zh-CN" sz="2400" b="0" dirty="0"/>
              <a:t>) ≥(n/2)</a:t>
            </a:r>
            <a:r>
              <a:rPr kumimoji="1" lang="en-US" altLang="zh-CN" sz="2400" b="0" baseline="30000" dirty="0"/>
              <a:t>n/2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/>
              <a:t>T(n) ≥ (n/2)log(n/2) ≥ (n/4)</a:t>
            </a:r>
            <a:r>
              <a:rPr kumimoji="1" lang="en-US" altLang="zh-CN" sz="2400" b="0" dirty="0" err="1"/>
              <a:t>logn</a:t>
            </a:r>
            <a:endParaRPr kumimoji="1" lang="en-US" altLang="zh-CN" sz="24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/>
              <a:t>T(n) = </a:t>
            </a:r>
            <a:r>
              <a:rPr kumimoji="1" lang="en-US" altLang="zh-CN" sz="2400" b="0" dirty="0">
                <a:sym typeface="Symbol" panose="05050102010706020507" pitchFamily="18" charset="2"/>
              </a:rPr>
              <a:t>(n </a:t>
            </a:r>
            <a:r>
              <a:rPr kumimoji="1" lang="en-US" altLang="zh-CN" sz="2400" b="0" dirty="0"/>
              <a:t>log n)</a:t>
            </a:r>
          </a:p>
        </p:txBody>
      </p:sp>
      <p:sp>
        <p:nvSpPr>
          <p:cNvPr id="14" name="AutoShape 31"/>
          <p:cNvSpPr>
            <a:spLocks noChangeArrowheads="1"/>
          </p:cNvSpPr>
          <p:nvPr/>
        </p:nvSpPr>
        <p:spPr bwMode="auto">
          <a:xfrm>
            <a:off x="6780461" y="4501540"/>
            <a:ext cx="2663825" cy="1075454"/>
          </a:xfrm>
          <a:prstGeom prst="cloudCallout">
            <a:avLst>
              <a:gd name="adj1" fmla="val -119654"/>
              <a:gd name="adj2" fmla="val -42026"/>
            </a:avLst>
          </a:prstGeom>
          <a:noFill/>
          <a:ln w="9525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/>
              <a:t>n≥4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时，有</a:t>
            </a:r>
            <a:r>
              <a:rPr kumimoji="1" lang="en-US" altLang="zh-CN" sz="2400" b="0" dirty="0"/>
              <a:t>n/2 ≥n</a:t>
            </a:r>
            <a:r>
              <a:rPr kumimoji="1" lang="en-US" altLang="zh-CN" sz="2400" b="0" baseline="30000" dirty="0"/>
              <a:t>1/2</a:t>
            </a:r>
            <a:endParaRPr lang="en-US" altLang="zh-CN" sz="2400" b="0" baseline="30000" dirty="0"/>
          </a:p>
        </p:txBody>
      </p:sp>
      <p:sp>
        <p:nvSpPr>
          <p:cNvPr id="16" name="Text Box 71"/>
          <p:cNvSpPr txBox="1">
            <a:spLocks noChangeArrowheads="1"/>
          </p:cNvSpPr>
          <p:nvPr/>
        </p:nvSpPr>
        <p:spPr bwMode="auto">
          <a:xfrm>
            <a:off x="551384" y="5457215"/>
            <a:ext cx="110892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kumimoji="1"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任何以关键字比较为基础的排序算法，最坏情况下的时间下界都是</a:t>
            </a:r>
            <a:r>
              <a:rPr kumimoji="1" lang="en-US" altLang="zh-CN" sz="24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Ω(</a:t>
            </a:r>
            <a:r>
              <a:rPr kumimoji="1" lang="en-US" altLang="zh-CN" sz="2400" b="0" dirty="0" err="1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nlogn</a:t>
            </a:r>
            <a:r>
              <a:rPr kumimoji="1" lang="en-US" altLang="zh-CN" sz="24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)</a:t>
            </a:r>
            <a:r>
              <a:rPr kumimoji="1" lang="zh-CN" altLang="en-US" sz="24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4B8368-61CC-5A1B-3606-92D69AD7A14A}"/>
              </a:ext>
            </a:extLst>
          </p:cNvPr>
          <p:cNvSpPr txBox="1"/>
          <p:nvPr/>
        </p:nvSpPr>
        <p:spPr>
          <a:xfrm>
            <a:off x="7932726" y="3172177"/>
            <a:ext cx="3563874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内结点的最大级数为</a:t>
            </a:r>
            <a:r>
              <a:rPr lang="en-US" altLang="zh-CN" dirty="0"/>
              <a:t>T(n) 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则外结点的最大级数</a:t>
            </a:r>
            <a:r>
              <a:rPr lang="en-US" altLang="zh-CN" dirty="0"/>
              <a:t>T(n)+1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该层所能包含的最大结点数为</a:t>
            </a:r>
            <a:r>
              <a:rPr kumimoji="1" lang="en-US" altLang="zh-CN" sz="1800" dirty="0"/>
              <a:t>2</a:t>
            </a:r>
            <a:r>
              <a:rPr kumimoji="1" lang="en-US" altLang="zh-CN" sz="1800" baseline="30000" dirty="0"/>
              <a:t>T(n)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/>
              <a:t>4.4  </a:t>
            </a:r>
            <a:r>
              <a:rPr lang="zh-CN" altLang="en-US" sz="4000" dirty="0"/>
              <a:t>斯特拉森矩阵乘法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矩阵相乘问题</a:t>
            </a:r>
            <a:endParaRPr lang="en-US" altLang="zh-CN" dirty="0"/>
          </a:p>
          <a:p>
            <a:pPr eaLnBrk="1" hangingPunct="1"/>
            <a:r>
              <a:rPr lang="zh-CN" altLang="en-US" dirty="0"/>
              <a:t>分治法求解矩阵相乘问题</a:t>
            </a:r>
          </a:p>
          <a:p>
            <a:pPr eaLnBrk="1" hangingPunct="1"/>
            <a:r>
              <a:rPr lang="zh-CN" altLang="en-US" dirty="0"/>
              <a:t>斯特拉森矩阵乘法思想</a:t>
            </a:r>
            <a:endParaRPr lang="en-US" altLang="zh-CN" dirty="0"/>
          </a:p>
          <a:p>
            <a:pPr eaLnBrk="1" hangingPunct="1"/>
            <a:r>
              <a:rPr lang="zh-CN" altLang="en-US" dirty="0"/>
              <a:t>斯特拉森矩阵乘法时间复杂度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矩阵相乘问题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假定矩阵</a:t>
            </a:r>
            <a:r>
              <a:rPr lang="en-US" altLang="zh-CN" sz="2400" dirty="0"/>
              <a:t>A</a:t>
            </a:r>
            <a:r>
              <a:rPr lang="zh-CN" altLang="en-US" sz="2400" dirty="0"/>
              <a:t>和</a:t>
            </a:r>
            <a:r>
              <a:rPr lang="en-US" altLang="zh-CN" sz="2400" dirty="0"/>
              <a:t>B</a:t>
            </a:r>
            <a:r>
              <a:rPr lang="zh-CN" altLang="en-US" sz="2400" dirty="0"/>
              <a:t>的级数</a:t>
            </a:r>
            <a:r>
              <a:rPr lang="en-US" altLang="zh-CN" sz="2400" dirty="0"/>
              <a:t>n</a:t>
            </a:r>
            <a:r>
              <a:rPr lang="zh-CN" altLang="en-US" sz="2400" dirty="0"/>
              <a:t>是</a:t>
            </a:r>
            <a:r>
              <a:rPr lang="en-US" altLang="zh-CN" sz="2400" dirty="0"/>
              <a:t>2</a:t>
            </a:r>
            <a:r>
              <a:rPr lang="zh-CN" altLang="en-US" sz="2400" dirty="0"/>
              <a:t>的幂，否则，添加适当的全零行和全零列。</a:t>
            </a:r>
          </a:p>
          <a:p>
            <a:r>
              <a:rPr lang="en-US" altLang="zh-CN" sz="2400" dirty="0" err="1">
                <a:solidFill>
                  <a:srgbClr val="000000"/>
                </a:solidFill>
              </a:rPr>
              <a:t>A</a:t>
            </a:r>
            <a:r>
              <a:rPr lang="en-US" altLang="zh-CN" sz="2400" baseline="-25000" dirty="0" err="1"/>
              <a:t>n×n</a:t>
            </a:r>
            <a:r>
              <a:rPr lang="zh-CN" altLang="en-US" sz="2400" dirty="0">
                <a:solidFill>
                  <a:srgbClr val="000000"/>
                </a:solidFill>
              </a:rPr>
              <a:t>和</a:t>
            </a:r>
            <a:r>
              <a:rPr lang="en-US" altLang="zh-CN" sz="2400" dirty="0" err="1">
                <a:solidFill>
                  <a:srgbClr val="000000"/>
                </a:solidFill>
              </a:rPr>
              <a:t>B</a:t>
            </a:r>
            <a:r>
              <a:rPr lang="en-US" altLang="zh-CN" sz="2400" baseline="-25000" dirty="0" err="1"/>
              <a:t>n×n</a:t>
            </a:r>
            <a:r>
              <a:rPr lang="zh-CN" altLang="en-US" sz="2400" dirty="0">
                <a:solidFill>
                  <a:srgbClr val="000000"/>
                </a:solidFill>
              </a:rPr>
              <a:t>的乘积矩阵</a:t>
            </a:r>
            <a:r>
              <a:rPr lang="en-US" altLang="zh-CN" sz="2400" dirty="0" err="1">
                <a:solidFill>
                  <a:srgbClr val="000000"/>
                </a:solidFill>
              </a:rPr>
              <a:t>C</a:t>
            </a:r>
            <a:r>
              <a:rPr lang="en-US" altLang="zh-CN" sz="2400" baseline="-25000" dirty="0" err="1"/>
              <a:t>n×n</a:t>
            </a:r>
            <a:r>
              <a:rPr lang="zh-CN" altLang="en-US" sz="2400" dirty="0">
                <a:solidFill>
                  <a:srgbClr val="000000"/>
                </a:solidFill>
              </a:rPr>
              <a:t>中的元素</a:t>
            </a:r>
            <a:r>
              <a:rPr lang="en-US" altLang="zh-CN" sz="2400" dirty="0">
                <a:solidFill>
                  <a:srgbClr val="000000"/>
                </a:solidFill>
              </a:rPr>
              <a:t>C[</a:t>
            </a:r>
            <a:r>
              <a:rPr lang="en-US" altLang="zh-CN" sz="2400" dirty="0" err="1">
                <a:solidFill>
                  <a:srgbClr val="000000"/>
                </a:solidFill>
              </a:rPr>
              <a:t>i,j</a:t>
            </a:r>
            <a:r>
              <a:rPr lang="en-US" altLang="zh-CN" sz="2400" dirty="0">
                <a:solidFill>
                  <a:srgbClr val="000000"/>
                </a:solidFill>
              </a:rPr>
              <a:t>]</a:t>
            </a:r>
            <a:r>
              <a:rPr lang="zh-CN" altLang="en-US" sz="2400" dirty="0">
                <a:solidFill>
                  <a:srgbClr val="000000"/>
                </a:solidFill>
              </a:rPr>
              <a:t>定义为</a:t>
            </a:r>
            <a:r>
              <a:rPr lang="en-US" altLang="zh-CN" sz="2400" dirty="0">
                <a:solidFill>
                  <a:srgbClr val="000000"/>
                </a:solidFill>
              </a:rPr>
              <a:t>: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直接求解的时间复杂度</a:t>
            </a:r>
            <a:endParaRPr lang="en-US" altLang="zh-CN" sz="2400" dirty="0"/>
          </a:p>
          <a:p>
            <a:pPr lvl="1"/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令乘法运算为基本运算</a:t>
            </a:r>
            <a:endParaRPr lang="en-US" altLang="zh-CN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/>
            <a:r>
              <a:rPr lang="en-US" alt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一个元素C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[</a:t>
            </a:r>
            <a:r>
              <a:rPr lang="en-US" alt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][j]需要做n次乘法和n-1次加法</a:t>
            </a:r>
          </a:p>
          <a:p>
            <a:pPr lvl="1"/>
            <a:r>
              <a:rPr lang="en-US" altLang="en-US" dirty="0" err="1">
                <a:solidFill>
                  <a:srgbClr val="000000"/>
                </a:solidFill>
                <a:cs typeface="Times New Roman" panose="02020603050405020304" pitchFamily="18" charset="0"/>
              </a:rPr>
              <a:t>矩阵C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一共有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个元素</a:t>
            </a:r>
            <a:endParaRPr lang="zh-CN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44</a:t>
            </a:fld>
            <a:endParaRPr lang="en-US" altLang="zh-CN"/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3215680" y="2852936"/>
          <a:ext cx="36718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88465" imgH="431800" progId="Equation.3">
                  <p:embed/>
                </p:oleObj>
              </mc:Choice>
              <mc:Fallback>
                <p:oleObj name="公式" r:id="rId2" imgW="1688465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2852936"/>
                        <a:ext cx="36718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9336360" y="3983038"/>
            <a:ext cx="914033" cy="46166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O(n</a:t>
            </a:r>
            <a:r>
              <a:rPr lang="en-US" altLang="zh-CN" sz="24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分治法求矩阵相乘问题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4784"/>
            <a:ext cx="1001032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A</a:t>
            </a:r>
            <a:r>
              <a:rPr lang="zh-CN" altLang="en-US" sz="2400" dirty="0"/>
              <a:t>和</a:t>
            </a:r>
            <a:r>
              <a:rPr lang="en-US" altLang="zh-CN" sz="2400" dirty="0"/>
              <a:t>B</a:t>
            </a:r>
            <a:r>
              <a:rPr lang="zh-CN" altLang="en-US" sz="2400" dirty="0"/>
              <a:t>都分成</a:t>
            </a:r>
            <a:r>
              <a:rPr lang="en-US" altLang="zh-CN" sz="2400" dirty="0"/>
              <a:t>4</a:t>
            </a:r>
            <a:r>
              <a:rPr lang="zh-CN" altLang="en-US" sz="2400" dirty="0"/>
              <a:t>个</a:t>
            </a:r>
            <a:r>
              <a:rPr lang="en-US" altLang="zh-CN" sz="2400" dirty="0"/>
              <a:t>(n/2)*(n/2)</a:t>
            </a:r>
            <a:r>
              <a:rPr lang="zh-CN" altLang="en-US" sz="2400" dirty="0"/>
              <a:t>的方形矩阵。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上述分治法求解的时间复杂度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45</a:t>
            </a:fld>
            <a:endParaRPr lang="en-US" altLang="zh-CN"/>
          </a:p>
        </p:txBody>
      </p:sp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1127448" y="2089569"/>
          <a:ext cx="4123921" cy="895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22500" imgH="482600" progId="Equation.3">
                  <p:embed/>
                </p:oleObj>
              </mc:Choice>
              <mc:Fallback>
                <p:oleObj name="公式" r:id="rId2" imgW="2222500" imgH="482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2089569"/>
                        <a:ext cx="4123921" cy="895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0"/>
          <p:cNvGrpSpPr/>
          <p:nvPr/>
        </p:nvGrpSpPr>
        <p:grpSpPr bwMode="auto">
          <a:xfrm>
            <a:off x="6023992" y="2002299"/>
            <a:ext cx="3816424" cy="1734581"/>
            <a:chOff x="0" y="0"/>
            <a:chExt cx="858" cy="552"/>
          </a:xfrm>
        </p:grpSpPr>
        <p:graphicFrame>
          <p:nvGraphicFramePr>
            <p:cNvPr id="7" name="Object 11"/>
            <p:cNvGraphicFramePr>
              <a:graphicFrameLocks noChangeAspect="1"/>
            </p:cNvGraphicFramePr>
            <p:nvPr/>
          </p:nvGraphicFramePr>
          <p:xfrm>
            <a:off x="0" y="0"/>
            <a:ext cx="822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07465" imgH="215900" progId="Equation.3">
                    <p:embed/>
                  </p:oleObj>
                </mc:Choice>
                <mc:Fallback>
                  <p:oleObj name="公式" r:id="rId4" imgW="1307465" imgH="2159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822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0" y="138"/>
            <a:ext cx="84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33500" imgH="215900" progId="Equation.3">
                    <p:embed/>
                  </p:oleObj>
                </mc:Choice>
                <mc:Fallback>
                  <p:oleObj name="公式" r:id="rId6" imgW="1333500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38"/>
                          <a:ext cx="840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3"/>
            <p:cNvGraphicFramePr>
              <a:graphicFrameLocks noChangeAspect="1"/>
            </p:cNvGraphicFramePr>
            <p:nvPr/>
          </p:nvGraphicFramePr>
          <p:xfrm>
            <a:off x="0" y="276"/>
            <a:ext cx="84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33500" imgH="215900" progId="Equation.3">
                    <p:embed/>
                  </p:oleObj>
                </mc:Choice>
                <mc:Fallback>
                  <p:oleObj name="公式" r:id="rId8" imgW="1333500" imgH="2159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76"/>
                          <a:ext cx="840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4"/>
            <p:cNvGraphicFramePr>
              <a:graphicFrameLocks noChangeAspect="1"/>
            </p:cNvGraphicFramePr>
            <p:nvPr/>
          </p:nvGraphicFramePr>
          <p:xfrm>
            <a:off x="0" y="414"/>
            <a:ext cx="85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58265" imgH="215900" progId="Equation.3">
                    <p:embed/>
                  </p:oleObj>
                </mc:Choice>
                <mc:Fallback>
                  <p:oleObj name="公式" r:id="rId10" imgW="1358265" imgH="2159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14"/>
                          <a:ext cx="858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5087886" y="3870000"/>
          <a:ext cx="4065991" cy="872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41500" imgH="457200" progId="Equation.3">
                  <p:embed/>
                </p:oleObj>
              </mc:Choice>
              <mc:Fallback>
                <p:oleObj name="公式" r:id="rId12" imgW="18415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886" y="3870000"/>
                        <a:ext cx="4065991" cy="872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35"/>
          <p:cNvSpPr>
            <a:spLocks noChangeArrowheads="1"/>
          </p:cNvSpPr>
          <p:nvPr/>
        </p:nvSpPr>
        <p:spPr bwMode="auto">
          <a:xfrm>
            <a:off x="6127128" y="4824829"/>
            <a:ext cx="1910237" cy="535412"/>
          </a:xfrm>
          <a:prstGeom prst="wedgeRoundRectCallout">
            <a:avLst>
              <a:gd name="adj1" fmla="val 36859"/>
              <a:gd name="adj2" fmla="val -73793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2000" b="0" dirty="0"/>
              <a:t>4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次子矩阵相加</a:t>
            </a:r>
          </a:p>
        </p:txBody>
      </p:sp>
      <p:sp>
        <p:nvSpPr>
          <p:cNvPr id="16" name="矩形 15"/>
          <p:cNvSpPr/>
          <p:nvPr/>
        </p:nvSpPr>
        <p:spPr>
          <a:xfrm>
            <a:off x="9577706" y="4163526"/>
            <a:ext cx="914033" cy="46166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O(n</a:t>
            </a:r>
            <a:r>
              <a:rPr lang="en-US" altLang="zh-CN" sz="24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  <a:sym typeface="Wingdings" panose="05000000000000000000" pitchFamily="2" charset="2"/>
            </a:endParaRPr>
          </a:p>
        </p:txBody>
      </p:sp>
      <p:sp>
        <p:nvSpPr>
          <p:cNvPr id="17" name="Text Box 71"/>
          <p:cNvSpPr txBox="1">
            <a:spLocks noChangeArrowheads="1"/>
          </p:cNvSpPr>
          <p:nvPr/>
        </p:nvSpPr>
        <p:spPr bwMode="auto">
          <a:xfrm>
            <a:off x="1011063" y="5671850"/>
            <a:ext cx="9828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kumimoji="1"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思考：当前分治法没有提高求解效率的原因是什么？</a:t>
            </a:r>
            <a:endParaRPr kumimoji="1" lang="zh-CN" altLang="en-US" sz="2400" b="0" dirty="0">
              <a:solidFill>
                <a:srgbClr val="FF0000"/>
              </a:solidFill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AutoShape 35"/>
          <p:cNvSpPr>
            <a:spLocks noChangeArrowheads="1"/>
          </p:cNvSpPr>
          <p:nvPr/>
        </p:nvSpPr>
        <p:spPr bwMode="auto">
          <a:xfrm>
            <a:off x="8534650" y="5033005"/>
            <a:ext cx="1910237" cy="535412"/>
          </a:xfrm>
          <a:prstGeom prst="wedgeRoundRectCallout">
            <a:avLst>
              <a:gd name="adj1" fmla="val -45823"/>
              <a:gd name="adj2" fmla="val 7801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子问题个数多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  <p:bldP spid="16" grpId="0" animBg="1"/>
      <p:bldP spid="17" grpId="0"/>
      <p:bldP spid="18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斯特拉森矩阵乘法思想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34490"/>
            <a:ext cx="10685780" cy="1544955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斯特拉森在分治法的基础上，利用技巧减少了子问题的个数</a:t>
            </a:r>
            <a:endParaRPr lang="en-US" altLang="zh-CN" sz="2400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7</a:t>
            </a:r>
            <a:r>
              <a:rPr lang="zh-CN" altLang="en-US" dirty="0"/>
              <a:t>个乘法和</a:t>
            </a:r>
            <a:r>
              <a:rPr lang="en-US" altLang="zh-CN" dirty="0"/>
              <a:t>10</a:t>
            </a:r>
            <a:r>
              <a:rPr lang="zh-CN" altLang="en-US" dirty="0"/>
              <a:t>个加</a:t>
            </a:r>
            <a:r>
              <a:rPr lang="en-US" altLang="zh-CN" dirty="0"/>
              <a:t>(</a:t>
            </a:r>
            <a:r>
              <a:rPr lang="zh-CN" altLang="en-US" dirty="0"/>
              <a:t>减</a:t>
            </a:r>
            <a:r>
              <a:rPr lang="en-US" altLang="zh-CN" dirty="0"/>
              <a:t>)</a:t>
            </a:r>
            <a:r>
              <a:rPr lang="zh-CN" altLang="en-US" dirty="0"/>
              <a:t>法来算出</a:t>
            </a:r>
            <a:r>
              <a:rPr lang="en-US" altLang="zh-CN" dirty="0"/>
              <a:t>7</a:t>
            </a:r>
            <a:r>
              <a:rPr lang="zh-CN" altLang="en-US" dirty="0"/>
              <a:t>个</a:t>
            </a:r>
            <a:r>
              <a:rPr lang="en-US" altLang="zh-CN" dirty="0"/>
              <a:t>(n/2)*(n/2)</a:t>
            </a:r>
            <a:r>
              <a:rPr lang="zh-CN" altLang="en-US" dirty="0"/>
              <a:t>的中间矩阵</a:t>
            </a:r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8</a:t>
            </a:r>
            <a:r>
              <a:rPr lang="zh-CN" altLang="en-US" dirty="0"/>
              <a:t>个加</a:t>
            </a:r>
            <a:r>
              <a:rPr lang="en-US" altLang="zh-CN" dirty="0"/>
              <a:t>(</a:t>
            </a:r>
            <a:r>
              <a:rPr lang="zh-CN" altLang="en-US" dirty="0"/>
              <a:t>减</a:t>
            </a:r>
            <a:r>
              <a:rPr lang="en-US" altLang="zh-CN" dirty="0"/>
              <a:t>)</a:t>
            </a:r>
            <a:r>
              <a:rPr lang="zh-CN" altLang="en-US" dirty="0"/>
              <a:t>法算出子问题的解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ij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46</a:t>
            </a:fld>
            <a:endParaRPr lang="en-US" altLang="zh-CN"/>
          </a:p>
        </p:txBody>
      </p:sp>
      <p:grpSp>
        <p:nvGrpSpPr>
          <p:cNvPr id="5" name="Group 4"/>
          <p:cNvGrpSpPr/>
          <p:nvPr/>
        </p:nvGrpSpPr>
        <p:grpSpPr bwMode="auto">
          <a:xfrm>
            <a:off x="1343472" y="3157654"/>
            <a:ext cx="3816424" cy="2935642"/>
            <a:chOff x="0" y="1665"/>
            <a:chExt cx="1104" cy="990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0" y="1665"/>
            <a:ext cx="79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9365" imgH="215900" progId="Equation.3">
                    <p:embed/>
                  </p:oleObj>
                </mc:Choice>
                <mc:Fallback>
                  <p:oleObj name="公式" r:id="rId2" imgW="1269365" imgH="2159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665"/>
                          <a:ext cx="798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0" y="1803"/>
            <a:ext cx="79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9365" imgH="215900" progId="Equation.3">
                    <p:embed/>
                  </p:oleObj>
                </mc:Choice>
                <mc:Fallback>
                  <p:oleObj name="公式" r:id="rId4" imgW="1269365" imgH="2159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803"/>
                          <a:ext cx="798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0" y="1941"/>
            <a:ext cx="79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70000" imgH="228600" progId="Equation.3">
                    <p:embed/>
                  </p:oleObj>
                </mc:Choice>
                <mc:Fallback>
                  <p:oleObj name="公式" r:id="rId6" imgW="127000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941"/>
                          <a:ext cx="798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0" y="2085"/>
            <a:ext cx="81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282700" imgH="215900" progId="Equation.3">
                    <p:embed/>
                  </p:oleObj>
                </mc:Choice>
                <mc:Fallback>
                  <p:oleObj name="公式" r:id="rId8" imgW="12827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085"/>
                          <a:ext cx="810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0" y="2223"/>
            <a:ext cx="109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739900" imgH="228600" progId="Equation.3">
                    <p:embed/>
                  </p:oleObj>
                </mc:Choice>
                <mc:Fallback>
                  <p:oleObj name="公式" r:id="rId10" imgW="17399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23"/>
                          <a:ext cx="1098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/>
            <p:cNvGraphicFramePr>
              <a:graphicFrameLocks noChangeAspect="1"/>
            </p:cNvGraphicFramePr>
            <p:nvPr/>
          </p:nvGraphicFramePr>
          <p:xfrm>
            <a:off x="0" y="2367"/>
            <a:ext cx="110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752600" imgH="228600" progId="Equation.3">
                    <p:embed/>
                  </p:oleObj>
                </mc:Choice>
                <mc:Fallback>
                  <p:oleObj name="公式" r:id="rId12" imgW="17526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367"/>
                          <a:ext cx="110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0" y="2511"/>
            <a:ext cx="1080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714500" imgH="228600" progId="Equation.3">
                    <p:embed/>
                  </p:oleObj>
                </mc:Choice>
                <mc:Fallback>
                  <p:oleObj name="公式" r:id="rId14" imgW="17145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11"/>
                          <a:ext cx="1080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3"/>
          <p:cNvGrpSpPr/>
          <p:nvPr/>
        </p:nvGrpSpPr>
        <p:grpSpPr bwMode="auto">
          <a:xfrm>
            <a:off x="6099053" y="3174314"/>
            <a:ext cx="2733251" cy="1769306"/>
            <a:chOff x="0" y="1875"/>
            <a:chExt cx="1062" cy="570"/>
          </a:xfrm>
        </p:grpSpPr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0" y="1875"/>
            <a:ext cx="106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689100" imgH="228600" progId="Equation.3">
                    <p:embed/>
                  </p:oleObj>
                </mc:Choice>
                <mc:Fallback>
                  <p:oleObj name="公式" r:id="rId16" imgW="1689100" imgH="228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875"/>
                          <a:ext cx="106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0" y="2019"/>
            <a:ext cx="606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964565" imgH="215900" progId="Equation.3">
                    <p:embed/>
                  </p:oleObj>
                </mc:Choice>
                <mc:Fallback>
                  <p:oleObj name="公式" r:id="rId18" imgW="964565" imgH="2159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019"/>
                          <a:ext cx="606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0" y="2157"/>
            <a:ext cx="61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977900" imgH="228600" progId="Equation.3">
                    <p:embed/>
                  </p:oleObj>
                </mc:Choice>
                <mc:Fallback>
                  <p:oleObj name="公式" r:id="rId20" imgW="97790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157"/>
                          <a:ext cx="618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0" y="2301"/>
            <a:ext cx="106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689100" imgH="228600" progId="Equation.3">
                    <p:embed/>
                  </p:oleObj>
                </mc:Choice>
                <mc:Fallback>
                  <p:oleObj name="公式" r:id="rId22" imgW="168910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301"/>
                          <a:ext cx="106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0"/>
            <a:ext cx="10515600" cy="1325563"/>
          </a:xfrm>
        </p:spPr>
        <p:txBody>
          <a:bodyPr/>
          <a:lstStyle/>
          <a:p>
            <a:r>
              <a:rPr lang="zh-CN" altLang="en-US" dirty="0"/>
              <a:t>斯特拉森矩阵乘法时间复杂度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47</a:t>
            </a:fld>
            <a:endParaRPr lang="en-US" altLang="zh-CN"/>
          </a:p>
        </p:txBody>
      </p:sp>
      <p:graphicFrame>
        <p:nvGraphicFramePr>
          <p:cNvPr id="5" name="Object 23"/>
          <p:cNvGraphicFramePr>
            <a:graphicFrameLocks noChangeAspect="1"/>
          </p:cNvGraphicFramePr>
          <p:nvPr/>
        </p:nvGraphicFramePr>
        <p:xfrm>
          <a:off x="767408" y="1196752"/>
          <a:ext cx="3803626" cy="872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900" imgH="457200" progId="Equation.3">
                  <p:embed/>
                </p:oleObj>
              </mc:Choice>
              <mc:Fallback>
                <p:oleObj name="Equation" r:id="rId2" imgW="1993900" imgH="4572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1196752"/>
                        <a:ext cx="3803626" cy="872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325899"/>
              </p:ext>
            </p:extLst>
          </p:nvPr>
        </p:nvGraphicFramePr>
        <p:xfrm>
          <a:off x="5807968" y="1196752"/>
          <a:ext cx="4065991" cy="872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41500" imgH="457200" progId="Equation.3">
                  <p:embed/>
                </p:oleObj>
              </mc:Choice>
              <mc:Fallback>
                <p:oleObj name="公式" r:id="rId4" imgW="18415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1196752"/>
                        <a:ext cx="4065991" cy="87205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左箭头 6"/>
          <p:cNvSpPr/>
          <p:nvPr/>
        </p:nvSpPr>
        <p:spPr>
          <a:xfrm>
            <a:off x="4859066" y="1524769"/>
            <a:ext cx="948902" cy="18355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68588" y="2233613"/>
          <a:ext cx="5451475" cy="456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25700" imgH="2032000" progId="Equation.3">
                  <p:embed/>
                </p:oleObj>
              </mc:Choice>
              <mc:Fallback>
                <p:oleObj name="公式" r:id="rId6" imgW="2425700" imgH="2032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2233613"/>
                        <a:ext cx="5451475" cy="456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1415480" y="2276872"/>
            <a:ext cx="1152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令</a:t>
            </a:r>
            <a:r>
              <a:rPr lang="en-US" altLang="zh-CN" sz="2000" b="0" dirty="0">
                <a:solidFill>
                  <a:srgbClr val="FF0000"/>
                </a:solidFill>
              </a:rPr>
              <a:t>n=2</a:t>
            </a:r>
            <a:r>
              <a:rPr lang="en-US" altLang="zh-CN" sz="2000" b="0" baseline="30000" dirty="0">
                <a:solidFill>
                  <a:srgbClr val="FF0000"/>
                </a:solidFill>
              </a:rPr>
              <a:t>k</a:t>
            </a:r>
            <a:endParaRPr lang="zh-CN" altLang="en-US" sz="2000" b="0" baseline="30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48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Grp="1" noChangeAspect="1"/>
          </p:cNvGraphicFramePr>
          <p:nvPr>
            <p:ph/>
          </p:nvPr>
        </p:nvGraphicFramePr>
        <p:xfrm>
          <a:off x="2424113" y="981075"/>
          <a:ext cx="5851525" cy="387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05100" imgH="1790700" progId="Equation.3">
                  <p:embed/>
                </p:oleObj>
              </mc:Choice>
              <mc:Fallback>
                <p:oleObj name="公式" r:id="rId2" imgW="2705100" imgH="17907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981075"/>
                        <a:ext cx="5851525" cy="387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31367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分治法不一定总会提高算法效率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sym typeface="Wingdings" panose="05000000000000000000" pitchFamily="2" charset="2"/>
              </a:rPr>
              <a:t>减少子问题个数是降低时间复杂度的一个有效途径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49</a:t>
            </a:fld>
            <a:endParaRPr lang="en-US" altLang="zh-CN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55440" y="3419468"/>
            <a:ext cx="9552905" cy="1821076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Hopcroft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和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Kerr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已经证明</a:t>
            </a:r>
            <a:r>
              <a:rPr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1971</a:t>
            </a:r>
            <a:r>
              <a:rPr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，计算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个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2×2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矩阵的乘积，</a:t>
            </a:r>
            <a:r>
              <a:rPr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7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次乘法是必要的。因此，要想进一步改进矩阵乘法的时间复杂性，就不能再基于计算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2×2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矩阵的</a:t>
            </a:r>
            <a:r>
              <a:rPr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7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次乘法这样的方法了。或许应当研究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3×3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或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5×5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矩阵的更好算法。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 </a:t>
            </a:r>
            <a:r>
              <a:rPr lang="zh-CN" altLang="en-US" dirty="0"/>
              <a:t>二维极大点问题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838200" y="1847852"/>
            <a:ext cx="10515600" cy="4351338"/>
          </a:xfrm>
        </p:spPr>
        <p:txBody>
          <a:bodyPr/>
          <a:lstStyle/>
          <a:p>
            <a:r>
              <a:rPr lang="zh-CN" altLang="en-US" dirty="0"/>
              <a:t>问题描述</a:t>
            </a:r>
            <a:endParaRPr lang="en-US" altLang="zh-CN" dirty="0"/>
          </a:p>
          <a:p>
            <a:r>
              <a:rPr lang="zh-CN" altLang="en-US" dirty="0"/>
              <a:t>分治法设计思想</a:t>
            </a:r>
            <a:endParaRPr lang="en-US" altLang="zh-CN" dirty="0"/>
          </a:p>
          <a:p>
            <a:r>
              <a:rPr lang="zh-CN" altLang="en-US" dirty="0"/>
              <a:t>分治法描述</a:t>
            </a:r>
            <a:endParaRPr lang="en-US" altLang="zh-CN" dirty="0"/>
          </a:p>
          <a:p>
            <a:r>
              <a:rPr lang="zh-CN" altLang="en-US" dirty="0"/>
              <a:t>时间复杂度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604" y="134765"/>
            <a:ext cx="10515600" cy="1325563"/>
          </a:xfrm>
        </p:spPr>
        <p:txBody>
          <a:bodyPr/>
          <a:lstStyle/>
          <a:p>
            <a:r>
              <a:rPr lang="zh-CN" altLang="en-US" dirty="0"/>
              <a:t>问题描述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207163"/>
            <a:ext cx="2743200" cy="365125"/>
          </a:xfrm>
        </p:spPr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51</a:t>
            </a:fld>
            <a:endParaRPr lang="en-US" altLang="zh-CN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7902" y="1313451"/>
            <a:ext cx="10515600" cy="4963379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zh-CN" altLang="en-US" sz="2600" dirty="0"/>
              <a:t>支配规则：在二维空间中，如果</a:t>
            </a:r>
            <a:r>
              <a:rPr lang="en-US" altLang="zh-CN" sz="2600" dirty="0"/>
              <a:t>x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&gt;x</a:t>
            </a:r>
            <a:r>
              <a:rPr lang="en-US" altLang="zh-CN" sz="2600" baseline="-25000" dirty="0"/>
              <a:t>2</a:t>
            </a:r>
            <a:r>
              <a:rPr lang="zh-CN" altLang="en-US" sz="2600" dirty="0"/>
              <a:t>，且</a:t>
            </a:r>
            <a:r>
              <a:rPr lang="en-US" altLang="zh-CN" sz="2600" dirty="0"/>
              <a:t>y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&gt;y</a:t>
            </a:r>
            <a:r>
              <a:rPr lang="en-US" altLang="zh-CN" sz="2600" baseline="-25000" dirty="0"/>
              <a:t>2</a:t>
            </a:r>
            <a:r>
              <a:rPr lang="zh-CN" altLang="en-US" sz="2600" dirty="0"/>
              <a:t>，那么称点</a:t>
            </a:r>
            <a:r>
              <a:rPr lang="en-US" altLang="zh-CN" sz="2600" dirty="0"/>
              <a:t>(x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,y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)</a:t>
            </a:r>
            <a:r>
              <a:rPr lang="zh-CN" altLang="en-US" sz="2600" dirty="0"/>
              <a:t>支配点</a:t>
            </a:r>
            <a:r>
              <a:rPr lang="en-US" altLang="zh-CN" sz="2600" dirty="0"/>
              <a:t>(x</a:t>
            </a:r>
            <a:r>
              <a:rPr lang="en-US" altLang="zh-CN" sz="2600" baseline="-25000" dirty="0"/>
              <a:t>2,</a:t>
            </a:r>
            <a:r>
              <a:rPr lang="en-US" altLang="zh-CN" sz="2600" dirty="0"/>
              <a:t>y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</a:p>
          <a:p>
            <a:pPr>
              <a:spcBef>
                <a:spcPts val="0"/>
              </a:spcBef>
            </a:pPr>
            <a:r>
              <a:rPr lang="zh-CN" altLang="en-US" sz="2600" dirty="0"/>
              <a:t>极大点：如果一个点没有被其他点支配，则称其为极大点。</a:t>
            </a:r>
            <a:endParaRPr lang="en-US" altLang="zh-CN" sz="2600" dirty="0"/>
          </a:p>
          <a:p>
            <a:pPr>
              <a:spcBef>
                <a:spcPts val="0"/>
              </a:spcBef>
            </a:pPr>
            <a:r>
              <a:rPr lang="zh-CN" altLang="en-US" sz="2600" dirty="0"/>
              <a:t>求极大点问题：已知有</a:t>
            </a:r>
            <a:r>
              <a:rPr lang="en-US" altLang="zh-CN" sz="2600" dirty="0"/>
              <a:t>n</a:t>
            </a:r>
            <a:r>
              <a:rPr lang="zh-CN" altLang="en-US" sz="2600" dirty="0"/>
              <a:t>个点的集合，找出其中的所有极大点。</a:t>
            </a:r>
            <a:endParaRPr lang="en-US" altLang="zh-CN" sz="2600" dirty="0"/>
          </a:p>
          <a:p>
            <a:pPr>
              <a:spcBef>
                <a:spcPts val="0"/>
              </a:spcBef>
            </a:pPr>
            <a:endParaRPr lang="en-US" altLang="zh-CN" sz="2400" dirty="0"/>
          </a:p>
          <a:p>
            <a:pPr>
              <a:spcBef>
                <a:spcPts val="0"/>
              </a:spcBef>
            </a:pPr>
            <a:endParaRPr lang="en-US" altLang="zh-CN" sz="2400" dirty="0"/>
          </a:p>
          <a:p>
            <a:pPr>
              <a:spcBef>
                <a:spcPts val="0"/>
              </a:spcBef>
            </a:pPr>
            <a:endParaRPr lang="en-US" altLang="zh-CN" sz="2400" dirty="0"/>
          </a:p>
          <a:p>
            <a:pPr>
              <a:spcBef>
                <a:spcPts val="0"/>
              </a:spcBef>
            </a:pPr>
            <a:endParaRPr lang="en-US" altLang="zh-CN" sz="2400" dirty="0"/>
          </a:p>
          <a:p>
            <a:pPr>
              <a:spcBef>
                <a:spcPts val="0"/>
              </a:spcBef>
            </a:pPr>
            <a:endParaRPr lang="en-US" altLang="zh-CN" sz="2400" dirty="0"/>
          </a:p>
          <a:p>
            <a:pPr>
              <a:spcBef>
                <a:spcPts val="0"/>
              </a:spcBef>
            </a:pPr>
            <a:endParaRPr lang="en-US" altLang="zh-CN" sz="2400" dirty="0"/>
          </a:p>
          <a:p>
            <a:pPr>
              <a:spcBef>
                <a:spcPts val="0"/>
              </a:spcBef>
            </a:pPr>
            <a:endParaRPr lang="en-US" altLang="zh-CN" sz="2400" dirty="0"/>
          </a:p>
          <a:p>
            <a:r>
              <a:rPr lang="zh-CN" altLang="en-US" sz="2400" dirty="0"/>
              <a:t>直观解法：直接比较每一对点，</a:t>
            </a:r>
            <a:r>
              <a:rPr lang="zh-CN" altLang="en-US" sz="2600" dirty="0"/>
              <a:t>时间复杂度</a:t>
            </a:r>
            <a:r>
              <a:rPr lang="en-US" altLang="zh-CN" b="1" dirty="0">
                <a:solidFill>
                  <a:srgbClr val="FF0000"/>
                </a:solidFill>
              </a:rPr>
              <a:t>O(n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endParaRPr lang="en-US" altLang="zh-CN" b="1" dirty="0">
              <a:solidFill>
                <a:srgbClr val="FF0000"/>
              </a:solidFill>
              <a:ea typeface="楷体_GB2312" pitchFamily="49" charset="-122"/>
              <a:sym typeface="Wingdings" panose="05000000000000000000" pitchFamily="2" charset="2"/>
            </a:endParaRPr>
          </a:p>
          <a:p>
            <a:endParaRPr lang="en-US" altLang="zh-CN" sz="2600" dirty="0"/>
          </a:p>
          <a:p>
            <a:pPr marL="0" indent="0">
              <a:spcBef>
                <a:spcPts val="0"/>
              </a:spcBef>
              <a:buNone/>
            </a:pPr>
            <a:endParaRPr lang="en-US" altLang="zh-CN" sz="2400" dirty="0"/>
          </a:p>
        </p:txBody>
      </p:sp>
      <p:grpSp>
        <p:nvGrpSpPr>
          <p:cNvPr id="6" name="组合 43"/>
          <p:cNvGrpSpPr/>
          <p:nvPr/>
        </p:nvGrpSpPr>
        <p:grpSpPr bwMode="auto">
          <a:xfrm>
            <a:off x="2134890" y="3210866"/>
            <a:ext cx="7129462" cy="2317825"/>
            <a:chOff x="611560" y="2808560"/>
            <a:chExt cx="7128792" cy="2317607"/>
          </a:xfrm>
        </p:grpSpPr>
        <p:cxnSp>
          <p:nvCxnSpPr>
            <p:cNvPr id="7" name="直接箭头连接符 6"/>
            <p:cNvCxnSpPr/>
            <p:nvPr/>
          </p:nvCxnSpPr>
          <p:spPr>
            <a:xfrm>
              <a:off x="611560" y="4940446"/>
              <a:ext cx="71287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1043174" y="2808560"/>
              <a:ext cx="393" cy="23176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2124305" y="3213409"/>
              <a:ext cx="71431" cy="7143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3203703" y="3429289"/>
              <a:ext cx="71431" cy="7143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403648" y="4148359"/>
              <a:ext cx="71431" cy="7301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2483046" y="4581705"/>
              <a:ext cx="73018" cy="7143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195736" y="4005497"/>
              <a:ext cx="71430" cy="714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3059255" y="4005497"/>
              <a:ext cx="73018" cy="714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4211672" y="4292807"/>
              <a:ext cx="73018" cy="7301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4859311" y="4581705"/>
              <a:ext cx="73018" cy="7143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4643431" y="3645168"/>
              <a:ext cx="73018" cy="7143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5579968" y="4437257"/>
              <a:ext cx="71430" cy="714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564033" y="4221377"/>
              <a:ext cx="71430" cy="714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5003759" y="4148359"/>
              <a:ext cx="73018" cy="7301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5724416" y="3861048"/>
              <a:ext cx="71431" cy="7143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6443487" y="4221377"/>
              <a:ext cx="73018" cy="714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2051287" y="3140391"/>
              <a:ext cx="215880" cy="2523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132273" y="3356270"/>
              <a:ext cx="215880" cy="2523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4572000" y="3573738"/>
              <a:ext cx="215880" cy="2508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5651398" y="3789618"/>
              <a:ext cx="217468" cy="2508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6372056" y="4148359"/>
              <a:ext cx="215880" cy="2523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28" name="TextBox 29"/>
            <p:cNvSpPr txBox="1">
              <a:spLocks noChangeArrowheads="1"/>
            </p:cNvSpPr>
            <p:nvPr/>
          </p:nvSpPr>
          <p:spPr bwMode="auto">
            <a:xfrm>
              <a:off x="2231740" y="3064314"/>
              <a:ext cx="61206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P1</a:t>
              </a:r>
              <a:endParaRPr lang="zh-CN" altLang="en-US" sz="1800" b="0"/>
            </a:p>
          </p:txBody>
        </p:sp>
        <p:sp>
          <p:nvSpPr>
            <p:cNvPr id="29" name="TextBox 30"/>
            <p:cNvSpPr txBox="1">
              <a:spLocks noChangeArrowheads="1"/>
            </p:cNvSpPr>
            <p:nvPr/>
          </p:nvSpPr>
          <p:spPr bwMode="auto">
            <a:xfrm>
              <a:off x="3347864" y="3212976"/>
              <a:ext cx="7200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P2</a:t>
              </a:r>
              <a:endParaRPr lang="zh-CN" altLang="en-US" sz="1800" b="0"/>
            </a:p>
          </p:txBody>
        </p:sp>
        <p:sp>
          <p:nvSpPr>
            <p:cNvPr id="30" name="TextBox 31"/>
            <p:cNvSpPr txBox="1">
              <a:spLocks noChangeArrowheads="1"/>
            </p:cNvSpPr>
            <p:nvPr/>
          </p:nvSpPr>
          <p:spPr bwMode="auto">
            <a:xfrm>
              <a:off x="3599892" y="4027388"/>
              <a:ext cx="46805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P3</a:t>
              </a:r>
              <a:endParaRPr lang="zh-CN" altLang="en-US" sz="1800" b="0"/>
            </a:p>
          </p:txBody>
        </p:sp>
        <p:sp>
          <p:nvSpPr>
            <p:cNvPr id="31" name="TextBox 32"/>
            <p:cNvSpPr txBox="1">
              <a:spLocks noChangeArrowheads="1"/>
            </p:cNvSpPr>
            <p:nvPr/>
          </p:nvSpPr>
          <p:spPr bwMode="auto">
            <a:xfrm>
              <a:off x="3131840" y="3825044"/>
              <a:ext cx="5760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P4</a:t>
              </a:r>
              <a:endParaRPr lang="zh-CN" altLang="en-US" sz="1800" b="0"/>
            </a:p>
          </p:txBody>
        </p:sp>
        <p:sp>
          <p:nvSpPr>
            <p:cNvPr id="32" name="TextBox 33"/>
            <p:cNvSpPr txBox="1">
              <a:spLocks noChangeArrowheads="1"/>
            </p:cNvSpPr>
            <p:nvPr/>
          </p:nvSpPr>
          <p:spPr bwMode="auto">
            <a:xfrm>
              <a:off x="2555776" y="4437112"/>
              <a:ext cx="6840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P5</a:t>
              </a:r>
              <a:endParaRPr lang="zh-CN" altLang="en-US" sz="1800" b="0"/>
            </a:p>
          </p:txBody>
        </p:sp>
        <p:sp>
          <p:nvSpPr>
            <p:cNvPr id="33" name="TextBox 34"/>
            <p:cNvSpPr txBox="1">
              <a:spLocks noChangeArrowheads="1"/>
            </p:cNvSpPr>
            <p:nvPr/>
          </p:nvSpPr>
          <p:spPr bwMode="auto">
            <a:xfrm>
              <a:off x="2267744" y="3861048"/>
              <a:ext cx="5760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P6</a:t>
              </a:r>
              <a:endParaRPr lang="zh-CN" altLang="en-US" sz="1800" b="0"/>
            </a:p>
          </p:txBody>
        </p:sp>
        <p:sp>
          <p:nvSpPr>
            <p:cNvPr id="34" name="TextBox 35"/>
            <p:cNvSpPr txBox="1">
              <a:spLocks noChangeArrowheads="1"/>
            </p:cNvSpPr>
            <p:nvPr/>
          </p:nvSpPr>
          <p:spPr bwMode="auto">
            <a:xfrm>
              <a:off x="1475656" y="4005064"/>
              <a:ext cx="5760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P7</a:t>
              </a:r>
              <a:endParaRPr lang="zh-CN" altLang="en-US" sz="1800" b="0"/>
            </a:p>
          </p:txBody>
        </p:sp>
        <p:sp>
          <p:nvSpPr>
            <p:cNvPr id="35" name="TextBox 36"/>
            <p:cNvSpPr txBox="1">
              <a:spLocks noChangeArrowheads="1"/>
            </p:cNvSpPr>
            <p:nvPr/>
          </p:nvSpPr>
          <p:spPr bwMode="auto">
            <a:xfrm>
              <a:off x="4788024" y="3397642"/>
              <a:ext cx="5040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P8</a:t>
              </a:r>
              <a:endParaRPr lang="zh-CN" altLang="en-US" sz="1800" b="0"/>
            </a:p>
          </p:txBody>
        </p:sp>
        <p:sp>
          <p:nvSpPr>
            <p:cNvPr id="36" name="TextBox 37"/>
            <p:cNvSpPr txBox="1">
              <a:spLocks noChangeArrowheads="1"/>
            </p:cNvSpPr>
            <p:nvPr/>
          </p:nvSpPr>
          <p:spPr bwMode="auto">
            <a:xfrm>
              <a:off x="5868144" y="3681028"/>
              <a:ext cx="5040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P9</a:t>
              </a:r>
              <a:endParaRPr lang="zh-CN" altLang="en-US" sz="1800" b="0"/>
            </a:p>
          </p:txBody>
        </p:sp>
        <p:sp>
          <p:nvSpPr>
            <p:cNvPr id="37" name="TextBox 38"/>
            <p:cNvSpPr txBox="1">
              <a:spLocks noChangeArrowheads="1"/>
            </p:cNvSpPr>
            <p:nvPr/>
          </p:nvSpPr>
          <p:spPr bwMode="auto">
            <a:xfrm>
              <a:off x="6588224" y="4149080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P10</a:t>
              </a:r>
              <a:endParaRPr lang="zh-CN" altLang="en-US" sz="1800" b="0"/>
            </a:p>
          </p:txBody>
        </p:sp>
        <p:sp>
          <p:nvSpPr>
            <p:cNvPr id="38" name="TextBox 39"/>
            <p:cNvSpPr txBox="1">
              <a:spLocks noChangeArrowheads="1"/>
            </p:cNvSpPr>
            <p:nvPr/>
          </p:nvSpPr>
          <p:spPr bwMode="auto">
            <a:xfrm>
              <a:off x="5652120" y="4283804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P14</a:t>
              </a:r>
              <a:endParaRPr lang="zh-CN" altLang="en-US" sz="1800" b="0"/>
            </a:p>
          </p:txBody>
        </p:sp>
        <p:sp>
          <p:nvSpPr>
            <p:cNvPr id="39" name="TextBox 40"/>
            <p:cNvSpPr txBox="1">
              <a:spLocks noChangeArrowheads="1"/>
            </p:cNvSpPr>
            <p:nvPr/>
          </p:nvSpPr>
          <p:spPr bwMode="auto">
            <a:xfrm>
              <a:off x="5076056" y="3933056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P11</a:t>
              </a:r>
              <a:endParaRPr lang="zh-CN" altLang="en-US" sz="1800" b="0"/>
            </a:p>
          </p:txBody>
        </p:sp>
        <p:sp>
          <p:nvSpPr>
            <p:cNvPr id="40" name="TextBox 41"/>
            <p:cNvSpPr txBox="1">
              <a:spLocks noChangeArrowheads="1"/>
            </p:cNvSpPr>
            <p:nvPr/>
          </p:nvSpPr>
          <p:spPr bwMode="auto">
            <a:xfrm>
              <a:off x="4247964" y="4136536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P12</a:t>
              </a:r>
              <a:endParaRPr lang="zh-CN" altLang="en-US" sz="1800" b="0"/>
            </a:p>
          </p:txBody>
        </p:sp>
        <p:sp>
          <p:nvSpPr>
            <p:cNvPr id="41" name="TextBox 42"/>
            <p:cNvSpPr txBox="1">
              <a:spLocks noChangeArrowheads="1"/>
            </p:cNvSpPr>
            <p:nvPr/>
          </p:nvSpPr>
          <p:spPr bwMode="auto">
            <a:xfrm>
              <a:off x="4896584" y="4423236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P13</a:t>
              </a:r>
              <a:endParaRPr lang="zh-CN" altLang="en-US" sz="1800" b="0"/>
            </a:p>
          </p:txBody>
        </p:sp>
      </p:grpSp>
      <p:sp>
        <p:nvSpPr>
          <p:cNvPr id="43" name="TextBox 45"/>
          <p:cNvSpPr txBox="1">
            <a:spLocks noChangeArrowheads="1"/>
          </p:cNvSpPr>
          <p:nvPr/>
        </p:nvSpPr>
        <p:spPr bwMode="auto">
          <a:xfrm>
            <a:off x="8796804" y="4974653"/>
            <a:ext cx="504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/>
              <a:t>X</a:t>
            </a:r>
            <a:endParaRPr lang="zh-CN" altLang="en-US" sz="1800" b="0" dirty="0"/>
          </a:p>
        </p:txBody>
      </p:sp>
      <p:sp>
        <p:nvSpPr>
          <p:cNvPr id="44" name="TextBox 46"/>
          <p:cNvSpPr txBox="1">
            <a:spLocks noChangeArrowheads="1"/>
          </p:cNvSpPr>
          <p:nvPr/>
        </p:nvSpPr>
        <p:spPr bwMode="auto">
          <a:xfrm>
            <a:off x="2151450" y="3210866"/>
            <a:ext cx="43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/>
              <a:t>Y</a:t>
            </a:r>
            <a:endParaRPr lang="zh-CN" altLang="en-US" sz="18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分治法设计思想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52</a:t>
            </a:fld>
            <a:endParaRPr lang="en-US" altLang="zh-CN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分：设计中位线</a:t>
            </a:r>
            <a:r>
              <a:rPr lang="en-US" altLang="zh-CN" sz="2400" dirty="0"/>
              <a:t>L</a:t>
            </a:r>
            <a:r>
              <a:rPr lang="zh-CN" altLang="en-US" sz="2400" dirty="0"/>
              <a:t>，将整个点集分为两个子集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L</a:t>
            </a:r>
            <a:r>
              <a:rPr lang="zh-CN" altLang="en-US" sz="2400" dirty="0"/>
              <a:t>和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R</a:t>
            </a:r>
            <a:endParaRPr lang="en-US" altLang="zh-CN" sz="2400" dirty="0"/>
          </a:p>
          <a:p>
            <a:r>
              <a:rPr lang="zh-CN" altLang="en-US" sz="2400" dirty="0"/>
              <a:t>治：分别找出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L</a:t>
            </a:r>
            <a:r>
              <a:rPr lang="zh-CN" altLang="en-US" sz="2400" dirty="0"/>
              <a:t>和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的极大点</a:t>
            </a:r>
            <a:endParaRPr lang="en-US" altLang="zh-CN" sz="2400" dirty="0"/>
          </a:p>
          <a:p>
            <a:r>
              <a:rPr lang="zh-CN" altLang="en-US" sz="2400" dirty="0"/>
              <a:t>合：基于支配规则合并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L</a:t>
            </a:r>
            <a:r>
              <a:rPr lang="zh-CN" altLang="en-US" sz="2400" dirty="0"/>
              <a:t>和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的极大点</a:t>
            </a:r>
          </a:p>
        </p:txBody>
      </p:sp>
      <p:sp>
        <p:nvSpPr>
          <p:cNvPr id="57" name="内容占位符 2"/>
          <p:cNvSpPr txBox="1"/>
          <p:nvPr/>
        </p:nvSpPr>
        <p:spPr>
          <a:xfrm>
            <a:off x="946820" y="3858375"/>
            <a:ext cx="4197835" cy="180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</a:rPr>
              <a:t>思考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：怎样确定中位线？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思考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：怎样设计递归出口？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思考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>
                <a:solidFill>
                  <a:srgbClr val="FF0000"/>
                </a:solidFill>
              </a:rPr>
              <a:t>：怎样实现支配规则？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>
          <a:xfrm>
            <a:off x="838200" y="159020"/>
            <a:ext cx="10515600" cy="1325563"/>
          </a:xfrm>
        </p:spPr>
        <p:txBody>
          <a:bodyPr/>
          <a:lstStyle/>
          <a:p>
            <a:r>
              <a:rPr lang="zh-CN" altLang="en-US" dirty="0"/>
              <a:t>问题分析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910816" y="1340768"/>
            <a:ext cx="10945824" cy="4684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中位线：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垂直于</a:t>
            </a:r>
            <a:r>
              <a:rPr lang="en-US" altLang="zh-CN" dirty="0"/>
              <a:t>X</a:t>
            </a:r>
            <a:r>
              <a:rPr lang="zh-CN" altLang="en-US" dirty="0"/>
              <a:t>轴的中位线</a:t>
            </a:r>
            <a:r>
              <a:rPr lang="en-US" altLang="zh-CN" dirty="0"/>
              <a:t>L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对集合</a:t>
            </a:r>
            <a:r>
              <a:rPr lang="en-US" altLang="zh-CN" dirty="0"/>
              <a:t>S</a:t>
            </a:r>
            <a:r>
              <a:rPr lang="zh-CN" altLang="en-US" dirty="0"/>
              <a:t>中的所有点按</a:t>
            </a:r>
            <a:r>
              <a:rPr lang="en-US" altLang="zh-CN" dirty="0"/>
              <a:t>x</a:t>
            </a:r>
            <a:r>
              <a:rPr lang="zh-CN" altLang="en-US" dirty="0"/>
              <a:t>值排序后，寻找第</a:t>
            </a:r>
            <a:r>
              <a:rPr lang="en-US" altLang="zh-CN" dirty="0"/>
              <a:t>n/2</a:t>
            </a:r>
            <a:r>
              <a:rPr lang="zh-CN" altLang="en-US" dirty="0"/>
              <a:t>点位置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递归出口：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如果集合</a:t>
            </a:r>
            <a:r>
              <a:rPr lang="en-US" altLang="zh-CN" dirty="0"/>
              <a:t>S</a:t>
            </a:r>
            <a:r>
              <a:rPr lang="zh-CN" altLang="en-US" dirty="0"/>
              <a:t>中只有一个点，那么该点为极大点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基于支配规则合并：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对于</a:t>
            </a:r>
            <a:r>
              <a:rPr lang="en-US" altLang="zh-CN" dirty="0"/>
              <a:t>S</a:t>
            </a:r>
            <a:r>
              <a:rPr lang="en-US" altLang="zh-CN" baseline="-25000" dirty="0"/>
              <a:t>L</a:t>
            </a:r>
            <a:r>
              <a:rPr lang="zh-CN" altLang="en-US" dirty="0"/>
              <a:t>中的极大点</a:t>
            </a:r>
            <a:r>
              <a:rPr lang="en-US" altLang="zh-CN" dirty="0"/>
              <a:t>p</a:t>
            </a:r>
            <a:r>
              <a:rPr lang="zh-CN" altLang="en-US" dirty="0"/>
              <a:t>，如果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p</a:t>
            </a:r>
            <a:r>
              <a:rPr lang="zh-CN" altLang="en-US" dirty="0"/>
              <a:t>小于</a:t>
            </a:r>
            <a:r>
              <a:rPr lang="en-US" altLang="zh-CN" dirty="0"/>
              <a:t>S</a:t>
            </a:r>
            <a:r>
              <a:rPr lang="en-US" altLang="zh-CN" baseline="-25000" dirty="0"/>
              <a:t>R</a:t>
            </a:r>
            <a:r>
              <a:rPr lang="zh-CN" altLang="en-US" dirty="0"/>
              <a:t>中某极大点的</a:t>
            </a:r>
            <a:r>
              <a:rPr lang="en-US" altLang="zh-CN" dirty="0"/>
              <a:t>y</a:t>
            </a:r>
            <a:r>
              <a:rPr lang="zh-CN" altLang="en-US" dirty="0"/>
              <a:t>值，则</a:t>
            </a:r>
            <a:r>
              <a:rPr lang="en-US" altLang="zh-CN" dirty="0"/>
              <a:t>p</a:t>
            </a:r>
            <a:r>
              <a:rPr lang="zh-CN" altLang="en-US" dirty="0"/>
              <a:t>被支配，舍弃掉。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53</a:t>
            </a:fld>
            <a:endParaRPr lang="en-US" altLang="zh-CN"/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>
            <a:off x="4151784" y="1224436"/>
            <a:ext cx="4752528" cy="851078"/>
          </a:xfrm>
          <a:prstGeom prst="wedgeRoundRectCallout">
            <a:avLst>
              <a:gd name="adj1" fmla="val -44395"/>
              <a:gd name="adj2" fmla="val 73802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理论上可以是任何曲线；要选择最简单的方式，有利于提高效率。</a:t>
            </a:r>
          </a:p>
        </p:txBody>
      </p:sp>
      <p:sp>
        <p:nvSpPr>
          <p:cNvPr id="7" name="AutoShape 35"/>
          <p:cNvSpPr>
            <a:spLocks noChangeArrowheads="1"/>
          </p:cNvSpPr>
          <p:nvPr/>
        </p:nvSpPr>
        <p:spPr bwMode="auto">
          <a:xfrm>
            <a:off x="4037788" y="5722323"/>
            <a:ext cx="4506484" cy="514989"/>
          </a:xfrm>
          <a:prstGeom prst="wedgeRoundRectCallout">
            <a:avLst>
              <a:gd name="adj1" fmla="val -43460"/>
              <a:gd name="adj2" fmla="val -71622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S</a:t>
            </a:r>
            <a:r>
              <a:rPr lang="en-US" altLang="zh-CN" sz="20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L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中点的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值总是小于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S</a:t>
            </a:r>
            <a:r>
              <a:rPr lang="en-US" altLang="zh-CN" sz="20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R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中点的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分治法描述：求二维极大点问题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72816"/>
            <a:ext cx="9866312" cy="3886200"/>
          </a:xfrm>
        </p:spPr>
        <p:txBody>
          <a:bodyPr/>
          <a:lstStyle/>
          <a:p>
            <a:pPr>
              <a:defRPr/>
            </a:pPr>
            <a:r>
              <a:rPr lang="en-US" altLang="zh-CN" sz="2400" dirty="0"/>
              <a:t>input</a:t>
            </a:r>
            <a:r>
              <a:rPr lang="zh-CN" altLang="en-US" sz="2400" dirty="0"/>
              <a:t>：</a:t>
            </a:r>
            <a:r>
              <a:rPr lang="en-US" altLang="zh-CN" sz="2400" dirty="0"/>
              <a:t>n</a:t>
            </a:r>
            <a:r>
              <a:rPr lang="zh-CN" altLang="en-US" sz="2400" dirty="0"/>
              <a:t>个平面点的集合</a:t>
            </a:r>
            <a:r>
              <a:rPr lang="en-US" altLang="zh-CN" sz="2400" dirty="0"/>
              <a:t>S </a:t>
            </a:r>
          </a:p>
          <a:p>
            <a:pPr>
              <a:defRPr/>
            </a:pPr>
            <a:r>
              <a:rPr lang="en-US" altLang="zh-CN" sz="2400" dirty="0"/>
              <a:t>output</a:t>
            </a:r>
            <a:r>
              <a:rPr lang="zh-CN" altLang="en-US" sz="2400" dirty="0"/>
              <a:t>：</a:t>
            </a:r>
            <a:r>
              <a:rPr lang="en-US" altLang="zh-CN" sz="2400" dirty="0"/>
              <a:t>S</a:t>
            </a:r>
            <a:r>
              <a:rPr lang="zh-CN" altLang="en-US" sz="2400" dirty="0"/>
              <a:t>的极大点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b="1" dirty="0"/>
              <a:t>step1</a:t>
            </a:r>
            <a:r>
              <a:rPr lang="zh-CN" altLang="en-US" sz="2400" dirty="0"/>
              <a:t>：如果</a:t>
            </a:r>
            <a:r>
              <a:rPr lang="en-US" altLang="zh-CN" sz="2400" dirty="0"/>
              <a:t>S</a:t>
            </a:r>
            <a:r>
              <a:rPr lang="zh-CN" altLang="en-US" sz="2400" dirty="0"/>
              <a:t>只有一个点，输出该点为极大点；否则，寻找中位线</a:t>
            </a:r>
            <a:r>
              <a:rPr lang="en-US" altLang="zh-CN" sz="2400" dirty="0"/>
              <a:t>L</a:t>
            </a:r>
            <a:r>
              <a:rPr lang="zh-CN" altLang="en-US" sz="2400" dirty="0"/>
              <a:t>，将</a:t>
            </a:r>
            <a:r>
              <a:rPr lang="en-US" altLang="zh-CN" sz="2400" dirty="0"/>
              <a:t>S</a:t>
            </a:r>
            <a:r>
              <a:rPr lang="zh-CN" altLang="en-US" sz="2400" dirty="0"/>
              <a:t>划分为两个子集合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L</a:t>
            </a:r>
            <a:r>
              <a:rPr lang="zh-CN" altLang="en-US" sz="2400" dirty="0"/>
              <a:t>和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，使每个子集含有</a:t>
            </a:r>
            <a:r>
              <a:rPr lang="en-US" altLang="zh-CN" sz="2400" dirty="0"/>
              <a:t>n/2</a:t>
            </a:r>
            <a:r>
              <a:rPr lang="zh-CN" altLang="en-US" sz="2400" dirty="0"/>
              <a:t>个点。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dirty="0"/>
              <a:t>step2</a:t>
            </a:r>
            <a:r>
              <a:rPr lang="zh-CN" altLang="en-US" sz="2400" dirty="0"/>
              <a:t>：递归找出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L</a:t>
            </a:r>
            <a:r>
              <a:rPr lang="zh-CN" altLang="en-US" sz="2400" dirty="0"/>
              <a:t>和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的极大点。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b="1" dirty="0"/>
              <a:t>step3</a:t>
            </a:r>
            <a:r>
              <a:rPr lang="zh-CN" altLang="en-US" sz="2400" dirty="0"/>
              <a:t>：依次判断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L</a:t>
            </a:r>
            <a:r>
              <a:rPr lang="zh-CN" altLang="en-US" sz="2400" dirty="0"/>
              <a:t>中每个极大点</a:t>
            </a:r>
            <a:r>
              <a:rPr lang="en-US" altLang="zh-CN" sz="2400" dirty="0"/>
              <a:t>p</a:t>
            </a:r>
            <a:r>
              <a:rPr lang="zh-CN" altLang="en-US" sz="2400" dirty="0"/>
              <a:t>∈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L </a:t>
            </a:r>
            <a:r>
              <a:rPr lang="zh-CN" altLang="en-US" sz="2400" dirty="0"/>
              <a:t>，如果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p</a:t>
            </a:r>
            <a:r>
              <a:rPr lang="zh-CN" altLang="en-US" sz="2400" dirty="0"/>
              <a:t>值小于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R</a:t>
            </a:r>
            <a:r>
              <a:rPr lang="zh-CN" altLang="en-US" sz="2400" dirty="0"/>
              <a:t>中</a:t>
            </a:r>
            <a:r>
              <a:rPr lang="en-US" altLang="zh-CN" sz="2400" dirty="0"/>
              <a:t>y</a:t>
            </a:r>
            <a:r>
              <a:rPr lang="zh-CN" altLang="en-US" sz="2400" dirty="0"/>
              <a:t>的最大值，则舍弃点</a:t>
            </a:r>
            <a:r>
              <a:rPr lang="en-US" altLang="zh-CN" sz="2400" dirty="0"/>
              <a:t>p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81392" y="5869285"/>
            <a:ext cx="2743200" cy="365125"/>
          </a:xfrm>
        </p:spPr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55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544328" y="186824"/>
            <a:ext cx="7130820" cy="2505666"/>
            <a:chOff x="2267550" y="3768438"/>
            <a:chExt cx="7141488" cy="2838739"/>
          </a:xfrm>
        </p:grpSpPr>
        <p:grpSp>
          <p:nvGrpSpPr>
            <p:cNvPr id="6" name="组合 3"/>
            <p:cNvGrpSpPr/>
            <p:nvPr/>
          </p:nvGrpSpPr>
          <p:grpSpPr bwMode="auto">
            <a:xfrm>
              <a:off x="2279576" y="4144888"/>
              <a:ext cx="7129462" cy="2278139"/>
              <a:chOff x="611560" y="2868878"/>
              <a:chExt cx="7128792" cy="2277925"/>
            </a:xfrm>
          </p:grpSpPr>
          <p:cxnSp>
            <p:nvCxnSpPr>
              <p:cNvPr id="14" name="直接箭头连接符 13"/>
              <p:cNvCxnSpPr/>
              <p:nvPr/>
            </p:nvCxnSpPr>
            <p:spPr>
              <a:xfrm>
                <a:off x="611560" y="4940446"/>
                <a:ext cx="712879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 flipH="1" flipV="1">
                <a:off x="1014748" y="2868878"/>
                <a:ext cx="10171" cy="227792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椭圆 15"/>
              <p:cNvSpPr/>
              <p:nvPr/>
            </p:nvSpPr>
            <p:spPr>
              <a:xfrm>
                <a:off x="2124305" y="3213409"/>
                <a:ext cx="71431" cy="7143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3203703" y="3429289"/>
                <a:ext cx="71431" cy="7143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1403648" y="4148359"/>
                <a:ext cx="71431" cy="7301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2483046" y="4581705"/>
                <a:ext cx="73018" cy="7143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2195736" y="4005497"/>
                <a:ext cx="71430" cy="714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3059255" y="4005497"/>
                <a:ext cx="73018" cy="714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4211672" y="4292807"/>
                <a:ext cx="73018" cy="7301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4859311" y="4581705"/>
                <a:ext cx="73018" cy="7143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4643431" y="3645168"/>
                <a:ext cx="73018" cy="7143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5579968" y="4437257"/>
                <a:ext cx="71430" cy="714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3564033" y="4221377"/>
                <a:ext cx="71430" cy="714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5003759" y="4148359"/>
                <a:ext cx="73018" cy="7301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5724416" y="3861048"/>
                <a:ext cx="71431" cy="7143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6443487" y="4221377"/>
                <a:ext cx="73018" cy="714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2051287" y="3140391"/>
                <a:ext cx="215880" cy="2523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132273" y="3356270"/>
                <a:ext cx="215880" cy="2523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4572000" y="3573738"/>
                <a:ext cx="215880" cy="2508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5651398" y="3789618"/>
                <a:ext cx="217468" cy="2508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6372056" y="4148359"/>
                <a:ext cx="215880" cy="2523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  <p:sp>
            <p:nvSpPr>
              <p:cNvPr id="35" name="TextBox 25"/>
              <p:cNvSpPr txBox="1">
                <a:spLocks noChangeArrowheads="1"/>
              </p:cNvSpPr>
              <p:nvPr/>
            </p:nvSpPr>
            <p:spPr bwMode="auto">
              <a:xfrm>
                <a:off x="2231740" y="3064314"/>
                <a:ext cx="61206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P1</a:t>
                </a:r>
                <a:endParaRPr lang="zh-CN" altLang="en-US" sz="1800" b="0"/>
              </a:p>
            </p:txBody>
          </p:sp>
          <p:sp>
            <p:nvSpPr>
              <p:cNvPr id="36" name="TextBox 26"/>
              <p:cNvSpPr txBox="1">
                <a:spLocks noChangeArrowheads="1"/>
              </p:cNvSpPr>
              <p:nvPr/>
            </p:nvSpPr>
            <p:spPr bwMode="auto">
              <a:xfrm>
                <a:off x="3347864" y="3212976"/>
                <a:ext cx="72008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P2</a:t>
                </a:r>
                <a:endParaRPr lang="zh-CN" altLang="en-US" sz="1800" b="0"/>
              </a:p>
            </p:txBody>
          </p:sp>
          <p:sp>
            <p:nvSpPr>
              <p:cNvPr id="37" name="TextBox 27"/>
              <p:cNvSpPr txBox="1">
                <a:spLocks noChangeArrowheads="1"/>
              </p:cNvSpPr>
              <p:nvPr/>
            </p:nvSpPr>
            <p:spPr bwMode="auto">
              <a:xfrm>
                <a:off x="3599892" y="4027388"/>
                <a:ext cx="46805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P3</a:t>
                </a:r>
                <a:endParaRPr lang="zh-CN" altLang="en-US" sz="1800" b="0"/>
              </a:p>
            </p:txBody>
          </p:sp>
          <p:sp>
            <p:nvSpPr>
              <p:cNvPr id="38" name="TextBox 28"/>
              <p:cNvSpPr txBox="1">
                <a:spLocks noChangeArrowheads="1"/>
              </p:cNvSpPr>
              <p:nvPr/>
            </p:nvSpPr>
            <p:spPr bwMode="auto">
              <a:xfrm>
                <a:off x="3131840" y="3825044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P4</a:t>
                </a:r>
                <a:endParaRPr lang="zh-CN" altLang="en-US" sz="1800" b="0"/>
              </a:p>
            </p:txBody>
          </p:sp>
          <p:sp>
            <p:nvSpPr>
              <p:cNvPr id="39" name="TextBox 29"/>
              <p:cNvSpPr txBox="1">
                <a:spLocks noChangeArrowheads="1"/>
              </p:cNvSpPr>
              <p:nvPr/>
            </p:nvSpPr>
            <p:spPr bwMode="auto">
              <a:xfrm>
                <a:off x="2555776" y="4437112"/>
                <a:ext cx="68407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P5</a:t>
                </a:r>
                <a:endParaRPr lang="zh-CN" altLang="en-US" sz="1800" b="0"/>
              </a:p>
            </p:txBody>
          </p:sp>
          <p:sp>
            <p:nvSpPr>
              <p:cNvPr id="40" name="TextBox 30"/>
              <p:cNvSpPr txBox="1">
                <a:spLocks noChangeArrowheads="1"/>
              </p:cNvSpPr>
              <p:nvPr/>
            </p:nvSpPr>
            <p:spPr bwMode="auto">
              <a:xfrm>
                <a:off x="2267744" y="3861048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P6</a:t>
                </a:r>
                <a:endParaRPr lang="zh-CN" altLang="en-US" sz="1800" b="0"/>
              </a:p>
            </p:txBody>
          </p:sp>
          <p:sp>
            <p:nvSpPr>
              <p:cNvPr id="41" name="TextBox 31"/>
              <p:cNvSpPr txBox="1">
                <a:spLocks noChangeArrowheads="1"/>
              </p:cNvSpPr>
              <p:nvPr/>
            </p:nvSpPr>
            <p:spPr bwMode="auto">
              <a:xfrm>
                <a:off x="1475656" y="4005064"/>
                <a:ext cx="5760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P7</a:t>
                </a:r>
                <a:endParaRPr lang="zh-CN" altLang="en-US" sz="1800" b="0"/>
              </a:p>
            </p:txBody>
          </p:sp>
          <p:sp>
            <p:nvSpPr>
              <p:cNvPr id="42" name="TextBox 32"/>
              <p:cNvSpPr txBox="1">
                <a:spLocks noChangeArrowheads="1"/>
              </p:cNvSpPr>
              <p:nvPr/>
            </p:nvSpPr>
            <p:spPr bwMode="auto">
              <a:xfrm>
                <a:off x="4788024" y="3397642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P8</a:t>
                </a:r>
                <a:endParaRPr lang="zh-CN" altLang="en-US" sz="1800" b="0"/>
              </a:p>
            </p:txBody>
          </p:sp>
          <p:sp>
            <p:nvSpPr>
              <p:cNvPr id="43" name="TextBox 33"/>
              <p:cNvSpPr txBox="1">
                <a:spLocks noChangeArrowheads="1"/>
              </p:cNvSpPr>
              <p:nvPr/>
            </p:nvSpPr>
            <p:spPr bwMode="auto">
              <a:xfrm>
                <a:off x="5868144" y="3681028"/>
                <a:ext cx="5040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P9</a:t>
                </a:r>
                <a:endParaRPr lang="zh-CN" altLang="en-US" sz="1800" b="0"/>
              </a:p>
            </p:txBody>
          </p:sp>
          <p:sp>
            <p:nvSpPr>
              <p:cNvPr id="44" name="TextBox 34"/>
              <p:cNvSpPr txBox="1">
                <a:spLocks noChangeArrowheads="1"/>
              </p:cNvSpPr>
              <p:nvPr/>
            </p:nvSpPr>
            <p:spPr bwMode="auto">
              <a:xfrm>
                <a:off x="6588224" y="4149080"/>
                <a:ext cx="64807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P10</a:t>
                </a:r>
                <a:endParaRPr lang="zh-CN" altLang="en-US" sz="1800" b="0"/>
              </a:p>
            </p:txBody>
          </p:sp>
          <p:sp>
            <p:nvSpPr>
              <p:cNvPr id="45" name="TextBox 35"/>
              <p:cNvSpPr txBox="1">
                <a:spLocks noChangeArrowheads="1"/>
              </p:cNvSpPr>
              <p:nvPr/>
            </p:nvSpPr>
            <p:spPr bwMode="auto">
              <a:xfrm>
                <a:off x="5652120" y="4283804"/>
                <a:ext cx="64807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P14</a:t>
                </a:r>
                <a:endParaRPr lang="zh-CN" altLang="en-US" sz="1800" b="0"/>
              </a:p>
            </p:txBody>
          </p:sp>
          <p:sp>
            <p:nvSpPr>
              <p:cNvPr id="46" name="TextBox 36"/>
              <p:cNvSpPr txBox="1">
                <a:spLocks noChangeArrowheads="1"/>
              </p:cNvSpPr>
              <p:nvPr/>
            </p:nvSpPr>
            <p:spPr bwMode="auto">
              <a:xfrm>
                <a:off x="5076056" y="3933056"/>
                <a:ext cx="64807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P11</a:t>
                </a:r>
                <a:endParaRPr lang="zh-CN" altLang="en-US" sz="1800" b="0"/>
              </a:p>
            </p:txBody>
          </p:sp>
          <p:sp>
            <p:nvSpPr>
              <p:cNvPr id="47" name="TextBox 37"/>
              <p:cNvSpPr txBox="1">
                <a:spLocks noChangeArrowheads="1"/>
              </p:cNvSpPr>
              <p:nvPr/>
            </p:nvSpPr>
            <p:spPr bwMode="auto">
              <a:xfrm>
                <a:off x="4247964" y="4136536"/>
                <a:ext cx="64807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P12</a:t>
                </a:r>
                <a:endParaRPr lang="zh-CN" altLang="en-US" sz="1800" b="0"/>
              </a:p>
            </p:txBody>
          </p:sp>
          <p:sp>
            <p:nvSpPr>
              <p:cNvPr id="48" name="TextBox 38"/>
              <p:cNvSpPr txBox="1">
                <a:spLocks noChangeArrowheads="1"/>
              </p:cNvSpPr>
              <p:nvPr/>
            </p:nvSpPr>
            <p:spPr bwMode="auto">
              <a:xfrm>
                <a:off x="4896584" y="4423236"/>
                <a:ext cx="64807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/>
                  <a:t>P13</a:t>
                </a:r>
                <a:endParaRPr lang="zh-CN" altLang="en-US" sz="1800" b="0"/>
              </a:p>
            </p:txBody>
          </p:sp>
        </p:grpSp>
        <p:sp>
          <p:nvSpPr>
            <p:cNvPr id="7" name="TextBox 39"/>
            <p:cNvSpPr txBox="1">
              <a:spLocks noChangeArrowheads="1"/>
            </p:cNvSpPr>
            <p:nvPr/>
          </p:nvSpPr>
          <p:spPr bwMode="auto">
            <a:xfrm>
              <a:off x="8804202" y="6238877"/>
              <a:ext cx="5032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X</a:t>
              </a:r>
              <a:endParaRPr lang="zh-CN" altLang="en-US" sz="1800" b="0"/>
            </a:p>
          </p:txBody>
        </p:sp>
        <p:sp>
          <p:nvSpPr>
            <p:cNvPr id="8" name="TextBox 40"/>
            <p:cNvSpPr txBox="1">
              <a:spLocks noChangeArrowheads="1"/>
            </p:cNvSpPr>
            <p:nvPr/>
          </p:nvSpPr>
          <p:spPr bwMode="auto">
            <a:xfrm>
              <a:off x="2267550" y="4144888"/>
              <a:ext cx="4318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Y</a:t>
              </a:r>
              <a:endParaRPr lang="zh-CN" altLang="en-US" sz="1800" b="0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750426" y="4220293"/>
              <a:ext cx="21650" cy="230505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44"/>
            <p:cNvSpPr txBox="1">
              <a:spLocks noChangeArrowheads="1"/>
            </p:cNvSpPr>
            <p:nvPr/>
          </p:nvSpPr>
          <p:spPr bwMode="auto">
            <a:xfrm>
              <a:off x="5570245" y="3775001"/>
              <a:ext cx="3603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L</a:t>
              </a:r>
              <a:endParaRPr lang="zh-CN" altLang="en-US" sz="1800" dirty="0"/>
            </a:p>
          </p:txBody>
        </p:sp>
        <p:sp>
          <p:nvSpPr>
            <p:cNvPr id="11" name="TextBox 46"/>
            <p:cNvSpPr txBox="1">
              <a:spLocks noChangeArrowheads="1"/>
            </p:cNvSpPr>
            <p:nvPr/>
          </p:nvSpPr>
          <p:spPr bwMode="auto">
            <a:xfrm>
              <a:off x="3864290" y="3768438"/>
              <a:ext cx="5032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S</a:t>
              </a:r>
              <a:r>
                <a:rPr lang="en-US" altLang="zh-CN" sz="1800" baseline="-25000" dirty="0"/>
                <a:t>L</a:t>
              </a:r>
              <a:endParaRPr lang="zh-CN" altLang="en-US" sz="1800" baseline="-25000" dirty="0"/>
            </a:p>
          </p:txBody>
        </p:sp>
        <p:sp>
          <p:nvSpPr>
            <p:cNvPr id="12" name="TextBox 47"/>
            <p:cNvSpPr txBox="1">
              <a:spLocks noChangeArrowheads="1"/>
            </p:cNvSpPr>
            <p:nvPr/>
          </p:nvSpPr>
          <p:spPr bwMode="auto">
            <a:xfrm>
              <a:off x="7248451" y="3775001"/>
              <a:ext cx="5048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S</a:t>
              </a:r>
              <a:r>
                <a:rPr lang="en-US" altLang="zh-CN" sz="1800" baseline="-25000" dirty="0"/>
                <a:t>R</a:t>
              </a:r>
              <a:endParaRPr lang="zh-CN" altLang="en-US" sz="1800" baseline="-25000" dirty="0"/>
            </a:p>
          </p:txBody>
        </p:sp>
        <p:sp>
          <p:nvSpPr>
            <p:cNvPr id="13" name="椭圆 12"/>
            <p:cNvSpPr/>
            <p:nvPr/>
          </p:nvSpPr>
          <p:spPr>
            <a:xfrm>
              <a:off x="5141839" y="5353052"/>
              <a:ext cx="269875" cy="350838"/>
            </a:xfrm>
            <a:prstGeom prst="ellipse">
              <a:avLst/>
            </a:prstGeom>
            <a:no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49" name="AutoShape 4"/>
          <p:cNvSpPr/>
          <p:nvPr/>
        </p:nvSpPr>
        <p:spPr bwMode="auto">
          <a:xfrm>
            <a:off x="1552302" y="2994064"/>
            <a:ext cx="190501" cy="710136"/>
          </a:xfrm>
          <a:prstGeom prst="leftBrace">
            <a:avLst>
              <a:gd name="adj1" fmla="val 33407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0" name="Text Box 5"/>
          <p:cNvSpPr txBox="1">
            <a:spLocks noChangeArrowheads="1"/>
          </p:cNvSpPr>
          <p:nvPr/>
        </p:nvSpPr>
        <p:spPr bwMode="auto">
          <a:xfrm>
            <a:off x="1777728" y="2994065"/>
            <a:ext cx="71308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1      n=1</a:t>
            </a:r>
          </a:p>
        </p:txBody>
      </p:sp>
      <p:sp>
        <p:nvSpPr>
          <p:cNvPr id="51" name="Text Box 9"/>
          <p:cNvSpPr txBox="1">
            <a:spLocks noChangeArrowheads="1"/>
          </p:cNvSpPr>
          <p:nvPr/>
        </p:nvSpPr>
        <p:spPr bwMode="auto">
          <a:xfrm>
            <a:off x="551384" y="3116180"/>
            <a:ext cx="122872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T(n)=</a:t>
            </a:r>
          </a:p>
        </p:txBody>
      </p: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1742804" y="3532226"/>
            <a:ext cx="716574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2T(n/2)+ </a:t>
            </a:r>
            <a:r>
              <a:rPr kumimoji="1"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中位线</a:t>
            </a: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L</a:t>
            </a:r>
            <a:r>
              <a:rPr kumimoji="1"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的计算时间 </a:t>
            </a: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+</a:t>
            </a:r>
            <a:r>
              <a:rPr kumimoji="1"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基于支配规则合并的时间  </a:t>
            </a: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n&gt;1</a:t>
            </a:r>
          </a:p>
        </p:txBody>
      </p:sp>
      <p:sp>
        <p:nvSpPr>
          <p:cNvPr id="53" name="AutoShape 35"/>
          <p:cNvSpPr>
            <a:spLocks noChangeArrowheads="1"/>
          </p:cNvSpPr>
          <p:nvPr/>
        </p:nvSpPr>
        <p:spPr bwMode="auto">
          <a:xfrm>
            <a:off x="4146068" y="2852936"/>
            <a:ext cx="1975451" cy="494986"/>
          </a:xfrm>
          <a:prstGeom prst="wedgeRoundRectCallout">
            <a:avLst>
              <a:gd name="adj1" fmla="val -44395"/>
              <a:gd name="adj2" fmla="val 73802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分：</a:t>
            </a:r>
            <a:r>
              <a:rPr lang="en-US" altLang="zh-CN" sz="20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O(</a:t>
            </a:r>
            <a:r>
              <a:rPr lang="en-US" altLang="zh-CN" sz="2000" b="0" dirty="0" err="1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nlog</a:t>
            </a:r>
            <a:r>
              <a:rPr lang="en-US" altLang="zh-CN" sz="20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(n))</a:t>
            </a:r>
            <a:endParaRPr lang="zh-CN" altLang="en-US" sz="2000" b="0" dirty="0">
              <a:solidFill>
                <a:srgbClr val="FF0000"/>
              </a:solidFill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4" name="AutoShape 35"/>
          <p:cNvSpPr>
            <a:spLocks noChangeArrowheads="1"/>
          </p:cNvSpPr>
          <p:nvPr/>
        </p:nvSpPr>
        <p:spPr bwMode="auto">
          <a:xfrm>
            <a:off x="6588339" y="2856722"/>
            <a:ext cx="1099254" cy="541416"/>
          </a:xfrm>
          <a:prstGeom prst="wedgeRoundRectCallout">
            <a:avLst>
              <a:gd name="adj1" fmla="val -46916"/>
              <a:gd name="adj2" fmla="val 65272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合</a:t>
            </a:r>
            <a:r>
              <a:rPr lang="en-US" altLang="zh-CN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  <a:r>
              <a:rPr lang="en-US" altLang="zh-CN" sz="20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O(n)</a:t>
            </a:r>
            <a:endParaRPr lang="zh-CN" altLang="en-US" sz="2000" b="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5" name="内容占位符 2"/>
          <p:cNvSpPr txBox="1"/>
          <p:nvPr/>
        </p:nvSpPr>
        <p:spPr>
          <a:xfrm>
            <a:off x="409656" y="4863046"/>
            <a:ext cx="10746309" cy="1046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200" dirty="0">
                <a:solidFill>
                  <a:srgbClr val="FF0000"/>
                </a:solidFill>
              </a:rPr>
              <a:t>思考</a:t>
            </a:r>
            <a:r>
              <a:rPr lang="en-US" altLang="zh-CN" sz="2200" dirty="0">
                <a:solidFill>
                  <a:srgbClr val="FF0000"/>
                </a:solidFill>
              </a:rPr>
              <a:t>1</a:t>
            </a:r>
            <a:r>
              <a:rPr lang="zh-CN" altLang="en-US" sz="2200" dirty="0">
                <a:solidFill>
                  <a:srgbClr val="FF0000"/>
                </a:solidFill>
              </a:rPr>
              <a:t>：能否优化中位线的计算时间？是否有必要每次求解子问题都重新排序？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200" dirty="0">
                <a:solidFill>
                  <a:srgbClr val="FF0000"/>
                </a:solidFill>
              </a:rPr>
              <a:t>思考</a:t>
            </a:r>
            <a:r>
              <a:rPr lang="en-US" altLang="zh-CN" sz="2200" dirty="0">
                <a:solidFill>
                  <a:srgbClr val="FF0000"/>
                </a:solidFill>
              </a:rPr>
              <a:t>2</a:t>
            </a:r>
            <a:r>
              <a:rPr lang="zh-CN" altLang="en-US" sz="2200" dirty="0">
                <a:solidFill>
                  <a:srgbClr val="FF0000"/>
                </a:solidFill>
              </a:rPr>
              <a:t>：递归调用时</a:t>
            </a:r>
            <a:r>
              <a:rPr lang="en-US" altLang="zh-CN" sz="2200" dirty="0">
                <a:solidFill>
                  <a:srgbClr val="FF0000"/>
                </a:solidFill>
              </a:rPr>
              <a:t> </a:t>
            </a:r>
            <a:r>
              <a:rPr lang="zh-CN" altLang="en-US" sz="2200" dirty="0">
                <a:solidFill>
                  <a:srgbClr val="FF0000"/>
                </a:solidFill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</a:rPr>
              <a:t>S</a:t>
            </a:r>
            <a:r>
              <a:rPr lang="en-US" altLang="zh-CN" sz="2200" baseline="-25000" dirty="0">
                <a:solidFill>
                  <a:srgbClr val="FF0000"/>
                </a:solidFill>
              </a:rPr>
              <a:t>L</a:t>
            </a:r>
            <a:r>
              <a:rPr lang="zh-CN" altLang="en-US" sz="2200" dirty="0">
                <a:solidFill>
                  <a:srgbClr val="FF0000"/>
                </a:solidFill>
              </a:rPr>
              <a:t>和</a:t>
            </a:r>
            <a:r>
              <a:rPr lang="en-US" altLang="zh-CN" sz="2200" dirty="0">
                <a:solidFill>
                  <a:srgbClr val="FF0000"/>
                </a:solidFill>
              </a:rPr>
              <a:t>S</a:t>
            </a:r>
            <a:r>
              <a:rPr lang="en-US" altLang="zh-CN" sz="2200" baseline="-25000" dirty="0">
                <a:solidFill>
                  <a:srgbClr val="FF0000"/>
                </a:solidFill>
              </a:rPr>
              <a:t>R</a:t>
            </a:r>
            <a:r>
              <a:rPr lang="zh-CN" altLang="en-US" sz="2200" dirty="0">
                <a:solidFill>
                  <a:srgbClr val="FF0000"/>
                </a:solidFill>
              </a:rPr>
              <a:t>，先求解哪一个更合理？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sp>
        <p:nvSpPr>
          <p:cNvPr id="57" name="AutoShape 35"/>
          <p:cNvSpPr>
            <a:spLocks noChangeArrowheads="1"/>
          </p:cNvSpPr>
          <p:nvPr/>
        </p:nvSpPr>
        <p:spPr bwMode="auto">
          <a:xfrm>
            <a:off x="4068887" y="4197837"/>
            <a:ext cx="7317053" cy="562196"/>
          </a:xfrm>
          <a:prstGeom prst="wedgeRoundRectCallout">
            <a:avLst>
              <a:gd name="adj1" fmla="val -46907"/>
              <a:gd name="adj2" fmla="val 75764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预处理：提前排序，总复杂度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O(</a:t>
            </a:r>
            <a:r>
              <a:rPr lang="en-US" altLang="zh-CN" sz="2000" b="0" dirty="0" err="1">
                <a:ea typeface="幼圆" panose="02010509060101010101" pitchFamily="49" charset="-122"/>
                <a:cs typeface="Arial" panose="020B0604020202020204" pitchFamily="34" charset="0"/>
              </a:rPr>
              <a:t>nlog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(n))</a:t>
            </a:r>
            <a:r>
              <a:rPr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；每次找中位线为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O(n)</a:t>
            </a:r>
            <a:endParaRPr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8" name="AutoShape 35"/>
          <p:cNvSpPr>
            <a:spLocks noChangeArrowheads="1"/>
          </p:cNvSpPr>
          <p:nvPr/>
        </p:nvSpPr>
        <p:spPr bwMode="auto">
          <a:xfrm>
            <a:off x="3133465" y="2852936"/>
            <a:ext cx="576118" cy="494986"/>
          </a:xfrm>
          <a:prstGeom prst="wedgeRoundRectCallout">
            <a:avLst>
              <a:gd name="adj1" fmla="val -126159"/>
              <a:gd name="adj2" fmla="val 79400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治</a:t>
            </a:r>
            <a:endParaRPr lang="zh-CN" altLang="en-US" sz="2000" b="0" dirty="0">
              <a:solidFill>
                <a:srgbClr val="FF0000"/>
              </a:solidFill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AutoShape 35">
            <a:extLst>
              <a:ext uri="{FF2B5EF4-FFF2-40B4-BE49-F238E27FC236}">
                <a16:creationId xmlns:a16="http://schemas.microsoft.com/office/drawing/2014/main" id="{7C021CBD-630D-DE84-341A-F8B90085F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313" y="6003693"/>
            <a:ext cx="6893423" cy="521651"/>
          </a:xfrm>
          <a:prstGeom prst="wedgeRoundRectCallout">
            <a:avLst>
              <a:gd name="adj1" fmla="val -10869"/>
              <a:gd name="adj2" fmla="val -89742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先求</a:t>
            </a:r>
            <a:r>
              <a:rPr lang="en-US" altLang="zh-CN" sz="2000" dirty="0"/>
              <a:t>S</a:t>
            </a:r>
            <a:r>
              <a:rPr lang="en-US" altLang="zh-CN" sz="2000" baseline="-25000" dirty="0"/>
              <a:t>R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，且</a:t>
            </a:r>
            <a:r>
              <a:rPr lang="en-US" altLang="zh-CN" sz="2000" dirty="0"/>
              <a:t>S</a:t>
            </a:r>
            <a:r>
              <a:rPr lang="en-US" altLang="zh-CN" sz="2000" baseline="-25000" dirty="0"/>
              <a:t>R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中第一个元素的</a:t>
            </a:r>
            <a:r>
              <a:rPr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y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值最大；合并的复杂度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O(n)</a:t>
            </a:r>
            <a:r>
              <a:rPr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/>
      <p:bldP spid="57" grpId="0" animBg="1"/>
      <p:bldP spid="58" grpId="0" animBg="1"/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xfrm>
            <a:off x="622301" y="179391"/>
            <a:ext cx="10515600" cy="1325563"/>
          </a:xfrm>
        </p:spPr>
        <p:txBody>
          <a:bodyPr/>
          <a:lstStyle/>
          <a:p>
            <a:r>
              <a:rPr lang="zh-CN" altLang="en-US" dirty="0"/>
              <a:t>时间复杂度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2301" y="4132652"/>
            <a:ext cx="10658275" cy="2363929"/>
          </a:xfrm>
        </p:spPr>
        <p:txBody>
          <a:bodyPr/>
          <a:lstStyle/>
          <a:p>
            <a:pPr>
              <a:defRPr/>
            </a:pPr>
            <a:r>
              <a:rPr lang="zh-CN" altLang="en-US" sz="2400" dirty="0"/>
              <a:t>具有预排序的分治策略找极大点的时间复杂度是</a:t>
            </a:r>
            <a:r>
              <a:rPr lang="en-US" altLang="zh-CN" sz="2400" dirty="0"/>
              <a:t>O(</a:t>
            </a:r>
            <a:r>
              <a:rPr lang="en-US" altLang="zh-CN" sz="2400" dirty="0" err="1"/>
              <a:t>nlogn</a:t>
            </a:r>
            <a:r>
              <a:rPr lang="en-US" altLang="zh-CN" sz="2400" dirty="0"/>
              <a:t>)</a:t>
            </a:r>
          </a:p>
          <a:p>
            <a:pPr lvl="1">
              <a:defRPr/>
            </a:pPr>
            <a:r>
              <a:rPr lang="zh-CN" altLang="en-US" dirty="0"/>
              <a:t>预排序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pPr lvl="1">
              <a:defRPr/>
            </a:pPr>
            <a:r>
              <a:rPr lang="zh-CN" altLang="en-US" dirty="0"/>
              <a:t>分治法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pPr>
              <a:defRPr/>
            </a:pPr>
            <a:r>
              <a:rPr lang="zh-CN" altLang="en-US" sz="2400" dirty="0"/>
              <a:t>优于直接方法的时间复杂度</a:t>
            </a:r>
            <a:r>
              <a:rPr lang="en-US" altLang="zh-CN" sz="2400" dirty="0"/>
              <a:t>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</a:p>
          <a:p>
            <a:pPr marL="0" indent="0">
              <a:buNone/>
              <a:defRPr/>
            </a:pPr>
            <a:endParaRPr lang="zh-CN" altLang="en-US" dirty="0"/>
          </a:p>
        </p:txBody>
      </p:sp>
      <p:sp>
        <p:nvSpPr>
          <p:cNvPr id="64516" name="AutoShape 4"/>
          <p:cNvSpPr/>
          <p:nvPr/>
        </p:nvSpPr>
        <p:spPr bwMode="auto">
          <a:xfrm>
            <a:off x="3360738" y="1773238"/>
            <a:ext cx="190500" cy="868362"/>
          </a:xfrm>
          <a:prstGeom prst="leftBrace">
            <a:avLst>
              <a:gd name="adj1" fmla="val 3340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586163" y="1773239"/>
            <a:ext cx="410845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                 	                 n=1</a:t>
            </a:r>
          </a:p>
        </p:txBody>
      </p:sp>
      <p:sp>
        <p:nvSpPr>
          <p:cNvPr id="64518" name="Text Box 9"/>
          <p:cNvSpPr txBox="1">
            <a:spLocks noChangeArrowheads="1"/>
          </p:cNvSpPr>
          <p:nvPr/>
        </p:nvSpPr>
        <p:spPr bwMode="auto">
          <a:xfrm>
            <a:off x="2151064" y="1951039"/>
            <a:ext cx="122872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</a:rPr>
              <a:t>T(n)=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3551239" y="2311400"/>
            <a:ext cx="42068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2T(n/2)+ O(n)+O(n)    n&gt;1</a:t>
            </a:r>
          </a:p>
        </p:txBody>
      </p:sp>
      <p:sp>
        <p:nvSpPr>
          <p:cNvPr id="64520" name="圆角矩形标注 7"/>
          <p:cNvSpPr>
            <a:spLocks noChangeArrowheads="1"/>
          </p:cNvSpPr>
          <p:nvPr/>
        </p:nvSpPr>
        <p:spPr bwMode="auto">
          <a:xfrm>
            <a:off x="3796727" y="2814639"/>
            <a:ext cx="526490" cy="504825"/>
          </a:xfrm>
          <a:prstGeom prst="wedgeRoundRectCallout">
            <a:avLst>
              <a:gd name="adj1" fmla="val 49500"/>
              <a:gd name="adj2" fmla="val -77690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治</a:t>
            </a:r>
          </a:p>
        </p:txBody>
      </p:sp>
      <p:sp>
        <p:nvSpPr>
          <p:cNvPr id="64521" name="圆角矩形标注 8"/>
          <p:cNvSpPr>
            <a:spLocks noChangeArrowheads="1"/>
          </p:cNvSpPr>
          <p:nvPr/>
        </p:nvSpPr>
        <p:spPr bwMode="auto">
          <a:xfrm>
            <a:off x="4891206" y="2808288"/>
            <a:ext cx="488899" cy="504825"/>
          </a:xfrm>
          <a:prstGeom prst="wedgeRoundRectCallout">
            <a:avLst>
              <a:gd name="adj1" fmla="val 49500"/>
              <a:gd name="adj2" fmla="val -77690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</a:t>
            </a:r>
          </a:p>
        </p:txBody>
      </p:sp>
      <p:sp>
        <p:nvSpPr>
          <p:cNvPr id="64522" name="圆角矩形标注 9"/>
          <p:cNvSpPr>
            <a:spLocks noChangeArrowheads="1"/>
          </p:cNvSpPr>
          <p:nvPr/>
        </p:nvSpPr>
        <p:spPr bwMode="auto">
          <a:xfrm>
            <a:off x="5960740" y="2816226"/>
            <a:ext cx="503931" cy="503238"/>
          </a:xfrm>
          <a:prstGeom prst="wedgeRoundRectCallout">
            <a:avLst>
              <a:gd name="adj1" fmla="val 41343"/>
              <a:gd name="adj2" fmla="val -76502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合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56</a:t>
            </a:fld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8688288" y="2131680"/>
            <a:ext cx="1431802" cy="46166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O(</a:t>
            </a:r>
            <a:r>
              <a:rPr lang="en-US" altLang="zh-CN" sz="2400" b="1" dirty="0" err="1">
                <a:solidFill>
                  <a:srgbClr val="FF0000"/>
                </a:solidFill>
              </a:rPr>
              <a:t>nlogn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  <a:sym typeface="Wingdings" panose="05000000000000000000" pitchFamily="2" charset="2"/>
            </a:endParaRPr>
          </a:p>
        </p:txBody>
      </p:sp>
      <p:sp>
        <p:nvSpPr>
          <p:cNvPr id="14" name="AutoShape 35"/>
          <p:cNvSpPr>
            <a:spLocks noChangeArrowheads="1"/>
          </p:cNvSpPr>
          <p:nvPr/>
        </p:nvSpPr>
        <p:spPr bwMode="auto">
          <a:xfrm>
            <a:off x="743967" y="3061828"/>
            <a:ext cx="2712021" cy="819980"/>
          </a:xfrm>
          <a:prstGeom prst="wedgeRoundRectCallout">
            <a:avLst>
              <a:gd name="adj1" fmla="val 61020"/>
              <a:gd name="adj2" fmla="val 84164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工作量放到递归过程之外，降低重复处理</a:t>
            </a:r>
            <a:endParaRPr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4.6 </a:t>
            </a:r>
            <a:r>
              <a:rPr kumimoji="1" lang="zh-CN" altLang="en-US" dirty="0"/>
              <a:t>分治法的优化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72817"/>
            <a:ext cx="10370368" cy="3744416"/>
          </a:xfrm>
        </p:spPr>
        <p:txBody>
          <a:bodyPr/>
          <a:lstStyle/>
          <a:p>
            <a:r>
              <a:rPr lang="zh-CN" altLang="en-US" dirty="0"/>
              <a:t>效率低的原因</a:t>
            </a:r>
            <a:endParaRPr lang="en-US" altLang="zh-CN" dirty="0"/>
          </a:p>
          <a:p>
            <a:r>
              <a:rPr lang="zh-CN" altLang="en-US" dirty="0"/>
              <a:t>优化策略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效率低的原因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3681"/>
            <a:ext cx="10730408" cy="433967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一些情况下，分治法比蛮力法</a:t>
            </a:r>
            <a:r>
              <a:rPr lang="en-US" altLang="zh-CN" sz="2400" dirty="0"/>
              <a:t>(</a:t>
            </a:r>
            <a:r>
              <a:rPr lang="zh-CN" altLang="en-US" sz="2400" dirty="0"/>
              <a:t>直接求解</a:t>
            </a:r>
            <a:r>
              <a:rPr lang="en-US" altLang="zh-CN" sz="2400" dirty="0"/>
              <a:t>)</a:t>
            </a:r>
            <a:r>
              <a:rPr lang="zh-CN" altLang="en-US" sz="2400" dirty="0"/>
              <a:t>明显改进了效率，但是也并不是处处有效</a:t>
            </a:r>
            <a:endParaRPr lang="en-US" altLang="zh-CN" sz="2400" dirty="0"/>
          </a:p>
          <a:p>
            <a:pPr lvl="1"/>
            <a:r>
              <a:rPr lang="zh-CN" altLang="en-US" dirty="0"/>
              <a:t>原因</a:t>
            </a:r>
            <a:r>
              <a:rPr lang="en-US" altLang="zh-CN" dirty="0"/>
              <a:t>1</a:t>
            </a:r>
            <a:r>
              <a:rPr lang="zh-CN" altLang="en-US" dirty="0"/>
              <a:t>：子问题个数多；</a:t>
            </a:r>
            <a:endParaRPr lang="en-US" altLang="zh-CN" dirty="0"/>
          </a:p>
          <a:p>
            <a:pPr lvl="1"/>
            <a:r>
              <a:rPr lang="zh-CN" altLang="en-US" dirty="0"/>
              <a:t>原因</a:t>
            </a:r>
            <a:r>
              <a:rPr lang="en-US" altLang="zh-CN" dirty="0"/>
              <a:t>2</a:t>
            </a:r>
            <a:r>
              <a:rPr lang="zh-CN" altLang="en-US" dirty="0"/>
              <a:t>：问题分解或子问题解的合并本身耗时；</a:t>
            </a:r>
            <a:endParaRPr lang="en-US" altLang="zh-CN" dirty="0"/>
          </a:p>
          <a:p>
            <a:pPr lvl="1"/>
            <a:r>
              <a:rPr lang="zh-CN" altLang="en-US" dirty="0"/>
              <a:t>原因</a:t>
            </a:r>
            <a:r>
              <a:rPr lang="en-US" altLang="zh-CN" dirty="0"/>
              <a:t>3</a:t>
            </a:r>
            <a:r>
              <a:rPr lang="zh-CN" altLang="en-US" dirty="0"/>
              <a:t>：递归调用本身耗费时间和空间。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58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B9D42C-F0A6-F209-0171-77538D638D26}"/>
              </a:ext>
            </a:extLst>
          </p:cNvPr>
          <p:cNvSpPr txBox="1"/>
          <p:nvPr/>
        </p:nvSpPr>
        <p:spPr>
          <a:xfrm>
            <a:off x="2279576" y="4581128"/>
            <a:ext cx="3096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T(n)=</a:t>
            </a:r>
            <a:r>
              <a:rPr lang="en-US" altLang="zh-CN" sz="2800" dirty="0" err="1"/>
              <a:t>aT</a:t>
            </a:r>
            <a:r>
              <a:rPr lang="en-US" altLang="zh-CN" sz="2800" dirty="0"/>
              <a:t>(n/b)+f(n)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5328" y="1690690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针对</a:t>
            </a:r>
            <a:r>
              <a:rPr lang="zh-CN" altLang="en-US" b="1" dirty="0"/>
              <a:t>子问题个数多</a:t>
            </a:r>
            <a:r>
              <a:rPr lang="zh-CN" altLang="en-US" dirty="0"/>
              <a:t>的问题，斯特拉森矩阵相乘算法，通过减少子问题个数，提高效率；</a:t>
            </a:r>
            <a:endParaRPr lang="en-US" altLang="zh-CN" dirty="0"/>
          </a:p>
          <a:p>
            <a:pPr marL="342900" lvl="1" indent="0">
              <a:lnSpc>
                <a:spcPct val="150000"/>
              </a:lnSpc>
              <a:buNone/>
            </a:pPr>
            <a:r>
              <a:rPr lang="en-US" altLang="zh-CN" dirty="0"/>
              <a:t>——</a:t>
            </a:r>
            <a:r>
              <a:rPr lang="zh-CN" altLang="en-US" dirty="0"/>
              <a:t>寻找子问题之间的依赖关系，如果一个子问题的解可以通过其他子问题的解简单运算得到，那么</a:t>
            </a:r>
            <a:r>
              <a:rPr lang="zh-CN" altLang="en-US" u="sng" dirty="0"/>
              <a:t>不必重新递归计算</a:t>
            </a:r>
            <a:r>
              <a:rPr lang="zh-CN" altLang="en-US" dirty="0"/>
              <a:t>该子问题的解，而是通过上述简单运算获得。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把某些工作提取到递归过程之外</a:t>
            </a:r>
            <a:r>
              <a:rPr lang="zh-CN" altLang="en-US" sz="2800" b="1" u="sng" dirty="0"/>
              <a:t>预处理</a:t>
            </a:r>
            <a:r>
              <a:rPr lang="zh-CN" altLang="en-US" dirty="0"/>
              <a:t>，例如二维极大点问题，预排序</a:t>
            </a:r>
            <a:r>
              <a:rPr lang="en-US" altLang="zh-CN" dirty="0"/>
              <a:t>x</a:t>
            </a:r>
            <a:r>
              <a:rPr lang="zh-CN" altLang="en-US" dirty="0"/>
              <a:t>值，确定中位线，减少问题分解的时间，即</a:t>
            </a:r>
            <a:r>
              <a:rPr lang="zh-CN" altLang="en-US" sz="2800" dirty="0"/>
              <a:t>减少了递归内部的工作量。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减少递归调用</a:t>
            </a:r>
            <a:r>
              <a:rPr lang="zh-CN" altLang="en-US" dirty="0"/>
              <a:t>。如：二分查找，迭代算法效率高；归并排序也可以写迭代算法，或者递归算法中当问题规模较小时，采用直接排序。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 </a:t>
            </a:r>
            <a:r>
              <a:rPr lang="zh-CN" altLang="en-US" dirty="0"/>
              <a:t>主定理</a:t>
            </a:r>
          </a:p>
        </p:txBody>
      </p:sp>
      <p:sp>
        <p:nvSpPr>
          <p:cNvPr id="911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什么是主定理</a:t>
            </a:r>
            <a:endParaRPr lang="en-US" altLang="zh-CN" dirty="0"/>
          </a:p>
          <a:p>
            <a:r>
              <a:rPr lang="zh-CN" altLang="en-US" dirty="0"/>
              <a:t>理解主定理</a:t>
            </a:r>
            <a:endParaRPr lang="en-US" altLang="zh-CN" dirty="0"/>
          </a:p>
          <a:p>
            <a:r>
              <a:rPr lang="zh-CN" altLang="en-US" dirty="0"/>
              <a:t>分治法的效率分析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什么是主定理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704050"/>
            <a:ext cx="9995385" cy="1112342"/>
          </a:xfrm>
        </p:spPr>
        <p:txBody>
          <a:bodyPr/>
          <a:lstStyle/>
          <a:p>
            <a:r>
              <a:rPr lang="zh-CN" altLang="en-US" sz="2400" dirty="0"/>
              <a:t>主定理：设</a:t>
            </a:r>
            <a:r>
              <a:rPr lang="en-US" altLang="zh-CN" sz="2400" dirty="0"/>
              <a:t>a ≥1,b&gt;1</a:t>
            </a:r>
            <a:r>
              <a:rPr lang="zh-CN" altLang="en-US" sz="2400" dirty="0"/>
              <a:t>为常数，</a:t>
            </a:r>
            <a:r>
              <a:rPr lang="en-US" altLang="zh-CN" sz="2400" dirty="0"/>
              <a:t>f(n)</a:t>
            </a:r>
            <a:r>
              <a:rPr lang="zh-CN" altLang="en-US" sz="2400" dirty="0"/>
              <a:t>为函数，</a:t>
            </a:r>
            <a:r>
              <a:rPr lang="en-US" altLang="zh-CN" sz="2400" dirty="0"/>
              <a:t>T(n)</a:t>
            </a:r>
            <a:r>
              <a:rPr lang="zh-CN" altLang="en-US" sz="2400" dirty="0"/>
              <a:t>为非负整数，且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kern="0" dirty="0">
                <a:solidFill>
                  <a:srgbClr val="000000"/>
                </a:solidFill>
                <a:latin typeface="幼圆" panose="02010509060101010101" pitchFamily="49" charset="-122"/>
              </a:rPr>
              <a:t>                       ，则</a:t>
            </a:r>
            <a:r>
              <a:rPr lang="en-US" altLang="zh-CN" sz="2400" i="1" kern="0" dirty="0">
                <a:solidFill>
                  <a:srgbClr val="000000"/>
                </a:solidFill>
              </a:rPr>
              <a:t>T</a:t>
            </a:r>
            <a:r>
              <a:rPr lang="en-US" altLang="zh-CN" sz="2400" kern="0" dirty="0">
                <a:solidFill>
                  <a:srgbClr val="000000"/>
                </a:solidFill>
              </a:rPr>
              <a:t>(n)</a:t>
            </a:r>
            <a:r>
              <a:rPr lang="zh-CN" altLang="en-US" sz="2400" kern="0" dirty="0">
                <a:solidFill>
                  <a:srgbClr val="000000"/>
                </a:solidFill>
                <a:latin typeface="幼圆" panose="02010509060101010101" pitchFamily="49" charset="-122"/>
              </a:rPr>
              <a:t>有如下渐近界：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61</a:t>
            </a:fld>
            <a:endParaRPr lang="en-US" altLang="zh-CN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808792" y="2260221"/>
          <a:ext cx="33416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5100" imgH="203200" progId="Equation.3">
                  <p:embed/>
                </p:oleObj>
              </mc:Choice>
              <mc:Fallback>
                <p:oleObj name="公式" r:id="rId2" imgW="14351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792" y="2260221"/>
                        <a:ext cx="334168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401531"/>
              </p:ext>
            </p:extLst>
          </p:nvPr>
        </p:nvGraphicFramePr>
        <p:xfrm>
          <a:off x="1068111" y="2997957"/>
          <a:ext cx="8101013" cy="454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70300" imgH="228600" progId="Equation.3">
                  <p:embed/>
                </p:oleObj>
              </mc:Choice>
              <mc:Fallback>
                <p:oleObj name="公式" r:id="rId4" imgW="36703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111" y="2997957"/>
                        <a:ext cx="8101013" cy="454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999131"/>
              </p:ext>
            </p:extLst>
          </p:nvPr>
        </p:nvGraphicFramePr>
        <p:xfrm>
          <a:off x="1045681" y="3738347"/>
          <a:ext cx="6624637" cy="56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30500" imgH="228600" progId="Equation.3">
                  <p:embed/>
                </p:oleObj>
              </mc:Choice>
              <mc:Fallback>
                <p:oleObj name="公式" r:id="rId6" imgW="27305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681" y="3738347"/>
                        <a:ext cx="6624637" cy="561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82569"/>
              </p:ext>
            </p:extLst>
          </p:nvPr>
        </p:nvGraphicFramePr>
        <p:xfrm>
          <a:off x="1068111" y="4652729"/>
          <a:ext cx="65405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70200" imgH="596900" progId="Equation.3">
                  <p:embed/>
                </p:oleObj>
              </mc:Choice>
              <mc:Fallback>
                <p:oleObj name="公式" r:id="rId8" imgW="2870200" imgH="596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111" y="4652729"/>
                        <a:ext cx="654050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灯片编号占位符 1"/>
          <p:cNvSpPr txBox="1"/>
          <p:nvPr/>
        </p:nvSpPr>
        <p:spPr>
          <a:xfrm>
            <a:off x="7585397" y="69352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6903311-553E-4901-A5CA-BA84E947C3E2}" type="slidenum">
              <a:rPr lang="en-US" altLang="zh-CN" smtClean="0"/>
              <a:t>61</a:t>
            </a:fld>
            <a:endParaRPr lang="en-US" altLang="zh-CN"/>
          </a:p>
        </p:txBody>
      </p:sp>
      <p:grpSp>
        <p:nvGrpSpPr>
          <p:cNvPr id="25" name="组合 24"/>
          <p:cNvGrpSpPr/>
          <p:nvPr/>
        </p:nvGrpSpPr>
        <p:grpSpPr>
          <a:xfrm>
            <a:off x="8986849" y="2548022"/>
            <a:ext cx="2941799" cy="585503"/>
            <a:chOff x="7585397" y="2904201"/>
            <a:chExt cx="2941799" cy="58550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0" name="圆角矩形标注 9"/>
            <p:cNvSpPr>
              <a:spLocks noChangeArrowheads="1"/>
            </p:cNvSpPr>
            <p:nvPr/>
          </p:nvSpPr>
          <p:spPr bwMode="auto">
            <a:xfrm>
              <a:off x="7585397" y="2904201"/>
              <a:ext cx="2941799" cy="585503"/>
            </a:xfrm>
            <a:prstGeom prst="wedgeRoundRectCallout">
              <a:avLst>
                <a:gd name="adj1" fmla="val -48450"/>
                <a:gd name="adj2" fmla="val 77108"/>
                <a:gd name="adj3" fmla="val 16667"/>
              </a:avLst>
            </a:prstGeom>
            <a:grpFill/>
            <a:ln w="9525">
              <a:solidFill>
                <a:schemeClr val="accent1">
                  <a:lumMod val="75000"/>
                </a:schemeClr>
              </a:solidFill>
              <a:round/>
            </a:ln>
            <a:effectLst/>
          </p:spPr>
          <p:txBody>
            <a:bodyPr/>
            <a:lstStyle/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幼圆" panose="02010509060101010101" pitchFamily="49" charset="-122"/>
                  <a:cs typeface="Arial" panose="020B0604020202020204" pitchFamily="34" charset="0"/>
                </a:rPr>
                <a:t>(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000" dirty="0">
                  <a:solidFill>
                    <a:srgbClr val="000000"/>
                  </a:solidFill>
                  <a:latin typeface="Arial" panose="020B0604020202020204" pitchFamily="34" charset="0"/>
                  <a:ea typeface="幼圆" panose="02010509060101010101" pitchFamily="49" charset="-122"/>
                  <a:cs typeface="Arial" panose="020B0604020202020204" pitchFamily="34" charset="0"/>
                </a:rPr>
                <a:t>)</a:t>
              </a:r>
              <a:r>
                <a:rPr lang="zh-CN" altLang="en-US" sz="2000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的数量级低于</a:t>
              </a:r>
            </a:p>
          </p:txBody>
        </p:sp>
        <p:graphicFrame>
          <p:nvGraphicFramePr>
            <p:cNvPr id="22" name="对象 15"/>
            <p:cNvGraphicFramePr>
              <a:graphicFrameLocks noChangeAspect="1"/>
            </p:cNvGraphicFramePr>
            <p:nvPr/>
          </p:nvGraphicFramePr>
          <p:xfrm>
            <a:off x="9622320" y="2924461"/>
            <a:ext cx="785812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55600" imgH="203200" progId="Equation.3">
                    <p:embed/>
                  </p:oleObj>
                </mc:Choice>
                <mc:Fallback>
                  <p:oleObj name="公式" r:id="rId10" imgW="355600" imgH="203200" progId="Equation.3">
                    <p:embed/>
                    <p:pic>
                      <p:nvPicPr>
                        <p:cNvPr id="0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22320" y="2924461"/>
                          <a:ext cx="785812" cy="44926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6269007" y="4554442"/>
            <a:ext cx="3153089" cy="585503"/>
            <a:chOff x="7378098" y="3137838"/>
            <a:chExt cx="2870694" cy="585503"/>
          </a:xfrm>
          <a:solidFill>
            <a:schemeClr val="bg2"/>
          </a:solidFill>
        </p:grpSpPr>
        <p:sp>
          <p:nvSpPr>
            <p:cNvPr id="23" name="圆角矩形标注 9"/>
            <p:cNvSpPr>
              <a:spLocks noChangeArrowheads="1"/>
            </p:cNvSpPr>
            <p:nvPr/>
          </p:nvSpPr>
          <p:spPr bwMode="auto">
            <a:xfrm>
              <a:off x="7378098" y="3137838"/>
              <a:ext cx="2870694" cy="585503"/>
            </a:xfrm>
            <a:prstGeom prst="wedgeRoundRectCallout">
              <a:avLst>
                <a:gd name="adj1" fmla="val -61545"/>
                <a:gd name="adj2" fmla="val 30255"/>
                <a:gd name="adj3" fmla="val 16667"/>
              </a:avLst>
            </a:prstGeom>
            <a:grpFill/>
            <a:ln w="9525">
              <a:solidFill>
                <a:schemeClr val="accent1">
                  <a:lumMod val="75000"/>
                </a:schemeClr>
              </a:solidFill>
              <a:round/>
            </a:ln>
            <a:effectLst/>
          </p:spPr>
          <p:txBody>
            <a:bodyPr/>
            <a:lstStyle/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en-US" sz="2000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的数量级高于</a:t>
              </a:r>
            </a:p>
          </p:txBody>
        </p:sp>
        <p:graphicFrame>
          <p:nvGraphicFramePr>
            <p:cNvPr id="24" name="对象 15"/>
            <p:cNvGraphicFramePr>
              <a:graphicFrameLocks noChangeAspect="1"/>
            </p:cNvGraphicFramePr>
            <p:nvPr/>
          </p:nvGraphicFramePr>
          <p:xfrm>
            <a:off x="9265409" y="3176473"/>
            <a:ext cx="785812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55600" imgH="203200" progId="Equation.3">
                    <p:embed/>
                  </p:oleObj>
                </mc:Choice>
                <mc:Fallback>
                  <p:oleObj name="公式" r:id="rId12" imgW="355600" imgH="203200" progId="Equation.3">
                    <p:embed/>
                    <p:pic>
                      <p:nvPicPr>
                        <p:cNvPr id="0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65409" y="3176473"/>
                          <a:ext cx="785812" cy="44926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/>
          <p:nvPr/>
        </p:nvGrpSpPr>
        <p:grpSpPr>
          <a:xfrm>
            <a:off x="7914249" y="3645024"/>
            <a:ext cx="3006287" cy="585503"/>
            <a:chOff x="7366383" y="3204353"/>
            <a:chExt cx="3006287" cy="585503"/>
          </a:xfrm>
          <a:solidFill>
            <a:schemeClr val="bg2"/>
          </a:solidFill>
        </p:grpSpPr>
        <p:sp>
          <p:nvSpPr>
            <p:cNvPr id="28" name="圆角矩形标注 9"/>
            <p:cNvSpPr>
              <a:spLocks noChangeArrowheads="1"/>
            </p:cNvSpPr>
            <p:nvPr/>
          </p:nvSpPr>
          <p:spPr bwMode="auto">
            <a:xfrm>
              <a:off x="7366383" y="3204353"/>
              <a:ext cx="3006287" cy="585503"/>
            </a:xfrm>
            <a:prstGeom prst="wedgeRoundRectCallout">
              <a:avLst>
                <a:gd name="adj1" fmla="val -60837"/>
                <a:gd name="adj2" fmla="val 37196"/>
                <a:gd name="adj3" fmla="val 16667"/>
              </a:avLst>
            </a:prstGeom>
            <a:grpFill/>
            <a:ln w="9525">
              <a:solidFill>
                <a:schemeClr val="accent1">
                  <a:lumMod val="75000"/>
                </a:schemeClr>
              </a:solidFill>
              <a:round/>
            </a:ln>
            <a:effectLst/>
          </p:spPr>
          <p:txBody>
            <a:bodyPr/>
            <a:lstStyle/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en-US" sz="2000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的数量级等于</a:t>
              </a:r>
            </a:p>
          </p:txBody>
        </p:sp>
        <p:graphicFrame>
          <p:nvGraphicFramePr>
            <p:cNvPr id="29" name="对象 15"/>
            <p:cNvGraphicFramePr>
              <a:graphicFrameLocks noChangeAspect="1"/>
            </p:cNvGraphicFramePr>
            <p:nvPr/>
          </p:nvGraphicFramePr>
          <p:xfrm>
            <a:off x="9354551" y="3225668"/>
            <a:ext cx="785812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55600" imgH="203200" progId="Equation.3">
                    <p:embed/>
                  </p:oleObj>
                </mc:Choice>
                <mc:Fallback>
                  <p:oleObj name="公式" r:id="rId12" imgW="355600" imgH="203200" progId="Equation.3">
                    <p:embed/>
                    <p:pic>
                      <p:nvPicPr>
                        <p:cNvPr id="0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4551" y="3225668"/>
                          <a:ext cx="785812" cy="44926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理解主定理</a:t>
            </a:r>
          </a:p>
        </p:txBody>
      </p:sp>
      <p:grpSp>
        <p:nvGrpSpPr>
          <p:cNvPr id="4" name="Group 4"/>
          <p:cNvGrpSpPr/>
          <p:nvPr/>
        </p:nvGrpSpPr>
        <p:grpSpPr bwMode="auto">
          <a:xfrm>
            <a:off x="1364940" y="4170663"/>
            <a:ext cx="1125442" cy="633412"/>
            <a:chOff x="654" y="1008"/>
            <a:chExt cx="819" cy="399"/>
          </a:xfrm>
        </p:grpSpPr>
        <p:sp>
          <p:nvSpPr>
            <p:cNvPr id="93195" name="Text Box 5"/>
            <p:cNvSpPr txBox="1">
              <a:spLocks noChangeArrowheads="1"/>
            </p:cNvSpPr>
            <p:nvPr/>
          </p:nvSpPr>
          <p:spPr bwMode="auto">
            <a:xfrm>
              <a:off x="654" y="1008"/>
              <a:ext cx="58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0" i="1">
                  <a:latin typeface="Times New Roman" panose="02020603050405020304" pitchFamily="18" charset="0"/>
                </a:rPr>
                <a:t>T(n)=</a:t>
              </a:r>
            </a:p>
          </p:txBody>
        </p:sp>
        <p:sp>
          <p:nvSpPr>
            <p:cNvPr id="93196" name="AutoShape 6"/>
            <p:cNvSpPr/>
            <p:nvPr/>
          </p:nvSpPr>
          <p:spPr bwMode="auto">
            <a:xfrm>
              <a:off x="1337" y="1008"/>
              <a:ext cx="136" cy="399"/>
            </a:xfrm>
            <a:prstGeom prst="leftBrace">
              <a:avLst>
                <a:gd name="adj1" fmla="val 243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i="1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519398" y="4478385"/>
            <a:ext cx="42226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i="1" dirty="0">
                <a:latin typeface="Times New Roman" panose="02020603050405020304" pitchFamily="18" charset="0"/>
              </a:rPr>
              <a:t>2T(n/2)+</a:t>
            </a:r>
            <a:r>
              <a:rPr kumimoji="1" lang="en-US" altLang="zh-CN" sz="2400" b="0" i="1" dirty="0" err="1">
                <a:latin typeface="Times New Roman" panose="02020603050405020304" pitchFamily="18" charset="0"/>
              </a:rPr>
              <a:t>cn</a:t>
            </a:r>
            <a:r>
              <a:rPr kumimoji="1" lang="en-US" altLang="zh-CN" sz="2400" b="0" i="1" dirty="0">
                <a:latin typeface="Times New Roman" panose="02020603050405020304" pitchFamily="18" charset="0"/>
              </a:rPr>
              <a:t>	     n&gt;</a:t>
            </a:r>
            <a:r>
              <a:rPr kumimoji="1" lang="en-US" altLang="zh-CN" sz="2400" b="0" dirty="0">
                <a:latin typeface="Times New Roman" panose="02020603050405020304" pitchFamily="18" charset="0"/>
              </a:rPr>
              <a:t>1 , c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是常数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2673286" y="3987203"/>
            <a:ext cx="40687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i="1" dirty="0">
                <a:latin typeface="Times New Roman" panose="02020603050405020304" pitchFamily="18" charset="0"/>
              </a:rPr>
              <a:t>a	               n=</a:t>
            </a:r>
            <a:r>
              <a:rPr kumimoji="1" lang="en-US" altLang="zh-CN" sz="2400" b="0" dirty="0">
                <a:latin typeface="Times New Roman" panose="02020603050405020304" pitchFamily="18" charset="0"/>
              </a:rPr>
              <a:t>1 , a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是常数</a:t>
            </a:r>
          </a:p>
        </p:txBody>
      </p:sp>
      <p:sp>
        <p:nvSpPr>
          <p:cNvPr id="93190" name="TextBox 8"/>
          <p:cNvSpPr txBox="1">
            <a:spLocks noChangeArrowheads="1"/>
          </p:cNvSpPr>
          <p:nvPr/>
        </p:nvSpPr>
        <p:spPr bwMode="auto">
          <a:xfrm>
            <a:off x="899866" y="3501233"/>
            <a:ext cx="7977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2</a:t>
            </a:r>
            <a:r>
              <a:rPr lang="zh-CN" altLang="en-US" sz="2400" b="0" dirty="0"/>
              <a:t>：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归并排序的计算时间 </a:t>
            </a:r>
            <a:r>
              <a:rPr lang="en-US" altLang="zh-CN" sz="2400" b="0" dirty="0"/>
              <a:t>a=2,b=2,f(n)=Θ(n)</a:t>
            </a:r>
            <a:endParaRPr lang="zh-CN" altLang="en-US" sz="2400" b="0" dirty="0"/>
          </a:p>
        </p:txBody>
      </p:sp>
      <p:sp>
        <p:nvSpPr>
          <p:cNvPr id="93191" name="矩形 9"/>
          <p:cNvSpPr>
            <a:spLocks noChangeArrowheads="1"/>
          </p:cNvSpPr>
          <p:nvPr/>
        </p:nvSpPr>
        <p:spPr bwMode="auto">
          <a:xfrm>
            <a:off x="7383462" y="4168578"/>
            <a:ext cx="1431802" cy="46166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O(</a:t>
            </a:r>
            <a:r>
              <a:rPr lang="en-US" altLang="zh-CN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nlogn</a:t>
            </a:r>
            <a:r>
              <a:rPr lang="en-US" altLang="zh-C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93192" name="TextBox 13"/>
          <p:cNvSpPr txBox="1">
            <a:spLocks noChangeArrowheads="1"/>
          </p:cNvSpPr>
          <p:nvPr/>
        </p:nvSpPr>
        <p:spPr bwMode="auto">
          <a:xfrm>
            <a:off x="839664" y="1556792"/>
            <a:ext cx="797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1</a:t>
            </a:r>
            <a:r>
              <a:rPr lang="zh-CN" altLang="en-US" sz="2400" b="0" dirty="0"/>
              <a:t>：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斯特拉森矩阵的计算时间 </a:t>
            </a:r>
            <a:r>
              <a:rPr lang="en-US" altLang="zh-CN" sz="2400" b="0" dirty="0"/>
              <a:t>a=7,b=2,f(n)=Θ(n</a:t>
            </a:r>
            <a:r>
              <a:rPr lang="en-US" altLang="zh-CN" sz="2400" b="0" baseline="30000" dirty="0"/>
              <a:t>2</a:t>
            </a:r>
            <a:r>
              <a:rPr lang="en-US" altLang="zh-CN" sz="2400" b="0" dirty="0"/>
              <a:t>)</a:t>
            </a:r>
            <a:endParaRPr lang="zh-CN" altLang="en-US" sz="2400" b="0" dirty="0"/>
          </a:p>
        </p:txBody>
      </p:sp>
      <p:graphicFrame>
        <p:nvGraphicFramePr>
          <p:cNvPr id="93193" name="Object 17"/>
          <p:cNvGraphicFramePr>
            <a:graphicFrameLocks noChangeAspect="1"/>
          </p:cNvGraphicFramePr>
          <p:nvPr/>
        </p:nvGraphicFramePr>
        <p:xfrm>
          <a:off x="1397696" y="2212178"/>
          <a:ext cx="3976637" cy="911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900" imgH="457200" progId="Equation.3">
                  <p:embed/>
                </p:oleObj>
              </mc:Choice>
              <mc:Fallback>
                <p:oleObj name="Equation" r:id="rId3" imgW="199390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696" y="2212178"/>
                        <a:ext cx="3976637" cy="911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4" name="矩形 2"/>
          <p:cNvSpPr>
            <a:spLocks noChangeArrowheads="1"/>
          </p:cNvSpPr>
          <p:nvPr/>
        </p:nvSpPr>
        <p:spPr bwMode="auto">
          <a:xfrm>
            <a:off x="6096000" y="2360349"/>
            <a:ext cx="2672526" cy="46166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O(nlog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7</a:t>
            </a:r>
            <a:r>
              <a:rPr lang="en-US" altLang="zh-CN" sz="2400" b="1" dirty="0">
                <a:solidFill>
                  <a:srgbClr val="FF0000"/>
                </a:solidFill>
              </a:rPr>
              <a:t>) =O(n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2.81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>
          <a:xfrm>
            <a:off x="674712" y="200943"/>
            <a:ext cx="10389840" cy="1139825"/>
          </a:xfrm>
        </p:spPr>
        <p:txBody>
          <a:bodyPr/>
          <a:lstStyle/>
          <a:p>
            <a:r>
              <a:rPr lang="zh-CN" altLang="en-US" dirty="0"/>
              <a:t>分治法的效率分析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931" y="1584388"/>
            <a:ext cx="10488637" cy="621624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主定理：</a:t>
            </a:r>
            <a:r>
              <a:rPr lang="zh-CN" altLang="en-US" dirty="0"/>
              <a:t>在通用分治递归式</a:t>
            </a:r>
            <a:r>
              <a:rPr lang="en-US" altLang="zh-CN" dirty="0"/>
              <a:t>T(n)=</a:t>
            </a:r>
            <a:r>
              <a:rPr lang="en-US" altLang="zh-CN" dirty="0" err="1"/>
              <a:t>aT</a:t>
            </a:r>
            <a:r>
              <a:rPr lang="en-US" altLang="zh-CN" dirty="0"/>
              <a:t>(n/b)+f(n)</a:t>
            </a:r>
            <a:r>
              <a:rPr lang="zh-CN" altLang="en-US" dirty="0">
                <a:latin typeface="Times New Roman" panose="02020603050405020304" pitchFamily="18" charset="0"/>
              </a:rPr>
              <a:t>中，</a:t>
            </a:r>
            <a:r>
              <a:rPr lang="zh-CN" altLang="en-US" dirty="0"/>
              <a:t>如果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5476" name="对象 3">
            <a:hlinkClick r:id="" action="ppaction://ole?verb=0"/>
          </p:cNvPr>
          <p:cNvGraphicFramePr/>
          <p:nvPr>
            <p:extLst>
              <p:ext uri="{D42A27DB-BD31-4B8C-83A1-F6EECF244321}">
                <p14:modId xmlns:p14="http://schemas.microsoft.com/office/powerpoint/2010/main" val="1449417447"/>
              </p:ext>
            </p:extLst>
          </p:nvPr>
        </p:nvGraphicFramePr>
        <p:xfrm>
          <a:off x="1919536" y="2170211"/>
          <a:ext cx="2448272" cy="558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12165" imgH="203200" progId="Equation.3">
                  <p:embed/>
                </p:oleObj>
              </mc:Choice>
              <mc:Fallback>
                <p:oleObj name="公式" r:id="rId2" imgW="812165" imgH="203200" progId="Equation.3">
                  <p:embed/>
                  <p:pic>
                    <p:nvPicPr>
                      <p:cNvPr id="0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2170211"/>
                        <a:ext cx="2448272" cy="558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对象 4">
            <a:hlinkClick r:id="" action="ppaction://ole?verb=0"/>
          </p:cNvPr>
          <p:cNvGraphicFramePr/>
          <p:nvPr>
            <p:extLst>
              <p:ext uri="{D42A27DB-BD31-4B8C-83A1-F6EECF244321}">
                <p14:modId xmlns:p14="http://schemas.microsoft.com/office/powerpoint/2010/main" val="3637332573"/>
              </p:ext>
            </p:extLst>
          </p:nvPr>
        </p:nvGraphicFramePr>
        <p:xfrm>
          <a:off x="1991459" y="3872290"/>
          <a:ext cx="4974344" cy="1782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5000" imgH="723900" progId="Equation.3">
                  <p:embed/>
                </p:oleObj>
              </mc:Choice>
              <mc:Fallback>
                <p:oleObj name="公式" r:id="rId4" imgW="1905000" imgH="723900" progId="Equation.3">
                  <p:embed/>
                  <p:pic>
                    <p:nvPicPr>
                      <p:cNvPr id="0" name="对象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459" y="3872290"/>
                        <a:ext cx="4974344" cy="178272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63</a:t>
            </a:fld>
            <a:endParaRPr lang="en-US" altLang="zh-CN"/>
          </a:p>
        </p:txBody>
      </p:sp>
      <p:sp>
        <p:nvSpPr>
          <p:cNvPr id="10" name="圆角矩形标注 12"/>
          <p:cNvSpPr>
            <a:spLocks noChangeArrowheads="1"/>
          </p:cNvSpPr>
          <p:nvPr/>
        </p:nvSpPr>
        <p:spPr bwMode="auto">
          <a:xfrm>
            <a:off x="5015880" y="844534"/>
            <a:ext cx="2808312" cy="504056"/>
          </a:xfrm>
          <a:prstGeom prst="wedgeRoundRectCallout">
            <a:avLst>
              <a:gd name="adj1" fmla="val 14583"/>
              <a:gd name="adj2" fmla="val 10760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b="0" dirty="0">
                <a:ea typeface="幼圆" panose="02010509060101010101" pitchFamily="49" charset="-122"/>
                <a:cs typeface="Arial" panose="020B0604020202020204" pitchFamily="34" charset="0"/>
              </a:rPr>
              <a:t>是子问题的个数</a:t>
            </a:r>
          </a:p>
        </p:txBody>
      </p:sp>
      <p:sp>
        <p:nvSpPr>
          <p:cNvPr id="12" name="圆角矩形标注 12"/>
          <p:cNvSpPr>
            <a:spLocks noChangeArrowheads="1"/>
          </p:cNvSpPr>
          <p:nvPr/>
        </p:nvSpPr>
        <p:spPr bwMode="auto">
          <a:xfrm>
            <a:off x="8128875" y="735215"/>
            <a:ext cx="3037238" cy="504056"/>
          </a:xfrm>
          <a:prstGeom prst="wedgeRoundRectCallout">
            <a:avLst>
              <a:gd name="adj1" fmla="val -36616"/>
              <a:gd name="adj2" fmla="val 14510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分解及合并所需时间</a:t>
            </a:r>
          </a:p>
        </p:txBody>
      </p:sp>
      <p:sp>
        <p:nvSpPr>
          <p:cNvPr id="13" name="圆角矩形标注 12"/>
          <p:cNvSpPr>
            <a:spLocks noChangeArrowheads="1"/>
          </p:cNvSpPr>
          <p:nvPr/>
        </p:nvSpPr>
        <p:spPr bwMode="auto">
          <a:xfrm>
            <a:off x="7569788" y="2333253"/>
            <a:ext cx="2664296" cy="981187"/>
          </a:xfrm>
          <a:prstGeom prst="wedgeRoundRectCallout">
            <a:avLst>
              <a:gd name="adj1" fmla="val -45043"/>
              <a:gd name="adj2" fmla="val -7798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None/>
            </a:pPr>
            <a:r>
              <a:rPr lang="en-US" altLang="zh-CN" sz="2400" b="0" dirty="0">
                <a:latin typeface="Verdana" panose="020B0604030504040204" pitchFamily="34" charset="0"/>
              </a:rPr>
              <a:t>b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是原问题与子问题的规模比例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03A614-EEE8-E29E-D416-5C8823D1D895}"/>
              </a:ext>
            </a:extLst>
          </p:cNvPr>
          <p:cNvSpPr txBox="1"/>
          <p:nvPr/>
        </p:nvSpPr>
        <p:spPr>
          <a:xfrm>
            <a:off x="1559496" y="3212976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则有：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365127"/>
            <a:ext cx="10515600" cy="1325563"/>
          </a:xfrm>
        </p:spPr>
        <p:txBody>
          <a:bodyPr/>
          <a:lstStyle/>
          <a:p>
            <a:r>
              <a:rPr lang="en-US" altLang="zh-CN" dirty="0"/>
              <a:t>4.8 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9488" y="1690690"/>
            <a:ext cx="10946432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分治法特点</a:t>
            </a:r>
            <a:endParaRPr lang="en-US" altLang="zh-CN" dirty="0"/>
          </a:p>
          <a:p>
            <a:pPr lvl="1"/>
            <a:r>
              <a:rPr lang="zh-CN" altLang="en-US" sz="2800" dirty="0"/>
              <a:t>分</a:t>
            </a:r>
            <a:r>
              <a:rPr lang="en-US" altLang="zh-CN" sz="2800" dirty="0"/>
              <a:t>-</a:t>
            </a:r>
            <a:r>
              <a:rPr lang="zh-CN" altLang="en-US" sz="2800" dirty="0"/>
              <a:t>治</a:t>
            </a:r>
            <a:r>
              <a:rPr lang="en-US" altLang="zh-CN" sz="2800" dirty="0"/>
              <a:t>-</a:t>
            </a:r>
            <a:r>
              <a:rPr lang="zh-CN" altLang="en-US" sz="2800" dirty="0"/>
              <a:t>合</a:t>
            </a:r>
            <a:endParaRPr lang="en-US" altLang="zh-CN" sz="2800" dirty="0"/>
          </a:p>
          <a:p>
            <a:pPr lvl="1"/>
            <a:r>
              <a:rPr lang="zh-CN" altLang="en-US" sz="2800" dirty="0"/>
              <a:t>子问题独立：两个子问题不会共享一个问题域更小的公共子问题</a:t>
            </a:r>
            <a:endParaRPr lang="en-US" altLang="zh-CN" sz="2800" dirty="0"/>
          </a:p>
          <a:p>
            <a:pPr lvl="1"/>
            <a:r>
              <a:rPr lang="zh-CN" altLang="en-US" sz="2800" dirty="0"/>
              <a:t>自顶向下将原问题分解成子问题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64</a:t>
            </a:fld>
            <a:endParaRPr lang="en-US" altLang="zh-C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4.8 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690690"/>
            <a:ext cx="10515600" cy="4351338"/>
          </a:xfrm>
        </p:spPr>
        <p:txBody>
          <a:bodyPr/>
          <a:lstStyle/>
          <a:p>
            <a:r>
              <a:rPr kumimoji="1" lang="en-US" altLang="zh-CN" sz="2400" dirty="0"/>
              <a:t> 4.1 </a:t>
            </a:r>
            <a:r>
              <a:rPr kumimoji="1" lang="zh-CN" altLang="en-US" sz="2400" dirty="0"/>
              <a:t>一般方法</a:t>
            </a:r>
            <a:endParaRPr kumimoji="1" lang="en-US" altLang="zh-CN" sz="2400" dirty="0"/>
          </a:p>
          <a:p>
            <a:pPr lvl="1"/>
            <a:r>
              <a:rPr lang="zh-CN" altLang="zh-CN" dirty="0">
                <a:latin typeface="幼圆" panose="02010509060101010101" pitchFamily="49" charset="-122"/>
              </a:rPr>
              <a:t>掌握分治法适用的问题特点、求解思想和计算时间等基本</a:t>
            </a:r>
            <a:r>
              <a:rPr lang="zh-CN" altLang="en-US" dirty="0">
                <a:latin typeface="幼圆" panose="02010509060101010101" pitchFamily="49" charset="-122"/>
              </a:rPr>
              <a:t>内容</a:t>
            </a:r>
            <a:r>
              <a:rPr lang="zh-CN" altLang="zh-CN" dirty="0">
                <a:latin typeface="幼圆" panose="02010509060101010101" pitchFamily="49" charset="-122"/>
              </a:rPr>
              <a:t>。能掌握分治法求解问题的一般过程。</a:t>
            </a:r>
            <a:endParaRPr kumimoji="1" lang="zh-CN" altLang="en-US" dirty="0"/>
          </a:p>
          <a:p>
            <a:r>
              <a:rPr kumimoji="1" lang="en-US" altLang="zh-CN" sz="2400" dirty="0"/>
              <a:t> 4.2 </a:t>
            </a:r>
            <a:r>
              <a:rPr kumimoji="1" lang="zh-CN" altLang="en-US" sz="2400" dirty="0"/>
              <a:t>二分查找</a:t>
            </a:r>
          </a:p>
          <a:p>
            <a:r>
              <a:rPr kumimoji="1" lang="en-US" altLang="zh-CN" sz="2400" dirty="0"/>
              <a:t> 4.3 </a:t>
            </a:r>
            <a:r>
              <a:rPr kumimoji="1" lang="zh-CN" altLang="en-US" sz="2400" dirty="0"/>
              <a:t>归并排序</a:t>
            </a:r>
            <a:endParaRPr kumimoji="1" lang="en-US" altLang="zh-CN" sz="2400" dirty="0"/>
          </a:p>
          <a:p>
            <a:pPr lvl="1"/>
            <a:r>
              <a:rPr lang="zh-CN" altLang="zh-CN" dirty="0"/>
              <a:t>掌握</a:t>
            </a:r>
            <a:r>
              <a:rPr lang="zh-CN" altLang="en-US" dirty="0"/>
              <a:t>分治</a:t>
            </a:r>
            <a:r>
              <a:rPr lang="zh-CN" altLang="zh-CN" dirty="0"/>
              <a:t>算法</a:t>
            </a:r>
            <a:r>
              <a:rPr lang="zh-CN" altLang="en-US" dirty="0"/>
              <a:t>的一般设计思想，算法</a:t>
            </a:r>
            <a:r>
              <a:rPr lang="zh-CN" altLang="zh-CN" dirty="0"/>
              <a:t>正确性证明、</a:t>
            </a:r>
            <a:r>
              <a:rPr lang="zh-CN" altLang="en-US" dirty="0"/>
              <a:t>时间</a:t>
            </a:r>
            <a:r>
              <a:rPr lang="zh-CN" altLang="zh-CN" dirty="0"/>
              <a:t>复杂度</a:t>
            </a:r>
            <a:r>
              <a:rPr lang="zh-CN" altLang="en-US" dirty="0"/>
              <a:t>分析和</a:t>
            </a:r>
            <a:r>
              <a:rPr lang="zh-CN" altLang="zh-CN" dirty="0"/>
              <a:t>求解的一般方法</a:t>
            </a:r>
            <a:r>
              <a:rPr lang="zh-CN" altLang="en-US" dirty="0"/>
              <a:t>。</a:t>
            </a:r>
            <a:endParaRPr kumimoji="1"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65</a:t>
            </a:fld>
            <a:endParaRPr lang="en-US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4.8 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3338"/>
            <a:ext cx="10515600" cy="4922006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 4.4 </a:t>
            </a:r>
            <a:r>
              <a:rPr kumimoji="1" lang="zh-CN" altLang="en-US" sz="2400" dirty="0"/>
              <a:t>斯特拉森矩阵乘法</a:t>
            </a:r>
            <a:endParaRPr kumimoji="1" lang="en-US" altLang="zh-CN" sz="2400" dirty="0"/>
          </a:p>
          <a:p>
            <a:r>
              <a:rPr kumimoji="1" lang="en-US" altLang="zh-CN" sz="2400" dirty="0"/>
              <a:t> 4.5 </a:t>
            </a:r>
            <a:r>
              <a:rPr kumimoji="1" lang="zh-CN" altLang="en-US" sz="2400" dirty="0"/>
              <a:t>二维极大点问题</a:t>
            </a:r>
          </a:p>
          <a:p>
            <a:r>
              <a:rPr kumimoji="1" lang="en-US" altLang="zh-CN" sz="2400" dirty="0"/>
              <a:t> 4.6 </a:t>
            </a:r>
            <a:r>
              <a:rPr kumimoji="1" lang="zh-CN" altLang="en-US" sz="2400" dirty="0"/>
              <a:t>分治法的优化</a:t>
            </a:r>
            <a:endParaRPr kumimoji="1" lang="en-US" altLang="zh-CN" sz="2400" dirty="0"/>
          </a:p>
          <a:p>
            <a:pPr lvl="1"/>
            <a:r>
              <a:rPr lang="zh-CN" altLang="en-US" dirty="0"/>
              <a:t> 深入理解分治法适用的问题特征，掌握复杂问题求解办法。分析分治法时间复杂度的影响因素，掌握分治算法的优化技巧。掌握分治算法优化的一般原理和策略。</a:t>
            </a:r>
            <a:endParaRPr kumimoji="1" lang="en-US" altLang="zh-CN" dirty="0"/>
          </a:p>
          <a:p>
            <a:r>
              <a:rPr kumimoji="1" lang="en-US" altLang="zh-CN" sz="2400" dirty="0"/>
              <a:t> 4.7 </a:t>
            </a:r>
            <a:r>
              <a:rPr kumimoji="1" lang="zh-CN" altLang="en-US" sz="2400" dirty="0"/>
              <a:t>主定理证明</a:t>
            </a:r>
            <a:endParaRPr kumimoji="1" lang="en-US" altLang="zh-CN" sz="2400" dirty="0"/>
          </a:p>
          <a:p>
            <a:pPr lvl="1"/>
            <a:r>
              <a:rPr lang="zh-CN" altLang="en-US" dirty="0"/>
              <a:t>掌握主定理。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66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055440" y="5877272"/>
            <a:ext cx="102251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能够识别出适合分治法的可计算性问题、独立设计算法和分析算法复杂度。</a:t>
            </a:r>
            <a:endParaRPr lang="zh-CN" altLang="en-US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928" y="263691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5400" dirty="0"/>
              <a:t>本 章 结 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021F18-285E-4444-AFFC-BDBEE8C67D6D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01361" y="4264255"/>
            <a:ext cx="9831977" cy="964945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第四章 分治法</a:t>
            </a:r>
            <a:r>
              <a:rPr lang="en-US" altLang="zh-CN" sz="4800" dirty="0"/>
              <a:t>—</a:t>
            </a:r>
            <a:r>
              <a:rPr lang="zh-CN" altLang="en-US" sz="4800" dirty="0"/>
              <a:t>补充内容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72DFF263-D7AD-4E6A-97D1-A332E66BAD2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935300" y="6285229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B0B70C-D1C5-4314-9DA1-1C696BA090EF}" type="slidenum">
              <a:rPr altLang="zh-CN" sz="1200" b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69</a:t>
            </a:fld>
            <a:endParaRPr lang="zh-CN" altLang="zh-CN" sz="1200" b="0">
              <a:latin typeface="Arial Black" panose="020B0A040201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57313EF-F534-431C-8485-7FBEC17C6A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7368" y="517436"/>
            <a:ext cx="8543925" cy="593725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4000" dirty="0">
                <a:latin typeface="Times New Roman" panose="02020603050405020304" pitchFamily="18" charset="0"/>
              </a:rPr>
              <a:t>练习</a:t>
            </a:r>
            <a:r>
              <a:rPr lang="en-US" altLang="zh-CN" sz="4000" dirty="0">
                <a:latin typeface="Times New Roman" panose="02020603050405020304" pitchFamily="18" charset="0"/>
              </a:rPr>
              <a:t>1. </a:t>
            </a:r>
            <a:r>
              <a:rPr lang="zh-CN" altLang="en-US" sz="4000" dirty="0">
                <a:latin typeface="Times New Roman" panose="02020603050405020304" pitchFamily="18" charset="0"/>
              </a:rPr>
              <a:t>分治策略的检索</a:t>
            </a:r>
            <a:r>
              <a:rPr lang="en-US" altLang="zh-CN" sz="4000" dirty="0">
                <a:latin typeface="Times New Roman" panose="02020603050405020304" pitchFamily="18" charset="0"/>
              </a:rPr>
              <a:t>——</a:t>
            </a:r>
            <a:r>
              <a:rPr lang="zh-CN" altLang="en-US" sz="4000" dirty="0">
                <a:latin typeface="Times New Roman" panose="02020603050405020304" pitchFamily="18" charset="0"/>
              </a:rPr>
              <a:t>找最大</a:t>
            </a:r>
            <a:r>
              <a:rPr lang="en-US" altLang="zh-CN" sz="4000" dirty="0">
                <a:latin typeface="Times New Roman" panose="02020603050405020304" pitchFamily="18" charset="0"/>
              </a:rPr>
              <a:t>/</a:t>
            </a:r>
            <a:r>
              <a:rPr lang="zh-CN" altLang="en-US" sz="4000" dirty="0">
                <a:latin typeface="Times New Roman" panose="02020603050405020304" pitchFamily="18" charset="0"/>
              </a:rPr>
              <a:t>小元素</a:t>
            </a:r>
          </a:p>
        </p:txBody>
      </p:sp>
      <p:sp>
        <p:nvSpPr>
          <p:cNvPr id="72707" name="Text Box 3">
            <a:extLst>
              <a:ext uri="{FF2B5EF4-FFF2-40B4-BE49-F238E27FC236}">
                <a16:creationId xmlns:a16="http://schemas.microsoft.com/office/drawing/2014/main" id="{8C74D1E5-64F3-40E4-BC7F-9B9B65E9B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218" y="1329998"/>
            <a:ext cx="10749582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问题描述：在含有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个不同元素的集合中，找出最大和最小元素。</a:t>
            </a:r>
          </a:p>
        </p:txBody>
      </p:sp>
      <p:sp>
        <p:nvSpPr>
          <p:cNvPr id="72708" name="Text Box 4">
            <a:extLst>
              <a:ext uri="{FF2B5EF4-FFF2-40B4-BE49-F238E27FC236}">
                <a16:creationId xmlns:a16="http://schemas.microsoft.com/office/drawing/2014/main" id="{367CBA9F-3B2C-47C2-B2CF-A8C5641AC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16" y="2452709"/>
            <a:ext cx="605472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procedure  STRAITMAXMIN(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A,n,max,min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int  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, n;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max←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min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A[1];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for 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←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  to  n  do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 {  if A[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]&gt;max  then  max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A[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];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     if A[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]&lt;min  then  min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A[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];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 }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end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STRAITMAXMIN</a:t>
            </a: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8A733FE3-7E63-480B-AFDA-D358D63F5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16" y="1900587"/>
            <a:ext cx="830897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直接算法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依次比较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-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个元素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同时记录下最大、最小的元素</a:t>
            </a:r>
          </a:p>
        </p:txBody>
      </p:sp>
      <p:sp>
        <p:nvSpPr>
          <p:cNvPr id="72710" name="Text Box 6">
            <a:extLst>
              <a:ext uri="{FF2B5EF4-FFF2-40B4-BE49-F238E27FC236}">
                <a16:creationId xmlns:a16="http://schemas.microsoft.com/office/drawing/2014/main" id="{A438C32F-A03C-4BF1-A568-B3FA7ACA9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7011" y="2986684"/>
            <a:ext cx="3984625" cy="987425"/>
          </a:xfrm>
          <a:prstGeom prst="rect">
            <a:avLst/>
          </a:prstGeom>
          <a:solidFill>
            <a:srgbClr val="FFFFCC"/>
          </a:solidFill>
          <a:ln w="19050">
            <a:solidFill>
              <a:srgbClr val="FF99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sym typeface="Wingdings" panose="05000000000000000000" pitchFamily="2" charset="2"/>
              </a:rPr>
              <a:t>if A[i]&gt;max  then  max=A[i];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else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  <a:sym typeface="Wingdings" panose="05000000000000000000" pitchFamily="2" charset="2"/>
              </a:rPr>
              <a:t>   if A[i]&lt;min  then  min=A[i];</a:t>
            </a: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1" name="Text Box 7">
            <a:extLst>
              <a:ext uri="{FF2B5EF4-FFF2-40B4-BE49-F238E27FC236}">
                <a16:creationId xmlns:a16="http://schemas.microsoft.com/office/drawing/2014/main" id="{69893D52-5EA9-43FD-977A-F00CD3AB3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5906069"/>
            <a:ext cx="863282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00FF"/>
              </a:buClr>
              <a:buSz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直接算法的时间复杂度在最好、最坏、平均情况下均为</a:t>
            </a:r>
            <a:r>
              <a:rPr lang="en-US" altLang="zh-CN" sz="2400" dirty="0">
                <a:solidFill>
                  <a:srgbClr val="CC00FF"/>
                </a:solidFill>
                <a:latin typeface="Times New Roman" panose="02020603050405020304" pitchFamily="18" charset="0"/>
              </a:rPr>
              <a:t>2(n</a:t>
            </a:r>
            <a:r>
              <a:rPr lang="en-US" altLang="zh-CN" sz="2400" dirty="0">
                <a:solidFill>
                  <a:srgbClr val="CC00FF"/>
                </a:solidFill>
                <a:latin typeface="宋体" panose="02010600030101010101" pitchFamily="2" charset="-122"/>
              </a:rPr>
              <a:t>-</a:t>
            </a:r>
            <a:r>
              <a:rPr lang="en-US" altLang="zh-CN" sz="2400" dirty="0">
                <a:solidFill>
                  <a:srgbClr val="CC00FF"/>
                </a:solidFill>
                <a:latin typeface="Times New Roman" panose="02020603050405020304" pitchFamily="18" charset="0"/>
              </a:rPr>
              <a:t>1)</a:t>
            </a:r>
          </a:p>
        </p:txBody>
      </p:sp>
      <p:sp>
        <p:nvSpPr>
          <p:cNvPr id="72712" name="Rectangle 8">
            <a:extLst>
              <a:ext uri="{FF2B5EF4-FFF2-40B4-BE49-F238E27FC236}">
                <a16:creationId xmlns:a16="http://schemas.microsoft.com/office/drawing/2014/main" id="{4644733B-56AE-470D-856D-4B7ACC475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865" y="4137047"/>
            <a:ext cx="4203700" cy="796925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0"/>
          </a:p>
        </p:txBody>
      </p:sp>
      <p:sp>
        <p:nvSpPr>
          <p:cNvPr id="72713" name="Text Box 9">
            <a:extLst>
              <a:ext uri="{FF2B5EF4-FFF2-40B4-BE49-F238E27FC236}">
                <a16:creationId xmlns:a16="http://schemas.microsoft.com/office/drawing/2014/main" id="{0016DF5B-8CEA-46A1-B281-30314133F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0669" y="4154878"/>
            <a:ext cx="3706812" cy="1621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993300"/>
                </a:solidFill>
                <a:latin typeface="Times New Roman" panose="02020603050405020304" pitchFamily="18" charset="0"/>
              </a:rPr>
              <a:t>优化后的计算时间</a:t>
            </a:r>
            <a:r>
              <a:rPr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99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993300"/>
                </a:solidFill>
                <a:latin typeface="Times New Roman" panose="02020603050405020304" pitchFamily="18" charset="0"/>
              </a:rPr>
              <a:t>元素升序</a:t>
            </a:r>
            <a:r>
              <a:rPr lang="en-US" altLang="zh-CN" sz="2000" dirty="0">
                <a:solidFill>
                  <a:srgbClr val="9933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993300"/>
                </a:solidFill>
                <a:latin typeface="Times New Roman" panose="02020603050405020304" pitchFamily="18" charset="0"/>
              </a:rPr>
              <a:t>最好情况为</a:t>
            </a:r>
            <a:r>
              <a:rPr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</a:rPr>
              <a:t>(n-1)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99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993300"/>
                </a:solidFill>
                <a:latin typeface="Times New Roman" panose="02020603050405020304" pitchFamily="18" charset="0"/>
              </a:rPr>
              <a:t>元素降序</a:t>
            </a:r>
            <a:r>
              <a:rPr lang="en-US" altLang="zh-CN" sz="2000" dirty="0">
                <a:solidFill>
                  <a:srgbClr val="9933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993300"/>
                </a:solidFill>
                <a:latin typeface="Times New Roman" panose="02020603050405020304" pitchFamily="18" charset="0"/>
              </a:rPr>
              <a:t>最坏情况为</a:t>
            </a:r>
            <a:r>
              <a:rPr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</a:rPr>
              <a:t>2(n-1)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993300"/>
                </a:solidFill>
                <a:latin typeface="Times New Roman" panose="02020603050405020304" pitchFamily="18" charset="0"/>
              </a:rPr>
              <a:t>平均情况为</a:t>
            </a:r>
            <a:r>
              <a:rPr lang="en-US" altLang="zh-CN" sz="2400" dirty="0">
                <a:solidFill>
                  <a:srgbClr val="993300"/>
                </a:solidFill>
                <a:latin typeface="Times New Roman" panose="02020603050405020304" pitchFamily="18" charset="0"/>
              </a:rPr>
              <a:t>3/2(n-1)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ECCE39B9-3085-41E6-92F8-7A6223350FAB}"/>
              </a:ext>
            </a:extLst>
          </p:cNvPr>
          <p:cNvGrpSpPr>
            <a:grpSpLocks/>
          </p:cNvGrpSpPr>
          <p:nvPr/>
        </p:nvGrpSpPr>
        <p:grpSpPr bwMode="auto">
          <a:xfrm>
            <a:off x="4765303" y="3290184"/>
            <a:ext cx="2571708" cy="743673"/>
            <a:chOff x="2469" y="1921"/>
            <a:chExt cx="683" cy="679"/>
          </a:xfrm>
        </p:grpSpPr>
        <p:sp>
          <p:nvSpPr>
            <p:cNvPr id="41996" name="Line 11">
              <a:extLst>
                <a:ext uri="{FF2B5EF4-FFF2-40B4-BE49-F238E27FC236}">
                  <a16:creationId xmlns:a16="http://schemas.microsoft.com/office/drawing/2014/main" id="{248E58F9-EA7D-4F00-9884-4FCC1BDDF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9" y="2148"/>
              <a:ext cx="683" cy="45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Text Box 12">
              <a:extLst>
                <a:ext uri="{FF2B5EF4-FFF2-40B4-BE49-F238E27FC236}">
                  <a16:creationId xmlns:a16="http://schemas.microsoft.com/office/drawing/2014/main" id="{36F958DF-1252-454C-BFE1-CD41262B9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500000">
              <a:off x="2665" y="1921"/>
              <a:ext cx="221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A50021"/>
                </a:buClr>
                <a:buFont typeface="Wingdings" panose="05000000000000000000" pitchFamily="2" charset="2"/>
                <a:buNone/>
              </a:pPr>
              <a:r>
                <a:rPr lang="zh-CN" altLang="en-US" sz="2000" dirty="0">
                  <a:solidFill>
                    <a:srgbClr val="FF33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优化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7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/>
      <p:bldP spid="72708" grpId="0"/>
      <p:bldP spid="72709" grpId="0"/>
      <p:bldP spid="72710" grpId="0" animBg="1"/>
      <p:bldP spid="72711" grpId="0"/>
      <p:bldP spid="72712" grpId="0" animBg="1"/>
      <p:bldP spid="7271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FD003617-2663-40B1-A42F-B5EF474307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08568" y="6309320"/>
            <a:ext cx="72008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7721F21-6ED5-4486-9F5C-8CF5D3CE1F7A}" type="slidenum">
              <a:rPr altLang="zh-CN" sz="1200" b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70</a:t>
            </a:fld>
            <a:endParaRPr lang="zh-CN" altLang="zh-CN" sz="1200" b="0" dirty="0">
              <a:latin typeface="Arial Black" panose="020B0A04020102020204" pitchFamily="34" charset="0"/>
            </a:endParaRPr>
          </a:p>
        </p:txBody>
      </p:sp>
      <p:sp>
        <p:nvSpPr>
          <p:cNvPr id="73730" name="Text Box 2">
            <a:extLst>
              <a:ext uri="{FF2B5EF4-FFF2-40B4-BE49-F238E27FC236}">
                <a16:creationId xmlns:a16="http://schemas.microsoft.com/office/drawing/2014/main" id="{C206501D-FE64-48DC-B474-0A8791C72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858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73731" name="Text Box 3">
            <a:extLst>
              <a:ext uri="{FF2B5EF4-FFF2-40B4-BE49-F238E27FC236}">
                <a16:creationId xmlns:a16="http://schemas.microsoft.com/office/drawing/2014/main" id="{3603F08D-B223-48FC-893F-42A392105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496669"/>
            <a:ext cx="8229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dirty="0">
                <a:solidFill>
                  <a:srgbClr val="1E5293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采用分治策略求最大最小元素</a:t>
            </a:r>
          </a:p>
        </p:txBody>
      </p:sp>
      <p:sp>
        <p:nvSpPr>
          <p:cNvPr id="73732" name="Text Box 4">
            <a:extLst>
              <a:ext uri="{FF2B5EF4-FFF2-40B4-BE49-F238E27FC236}">
                <a16:creationId xmlns:a16="http://schemas.microsoft.com/office/drawing/2014/main" id="{FAAB86EF-CCB7-4BD0-A482-64404F00B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1556792"/>
            <a:ext cx="6696743" cy="4269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P=(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n,A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(1),…,A(n))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分：划分为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P1=(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n/2 </a:t>
            </a:r>
            <a:r>
              <a:rPr lang="en-US" altLang="zh-CN" sz="2400" dirty="0">
                <a:latin typeface="Times New Roman" panose="02020603050405020304" pitchFamily="18" charset="0"/>
              </a:rPr>
              <a:t>,A(1),…,A(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n/2 </a:t>
            </a:r>
            <a:r>
              <a:rPr lang="en-US" altLang="zh-CN" sz="2400" dirty="0">
                <a:latin typeface="Times New Roman" panose="02020603050405020304" pitchFamily="18" charset="0"/>
              </a:rPr>
              <a:t>) )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P2=( n-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n/2 </a:t>
            </a:r>
            <a:r>
              <a:rPr lang="en-US" altLang="zh-CN" sz="2400" dirty="0">
                <a:latin typeface="Times New Roman" panose="02020603050405020304" pitchFamily="18" charset="0"/>
              </a:rPr>
              <a:t>,A(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n/2 +1 </a:t>
            </a:r>
            <a:r>
              <a:rPr lang="en-US" altLang="zh-CN" sz="2400" dirty="0">
                <a:latin typeface="Times New Roman" panose="02020603050405020304" pitchFamily="18" charset="0"/>
              </a:rPr>
              <a:t>),…,A(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) )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治：递归求解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合：结果的合并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368A6D0B-496B-46FE-A7C5-3E46125DC61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143207" y="6316274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7339DFF-8A42-4E50-893F-A964D2923E2A}" type="slidenum">
              <a:rPr altLang="zh-CN" sz="1200" b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71</a:t>
            </a:fld>
            <a:endParaRPr lang="zh-CN" altLang="zh-CN" sz="1200" b="0" dirty="0">
              <a:latin typeface="Arial Black" panose="020B0A04020102020204" pitchFamily="34" charset="0"/>
            </a:endParaRPr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E708FB67-ABB9-4323-A435-D7AC0B360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468" y="3879462"/>
            <a:ext cx="5081588" cy="777875"/>
          </a:xfrm>
          <a:prstGeom prst="rect">
            <a:avLst/>
          </a:prstGeom>
          <a:solidFill>
            <a:srgbClr val="FFFFCC"/>
          </a:solidFill>
          <a:ln w="38100">
            <a:solidFill>
              <a:srgbClr val="99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0"/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54259A34-0765-47A3-876A-FAF580FC2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276224"/>
            <a:ext cx="56102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rgbClr val="CC00FF"/>
              </a:buClr>
              <a:buSzTx/>
              <a:buNone/>
            </a:pPr>
            <a:r>
              <a:rPr lang="zh-CN" altLang="en-US" sz="3600" dirty="0">
                <a:solidFill>
                  <a:srgbClr val="1E5293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分治法求最大和最小元素</a:t>
            </a:r>
          </a:p>
        </p:txBody>
      </p:sp>
      <p:sp>
        <p:nvSpPr>
          <p:cNvPr id="44037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D2A6DE8-7735-42B8-95C9-8380DD82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288662"/>
            <a:ext cx="7772400" cy="539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procedure  MAXMIN(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, j, fmax, </a:t>
            </a:r>
            <a:r>
              <a:rPr lang="en-US" altLang="zh-CN" sz="2400" dirty="0" err="1">
                <a:latin typeface="Times New Roman" panose="02020603050405020304" pitchFamily="18" charset="0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int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, j;     global    n, A(1:n);</a:t>
            </a:r>
          </a:p>
          <a:p>
            <a:pPr eaLnBrk="1" hangingPunct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case </a:t>
            </a:r>
          </a:p>
          <a:p>
            <a:pPr eaLnBrk="1" hangingPunct="1">
              <a:lnSpc>
                <a:spcPct val="8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= j: fmax ←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A[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]</a:t>
            </a: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= j</a:t>
            </a:r>
            <a:r>
              <a:rPr lang="en-US" altLang="zh-CN" sz="2400" dirty="0">
                <a:latin typeface="宋体" panose="02010600030101010101" pitchFamily="2" charset="-122"/>
                <a:sym typeface="Wingdings" panose="05000000000000000000" pitchFamily="2" charset="2"/>
              </a:rPr>
              <a:t>-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1: if A[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]&lt;A[j]  then  { fmax </a:t>
            </a:r>
            <a:r>
              <a:rPr lang="en-US" altLang="zh-CN" sz="2400" dirty="0"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A[j];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A[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]; }</a:t>
            </a: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                    else   { fmax </a:t>
            </a:r>
            <a:r>
              <a:rPr lang="en-US" altLang="zh-CN" sz="2400" dirty="0"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A[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];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A[j]; }</a:t>
            </a: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else:  {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mid(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i+j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)/2;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call  MAXMIN(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, mid,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gmax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gmin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call  MAXMIN(mid+1, j,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hmax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hmin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eaLnBrk="1" hangingPunct="1">
              <a:lnSpc>
                <a:spcPct val="12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fmax </a:t>
            </a:r>
            <a:r>
              <a:rPr lang="en-US" altLang="zh-CN" sz="2400" dirty="0"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max(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gmax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hmax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);</a:t>
            </a:r>
          </a:p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←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min(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gmin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hmin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);</a:t>
            </a:r>
          </a:p>
          <a:p>
            <a:pPr eaLnBrk="1" hangingPunct="1">
              <a:lnSpc>
                <a:spcPct val="7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}</a:t>
            </a:r>
          </a:p>
          <a:p>
            <a:pPr eaLnBrk="1" hangingPunct="1">
              <a:lnSpc>
                <a:spcPct val="7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endcase</a:t>
            </a:r>
            <a:endParaRPr lang="en-US" altLang="zh-CN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7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end MAXMIN</a:t>
            </a:r>
          </a:p>
        </p:txBody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B2EFB467-E84E-4A05-9151-1C3DC8B13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19" y="2357048"/>
            <a:ext cx="7578725" cy="1227138"/>
          </a:xfrm>
          <a:prstGeom prst="rect">
            <a:avLst/>
          </a:prstGeom>
          <a:noFill/>
          <a:ln w="349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0"/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F14CF765-C8EC-4A2D-91A6-9D777CE8A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881" y="4809737"/>
            <a:ext cx="3733800" cy="81597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0"/>
          </a:p>
        </p:txBody>
      </p:sp>
      <p:sp>
        <p:nvSpPr>
          <p:cNvPr id="74759" name="AutoShape 7">
            <a:extLst>
              <a:ext uri="{FF2B5EF4-FFF2-40B4-BE49-F238E27FC236}">
                <a16:creationId xmlns:a16="http://schemas.microsoft.com/office/drawing/2014/main" id="{D1988179-EA25-4F10-A6EB-20DC03E48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352" y="1556792"/>
            <a:ext cx="1773237" cy="844550"/>
          </a:xfrm>
          <a:prstGeom prst="wedgeRectCallout">
            <a:avLst>
              <a:gd name="adj1" fmla="val -106458"/>
              <a:gd name="adj2" fmla="val 61739"/>
            </a:avLst>
          </a:prstGeom>
          <a:solidFill>
            <a:srgbClr val="FCE0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Tahoma" panose="020B0604030504040204" pitchFamily="34" charset="0"/>
              </a:rPr>
              <a:t>只有一个或两个元素时</a:t>
            </a:r>
          </a:p>
        </p:txBody>
      </p:sp>
      <p:sp>
        <p:nvSpPr>
          <p:cNvPr id="74760" name="AutoShape 8">
            <a:extLst>
              <a:ext uri="{FF2B5EF4-FFF2-40B4-BE49-F238E27FC236}">
                <a16:creationId xmlns:a16="http://schemas.microsoft.com/office/drawing/2014/main" id="{A20A1923-9A88-46FD-8CC2-88A14C87E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769" y="3728648"/>
            <a:ext cx="2185987" cy="492440"/>
          </a:xfrm>
          <a:prstGeom prst="wedgeRoundRectCallout">
            <a:avLst>
              <a:gd name="adj1" fmla="val -79214"/>
              <a:gd name="adj2" fmla="val 80770"/>
              <a:gd name="adj3" fmla="val 16667"/>
            </a:avLst>
          </a:prstGeom>
          <a:solidFill>
            <a:srgbClr val="FCE0F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Tahoma" panose="020B0604030504040204" pitchFamily="34" charset="0"/>
              </a:rPr>
              <a:t>递归调用部分</a:t>
            </a:r>
          </a:p>
        </p:txBody>
      </p:sp>
      <p:sp>
        <p:nvSpPr>
          <p:cNvPr id="74761" name="AutoShape 9">
            <a:extLst>
              <a:ext uri="{FF2B5EF4-FFF2-40B4-BE49-F238E27FC236}">
                <a16:creationId xmlns:a16="http://schemas.microsoft.com/office/drawing/2014/main" id="{A245C6E2-85A2-45AF-B77E-237499DDE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275" y="4726377"/>
            <a:ext cx="3575197" cy="574831"/>
          </a:xfrm>
          <a:prstGeom prst="wedgeRoundRectCallout">
            <a:avLst>
              <a:gd name="adj1" fmla="val -83757"/>
              <a:gd name="adj2" fmla="val 43460"/>
              <a:gd name="adj3" fmla="val 16667"/>
            </a:avLst>
          </a:prstGeom>
          <a:solidFill>
            <a:srgbClr val="FCE0F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latin typeface="Tahoma" panose="020B0604030504040204" pitchFamily="34" charset="0"/>
              </a:rPr>
              <a:t>合并两个子问题的解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nimBg="1"/>
      <p:bldP spid="74757" grpId="0" animBg="1"/>
      <p:bldP spid="74758" grpId="0" animBg="1"/>
      <p:bldP spid="74759" grpId="0" animBg="1"/>
      <p:bldP spid="74760" grpId="0" animBg="1"/>
      <p:bldP spid="7476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6B898C88-57D5-4DC4-9B00-12873EC2989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48FBFDFC-86E4-4EEA-B176-F0B001EFC644}" type="slidenum">
              <a:rPr altLang="zh-CN" sz="1200" b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72</a:t>
            </a:fld>
            <a:endParaRPr lang="zh-CN" altLang="zh-CN" sz="1200" b="0">
              <a:latin typeface="Arial Black" panose="020B0A040201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73F0574-0E11-4E00-B71B-E0E095D6B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4" y="174808"/>
            <a:ext cx="5578475" cy="78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0"/>
              </a:spcBef>
              <a:buClr>
                <a:srgbClr val="CC00FF"/>
              </a:buClr>
              <a:buSzTx/>
              <a:buNone/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过程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MAXMIN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的时间复杂度</a:t>
            </a:r>
          </a:p>
        </p:txBody>
      </p:sp>
      <p:sp>
        <p:nvSpPr>
          <p:cNvPr id="7680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BD778E8-A4EC-4771-A4D7-2D8C75C92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18" y="1270004"/>
            <a:ext cx="544671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MAXMIN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的元素比较次数</a:t>
            </a:r>
          </a:p>
        </p:txBody>
      </p:sp>
      <p:sp>
        <p:nvSpPr>
          <p:cNvPr id="76804" name="Text Box 4">
            <a:extLst>
              <a:ext uri="{FF2B5EF4-FFF2-40B4-BE49-F238E27FC236}">
                <a16:creationId xmlns:a16="http://schemas.microsoft.com/office/drawing/2014/main" id="{9F81486F-0FDA-41C0-BABD-3A010EA1D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905" y="3454691"/>
            <a:ext cx="7135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n=2</a:t>
            </a:r>
            <a:r>
              <a:rPr lang="en-US" altLang="zh-CN" sz="2800" baseline="30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k </a:t>
            </a:r>
            <a:r>
              <a:rPr lang="en-US" altLang="zh-CN" sz="28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(k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是某个正整数</a:t>
            </a:r>
            <a:r>
              <a:rPr lang="en-US" altLang="zh-CN" sz="28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时，有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T(n)=3n/2-2</a:t>
            </a:r>
          </a:p>
        </p:txBody>
      </p:sp>
      <p:sp>
        <p:nvSpPr>
          <p:cNvPr id="76805" name="Text Box 5">
            <a:extLst>
              <a:ext uri="{FF2B5EF4-FFF2-40B4-BE49-F238E27FC236}">
                <a16:creationId xmlns:a16="http://schemas.microsoft.com/office/drawing/2014/main" id="{842DFFF7-A0E0-447C-929B-BCD75554D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905" y="3861048"/>
            <a:ext cx="5718175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T(n)= 2T(n/2)+2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= 2(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2T(n/4)+2</a:t>
            </a:r>
            <a:r>
              <a:rPr lang="en-US" altLang="zh-CN" sz="2800" dirty="0">
                <a:latin typeface="Times New Roman" panose="02020603050405020304" pitchFamily="18" charset="0"/>
              </a:rPr>
              <a:t>)+2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= 4T(n/4)+4+2 </a:t>
            </a:r>
          </a:p>
          <a:p>
            <a:pPr eaLnBrk="1" hangingPunct="1">
              <a:lnSpc>
                <a:spcPct val="6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……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= 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k-1</a:t>
            </a:r>
            <a:r>
              <a:rPr lang="en-US" altLang="zh-CN" sz="2800" dirty="0">
                <a:latin typeface="Times New Roman" panose="02020603050405020304" pitchFamily="18" charset="0"/>
              </a:rPr>
              <a:t>T(2)+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( 2</a:t>
            </a:r>
            <a:r>
              <a:rPr lang="en-US" altLang="zh-CN" sz="2800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k-1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k-2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+…+2</a:t>
            </a:r>
            <a:r>
              <a:rPr lang="en-US" altLang="zh-CN" sz="2800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+2 )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=2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k-1</a:t>
            </a:r>
            <a:r>
              <a:rPr lang="en-US" altLang="zh-CN" sz="2800" dirty="0">
                <a:latin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-2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=3n/2-2</a:t>
            </a:r>
          </a:p>
        </p:txBody>
      </p:sp>
      <p:sp>
        <p:nvSpPr>
          <p:cNvPr id="76806" name="Text Box 6">
            <a:extLst>
              <a:ext uri="{FF2B5EF4-FFF2-40B4-BE49-F238E27FC236}">
                <a16:creationId xmlns:a16="http://schemas.microsoft.com/office/drawing/2014/main" id="{9E73E6AE-7AF3-461C-AD66-0F1C70360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8048" y="4298402"/>
            <a:ext cx="5165774" cy="830997"/>
          </a:xfrm>
          <a:prstGeom prst="rect">
            <a:avLst/>
          </a:prstGeom>
          <a:solidFill>
            <a:srgbClr val="FFFFCC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与直接算法的比较次数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2(n-1)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相比，比较次数减少了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25 %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en-US" altLang="zh-CN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2B9356C4-E3DD-4655-A904-4314AE7E427B}"/>
              </a:ext>
            </a:extLst>
          </p:cNvPr>
          <p:cNvGrpSpPr>
            <a:grpSpLocks/>
          </p:cNvGrpSpPr>
          <p:nvPr/>
        </p:nvGrpSpPr>
        <p:grpSpPr bwMode="auto">
          <a:xfrm>
            <a:off x="2203451" y="1774826"/>
            <a:ext cx="5648325" cy="1495425"/>
            <a:chOff x="632" y="1118"/>
            <a:chExt cx="3558" cy="942"/>
          </a:xfrm>
        </p:grpSpPr>
        <p:sp>
          <p:nvSpPr>
            <p:cNvPr id="46090" name="AutoShape 8">
              <a:extLst>
                <a:ext uri="{FF2B5EF4-FFF2-40B4-BE49-F238E27FC236}">
                  <a16:creationId xmlns:a16="http://schemas.microsoft.com/office/drawing/2014/main" id="{233BE166-90FB-43E8-9A4C-74211D3FC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208"/>
              <a:ext cx="183" cy="732"/>
            </a:xfrm>
            <a:prstGeom prst="leftBrace">
              <a:avLst>
                <a:gd name="adj1" fmla="val 33241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b="0"/>
            </a:p>
          </p:txBody>
        </p:sp>
        <p:sp>
          <p:nvSpPr>
            <p:cNvPr id="46091" name="Text Box 9">
              <a:extLst>
                <a:ext uri="{FF2B5EF4-FFF2-40B4-BE49-F238E27FC236}">
                  <a16:creationId xmlns:a16="http://schemas.microsoft.com/office/drawing/2014/main" id="{CF50113C-5F9C-4299-A1A2-2AFFF07DE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118"/>
              <a:ext cx="2654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		    	      n=1</a:t>
              </a:r>
            </a:p>
          </p:txBody>
        </p:sp>
        <p:sp>
          <p:nvSpPr>
            <p:cNvPr id="46092" name="Text Box 10">
              <a:extLst>
                <a:ext uri="{FF2B5EF4-FFF2-40B4-BE49-F238E27FC236}">
                  <a16:creationId xmlns:a16="http://schemas.microsoft.com/office/drawing/2014/main" id="{62F7FB1E-5472-4A78-88F0-660606D1D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451"/>
              <a:ext cx="2596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			      n=2</a:t>
              </a:r>
            </a:p>
          </p:txBody>
        </p:sp>
        <p:sp>
          <p:nvSpPr>
            <p:cNvPr id="46093" name="Text Box 11">
              <a:extLst>
                <a:ext uri="{FF2B5EF4-FFF2-40B4-BE49-F238E27FC236}">
                  <a16:creationId xmlns:a16="http://schemas.microsoft.com/office/drawing/2014/main" id="{C34A0940-992F-49C9-A743-B11132CCA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" y="1390"/>
              <a:ext cx="774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rgbClr val="A50021"/>
                </a:buClr>
                <a:buFont typeface="Wingdings" panose="05000000000000000000" pitchFamily="2" charset="2"/>
                <a:buNone/>
              </a:pPr>
              <a:r>
                <a:rPr lang="en-US" altLang="zh-CN" b="0" dirty="0">
                  <a:latin typeface="Times New Roman" panose="02020603050405020304" pitchFamily="18" charset="0"/>
                </a:rPr>
                <a:t>T(n)=</a:t>
              </a:r>
            </a:p>
          </p:txBody>
        </p:sp>
        <p:grpSp>
          <p:nvGrpSpPr>
            <p:cNvPr id="46094" name="Group 12">
              <a:extLst>
                <a:ext uri="{FF2B5EF4-FFF2-40B4-BE49-F238E27FC236}">
                  <a16:creationId xmlns:a16="http://schemas.microsoft.com/office/drawing/2014/main" id="{C1FFAE48-C316-4ECF-BC75-89C4DCEA0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0" y="1806"/>
              <a:ext cx="2626" cy="254"/>
              <a:chOff x="1480" y="1806"/>
              <a:chExt cx="2626" cy="254"/>
            </a:xfrm>
          </p:grpSpPr>
          <p:sp>
            <p:nvSpPr>
              <p:cNvPr id="46095" name="Text Box 13">
                <a:extLst>
                  <a:ext uri="{FF2B5EF4-FFF2-40B4-BE49-F238E27FC236}">
                    <a16:creationId xmlns:a16="http://schemas.microsoft.com/office/drawing/2014/main" id="{D2A458B0-3B09-4828-81A0-3270A80B32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0" y="1806"/>
                <a:ext cx="2626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T( n/2 )+ T( n/2 )+</a:t>
                </a:r>
                <a:r>
                  <a:rPr lang="en-US" altLang="zh-CN" sz="2800">
                    <a:solidFill>
                      <a:srgbClr val="3333CC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     n&gt;2</a:t>
                </a:r>
              </a:p>
            </p:txBody>
          </p:sp>
          <p:grpSp>
            <p:nvGrpSpPr>
              <p:cNvPr id="46096" name="Group 14">
                <a:extLst>
                  <a:ext uri="{FF2B5EF4-FFF2-40B4-BE49-F238E27FC236}">
                    <a16:creationId xmlns:a16="http://schemas.microsoft.com/office/drawing/2014/main" id="{741224E0-85BB-4327-A68F-1C0A68F73F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73" y="1842"/>
                <a:ext cx="74" cy="174"/>
                <a:chOff x="3647" y="2624"/>
                <a:chExt cx="74" cy="174"/>
              </a:xfrm>
            </p:grpSpPr>
            <p:sp>
              <p:nvSpPr>
                <p:cNvPr id="46106" name="Line 15">
                  <a:extLst>
                    <a:ext uri="{FF2B5EF4-FFF2-40B4-BE49-F238E27FC236}">
                      <a16:creationId xmlns:a16="http://schemas.microsoft.com/office/drawing/2014/main" id="{FFF578C3-2B1D-4D5E-9CC0-035DA7AB9A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53" y="2625"/>
                  <a:ext cx="0" cy="173"/>
                </a:xfrm>
                <a:prstGeom prst="line">
                  <a:avLst/>
                </a:prstGeom>
                <a:noFill/>
                <a:ln w="25400">
                  <a:solidFill>
                    <a:srgbClr val="CC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7" name="Line 16">
                  <a:extLst>
                    <a:ext uri="{FF2B5EF4-FFF2-40B4-BE49-F238E27FC236}">
                      <a16:creationId xmlns:a16="http://schemas.microsoft.com/office/drawing/2014/main" id="{703E6DC6-34C8-45B4-B98E-F5EB740BA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7" y="2624"/>
                  <a:ext cx="74" cy="0"/>
                </a:xfrm>
                <a:prstGeom prst="line">
                  <a:avLst/>
                </a:prstGeom>
                <a:noFill/>
                <a:ln w="25400">
                  <a:solidFill>
                    <a:srgbClr val="CC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097" name="Group 17">
                <a:extLst>
                  <a:ext uri="{FF2B5EF4-FFF2-40B4-BE49-F238E27FC236}">
                    <a16:creationId xmlns:a16="http://schemas.microsoft.com/office/drawing/2014/main" id="{7ED16CDF-EC59-4BE6-AFBD-67C0EFDBE1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85" y="1835"/>
                <a:ext cx="74" cy="174"/>
                <a:chOff x="4599" y="2640"/>
                <a:chExt cx="74" cy="174"/>
              </a:xfrm>
            </p:grpSpPr>
            <p:sp>
              <p:nvSpPr>
                <p:cNvPr id="46104" name="Line 18">
                  <a:extLst>
                    <a:ext uri="{FF2B5EF4-FFF2-40B4-BE49-F238E27FC236}">
                      <a16:creationId xmlns:a16="http://schemas.microsoft.com/office/drawing/2014/main" id="{A9CFD45A-9F92-417A-A9E5-A542960C6F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61" y="2641"/>
                  <a:ext cx="0" cy="173"/>
                </a:xfrm>
                <a:prstGeom prst="line">
                  <a:avLst/>
                </a:prstGeom>
                <a:noFill/>
                <a:ln w="25400">
                  <a:solidFill>
                    <a:srgbClr val="CC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5" name="Line 19">
                  <a:extLst>
                    <a:ext uri="{FF2B5EF4-FFF2-40B4-BE49-F238E27FC236}">
                      <a16:creationId xmlns:a16="http://schemas.microsoft.com/office/drawing/2014/main" id="{354AF2BD-2F68-407B-B4B3-3EAF3A71D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99" y="2640"/>
                  <a:ext cx="74" cy="0"/>
                </a:xfrm>
                <a:prstGeom prst="line">
                  <a:avLst/>
                </a:prstGeom>
                <a:noFill/>
                <a:ln w="25400">
                  <a:solidFill>
                    <a:srgbClr val="CC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098" name="Group 20">
                <a:extLst>
                  <a:ext uri="{FF2B5EF4-FFF2-40B4-BE49-F238E27FC236}">
                    <a16:creationId xmlns:a16="http://schemas.microsoft.com/office/drawing/2014/main" id="{0EFF153E-0302-45E7-ACF1-31AECB32E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1" y="1834"/>
                <a:ext cx="74" cy="175"/>
                <a:chOff x="3631" y="2641"/>
                <a:chExt cx="74" cy="175"/>
              </a:xfrm>
            </p:grpSpPr>
            <p:sp>
              <p:nvSpPr>
                <p:cNvPr id="46102" name="Line 21">
                  <a:extLst>
                    <a:ext uri="{FF2B5EF4-FFF2-40B4-BE49-F238E27FC236}">
                      <a16:creationId xmlns:a16="http://schemas.microsoft.com/office/drawing/2014/main" id="{14014824-F259-4A81-8BD1-5C0D813992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7" y="2641"/>
                  <a:ext cx="0" cy="173"/>
                </a:xfrm>
                <a:prstGeom prst="line">
                  <a:avLst/>
                </a:prstGeom>
                <a:noFill/>
                <a:ln w="25400">
                  <a:solidFill>
                    <a:srgbClr val="CC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3" name="Line 22">
                  <a:extLst>
                    <a:ext uri="{FF2B5EF4-FFF2-40B4-BE49-F238E27FC236}">
                      <a16:creationId xmlns:a16="http://schemas.microsoft.com/office/drawing/2014/main" id="{D6C73266-F5ED-4C6D-9F89-B00F3A7525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1" y="2816"/>
                  <a:ext cx="74" cy="0"/>
                </a:xfrm>
                <a:prstGeom prst="line">
                  <a:avLst/>
                </a:prstGeom>
                <a:noFill/>
                <a:ln w="25400">
                  <a:solidFill>
                    <a:srgbClr val="CC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099" name="Group 23">
                <a:extLst>
                  <a:ext uri="{FF2B5EF4-FFF2-40B4-BE49-F238E27FC236}">
                    <a16:creationId xmlns:a16="http://schemas.microsoft.com/office/drawing/2014/main" id="{D7F176C8-EE23-4957-88D5-6AFCC1CC80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85" y="1834"/>
                <a:ext cx="74" cy="173"/>
                <a:chOff x="4520" y="2641"/>
                <a:chExt cx="74" cy="173"/>
              </a:xfrm>
            </p:grpSpPr>
            <p:sp>
              <p:nvSpPr>
                <p:cNvPr id="46100" name="Line 24">
                  <a:extLst>
                    <a:ext uri="{FF2B5EF4-FFF2-40B4-BE49-F238E27FC236}">
                      <a16:creationId xmlns:a16="http://schemas.microsoft.com/office/drawing/2014/main" id="{292BEC48-F369-453A-BC01-CE9E485A2E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9" y="2641"/>
                  <a:ext cx="0" cy="173"/>
                </a:xfrm>
                <a:prstGeom prst="line">
                  <a:avLst/>
                </a:prstGeom>
                <a:noFill/>
                <a:ln w="25400">
                  <a:solidFill>
                    <a:srgbClr val="CC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1" name="Line 25">
                  <a:extLst>
                    <a:ext uri="{FF2B5EF4-FFF2-40B4-BE49-F238E27FC236}">
                      <a16:creationId xmlns:a16="http://schemas.microsoft.com/office/drawing/2014/main" id="{D0202AB1-F0DC-4386-BC1D-F1EF8DA36D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20" y="2808"/>
                  <a:ext cx="74" cy="0"/>
                </a:xfrm>
                <a:prstGeom prst="line">
                  <a:avLst/>
                </a:prstGeom>
                <a:noFill/>
                <a:ln w="25400">
                  <a:solidFill>
                    <a:srgbClr val="CC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76826" name="Object 26">
            <a:extLst>
              <a:ext uri="{FF2B5EF4-FFF2-40B4-BE49-F238E27FC236}">
                <a16:creationId xmlns:a16="http://schemas.microsoft.com/office/drawing/2014/main" id="{8C244111-85D9-4103-9D1D-7ABC800BCCE6}"/>
              </a:ext>
            </a:extLst>
          </p:cNvPr>
          <p:cNvGraphicFramePr>
            <a:graphicFrameLocks/>
          </p:cNvGraphicFramePr>
          <p:nvPr/>
        </p:nvGraphicFramePr>
        <p:xfrm>
          <a:off x="7524750" y="5441080"/>
          <a:ext cx="21717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39392" imgH="444307" progId="Equation.3">
                  <p:embed/>
                </p:oleObj>
              </mc:Choice>
              <mc:Fallback>
                <p:oleObj r:id="rId3" imgW="939392" imgH="444307" progId="Equation.3">
                  <p:embed/>
                  <p:pic>
                    <p:nvPicPr>
                      <p:cNvPr id="76826" name="Object 26">
                        <a:extLst>
                          <a:ext uri="{FF2B5EF4-FFF2-40B4-BE49-F238E27FC236}">
                            <a16:creationId xmlns:a16="http://schemas.microsoft.com/office/drawing/2014/main" id="{8C244111-85D9-4103-9D1D-7ABC800BCC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5441080"/>
                        <a:ext cx="2171700" cy="10271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6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6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68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68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  <p:bldP spid="76805" grpId="0" uiExpand="1" build="p"/>
      <p:bldP spid="7680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2.</a:t>
            </a:r>
            <a:r>
              <a:rPr lang="zh-CN" altLang="en-US" dirty="0">
                <a:sym typeface="+mn-ea"/>
              </a:rPr>
              <a:t>最大子数组问题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问题描述：给定一个数组A，寻找A的和最大的非空连续子数组。</a:t>
            </a:r>
            <a:endParaRPr lang="en-US" altLang="zh-CN" dirty="0"/>
          </a:p>
          <a:p>
            <a:r>
              <a:rPr lang="zh-CN" altLang="en-US" dirty="0"/>
              <a:t>问题示例：</a:t>
            </a:r>
            <a:endParaRPr lang="en-US" altLang="zh-CN" dirty="0"/>
          </a:p>
          <a:p>
            <a:pPr lvl="1"/>
            <a:r>
              <a:rPr lang="zh-CN" altLang="en-US" dirty="0"/>
              <a:t>数组 A </a:t>
            </a:r>
            <a:r>
              <a:rPr lang="zh-CN" altLang="en-US" dirty="0">
                <a:sym typeface="Symbol" panose="05050102010706020507" pitchFamily="18" charset="2"/>
              </a:rPr>
              <a:t></a:t>
            </a:r>
            <a:r>
              <a:rPr lang="zh-CN" altLang="en-US" dirty="0"/>
              <a:t>[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zh-CN" altLang="en-US" dirty="0"/>
              <a:t>2, 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zh-CN" altLang="en-US" dirty="0"/>
              <a:t>3, 4, 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zh-CN" altLang="en-US" dirty="0"/>
              <a:t>1, 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zh-CN" altLang="en-US" dirty="0"/>
              <a:t>2, 1, 5, 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zh-CN" altLang="en-US" dirty="0"/>
              <a:t>3]， </a:t>
            </a:r>
            <a:endParaRPr lang="en-US" altLang="zh-CN" dirty="0"/>
          </a:p>
          <a:p>
            <a:pPr lvl="1"/>
            <a:r>
              <a:rPr lang="zh-CN" altLang="en-US" dirty="0"/>
              <a:t>最大子数组应为[4, 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zh-CN" altLang="en-US" dirty="0"/>
              <a:t>1, 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zh-CN" altLang="en-US" dirty="0"/>
              <a:t>2, 1, 5]，其和为7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73</a:t>
            </a:fld>
            <a:endParaRPr lang="en-US" altLang="zh-C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dirty="0"/>
              <a:t>74</a:t>
            </a:fld>
            <a:endParaRPr lang="en-US" altLang="zh-CN" sz="1000" dirty="0"/>
          </a:p>
        </p:txBody>
      </p:sp>
      <p:sp>
        <p:nvSpPr>
          <p:cNvPr id="101379" name="Text Box 2"/>
          <p:cNvSpPr txBox="1"/>
          <p:nvPr/>
        </p:nvSpPr>
        <p:spPr>
          <a:xfrm>
            <a:off x="2423795" y="2746375"/>
            <a:ext cx="7391400" cy="6819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lnSpc>
                <a:spcPct val="120000"/>
              </a:lnSpc>
              <a:buClr>
                <a:srgbClr val="CC00FF"/>
              </a:buClr>
              <a:buNone/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90062" y="1913255"/>
          <a:ext cx="10585177" cy="988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0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9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3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9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05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05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05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05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139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805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583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5754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29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天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1442" marR="91442" marT="45682" marB="456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价格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110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105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102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86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63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81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106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91442" marR="91442" marT="45682" marB="4568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97</a:t>
                      </a:r>
                    </a:p>
                  </a:txBody>
                  <a:tcPr marL="91442" marR="91442" marT="45682" marB="456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026" name="对象 5"/>
          <p:cNvGraphicFramePr/>
          <p:nvPr/>
        </p:nvGraphicFramePr>
        <p:xfrm>
          <a:off x="2423795" y="2901952"/>
          <a:ext cx="6435725" cy="325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31280" imgH="3253740" progId="Excel.Sheet.8">
                  <p:embed/>
                </p:oleObj>
              </mc:Choice>
              <mc:Fallback>
                <p:oleObj r:id="rId2" imgW="6431280" imgH="3253740" progId="Excel.Sheet.8">
                  <p:embed/>
                  <p:pic>
                    <p:nvPicPr>
                      <p:cNvPr id="83026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3795" y="2901952"/>
                        <a:ext cx="6435725" cy="325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圆角矩形 1"/>
          <p:cNvSpPr/>
          <p:nvPr/>
        </p:nvSpPr>
        <p:spPr>
          <a:xfrm>
            <a:off x="322989" y="617857"/>
            <a:ext cx="10752250" cy="129539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下图是股票每日价格，</a:t>
            </a:r>
            <a:r>
              <a:rPr lang="zh-CN" altLang="en-US" sz="2800" noProof="0" dirty="0">
                <a:ln>
                  <a:noFill/>
                </a:ln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你有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一次机会</a:t>
            </a:r>
            <a:r>
              <a:rPr lang="zh-CN" altLang="en-US" sz="2800" noProof="0" dirty="0">
                <a:ln>
                  <a:noFill/>
                </a:ln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：可以在任意一天买入，然后任意一天卖出，怎样才能获得最大收益？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暴力求解思想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911840" cy="4351655"/>
          </a:xfrm>
        </p:spPr>
        <p:txBody>
          <a:bodyPr/>
          <a:lstStyle/>
          <a:p>
            <a:r>
              <a:rPr lang="zh-CN" altLang="en-US" dirty="0"/>
              <a:t>尝试所有买进卖出组合</a:t>
            </a:r>
            <a:endParaRPr lang="en-US" altLang="zh-CN" dirty="0"/>
          </a:p>
          <a:p>
            <a:r>
              <a:rPr lang="zh-CN" altLang="en-US" dirty="0"/>
              <a:t>求解目的：寻找出一段日期，从起始日到终止日的价格净变值最大</a:t>
            </a:r>
            <a:endParaRPr lang="en-US" altLang="zh-CN" dirty="0"/>
          </a:p>
          <a:p>
            <a:pPr lvl="1"/>
            <a:r>
              <a:rPr lang="zh-CN" altLang="en-US" dirty="0"/>
              <a:t>可以考察每天的价格变化，问题转换为什么问题？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75</a:t>
            </a:fld>
            <a:endParaRPr lang="en-US" altLang="zh-CN"/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5087888" y="1656540"/>
          <a:ext cx="534988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3200" imgH="228600" progId="Equation.3">
                  <p:embed/>
                </p:oleObj>
              </mc:Choice>
              <mc:Fallback>
                <p:oleObj r:id="rId4" imgW="203200" imgH="228600" progId="Equation.3">
                  <p:embed/>
                  <p:pic>
                    <p:nvPicPr>
                      <p:cNvPr id="5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87888" y="1656540"/>
                        <a:ext cx="534988" cy="601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5807968" y="1690690"/>
            <a:ext cx="1080120" cy="58426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983433" y="4094186"/>
          <a:ext cx="10081116" cy="1061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1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21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5371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3178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3099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86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天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1442" marR="91442" marT="45696" marB="456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价格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91442" marR="91442" marT="45696" marB="4569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</a:t>
                      </a:r>
                    </a:p>
                  </a:txBody>
                  <a:tcPr marL="91442" marR="91442" marT="45696" marB="456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983433" y="5156686"/>
          <a:ext cx="10081116" cy="639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1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21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5371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292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3178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3099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511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变化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-16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-23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-22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1442" marR="91442" marT="45576" marB="45576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8184232" y="2997457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最大子数组问题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分治法求解思想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3936" y="1689422"/>
            <a:ext cx="10515600" cy="4351338"/>
          </a:xfrm>
        </p:spPr>
        <p:txBody>
          <a:bodyPr/>
          <a:lstStyle/>
          <a:p>
            <a:r>
              <a:rPr lang="zh-CN" altLang="en-US" dirty="0"/>
              <a:t>假定要找出子数组</a:t>
            </a:r>
            <a:r>
              <a:rPr lang="en-US" altLang="zh-CN" dirty="0"/>
              <a:t>A[low, high]</a:t>
            </a:r>
            <a:r>
              <a:rPr lang="zh-CN" altLang="en-US" dirty="0"/>
              <a:t>的最大子数组。将子数组</a:t>
            </a:r>
            <a:r>
              <a:rPr lang="zh-CN" altLang="en-US" b="1" dirty="0">
                <a:solidFill>
                  <a:srgbClr val="C00000"/>
                </a:solidFill>
              </a:rPr>
              <a:t>划分</a:t>
            </a:r>
            <a:r>
              <a:rPr lang="zh-CN" altLang="en-US" dirty="0"/>
              <a:t>为规模尽量相等的两个子数组，即找到中央位置</a:t>
            </a:r>
            <a:r>
              <a:rPr lang="en-US" altLang="zh-CN" dirty="0"/>
              <a:t>mid</a:t>
            </a:r>
            <a:r>
              <a:rPr lang="zh-CN" altLang="en-US" dirty="0"/>
              <a:t>，考虑求解两个子数组</a:t>
            </a:r>
            <a:r>
              <a:rPr lang="en-US" altLang="zh-CN" dirty="0">
                <a:sym typeface="宋体" panose="02010600030101010101" pitchFamily="2" charset="-122"/>
              </a:rPr>
              <a:t>A[low, mid]</a:t>
            </a:r>
            <a:r>
              <a:rPr lang="zh-CN" altLang="en-US" dirty="0">
                <a:sym typeface="宋体" panose="02010600030101010101" pitchFamily="2" charset="-122"/>
              </a:rPr>
              <a:t>和</a:t>
            </a:r>
            <a:r>
              <a:rPr lang="en-US" altLang="zh-CN" dirty="0">
                <a:sym typeface="宋体" panose="02010600030101010101" pitchFamily="2" charset="-122"/>
              </a:rPr>
              <a:t>A[mid+1,high]</a:t>
            </a:r>
            <a:r>
              <a:rPr lang="zh-CN" altLang="en-US" dirty="0">
                <a:sym typeface="+mn-ea"/>
              </a:rPr>
              <a:t>的最大子数组</a:t>
            </a:r>
            <a:r>
              <a:rPr lang="zh-CN" altLang="en-US" dirty="0">
                <a:sym typeface="宋体" panose="02010600030101010101" pitchFamily="2" charset="-122"/>
              </a:rPr>
              <a:t>。</a:t>
            </a:r>
            <a:endParaRPr lang="en-US" altLang="zh-CN" dirty="0">
              <a:sym typeface="宋体" panose="02010600030101010101" pitchFamily="2" charset="-122"/>
            </a:endParaRPr>
          </a:p>
          <a:p>
            <a:r>
              <a:rPr lang="zh-CN" altLang="en-US" dirty="0"/>
              <a:t>最大子数组可能的位置：</a:t>
            </a:r>
            <a:endParaRPr lang="en-US" altLang="zh-CN" dirty="0"/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完全位于子数组</a:t>
            </a:r>
            <a:r>
              <a:rPr lang="en-US" altLang="zh-CN" dirty="0">
                <a:sym typeface="宋体" panose="02010600030101010101" pitchFamily="2" charset="-122"/>
              </a:rPr>
              <a:t>A[low, mid]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完全位于子数组</a:t>
            </a:r>
            <a:r>
              <a:rPr lang="en-US" altLang="zh-CN" dirty="0">
                <a:sym typeface="宋体" panose="02010600030101010101" pitchFamily="2" charset="-122"/>
              </a:rPr>
              <a:t>A[mid+1, high]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中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跨越中点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>
              <a:spcBef>
                <a:spcPts val="750"/>
              </a:spcBef>
              <a:buClr>
                <a:srgbClr val="1E5293"/>
              </a:buClr>
            </a:pPr>
            <a:r>
              <a:rPr lang="zh-CN" altLang="en-US" sz="2800" dirty="0">
                <a:sym typeface="宋体" panose="02010600030101010101" pitchFamily="2" charset="-122"/>
              </a:rPr>
              <a:t>三种情况中最大者，为最终结果。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76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5807968" y="4509120"/>
            <a:ext cx="5256584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如何求跨越中点的最大子数组？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681990"/>
            <a:ext cx="8570168" cy="802794"/>
          </a:xfrm>
        </p:spPr>
        <p:txBody>
          <a:bodyPr/>
          <a:lstStyle/>
          <a:p>
            <a:pPr marL="0" lvl="0" algn="l">
              <a:lnSpc>
                <a:spcPct val="9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zh-CN" altLang="en-US" sz="4000" dirty="0">
                <a:solidFill>
                  <a:srgbClr val="1E5293"/>
                </a:solidFill>
                <a:sym typeface="+mn-ea"/>
              </a:rPr>
              <a:t>求取跨越中点mid的最大子数组</a:t>
            </a:r>
            <a:endParaRPr lang="zh-CN" altLang="en-US" sz="4000" dirty="0">
              <a:solidFill>
                <a:srgbClr val="1E5293"/>
              </a:solidFill>
            </a:endParaRPr>
          </a:p>
          <a:p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03311-553E-4901-A5CA-BA84E947C3E2}" type="slidenum">
              <a:rPr lang="en-US" altLang="zh-CN" smtClean="0"/>
              <a:t>77</a:t>
            </a:fld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2304CA-1506-35F5-279E-075C3963C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00" y="1700808"/>
            <a:ext cx="10297144" cy="2749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跨越中点的子数组由两个子数组A[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...mid]和A[mid+1...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]组成</a:t>
            </a:r>
            <a:r>
              <a:rPr kumimoji="0" lang="zh-CN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只需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找出形如A[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...mid]和A[mid+1...</a:t>
            </a:r>
            <a:r>
              <a:rPr kumimoji="0" lang="zh-CN" altLang="zh-CN" sz="280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的最大子数组，然后将其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合并</a:t>
            </a: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即可，可在线性时间内完成。 </a:t>
            </a:r>
            <a:endParaRPr kumimoji="0" lang="en-US" altLang="zh-CN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55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dirty="0"/>
              <a:t>78</a:t>
            </a:fld>
            <a:endParaRPr lang="en-US" altLang="zh-CN" sz="1000" dirty="0"/>
          </a:p>
        </p:txBody>
      </p:sp>
      <p:graphicFrame>
        <p:nvGraphicFramePr>
          <p:cNvPr id="3" name="表格 2"/>
          <p:cNvGraphicFramePr/>
          <p:nvPr/>
        </p:nvGraphicFramePr>
        <p:xfrm>
          <a:off x="695400" y="288790"/>
          <a:ext cx="8350895" cy="65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0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5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Find-max-crossing-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subarray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(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A,low,mid,high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)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LeftSum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=-∞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sum=0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i=mid downto low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{ sum=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sum+A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   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 sum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为包含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A[mid]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的向左连加和</a:t>
                      </a:r>
                      <a:endParaRPr lang="en-US" altLang="zh-CN" sz="2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if sum&gt;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LeftSum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LeftSum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为包含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A[mid]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的向左连加和的最大值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{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LeftSum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=sum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maxleft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}}</a:t>
                      </a:r>
                      <a:endParaRPr lang="en-US" altLang="zh-CN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RightSum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=-∞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sum=0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j=mid+1 to high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{ sum=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sum+A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[j]  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 sum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为包含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A[mid+1]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的向右连加和</a:t>
                      </a:r>
                      <a:endParaRPr lang="en-US" altLang="zh-CN" sz="2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if sum&gt;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RightSum</a:t>
                      </a:r>
                      <a:endParaRPr lang="en-US" altLang="zh-CN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{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RightSum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=sum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5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maxright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=j  }}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619050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(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maxleft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maxright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LeftSum+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RightSum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91435" marR="91435" marT="45721" marB="457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384032" y="931124"/>
            <a:ext cx="4190974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2600"/>
              </a:lnSpc>
              <a:buClrTx/>
              <a:buNone/>
            </a:pPr>
            <a:r>
              <a:rPr lang="zh-CN" altLang="en-US" sz="22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如果规模</a:t>
            </a:r>
            <a:r>
              <a:rPr lang="en-US" altLang="zh-CN" sz="22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high-low+1=n</a:t>
            </a:r>
            <a:r>
              <a:rPr lang="zh-CN" altLang="en-US" sz="22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，这个函数的时间复杂度是多少？</a:t>
            </a:r>
            <a:endParaRPr lang="en-US" altLang="zh-CN" sz="2200" dirty="0"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buClrTx/>
              <a:buNone/>
            </a:pP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9046295" y="5152324"/>
            <a:ext cx="935905" cy="5762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(n)</a:t>
            </a:r>
          </a:p>
          <a:p>
            <a:pPr marL="0" lvl="0" indent="0" eaLnBrk="1" hangingPunct="1">
              <a:buClrTx/>
              <a:buNone/>
            </a:pP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7523" name="文本框 1"/>
          <p:cNvSpPr txBox="1"/>
          <p:nvPr/>
        </p:nvSpPr>
        <p:spPr>
          <a:xfrm>
            <a:off x="6738553" y="336627"/>
            <a:ext cx="3744094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/*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找到跨越中点的最大子数组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*/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dirty="0"/>
              <a:t>79</a:t>
            </a:fld>
            <a:endParaRPr lang="en-US" altLang="zh-CN" sz="1000" dirty="0"/>
          </a:p>
        </p:txBody>
      </p:sp>
      <p:sp>
        <p:nvSpPr>
          <p:cNvPr id="108547" name="文本框 1"/>
          <p:cNvSpPr txBox="1"/>
          <p:nvPr/>
        </p:nvSpPr>
        <p:spPr>
          <a:xfrm>
            <a:off x="908050" y="332656"/>
            <a:ext cx="77025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/*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求解最大子数组问题的分治法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*/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1050985" y="979721"/>
          <a:ext cx="10152870" cy="503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56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Find-maximum-subarray</a:t>
                      </a: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(A,low,high)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56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if high==low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56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      return(low,high,A[low])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56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 mid=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</a:t>
                      </a: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(low+high)/2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</a:t>
                      </a:r>
                      <a:endParaRPr lang="en-US" altLang="zh-C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209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{ (left-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low,left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high,left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-sum)=</a:t>
                      </a: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Find-maximum-subarray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(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A,low,mid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)</a:t>
                      </a:r>
                      <a:endParaRPr lang="en-US" altLang="zh-C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     (right-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low,right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-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high,right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-sum)=</a:t>
                      </a: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Find-maximum-subarray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(A,mid+1,high)</a:t>
                      </a:r>
                      <a:endParaRPr lang="en-US" altLang="zh-C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(cross-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low,cross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-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high,cross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-sum)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Find-max-crossing-subarray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(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A,low,mid,high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)</a:t>
                      </a:r>
                      <a:endParaRPr lang="en-US" altLang="zh-C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753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if </a:t>
                      </a: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left-sum≥right-sum and left-sum≥cross-sum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56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                    return (left-low,left-high,left-sum)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9118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else if 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right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-sum≥left-sum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and 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right-sum≥cross-sum</a:t>
                      </a:r>
                      <a:endParaRPr lang="en-US" altLang="zh-CN" sz="1800" dirty="0"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856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                    return (right-low,right-high,right-sum)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9753">
                <a:tc>
                  <a:txBody>
                    <a:bodyPr/>
                    <a:lstStyle/>
                    <a:p>
                      <a:pPr indent="0">
                        <a:buFont typeface="+mj-lt"/>
                        <a:buNone/>
                      </a:pPr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else return (cross-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low,cross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-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high,cross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-sum) }</a:t>
                      </a:r>
                      <a:endParaRPr lang="en-US" altLang="zh-C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9" marR="91439" marT="45766" marB="4576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8590" name="线形标注 2 5"/>
          <p:cNvSpPr/>
          <p:nvPr/>
        </p:nvSpPr>
        <p:spPr>
          <a:xfrm>
            <a:off x="6451585" y="1988250"/>
            <a:ext cx="2520280" cy="360362"/>
          </a:xfrm>
          <a:prstGeom prst="borderCallout2">
            <a:avLst>
              <a:gd name="adj1" fmla="val 18750"/>
              <a:gd name="adj2" fmla="val -8333"/>
              <a:gd name="adj3" fmla="val 46944"/>
              <a:gd name="adj4" fmla="val -17911"/>
              <a:gd name="adj5" fmla="val 126620"/>
              <a:gd name="adj6" fmla="val -30392"/>
            </a:avLst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+mn-ea"/>
              </a:rPr>
              <a:t>降低规模，递归调用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None/>
            </a:pP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8591" name="线形标注 2 7"/>
          <p:cNvSpPr/>
          <p:nvPr/>
        </p:nvSpPr>
        <p:spPr>
          <a:xfrm>
            <a:off x="4075321" y="979721"/>
            <a:ext cx="792088" cy="717723"/>
          </a:xfrm>
          <a:prstGeom prst="borderCallout2">
            <a:avLst>
              <a:gd name="adj1" fmla="val 18750"/>
              <a:gd name="adj2" fmla="val -8333"/>
              <a:gd name="adj3" fmla="val 46944"/>
              <a:gd name="adj4" fmla="val -34420"/>
              <a:gd name="adj5" fmla="val 82689"/>
              <a:gd name="adj6" fmla="val -52720"/>
            </a:avLst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None/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递归出口</a:t>
            </a:r>
          </a:p>
        </p:txBody>
      </p:sp>
      <p:graphicFrame>
        <p:nvGraphicFramePr>
          <p:cNvPr id="3074" name="对象 3" descr="image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862292" y="946211"/>
          <a:ext cx="4047546" cy="979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7853600" imgH="11582400" progId="Equation.3">
                  <p:embed/>
                </p:oleObj>
              </mc:Choice>
              <mc:Fallback>
                <p:oleObj r:id="rId2" imgW="47853600" imgH="11582400" progId="Equation.3">
                  <p:embed/>
                  <p:pic>
                    <p:nvPicPr>
                      <p:cNvPr id="3074" name="对象 3" descr="image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62292" y="946211"/>
                        <a:ext cx="4047546" cy="979491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032646" y="6314400"/>
            <a:ext cx="2700000" cy="31680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dirty="0"/>
              <a:t>80</a:t>
            </a:fld>
            <a:endParaRPr lang="en-US" altLang="zh-CN" sz="1000" dirty="0"/>
          </a:p>
        </p:txBody>
      </p:sp>
      <p:sp>
        <p:nvSpPr>
          <p:cNvPr id="109571" name="Rectangle 3"/>
          <p:cNvSpPr>
            <a:spLocks noGrp="1"/>
          </p:cNvSpPr>
          <p:nvPr>
            <p:ph type="title" idx="4294967295"/>
          </p:nvPr>
        </p:nvSpPr>
        <p:spPr>
          <a:xfrm>
            <a:off x="457943" y="475934"/>
            <a:ext cx="4591050" cy="7620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4400" dirty="0"/>
              <a:t>时间复杂度分析</a:t>
            </a:r>
          </a:p>
        </p:txBody>
      </p:sp>
      <p:graphicFrame>
        <p:nvGraphicFramePr>
          <p:cNvPr id="109572" name="Object 8"/>
          <p:cNvGraphicFramePr>
            <a:graphicFrameLocks noGrp="1" noChangeAspect="1"/>
          </p:cNvGraphicFramePr>
          <p:nvPr/>
        </p:nvGraphicFramePr>
        <p:xfrm>
          <a:off x="1553715" y="1772816"/>
          <a:ext cx="6990557" cy="374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57500" imgH="1689100" progId="Equation.3">
                  <p:embed/>
                </p:oleObj>
              </mc:Choice>
              <mc:Fallback>
                <p:oleObj r:id="rId2" imgW="2857500" imgH="1689100" progId="Equation.3">
                  <p:embed/>
                  <p:pic>
                    <p:nvPicPr>
                      <p:cNvPr id="109572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3715" y="1772816"/>
                        <a:ext cx="6990557" cy="374441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15880" y="649077"/>
          <a:ext cx="33718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7853600" imgH="11582400" progId="Equation.3">
                  <p:embed/>
                </p:oleObj>
              </mc:Choice>
              <mc:Fallback>
                <p:oleObj r:id="rId4" imgW="47853600" imgH="11582400" progId="Equation.3">
                  <p:embed/>
                  <p:pic>
                    <p:nvPicPr>
                      <p:cNvPr id="109573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15880" y="649077"/>
                        <a:ext cx="3371850" cy="81597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021F18-285E-4444-AFFC-BDBEE8C67D6D}" type="slidenum">
              <a:rPr lang="en-US" altLang="zh-CN" smtClean="0"/>
              <a:t>81</a:t>
            </a:fld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最大子数组问题的求解方法比较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938644" y="1712214"/>
            <a:ext cx="8229600" cy="2508874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 暴力法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 分治法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0" dirty="0">
                <a:latin typeface="Verdana" panose="020B0604030504040204" pitchFamily="34" charset="0"/>
              </a:rPr>
              <a:t>存在线性阶算法：</a:t>
            </a:r>
          </a:p>
          <a:p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graphicFrame>
        <p:nvGraphicFramePr>
          <p:cNvPr id="5" name="Object 2" descr="image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35760" y="1821868"/>
          <a:ext cx="10699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6400" imgH="228600" progId="Equation.3">
                  <p:embed/>
                </p:oleObj>
              </mc:Choice>
              <mc:Fallback>
                <p:oleObj r:id="rId3" imgW="406400" imgH="228600" progId="Equation.3">
                  <p:embed/>
                  <p:pic>
                    <p:nvPicPr>
                      <p:cNvPr id="5" name="Object 2" descr="image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35760" y="1821868"/>
                        <a:ext cx="1069975" cy="603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 descr="image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74025" y="2597158"/>
          <a:ext cx="16049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09600" imgH="203200" progId="Equation.3">
                  <p:embed/>
                </p:oleObj>
              </mc:Choice>
              <mc:Fallback>
                <p:oleObj r:id="rId5" imgW="609600" imgH="203200" progId="Equation.3">
                  <p:embed/>
                  <p:pic>
                    <p:nvPicPr>
                      <p:cNvPr id="6" name="Object 3" descr="image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74025" y="2597158"/>
                        <a:ext cx="1604963" cy="536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 descr="image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75700" y="3305773"/>
          <a:ext cx="9032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42900" imgH="203200" progId="Equation.3">
                  <p:embed/>
                </p:oleObj>
              </mc:Choice>
              <mc:Fallback>
                <p:oleObj r:id="rId7" imgW="342900" imgH="203200" progId="Equation.3">
                  <p:embed/>
                  <p:pic>
                    <p:nvPicPr>
                      <p:cNvPr id="7" name="Object 4" descr="image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75700" y="3305773"/>
                        <a:ext cx="903288" cy="536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圆角矩形标注 8"/>
          <p:cNvSpPr/>
          <p:nvPr/>
        </p:nvSpPr>
        <p:spPr>
          <a:xfrm>
            <a:off x="2351584" y="4433491"/>
            <a:ext cx="7716549" cy="740982"/>
          </a:xfrm>
          <a:prstGeom prst="wedgeRoundRectCallout">
            <a:avLst>
              <a:gd name="adj1" fmla="val -41774"/>
              <a:gd name="adj2" fmla="val -8752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</a:rPr>
              <a:t>Kadane算法</a:t>
            </a:r>
            <a:r>
              <a:rPr lang="zh-CN" altLang="en-US" sz="28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：求以每个元素结尾的最大子数组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544" y="2636912"/>
            <a:ext cx="7272808" cy="1325563"/>
          </a:xfrm>
        </p:spPr>
        <p:txBody>
          <a:bodyPr>
            <a:normAutofit/>
          </a:bodyPr>
          <a:lstStyle/>
          <a:p>
            <a:r>
              <a:rPr lang="zh-CN" altLang="en-US" sz="6000" dirty="0"/>
              <a:t>结 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021F18-285E-4444-AFFC-BDBEE8C67D6D}" type="slidenum">
              <a:rPr lang="en-US" altLang="zh-CN" smtClean="0"/>
              <a:t>82</a:t>
            </a:fld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I1OTRmMmRmMThlNTVlNzZjNzI2ZDllNGRkNTU4M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算法分析模板073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算法分析新模板2023</Template>
  <TotalTime>1120</TotalTime>
  <Words>7742</Words>
  <Application>Microsoft Office PowerPoint</Application>
  <PresentationFormat>宽屏</PresentationFormat>
  <Paragraphs>1060</Paragraphs>
  <Slides>82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82</vt:i4>
      </vt:variant>
    </vt:vector>
  </HeadingPairs>
  <TitlesOfParts>
    <vt:vector size="99" baseType="lpstr">
      <vt:lpstr>等线</vt:lpstr>
      <vt:lpstr>楷体_GB2312</vt:lpstr>
      <vt:lpstr>宋体</vt:lpstr>
      <vt:lpstr>幼圆</vt:lpstr>
      <vt:lpstr>Arial</vt:lpstr>
      <vt:lpstr>Arial Black</vt:lpstr>
      <vt:lpstr>Calibri</vt:lpstr>
      <vt:lpstr>Symbol</vt:lpstr>
      <vt:lpstr>Tahoma</vt:lpstr>
      <vt:lpstr>Times New Roman</vt:lpstr>
      <vt:lpstr>Verdana</vt:lpstr>
      <vt:lpstr>Wingdings</vt:lpstr>
      <vt:lpstr>算法分析模板0731</vt:lpstr>
      <vt:lpstr>公式</vt:lpstr>
      <vt:lpstr>Equation.3</vt:lpstr>
      <vt:lpstr>Equation</vt:lpstr>
      <vt:lpstr>Microsoft Excel 97-2003 Worksheet</vt:lpstr>
      <vt:lpstr>第四章 分治法</vt:lpstr>
      <vt:lpstr>目录</vt:lpstr>
      <vt:lpstr>4.1 一般方法</vt:lpstr>
      <vt:lpstr>分治法适用的问题</vt:lpstr>
      <vt:lpstr>分治法的求解思想</vt:lpstr>
      <vt:lpstr>分治策略DANDC的抽象化控制</vt:lpstr>
      <vt:lpstr>分治策略DANDC的计算时间</vt:lpstr>
      <vt:lpstr>子问题的个数K?</vt:lpstr>
      <vt:lpstr>4.2 二分查找</vt:lpstr>
      <vt:lpstr>问题描述</vt:lpstr>
      <vt:lpstr>分治法建模</vt:lpstr>
      <vt:lpstr>算法描述</vt:lpstr>
      <vt:lpstr>算法正确性证明</vt:lpstr>
      <vt:lpstr>算法实例</vt:lpstr>
      <vt:lpstr>算法的计算时间分析</vt:lpstr>
      <vt:lpstr>二元比较树</vt:lpstr>
      <vt:lpstr>二元比较树分析</vt:lpstr>
      <vt:lpstr>二元比较树分析</vt:lpstr>
      <vt:lpstr>算法BINSRCH的时间复杂度分析</vt:lpstr>
      <vt:lpstr>成功查找平均情况下的时间复杂度？</vt:lpstr>
      <vt:lpstr>算法BINSRCH的时间复杂度和空间复杂度</vt:lpstr>
      <vt:lpstr>算法结束后的思考</vt:lpstr>
      <vt:lpstr>算法BINSRCH的变型1</vt:lpstr>
      <vt:lpstr>算法BINSRCH的变型2</vt:lpstr>
      <vt:lpstr>以比较为基础查找的时间下界</vt:lpstr>
      <vt:lpstr>PowerPoint 演示文稿</vt:lpstr>
      <vt:lpstr>以比较为基础查找的时间下界</vt:lpstr>
      <vt:lpstr>思考题</vt:lpstr>
      <vt:lpstr>4.3 归并排序</vt:lpstr>
      <vt:lpstr>问题描述及一般方法思想</vt:lpstr>
      <vt:lpstr>分治策略设计归并排序算法</vt:lpstr>
      <vt:lpstr>MERGESORT算法描述</vt:lpstr>
      <vt:lpstr>MERGE算法思想</vt:lpstr>
      <vt:lpstr>MERGE算法描述</vt:lpstr>
      <vt:lpstr>算法实例</vt:lpstr>
      <vt:lpstr>归并排序的计算时间</vt:lpstr>
      <vt:lpstr>归并排序算法的优化</vt:lpstr>
      <vt:lpstr>分治策略的排序——快速排序</vt:lpstr>
      <vt:lpstr>PowerPoint 演示文稿</vt:lpstr>
      <vt:lpstr>以比较为基础排序的时间下界</vt:lpstr>
      <vt:lpstr>PowerPoint 演示文稿</vt:lpstr>
      <vt:lpstr>证明</vt:lpstr>
      <vt:lpstr>4.4  斯特拉森矩阵乘法</vt:lpstr>
      <vt:lpstr>矩阵相乘问题</vt:lpstr>
      <vt:lpstr>分治法求矩阵相乘问题</vt:lpstr>
      <vt:lpstr>斯特拉森矩阵乘法思想</vt:lpstr>
      <vt:lpstr>斯特拉森矩阵乘法时间复杂度</vt:lpstr>
      <vt:lpstr>PowerPoint 演示文稿</vt:lpstr>
      <vt:lpstr>小结</vt:lpstr>
      <vt:lpstr>4.5 二维极大点问题</vt:lpstr>
      <vt:lpstr>问题描述</vt:lpstr>
      <vt:lpstr>分治法设计思想</vt:lpstr>
      <vt:lpstr>问题分析</vt:lpstr>
      <vt:lpstr>分治法描述：求二维极大点问题</vt:lpstr>
      <vt:lpstr>PowerPoint 演示文稿</vt:lpstr>
      <vt:lpstr>时间复杂度</vt:lpstr>
      <vt:lpstr>4.6 分治法的优化</vt:lpstr>
      <vt:lpstr>效率低的原因</vt:lpstr>
      <vt:lpstr>优化策略</vt:lpstr>
      <vt:lpstr>4.7 主定理</vt:lpstr>
      <vt:lpstr>什么是主定理</vt:lpstr>
      <vt:lpstr>理解主定理</vt:lpstr>
      <vt:lpstr>分治法的效率分析</vt:lpstr>
      <vt:lpstr>4.8 小结</vt:lpstr>
      <vt:lpstr>4.8 小结</vt:lpstr>
      <vt:lpstr>4.8 小结</vt:lpstr>
      <vt:lpstr>本 章 结 束</vt:lpstr>
      <vt:lpstr>第四章 分治法—补充内容</vt:lpstr>
      <vt:lpstr>练习1. 分治策略的检索——找最大/小元素</vt:lpstr>
      <vt:lpstr>PowerPoint 演示文稿</vt:lpstr>
      <vt:lpstr>PowerPoint 演示文稿</vt:lpstr>
      <vt:lpstr>PowerPoint 演示文稿</vt:lpstr>
      <vt:lpstr>练习2.最大子数组问题</vt:lpstr>
      <vt:lpstr>PowerPoint 演示文稿</vt:lpstr>
      <vt:lpstr>暴力求解思想</vt:lpstr>
      <vt:lpstr>分治法求解思想</vt:lpstr>
      <vt:lpstr>PowerPoint 演示文稿</vt:lpstr>
      <vt:lpstr>PowerPoint 演示文稿</vt:lpstr>
      <vt:lpstr>PowerPoint 演示文稿</vt:lpstr>
      <vt:lpstr>时间复杂度分析</vt:lpstr>
      <vt:lpstr>最大子数组问题的求解方法比较</vt:lpstr>
      <vt:lpstr>结 束</vt:lpstr>
    </vt:vector>
  </TitlesOfParts>
  <Company>南京理工大学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分治法</dc:title>
  <dc:creator>龚文杰</dc:creator>
  <cp:lastModifiedBy>a</cp:lastModifiedBy>
  <cp:revision>1506</cp:revision>
  <dcterms:created xsi:type="dcterms:W3CDTF">2010-09-21T07:15:00Z</dcterms:created>
  <dcterms:modified xsi:type="dcterms:W3CDTF">2025-03-04T05:03:27Z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5E2FCE2E29324AB597429BB7E0D52A75_12</vt:lpwstr>
  </property>
  <property fmtid="{D5CDD505-2E9C-101B-9397-08002B2CF9AE}" pid="3" name="KSOProductBuildVer">
    <vt:lpwstr>2052-12.1.0.15990</vt:lpwstr>
  </property>
</Properties>
</file>