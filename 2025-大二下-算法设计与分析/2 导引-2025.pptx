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6" r:id="rId1"/>
  </p:sldMasterIdLst>
  <p:notesMasterIdLst>
    <p:notesMasterId r:id="rId61"/>
  </p:notesMasterIdLst>
  <p:sldIdLst>
    <p:sldId id="362" r:id="rId2"/>
    <p:sldId id="257" r:id="rId3"/>
    <p:sldId id="258" r:id="rId4"/>
    <p:sldId id="259" r:id="rId5"/>
    <p:sldId id="592" r:id="rId6"/>
    <p:sldId id="313" r:id="rId7"/>
    <p:sldId id="330" r:id="rId8"/>
    <p:sldId id="261" r:id="rId9"/>
    <p:sldId id="262" r:id="rId10"/>
    <p:sldId id="263" r:id="rId11"/>
    <p:sldId id="300" r:id="rId12"/>
    <p:sldId id="558" r:id="rId13"/>
    <p:sldId id="593" r:id="rId14"/>
    <p:sldId id="302" r:id="rId15"/>
    <p:sldId id="303" r:id="rId16"/>
    <p:sldId id="305" r:id="rId17"/>
    <p:sldId id="264" r:id="rId18"/>
    <p:sldId id="265" r:id="rId19"/>
    <p:sldId id="594" r:id="rId20"/>
    <p:sldId id="595" r:id="rId21"/>
    <p:sldId id="596" r:id="rId22"/>
    <p:sldId id="495" r:id="rId23"/>
    <p:sldId id="570" r:id="rId24"/>
    <p:sldId id="363" r:id="rId25"/>
    <p:sldId id="306" r:id="rId26"/>
    <p:sldId id="278" r:id="rId27"/>
    <p:sldId id="486" r:id="rId28"/>
    <p:sldId id="597" r:id="rId29"/>
    <p:sldId id="598" r:id="rId30"/>
    <p:sldId id="543" r:id="rId31"/>
    <p:sldId id="599" r:id="rId32"/>
    <p:sldId id="366" r:id="rId33"/>
    <p:sldId id="573" r:id="rId34"/>
    <p:sldId id="572" r:id="rId35"/>
    <p:sldId id="272" r:id="rId36"/>
    <p:sldId id="500" r:id="rId37"/>
    <p:sldId id="574" r:id="rId38"/>
    <p:sldId id="582" r:id="rId39"/>
    <p:sldId id="581" r:id="rId40"/>
    <p:sldId id="583" r:id="rId41"/>
    <p:sldId id="273" r:id="rId42"/>
    <p:sldId id="274" r:id="rId43"/>
    <p:sldId id="365" r:id="rId44"/>
    <p:sldId id="276" r:id="rId45"/>
    <p:sldId id="286" r:id="rId46"/>
    <p:sldId id="277" r:id="rId47"/>
    <p:sldId id="346" r:id="rId48"/>
    <p:sldId id="280" r:id="rId49"/>
    <p:sldId id="511" r:id="rId50"/>
    <p:sldId id="342" r:id="rId51"/>
    <p:sldId id="348" r:id="rId52"/>
    <p:sldId id="349" r:id="rId53"/>
    <p:sldId id="350" r:id="rId54"/>
    <p:sldId id="352" r:id="rId55"/>
    <p:sldId id="353" r:id="rId56"/>
    <p:sldId id="367" r:id="rId57"/>
    <p:sldId id="535" r:id="rId58"/>
    <p:sldId id="368" r:id="rId59"/>
    <p:sldId id="600" r:id="rId6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FF33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08" autoAdjust="0"/>
    <p:restoredTop sz="79349" autoAdjust="0"/>
  </p:normalViewPr>
  <p:slideViewPr>
    <p:cSldViewPr>
      <p:cViewPr varScale="1">
        <p:scale>
          <a:sx n="92" d="100"/>
          <a:sy n="92" d="100"/>
        </p:scale>
        <p:origin x="1176" y="8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charset="-122"/>
              </a:defRPr>
            </a:lvl1pPr>
          </a:lstStyle>
          <a:p>
            <a:pPr>
              <a:defRPr/>
            </a:pPr>
            <a:fld id="{17879CBA-C0A0-49AF-BDCD-A0A484D87473}" type="datetimeFigureOut">
              <a:rPr lang="zh-CN" altLang="en-US"/>
              <a:pPr>
                <a:defRPr/>
              </a:pPr>
              <a:t>2025/2/25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charset="-122"/>
              </a:defRPr>
            </a:lvl1pPr>
          </a:lstStyle>
          <a:p>
            <a:pPr>
              <a:defRPr/>
            </a:pPr>
            <a:fld id="{263615C9-11BB-4C07-948B-437411D67D61}" type="slidenum">
              <a:rPr lang="zh-CN" altLang="en-US"/>
              <a:pPr>
                <a:defRPr/>
              </a:pPr>
              <a:t>‹#›</a:t>
            </a:fld>
            <a:endParaRPr lang="zh-CN" altLang="en-US"/>
          </a:p>
        </p:txBody>
      </p:sp>
    </p:spTree>
    <p:extLst>
      <p:ext uri="{BB962C8B-B14F-4D97-AF65-F5344CB8AC3E}">
        <p14:creationId xmlns:p14="http://schemas.microsoft.com/office/powerpoint/2010/main" val="39302029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42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fld id="{9ADA87D9-F751-41BB-A9E5-612D8B1BC416}" type="slidenum">
              <a:rPr lang="zh-CN" altLang="en-US" sz="1200" smtClean="0"/>
              <a:pPr eaLnBrk="1" hangingPunct="1"/>
              <a:t>9</a:t>
            </a:fld>
            <a:endParaRPr lang="zh-CN" altLang="en-US" sz="1200"/>
          </a:p>
        </p:txBody>
      </p:sp>
    </p:spTree>
    <p:extLst>
      <p:ext uri="{BB962C8B-B14F-4D97-AF65-F5344CB8AC3E}">
        <p14:creationId xmlns:p14="http://schemas.microsoft.com/office/powerpoint/2010/main" val="3044365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评价指标，辩证法看待问题</a:t>
            </a:r>
          </a:p>
        </p:txBody>
      </p:sp>
      <p:sp>
        <p:nvSpPr>
          <p:cNvPr id="4" name="灯片编号占位符 3"/>
          <p:cNvSpPr>
            <a:spLocks noGrp="1"/>
          </p:cNvSpPr>
          <p:nvPr>
            <p:ph type="sldNum" sz="quarter" idx="5"/>
          </p:nvPr>
        </p:nvSpPr>
        <p:spPr/>
        <p:txBody>
          <a:bodyPr/>
          <a:lstStyle/>
          <a:p>
            <a:pPr>
              <a:defRPr/>
            </a:pPr>
            <a:fld id="{263615C9-11BB-4C07-948B-437411D67D61}" type="slidenum">
              <a:rPr lang="zh-CN" altLang="en-US" smtClean="0"/>
              <a:pPr>
                <a:defRPr/>
              </a:pPr>
              <a:t>20</a:t>
            </a:fld>
            <a:endParaRPr lang="zh-CN" altLang="en-US"/>
          </a:p>
        </p:txBody>
      </p:sp>
    </p:spTree>
    <p:extLst>
      <p:ext uri="{BB962C8B-B14F-4D97-AF65-F5344CB8AC3E}">
        <p14:creationId xmlns:p14="http://schemas.microsoft.com/office/powerpoint/2010/main" val="1683448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xmlns="" id="{A70C9E4C-4265-41AD-B18E-67CAEAE68CF2}"/>
              </a:ext>
            </a:extLst>
          </p:cNvPr>
          <p:cNvSpPr>
            <a:spLocks noGrp="1" noRot="1" noChangeAspect="1" noChangeArrowheads="1" noTextEdit="1"/>
          </p:cNvSpPr>
          <p:nvPr>
            <p:ph type="sldImg" idx="4294967295"/>
          </p:nvPr>
        </p:nvSpPr>
        <p:spPr>
          <a:ln/>
        </p:spPr>
      </p:sp>
      <p:sp>
        <p:nvSpPr>
          <p:cNvPr id="52227" name="Rectangle 3">
            <a:extLst>
              <a:ext uri="{FF2B5EF4-FFF2-40B4-BE49-F238E27FC236}">
                <a16:creationId xmlns:a16="http://schemas.microsoft.com/office/drawing/2014/main" xmlns="" id="{CF228625-8AD4-41A9-968E-0DC3E511AA81}"/>
              </a:ext>
            </a:extLst>
          </p:cNvPr>
          <p:cNvSpPr>
            <a:spLocks noGrp="1" noChangeArrowheads="1"/>
          </p:cNvSpPr>
          <p:nvPr>
            <p:ph type="body" idx="4294967295"/>
          </p:nvPr>
        </p:nvSpPr>
        <p:spPr/>
        <p:txBody>
          <a:bodyPr>
            <a:prstTxWarp prst="textNoShape">
              <a:avLst/>
            </a:prstTxWarp>
          </a:bodyPr>
          <a:lstStyle/>
          <a:p>
            <a:r>
              <a:rPr lang="zh-CN" altLang="en-US"/>
              <a:t>比如冒泡排序</a:t>
            </a:r>
          </a:p>
        </p:txBody>
      </p:sp>
    </p:spTree>
    <p:extLst>
      <p:ext uri="{BB962C8B-B14F-4D97-AF65-F5344CB8AC3E}">
        <p14:creationId xmlns:p14="http://schemas.microsoft.com/office/powerpoint/2010/main" val="3044311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研究随</a:t>
            </a:r>
            <a:r>
              <a:rPr lang="en-US" altLang="zh-CN" dirty="0"/>
              <a:t>n</a:t>
            </a:r>
            <a:r>
              <a:rPr lang="zh-CN" altLang="en-US" dirty="0"/>
              <a:t>的变化趋势。</a:t>
            </a:r>
          </a:p>
        </p:txBody>
      </p:sp>
      <p:sp>
        <p:nvSpPr>
          <p:cNvPr id="4" name="灯片编号占位符 3"/>
          <p:cNvSpPr>
            <a:spLocks noGrp="1"/>
          </p:cNvSpPr>
          <p:nvPr>
            <p:ph type="sldNum" sz="quarter" idx="5"/>
          </p:nvPr>
        </p:nvSpPr>
        <p:spPr/>
        <p:txBody>
          <a:bodyPr/>
          <a:lstStyle/>
          <a:p>
            <a:pPr>
              <a:defRPr/>
            </a:pPr>
            <a:fld id="{263615C9-11BB-4C07-948B-437411D67D61}" type="slidenum">
              <a:rPr lang="zh-CN" altLang="en-US" smtClean="0"/>
              <a:pPr>
                <a:defRPr/>
              </a:pPr>
              <a:t>27</a:t>
            </a:fld>
            <a:endParaRPr lang="zh-CN" altLang="en-US"/>
          </a:p>
        </p:txBody>
      </p:sp>
    </p:spTree>
    <p:extLst>
      <p:ext uri="{BB962C8B-B14F-4D97-AF65-F5344CB8AC3E}">
        <p14:creationId xmlns:p14="http://schemas.microsoft.com/office/powerpoint/2010/main" val="4139722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全球领先的超级计算机每秒亿亿次操作</a:t>
            </a:r>
          </a:p>
          <a:p>
            <a:endParaRPr lang="zh-CN" altLang="en-US" dirty="0"/>
          </a:p>
        </p:txBody>
      </p:sp>
      <p:sp>
        <p:nvSpPr>
          <p:cNvPr id="4" name="灯片编号占位符 3"/>
          <p:cNvSpPr>
            <a:spLocks noGrp="1"/>
          </p:cNvSpPr>
          <p:nvPr>
            <p:ph type="sldNum" sz="quarter" idx="5"/>
          </p:nvPr>
        </p:nvSpPr>
        <p:spPr/>
        <p:txBody>
          <a:bodyPr/>
          <a:lstStyle/>
          <a:p>
            <a:pPr>
              <a:defRPr/>
            </a:pPr>
            <a:fld id="{263615C9-11BB-4C07-948B-437411D67D61}" type="slidenum">
              <a:rPr lang="zh-CN" altLang="en-US" smtClean="0"/>
              <a:pPr>
                <a:defRPr/>
              </a:pPr>
              <a:t>30</a:t>
            </a:fld>
            <a:endParaRPr lang="zh-CN" altLang="en-US"/>
          </a:p>
        </p:txBody>
      </p:sp>
    </p:spTree>
    <p:extLst>
      <p:ext uri="{BB962C8B-B14F-4D97-AF65-F5344CB8AC3E}">
        <p14:creationId xmlns:p14="http://schemas.microsoft.com/office/powerpoint/2010/main" val="664517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63615C9-11BB-4C07-948B-437411D67D61}" type="slidenum">
              <a:rPr lang="zh-CN" altLang="en-US" smtClean="0"/>
              <a:pPr>
                <a:defRPr/>
              </a:pPr>
              <a:t>37</a:t>
            </a:fld>
            <a:endParaRPr lang="zh-CN" altLang="en-US"/>
          </a:p>
        </p:txBody>
      </p:sp>
    </p:spTree>
    <p:extLst>
      <p:ext uri="{BB962C8B-B14F-4D97-AF65-F5344CB8AC3E}">
        <p14:creationId xmlns:p14="http://schemas.microsoft.com/office/powerpoint/2010/main" val="1555529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多个代码段，独立分析各自的复杂度，与合在一起进行整体分析，两者等效；</a:t>
            </a:r>
          </a:p>
        </p:txBody>
      </p:sp>
      <p:sp>
        <p:nvSpPr>
          <p:cNvPr id="4" name="灯片编号占位符 3"/>
          <p:cNvSpPr>
            <a:spLocks noGrp="1"/>
          </p:cNvSpPr>
          <p:nvPr>
            <p:ph type="sldNum" sz="quarter" idx="5"/>
          </p:nvPr>
        </p:nvSpPr>
        <p:spPr/>
        <p:txBody>
          <a:bodyPr/>
          <a:lstStyle/>
          <a:p>
            <a:pPr>
              <a:defRPr/>
            </a:pPr>
            <a:fld id="{263615C9-11BB-4C07-948B-437411D67D61}" type="slidenum">
              <a:rPr lang="zh-CN" altLang="en-US" smtClean="0"/>
              <a:pPr>
                <a:defRPr/>
              </a:pPr>
              <a:t>38</a:t>
            </a:fld>
            <a:endParaRPr lang="zh-CN" altLang="en-US"/>
          </a:p>
        </p:txBody>
      </p:sp>
    </p:spTree>
    <p:extLst>
      <p:ext uri="{BB962C8B-B14F-4D97-AF65-F5344CB8AC3E}">
        <p14:creationId xmlns:p14="http://schemas.microsoft.com/office/powerpoint/2010/main" val="3803128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63615C9-11BB-4C07-948B-437411D67D61}" type="slidenum">
              <a:rPr lang="zh-CN" altLang="en-US" smtClean="0"/>
              <a:pPr>
                <a:defRPr/>
              </a:pPr>
              <a:t>39</a:t>
            </a:fld>
            <a:endParaRPr lang="zh-CN" altLang="en-US"/>
          </a:p>
        </p:txBody>
      </p:sp>
    </p:spTree>
    <p:extLst>
      <p:ext uri="{BB962C8B-B14F-4D97-AF65-F5344CB8AC3E}">
        <p14:creationId xmlns:p14="http://schemas.microsoft.com/office/powerpoint/2010/main" val="2028359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两个程序段：逻辑上是乘法关系</a:t>
            </a:r>
          </a:p>
        </p:txBody>
      </p:sp>
      <p:sp>
        <p:nvSpPr>
          <p:cNvPr id="4" name="灯片编号占位符 3"/>
          <p:cNvSpPr>
            <a:spLocks noGrp="1"/>
          </p:cNvSpPr>
          <p:nvPr>
            <p:ph type="sldNum" sz="quarter" idx="5"/>
          </p:nvPr>
        </p:nvSpPr>
        <p:spPr/>
        <p:txBody>
          <a:bodyPr/>
          <a:lstStyle/>
          <a:p>
            <a:pPr>
              <a:defRPr/>
            </a:pPr>
            <a:fld id="{263615C9-11BB-4C07-948B-437411D67D61}" type="slidenum">
              <a:rPr lang="zh-CN" altLang="en-US" smtClean="0"/>
              <a:pPr>
                <a:defRPr/>
              </a:pPr>
              <a:t>40</a:t>
            </a:fld>
            <a:endParaRPr lang="zh-CN" altLang="en-US"/>
          </a:p>
        </p:txBody>
      </p:sp>
    </p:spTree>
    <p:extLst>
      <p:ext uri="{BB962C8B-B14F-4D97-AF65-F5344CB8AC3E}">
        <p14:creationId xmlns:p14="http://schemas.microsoft.com/office/powerpoint/2010/main" val="2257342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性质</a:t>
            </a:r>
            <a:r>
              <a:rPr lang="en-US" altLang="zh-CN" dirty="0"/>
              <a:t>1</a:t>
            </a:r>
            <a:r>
              <a:rPr lang="zh-CN" altLang="en-US" dirty="0"/>
              <a:t>的应用</a:t>
            </a:r>
          </a:p>
        </p:txBody>
      </p:sp>
      <p:sp>
        <p:nvSpPr>
          <p:cNvPr id="4" name="灯片编号占位符 3"/>
          <p:cNvSpPr>
            <a:spLocks noGrp="1"/>
          </p:cNvSpPr>
          <p:nvPr>
            <p:ph type="sldNum" sz="quarter" idx="5"/>
          </p:nvPr>
        </p:nvSpPr>
        <p:spPr/>
        <p:txBody>
          <a:bodyPr/>
          <a:lstStyle/>
          <a:p>
            <a:pPr>
              <a:defRPr/>
            </a:pPr>
            <a:fld id="{263615C9-11BB-4C07-948B-437411D67D61}" type="slidenum">
              <a:rPr lang="zh-CN" altLang="en-US" smtClean="0"/>
              <a:pPr>
                <a:defRPr/>
              </a:pPr>
              <a:t>41</a:t>
            </a:fld>
            <a:endParaRPr lang="zh-CN" altLang="en-US"/>
          </a:p>
        </p:txBody>
      </p:sp>
    </p:spTree>
    <p:extLst>
      <p:ext uri="{BB962C8B-B14F-4D97-AF65-F5344CB8AC3E}">
        <p14:creationId xmlns:p14="http://schemas.microsoft.com/office/powerpoint/2010/main" val="2712336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幻灯片图像占位符 1">
            <a:extLst>
              <a:ext uri="{FF2B5EF4-FFF2-40B4-BE49-F238E27FC236}">
                <a16:creationId xmlns:a16="http://schemas.microsoft.com/office/drawing/2014/main" xmlns="" id="{7AF359A8-9610-0EA2-D931-65B303D4CFCB}"/>
              </a:ext>
            </a:extLst>
          </p:cNvPr>
          <p:cNvSpPr>
            <a:spLocks noGrp="1" noRot="1" noChangeAspect="1" noChangeArrowheads="1" noTextEdit="1"/>
          </p:cNvSpPr>
          <p:nvPr>
            <p:ph type="sldImg"/>
          </p:nvPr>
        </p:nvSpPr>
        <p:spPr/>
      </p:sp>
      <p:sp>
        <p:nvSpPr>
          <p:cNvPr id="105474" name="备注占位符 2">
            <a:extLst>
              <a:ext uri="{FF2B5EF4-FFF2-40B4-BE49-F238E27FC236}">
                <a16:creationId xmlns:a16="http://schemas.microsoft.com/office/drawing/2014/main" xmlns="" id="{6758B770-4C45-18AB-8260-AF0D8C0CD1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584540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7" name="图片 16"/>
          <p:cNvPicPr>
            <a:picLocks noChangeAspect="1"/>
          </p:cNvPicPr>
          <p:nvPr/>
        </p:nvPicPr>
        <p:blipFill>
          <a:blip r:embed="rId2"/>
          <a:stretch>
            <a:fillRect/>
          </a:stretch>
        </p:blipFill>
        <p:spPr>
          <a:xfrm>
            <a:off x="5905088" y="1418544"/>
            <a:ext cx="6257321" cy="2514214"/>
          </a:xfrm>
          <a:prstGeom prst="rect">
            <a:avLst/>
          </a:prstGeom>
        </p:spPr>
      </p:pic>
      <p:pic>
        <p:nvPicPr>
          <p:cNvPr id="5" name="图片 4"/>
          <p:cNvPicPr>
            <a:picLocks noChangeAspect="1"/>
          </p:cNvPicPr>
          <p:nvPr/>
        </p:nvPicPr>
        <p:blipFill>
          <a:blip r:embed="rId3"/>
          <a:stretch>
            <a:fillRect/>
          </a:stretch>
        </p:blipFill>
        <p:spPr>
          <a:xfrm>
            <a:off x="23552" y="1418543"/>
            <a:ext cx="5872658" cy="2508395"/>
          </a:xfrm>
          <a:prstGeom prst="rect">
            <a:avLst/>
          </a:prstGeom>
        </p:spPr>
      </p:pic>
      <p:grpSp>
        <p:nvGrpSpPr>
          <p:cNvPr id="11" name="组合 10"/>
          <p:cNvGrpSpPr/>
          <p:nvPr/>
        </p:nvGrpSpPr>
        <p:grpSpPr>
          <a:xfrm>
            <a:off x="0" y="5399618"/>
            <a:ext cx="12203093" cy="1485900"/>
            <a:chOff x="0" y="5305425"/>
            <a:chExt cx="12203093" cy="1485900"/>
          </a:xfrm>
        </p:grpSpPr>
        <p:sp>
          <p:nvSpPr>
            <p:cNvPr id="13" name="矩形 12"/>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grpSp>
      <p:sp>
        <p:nvSpPr>
          <p:cNvPr id="10" name="平行四边形 9"/>
          <p:cNvSpPr/>
          <p:nvPr/>
        </p:nvSpPr>
        <p:spPr>
          <a:xfrm>
            <a:off x="-8878" y="1225462"/>
            <a:ext cx="12211802" cy="2894556"/>
          </a:xfrm>
          <a:prstGeom prst="parallelogram">
            <a:avLst>
              <a:gd name="adj" fmla="val 0"/>
            </a:avLst>
          </a:prstGeom>
          <a:solidFill>
            <a:srgbClr val="1B5091">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副标题 2"/>
          <p:cNvSpPr>
            <a:spLocks noGrp="1"/>
          </p:cNvSpPr>
          <p:nvPr>
            <p:ph type="subTitle" idx="1"/>
          </p:nvPr>
        </p:nvSpPr>
        <p:spPr>
          <a:xfrm>
            <a:off x="1101360" y="5471047"/>
            <a:ext cx="9831977" cy="781595"/>
          </a:xfrm>
        </p:spPr>
        <p:txBody>
          <a:bodyPr>
            <a:normAutofit/>
          </a:bodyPr>
          <a:lstStyle>
            <a:lvl1pPr marL="0" indent="0" algn="ctr">
              <a:buNone/>
              <a:defRPr sz="2800">
                <a:solidFill>
                  <a:srgbClr val="1E529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dirty="0"/>
          </a:p>
        </p:txBody>
      </p:sp>
      <p:sp>
        <p:nvSpPr>
          <p:cNvPr id="2" name="标题 1"/>
          <p:cNvSpPr>
            <a:spLocks noGrp="1"/>
          </p:cNvSpPr>
          <p:nvPr>
            <p:ph type="ctrTitle"/>
          </p:nvPr>
        </p:nvSpPr>
        <p:spPr>
          <a:xfrm>
            <a:off x="1101360" y="4274634"/>
            <a:ext cx="9831977" cy="999627"/>
          </a:xfrm>
        </p:spPr>
        <p:txBody>
          <a:bodyPr anchor="b">
            <a:normAutofit/>
          </a:bodyPr>
          <a:lstStyle>
            <a:lvl1pPr algn="ctr">
              <a:defRPr sz="5000">
                <a:solidFill>
                  <a:srgbClr val="1E5293"/>
                </a:solidFill>
              </a:defRPr>
            </a:lvl1pPr>
          </a:lstStyle>
          <a:p>
            <a:r>
              <a:rPr lang="zh-CN" altLang="en-US"/>
              <a:t>单击此处编辑母版标题样式</a:t>
            </a:r>
            <a:endParaRPr lang="zh-CN" altLang="en-US" dirty="0"/>
          </a:p>
        </p:txBody>
      </p:sp>
      <p:pic>
        <p:nvPicPr>
          <p:cNvPr id="19" name="图片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pic>
        <p:nvPicPr>
          <p:cNvPr id="22" name="图片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43726" y="358201"/>
            <a:ext cx="1689716" cy="562718"/>
          </a:xfrm>
          <a:prstGeom prst="rect">
            <a:avLst/>
          </a:prstGeom>
        </p:spPr>
      </p:pic>
    </p:spTree>
    <p:extLst>
      <p:ext uri="{BB962C8B-B14F-4D97-AF65-F5344CB8AC3E}">
        <p14:creationId xmlns:p14="http://schemas.microsoft.com/office/powerpoint/2010/main" val="2064565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20909" y="1360704"/>
            <a:ext cx="12169984" cy="2535726"/>
          </a:xfrm>
          <a:prstGeom prst="rect">
            <a:avLst/>
          </a:prstGeom>
        </p:spPr>
      </p:pic>
      <p:grpSp>
        <p:nvGrpSpPr>
          <p:cNvPr id="11" name="组合 10"/>
          <p:cNvGrpSpPr/>
          <p:nvPr/>
        </p:nvGrpSpPr>
        <p:grpSpPr>
          <a:xfrm>
            <a:off x="12200" y="5372100"/>
            <a:ext cx="12203093" cy="1485900"/>
            <a:chOff x="0" y="5305425"/>
            <a:chExt cx="12203093" cy="1485900"/>
          </a:xfrm>
        </p:grpSpPr>
        <p:sp>
          <p:nvSpPr>
            <p:cNvPr id="13" name="矩形 12"/>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grpSp>
      <p:sp>
        <p:nvSpPr>
          <p:cNvPr id="10" name="平行四边形 9"/>
          <p:cNvSpPr/>
          <p:nvPr/>
        </p:nvSpPr>
        <p:spPr>
          <a:xfrm>
            <a:off x="0" y="1175806"/>
            <a:ext cx="12211802" cy="2894556"/>
          </a:xfrm>
          <a:prstGeom prst="parallelogram">
            <a:avLst>
              <a:gd name="adj" fmla="val 0"/>
            </a:avLst>
          </a:prstGeom>
          <a:solidFill>
            <a:schemeClr val="accent1">
              <a:lumMod val="75000"/>
              <a:alpha val="580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副标题 2"/>
          <p:cNvSpPr>
            <a:spLocks noGrp="1"/>
          </p:cNvSpPr>
          <p:nvPr>
            <p:ph type="subTitle" idx="1"/>
          </p:nvPr>
        </p:nvSpPr>
        <p:spPr>
          <a:xfrm>
            <a:off x="1101360" y="5471047"/>
            <a:ext cx="9831977" cy="781595"/>
          </a:xfrm>
        </p:spPr>
        <p:txBody>
          <a:bodyPr>
            <a:normAutofit/>
          </a:bodyPr>
          <a:lstStyle>
            <a:lvl1pPr marL="0" indent="0" algn="ctr">
              <a:buNone/>
              <a:defRPr sz="2800">
                <a:solidFill>
                  <a:srgbClr val="1E529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dirty="0"/>
          </a:p>
        </p:txBody>
      </p:sp>
      <p:sp>
        <p:nvSpPr>
          <p:cNvPr id="2" name="标题 1"/>
          <p:cNvSpPr>
            <a:spLocks noGrp="1"/>
          </p:cNvSpPr>
          <p:nvPr>
            <p:ph type="ctrTitle"/>
          </p:nvPr>
        </p:nvSpPr>
        <p:spPr>
          <a:xfrm>
            <a:off x="1101360" y="4264253"/>
            <a:ext cx="9831977" cy="999627"/>
          </a:xfrm>
        </p:spPr>
        <p:txBody>
          <a:bodyPr anchor="b">
            <a:normAutofit/>
          </a:bodyPr>
          <a:lstStyle>
            <a:lvl1pPr algn="ctr">
              <a:defRPr sz="5000">
                <a:solidFill>
                  <a:srgbClr val="1E5293"/>
                </a:solidFill>
              </a:defRPr>
            </a:lvl1pPr>
          </a:lstStyle>
          <a:p>
            <a:r>
              <a:rPr lang="zh-CN" altLang="en-US"/>
              <a:t>单击此处编辑母版标题样式</a:t>
            </a:r>
            <a:endParaRPr lang="zh-CN" altLang="en-US" dirty="0"/>
          </a:p>
        </p:txBody>
      </p:sp>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43726" y="358201"/>
            <a:ext cx="1689716" cy="562718"/>
          </a:xfrm>
          <a:prstGeom prst="rect">
            <a:avLst/>
          </a:prstGeom>
        </p:spPr>
      </p:pic>
    </p:spTree>
    <p:extLst>
      <p:ext uri="{BB962C8B-B14F-4D97-AF65-F5344CB8AC3E}">
        <p14:creationId xmlns:p14="http://schemas.microsoft.com/office/powerpoint/2010/main" val="1661159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7" name="组合 6"/>
          <p:cNvGrpSpPr/>
          <p:nvPr/>
        </p:nvGrpSpPr>
        <p:grpSpPr>
          <a:xfrm>
            <a:off x="-11093" y="5372100"/>
            <a:ext cx="12203093" cy="1485900"/>
            <a:chOff x="0" y="5305425"/>
            <a:chExt cx="12203093" cy="1485900"/>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9" name="矩形 8"/>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nvPr>
        </p:nvSpPr>
        <p:spPr/>
        <p:txBody>
          <a:bodyPr/>
          <a:lstStyle>
            <a:lvl1pPr>
              <a:defRPr/>
            </a:lvl1pPr>
          </a:lstStyle>
          <a:p>
            <a:r>
              <a:rPr lang="zh-CN" altLang="en-US" dirty="0"/>
              <a:t>单击此处编辑母版标题样式</a:t>
            </a:r>
            <a:r>
              <a:rPr lang="en-US" altLang="zh-CN" dirty="0" err="1"/>
              <a:t>abc</a:t>
            </a:r>
            <a:endParaRPr lang="zh-CN" altLang="en-US" dirty="0"/>
          </a:p>
        </p:txBody>
      </p:sp>
      <p:sp>
        <p:nvSpPr>
          <p:cNvPr id="3" name="内容占位符 2"/>
          <p:cNvSpPr>
            <a:spLocks noGrp="1"/>
          </p:cNvSpPr>
          <p:nvPr>
            <p:ph idx="1" hasCustomPrompt="1"/>
          </p:nvPr>
        </p:nvSpPr>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dirty="0"/>
              <a:t>编辑母版文本样式</a:t>
            </a:r>
            <a:r>
              <a:rPr lang="en-US" altLang="zh-CN" dirty="0" err="1"/>
              <a:t>abc</a:t>
            </a:r>
            <a:endParaRPr lang="zh-CN" altLang="en-US" dirty="0"/>
          </a:p>
          <a:p>
            <a:pPr lvl="1"/>
            <a:r>
              <a:rPr lang="zh-CN" altLang="en-US" dirty="0"/>
              <a:t>第二级</a:t>
            </a:r>
            <a:r>
              <a:rPr lang="en-US" altLang="zh-CN" dirty="0" err="1"/>
              <a:t>abc</a:t>
            </a:r>
            <a:endParaRPr lang="zh-CN" altLang="en-US" dirty="0"/>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D04713B0-7EE7-420A-BB22-6F99F562E080}" type="slidenum">
              <a:rPr lang="en-US" altLang="zh-CN" smtClean="0"/>
              <a:pPr>
                <a:defRPr/>
              </a:pPr>
              <a:t>‹#›</a:t>
            </a:fld>
            <a:endParaRPr lang="en-US" altLang="zh-CN"/>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spTree>
    <p:extLst>
      <p:ext uri="{BB962C8B-B14F-4D97-AF65-F5344CB8AC3E}">
        <p14:creationId xmlns:p14="http://schemas.microsoft.com/office/powerpoint/2010/main" val="1302898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grpSp>
        <p:nvGrpSpPr>
          <p:cNvPr id="7" name="组合 6"/>
          <p:cNvGrpSpPr/>
          <p:nvPr/>
        </p:nvGrpSpPr>
        <p:grpSpPr>
          <a:xfrm>
            <a:off x="-11093" y="5372100"/>
            <a:ext cx="12203093" cy="1485900"/>
            <a:chOff x="0" y="5305425"/>
            <a:chExt cx="12203093" cy="1485900"/>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9" name="矩形 8"/>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nvPr>
        </p:nvSpPr>
        <p:spPr/>
        <p:txBody>
          <a:bodyPr/>
          <a:lstStyle>
            <a:lvl1pPr>
              <a:defRPr/>
            </a:lvl1pPr>
          </a:lstStyle>
          <a:p>
            <a:r>
              <a:rPr lang="zh-CN" altLang="en-US" dirty="0"/>
              <a:t>单击此处编辑母版标题样式</a:t>
            </a:r>
            <a:r>
              <a:rPr lang="en-US" altLang="zh-CN" dirty="0" err="1"/>
              <a:t>abc</a:t>
            </a:r>
            <a:endParaRPr lang="zh-CN" altLang="en-US" dirty="0"/>
          </a:p>
        </p:txBody>
      </p:sp>
      <p:sp>
        <p:nvSpPr>
          <p:cNvPr id="3" name="内容占位符 2"/>
          <p:cNvSpPr>
            <a:spLocks noGrp="1"/>
          </p:cNvSpPr>
          <p:nvPr>
            <p:ph idx="1"/>
          </p:nvPr>
        </p:nvSpPr>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C2224BEA-3C3F-4596-8550-1ADD053AC372}" type="slidenum">
              <a:rPr lang="en-US" altLang="zh-CN" smtClean="0"/>
              <a:pPr>
                <a:defRPr/>
              </a:pPr>
              <a:t>‹#›</a:t>
            </a:fld>
            <a:endParaRPr lang="en-US" altLang="zh-CN"/>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aphicFrame>
        <p:nvGraphicFramePr>
          <p:cNvPr id="10" name="表格 9"/>
          <p:cNvGraphicFramePr>
            <a:graphicFrameLocks noGrp="1"/>
          </p:cNvGraphicFramePr>
          <p:nvPr>
            <p:extLst>
              <p:ext uri="{D42A27DB-BD31-4B8C-83A1-F6EECF244321}">
                <p14:modId xmlns:p14="http://schemas.microsoft.com/office/powerpoint/2010/main" val="3725317638"/>
              </p:ext>
            </p:extLst>
          </p:nvPr>
        </p:nvGraphicFramePr>
        <p:xfrm>
          <a:off x="7016098" y="3250773"/>
          <a:ext cx="949235" cy="396240"/>
        </p:xfrm>
        <a:graphic>
          <a:graphicData uri="http://schemas.openxmlformats.org/drawingml/2006/table">
            <a:tbl>
              <a:tblPr>
                <a:tableStyleId>{2D5ABB26-0587-4C30-8999-92F81FD0307C}</a:tableStyleId>
              </a:tblPr>
              <a:tblGrid>
                <a:gridCol w="949235">
                  <a:extLst>
                    <a:ext uri="{9D8B030D-6E8A-4147-A177-3AD203B41FA5}">
                      <a16:colId xmlns:a16="http://schemas.microsoft.com/office/drawing/2014/main" xmlns="" val="2089850756"/>
                    </a:ext>
                  </a:extLst>
                </a:gridCol>
              </a:tblGrid>
              <a:tr h="0">
                <a:tc>
                  <a:txBody>
                    <a:bodyPr/>
                    <a:lstStyle/>
                    <a:p>
                      <a:endParaRPr lang="zh-CN" altLang="en-US" sz="2000" dirty="0">
                        <a:latin typeface="幼圆" panose="02010509060101010101" pitchFamily="49" charset="-122"/>
                        <a:ea typeface="幼圆" panose="02010509060101010101" pitchFamily="49" charset="-122"/>
                      </a:endParaRPr>
                    </a:p>
                  </a:txBody>
                  <a:tcPr/>
                </a:tc>
                <a:extLst>
                  <a:ext uri="{0D108BD9-81ED-4DB2-BD59-A6C34878D82A}">
                    <a16:rowId xmlns:a16="http://schemas.microsoft.com/office/drawing/2014/main" xmlns="" val="3534267177"/>
                  </a:ext>
                </a:extLst>
              </a:tr>
            </a:tbl>
          </a:graphicData>
        </a:graphic>
      </p:graphicFrame>
    </p:spTree>
    <p:extLst>
      <p:ext uri="{BB962C8B-B14F-4D97-AF65-F5344CB8AC3E}">
        <p14:creationId xmlns:p14="http://schemas.microsoft.com/office/powerpoint/2010/main" val="4187842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单击此处编辑母版标题样式</a:t>
            </a:r>
            <a:r>
              <a:rPr lang="en-US" altLang="zh-CN" dirty="0" err="1"/>
              <a:t>abc</a:t>
            </a:r>
            <a:endParaRPr lang="zh-CN" altLang="en-US" dirty="0"/>
          </a:p>
        </p:txBody>
      </p:sp>
      <p:sp>
        <p:nvSpPr>
          <p:cNvPr id="3" name="内容占位符 2"/>
          <p:cNvSpPr>
            <a:spLocks noGrp="1"/>
          </p:cNvSpPr>
          <p:nvPr>
            <p:ph sz="half" idx="1"/>
          </p:nvPr>
        </p:nvSpPr>
        <p:spPr>
          <a:xfrm>
            <a:off x="838200" y="1825625"/>
            <a:ext cx="5181600" cy="4351338"/>
          </a:xfrm>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81987BE1-1902-418F-9C26-CDCFD3D9B41D}" type="slidenum">
              <a:rPr lang="en-US" altLang="zh-CN" smtClean="0"/>
              <a:pPr>
                <a:defRPr/>
              </a:pPr>
              <a:t>‹#›</a:t>
            </a:fld>
            <a:endParaRPr lang="en-US" altLang="zh-CN"/>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9" name="组合 8"/>
          <p:cNvGrpSpPr/>
          <p:nvPr/>
        </p:nvGrpSpPr>
        <p:grpSpPr>
          <a:xfrm>
            <a:off x="-11093" y="5372100"/>
            <a:ext cx="12203093" cy="1485900"/>
            <a:chOff x="0" y="5305425"/>
            <a:chExt cx="12203093" cy="1485900"/>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11" name="矩形 10"/>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48130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a:defRPr/>
            </a:pPr>
            <a:endParaRPr lang="en-US" altLang="zh-CN"/>
          </a:p>
        </p:txBody>
      </p:sp>
      <p:sp>
        <p:nvSpPr>
          <p:cNvPr id="4" name="灯片编号占位符 3"/>
          <p:cNvSpPr>
            <a:spLocks noGrp="1"/>
          </p:cNvSpPr>
          <p:nvPr>
            <p:ph type="sldNum" sz="quarter" idx="11"/>
          </p:nvPr>
        </p:nvSpPr>
        <p:spPr/>
        <p:txBody>
          <a:bodyPr/>
          <a:lstStyle/>
          <a:p>
            <a:pPr>
              <a:defRPr/>
            </a:pPr>
            <a:fld id="{C2224BEA-3C3F-4596-8550-1ADD053AC372}" type="slidenum">
              <a:rPr lang="en-US" altLang="zh-CN" smtClean="0"/>
              <a:pPr>
                <a:defRPr/>
              </a:pPr>
              <a:t>‹#›</a:t>
            </a:fld>
            <a:endParaRPr lang="en-US" altLang="zh-CN"/>
          </a:p>
        </p:txBody>
      </p:sp>
      <p:grpSp>
        <p:nvGrpSpPr>
          <p:cNvPr id="5" name="组合 4"/>
          <p:cNvGrpSpPr/>
          <p:nvPr/>
        </p:nvGrpSpPr>
        <p:grpSpPr>
          <a:xfrm>
            <a:off x="0" y="5372100"/>
            <a:ext cx="12203093" cy="1485900"/>
            <a:chOff x="0" y="5305425"/>
            <a:chExt cx="12203093" cy="1485900"/>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7" name="矩形 6"/>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spTree>
    <p:extLst>
      <p:ext uri="{BB962C8B-B14F-4D97-AF65-F5344CB8AC3E}">
        <p14:creationId xmlns:p14="http://schemas.microsoft.com/office/powerpoint/2010/main" val="1171186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C2224BEA-3C3F-4596-8550-1ADD053AC372}" type="slidenum">
              <a:rPr lang="en-US" altLang="zh-CN" smtClean="0"/>
              <a:pPr>
                <a:defRPr/>
              </a:pPr>
              <a:t>‹#›</a:t>
            </a:fld>
            <a:endParaRPr lang="en-US" altLang="zh-CN"/>
          </a:p>
        </p:txBody>
      </p:sp>
      <p:sp>
        <p:nvSpPr>
          <p:cNvPr id="7" name="标题 1"/>
          <p:cNvSpPr>
            <a:spLocks noGrp="1"/>
          </p:cNvSpPr>
          <p:nvPr>
            <p:ph type="title" hasCustomPrompt="1"/>
          </p:nvPr>
        </p:nvSpPr>
        <p:spPr>
          <a:xfrm>
            <a:off x="838200" y="365125"/>
            <a:ext cx="10515600" cy="1325563"/>
          </a:xfrm>
        </p:spPr>
        <p:txBody>
          <a:bodyPr/>
          <a:lstStyle>
            <a:lvl1pPr>
              <a:defRPr/>
            </a:lvl1pPr>
          </a:lstStyle>
          <a:p>
            <a:r>
              <a:rPr lang="zh-CN" altLang="en-US" dirty="0"/>
              <a:t>单击此处编辑母版标题样式</a:t>
            </a:r>
            <a:r>
              <a:rPr lang="en-US" altLang="zh-CN" dirty="0" err="1"/>
              <a:t>abc</a:t>
            </a:r>
            <a:endParaRPr lang="zh-CN" altLang="en-US" dirty="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10" name="组合 9"/>
          <p:cNvGrpSpPr/>
          <p:nvPr/>
        </p:nvGrpSpPr>
        <p:grpSpPr>
          <a:xfrm>
            <a:off x="-11093" y="5372100"/>
            <a:ext cx="12203093" cy="1485900"/>
            <a:chOff x="0" y="5305425"/>
            <a:chExt cx="12203093" cy="1485900"/>
          </a:xfrm>
        </p:grpSpPr>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12" name="矩形 11"/>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026429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188" y="1384663"/>
            <a:ext cx="6172200" cy="44763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dirty="0"/>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C2224BEA-3C3F-4596-8550-1ADD053AC372}" type="slidenum">
              <a:rPr lang="en-US" altLang="zh-CN" smtClean="0"/>
              <a:pPr>
                <a:defRPr/>
              </a:pPr>
              <a:t>‹#›</a:t>
            </a:fld>
            <a:endParaRPr lang="en-US" altLang="zh-CN"/>
          </a:p>
        </p:txBody>
      </p:sp>
      <p:sp>
        <p:nvSpPr>
          <p:cNvPr id="8" name="内容占位符 2"/>
          <p:cNvSpPr>
            <a:spLocks noGrp="1"/>
          </p:cNvSpPr>
          <p:nvPr>
            <p:ph idx="13"/>
          </p:nvPr>
        </p:nvSpPr>
        <p:spPr>
          <a:xfrm>
            <a:off x="839788" y="1384663"/>
            <a:ext cx="3932237" cy="4476387"/>
          </a:xfrm>
        </p:spPr>
        <p:txBody>
          <a:bodyPr/>
          <a:lstStyle>
            <a:lvl1pPr>
              <a:lnSpc>
                <a:spcPct val="110000"/>
              </a:lnSpc>
              <a:defRPr sz="2800"/>
            </a:lvl1pPr>
            <a:lvl2pPr>
              <a:lnSpc>
                <a:spcPct val="110000"/>
              </a:lnSpc>
              <a:buClr>
                <a:schemeClr val="accent1">
                  <a:lumMod val="60000"/>
                  <a:lumOff val="40000"/>
                </a:schemeClr>
              </a:buClr>
              <a:defRPr sz="2400"/>
            </a:lvl2pPr>
            <a:lvl3pPr>
              <a:lnSpc>
                <a:spcPct val="110000"/>
              </a:lnSpc>
              <a:buClr>
                <a:schemeClr val="accent1">
                  <a:lumMod val="60000"/>
                  <a:lumOff val="40000"/>
                </a:schemeClr>
              </a:buClr>
              <a:defRPr sz="2400"/>
            </a:lvl3pPr>
            <a:lvl4pPr>
              <a:lnSpc>
                <a:spcPct val="110000"/>
              </a:lnSpc>
              <a:buClr>
                <a:schemeClr val="accent1">
                  <a:lumMod val="60000"/>
                  <a:lumOff val="40000"/>
                </a:schemeClr>
              </a:buClr>
              <a:defRPr sz="2400"/>
            </a:lvl4pPr>
            <a:lvl5pPr>
              <a:lnSpc>
                <a:spcPct val="110000"/>
              </a:lnSpc>
              <a:buClr>
                <a:schemeClr val="accent1">
                  <a:lumMod val="60000"/>
                  <a:lumOff val="40000"/>
                </a:schemeClr>
              </a:buClr>
              <a:defRPr sz="24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9" name="标题 1"/>
          <p:cNvSpPr txBox="1">
            <a:spLocks/>
          </p:cNvSpPr>
          <p:nvPr/>
        </p:nvSpPr>
        <p:spPr>
          <a:xfrm>
            <a:off x="733697" y="1299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rgbClr val="1E5293"/>
                </a:solidFill>
                <a:latin typeface="Arial" panose="020B0604020202020204" pitchFamily="34" charset="0"/>
                <a:ea typeface="幼圆" panose="02010509060101010101" pitchFamily="49" charset="-122"/>
                <a:cs typeface="Arial" panose="020B0604020202020204" pitchFamily="34" charset="0"/>
              </a:defRPr>
            </a:lvl1pPr>
          </a:lstStyle>
          <a:p>
            <a:r>
              <a:rPr lang="zh-CN" altLang="en-US" dirty="0"/>
              <a:t>单击此处编辑母版标题样式</a:t>
            </a:r>
            <a:r>
              <a:rPr lang="en-US" altLang="zh-CN" dirty="0" err="1"/>
              <a:t>abc</a:t>
            </a:r>
            <a:endParaRPr lang="zh-CN" altLang="en-US" dirty="0"/>
          </a:p>
        </p:txBody>
      </p:sp>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10" name="组合 9"/>
          <p:cNvGrpSpPr/>
          <p:nvPr/>
        </p:nvGrpSpPr>
        <p:grpSpPr>
          <a:xfrm>
            <a:off x="-11093" y="5372100"/>
            <a:ext cx="12203093" cy="1485900"/>
            <a:chOff x="0" y="5305425"/>
            <a:chExt cx="12203093" cy="1485900"/>
          </a:xfrm>
        </p:grpSpPr>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12" name="矩形 11"/>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939365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4928" y="2664188"/>
            <a:ext cx="10515600" cy="1325563"/>
          </a:xfrm>
        </p:spPr>
        <p:txBody>
          <a:bodyPr>
            <a:normAutofit/>
          </a:bodyPr>
          <a:lstStyle>
            <a:lvl1pPr marL="0" algn="ctr" defTabSz="914400" rtl="0" eaLnBrk="1" latinLnBrk="0" hangingPunct="1">
              <a:defRPr lang="zh-CN" altLang="en-US" sz="5400" kern="1200" dirty="0">
                <a:ln w="22225">
                  <a:solidFill>
                    <a:schemeClr val="accent2"/>
                  </a:solidFill>
                  <a:prstDash val="solid"/>
                </a:ln>
                <a:solidFill>
                  <a:schemeClr val="accent6">
                    <a:lumMod val="75000"/>
                  </a:schemeClr>
                </a:solidFill>
                <a:latin typeface="幼圆" panose="02010509060101010101" pitchFamily="49" charset="-122"/>
                <a:ea typeface="幼圆" panose="02010509060101010101" pitchFamily="49" charset="-122"/>
                <a:cs typeface="+mn-cs"/>
              </a:defRPr>
            </a:lvl1pPr>
          </a:lstStyle>
          <a:p>
            <a:r>
              <a:rPr lang="zh-CN" altLang="en-US"/>
              <a:t>单击此处编辑母版标题样式</a:t>
            </a:r>
            <a:endParaRPr lang="zh-CN" altLang="en-US" dirty="0"/>
          </a:p>
        </p:txBody>
      </p:sp>
      <p:sp>
        <p:nvSpPr>
          <p:cNvPr id="3" name="页脚占位符 2"/>
          <p:cNvSpPr>
            <a:spLocks noGrp="1"/>
          </p:cNvSpPr>
          <p:nvPr>
            <p:ph type="ftr" sz="quarter" idx="10"/>
          </p:nvPr>
        </p:nvSpPr>
        <p:spPr/>
        <p:txBody>
          <a:bodyPr/>
          <a:lstStyle/>
          <a:p>
            <a:pPr>
              <a:defRPr/>
            </a:pPr>
            <a:endParaRPr lang="en-US" altLang="zh-CN"/>
          </a:p>
        </p:txBody>
      </p:sp>
      <p:sp>
        <p:nvSpPr>
          <p:cNvPr id="4" name="灯片编号占位符 3"/>
          <p:cNvSpPr>
            <a:spLocks noGrp="1"/>
          </p:cNvSpPr>
          <p:nvPr>
            <p:ph type="sldNum" sz="quarter" idx="11"/>
          </p:nvPr>
        </p:nvSpPr>
        <p:spPr/>
        <p:txBody>
          <a:bodyPr/>
          <a:lstStyle/>
          <a:p>
            <a:pPr>
              <a:defRPr/>
            </a:pPr>
            <a:fld id="{C2224BEA-3C3F-4596-8550-1ADD053AC372}" type="slidenum">
              <a:rPr lang="en-US" altLang="zh-CN" smtClean="0"/>
              <a:pPr>
                <a:defRPr/>
              </a:pPr>
              <a:t>‹#›</a:t>
            </a:fld>
            <a:endParaRPr lang="en-US" altLang="zh-CN"/>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7" name="组合 6"/>
          <p:cNvGrpSpPr/>
          <p:nvPr/>
        </p:nvGrpSpPr>
        <p:grpSpPr>
          <a:xfrm>
            <a:off x="-11093" y="5372100"/>
            <a:ext cx="12203093" cy="1485900"/>
            <a:chOff x="0" y="5305425"/>
            <a:chExt cx="12203093" cy="1485900"/>
          </a:xfrm>
        </p:grpSpPr>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9" name="矩形 8"/>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8255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xmlns="" id="{16044C8D-2562-4307-B49B-23B8A096EAD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xmlns="" id="{1C39B875-80EC-4534-B173-004C9419E43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xmlns="" id="{62284D26-3AA2-4AA7-A7DA-5C6AB88F574B}"/>
              </a:ext>
            </a:extLst>
          </p:cNvPr>
          <p:cNvSpPr>
            <a:spLocks noGrp="1" noChangeArrowheads="1"/>
          </p:cNvSpPr>
          <p:nvPr>
            <p:ph type="sldNum" sz="quarter" idx="12"/>
          </p:nvPr>
        </p:nvSpPr>
        <p:spPr>
          <a:ln/>
        </p:spPr>
        <p:txBody>
          <a:bodyPr/>
          <a:lstStyle>
            <a:lvl1pPr>
              <a:defRPr/>
            </a:lvl1pPr>
          </a:lstStyle>
          <a:p>
            <a:pPr>
              <a:defRPr/>
            </a:pPr>
            <a:fld id="{E2AEC6EA-A8CA-4FB3-ADEC-A7355D95574D}" type="slidenum">
              <a:rPr altLang="zh-CN"/>
              <a:pPr>
                <a:defRPr/>
              </a:pPr>
              <a:t>‹#›</a:t>
            </a:fld>
            <a:endParaRPr lang="zh-CN" altLang="zh-CN"/>
          </a:p>
        </p:txBody>
      </p:sp>
    </p:spTree>
    <p:extLst>
      <p:ext uri="{BB962C8B-B14F-4D97-AF65-F5344CB8AC3E}">
        <p14:creationId xmlns:p14="http://schemas.microsoft.com/office/powerpoint/2010/main" val="2129428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r>
              <a:rPr lang="en-US" altLang="zh-CN" dirty="0" err="1"/>
              <a:t>abc</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r>
              <a:rPr lang="en-US" altLang="zh-CN" dirty="0" err="1"/>
              <a:t>abc</a:t>
            </a:r>
            <a:endParaRPr lang="zh-CN" altLang="en-US" dirty="0"/>
          </a:p>
          <a:p>
            <a:pPr lvl="1"/>
            <a:r>
              <a:rPr lang="zh-CN" altLang="en-US" dirty="0"/>
              <a:t>第二级</a:t>
            </a:r>
            <a:r>
              <a:rPr lang="en-US" altLang="zh-CN" dirty="0" err="1"/>
              <a:t>abc</a:t>
            </a:r>
            <a:endParaRPr lang="zh-CN" altLang="en-US" dirty="0"/>
          </a:p>
          <a:p>
            <a:pPr lvl="2"/>
            <a:r>
              <a:rPr lang="zh-CN" altLang="en-US" dirty="0"/>
              <a:t>第三级</a:t>
            </a:r>
            <a:r>
              <a:rPr lang="en-US" altLang="zh-CN" dirty="0" err="1"/>
              <a:t>abc</a:t>
            </a:r>
            <a:endParaRPr lang="zh-CN" altLang="en-US" dirty="0"/>
          </a:p>
          <a:p>
            <a:pPr lvl="3"/>
            <a:r>
              <a:rPr lang="zh-CN" altLang="en-US" dirty="0"/>
              <a:t>第四级</a:t>
            </a:r>
            <a:r>
              <a:rPr lang="en-US" altLang="zh-CN" dirty="0" err="1"/>
              <a:t>abc</a:t>
            </a:r>
            <a:endParaRPr lang="zh-CN" altLang="en-US" dirty="0"/>
          </a:p>
          <a:p>
            <a:pPr lvl="4"/>
            <a:r>
              <a:rPr lang="zh-CN" altLang="en-US" dirty="0"/>
              <a:t>第五级</a:t>
            </a:r>
            <a:r>
              <a:rPr lang="en-US" altLang="zh-CN" dirty="0" err="1"/>
              <a:t>abc</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2224BEA-3C3F-4596-8550-1ADD053AC372}" type="slidenum">
              <a:rPr lang="en-US" altLang="zh-CN" smtClean="0"/>
              <a:pPr>
                <a:defRPr/>
              </a:pPr>
              <a:t>‹#›</a:t>
            </a:fld>
            <a:endParaRPr lang="en-US" altLang="zh-CN"/>
          </a:p>
        </p:txBody>
      </p:sp>
      <p:sp>
        <p:nvSpPr>
          <p:cNvPr id="7" name="标题占位符 1"/>
          <p:cNvSpPr txBox="1">
            <a:spLocks noChangeArrowheads="1"/>
          </p:cNvSpPr>
          <p:nvPr>
            <p:custDataLst>
              <p:tags r:id="rId12"/>
            </p:custDataLst>
          </p:nvPr>
        </p:nvSpPr>
        <p:spPr bwMode="auto">
          <a:xfrm>
            <a:off x="501650" y="314420"/>
            <a:ext cx="10852150" cy="660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lvl1pPr algn="l" defTabSz="914400" rtl="0" eaLnBrk="1" latinLnBrk="0" hangingPunct="1">
              <a:lnSpc>
                <a:spcPct val="90000"/>
              </a:lnSpc>
              <a:spcBef>
                <a:spcPct val="0"/>
              </a:spcBef>
              <a:buNone/>
              <a:defRPr sz="3600" b="0" kern="1200">
                <a:solidFill>
                  <a:srgbClr val="1B5091"/>
                </a:solidFill>
                <a:latin typeface="Arial" panose="020B0604020202020204" pitchFamily="34" charset="0"/>
                <a:ea typeface="幼圆" panose="02010509060101010101" pitchFamily="49" charset="-122"/>
                <a:cs typeface="Arial" panose="020B0604020202020204" pitchFamily="34" charset="0"/>
              </a:defRPr>
            </a:lvl1pPr>
          </a:lstStyle>
          <a:p>
            <a:endParaRPr lang="zh-CN" altLang="en-US" dirty="0"/>
          </a:p>
        </p:txBody>
      </p:sp>
    </p:spTree>
    <p:extLst>
      <p:ext uri="{BB962C8B-B14F-4D97-AF65-F5344CB8AC3E}">
        <p14:creationId xmlns:p14="http://schemas.microsoft.com/office/powerpoint/2010/main" val="65374273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Lst>
  <p:hf hdr="0" ftr="0" dt="0"/>
  <p:txStyles>
    <p:titleStyle>
      <a:lvl1pPr algn="l" defTabSz="914400" rtl="0" eaLnBrk="1" latinLnBrk="0" hangingPunct="1">
        <a:lnSpc>
          <a:spcPct val="90000"/>
        </a:lnSpc>
        <a:spcBef>
          <a:spcPct val="0"/>
        </a:spcBef>
        <a:buNone/>
        <a:defRPr sz="4000" kern="1200">
          <a:solidFill>
            <a:srgbClr val="1E5293"/>
          </a:solidFill>
          <a:latin typeface="Arial" panose="020B0604020202020204" pitchFamily="34" charset="0"/>
          <a:ea typeface="幼圆" panose="02010509060101010101" pitchFamily="49" charset="-122"/>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1055440" y="4221088"/>
            <a:ext cx="9831977" cy="999627"/>
          </a:xfrm>
        </p:spPr>
        <p:txBody>
          <a:bodyPr>
            <a:normAutofit/>
          </a:bodyPr>
          <a:lstStyle/>
          <a:p>
            <a:r>
              <a:rPr lang="zh-CN" altLang="en-US" sz="4800" dirty="0"/>
              <a:t>第二章  导引与基本数据结构</a:t>
            </a:r>
          </a:p>
        </p:txBody>
      </p:sp>
    </p:spTree>
    <p:extLst>
      <p:ext uri="{BB962C8B-B14F-4D97-AF65-F5344CB8AC3E}">
        <p14:creationId xmlns:p14="http://schemas.microsoft.com/office/powerpoint/2010/main" val="2298107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dirty="0"/>
              <a:t>目录</a:t>
            </a:r>
          </a:p>
        </p:txBody>
      </p:sp>
      <p:sp>
        <p:nvSpPr>
          <p:cNvPr id="4099" name="Rectangle 3"/>
          <p:cNvSpPr>
            <a:spLocks noGrp="1" noChangeArrowheads="1"/>
          </p:cNvSpPr>
          <p:nvPr>
            <p:ph idx="1"/>
          </p:nvPr>
        </p:nvSpPr>
        <p:spPr/>
        <p:txBody>
          <a:bodyPr/>
          <a:lstStyle/>
          <a:p>
            <a:pPr marL="0" indent="0" eaLnBrk="1" hangingPunct="1">
              <a:buNone/>
            </a:pPr>
            <a:r>
              <a:rPr kumimoji="1" lang="en-US" altLang="zh-CN" dirty="0"/>
              <a:t>2.1 </a:t>
            </a:r>
            <a:r>
              <a:rPr kumimoji="1" lang="zh-CN" altLang="en-US" dirty="0">
                <a:latin typeface="幼圆" panose="02010509060101010101" pitchFamily="49" charset="-122"/>
              </a:rPr>
              <a:t>算法</a:t>
            </a:r>
          </a:p>
          <a:p>
            <a:pPr marL="0" indent="0">
              <a:buNone/>
            </a:pPr>
            <a:r>
              <a:rPr kumimoji="1" lang="en-US" altLang="zh-CN" dirty="0"/>
              <a:t>2.2 </a:t>
            </a:r>
            <a:r>
              <a:rPr kumimoji="1" lang="zh-CN" altLang="en-US" dirty="0"/>
              <a:t>分析算法</a:t>
            </a:r>
          </a:p>
          <a:p>
            <a:pPr marL="0" indent="0">
              <a:buNone/>
            </a:pPr>
            <a:r>
              <a:rPr kumimoji="1" lang="en-US" altLang="zh-CN" dirty="0"/>
              <a:t>2.3 </a:t>
            </a:r>
            <a:r>
              <a:rPr kumimoji="1" lang="zh-CN" altLang="en-US" dirty="0"/>
              <a:t>用</a:t>
            </a:r>
            <a:r>
              <a:rPr kumimoji="1" lang="en-US" altLang="zh-CN" dirty="0"/>
              <a:t>SPARKS</a:t>
            </a:r>
            <a:r>
              <a:rPr kumimoji="1" lang="zh-CN" altLang="en-US" dirty="0"/>
              <a:t>语言写算法</a:t>
            </a:r>
          </a:p>
          <a:p>
            <a:pPr marL="0" indent="0">
              <a:buNone/>
            </a:pPr>
            <a:r>
              <a:rPr kumimoji="1" lang="en-US" altLang="zh-CN" dirty="0"/>
              <a:t>2.4 </a:t>
            </a:r>
            <a:r>
              <a:rPr kumimoji="1" lang="zh-CN" altLang="en-US" dirty="0"/>
              <a:t>基本数据结构 </a:t>
            </a:r>
            <a:r>
              <a:rPr kumimoji="1" lang="en-US" altLang="zh-CN" dirty="0"/>
              <a:t>(</a:t>
            </a:r>
            <a:r>
              <a:rPr kumimoji="1" lang="zh-CN" altLang="en-US" dirty="0"/>
              <a:t>略</a:t>
            </a:r>
            <a:r>
              <a:rPr kumimoji="1" lang="en-US" altLang="zh-CN" dirty="0"/>
              <a:t>)</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zh-CN" dirty="0"/>
              <a:t>2.1  </a:t>
            </a:r>
            <a:r>
              <a:rPr lang="zh-CN" altLang="en-US" dirty="0"/>
              <a:t>算 法</a:t>
            </a:r>
          </a:p>
        </p:txBody>
      </p:sp>
      <p:sp>
        <p:nvSpPr>
          <p:cNvPr id="5123" name="Rectangle 3"/>
          <p:cNvSpPr>
            <a:spLocks noGrp="1" noChangeArrowheads="1"/>
          </p:cNvSpPr>
          <p:nvPr>
            <p:ph idx="1"/>
          </p:nvPr>
        </p:nvSpPr>
        <p:spPr>
          <a:xfrm>
            <a:off x="838200" y="1844824"/>
            <a:ext cx="10515600" cy="4351338"/>
          </a:xfrm>
        </p:spPr>
        <p:txBody>
          <a:bodyPr>
            <a:normAutofit/>
          </a:bodyPr>
          <a:lstStyle/>
          <a:p>
            <a:r>
              <a:rPr kumimoji="1" lang="zh-CN" altLang="en-US" dirty="0"/>
              <a:t>什么是算法</a:t>
            </a:r>
          </a:p>
          <a:p>
            <a:r>
              <a:rPr kumimoji="1" lang="zh-CN" altLang="en-US" dirty="0"/>
              <a:t>算法的五个重要特性</a:t>
            </a:r>
          </a:p>
          <a:p>
            <a:r>
              <a:rPr kumimoji="1" lang="zh-CN" altLang="en-US" dirty="0"/>
              <a:t>计算过程与算法的区别</a:t>
            </a:r>
          </a:p>
          <a:p>
            <a:r>
              <a:rPr kumimoji="1" lang="zh-CN" altLang="en-US" dirty="0"/>
              <a:t>问题的求解过程</a:t>
            </a:r>
          </a:p>
          <a:p>
            <a:r>
              <a:rPr kumimoji="1" lang="zh-CN" altLang="en-US" dirty="0"/>
              <a:t>算法学习的基本内容</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kumimoji="1" lang="zh-CN" altLang="en-US" dirty="0">
                <a:solidFill>
                  <a:schemeClr val="tx2"/>
                </a:solidFill>
              </a:rPr>
              <a:t>什么是算法</a:t>
            </a:r>
          </a:p>
        </p:txBody>
      </p:sp>
      <p:sp>
        <p:nvSpPr>
          <p:cNvPr id="36867" name="Rectangle 3"/>
          <p:cNvSpPr>
            <a:spLocks noGrp="1" noChangeArrowheads="1"/>
          </p:cNvSpPr>
          <p:nvPr>
            <p:ph idx="1"/>
          </p:nvPr>
        </p:nvSpPr>
        <p:spPr>
          <a:xfrm>
            <a:off x="766585" y="1690688"/>
            <a:ext cx="10515600" cy="4327525"/>
          </a:xfrm>
        </p:spPr>
        <p:txBody>
          <a:bodyPr>
            <a:normAutofit/>
          </a:bodyPr>
          <a:lstStyle/>
          <a:p>
            <a:pPr eaLnBrk="1" hangingPunct="1"/>
            <a:r>
              <a:rPr lang="zh-CN" altLang="en-US" dirty="0"/>
              <a:t>算法是解决一确定类问题的任意一种</a:t>
            </a:r>
            <a:r>
              <a:rPr lang="zh-CN" altLang="en-US" dirty="0">
                <a:solidFill>
                  <a:srgbClr val="FF0000"/>
                </a:solidFill>
              </a:rPr>
              <a:t>特殊</a:t>
            </a:r>
            <a:r>
              <a:rPr lang="zh-CN" altLang="en-US" dirty="0"/>
              <a:t>的方法。</a:t>
            </a:r>
          </a:p>
          <a:p>
            <a:pPr eaLnBrk="1" hangingPunct="1"/>
            <a:r>
              <a:rPr kumimoji="1" lang="zh-CN" altLang="en-US" dirty="0"/>
              <a:t>算法的非形式描述：算法就是一组有穷的规则，它规定了解决某一特定类型问题的一系列运算。</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4</a:t>
            </a:fld>
            <a:endParaRPr lang="en-US" altLang="zh-CN"/>
          </a:p>
        </p:txBody>
      </p:sp>
      <p:grpSp>
        <p:nvGrpSpPr>
          <p:cNvPr id="3" name="组合 24">
            <a:extLst>
              <a:ext uri="{FF2B5EF4-FFF2-40B4-BE49-F238E27FC236}">
                <a16:creationId xmlns:a16="http://schemas.microsoft.com/office/drawing/2014/main" xmlns="" id="{CCFB79E5-E08E-AEDB-2AD6-880ACD40910F}"/>
              </a:ext>
            </a:extLst>
          </p:cNvPr>
          <p:cNvGrpSpPr>
            <a:grpSpLocks/>
          </p:cNvGrpSpPr>
          <p:nvPr/>
        </p:nvGrpSpPr>
        <p:grpSpPr bwMode="auto">
          <a:xfrm>
            <a:off x="2063552" y="3499813"/>
            <a:ext cx="6770687" cy="2780734"/>
            <a:chOff x="1151620" y="3717032"/>
            <a:chExt cx="6770270" cy="2816638"/>
          </a:xfrm>
        </p:grpSpPr>
        <p:sp>
          <p:nvSpPr>
            <p:cNvPr id="4" name="TextBox 4">
              <a:extLst>
                <a:ext uri="{FF2B5EF4-FFF2-40B4-BE49-F238E27FC236}">
                  <a16:creationId xmlns:a16="http://schemas.microsoft.com/office/drawing/2014/main" xmlns="" id="{42770016-8C9A-67E4-6619-BF1461E8BE17}"/>
                </a:ext>
              </a:extLst>
            </p:cNvPr>
            <p:cNvSpPr txBox="1">
              <a:spLocks noChangeArrowheads="1"/>
            </p:cNvSpPr>
            <p:nvPr/>
          </p:nvSpPr>
          <p:spPr bwMode="auto">
            <a:xfrm>
              <a:off x="3456416" y="3717032"/>
              <a:ext cx="1475624" cy="5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3200" b="1" dirty="0">
                  <a:solidFill>
                    <a:srgbClr val="C00000"/>
                  </a:solidFill>
                </a:rPr>
                <a:t>  问题</a:t>
              </a:r>
            </a:p>
          </p:txBody>
        </p:sp>
        <p:cxnSp>
          <p:nvCxnSpPr>
            <p:cNvPr id="5" name="直接箭头连接符 6">
              <a:extLst>
                <a:ext uri="{FF2B5EF4-FFF2-40B4-BE49-F238E27FC236}">
                  <a16:creationId xmlns:a16="http://schemas.microsoft.com/office/drawing/2014/main" xmlns="" id="{593DCD1A-FB48-7A6B-A836-492907DC4C9D}"/>
                </a:ext>
              </a:extLst>
            </p:cNvPr>
            <p:cNvCxnSpPr>
              <a:cxnSpLocks noChangeShapeType="1"/>
              <a:stCxn id="4" idx="2"/>
            </p:cNvCxnSpPr>
            <p:nvPr/>
          </p:nvCxnSpPr>
          <p:spPr bwMode="auto">
            <a:xfrm flipH="1">
              <a:off x="4175956" y="4309357"/>
              <a:ext cx="18273" cy="559803"/>
            </a:xfrm>
            <a:prstGeom prst="straightConnector1">
              <a:avLst/>
            </a:prstGeom>
            <a:noFill/>
            <a:ln w="31750" cap="sq"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6" name="TextBox 7">
              <a:extLst>
                <a:ext uri="{FF2B5EF4-FFF2-40B4-BE49-F238E27FC236}">
                  <a16:creationId xmlns:a16="http://schemas.microsoft.com/office/drawing/2014/main" xmlns="" id="{F1204F3C-568D-9123-A0C1-DC2EAB171F3C}"/>
                </a:ext>
              </a:extLst>
            </p:cNvPr>
            <p:cNvSpPr txBox="1">
              <a:spLocks noChangeArrowheads="1"/>
            </p:cNvSpPr>
            <p:nvPr/>
          </p:nvSpPr>
          <p:spPr bwMode="auto">
            <a:xfrm>
              <a:off x="3600427" y="4788441"/>
              <a:ext cx="1331613" cy="5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3200" b="1" dirty="0">
                  <a:solidFill>
                    <a:srgbClr val="C00000"/>
                  </a:solidFill>
                </a:rPr>
                <a:t> 算法</a:t>
              </a:r>
            </a:p>
          </p:txBody>
        </p:sp>
        <p:cxnSp>
          <p:nvCxnSpPr>
            <p:cNvPr id="7" name="直接箭头连接符 8">
              <a:extLst>
                <a:ext uri="{FF2B5EF4-FFF2-40B4-BE49-F238E27FC236}">
                  <a16:creationId xmlns:a16="http://schemas.microsoft.com/office/drawing/2014/main" xmlns="" id="{CE759C22-8E56-272B-2C12-3C2D0EBF93C1}"/>
                </a:ext>
              </a:extLst>
            </p:cNvPr>
            <p:cNvCxnSpPr>
              <a:cxnSpLocks noChangeShapeType="1"/>
            </p:cNvCxnSpPr>
            <p:nvPr/>
          </p:nvCxnSpPr>
          <p:spPr bwMode="auto">
            <a:xfrm flipH="1">
              <a:off x="4139952" y="5373216"/>
              <a:ext cx="18002" cy="567353"/>
            </a:xfrm>
            <a:prstGeom prst="straightConnector1">
              <a:avLst/>
            </a:prstGeom>
            <a:noFill/>
            <a:ln w="31750" cap="sq"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8" name="矩形 7">
              <a:extLst>
                <a:ext uri="{FF2B5EF4-FFF2-40B4-BE49-F238E27FC236}">
                  <a16:creationId xmlns:a16="http://schemas.microsoft.com/office/drawing/2014/main" xmlns="" id="{89931A5D-8CFE-3F8E-68C9-117BD8EC4715}"/>
                </a:ext>
              </a:extLst>
            </p:cNvPr>
            <p:cNvSpPr/>
            <p:nvPr/>
          </p:nvSpPr>
          <p:spPr bwMode="auto">
            <a:xfrm>
              <a:off x="3131110" y="5984934"/>
              <a:ext cx="2520795" cy="541186"/>
            </a:xfrm>
            <a:prstGeom prst="rect">
              <a:avLst/>
            </a:prstGeom>
            <a:solidFill>
              <a:schemeClr val="accent1"/>
            </a:solidFill>
            <a:ln w="31750" cap="sq" cmpd="sng" algn="ctr">
              <a:solidFill>
                <a:schemeClr val="tx1"/>
              </a:solidFill>
              <a:prstDash val="solid"/>
              <a:round/>
              <a:headEnd type="none" w="sm" len="sm"/>
              <a:tailEnd type="triangle" w="med" len="lg"/>
            </a:ln>
            <a:effectLst/>
          </p:spPr>
          <p:txBody>
            <a:bodyPr wrap="none"/>
            <a:lstStyle/>
            <a:p>
              <a:pPr>
                <a:defRPr/>
              </a:pPr>
              <a:r>
                <a:rPr lang="en-US" altLang="zh-CN" sz="2800" b="1" dirty="0">
                  <a:solidFill>
                    <a:srgbClr val="0033CC"/>
                  </a:solidFill>
                </a:rPr>
                <a:t>“computer”</a:t>
              </a:r>
              <a:endParaRPr lang="zh-CN" altLang="en-US" sz="2800" b="1" dirty="0">
                <a:solidFill>
                  <a:srgbClr val="0033CC"/>
                </a:solidFill>
              </a:endParaRPr>
            </a:p>
          </p:txBody>
        </p:sp>
        <p:sp>
          <p:nvSpPr>
            <p:cNvPr id="9" name="TextBox 10">
              <a:extLst>
                <a:ext uri="{FF2B5EF4-FFF2-40B4-BE49-F238E27FC236}">
                  <a16:creationId xmlns:a16="http://schemas.microsoft.com/office/drawing/2014/main" xmlns="" id="{DBD00CCB-3AEC-0250-1284-B678F064300A}"/>
                </a:ext>
              </a:extLst>
            </p:cNvPr>
            <p:cNvSpPr txBox="1">
              <a:spLocks noChangeArrowheads="1"/>
            </p:cNvSpPr>
            <p:nvPr/>
          </p:nvSpPr>
          <p:spPr bwMode="auto">
            <a:xfrm>
              <a:off x="6445726" y="5941345"/>
              <a:ext cx="1476164" cy="5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3200" b="1" dirty="0">
                  <a:solidFill>
                    <a:srgbClr val="C00000"/>
                  </a:solidFill>
                </a:rPr>
                <a:t>输出</a:t>
              </a:r>
            </a:p>
          </p:txBody>
        </p:sp>
        <p:sp>
          <p:nvSpPr>
            <p:cNvPr id="11" name="TextBox 11">
              <a:extLst>
                <a:ext uri="{FF2B5EF4-FFF2-40B4-BE49-F238E27FC236}">
                  <a16:creationId xmlns:a16="http://schemas.microsoft.com/office/drawing/2014/main" xmlns="" id="{9E28E208-9AA6-0590-BF73-544ACFB6D3D7}"/>
                </a:ext>
              </a:extLst>
            </p:cNvPr>
            <p:cNvSpPr txBox="1">
              <a:spLocks noChangeArrowheads="1"/>
            </p:cNvSpPr>
            <p:nvPr/>
          </p:nvSpPr>
          <p:spPr bwMode="auto">
            <a:xfrm>
              <a:off x="1151620" y="5904565"/>
              <a:ext cx="1476164" cy="5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3200" b="1" dirty="0">
                  <a:solidFill>
                    <a:srgbClr val="C00000"/>
                  </a:solidFill>
                </a:rPr>
                <a:t>输入</a:t>
              </a:r>
            </a:p>
          </p:txBody>
        </p:sp>
        <p:cxnSp>
          <p:nvCxnSpPr>
            <p:cNvPr id="12" name="直接箭头连接符 15">
              <a:extLst>
                <a:ext uri="{FF2B5EF4-FFF2-40B4-BE49-F238E27FC236}">
                  <a16:creationId xmlns:a16="http://schemas.microsoft.com/office/drawing/2014/main" xmlns="" id="{75A29CB5-9BBE-1346-723D-F34343DEA5D7}"/>
                </a:ext>
              </a:extLst>
            </p:cNvPr>
            <p:cNvCxnSpPr>
              <a:cxnSpLocks noChangeShapeType="1"/>
            </p:cNvCxnSpPr>
            <p:nvPr/>
          </p:nvCxnSpPr>
          <p:spPr bwMode="auto">
            <a:xfrm>
              <a:off x="2483768" y="6196953"/>
              <a:ext cx="612068" cy="4355"/>
            </a:xfrm>
            <a:prstGeom prst="straightConnector1">
              <a:avLst/>
            </a:prstGeom>
            <a:noFill/>
            <a:ln w="31750" cap="sq"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13" name="直接箭头连接符 23">
              <a:extLst>
                <a:ext uri="{FF2B5EF4-FFF2-40B4-BE49-F238E27FC236}">
                  <a16:creationId xmlns:a16="http://schemas.microsoft.com/office/drawing/2014/main" xmlns="" id="{344401AD-EADE-EC7B-359C-E469E09E5675}"/>
                </a:ext>
              </a:extLst>
            </p:cNvPr>
            <p:cNvCxnSpPr>
              <a:cxnSpLocks noChangeShapeType="1"/>
            </p:cNvCxnSpPr>
            <p:nvPr/>
          </p:nvCxnSpPr>
          <p:spPr bwMode="auto">
            <a:xfrm>
              <a:off x="5652120" y="6273316"/>
              <a:ext cx="864096" cy="0"/>
            </a:xfrm>
            <a:prstGeom prst="straightConnector1">
              <a:avLst/>
            </a:prstGeom>
            <a:noFill/>
            <a:ln w="31750" cap="sq"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gr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xmlns="" id="{FEA6AD39-A6E0-4894-9D07-ADDFD72B944A}"/>
              </a:ext>
            </a:extLst>
          </p:cNvPr>
          <p:cNvSpPr>
            <a:spLocks noGrp="1"/>
          </p:cNvSpPr>
          <p:nvPr>
            <p:ph type="sldNum" sz="quarter" idx="12"/>
          </p:nvPr>
        </p:nvSpPr>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5FB128CA-20C0-41AE-AE31-D1218729961A}" type="slidenum">
              <a:rPr lang="en-US" altLang="zh-CN"/>
              <a:pPr eaLnBrk="1" hangingPunct="1"/>
              <a:t>5</a:t>
            </a:fld>
            <a:endParaRPr lang="en-US" altLang="zh-CN"/>
          </a:p>
        </p:txBody>
      </p:sp>
      <p:sp>
        <p:nvSpPr>
          <p:cNvPr id="293890" name="Rectangle 2">
            <a:extLst>
              <a:ext uri="{FF2B5EF4-FFF2-40B4-BE49-F238E27FC236}">
                <a16:creationId xmlns:a16="http://schemas.microsoft.com/office/drawing/2014/main" xmlns="" id="{FA3246AB-0A4D-4C91-95EF-5578FC458173}"/>
              </a:ext>
            </a:extLst>
          </p:cNvPr>
          <p:cNvSpPr>
            <a:spLocks noGrp="1" noChangeArrowheads="1"/>
          </p:cNvSpPr>
          <p:nvPr>
            <p:ph type="title"/>
          </p:nvPr>
        </p:nvSpPr>
        <p:spPr>
          <a:xfrm>
            <a:off x="263352" y="260648"/>
            <a:ext cx="7776864" cy="1139825"/>
          </a:xfrm>
        </p:spPr>
        <p:txBody>
          <a:bodyPr/>
          <a:lstStyle/>
          <a:p>
            <a:pPr eaLnBrk="1" hangingPunct="1">
              <a:defRPr/>
            </a:pPr>
            <a:r>
              <a:rPr kumimoji="1" lang="zh-CN" altLang="en-US" dirty="0">
                <a:solidFill>
                  <a:schemeClr val="tx2"/>
                </a:solidFill>
              </a:rPr>
              <a:t>例：欧几里得算法</a:t>
            </a:r>
            <a:r>
              <a:rPr kumimoji="1" lang="en-US" altLang="zh-CN" dirty="0">
                <a:solidFill>
                  <a:schemeClr val="tx2"/>
                </a:solidFill>
              </a:rPr>
              <a:t>-Euclidean</a:t>
            </a:r>
          </a:p>
        </p:txBody>
      </p:sp>
      <p:sp>
        <p:nvSpPr>
          <p:cNvPr id="293891" name="Rectangle 3">
            <a:extLst>
              <a:ext uri="{FF2B5EF4-FFF2-40B4-BE49-F238E27FC236}">
                <a16:creationId xmlns:a16="http://schemas.microsoft.com/office/drawing/2014/main" xmlns="" id="{39548891-CA5A-4FEA-B042-96AF0A0C3C02}"/>
              </a:ext>
            </a:extLst>
          </p:cNvPr>
          <p:cNvSpPr>
            <a:spLocks noGrp="1" noChangeArrowheads="1"/>
          </p:cNvSpPr>
          <p:nvPr>
            <p:ph type="body" idx="1"/>
          </p:nvPr>
        </p:nvSpPr>
        <p:spPr>
          <a:xfrm>
            <a:off x="479376" y="1410687"/>
            <a:ext cx="7645400" cy="4141787"/>
          </a:xfrm>
        </p:spPr>
        <p:txBody>
          <a:bodyPr>
            <a:normAutofit fontScale="92500" lnSpcReduction="20000"/>
          </a:bodyPr>
          <a:lstStyle/>
          <a:p>
            <a:pPr eaLnBrk="1" hangingPunct="1">
              <a:lnSpc>
                <a:spcPct val="150000"/>
              </a:lnSpc>
              <a:buFont typeface="Wingdings" panose="05000000000000000000" pitchFamily="2" charset="2"/>
              <a:buNone/>
              <a:defRPr/>
            </a:pPr>
            <a:r>
              <a:rPr lang="zh-CN" altLang="en-US" b="1" dirty="0">
                <a:solidFill>
                  <a:srgbClr val="C00000"/>
                </a:solidFill>
                <a:latin typeface="Times New Roman" panose="02020603050405020304" pitchFamily="18" charset="0"/>
                <a:cs typeface="Times New Roman" panose="02020603050405020304" pitchFamily="18" charset="0"/>
              </a:rPr>
              <a:t>辗转相除法求两个正整数的最大公因数</a:t>
            </a:r>
            <a:endParaRPr lang="en-US" altLang="zh-CN" b="1" dirty="0">
              <a:solidFill>
                <a:srgbClr val="C0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defRPr/>
            </a:pPr>
            <a:r>
              <a:rPr lang="en-US" altLang="zh-CN" sz="2400" b="1" dirty="0">
                <a:latin typeface="Times New Roman" panose="02020603050405020304" pitchFamily="18" charset="0"/>
                <a:cs typeface="Times New Roman" panose="02020603050405020304" pitchFamily="18" charset="0"/>
              </a:rPr>
              <a:t>Procedure Euclid (m, n)  //</a:t>
            </a:r>
            <a:r>
              <a:rPr lang="zh-CN" altLang="en-US" sz="2400" b="1" dirty="0">
                <a:latin typeface="Times New Roman" panose="02020603050405020304" pitchFamily="18" charset="0"/>
                <a:cs typeface="Times New Roman" panose="02020603050405020304" pitchFamily="18" charset="0"/>
              </a:rPr>
              <a:t>辗转相除法</a:t>
            </a:r>
            <a:endParaRPr lang="en-US" altLang="zh-CN" sz="2400" b="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defRPr/>
            </a:pPr>
            <a:r>
              <a:rPr lang="en-US" altLang="zh-CN" sz="2400" b="1" dirty="0">
                <a:latin typeface="Times New Roman" panose="02020603050405020304" pitchFamily="18" charset="0"/>
                <a:cs typeface="Times New Roman" panose="02020603050405020304" pitchFamily="18" charset="0"/>
              </a:rPr>
              <a:t>  		// </a:t>
            </a:r>
            <a:r>
              <a:rPr lang="zh-CN" altLang="en-US" sz="2400" b="1" dirty="0">
                <a:latin typeface="Times New Roman" panose="02020603050405020304" pitchFamily="18" charset="0"/>
                <a:cs typeface="Times New Roman" panose="02020603050405020304" pitchFamily="18" charset="0"/>
              </a:rPr>
              <a:t>求正整数</a:t>
            </a:r>
            <a:r>
              <a:rPr lang="en-US" altLang="zh-CN" sz="2400" b="1" dirty="0">
                <a:latin typeface="Times New Roman" panose="02020603050405020304" pitchFamily="18" charset="0"/>
                <a:cs typeface="Times New Roman" panose="02020603050405020304" pitchFamily="18" charset="0"/>
              </a:rPr>
              <a:t>m</a:t>
            </a:r>
            <a:r>
              <a:rPr lang="zh-CN" altLang="en-US"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n (m</a:t>
            </a:r>
            <a:r>
              <a:rPr lang="zh-CN"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n)</a:t>
            </a:r>
            <a:r>
              <a:rPr lang="zh-CN" altLang="en-US" sz="2400" b="1" dirty="0">
                <a:latin typeface="Times New Roman" panose="02020603050405020304" pitchFamily="18" charset="0"/>
                <a:cs typeface="Times New Roman" panose="02020603050405020304" pitchFamily="18" charset="0"/>
              </a:rPr>
              <a:t>的最大公因数</a:t>
            </a:r>
          </a:p>
          <a:p>
            <a:pPr eaLnBrk="1" hangingPunct="1">
              <a:buFont typeface="Wingdings" panose="05000000000000000000" pitchFamily="2" charset="2"/>
              <a:buNone/>
              <a:defRPr/>
            </a:pP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r ← mod(</a:t>
            </a:r>
            <a:r>
              <a:rPr lang="en-US" altLang="zh-CN" sz="2400" b="1" dirty="0" err="1">
                <a:latin typeface="Times New Roman" panose="02020603050405020304" pitchFamily="18" charset="0"/>
                <a:cs typeface="Times New Roman" panose="02020603050405020304" pitchFamily="18" charset="0"/>
              </a:rPr>
              <a:t>m,n</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求余数</a:t>
            </a:r>
            <a:endParaRPr lang="en-US" altLang="zh-CN" sz="2400" b="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defRPr/>
            </a:pPr>
            <a:r>
              <a:rPr lang="en-US" altLang="zh-CN" sz="2400" b="1" dirty="0">
                <a:latin typeface="Times New Roman" panose="02020603050405020304" pitchFamily="18" charset="0"/>
                <a:cs typeface="Times New Roman" panose="02020603050405020304" pitchFamily="18" charset="0"/>
              </a:rPr>
              <a:t> 		 while r≠0 Do</a:t>
            </a:r>
          </a:p>
          <a:p>
            <a:pPr eaLnBrk="1" hangingPunct="1">
              <a:buFont typeface="Wingdings" panose="05000000000000000000" pitchFamily="2" charset="2"/>
              <a:buNone/>
              <a:defRPr/>
            </a:pPr>
            <a:r>
              <a:rPr lang="en-US" altLang="zh-CN" sz="2400" b="1" dirty="0">
                <a:latin typeface="Times New Roman" panose="02020603050405020304" pitchFamily="18" charset="0"/>
                <a:cs typeface="Times New Roman" panose="02020603050405020304" pitchFamily="18" charset="0"/>
              </a:rPr>
              <a:t>      	     m ←n. n ←r. r ←mod(</a:t>
            </a:r>
            <a:r>
              <a:rPr lang="en-US" altLang="zh-CN" sz="2400" b="1" dirty="0" err="1">
                <a:latin typeface="Times New Roman" panose="02020603050405020304" pitchFamily="18" charset="0"/>
                <a:cs typeface="Times New Roman" panose="02020603050405020304" pitchFamily="18" charset="0"/>
              </a:rPr>
              <a:t>m,n</a:t>
            </a:r>
            <a:r>
              <a:rPr lang="en-US" altLang="zh-CN" sz="2400" b="1" dirty="0">
                <a:latin typeface="Times New Roman" panose="02020603050405020304" pitchFamily="18" charset="0"/>
                <a:cs typeface="Times New Roman" panose="02020603050405020304" pitchFamily="18" charset="0"/>
              </a:rPr>
              <a:t>).</a:t>
            </a:r>
          </a:p>
          <a:p>
            <a:pPr eaLnBrk="1" hangingPunct="1">
              <a:buFont typeface="Wingdings" panose="05000000000000000000" pitchFamily="2" charset="2"/>
              <a:buNone/>
              <a:defRPr/>
            </a:pPr>
            <a:r>
              <a:rPr lang="en-US" altLang="zh-CN" sz="2400" b="1" dirty="0">
                <a:latin typeface="Times New Roman" panose="02020603050405020304" pitchFamily="18" charset="0"/>
                <a:cs typeface="Times New Roman" panose="02020603050405020304" pitchFamily="18" charset="0"/>
              </a:rPr>
              <a:t>  		repeat</a:t>
            </a:r>
          </a:p>
          <a:p>
            <a:pPr eaLnBrk="1" hangingPunct="1">
              <a:buFont typeface="Wingdings" panose="05000000000000000000" pitchFamily="2" charset="2"/>
              <a:buNone/>
              <a:defRPr/>
            </a:pPr>
            <a:r>
              <a:rPr lang="en-US" altLang="zh-CN" sz="2400" b="1" dirty="0">
                <a:latin typeface="Times New Roman" panose="02020603050405020304" pitchFamily="18" charset="0"/>
                <a:cs typeface="Times New Roman" panose="02020603050405020304" pitchFamily="18" charset="0"/>
              </a:rPr>
              <a:t>  		return n</a:t>
            </a:r>
          </a:p>
          <a:p>
            <a:pPr eaLnBrk="1" hangingPunct="1">
              <a:buFont typeface="Wingdings" panose="05000000000000000000" pitchFamily="2" charset="2"/>
              <a:buNone/>
              <a:defRPr/>
            </a:pPr>
            <a:r>
              <a:rPr lang="en-US" altLang="zh-CN" sz="2400" b="1" dirty="0">
                <a:latin typeface="Times New Roman" panose="02020603050405020304" pitchFamily="18" charset="0"/>
                <a:cs typeface="Times New Roman" panose="02020603050405020304" pitchFamily="18" charset="0"/>
              </a:rPr>
              <a:t>End Euclid</a:t>
            </a:r>
          </a:p>
        </p:txBody>
      </p:sp>
      <p:pic>
        <p:nvPicPr>
          <p:cNvPr id="7" name="图片 6">
            <a:extLst>
              <a:ext uri="{FF2B5EF4-FFF2-40B4-BE49-F238E27FC236}">
                <a16:creationId xmlns:a16="http://schemas.microsoft.com/office/drawing/2014/main" xmlns="" id="{E88EAA97-FC25-E67C-E49E-43D8AD58EF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4032" y="2132856"/>
            <a:ext cx="5534825" cy="38884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79376" y="188640"/>
            <a:ext cx="8507413" cy="1371600"/>
          </a:xfrm>
        </p:spPr>
        <p:txBody>
          <a:bodyPr/>
          <a:lstStyle/>
          <a:p>
            <a:pPr eaLnBrk="1" hangingPunct="1"/>
            <a:r>
              <a:rPr kumimoji="1" lang="zh-CN" altLang="en-US" dirty="0">
                <a:solidFill>
                  <a:schemeClr val="tx2"/>
                </a:solidFill>
              </a:rPr>
              <a:t>算法</a:t>
            </a:r>
            <a:r>
              <a:rPr kumimoji="1" lang="en-US" altLang="zh-CN" dirty="0"/>
              <a:t>(Algorithm)</a:t>
            </a:r>
            <a:r>
              <a:rPr kumimoji="1" lang="zh-CN" altLang="en-US" dirty="0">
                <a:solidFill>
                  <a:schemeClr val="tx2"/>
                </a:solidFill>
              </a:rPr>
              <a:t>的五个重要特性</a:t>
            </a:r>
            <a:endParaRPr lang="zh-CN" altLang="en-US" dirty="0"/>
          </a:p>
        </p:txBody>
      </p:sp>
      <p:sp>
        <p:nvSpPr>
          <p:cNvPr id="7171" name="Rectangle 3"/>
          <p:cNvSpPr>
            <a:spLocks noGrp="1" noChangeArrowheads="1"/>
          </p:cNvSpPr>
          <p:nvPr>
            <p:ph idx="1"/>
          </p:nvPr>
        </p:nvSpPr>
        <p:spPr>
          <a:xfrm>
            <a:off x="551384" y="1700808"/>
            <a:ext cx="8496300" cy="4184650"/>
          </a:xfrm>
        </p:spPr>
        <p:txBody>
          <a:bodyPr/>
          <a:lstStyle/>
          <a:p>
            <a:pPr eaLnBrk="1" hangingPunct="1">
              <a:lnSpc>
                <a:spcPct val="110000"/>
              </a:lnSpc>
            </a:pPr>
            <a:r>
              <a:rPr lang="zh-CN" altLang="en-US" dirty="0"/>
              <a:t>满足如下五条特性的一组规则才能被称为算法</a:t>
            </a:r>
            <a:endParaRPr lang="en-US" altLang="zh-CN" dirty="0"/>
          </a:p>
          <a:p>
            <a:pPr lvl="1" eaLnBrk="1" hangingPunct="1">
              <a:lnSpc>
                <a:spcPct val="110000"/>
              </a:lnSpc>
            </a:pPr>
            <a:r>
              <a:rPr kumimoji="1" lang="zh-CN" altLang="en-US" dirty="0"/>
              <a:t>确定性 </a:t>
            </a:r>
            <a:r>
              <a:rPr kumimoji="1" lang="en-US" altLang="zh-CN" dirty="0"/>
              <a:t>(Definiteness)</a:t>
            </a:r>
            <a:endParaRPr kumimoji="1" lang="zh-CN" altLang="en-US" dirty="0"/>
          </a:p>
          <a:p>
            <a:pPr lvl="1" eaLnBrk="1" hangingPunct="1">
              <a:lnSpc>
                <a:spcPct val="110000"/>
              </a:lnSpc>
            </a:pPr>
            <a:r>
              <a:rPr kumimoji="1" lang="zh-CN" altLang="en-US" dirty="0"/>
              <a:t>能行性 </a:t>
            </a:r>
            <a:r>
              <a:rPr kumimoji="1" lang="en-US" altLang="zh-CN" dirty="0"/>
              <a:t>(Effectiveness)</a:t>
            </a:r>
            <a:endParaRPr kumimoji="1" lang="zh-CN" altLang="en-US" dirty="0"/>
          </a:p>
          <a:p>
            <a:pPr lvl="1" eaLnBrk="1" hangingPunct="1">
              <a:lnSpc>
                <a:spcPct val="110000"/>
              </a:lnSpc>
            </a:pPr>
            <a:r>
              <a:rPr kumimoji="1" lang="zh-CN" altLang="en-US" dirty="0"/>
              <a:t>输入 </a:t>
            </a:r>
            <a:r>
              <a:rPr kumimoji="1" lang="en-US" altLang="zh-CN" dirty="0"/>
              <a:t>(Input)</a:t>
            </a:r>
          </a:p>
          <a:p>
            <a:pPr lvl="1" eaLnBrk="1" hangingPunct="1">
              <a:lnSpc>
                <a:spcPct val="110000"/>
              </a:lnSpc>
            </a:pPr>
            <a:r>
              <a:rPr kumimoji="1" lang="zh-CN" altLang="en-US" dirty="0"/>
              <a:t>输出</a:t>
            </a:r>
            <a:r>
              <a:rPr kumimoji="1" lang="en-US" altLang="zh-CN" dirty="0"/>
              <a:t>(Output)</a:t>
            </a:r>
            <a:endParaRPr kumimoji="1" lang="zh-CN" altLang="en-US" dirty="0"/>
          </a:p>
          <a:p>
            <a:pPr lvl="1" eaLnBrk="1" hangingPunct="1">
              <a:lnSpc>
                <a:spcPct val="110000"/>
              </a:lnSpc>
            </a:pPr>
            <a:r>
              <a:rPr kumimoji="1" lang="zh-CN" altLang="en-US" dirty="0"/>
              <a:t>有穷性 </a:t>
            </a:r>
            <a:r>
              <a:rPr kumimoji="1" lang="en-US" altLang="zh-CN" dirty="0"/>
              <a:t>(Finiteness)</a:t>
            </a:r>
            <a:endParaRPr kumimoji="1" lang="zh-CN" altLang="en-US" dirty="0"/>
          </a:p>
          <a:p>
            <a:pPr eaLnBrk="1" hangingPunct="1">
              <a:lnSpc>
                <a:spcPct val="90000"/>
              </a:lnSpc>
              <a:buFont typeface="Wingdings" pitchFamily="2" charset="2"/>
              <a:buNone/>
            </a:pPr>
            <a:r>
              <a:rPr kumimoji="1" lang="zh-CN" altLang="en-US" sz="2800" b="1" dirty="0">
                <a:solidFill>
                  <a:srgbClr val="0000FF"/>
                </a:solidFill>
              </a:rPr>
              <a:t>	</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6</a:t>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551384" y="116632"/>
            <a:ext cx="8507413" cy="1371600"/>
          </a:xfrm>
        </p:spPr>
        <p:txBody>
          <a:bodyPr/>
          <a:lstStyle/>
          <a:p>
            <a:r>
              <a:rPr kumimoji="1" lang="zh-CN" altLang="en-US" dirty="0">
                <a:solidFill>
                  <a:schemeClr val="tx2"/>
                </a:solidFill>
              </a:rPr>
              <a:t>算法</a:t>
            </a:r>
            <a:r>
              <a:rPr kumimoji="1" lang="en-US" altLang="zh-CN" dirty="0"/>
              <a:t>(Algorithm)</a:t>
            </a:r>
            <a:r>
              <a:rPr kumimoji="1" lang="zh-CN" altLang="en-US" dirty="0">
                <a:solidFill>
                  <a:schemeClr val="tx2"/>
                </a:solidFill>
              </a:rPr>
              <a:t>的五个重要特性</a:t>
            </a:r>
            <a:endParaRPr lang="zh-CN" altLang="en-US" dirty="0"/>
          </a:p>
        </p:txBody>
      </p:sp>
      <p:sp>
        <p:nvSpPr>
          <p:cNvPr id="8195" name="内容占位符 2"/>
          <p:cNvSpPr>
            <a:spLocks noGrp="1"/>
          </p:cNvSpPr>
          <p:nvPr>
            <p:ph idx="1"/>
          </p:nvPr>
        </p:nvSpPr>
        <p:spPr>
          <a:xfrm>
            <a:off x="551384" y="1628800"/>
            <a:ext cx="10515600" cy="4351338"/>
          </a:xfrm>
        </p:spPr>
        <p:txBody>
          <a:bodyPr>
            <a:normAutofit/>
          </a:bodyPr>
          <a:lstStyle/>
          <a:p>
            <a:r>
              <a:rPr kumimoji="1" lang="zh-CN" altLang="en-US" sz="2400" dirty="0">
                <a:solidFill>
                  <a:srgbClr val="FF0000"/>
                </a:solidFill>
              </a:rPr>
              <a:t>确定性</a:t>
            </a:r>
            <a:r>
              <a:rPr kumimoji="1" lang="zh-CN" altLang="en-US" sz="2400" dirty="0"/>
              <a:t>：每一种运算必须要有确切定义，无二义性。</a:t>
            </a:r>
            <a:endParaRPr kumimoji="1" lang="en-US" altLang="zh-CN" sz="2400" dirty="0"/>
          </a:p>
          <a:p>
            <a:pPr eaLnBrk="1" hangingPunct="1">
              <a:lnSpc>
                <a:spcPct val="90000"/>
              </a:lnSpc>
            </a:pPr>
            <a:r>
              <a:rPr kumimoji="1" lang="zh-CN" altLang="en-US" sz="2400" dirty="0">
                <a:solidFill>
                  <a:srgbClr val="FF0000"/>
                </a:solidFill>
              </a:rPr>
              <a:t>能行性</a:t>
            </a:r>
            <a:r>
              <a:rPr kumimoji="1" lang="zh-CN" altLang="en-US" sz="2400" dirty="0"/>
              <a:t>：运算都是基本运算，原理上能</a:t>
            </a:r>
            <a:r>
              <a:rPr lang="zh-CN" altLang="en-US" sz="2400" dirty="0"/>
              <a:t>用纸和笔</a:t>
            </a:r>
            <a:r>
              <a:rPr kumimoji="1" lang="zh-CN" altLang="en-US" sz="2400" dirty="0"/>
              <a:t>在有限时间完成。</a:t>
            </a:r>
            <a:endParaRPr kumimoji="1" lang="en-US" altLang="zh-CN" sz="2400" dirty="0"/>
          </a:p>
          <a:p>
            <a:pPr>
              <a:defRPr/>
            </a:pPr>
            <a:r>
              <a:rPr kumimoji="1" lang="zh-CN" altLang="en-US" sz="2400" dirty="0">
                <a:solidFill>
                  <a:srgbClr val="FF0000"/>
                </a:solidFill>
              </a:rPr>
              <a:t>输   入</a:t>
            </a:r>
            <a:r>
              <a:rPr kumimoji="1" lang="zh-CN" altLang="en-US" sz="2400" dirty="0"/>
              <a:t>：有</a:t>
            </a:r>
            <a:r>
              <a:rPr kumimoji="1" lang="en-US" altLang="zh-CN" sz="2400" dirty="0"/>
              <a:t>0</a:t>
            </a:r>
            <a:r>
              <a:rPr kumimoji="1" lang="zh-CN" altLang="en-US" sz="2400" dirty="0"/>
              <a:t>个或多个输入。</a:t>
            </a:r>
            <a:endParaRPr kumimoji="1" lang="en-US" altLang="zh-CN" sz="2400" dirty="0"/>
          </a:p>
          <a:p>
            <a:pPr lvl="1">
              <a:defRPr/>
            </a:pPr>
            <a:r>
              <a:rPr lang="zh-CN" altLang="en-US" dirty="0"/>
              <a:t>在算法开始之前，从特定的对象集合中取值。</a:t>
            </a:r>
            <a:endParaRPr lang="en-US" altLang="zh-CN" dirty="0"/>
          </a:p>
          <a:p>
            <a:pPr>
              <a:defRPr/>
            </a:pPr>
            <a:r>
              <a:rPr kumimoji="1" lang="zh-CN" altLang="en-US" sz="2400" dirty="0">
                <a:solidFill>
                  <a:srgbClr val="FF0000"/>
                </a:solidFill>
              </a:rPr>
              <a:t>输   出</a:t>
            </a:r>
            <a:r>
              <a:rPr kumimoji="1" lang="zh-CN" altLang="en-US" sz="2400" dirty="0"/>
              <a:t>：一个或多个输出。</a:t>
            </a:r>
            <a:endParaRPr kumimoji="1" lang="en-US" altLang="zh-CN" sz="2400" dirty="0"/>
          </a:p>
          <a:p>
            <a:pPr lvl="1">
              <a:defRPr/>
            </a:pPr>
            <a:r>
              <a:rPr lang="zh-CN" altLang="en-US" dirty="0"/>
              <a:t>这些输出和输入有特定关系。</a:t>
            </a:r>
            <a:endParaRPr lang="en-US" altLang="zh-CN" dirty="0"/>
          </a:p>
          <a:p>
            <a:pPr>
              <a:lnSpc>
                <a:spcPct val="90000"/>
              </a:lnSpc>
              <a:defRPr/>
            </a:pPr>
            <a:r>
              <a:rPr kumimoji="1" lang="zh-CN" altLang="en-US" sz="2400" dirty="0">
                <a:solidFill>
                  <a:srgbClr val="FF0000"/>
                </a:solidFill>
              </a:rPr>
              <a:t>有穷性</a:t>
            </a:r>
            <a:r>
              <a:rPr kumimoji="1" lang="zh-CN" altLang="en-US" sz="2400" dirty="0"/>
              <a:t>：在执行了有穷步运算后终止。</a:t>
            </a:r>
            <a:endParaRPr kumimoji="1" lang="en-US" altLang="zh-CN" sz="2400" dirty="0"/>
          </a:p>
          <a:p>
            <a:pPr marL="0" indent="0" eaLnBrk="1" hangingPunct="1">
              <a:lnSpc>
                <a:spcPct val="90000"/>
              </a:lnSpc>
              <a:buNone/>
            </a:pPr>
            <a:endParaRPr kumimoji="1" lang="zh-CN" altLang="en-US" dirty="0"/>
          </a:p>
          <a:p>
            <a:endParaRPr kumimoji="1" lang="zh-CN" altLang="en-US" b="1" dirty="0"/>
          </a:p>
          <a:p>
            <a:endParaRPr lang="zh-CN" altLang="en-US" dirty="0"/>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7</a:t>
            </a:fld>
            <a:endParaRPr lang="en-US" altLang="zh-CN"/>
          </a:p>
        </p:txBody>
      </p:sp>
      <p:sp>
        <p:nvSpPr>
          <p:cNvPr id="5" name="AutoShape 11"/>
          <p:cNvSpPr>
            <a:spLocks noChangeArrowheads="1"/>
          </p:cNvSpPr>
          <p:nvPr/>
        </p:nvSpPr>
        <p:spPr bwMode="auto">
          <a:xfrm>
            <a:off x="6163270" y="5116042"/>
            <a:ext cx="2880320" cy="864096"/>
          </a:xfrm>
          <a:prstGeom prst="wedgeRoundRectCallout">
            <a:avLst>
              <a:gd name="adj1" fmla="val -55268"/>
              <a:gd name="adj2" fmla="val -71403"/>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幼圆" panose="02010509060101010101" pitchFamily="49" charset="-122"/>
                <a:ea typeface="幼圆" panose="02010509060101010101" pitchFamily="49" charset="-122"/>
                <a:cs typeface="Arial" panose="020B0604020202020204" pitchFamily="34" charset="0"/>
              </a:rPr>
              <a:t>不仅有穷，还</a:t>
            </a:r>
            <a:r>
              <a:rPr lang="zh-CN" altLang="en-US" sz="2000" dirty="0">
                <a:solidFill>
                  <a:schemeClr val="tx1"/>
                </a:solidFill>
                <a:latin typeface="幼圆" panose="02010509060101010101" pitchFamily="49" charset="-122"/>
                <a:ea typeface="幼圆" panose="02010509060101010101" pitchFamily="49" charset="-122"/>
              </a:rPr>
              <a:t>要在现代计算机上有效才行</a:t>
            </a:r>
            <a:endParaRPr lang="zh-CN" altLang="en-US" sz="2000" dirty="0">
              <a:solidFill>
                <a:schemeClr val="tx1"/>
              </a:solidFill>
              <a:latin typeface="幼圆" panose="02010509060101010101" pitchFamily="49" charset="-122"/>
              <a:ea typeface="幼圆" panose="02010509060101010101" pitchFamily="49"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51384" y="266563"/>
            <a:ext cx="10515600" cy="1325563"/>
          </a:xfrm>
        </p:spPr>
        <p:txBody>
          <a:bodyPr/>
          <a:lstStyle/>
          <a:p>
            <a:pPr eaLnBrk="1" hangingPunct="1"/>
            <a:r>
              <a:rPr kumimoji="1" lang="zh-CN" altLang="en-US" dirty="0">
                <a:solidFill>
                  <a:schemeClr val="tx2"/>
                </a:solidFill>
              </a:rPr>
              <a:t>计算过程与算法的区别</a:t>
            </a:r>
            <a:endParaRPr lang="zh-CN" altLang="en-US" dirty="0">
              <a:solidFill>
                <a:schemeClr val="tx2"/>
              </a:solidFill>
              <a:latin typeface="宋体" pitchFamily="2" charset="-122"/>
            </a:endParaRPr>
          </a:p>
        </p:txBody>
      </p:sp>
      <p:sp>
        <p:nvSpPr>
          <p:cNvPr id="10243" name="Rectangle 3"/>
          <p:cNvSpPr>
            <a:spLocks noGrp="1" noChangeArrowheads="1"/>
          </p:cNvSpPr>
          <p:nvPr>
            <p:ph idx="1"/>
          </p:nvPr>
        </p:nvSpPr>
        <p:spPr>
          <a:xfrm>
            <a:off x="541957" y="1628800"/>
            <a:ext cx="10801200" cy="4400550"/>
          </a:xfrm>
        </p:spPr>
        <p:txBody>
          <a:bodyPr/>
          <a:lstStyle/>
          <a:p>
            <a:pPr eaLnBrk="1" hangingPunct="1">
              <a:lnSpc>
                <a:spcPct val="150000"/>
              </a:lnSpc>
            </a:pPr>
            <a:r>
              <a:rPr lang="zh-CN" altLang="en-US" dirty="0"/>
              <a:t>计算过程可以不满足算法的性质</a:t>
            </a:r>
            <a:r>
              <a:rPr lang="en-US" altLang="zh-CN" dirty="0"/>
              <a:t>(5)</a:t>
            </a:r>
            <a:r>
              <a:rPr lang="zh-CN" altLang="en-US" dirty="0"/>
              <a:t>有穷性。</a:t>
            </a:r>
          </a:p>
          <a:p>
            <a:pPr eaLnBrk="1" hangingPunct="1">
              <a:lnSpc>
                <a:spcPct val="150000"/>
              </a:lnSpc>
            </a:pPr>
            <a:r>
              <a:rPr lang="zh-CN" altLang="en-US" dirty="0"/>
              <a:t>例如操作系统，当没有任务时，操作系统并不终止，而是处于等待状态，直到有新的任务启动，因而不是一个算法。</a:t>
            </a:r>
          </a:p>
          <a:p>
            <a:pPr eaLnBrk="1" hangingPunct="1">
              <a:lnSpc>
                <a:spcPct val="150000"/>
              </a:lnSpc>
            </a:pPr>
            <a:r>
              <a:rPr lang="zh-CN" altLang="en-US" dirty="0">
                <a:solidFill>
                  <a:srgbClr val="FF0000"/>
                </a:solidFill>
              </a:rPr>
              <a:t>程序 </a:t>
            </a:r>
            <a:r>
              <a:rPr lang="en-US" altLang="zh-CN" dirty="0">
                <a:solidFill>
                  <a:srgbClr val="FF0000"/>
                </a:solidFill>
              </a:rPr>
              <a:t>= </a:t>
            </a:r>
            <a:r>
              <a:rPr lang="zh-CN" altLang="en-US" dirty="0">
                <a:solidFill>
                  <a:srgbClr val="FF0000"/>
                </a:solidFill>
              </a:rPr>
              <a:t>算法 </a:t>
            </a:r>
            <a:r>
              <a:rPr lang="en-US" altLang="zh-CN" dirty="0">
                <a:solidFill>
                  <a:srgbClr val="FF0000"/>
                </a:solidFill>
              </a:rPr>
              <a:t>+ </a:t>
            </a:r>
            <a:r>
              <a:rPr lang="zh-CN" altLang="en-US" dirty="0">
                <a:solidFill>
                  <a:srgbClr val="FF0000"/>
                </a:solidFill>
              </a:rPr>
              <a:t>数据结构 </a:t>
            </a:r>
            <a:r>
              <a:rPr lang="en-US" altLang="zh-CN" dirty="0">
                <a:solidFill>
                  <a:srgbClr val="FF0000"/>
                </a:solidFill>
              </a:rPr>
              <a:t>(By </a:t>
            </a:r>
            <a:r>
              <a:rPr lang="en-US" altLang="zh-CN" dirty="0" err="1">
                <a:solidFill>
                  <a:srgbClr val="FF0000"/>
                </a:solidFill>
              </a:rPr>
              <a:t>Niklaus</a:t>
            </a:r>
            <a:r>
              <a:rPr lang="en-US" altLang="zh-CN" dirty="0">
                <a:solidFill>
                  <a:srgbClr val="FF0000"/>
                </a:solidFill>
              </a:rPr>
              <a:t> Wirth</a:t>
            </a:r>
            <a:r>
              <a:rPr lang="en-US" altLang="zh-CN" sz="4000" dirty="0">
                <a:solidFill>
                  <a:srgbClr val="FF0000"/>
                </a:solidFill>
              </a:rPr>
              <a:t> </a:t>
            </a:r>
            <a:r>
              <a:rPr lang="en-US" altLang="zh-CN" dirty="0">
                <a:solidFill>
                  <a:srgbClr val="FF0000"/>
                </a:solidFill>
              </a:rPr>
              <a:t>)</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04949" y="144687"/>
            <a:ext cx="8229600" cy="1371600"/>
          </a:xfrm>
        </p:spPr>
        <p:txBody>
          <a:bodyPr/>
          <a:lstStyle/>
          <a:p>
            <a:pPr eaLnBrk="1" hangingPunct="1"/>
            <a:r>
              <a:rPr kumimoji="1" lang="zh-CN" altLang="en-US" dirty="0">
                <a:solidFill>
                  <a:schemeClr val="tx2"/>
                </a:solidFill>
              </a:rPr>
              <a:t>问题的求解过程</a:t>
            </a:r>
          </a:p>
        </p:txBody>
      </p:sp>
      <p:grpSp>
        <p:nvGrpSpPr>
          <p:cNvPr id="11267" name="Group 28"/>
          <p:cNvGrpSpPr>
            <a:grpSpLocks/>
          </p:cNvGrpSpPr>
          <p:nvPr/>
        </p:nvGrpSpPr>
        <p:grpSpPr bwMode="auto">
          <a:xfrm>
            <a:off x="3431704" y="908720"/>
            <a:ext cx="4896544" cy="5256584"/>
            <a:chOff x="1361" y="1163"/>
            <a:chExt cx="2541" cy="2947"/>
          </a:xfrm>
        </p:grpSpPr>
        <p:sp>
          <p:nvSpPr>
            <p:cNvPr id="11268" name="Rectangle 4"/>
            <p:cNvSpPr>
              <a:spLocks noChangeArrowheads="1"/>
            </p:cNvSpPr>
            <p:nvPr/>
          </p:nvSpPr>
          <p:spPr bwMode="auto">
            <a:xfrm>
              <a:off x="2144" y="2932"/>
              <a:ext cx="1134" cy="273"/>
            </a:xfrm>
            <a:prstGeom prst="rect">
              <a:avLst/>
            </a:prstGeom>
            <a:solidFill>
              <a:schemeClr val="bg1"/>
            </a:solidFill>
            <a:ln w="19050">
              <a:solidFill>
                <a:schemeClr val="accent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a:latin typeface="幼圆" panose="02010509060101010101" pitchFamily="49" charset="-122"/>
                  <a:ea typeface="幼圆" panose="02010509060101010101" pitchFamily="49" charset="-122"/>
                </a:rPr>
                <a:t>证明正确性</a:t>
              </a:r>
            </a:p>
          </p:txBody>
        </p:sp>
        <p:sp>
          <p:nvSpPr>
            <p:cNvPr id="11269" name="Rectangle 5"/>
            <p:cNvSpPr>
              <a:spLocks noChangeArrowheads="1"/>
            </p:cNvSpPr>
            <p:nvPr/>
          </p:nvSpPr>
          <p:spPr bwMode="auto">
            <a:xfrm>
              <a:off x="2144" y="3386"/>
              <a:ext cx="1134" cy="272"/>
            </a:xfrm>
            <a:prstGeom prst="rect">
              <a:avLst/>
            </a:prstGeom>
            <a:solidFill>
              <a:schemeClr val="bg1"/>
            </a:solidFill>
            <a:ln w="19050">
              <a:solidFill>
                <a:schemeClr val="accent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dirty="0">
                  <a:latin typeface="幼圆" panose="02010509060101010101" pitchFamily="49" charset="-122"/>
                  <a:ea typeface="幼圆" panose="02010509060101010101" pitchFamily="49" charset="-122"/>
                </a:rPr>
                <a:t>分析算法</a:t>
              </a:r>
            </a:p>
          </p:txBody>
        </p:sp>
        <p:sp>
          <p:nvSpPr>
            <p:cNvPr id="11270" name="Oval 6"/>
            <p:cNvSpPr>
              <a:spLocks noChangeArrowheads="1"/>
            </p:cNvSpPr>
            <p:nvPr/>
          </p:nvSpPr>
          <p:spPr bwMode="auto">
            <a:xfrm>
              <a:off x="2018" y="1163"/>
              <a:ext cx="1270" cy="317"/>
            </a:xfrm>
            <a:prstGeom prst="ellipse">
              <a:avLst/>
            </a:prstGeom>
            <a:solidFill>
              <a:schemeClr val="bg1"/>
            </a:solidFill>
            <a:ln w="19050">
              <a:solidFill>
                <a:schemeClr val="accent1">
                  <a:lumMod val="7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a:latin typeface="幼圆" panose="02010509060101010101" pitchFamily="49" charset="-122"/>
                  <a:ea typeface="幼圆" panose="02010509060101010101" pitchFamily="49" charset="-122"/>
                </a:rPr>
                <a:t>理解问题</a:t>
              </a:r>
            </a:p>
          </p:txBody>
        </p:sp>
        <p:sp>
          <p:nvSpPr>
            <p:cNvPr id="11271" name="Oval 7"/>
            <p:cNvSpPr>
              <a:spLocks noChangeArrowheads="1"/>
            </p:cNvSpPr>
            <p:nvPr/>
          </p:nvSpPr>
          <p:spPr bwMode="auto">
            <a:xfrm>
              <a:off x="1679" y="1661"/>
              <a:ext cx="1950" cy="636"/>
            </a:xfrm>
            <a:prstGeom prst="ellipse">
              <a:avLst/>
            </a:prstGeom>
            <a:solidFill>
              <a:schemeClr val="bg1"/>
            </a:solidFill>
            <a:ln w="19050">
              <a:solidFill>
                <a:schemeClr val="accent1">
                  <a:lumMod val="7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dirty="0">
                  <a:latin typeface="幼圆" panose="02010509060101010101" pitchFamily="49" charset="-122"/>
                  <a:ea typeface="幼圆" panose="02010509060101010101" pitchFamily="49" charset="-122"/>
                </a:rPr>
                <a:t>选择数据结构和</a:t>
              </a:r>
            </a:p>
            <a:p>
              <a:pPr algn="ctr"/>
              <a:r>
                <a:rPr kumimoji="1" lang="zh-CN" altLang="en-US" sz="2400" dirty="0">
                  <a:latin typeface="幼圆" panose="02010509060101010101" pitchFamily="49" charset="-122"/>
                  <a:ea typeface="幼圆" panose="02010509060101010101" pitchFamily="49" charset="-122"/>
                </a:rPr>
                <a:t>算法设计策略</a:t>
              </a:r>
            </a:p>
          </p:txBody>
        </p:sp>
        <p:sp>
          <p:nvSpPr>
            <p:cNvPr id="11272" name="Rectangle 8"/>
            <p:cNvSpPr>
              <a:spLocks noChangeArrowheads="1"/>
            </p:cNvSpPr>
            <p:nvPr/>
          </p:nvSpPr>
          <p:spPr bwMode="auto">
            <a:xfrm>
              <a:off x="2132" y="2478"/>
              <a:ext cx="1134" cy="273"/>
            </a:xfrm>
            <a:prstGeom prst="rect">
              <a:avLst/>
            </a:prstGeom>
            <a:solidFill>
              <a:schemeClr val="bg1"/>
            </a:solidFill>
            <a:ln w="19050">
              <a:solidFill>
                <a:schemeClr val="accent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a:latin typeface="幼圆" panose="02010509060101010101" pitchFamily="49" charset="-122"/>
                  <a:ea typeface="幼圆" panose="02010509060101010101" pitchFamily="49" charset="-122"/>
                </a:rPr>
                <a:t>设计算法</a:t>
              </a:r>
            </a:p>
          </p:txBody>
        </p:sp>
        <p:sp>
          <p:nvSpPr>
            <p:cNvPr id="11273" name="Line 10"/>
            <p:cNvSpPr>
              <a:spLocks noChangeShapeType="1"/>
            </p:cNvSpPr>
            <p:nvPr/>
          </p:nvSpPr>
          <p:spPr bwMode="auto">
            <a:xfrm>
              <a:off x="2677" y="2750"/>
              <a:ext cx="1" cy="182"/>
            </a:xfrm>
            <a:prstGeom prst="line">
              <a:avLst/>
            </a:prstGeom>
            <a:noFill/>
            <a:ln w="19050">
              <a:solidFill>
                <a:schemeClr val="accent1">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74" name="Line 11"/>
            <p:cNvSpPr>
              <a:spLocks noChangeShapeType="1"/>
            </p:cNvSpPr>
            <p:nvPr/>
          </p:nvSpPr>
          <p:spPr bwMode="auto">
            <a:xfrm>
              <a:off x="2677" y="2297"/>
              <a:ext cx="1" cy="181"/>
            </a:xfrm>
            <a:prstGeom prst="line">
              <a:avLst/>
            </a:prstGeom>
            <a:noFill/>
            <a:ln w="19050">
              <a:solidFill>
                <a:schemeClr val="accent1">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75" name="Line 12"/>
            <p:cNvSpPr>
              <a:spLocks noChangeShapeType="1"/>
            </p:cNvSpPr>
            <p:nvPr/>
          </p:nvSpPr>
          <p:spPr bwMode="auto">
            <a:xfrm>
              <a:off x="2677" y="3204"/>
              <a:ext cx="1" cy="181"/>
            </a:xfrm>
            <a:prstGeom prst="line">
              <a:avLst/>
            </a:prstGeom>
            <a:noFill/>
            <a:ln w="19050">
              <a:solidFill>
                <a:schemeClr val="accent1">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76" name="Line 13"/>
            <p:cNvSpPr>
              <a:spLocks noChangeShapeType="1"/>
            </p:cNvSpPr>
            <p:nvPr/>
          </p:nvSpPr>
          <p:spPr bwMode="auto">
            <a:xfrm>
              <a:off x="2677" y="3658"/>
              <a:ext cx="1" cy="181"/>
            </a:xfrm>
            <a:prstGeom prst="line">
              <a:avLst/>
            </a:prstGeom>
            <a:noFill/>
            <a:ln w="19050">
              <a:solidFill>
                <a:schemeClr val="accent1">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77" name="Line 14"/>
            <p:cNvSpPr>
              <a:spLocks noChangeShapeType="1"/>
            </p:cNvSpPr>
            <p:nvPr/>
          </p:nvSpPr>
          <p:spPr bwMode="auto">
            <a:xfrm flipH="1">
              <a:off x="1361" y="1934"/>
              <a:ext cx="318" cy="1"/>
            </a:xfrm>
            <a:prstGeom prst="line">
              <a:avLst/>
            </a:prstGeom>
            <a:noFill/>
            <a:ln w="19050">
              <a:solidFill>
                <a:schemeClr val="accent1">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78" name="Line 15"/>
            <p:cNvSpPr>
              <a:spLocks noChangeShapeType="1"/>
            </p:cNvSpPr>
            <p:nvPr/>
          </p:nvSpPr>
          <p:spPr bwMode="auto">
            <a:xfrm>
              <a:off x="3629" y="1888"/>
              <a:ext cx="272" cy="1"/>
            </a:xfrm>
            <a:prstGeom prst="line">
              <a:avLst/>
            </a:prstGeom>
            <a:noFill/>
            <a:ln w="19050">
              <a:solidFill>
                <a:schemeClr val="accent1">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79" name="Line 16"/>
            <p:cNvSpPr>
              <a:spLocks noChangeShapeType="1"/>
            </p:cNvSpPr>
            <p:nvPr/>
          </p:nvSpPr>
          <p:spPr bwMode="auto">
            <a:xfrm>
              <a:off x="1361" y="1934"/>
              <a:ext cx="1" cy="635"/>
            </a:xfrm>
            <a:prstGeom prst="line">
              <a:avLst/>
            </a:prstGeom>
            <a:noFill/>
            <a:ln w="190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80" name="Line 17"/>
            <p:cNvSpPr>
              <a:spLocks noChangeShapeType="1"/>
            </p:cNvSpPr>
            <p:nvPr/>
          </p:nvSpPr>
          <p:spPr bwMode="auto">
            <a:xfrm>
              <a:off x="1361" y="2569"/>
              <a:ext cx="771" cy="1"/>
            </a:xfrm>
            <a:prstGeom prst="line">
              <a:avLst/>
            </a:prstGeom>
            <a:noFill/>
            <a:ln w="190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81" name="Line 18"/>
            <p:cNvSpPr>
              <a:spLocks noChangeShapeType="1"/>
            </p:cNvSpPr>
            <p:nvPr/>
          </p:nvSpPr>
          <p:spPr bwMode="auto">
            <a:xfrm>
              <a:off x="3901" y="1888"/>
              <a:ext cx="1" cy="681"/>
            </a:xfrm>
            <a:prstGeom prst="line">
              <a:avLst/>
            </a:prstGeom>
            <a:noFill/>
            <a:ln w="190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82" name="Line 19"/>
            <p:cNvSpPr>
              <a:spLocks noChangeShapeType="1"/>
            </p:cNvSpPr>
            <p:nvPr/>
          </p:nvSpPr>
          <p:spPr bwMode="auto">
            <a:xfrm flipH="1">
              <a:off x="3266" y="2569"/>
              <a:ext cx="635" cy="1"/>
            </a:xfrm>
            <a:prstGeom prst="line">
              <a:avLst/>
            </a:prstGeom>
            <a:noFill/>
            <a:ln w="190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83" name="Line 20"/>
            <p:cNvSpPr>
              <a:spLocks noChangeShapeType="1"/>
            </p:cNvSpPr>
            <p:nvPr/>
          </p:nvSpPr>
          <p:spPr bwMode="auto">
            <a:xfrm>
              <a:off x="3266" y="3521"/>
              <a:ext cx="318" cy="1"/>
            </a:xfrm>
            <a:prstGeom prst="line">
              <a:avLst/>
            </a:prstGeom>
            <a:noFill/>
            <a:ln w="190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84" name="Line 21"/>
            <p:cNvSpPr>
              <a:spLocks noChangeShapeType="1"/>
            </p:cNvSpPr>
            <p:nvPr/>
          </p:nvSpPr>
          <p:spPr bwMode="auto">
            <a:xfrm flipV="1">
              <a:off x="3584" y="2569"/>
              <a:ext cx="1" cy="952"/>
            </a:xfrm>
            <a:prstGeom prst="line">
              <a:avLst/>
            </a:prstGeom>
            <a:noFill/>
            <a:ln w="19050">
              <a:solidFill>
                <a:schemeClr val="accent1">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85" name="Line 22"/>
            <p:cNvSpPr>
              <a:spLocks noChangeShapeType="1"/>
            </p:cNvSpPr>
            <p:nvPr/>
          </p:nvSpPr>
          <p:spPr bwMode="auto">
            <a:xfrm>
              <a:off x="1679" y="2569"/>
              <a:ext cx="1" cy="499"/>
            </a:xfrm>
            <a:prstGeom prst="line">
              <a:avLst/>
            </a:prstGeom>
            <a:noFill/>
            <a:ln w="19050">
              <a:solidFill>
                <a:schemeClr val="accent1">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86" name="Line 23"/>
            <p:cNvSpPr>
              <a:spLocks noChangeShapeType="1"/>
            </p:cNvSpPr>
            <p:nvPr/>
          </p:nvSpPr>
          <p:spPr bwMode="auto">
            <a:xfrm>
              <a:off x="1679" y="3068"/>
              <a:ext cx="453" cy="1"/>
            </a:xfrm>
            <a:prstGeom prst="line">
              <a:avLst/>
            </a:prstGeom>
            <a:noFill/>
            <a:ln w="190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87" name="Rectangle 25"/>
            <p:cNvSpPr>
              <a:spLocks noChangeArrowheads="1"/>
            </p:cNvSpPr>
            <p:nvPr/>
          </p:nvSpPr>
          <p:spPr bwMode="auto">
            <a:xfrm>
              <a:off x="2144" y="3837"/>
              <a:ext cx="1134" cy="273"/>
            </a:xfrm>
            <a:prstGeom prst="rect">
              <a:avLst/>
            </a:prstGeom>
            <a:solidFill>
              <a:schemeClr val="bg1"/>
            </a:solidFill>
            <a:ln w="19050">
              <a:solidFill>
                <a:schemeClr val="accent1">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a:latin typeface="幼圆" panose="02010509060101010101" pitchFamily="49" charset="-122"/>
                  <a:ea typeface="幼圆" panose="02010509060101010101" pitchFamily="49" charset="-122"/>
                </a:rPr>
                <a:t>设计程序</a:t>
              </a:r>
            </a:p>
          </p:txBody>
        </p:sp>
        <p:sp>
          <p:nvSpPr>
            <p:cNvPr id="11288" name="Line 26"/>
            <p:cNvSpPr>
              <a:spLocks noChangeShapeType="1"/>
            </p:cNvSpPr>
            <p:nvPr/>
          </p:nvSpPr>
          <p:spPr bwMode="auto">
            <a:xfrm>
              <a:off x="2677" y="3656"/>
              <a:ext cx="1" cy="181"/>
            </a:xfrm>
            <a:prstGeom prst="line">
              <a:avLst/>
            </a:prstGeom>
            <a:noFill/>
            <a:ln w="19050">
              <a:solidFill>
                <a:schemeClr val="accent1">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sp>
          <p:nvSpPr>
            <p:cNvPr id="11289" name="Line 27"/>
            <p:cNvSpPr>
              <a:spLocks noChangeShapeType="1"/>
            </p:cNvSpPr>
            <p:nvPr/>
          </p:nvSpPr>
          <p:spPr bwMode="auto">
            <a:xfrm>
              <a:off x="2653" y="1480"/>
              <a:ext cx="1" cy="181"/>
            </a:xfrm>
            <a:prstGeom prst="line">
              <a:avLst/>
            </a:prstGeom>
            <a:noFill/>
            <a:ln w="19050">
              <a:solidFill>
                <a:schemeClr val="accent1">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幼圆" panose="02010509060101010101" pitchFamily="49" charset="-122"/>
                <a:ea typeface="幼圆" panose="02010509060101010101" pitchFamily="49" charset="-122"/>
              </a:endParaRPr>
            </a:p>
          </p:txBody>
        </p:sp>
      </p:gr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23392" y="260648"/>
            <a:ext cx="10515600" cy="1325563"/>
          </a:xfrm>
        </p:spPr>
        <p:txBody>
          <a:bodyPr/>
          <a:lstStyle/>
          <a:p>
            <a:pPr eaLnBrk="1" hangingPunct="1"/>
            <a:r>
              <a:rPr kumimoji="1" lang="zh-CN" altLang="en-US" dirty="0">
                <a:solidFill>
                  <a:schemeClr val="tx2"/>
                </a:solidFill>
              </a:rPr>
              <a:t>算法学习的基本内容</a:t>
            </a:r>
          </a:p>
        </p:txBody>
      </p:sp>
      <p:sp>
        <p:nvSpPr>
          <p:cNvPr id="12291" name="Rectangle 3"/>
          <p:cNvSpPr>
            <a:spLocks noGrp="1" noChangeArrowheads="1"/>
          </p:cNvSpPr>
          <p:nvPr>
            <p:ph idx="1"/>
          </p:nvPr>
        </p:nvSpPr>
        <p:spPr>
          <a:xfrm>
            <a:off x="623392" y="1628799"/>
            <a:ext cx="8229600" cy="4573861"/>
          </a:xfrm>
        </p:spPr>
        <p:txBody>
          <a:bodyPr/>
          <a:lstStyle/>
          <a:p>
            <a:pPr eaLnBrk="1" hangingPunct="1"/>
            <a:r>
              <a:rPr kumimoji="1" lang="zh-CN" altLang="en-US" dirty="0">
                <a:solidFill>
                  <a:srgbClr val="FF0000"/>
                </a:solidFill>
              </a:rPr>
              <a:t>如何设计算法</a:t>
            </a:r>
          </a:p>
          <a:p>
            <a:pPr eaLnBrk="1" hangingPunct="1"/>
            <a:r>
              <a:rPr kumimoji="1" lang="zh-CN" altLang="en-US" dirty="0"/>
              <a:t>如何表示算法</a:t>
            </a:r>
          </a:p>
          <a:p>
            <a:pPr eaLnBrk="1" hangingPunct="1"/>
            <a:r>
              <a:rPr kumimoji="1" lang="zh-CN" altLang="en-US" dirty="0"/>
              <a:t>如何确认算法</a:t>
            </a:r>
          </a:p>
          <a:p>
            <a:pPr eaLnBrk="1" hangingPunct="1"/>
            <a:r>
              <a:rPr kumimoji="1" lang="zh-CN" altLang="en-US" dirty="0">
                <a:solidFill>
                  <a:srgbClr val="FF0000"/>
                </a:solidFill>
              </a:rPr>
              <a:t>如何分析算法</a:t>
            </a:r>
          </a:p>
          <a:p>
            <a:pPr eaLnBrk="1" hangingPunct="1"/>
            <a:r>
              <a:rPr kumimoji="1" lang="zh-CN" altLang="en-US" dirty="0"/>
              <a:t>如何测试程序</a:t>
            </a:r>
            <a:endParaRPr lang="zh-CN" altLang="en-US" dirty="0"/>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10</a:t>
            </a:fld>
            <a:endParaRPr lang="en-US" altLang="zh-CN"/>
          </a:p>
        </p:txBody>
      </p:sp>
      <p:pic>
        <p:nvPicPr>
          <p:cNvPr id="3" name="图片 2">
            <a:extLst>
              <a:ext uri="{FF2B5EF4-FFF2-40B4-BE49-F238E27FC236}">
                <a16:creationId xmlns:a16="http://schemas.microsoft.com/office/drawing/2014/main" xmlns="" id="{8D0486C0-0554-B134-9012-57F46D6CA4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3085" y="1992111"/>
            <a:ext cx="2817318" cy="28737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48952" y="268730"/>
            <a:ext cx="10515600" cy="1325563"/>
          </a:xfrm>
        </p:spPr>
        <p:txBody>
          <a:bodyPr/>
          <a:lstStyle/>
          <a:p>
            <a:pPr eaLnBrk="1" hangingPunct="1"/>
            <a:r>
              <a:rPr lang="zh-CN" altLang="en-US" dirty="0"/>
              <a:t>如何设计算法（重点）</a:t>
            </a:r>
          </a:p>
        </p:txBody>
      </p:sp>
      <p:sp>
        <p:nvSpPr>
          <p:cNvPr id="13315" name="Rectangle 3"/>
          <p:cNvSpPr>
            <a:spLocks noGrp="1" noChangeArrowheads="1"/>
          </p:cNvSpPr>
          <p:nvPr>
            <p:ph idx="1"/>
          </p:nvPr>
        </p:nvSpPr>
        <p:spPr>
          <a:xfrm>
            <a:off x="623392" y="1594293"/>
            <a:ext cx="10657184" cy="4184650"/>
          </a:xfrm>
        </p:spPr>
        <p:txBody>
          <a:bodyPr/>
          <a:lstStyle/>
          <a:p>
            <a:pPr eaLnBrk="1" hangingPunct="1"/>
            <a:r>
              <a:rPr lang="zh-CN" altLang="en-US" dirty="0"/>
              <a:t>面对具体问题，</a:t>
            </a:r>
            <a:r>
              <a:rPr kumimoji="1" lang="zh-CN" altLang="en-US" dirty="0"/>
              <a:t>运用一些基本</a:t>
            </a:r>
            <a:r>
              <a:rPr kumimoji="1" lang="zh-CN" altLang="en-US" dirty="0">
                <a:solidFill>
                  <a:srgbClr val="C00000"/>
                </a:solidFill>
              </a:rPr>
              <a:t>设计策略</a:t>
            </a:r>
            <a:r>
              <a:rPr kumimoji="1" lang="zh-CN" altLang="en-US" dirty="0"/>
              <a:t>，规划算法。</a:t>
            </a:r>
            <a:endParaRPr lang="zh-CN" altLang="en-US" dirty="0"/>
          </a:p>
          <a:p>
            <a:pPr lvl="1" eaLnBrk="1" hangingPunct="1"/>
            <a:r>
              <a:rPr lang="zh-CN" altLang="en-US" dirty="0"/>
              <a:t>被实践证明是有用的</a:t>
            </a:r>
          </a:p>
          <a:p>
            <a:pPr lvl="1" eaLnBrk="1" hangingPunct="1"/>
            <a:r>
              <a:rPr lang="zh-CN" altLang="en-US" dirty="0"/>
              <a:t>计算机科学、运筹学、电器工程等领域</a:t>
            </a:r>
          </a:p>
          <a:p>
            <a:pPr lvl="1" eaLnBrk="1" hangingPunct="1"/>
            <a:r>
              <a:rPr lang="zh-CN" altLang="en-US" dirty="0"/>
              <a:t>设计出很多精致有效的好算法</a:t>
            </a:r>
          </a:p>
          <a:p>
            <a:pPr eaLnBrk="1" hangingPunct="1"/>
            <a:r>
              <a:rPr lang="zh-CN" altLang="en-US" dirty="0">
                <a:solidFill>
                  <a:srgbClr val="C00000"/>
                </a:solidFill>
              </a:rPr>
              <a:t>掌握这些策略</a:t>
            </a:r>
            <a:r>
              <a:rPr lang="zh-CN" altLang="en-US" dirty="0"/>
              <a:t>，设计出更多的好算法</a:t>
            </a:r>
          </a:p>
          <a:p>
            <a:pPr lvl="1" eaLnBrk="1" hangingPunct="1"/>
            <a:endParaRPr lang="en-US" altLang="zh-CN" dirty="0"/>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11</a:t>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xmlns="" id="{B968AC6E-D665-43B1-99BB-6DA36A22646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696613EE-C3EA-4DC6-8D35-E839665BF19C}" type="slidenum">
              <a:rPr altLang="zh-CN" sz="1000"/>
              <a:pPr>
                <a:spcBef>
                  <a:spcPct val="0"/>
                </a:spcBef>
                <a:buClrTx/>
                <a:buSzTx/>
                <a:buFont typeface="Arial" panose="020B0604020202020204" pitchFamily="34" charset="0"/>
                <a:buNone/>
              </a:pPr>
              <a:t>12</a:t>
            </a:fld>
            <a:endParaRPr lang="zh-CN" altLang="zh-CN" sz="1000"/>
          </a:p>
        </p:txBody>
      </p:sp>
      <p:sp>
        <p:nvSpPr>
          <p:cNvPr id="34819" name="Rectangle 2">
            <a:extLst>
              <a:ext uri="{FF2B5EF4-FFF2-40B4-BE49-F238E27FC236}">
                <a16:creationId xmlns:a16="http://schemas.microsoft.com/office/drawing/2014/main" xmlns="" id="{6C66DCF3-1281-40AF-AA1D-77C42F4B730C}"/>
              </a:ext>
            </a:extLst>
          </p:cNvPr>
          <p:cNvSpPr>
            <a:spLocks noGrp="1" noChangeArrowheads="1"/>
          </p:cNvSpPr>
          <p:nvPr>
            <p:ph type="title"/>
          </p:nvPr>
        </p:nvSpPr>
        <p:spPr>
          <a:xfrm>
            <a:off x="623392" y="332656"/>
            <a:ext cx="8229600" cy="900112"/>
          </a:xfrm>
        </p:spPr>
        <p:txBody>
          <a:bodyPr/>
          <a:lstStyle/>
          <a:p>
            <a:pPr eaLnBrk="1" hangingPunct="1"/>
            <a:r>
              <a:rPr kumimoji="1" lang="zh-CN" altLang="en-US" dirty="0">
                <a:solidFill>
                  <a:schemeClr val="tx2"/>
                </a:solidFill>
              </a:rPr>
              <a:t>如何表示算法</a:t>
            </a:r>
          </a:p>
        </p:txBody>
      </p:sp>
      <p:sp>
        <p:nvSpPr>
          <p:cNvPr id="34820" name="Rectangle 3">
            <a:extLst>
              <a:ext uri="{FF2B5EF4-FFF2-40B4-BE49-F238E27FC236}">
                <a16:creationId xmlns:a16="http://schemas.microsoft.com/office/drawing/2014/main" xmlns="" id="{D25EBB33-F6ED-4A57-AD57-64EB6212D2EA}"/>
              </a:ext>
            </a:extLst>
          </p:cNvPr>
          <p:cNvSpPr>
            <a:spLocks noGrp="1" noChangeArrowheads="1"/>
          </p:cNvSpPr>
          <p:nvPr>
            <p:ph idx="1"/>
          </p:nvPr>
        </p:nvSpPr>
        <p:spPr>
          <a:xfrm>
            <a:off x="479376" y="1431206"/>
            <a:ext cx="10513168" cy="4925144"/>
          </a:xfrm>
        </p:spPr>
        <p:txBody>
          <a:bodyPr>
            <a:normAutofit/>
          </a:bodyPr>
          <a:lstStyle/>
          <a:p>
            <a:pPr eaLnBrk="1" hangingPunct="1">
              <a:lnSpc>
                <a:spcPct val="110000"/>
              </a:lnSpc>
            </a:pPr>
            <a:r>
              <a:rPr lang="zh-CN" altLang="en-US" dirty="0">
                <a:latin typeface="幼圆" panose="02010509060101010101" pitchFamily="49" charset="-122"/>
              </a:rPr>
              <a:t>设计的算法要用</a:t>
            </a:r>
            <a:r>
              <a:rPr lang="zh-CN" altLang="en-US" u="sng" dirty="0">
                <a:latin typeface="幼圆" panose="02010509060101010101" pitchFamily="49" charset="-122"/>
              </a:rPr>
              <a:t>恰当的方式</a:t>
            </a:r>
            <a:r>
              <a:rPr lang="zh-CN" altLang="en-US" dirty="0">
                <a:solidFill>
                  <a:srgbClr val="FF0000"/>
                </a:solidFill>
                <a:latin typeface="幼圆" panose="02010509060101010101" pitchFamily="49" charset="-122"/>
              </a:rPr>
              <a:t>表示出来</a:t>
            </a:r>
            <a:endParaRPr lang="en-US" altLang="zh-CN" dirty="0">
              <a:solidFill>
                <a:srgbClr val="FF0000"/>
              </a:solidFill>
              <a:latin typeface="幼圆" panose="02010509060101010101" pitchFamily="49" charset="-122"/>
            </a:endParaRPr>
          </a:p>
          <a:p>
            <a:pPr lvl="1"/>
            <a:r>
              <a:rPr lang="zh-CN" altLang="en-US" dirty="0">
                <a:latin typeface="幼圆" panose="02010509060101010101" pitchFamily="49" charset="-122"/>
              </a:rPr>
              <a:t>算法，连接着算法的设计者（人类）和算法的执行者（计算机）</a:t>
            </a:r>
            <a:endParaRPr lang="en-US" altLang="zh-CN" dirty="0">
              <a:latin typeface="幼圆" panose="02010509060101010101" pitchFamily="49" charset="-122"/>
            </a:endParaRPr>
          </a:p>
          <a:p>
            <a:pPr lvl="1"/>
            <a:r>
              <a:rPr lang="zh-CN" altLang="en-US" dirty="0">
                <a:latin typeface="幼圆" panose="02010509060101010101" pitchFamily="49" charset="-122"/>
              </a:rPr>
              <a:t>人类</a:t>
            </a:r>
            <a:r>
              <a:rPr lang="en-US" altLang="zh-CN" dirty="0">
                <a:latin typeface="幼圆" panose="02010509060101010101" pitchFamily="49" charset="-122"/>
              </a:rPr>
              <a:t>——</a:t>
            </a:r>
            <a:r>
              <a:rPr lang="zh-CN" altLang="en-US" dirty="0">
                <a:latin typeface="幼圆" panose="02010509060101010101" pitchFamily="49" charset="-122"/>
              </a:rPr>
              <a:t>自然语言</a:t>
            </a:r>
            <a:endParaRPr lang="en-US" altLang="zh-CN" dirty="0">
              <a:latin typeface="幼圆" panose="02010509060101010101" pitchFamily="49" charset="-122"/>
            </a:endParaRPr>
          </a:p>
          <a:p>
            <a:pPr lvl="2"/>
            <a:r>
              <a:rPr lang="zh-CN" altLang="en-US" dirty="0">
                <a:latin typeface="幼圆" panose="02010509060101010101" pitchFamily="49" charset="-122"/>
              </a:rPr>
              <a:t>优势：人类易于理解</a:t>
            </a:r>
            <a:endParaRPr lang="en-US" altLang="zh-CN" dirty="0">
              <a:latin typeface="幼圆" panose="02010509060101010101" pitchFamily="49" charset="-122"/>
            </a:endParaRPr>
          </a:p>
          <a:p>
            <a:pPr lvl="2"/>
            <a:r>
              <a:rPr lang="zh-CN" altLang="en-US" dirty="0">
                <a:latin typeface="幼圆" panose="02010509060101010101" pitchFamily="49" charset="-122"/>
              </a:rPr>
              <a:t>劣势：语言描述繁琐，容易产生歧义</a:t>
            </a:r>
            <a:endParaRPr lang="en-US" altLang="zh-CN" dirty="0">
              <a:latin typeface="幼圆" panose="02010509060101010101" pitchFamily="49" charset="-122"/>
            </a:endParaRPr>
          </a:p>
          <a:p>
            <a:pPr lvl="1"/>
            <a:r>
              <a:rPr lang="zh-CN" altLang="en-US" dirty="0">
                <a:latin typeface="幼圆" panose="02010509060101010101" pitchFamily="49" charset="-122"/>
              </a:rPr>
              <a:t>计算机</a:t>
            </a:r>
            <a:r>
              <a:rPr lang="en-US" altLang="zh-CN" dirty="0">
                <a:latin typeface="幼圆" panose="02010509060101010101" pitchFamily="49" charset="-122"/>
              </a:rPr>
              <a:t>——</a:t>
            </a:r>
            <a:r>
              <a:rPr lang="zh-CN" altLang="en-US" dirty="0">
                <a:latin typeface="幼圆" panose="02010509060101010101" pitchFamily="49" charset="-122"/>
              </a:rPr>
              <a:t>编程语言</a:t>
            </a:r>
            <a:endParaRPr lang="en-US" altLang="zh-CN" dirty="0">
              <a:latin typeface="幼圆" panose="02010509060101010101" pitchFamily="49" charset="-122"/>
            </a:endParaRPr>
          </a:p>
          <a:p>
            <a:pPr lvl="2"/>
            <a:r>
              <a:rPr lang="zh-CN" altLang="en-US" dirty="0">
                <a:latin typeface="幼圆" panose="02010509060101010101" pitchFamily="49" charset="-122"/>
              </a:rPr>
              <a:t>优势：表达准确，避免歧义 </a:t>
            </a:r>
            <a:endParaRPr lang="en-US" altLang="zh-CN" dirty="0">
              <a:latin typeface="幼圆" panose="02010509060101010101" pitchFamily="49" charset="-122"/>
            </a:endParaRPr>
          </a:p>
          <a:p>
            <a:pPr lvl="2"/>
            <a:r>
              <a:rPr lang="zh-CN" altLang="en-US" dirty="0">
                <a:latin typeface="幼圆" panose="02010509060101010101" pitchFamily="49" charset="-122"/>
              </a:rPr>
              <a:t>劣势：不同的编程语言存在差异；过于关注算法实现的细节</a:t>
            </a:r>
          </a:p>
          <a:p>
            <a:r>
              <a:rPr lang="zh-CN" altLang="en-US" dirty="0">
                <a:latin typeface="幼圆" panose="02010509060101010101" pitchFamily="49" charset="-122"/>
              </a:rPr>
              <a:t>如何兼顾自然语言和编程语言的优势？</a:t>
            </a:r>
            <a:endParaRPr lang="en-US" altLang="zh-CN" dirty="0">
              <a:latin typeface="幼圆" panose="02010509060101010101" pitchFamily="49" charset="-122"/>
            </a:endParaRPr>
          </a:p>
          <a:p>
            <a:pPr lvl="1"/>
            <a:r>
              <a:rPr lang="zh-CN" altLang="en-US" dirty="0">
                <a:latin typeface="幼圆" panose="02010509060101010101" pitchFamily="49" charset="-122"/>
              </a:rPr>
              <a:t>易于理解</a:t>
            </a:r>
            <a:r>
              <a:rPr lang="en-US" altLang="zh-CN" dirty="0">
                <a:latin typeface="幼圆" panose="02010509060101010101" pitchFamily="49" charset="-122"/>
              </a:rPr>
              <a:t>+</a:t>
            </a:r>
            <a:r>
              <a:rPr lang="zh-CN" altLang="en-US" dirty="0">
                <a:latin typeface="幼圆" panose="02010509060101010101" pitchFamily="49" charset="-122"/>
              </a:rPr>
              <a:t>表达准确</a:t>
            </a:r>
            <a:endParaRPr lang="en-US" altLang="zh-CN" dirty="0">
              <a:latin typeface="幼圆" panose="020105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xmlns="" id="{B968AC6E-D665-43B1-99BB-6DA36A22646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696613EE-C3EA-4DC6-8D35-E839665BF19C}" type="slidenum">
              <a:rPr altLang="zh-CN" sz="1000"/>
              <a:pPr>
                <a:spcBef>
                  <a:spcPct val="0"/>
                </a:spcBef>
                <a:buClrTx/>
                <a:buSzTx/>
                <a:buFont typeface="Arial" panose="020B0604020202020204" pitchFamily="34" charset="0"/>
                <a:buNone/>
              </a:pPr>
              <a:t>13</a:t>
            </a:fld>
            <a:endParaRPr lang="zh-CN" altLang="zh-CN" sz="1000"/>
          </a:p>
        </p:txBody>
      </p:sp>
      <p:sp>
        <p:nvSpPr>
          <p:cNvPr id="34820" name="Rectangle 3">
            <a:extLst>
              <a:ext uri="{FF2B5EF4-FFF2-40B4-BE49-F238E27FC236}">
                <a16:creationId xmlns:a16="http://schemas.microsoft.com/office/drawing/2014/main" xmlns="" id="{D25EBB33-F6ED-4A57-AD57-64EB6212D2EA}"/>
              </a:ext>
            </a:extLst>
          </p:cNvPr>
          <p:cNvSpPr>
            <a:spLocks noGrp="1" noChangeArrowheads="1"/>
          </p:cNvSpPr>
          <p:nvPr>
            <p:ph idx="1"/>
          </p:nvPr>
        </p:nvSpPr>
        <p:spPr>
          <a:xfrm>
            <a:off x="335360" y="310765"/>
            <a:ext cx="10515600" cy="4351338"/>
          </a:xfrm>
        </p:spPr>
        <p:txBody>
          <a:bodyPr/>
          <a:lstStyle/>
          <a:p>
            <a:pPr>
              <a:lnSpc>
                <a:spcPct val="150000"/>
              </a:lnSpc>
            </a:pPr>
            <a:r>
              <a:rPr lang="zh-CN" altLang="en-US" dirty="0">
                <a:latin typeface="幼圆" panose="02010509060101010101" pitchFamily="49" charset="-122"/>
              </a:rPr>
              <a:t>采用</a:t>
            </a:r>
            <a:r>
              <a:rPr lang="zh-CN" altLang="en-US" dirty="0">
                <a:solidFill>
                  <a:srgbClr val="C00000"/>
                </a:solidFill>
                <a:latin typeface="幼圆" panose="02010509060101010101" pitchFamily="49" charset="-122"/>
              </a:rPr>
              <a:t>编程语言</a:t>
            </a:r>
            <a:r>
              <a:rPr lang="zh-CN" altLang="en-US" dirty="0">
                <a:latin typeface="幼圆" panose="02010509060101010101" pitchFamily="49" charset="-122"/>
              </a:rPr>
              <a:t>书写形式，作为</a:t>
            </a:r>
            <a:r>
              <a:rPr lang="zh-CN" altLang="en-US" dirty="0">
                <a:solidFill>
                  <a:srgbClr val="0033CC"/>
                </a:solidFill>
                <a:latin typeface="幼圆" panose="02010509060101010101" pitchFamily="49" charset="-122"/>
              </a:rPr>
              <a:t>基础和框架</a:t>
            </a:r>
            <a:r>
              <a:rPr lang="zh-CN" altLang="en-US" dirty="0">
                <a:latin typeface="幼圆" panose="02010509060101010101" pitchFamily="49" charset="-122"/>
              </a:rPr>
              <a:t>；</a:t>
            </a:r>
            <a:r>
              <a:rPr lang="zh-CN" altLang="en-US" dirty="0">
                <a:solidFill>
                  <a:srgbClr val="0033CC"/>
                </a:solidFill>
                <a:latin typeface="幼圆" panose="02010509060101010101" pitchFamily="49" charset="-122"/>
              </a:rPr>
              <a:t> </a:t>
            </a:r>
            <a:endParaRPr lang="en-US" altLang="zh-CN" dirty="0">
              <a:solidFill>
                <a:srgbClr val="0033CC"/>
              </a:solidFill>
              <a:latin typeface="幼圆" panose="02010509060101010101" pitchFamily="49" charset="-122"/>
            </a:endParaRPr>
          </a:p>
          <a:p>
            <a:pPr>
              <a:lnSpc>
                <a:spcPct val="150000"/>
              </a:lnSpc>
            </a:pPr>
            <a:r>
              <a:rPr lang="zh-CN" altLang="en-US" dirty="0">
                <a:latin typeface="幼圆" panose="02010509060101010101" pitchFamily="49" charset="-122"/>
              </a:rPr>
              <a:t>采用</a:t>
            </a:r>
            <a:r>
              <a:rPr lang="zh-CN" altLang="en-US" dirty="0">
                <a:solidFill>
                  <a:srgbClr val="C00000"/>
                </a:solidFill>
                <a:latin typeface="幼圆" panose="02010509060101010101" pitchFamily="49" charset="-122"/>
              </a:rPr>
              <a:t>接近自然语言</a:t>
            </a:r>
            <a:r>
              <a:rPr lang="zh-CN" altLang="en-US" dirty="0">
                <a:latin typeface="幼圆" panose="02010509060101010101" pitchFamily="49" charset="-122"/>
              </a:rPr>
              <a:t>的形式，表达</a:t>
            </a:r>
            <a:r>
              <a:rPr lang="zh-CN" altLang="en-US" dirty="0">
                <a:solidFill>
                  <a:srgbClr val="0033CC"/>
                </a:solidFill>
                <a:latin typeface="幼圆" panose="02010509060101010101" pitchFamily="49" charset="-122"/>
              </a:rPr>
              <a:t>算法过程 </a:t>
            </a:r>
            <a:r>
              <a:rPr lang="zh-CN" altLang="en-US" dirty="0">
                <a:latin typeface="幼圆" panose="02010509060101010101" pitchFamily="49" charset="-122"/>
              </a:rPr>
              <a:t>：</a:t>
            </a:r>
            <a:endParaRPr lang="en-US" altLang="zh-CN" dirty="0">
              <a:latin typeface="幼圆" panose="02010509060101010101" pitchFamily="49" charset="-122"/>
            </a:endParaRPr>
          </a:p>
          <a:p>
            <a:pPr lvl="1" eaLnBrk="1" hangingPunct="1">
              <a:lnSpc>
                <a:spcPct val="150000"/>
              </a:lnSpc>
            </a:pPr>
            <a:r>
              <a:rPr lang="en-US" altLang="zh-CN" dirty="0">
                <a:latin typeface="幼圆" panose="02010509060101010101" pitchFamily="49" charset="-122"/>
              </a:rPr>
              <a:t>SPARKS</a:t>
            </a:r>
            <a:r>
              <a:rPr lang="zh-CN" altLang="en-US" dirty="0">
                <a:latin typeface="幼圆" panose="02010509060101010101" pitchFamily="49" charset="-122"/>
              </a:rPr>
              <a:t>语言</a:t>
            </a:r>
            <a:r>
              <a:rPr lang="en-US" altLang="zh-CN" dirty="0">
                <a:latin typeface="幼圆" panose="02010509060101010101" pitchFamily="49" charset="-122"/>
              </a:rPr>
              <a:t>——</a:t>
            </a:r>
            <a:r>
              <a:rPr lang="zh-CN" altLang="en-US" dirty="0">
                <a:latin typeface="幼圆" panose="02010509060101010101" pitchFamily="49" charset="-122"/>
              </a:rPr>
              <a:t>简单明了</a:t>
            </a:r>
            <a:endParaRPr lang="en-US" altLang="zh-CN" dirty="0">
              <a:latin typeface="幼圆" panose="02010509060101010101" pitchFamily="49" charset="-122"/>
            </a:endParaRPr>
          </a:p>
          <a:p>
            <a:pPr lvl="1" eaLnBrk="1" hangingPunct="1">
              <a:lnSpc>
                <a:spcPct val="150000"/>
              </a:lnSpc>
            </a:pPr>
            <a:r>
              <a:rPr lang="en-US" altLang="zh-CN" dirty="0">
                <a:latin typeface="幼圆" panose="02010509060101010101" pitchFamily="49" charset="-122"/>
              </a:rPr>
              <a:t>ADL</a:t>
            </a:r>
            <a:r>
              <a:rPr lang="zh-CN" altLang="en-US" dirty="0">
                <a:latin typeface="幼圆" panose="02010509060101010101" pitchFamily="49" charset="-122"/>
              </a:rPr>
              <a:t>算法描述语言</a:t>
            </a:r>
            <a:endParaRPr lang="en-US" altLang="zh-CN" dirty="0">
              <a:latin typeface="幼圆" panose="02010509060101010101" pitchFamily="49" charset="-122"/>
            </a:endParaRPr>
          </a:p>
          <a:p>
            <a:pPr lvl="1" eaLnBrk="1" hangingPunct="1">
              <a:lnSpc>
                <a:spcPct val="150000"/>
              </a:lnSpc>
            </a:pPr>
            <a:r>
              <a:rPr lang="zh-CN" altLang="en-US" dirty="0">
                <a:latin typeface="幼圆" panose="02010509060101010101" pitchFamily="49" charset="-122"/>
              </a:rPr>
              <a:t>伪代码</a:t>
            </a:r>
            <a:endParaRPr lang="en-US" altLang="zh-CN" dirty="0">
              <a:latin typeface="幼圆" panose="02010509060101010101" pitchFamily="49" charset="-122"/>
            </a:endParaRPr>
          </a:p>
          <a:p>
            <a:pPr marL="0" indent="0">
              <a:buNone/>
            </a:pPr>
            <a:endParaRPr lang="en-US" altLang="zh-CN" b="1" dirty="0"/>
          </a:p>
        </p:txBody>
      </p:sp>
    </p:spTree>
    <p:extLst>
      <p:ext uri="{BB962C8B-B14F-4D97-AF65-F5344CB8AC3E}">
        <p14:creationId xmlns:p14="http://schemas.microsoft.com/office/powerpoint/2010/main" val="2269178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717625" y="196875"/>
            <a:ext cx="8229600" cy="1371600"/>
          </a:xfrm>
        </p:spPr>
        <p:txBody>
          <a:bodyPr/>
          <a:lstStyle/>
          <a:p>
            <a:pPr eaLnBrk="1" hangingPunct="1"/>
            <a:r>
              <a:rPr lang="zh-CN" altLang="en-US" dirty="0"/>
              <a:t>如何确认算法</a:t>
            </a:r>
          </a:p>
        </p:txBody>
      </p:sp>
      <p:sp>
        <p:nvSpPr>
          <p:cNvPr id="15363" name="Rectangle 3"/>
          <p:cNvSpPr>
            <a:spLocks noGrp="1" noChangeArrowheads="1"/>
          </p:cNvSpPr>
          <p:nvPr>
            <p:ph idx="1"/>
          </p:nvPr>
        </p:nvSpPr>
        <p:spPr>
          <a:xfrm>
            <a:off x="695400" y="1628800"/>
            <a:ext cx="10441160" cy="4400550"/>
          </a:xfrm>
        </p:spPr>
        <p:txBody>
          <a:bodyPr>
            <a:normAutofit lnSpcReduction="10000"/>
          </a:bodyPr>
          <a:lstStyle/>
          <a:p>
            <a:pPr eaLnBrk="1" hangingPunct="1">
              <a:lnSpc>
                <a:spcPct val="150000"/>
              </a:lnSpc>
            </a:pPr>
            <a:r>
              <a:rPr lang="zh-CN" altLang="en-US" dirty="0"/>
              <a:t>算法确认</a:t>
            </a:r>
            <a:r>
              <a:rPr kumimoji="1" lang="en-US" altLang="zh-CN" dirty="0"/>
              <a:t>(algorithm validation)</a:t>
            </a:r>
            <a:r>
              <a:rPr lang="en-US" altLang="zh-CN" dirty="0"/>
              <a:t>——</a:t>
            </a:r>
            <a:r>
              <a:rPr lang="zh-CN" altLang="en-US" dirty="0"/>
              <a:t>证明该算法对所有可能的合法输入，都能给出正确答案</a:t>
            </a:r>
          </a:p>
          <a:p>
            <a:pPr eaLnBrk="1" hangingPunct="1">
              <a:lnSpc>
                <a:spcPct val="150000"/>
              </a:lnSpc>
            </a:pPr>
            <a:r>
              <a:rPr lang="zh-CN" altLang="en-US" dirty="0"/>
              <a:t>算法确认的目的</a:t>
            </a:r>
            <a:r>
              <a:rPr lang="en-US" altLang="zh-CN" dirty="0"/>
              <a:t>——</a:t>
            </a:r>
            <a:r>
              <a:rPr lang="zh-CN" altLang="en-US" dirty="0"/>
              <a:t>确保该算法能</a:t>
            </a:r>
            <a:r>
              <a:rPr lang="zh-CN" altLang="en-US" dirty="0">
                <a:solidFill>
                  <a:srgbClr val="C00000"/>
                </a:solidFill>
              </a:rPr>
              <a:t>正确无误</a:t>
            </a:r>
            <a:r>
              <a:rPr lang="zh-CN" altLang="en-US" dirty="0"/>
              <a:t>地工作</a:t>
            </a:r>
          </a:p>
          <a:p>
            <a:pPr lvl="1" eaLnBrk="1" hangingPunct="1">
              <a:lnSpc>
                <a:spcPct val="150000"/>
              </a:lnSpc>
            </a:pPr>
            <a:r>
              <a:rPr lang="zh-CN" altLang="en-US" dirty="0"/>
              <a:t>穷举法</a:t>
            </a:r>
          </a:p>
          <a:p>
            <a:pPr lvl="1" eaLnBrk="1" hangingPunct="1">
              <a:lnSpc>
                <a:spcPct val="150000"/>
              </a:lnSpc>
            </a:pPr>
            <a:r>
              <a:rPr lang="zh-CN" altLang="en-US" dirty="0"/>
              <a:t>推理</a:t>
            </a:r>
            <a:r>
              <a:rPr lang="en-US" altLang="zh-CN" dirty="0"/>
              <a:t>——</a:t>
            </a:r>
            <a:r>
              <a:rPr lang="zh-CN" altLang="en-US" dirty="0"/>
              <a:t>数学归纳法、反证法</a:t>
            </a:r>
          </a:p>
          <a:p>
            <a:pPr lvl="1" eaLnBrk="1" hangingPunct="1">
              <a:lnSpc>
                <a:spcPct val="150000"/>
              </a:lnSpc>
            </a:pPr>
            <a:r>
              <a:rPr lang="zh-CN" altLang="en-US" dirty="0"/>
              <a:t>构造性证明</a:t>
            </a:r>
          </a:p>
          <a:p>
            <a:pPr lvl="1" eaLnBrk="1" hangingPunct="1">
              <a:lnSpc>
                <a:spcPct val="150000"/>
              </a:lnSpc>
            </a:pPr>
            <a:r>
              <a:rPr lang="zh-CN" altLang="en-US" dirty="0"/>
              <a:t>测试</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95400" y="384324"/>
            <a:ext cx="10515600" cy="1325563"/>
          </a:xfrm>
        </p:spPr>
        <p:txBody>
          <a:bodyPr/>
          <a:lstStyle/>
          <a:p>
            <a:pPr eaLnBrk="1" hangingPunct="1"/>
            <a:r>
              <a:rPr lang="zh-CN" altLang="en-US" dirty="0"/>
              <a:t>如何分析算法（重点）</a:t>
            </a:r>
          </a:p>
        </p:txBody>
      </p:sp>
      <p:sp>
        <p:nvSpPr>
          <p:cNvPr id="16387" name="Rectangle 3"/>
          <p:cNvSpPr>
            <a:spLocks noGrp="1" noChangeArrowheads="1"/>
          </p:cNvSpPr>
          <p:nvPr>
            <p:ph idx="1"/>
          </p:nvPr>
        </p:nvSpPr>
        <p:spPr>
          <a:xfrm>
            <a:off x="695400" y="1844824"/>
            <a:ext cx="10515600" cy="4351338"/>
          </a:xfrm>
        </p:spPr>
        <p:txBody>
          <a:bodyPr/>
          <a:lstStyle/>
          <a:p>
            <a:pPr eaLnBrk="1" hangingPunct="1">
              <a:lnSpc>
                <a:spcPct val="150000"/>
              </a:lnSpc>
            </a:pPr>
            <a:r>
              <a:rPr lang="zh-CN" altLang="en-US" dirty="0"/>
              <a:t>分析执行一个算法时，</a:t>
            </a:r>
          </a:p>
          <a:p>
            <a:pPr lvl="1" eaLnBrk="1" hangingPunct="1">
              <a:lnSpc>
                <a:spcPct val="150000"/>
              </a:lnSpc>
            </a:pPr>
            <a:r>
              <a:rPr lang="zh-CN" altLang="en-US" dirty="0"/>
              <a:t>占用多少</a:t>
            </a:r>
            <a:r>
              <a:rPr lang="en-US" altLang="zh-CN" dirty="0">
                <a:solidFill>
                  <a:srgbClr val="FF0000"/>
                </a:solidFill>
              </a:rPr>
              <a:t>CPU</a:t>
            </a:r>
            <a:r>
              <a:rPr lang="zh-CN" altLang="en-US" dirty="0"/>
              <a:t>时间完成运算；</a:t>
            </a:r>
          </a:p>
          <a:p>
            <a:pPr lvl="1" eaLnBrk="1" hangingPunct="1">
              <a:lnSpc>
                <a:spcPct val="150000"/>
              </a:lnSpc>
            </a:pPr>
            <a:r>
              <a:rPr lang="zh-CN" altLang="en-US" dirty="0"/>
              <a:t>占用多少</a:t>
            </a:r>
            <a:r>
              <a:rPr lang="zh-CN" altLang="en-US" dirty="0">
                <a:solidFill>
                  <a:srgbClr val="FF0000"/>
                </a:solidFill>
              </a:rPr>
              <a:t>存储器</a:t>
            </a:r>
            <a:r>
              <a:rPr lang="zh-CN" altLang="en-US" dirty="0"/>
              <a:t>的存储空间，存放程序和数据。</a:t>
            </a:r>
          </a:p>
          <a:p>
            <a:pPr eaLnBrk="1" hangingPunct="1">
              <a:lnSpc>
                <a:spcPct val="150000"/>
              </a:lnSpc>
            </a:pPr>
            <a:r>
              <a:rPr lang="zh-CN" altLang="en-US" dirty="0"/>
              <a:t>对一个算法需要多少计算时间和存储空间，做定量分析。</a:t>
            </a:r>
          </a:p>
          <a:p>
            <a:pPr eaLnBrk="1" hangingPunct="1"/>
            <a:endParaRPr lang="en-US" altLang="zh-CN" dirty="0"/>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15</a:t>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23392" y="167189"/>
            <a:ext cx="10515600" cy="1325563"/>
          </a:xfrm>
        </p:spPr>
        <p:txBody>
          <a:bodyPr/>
          <a:lstStyle/>
          <a:p>
            <a:pPr eaLnBrk="1" hangingPunct="1"/>
            <a:r>
              <a:rPr lang="zh-CN" altLang="en-US" dirty="0"/>
              <a:t>测试程序</a:t>
            </a:r>
          </a:p>
        </p:txBody>
      </p:sp>
      <p:sp>
        <p:nvSpPr>
          <p:cNvPr id="17411" name="Rectangle 3"/>
          <p:cNvSpPr>
            <a:spLocks noGrp="1" noChangeArrowheads="1"/>
          </p:cNvSpPr>
          <p:nvPr>
            <p:ph idx="1"/>
          </p:nvPr>
        </p:nvSpPr>
        <p:spPr>
          <a:xfrm>
            <a:off x="623392" y="1662112"/>
            <a:ext cx="10153128" cy="4876800"/>
          </a:xfrm>
        </p:spPr>
        <p:txBody>
          <a:bodyPr/>
          <a:lstStyle/>
          <a:p>
            <a:pPr eaLnBrk="1" hangingPunct="1">
              <a:lnSpc>
                <a:spcPct val="110000"/>
              </a:lnSpc>
            </a:pPr>
            <a:r>
              <a:rPr lang="zh-CN" altLang="en-US" dirty="0">
                <a:solidFill>
                  <a:srgbClr val="C00000"/>
                </a:solidFill>
              </a:rPr>
              <a:t>调试</a:t>
            </a:r>
            <a:r>
              <a:rPr lang="en-US" altLang="zh-CN" dirty="0"/>
              <a:t>——</a:t>
            </a:r>
            <a:r>
              <a:rPr lang="zh-CN" altLang="en-US" dirty="0"/>
              <a:t>调试只能指出有错误，而不能证明它们不存在错误。</a:t>
            </a:r>
          </a:p>
          <a:p>
            <a:pPr lvl="1" eaLnBrk="1" hangingPunct="1">
              <a:lnSpc>
                <a:spcPct val="110000"/>
              </a:lnSpc>
            </a:pPr>
            <a:r>
              <a:rPr lang="zh-CN" altLang="en-US" dirty="0"/>
              <a:t>源于程序正确性的证明还没有取得突破性进展。</a:t>
            </a:r>
          </a:p>
          <a:p>
            <a:pPr eaLnBrk="1" hangingPunct="1">
              <a:lnSpc>
                <a:spcPct val="110000"/>
              </a:lnSpc>
            </a:pPr>
            <a:r>
              <a:rPr lang="zh-CN" altLang="en-US" dirty="0">
                <a:solidFill>
                  <a:srgbClr val="C00000"/>
                </a:solidFill>
              </a:rPr>
              <a:t>时空分布图</a:t>
            </a:r>
          </a:p>
          <a:p>
            <a:pPr lvl="1" eaLnBrk="1" hangingPunct="1">
              <a:lnSpc>
                <a:spcPct val="110000"/>
              </a:lnSpc>
            </a:pPr>
            <a:r>
              <a:rPr lang="zh-CN" altLang="en-US" dirty="0"/>
              <a:t>用各种给定数据执行调试后的程序</a:t>
            </a:r>
          </a:p>
          <a:p>
            <a:pPr lvl="1" eaLnBrk="1" hangingPunct="1">
              <a:lnSpc>
                <a:spcPct val="110000"/>
              </a:lnSpc>
            </a:pPr>
            <a:r>
              <a:rPr lang="zh-CN" altLang="en-US" dirty="0"/>
              <a:t>测定计算时间和空间</a:t>
            </a:r>
          </a:p>
          <a:p>
            <a:pPr lvl="1" eaLnBrk="1" hangingPunct="1">
              <a:lnSpc>
                <a:spcPct val="110000"/>
              </a:lnSpc>
            </a:pPr>
            <a:r>
              <a:rPr lang="zh-CN" altLang="en-US" dirty="0"/>
              <a:t>印证之前的分析是否正确</a:t>
            </a:r>
          </a:p>
          <a:p>
            <a:pPr lvl="1" eaLnBrk="1" hangingPunct="1">
              <a:lnSpc>
                <a:spcPct val="110000"/>
              </a:lnSpc>
            </a:pPr>
            <a:r>
              <a:rPr lang="zh-CN" altLang="en-US" dirty="0"/>
              <a:t>指出实现最优化的有效逻辑位置</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50529" y="195858"/>
            <a:ext cx="8229600" cy="1371600"/>
          </a:xfrm>
        </p:spPr>
        <p:txBody>
          <a:bodyPr/>
          <a:lstStyle/>
          <a:p>
            <a:pPr eaLnBrk="1" hangingPunct="1"/>
            <a:r>
              <a:rPr lang="en-US" altLang="zh-CN" dirty="0"/>
              <a:t>2.2 </a:t>
            </a:r>
            <a:r>
              <a:rPr lang="zh-CN" altLang="en-US" dirty="0"/>
              <a:t>分析算法</a:t>
            </a:r>
          </a:p>
        </p:txBody>
      </p:sp>
      <p:sp>
        <p:nvSpPr>
          <p:cNvPr id="18435" name="Rectangle 3"/>
          <p:cNvSpPr>
            <a:spLocks noGrp="1" noChangeArrowheads="1"/>
          </p:cNvSpPr>
          <p:nvPr>
            <p:ph idx="1"/>
          </p:nvPr>
        </p:nvSpPr>
        <p:spPr>
          <a:xfrm>
            <a:off x="839416" y="1700808"/>
            <a:ext cx="8229600" cy="4471988"/>
          </a:xfrm>
        </p:spPr>
        <p:txBody>
          <a:bodyPr/>
          <a:lstStyle/>
          <a:p>
            <a:pPr eaLnBrk="1" hangingPunct="1"/>
            <a:r>
              <a:rPr lang="zh-CN" altLang="en-US" dirty="0"/>
              <a:t>算法时间与空间的复杂度分析</a:t>
            </a:r>
          </a:p>
          <a:p>
            <a:pPr eaLnBrk="1" hangingPunct="1"/>
            <a:r>
              <a:rPr kumimoji="1" lang="zh-CN" altLang="en-US" dirty="0"/>
              <a:t>计算时间的渐进表示</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28559" y="306138"/>
            <a:ext cx="10515600" cy="1325563"/>
          </a:xfrm>
        </p:spPr>
        <p:txBody>
          <a:bodyPr/>
          <a:lstStyle/>
          <a:p>
            <a:pPr eaLnBrk="1" hangingPunct="1"/>
            <a:r>
              <a:rPr kumimoji="1" lang="zh-CN" altLang="en-US" dirty="0"/>
              <a:t>算法分析的目的</a:t>
            </a:r>
            <a:endParaRPr kumimoji="1" lang="zh-CN" altLang="en-US" sz="2800" dirty="0"/>
          </a:p>
        </p:txBody>
      </p:sp>
      <p:sp>
        <p:nvSpPr>
          <p:cNvPr id="19459" name="Rectangle 3"/>
          <p:cNvSpPr>
            <a:spLocks noGrp="1" noChangeArrowheads="1"/>
          </p:cNvSpPr>
          <p:nvPr>
            <p:ph idx="1"/>
          </p:nvPr>
        </p:nvSpPr>
        <p:spPr>
          <a:xfrm>
            <a:off x="628559" y="1631701"/>
            <a:ext cx="10381918" cy="4317579"/>
          </a:xfrm>
        </p:spPr>
        <p:txBody>
          <a:bodyPr>
            <a:normAutofit/>
          </a:bodyPr>
          <a:lstStyle/>
          <a:p>
            <a:pPr eaLnBrk="1" hangingPunct="1">
              <a:lnSpc>
                <a:spcPct val="120000"/>
              </a:lnSpc>
            </a:pPr>
            <a:r>
              <a:rPr lang="zh-CN" altLang="en-US" sz="2800" dirty="0"/>
              <a:t>算法分析</a:t>
            </a:r>
            <a:r>
              <a:rPr kumimoji="1" lang="en-US" altLang="zh-CN" sz="2800" dirty="0"/>
              <a:t>(analysis of algorithms)</a:t>
            </a:r>
            <a:r>
              <a:rPr lang="zh-CN" altLang="en-US" sz="2800" dirty="0"/>
              <a:t>是对一个算法需要多少</a:t>
            </a:r>
            <a:r>
              <a:rPr lang="zh-CN" altLang="en-US" sz="2800" dirty="0">
                <a:solidFill>
                  <a:srgbClr val="FF0000"/>
                </a:solidFill>
              </a:rPr>
              <a:t>计算时间</a:t>
            </a:r>
            <a:r>
              <a:rPr lang="zh-CN" altLang="en-US" sz="2800" dirty="0"/>
              <a:t>和</a:t>
            </a:r>
            <a:r>
              <a:rPr lang="zh-CN" altLang="en-US" sz="2800" dirty="0">
                <a:solidFill>
                  <a:srgbClr val="FF0000"/>
                </a:solidFill>
              </a:rPr>
              <a:t>存储空间</a:t>
            </a:r>
            <a:r>
              <a:rPr lang="zh-CN" altLang="en-US" sz="2800" dirty="0"/>
              <a:t>作定量的分析。</a:t>
            </a:r>
          </a:p>
          <a:p>
            <a:pPr eaLnBrk="1" hangingPunct="1">
              <a:lnSpc>
                <a:spcPct val="120000"/>
              </a:lnSpc>
              <a:buFont typeface="Wingdings" pitchFamily="2" charset="2"/>
              <a:buNone/>
            </a:pPr>
            <a:r>
              <a:rPr lang="zh-CN" altLang="en-US" sz="2800" dirty="0"/>
              <a:t>    </a:t>
            </a:r>
            <a:r>
              <a:rPr lang="en-US" altLang="zh-CN" sz="2800" dirty="0"/>
              <a:t>——</a:t>
            </a:r>
            <a:r>
              <a:rPr lang="zh-CN" altLang="en-US" sz="2800" dirty="0"/>
              <a:t>确定算法在什么样的环境下能够有效地运行。</a:t>
            </a:r>
          </a:p>
          <a:p>
            <a:pPr eaLnBrk="1" hangingPunct="1">
              <a:lnSpc>
                <a:spcPct val="120000"/>
              </a:lnSpc>
            </a:pPr>
            <a:r>
              <a:rPr lang="zh-CN" altLang="en-US" sz="2800" dirty="0"/>
              <a:t>分析在</a:t>
            </a:r>
            <a:r>
              <a:rPr lang="zh-CN" altLang="en-US" sz="2800" dirty="0">
                <a:solidFill>
                  <a:srgbClr val="FF0000"/>
                </a:solidFill>
              </a:rPr>
              <a:t>最好</a:t>
            </a:r>
            <a:r>
              <a:rPr lang="zh-CN" altLang="en-US" sz="2800" dirty="0"/>
              <a:t>、</a:t>
            </a:r>
            <a:r>
              <a:rPr lang="zh-CN" altLang="en-US" sz="2800" dirty="0">
                <a:solidFill>
                  <a:srgbClr val="FF0000"/>
                </a:solidFill>
              </a:rPr>
              <a:t>最坏</a:t>
            </a:r>
            <a:r>
              <a:rPr lang="zh-CN" altLang="en-US" sz="2800" dirty="0"/>
              <a:t>和</a:t>
            </a:r>
            <a:r>
              <a:rPr lang="zh-CN" altLang="en-US" sz="2800" dirty="0">
                <a:solidFill>
                  <a:srgbClr val="FF0000"/>
                </a:solidFill>
              </a:rPr>
              <a:t>平均</a:t>
            </a:r>
            <a:r>
              <a:rPr lang="zh-CN" altLang="en-US" sz="2800" dirty="0"/>
              <a:t>情况下的执行情况。</a:t>
            </a:r>
            <a:endParaRPr lang="en-US" altLang="zh-CN" sz="2800" dirty="0"/>
          </a:p>
          <a:p>
            <a:pPr marL="0" indent="0">
              <a:lnSpc>
                <a:spcPct val="120000"/>
              </a:lnSpc>
              <a:buNone/>
            </a:pPr>
            <a:r>
              <a:rPr lang="en-US" altLang="zh-CN" dirty="0"/>
              <a:t>   ——</a:t>
            </a:r>
            <a:r>
              <a:rPr lang="zh-CN" altLang="en-US" dirty="0"/>
              <a:t>对同一算法，针对不同输入数据，作出比较。</a:t>
            </a:r>
          </a:p>
          <a:p>
            <a:pPr>
              <a:lnSpc>
                <a:spcPct val="120000"/>
              </a:lnSpc>
              <a:buNone/>
            </a:pPr>
            <a:r>
              <a:rPr lang="zh-CN" altLang="en-US" sz="2800" dirty="0"/>
              <a:t>   </a:t>
            </a:r>
            <a:r>
              <a:rPr lang="en-US" altLang="zh-CN" sz="2800" dirty="0"/>
              <a:t>——</a:t>
            </a:r>
            <a:r>
              <a:rPr lang="zh-CN" altLang="en-US" sz="2800" dirty="0"/>
              <a:t>对解决同一问题的不同算法，</a:t>
            </a:r>
            <a:r>
              <a:rPr lang="zh-CN" altLang="en-US" dirty="0"/>
              <a:t>性能</a:t>
            </a:r>
            <a:r>
              <a:rPr lang="zh-CN" altLang="en-US" sz="2800" dirty="0"/>
              <a:t>作出比较。</a:t>
            </a:r>
            <a:endParaRPr lang="en-US" altLang="zh-CN" sz="2800" dirty="0"/>
          </a:p>
          <a:p>
            <a:pPr>
              <a:lnSpc>
                <a:spcPct val="120000"/>
              </a:lnSpc>
            </a:pPr>
            <a:r>
              <a:rPr lang="zh-CN" altLang="en-US" dirty="0"/>
              <a:t>评价算法的好坏，有利于设计出更好的算法。</a:t>
            </a:r>
            <a:endParaRPr lang="zh-CN" altLang="en-US" sz="2800" dirty="0"/>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7FAB0AD-30E4-4675-9367-FEB0FD6D5B0A}"/>
              </a:ext>
            </a:extLst>
          </p:cNvPr>
          <p:cNvSpPr>
            <a:spLocks noGrp="1"/>
          </p:cNvSpPr>
          <p:nvPr>
            <p:ph type="title"/>
          </p:nvPr>
        </p:nvSpPr>
        <p:spPr>
          <a:xfrm>
            <a:off x="263352" y="447489"/>
            <a:ext cx="7543800" cy="1000125"/>
          </a:xfrm>
        </p:spPr>
        <p:txBody>
          <a:bodyPr/>
          <a:lstStyle/>
          <a:p>
            <a:pPr>
              <a:defRPr/>
            </a:pPr>
            <a:r>
              <a:rPr kumimoji="1" lang="zh-CN" altLang="en-US" dirty="0">
                <a:solidFill>
                  <a:schemeClr val="tx2"/>
                </a:solidFill>
              </a:rPr>
              <a:t>运行时间的度量单位</a:t>
            </a:r>
          </a:p>
        </p:txBody>
      </p:sp>
      <p:sp>
        <p:nvSpPr>
          <p:cNvPr id="3" name="内容占位符 2">
            <a:extLst>
              <a:ext uri="{FF2B5EF4-FFF2-40B4-BE49-F238E27FC236}">
                <a16:creationId xmlns:a16="http://schemas.microsoft.com/office/drawing/2014/main" xmlns="" id="{7B42EA2E-A36D-4672-B911-4B0BCF4E8037}"/>
              </a:ext>
            </a:extLst>
          </p:cNvPr>
          <p:cNvSpPr>
            <a:spLocks noGrp="1"/>
          </p:cNvSpPr>
          <p:nvPr>
            <p:ph idx="1"/>
          </p:nvPr>
        </p:nvSpPr>
        <p:spPr>
          <a:xfrm>
            <a:off x="479376" y="1507064"/>
            <a:ext cx="11161240" cy="4903447"/>
          </a:xfrm>
        </p:spPr>
        <p:txBody>
          <a:bodyPr>
            <a:normAutofit fontScale="92500"/>
          </a:bodyPr>
          <a:lstStyle/>
          <a:p>
            <a:pPr marL="0">
              <a:lnSpc>
                <a:spcPct val="120000"/>
              </a:lnSpc>
              <a:spcBef>
                <a:spcPts val="0"/>
              </a:spcBef>
              <a:defRPr/>
            </a:pPr>
            <a:r>
              <a:rPr lang="zh-CN" altLang="en-US" u="sng" dirty="0">
                <a:latin typeface="幼圆" panose="02010509060101010101" pitchFamily="49" charset="-122"/>
              </a:rPr>
              <a:t>方法</a:t>
            </a:r>
            <a:r>
              <a:rPr lang="en-US" altLang="zh-CN" u="sng" dirty="0">
                <a:latin typeface="幼圆" panose="02010509060101010101" pitchFamily="49" charset="-122"/>
              </a:rPr>
              <a:t>1</a:t>
            </a:r>
            <a:r>
              <a:rPr lang="zh-CN" altLang="en-US" dirty="0">
                <a:latin typeface="幼圆" panose="02010509060101010101" pitchFamily="49" charset="-122"/>
              </a:rPr>
              <a:t>：使用</a:t>
            </a:r>
            <a:r>
              <a:rPr lang="zh-CN" altLang="en-US" u="sng" dirty="0">
                <a:solidFill>
                  <a:srgbClr val="0033CC"/>
                </a:solidFill>
                <a:latin typeface="幼圆" panose="02010509060101010101" pitchFamily="49" charset="-122"/>
              </a:rPr>
              <a:t>时间标准度量单位</a:t>
            </a:r>
            <a:r>
              <a:rPr lang="zh-CN" altLang="en-US" dirty="0">
                <a:latin typeface="幼圆" panose="02010509060101010101" pitchFamily="49" charset="-122"/>
              </a:rPr>
              <a:t>（秒、毫秒）来度量算法程序的运行时间。</a:t>
            </a:r>
            <a:endParaRPr lang="en-US" altLang="zh-CN" dirty="0">
              <a:latin typeface="幼圆" panose="02010509060101010101" pitchFamily="49" charset="-122"/>
            </a:endParaRPr>
          </a:p>
          <a:p>
            <a:pPr marL="514350" lvl="1" indent="-457200">
              <a:lnSpc>
                <a:spcPct val="120000"/>
              </a:lnSpc>
              <a:spcBef>
                <a:spcPts val="0"/>
              </a:spcBef>
              <a:defRPr/>
            </a:pPr>
            <a:r>
              <a:rPr lang="zh-CN" altLang="en-US" dirty="0">
                <a:solidFill>
                  <a:srgbClr val="C00000"/>
                </a:solidFill>
                <a:latin typeface="幼圆" panose="02010509060101010101" pitchFamily="49" charset="-122"/>
              </a:rPr>
              <a:t>其明显缺陷：</a:t>
            </a:r>
            <a:endParaRPr lang="en-US" altLang="zh-CN" dirty="0">
              <a:solidFill>
                <a:srgbClr val="C00000"/>
              </a:solidFill>
              <a:latin typeface="幼圆" panose="02010509060101010101" pitchFamily="49" charset="-122"/>
            </a:endParaRPr>
          </a:p>
          <a:p>
            <a:pPr marL="914400" lvl="2" indent="-342900">
              <a:lnSpc>
                <a:spcPct val="120000"/>
              </a:lnSpc>
              <a:spcBef>
                <a:spcPts val="0"/>
              </a:spcBef>
              <a:buFont typeface="Wingdings" panose="05000000000000000000" pitchFamily="2" charset="2"/>
              <a:buChar char="n"/>
              <a:defRPr/>
            </a:pPr>
            <a:r>
              <a:rPr lang="zh-CN" altLang="en-US" dirty="0">
                <a:latin typeface="幼圆" panose="02010509060101010101" pitchFamily="49" charset="-122"/>
              </a:rPr>
              <a:t>依赖于特定计算机的运行速度；</a:t>
            </a:r>
            <a:endParaRPr lang="en-US" altLang="zh-CN" dirty="0">
              <a:latin typeface="幼圆" panose="02010509060101010101" pitchFamily="49" charset="-122"/>
            </a:endParaRPr>
          </a:p>
          <a:p>
            <a:pPr marL="914400" lvl="2" indent="-342900">
              <a:lnSpc>
                <a:spcPct val="120000"/>
              </a:lnSpc>
              <a:spcBef>
                <a:spcPts val="0"/>
              </a:spcBef>
              <a:buFont typeface="Wingdings" panose="05000000000000000000" pitchFamily="2" charset="2"/>
              <a:buChar char="n"/>
              <a:defRPr/>
            </a:pPr>
            <a:r>
              <a:rPr lang="zh-CN" altLang="en-US" dirty="0">
                <a:latin typeface="幼圆" panose="02010509060101010101" pitchFamily="49" charset="-122"/>
              </a:rPr>
              <a:t>依赖于算法程序实现的质量；</a:t>
            </a:r>
            <a:endParaRPr lang="en-US" altLang="zh-CN" dirty="0">
              <a:latin typeface="幼圆" panose="02010509060101010101" pitchFamily="49" charset="-122"/>
            </a:endParaRPr>
          </a:p>
          <a:p>
            <a:pPr marL="914400" lvl="2" indent="-342900">
              <a:lnSpc>
                <a:spcPct val="120000"/>
              </a:lnSpc>
              <a:spcBef>
                <a:spcPts val="0"/>
              </a:spcBef>
              <a:buFont typeface="Wingdings" panose="05000000000000000000" pitchFamily="2" charset="2"/>
              <a:buChar char="n"/>
              <a:defRPr/>
            </a:pPr>
            <a:r>
              <a:rPr lang="zh-CN" altLang="en-US" dirty="0">
                <a:latin typeface="幼圆" panose="02010509060101010101" pitchFamily="49" charset="-122"/>
              </a:rPr>
              <a:t>依赖于使用哪种编译器将程序转化为机器语言；</a:t>
            </a:r>
            <a:endParaRPr lang="en-US" altLang="zh-CN" dirty="0">
              <a:latin typeface="幼圆" panose="02010509060101010101" pitchFamily="49" charset="-122"/>
            </a:endParaRPr>
          </a:p>
          <a:p>
            <a:pPr marL="914400" lvl="2" indent="-342900">
              <a:lnSpc>
                <a:spcPct val="120000"/>
              </a:lnSpc>
              <a:spcBef>
                <a:spcPts val="0"/>
              </a:spcBef>
              <a:buFont typeface="Wingdings" panose="05000000000000000000" pitchFamily="2" charset="2"/>
              <a:buChar char="n"/>
              <a:defRPr/>
            </a:pPr>
            <a:r>
              <a:rPr lang="zh-CN" altLang="en-US" dirty="0">
                <a:latin typeface="幼圆" panose="02010509060101010101" pitchFamily="49" charset="-122"/>
              </a:rPr>
              <a:t>需要对实际运行时间进行计时。</a:t>
            </a:r>
            <a:endParaRPr lang="en-US" altLang="zh-CN" dirty="0">
              <a:latin typeface="幼圆" panose="02010509060101010101" pitchFamily="49" charset="-122"/>
            </a:endParaRPr>
          </a:p>
          <a:p>
            <a:pPr marL="514350" lvl="1" indent="-457200">
              <a:lnSpc>
                <a:spcPct val="120000"/>
              </a:lnSpc>
              <a:spcBef>
                <a:spcPts val="0"/>
              </a:spcBef>
              <a:defRPr/>
            </a:pPr>
            <a:r>
              <a:rPr lang="zh-CN" altLang="en-US" dirty="0">
                <a:solidFill>
                  <a:srgbClr val="C00000"/>
                </a:solidFill>
                <a:latin typeface="幼圆" panose="02010509060101010101" pitchFamily="49" charset="-122"/>
              </a:rPr>
              <a:t>要独立于具体的软硬件环境去分析算法：</a:t>
            </a:r>
          </a:p>
          <a:p>
            <a:pPr marL="914400" lvl="2" indent="-342900">
              <a:lnSpc>
                <a:spcPct val="120000"/>
              </a:lnSpc>
              <a:spcBef>
                <a:spcPts val="0"/>
              </a:spcBef>
              <a:buFont typeface="Wingdings" panose="05000000000000000000" pitchFamily="2" charset="2"/>
              <a:buChar char="n"/>
              <a:defRPr/>
            </a:pPr>
            <a:r>
              <a:rPr lang="zh-CN" altLang="en-US" dirty="0">
                <a:latin typeface="幼圆" panose="02010509060101010101" pitchFamily="49" charset="-122"/>
              </a:rPr>
              <a:t>假定使用一台通用计算机：</a:t>
            </a:r>
            <a:endParaRPr lang="en-US" altLang="zh-CN" dirty="0">
              <a:latin typeface="幼圆" panose="02010509060101010101" pitchFamily="49" charset="-122"/>
            </a:endParaRPr>
          </a:p>
          <a:p>
            <a:pPr marL="914400" lvl="2" indent="-342900">
              <a:lnSpc>
                <a:spcPct val="120000"/>
              </a:lnSpc>
              <a:spcBef>
                <a:spcPts val="0"/>
              </a:spcBef>
              <a:buFont typeface="Wingdings" panose="05000000000000000000" pitchFamily="2" charset="2"/>
              <a:buChar char="n"/>
              <a:defRPr/>
            </a:pPr>
            <a:r>
              <a:rPr lang="zh-CN" altLang="en-US" dirty="0">
                <a:latin typeface="幼圆" panose="02010509060101010101" pitchFamily="49" charset="-122"/>
              </a:rPr>
              <a:t>顺序处理每条指令；</a:t>
            </a:r>
          </a:p>
          <a:p>
            <a:pPr marL="914400" lvl="2" indent="-342900">
              <a:lnSpc>
                <a:spcPct val="120000"/>
              </a:lnSpc>
              <a:spcBef>
                <a:spcPts val="0"/>
              </a:spcBef>
              <a:buFont typeface="Wingdings" panose="05000000000000000000" pitchFamily="2" charset="2"/>
              <a:buChar char="n"/>
              <a:defRPr/>
            </a:pPr>
            <a:r>
              <a:rPr lang="zh-CN" altLang="en-US" dirty="0">
                <a:latin typeface="幼圆" panose="02010509060101010101" pitchFamily="49" charset="-122"/>
              </a:rPr>
              <a:t>存储容量足够大；</a:t>
            </a:r>
          </a:p>
          <a:p>
            <a:pPr marL="914400" lvl="2" indent="-342900">
              <a:lnSpc>
                <a:spcPct val="120000"/>
              </a:lnSpc>
              <a:spcBef>
                <a:spcPts val="0"/>
              </a:spcBef>
              <a:buFont typeface="Wingdings" panose="05000000000000000000" pitchFamily="2" charset="2"/>
              <a:buChar char="n"/>
              <a:defRPr/>
            </a:pPr>
            <a:r>
              <a:rPr lang="zh-CN" altLang="en-US" dirty="0">
                <a:latin typeface="幼圆" panose="02010509060101010101" pitchFamily="49" charset="-122"/>
              </a:rPr>
              <a:t>存取时间恒定。</a:t>
            </a:r>
          </a:p>
        </p:txBody>
      </p:sp>
      <p:sp>
        <p:nvSpPr>
          <p:cNvPr id="4" name="灯片编号占位符 3">
            <a:extLst>
              <a:ext uri="{FF2B5EF4-FFF2-40B4-BE49-F238E27FC236}">
                <a16:creationId xmlns:a16="http://schemas.microsoft.com/office/drawing/2014/main" xmlns="" id="{92C7B617-1E75-4F83-855B-F41AFE98080C}"/>
              </a:ext>
            </a:extLst>
          </p:cNvPr>
          <p:cNvSpPr>
            <a:spLocks noGrp="1"/>
          </p:cNvSpPr>
          <p:nvPr>
            <p:ph type="sldNum" sz="quarter" idx="12"/>
          </p:nvPr>
        </p:nvSpPr>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8F9DAA27-AB12-4718-A0E7-112A56867604}" type="slidenum">
              <a:rPr lang="en-US" altLang="zh-CN"/>
              <a:pPr eaLnBrk="1" hangingPunct="1"/>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3AD6C77-2A24-4DC9-A4F3-EF9B3FB14E08}"/>
              </a:ext>
            </a:extLst>
          </p:cNvPr>
          <p:cNvSpPr>
            <a:spLocks noGrp="1"/>
          </p:cNvSpPr>
          <p:nvPr>
            <p:ph type="title"/>
          </p:nvPr>
        </p:nvSpPr>
        <p:spPr>
          <a:xfrm>
            <a:off x="479376" y="282161"/>
            <a:ext cx="7543800" cy="1000125"/>
          </a:xfrm>
        </p:spPr>
        <p:txBody>
          <a:bodyPr/>
          <a:lstStyle/>
          <a:p>
            <a:pPr>
              <a:defRPr/>
            </a:pPr>
            <a:r>
              <a:rPr kumimoji="1" lang="zh-CN" altLang="en-US" dirty="0">
                <a:solidFill>
                  <a:schemeClr val="tx2"/>
                </a:solidFill>
              </a:rPr>
              <a:t>运行时间的度量单位</a:t>
            </a:r>
          </a:p>
        </p:txBody>
      </p:sp>
      <p:sp>
        <p:nvSpPr>
          <p:cNvPr id="3" name="内容占位符 2">
            <a:extLst>
              <a:ext uri="{FF2B5EF4-FFF2-40B4-BE49-F238E27FC236}">
                <a16:creationId xmlns:a16="http://schemas.microsoft.com/office/drawing/2014/main" xmlns="" id="{58D5FA73-716A-4944-AB05-8A9C67CC2DC5}"/>
              </a:ext>
            </a:extLst>
          </p:cNvPr>
          <p:cNvSpPr>
            <a:spLocks noGrp="1"/>
          </p:cNvSpPr>
          <p:nvPr>
            <p:ph idx="1"/>
          </p:nvPr>
        </p:nvSpPr>
        <p:spPr>
          <a:xfrm>
            <a:off x="479376" y="1441370"/>
            <a:ext cx="11449272" cy="4219878"/>
          </a:xfrm>
        </p:spPr>
        <p:txBody>
          <a:bodyPr/>
          <a:lstStyle/>
          <a:p>
            <a:pPr marL="0">
              <a:lnSpc>
                <a:spcPct val="150000"/>
              </a:lnSpc>
              <a:spcBef>
                <a:spcPts val="0"/>
              </a:spcBef>
              <a:defRPr/>
            </a:pPr>
            <a:r>
              <a:rPr lang="zh-CN" altLang="en-US" u="sng" dirty="0">
                <a:latin typeface="幼圆" panose="02010509060101010101" pitchFamily="49" charset="-122"/>
              </a:rPr>
              <a:t>方法</a:t>
            </a:r>
            <a:r>
              <a:rPr lang="en-US" altLang="zh-CN" u="sng" dirty="0">
                <a:latin typeface="幼圆" panose="02010509060101010101" pitchFamily="49" charset="-122"/>
              </a:rPr>
              <a:t>2</a:t>
            </a:r>
            <a:r>
              <a:rPr lang="zh-CN" altLang="en-US" dirty="0">
                <a:latin typeface="幼圆" panose="02010509060101010101" pitchFamily="49" charset="-122"/>
              </a:rPr>
              <a:t>：统计算法</a:t>
            </a:r>
            <a:r>
              <a:rPr lang="zh-CN" altLang="en-US" u="sng" dirty="0">
                <a:solidFill>
                  <a:srgbClr val="C00000"/>
                </a:solidFill>
                <a:latin typeface="幼圆" panose="02010509060101010101" pitchFamily="49" charset="-122"/>
              </a:rPr>
              <a:t>每一步操作的执行次数</a:t>
            </a:r>
            <a:r>
              <a:rPr lang="zh-CN" altLang="en-US" dirty="0">
                <a:latin typeface="幼圆" panose="02010509060101010101" pitchFamily="49" charset="-122"/>
              </a:rPr>
              <a:t>。</a:t>
            </a:r>
            <a:endParaRPr lang="en-US" altLang="zh-CN" dirty="0">
              <a:latin typeface="幼圆" panose="02010509060101010101" pitchFamily="49" charset="-122"/>
            </a:endParaRPr>
          </a:p>
          <a:p>
            <a:pPr marL="400050" lvl="1">
              <a:lnSpc>
                <a:spcPct val="150000"/>
              </a:lnSpc>
              <a:spcBef>
                <a:spcPts val="0"/>
              </a:spcBef>
              <a:defRPr/>
            </a:pPr>
            <a:r>
              <a:rPr lang="zh-CN" altLang="en-US" dirty="0">
                <a:latin typeface="幼圆" panose="02010509060101010101" pitchFamily="49" charset="-122"/>
              </a:rPr>
              <a:t>缺点：过于困难、且没有必要。</a:t>
            </a:r>
            <a:endParaRPr lang="en-US" altLang="zh-CN" dirty="0">
              <a:latin typeface="幼圆" panose="02010509060101010101" pitchFamily="49" charset="-122"/>
            </a:endParaRPr>
          </a:p>
          <a:p>
            <a:pPr marL="0">
              <a:lnSpc>
                <a:spcPct val="150000"/>
              </a:lnSpc>
              <a:spcBef>
                <a:spcPts val="0"/>
              </a:spcBef>
              <a:defRPr/>
            </a:pPr>
            <a:r>
              <a:rPr lang="zh-CN" altLang="en-US" u="sng" dirty="0">
                <a:latin typeface="幼圆" panose="02010509060101010101" pitchFamily="49" charset="-122"/>
              </a:rPr>
              <a:t>方法</a:t>
            </a:r>
            <a:r>
              <a:rPr lang="en-US" altLang="zh-CN" u="sng" dirty="0">
                <a:latin typeface="幼圆" panose="02010509060101010101" pitchFamily="49" charset="-122"/>
              </a:rPr>
              <a:t>3</a:t>
            </a:r>
            <a:r>
              <a:rPr lang="zh-CN" altLang="en-US" dirty="0">
                <a:latin typeface="幼圆" panose="02010509060101010101" pitchFamily="49" charset="-122"/>
              </a:rPr>
              <a:t>：找算法中最重要的操作，即对总运行时间影响最大的</a:t>
            </a:r>
            <a:r>
              <a:rPr lang="zh-CN" altLang="en-US" dirty="0">
                <a:solidFill>
                  <a:srgbClr val="C00000"/>
                </a:solidFill>
                <a:latin typeface="幼圆" panose="02010509060101010101" pitchFamily="49" charset="-122"/>
              </a:rPr>
              <a:t>基本操作</a:t>
            </a:r>
            <a:r>
              <a:rPr lang="zh-CN" altLang="en-US" dirty="0">
                <a:latin typeface="幼圆" panose="02010509060101010101" pitchFamily="49" charset="-122"/>
              </a:rPr>
              <a:t>，统计该操作运行的</a:t>
            </a:r>
            <a:r>
              <a:rPr lang="zh-CN" altLang="en-US" u="sng" dirty="0">
                <a:solidFill>
                  <a:srgbClr val="C00000"/>
                </a:solidFill>
                <a:latin typeface="幼圆" panose="02010509060101010101" pitchFamily="49" charset="-122"/>
              </a:rPr>
              <a:t>次数</a:t>
            </a:r>
            <a:r>
              <a:rPr lang="zh-CN" altLang="en-US" dirty="0">
                <a:latin typeface="幼圆" panose="02010509060101010101" pitchFamily="49" charset="-122"/>
              </a:rPr>
              <a:t>。</a:t>
            </a:r>
            <a:endParaRPr lang="en-US" altLang="zh-CN" dirty="0">
              <a:latin typeface="幼圆" panose="02010509060101010101" pitchFamily="49" charset="-122"/>
            </a:endParaRPr>
          </a:p>
          <a:p>
            <a:pPr marL="400050" lvl="1">
              <a:lnSpc>
                <a:spcPct val="150000"/>
              </a:lnSpc>
              <a:spcBef>
                <a:spcPts val="0"/>
              </a:spcBef>
              <a:defRPr/>
            </a:pPr>
            <a:r>
              <a:rPr lang="zh-CN" altLang="en-US" dirty="0">
                <a:latin typeface="幼圆" panose="02010509060101010101" pitchFamily="49" charset="-122"/>
              </a:rPr>
              <a:t>关键：找基本操作、统计次数。</a:t>
            </a:r>
            <a:endParaRPr lang="en-US" altLang="zh-CN" dirty="0">
              <a:latin typeface="幼圆" panose="02010509060101010101" pitchFamily="49" charset="-122"/>
            </a:endParaRPr>
          </a:p>
          <a:p>
            <a:pPr>
              <a:buFont typeface="Wingdings" panose="05000000000000000000" pitchFamily="2" charset="2"/>
              <a:buNone/>
              <a:defRPr/>
            </a:pPr>
            <a:endParaRPr lang="zh-CN" altLang="en-US" b="1" dirty="0"/>
          </a:p>
        </p:txBody>
      </p:sp>
      <p:sp>
        <p:nvSpPr>
          <p:cNvPr id="4" name="灯片编号占位符 3">
            <a:extLst>
              <a:ext uri="{FF2B5EF4-FFF2-40B4-BE49-F238E27FC236}">
                <a16:creationId xmlns:a16="http://schemas.microsoft.com/office/drawing/2014/main" xmlns="" id="{EDD3E5C9-86B6-4DAE-B83E-13BB288080F6}"/>
              </a:ext>
            </a:extLst>
          </p:cNvPr>
          <p:cNvSpPr>
            <a:spLocks noGrp="1"/>
          </p:cNvSpPr>
          <p:nvPr>
            <p:ph type="sldNum" sz="quarter" idx="12"/>
          </p:nvPr>
        </p:nvSpPr>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82A678B7-93B8-4C2A-B338-BE45C0FA65E9}" type="slidenum">
              <a:rPr lang="en-US" altLang="zh-CN"/>
              <a:pPr eaLnBrk="1" hangingPunct="1"/>
              <a:t>20</a:t>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xmlns="" id="{9D7A2B0A-FB45-41A7-BFEE-752B4F3FFE4E}"/>
              </a:ext>
            </a:extLst>
          </p:cNvPr>
          <p:cNvSpPr>
            <a:spLocks noGrp="1"/>
          </p:cNvSpPr>
          <p:nvPr>
            <p:ph type="sldNum" sz="quarter" idx="12"/>
          </p:nvPr>
        </p:nvSpPr>
        <p:spPr>
          <a:xfrm>
            <a:off x="8083550" y="6249628"/>
            <a:ext cx="2133600" cy="457200"/>
          </a:xfrm>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B2E21D2D-8E93-4F3C-966F-5652455E5FD3}" type="slidenum">
              <a:rPr lang="en-US" altLang="zh-CN"/>
              <a:pPr eaLnBrk="1" hangingPunct="1"/>
              <a:t>21</a:t>
            </a:fld>
            <a:endParaRPr lang="en-US" altLang="zh-CN"/>
          </a:p>
        </p:txBody>
      </p:sp>
      <p:sp>
        <p:nvSpPr>
          <p:cNvPr id="293890" name="Rectangle 2">
            <a:extLst>
              <a:ext uri="{FF2B5EF4-FFF2-40B4-BE49-F238E27FC236}">
                <a16:creationId xmlns:a16="http://schemas.microsoft.com/office/drawing/2014/main" xmlns="" id="{6B32BC5D-D32A-4B6C-AF12-72575A8666FC}"/>
              </a:ext>
            </a:extLst>
          </p:cNvPr>
          <p:cNvSpPr>
            <a:spLocks noGrp="1" noChangeArrowheads="1"/>
          </p:cNvSpPr>
          <p:nvPr>
            <p:ph type="title"/>
          </p:nvPr>
        </p:nvSpPr>
        <p:spPr>
          <a:xfrm>
            <a:off x="479376" y="251436"/>
            <a:ext cx="8229600" cy="1139825"/>
          </a:xfrm>
        </p:spPr>
        <p:txBody>
          <a:bodyPr/>
          <a:lstStyle/>
          <a:p>
            <a:pPr eaLnBrk="1" hangingPunct="1">
              <a:defRPr/>
            </a:pPr>
            <a:r>
              <a:rPr kumimoji="1" lang="zh-CN" altLang="en-US" dirty="0">
                <a:solidFill>
                  <a:schemeClr val="tx2"/>
                </a:solidFill>
              </a:rPr>
              <a:t>欧几里得算法的基本操作</a:t>
            </a:r>
            <a:endParaRPr kumimoji="1" lang="en-US" altLang="zh-CN" dirty="0">
              <a:solidFill>
                <a:schemeClr val="tx2"/>
              </a:solidFill>
            </a:endParaRPr>
          </a:p>
        </p:txBody>
      </p:sp>
      <p:sp>
        <p:nvSpPr>
          <p:cNvPr id="293891" name="Rectangle 3">
            <a:extLst>
              <a:ext uri="{FF2B5EF4-FFF2-40B4-BE49-F238E27FC236}">
                <a16:creationId xmlns:a16="http://schemas.microsoft.com/office/drawing/2014/main" xmlns="" id="{C4F35181-6435-4634-9D41-8D247E65FC47}"/>
              </a:ext>
            </a:extLst>
          </p:cNvPr>
          <p:cNvSpPr>
            <a:spLocks noGrp="1" noChangeArrowheads="1"/>
          </p:cNvSpPr>
          <p:nvPr>
            <p:ph type="body" idx="1"/>
          </p:nvPr>
        </p:nvSpPr>
        <p:spPr>
          <a:xfrm>
            <a:off x="513048" y="1749551"/>
            <a:ext cx="8535280" cy="4141787"/>
          </a:xfrm>
        </p:spPr>
        <p:txBody>
          <a:bodyPr/>
          <a:lstStyle/>
          <a:p>
            <a:pPr eaLnBrk="1" hangingPunct="1">
              <a:lnSpc>
                <a:spcPct val="90000"/>
              </a:lnSpc>
              <a:buFont typeface="Wingdings" panose="05000000000000000000" pitchFamily="2" charset="2"/>
              <a:buNone/>
              <a:defRPr/>
            </a:pPr>
            <a:r>
              <a:rPr lang="en-US" altLang="zh-CN" sz="2400" dirty="0">
                <a:latin typeface="Times New Roman" panose="02020603050405020304" pitchFamily="18" charset="0"/>
                <a:cs typeface="Times New Roman" panose="02020603050405020304" pitchFamily="18" charset="0"/>
              </a:rPr>
              <a:t>Procedure Euclid (m, n)</a:t>
            </a:r>
          </a:p>
          <a:p>
            <a:pPr eaLnBrk="1" hangingPunct="1">
              <a:lnSpc>
                <a:spcPct val="90000"/>
              </a:lnSpc>
              <a:buFont typeface="Wingdings" panose="05000000000000000000" pitchFamily="2" charset="2"/>
              <a:buNone/>
              <a:defRPr/>
            </a:pPr>
            <a:r>
              <a:rPr lang="en-US" altLang="zh-CN" sz="2400" dirty="0">
                <a:latin typeface="Times New Roman" panose="02020603050405020304" pitchFamily="18" charset="0"/>
                <a:cs typeface="Times New Roman" panose="02020603050405020304" pitchFamily="18" charset="0"/>
              </a:rPr>
              <a:t>  		// </a:t>
            </a:r>
            <a:r>
              <a:rPr lang="zh-CN" altLang="en-US" sz="2400" dirty="0">
                <a:latin typeface="Times New Roman" panose="02020603050405020304" pitchFamily="18" charset="0"/>
                <a:cs typeface="Times New Roman" panose="02020603050405020304" pitchFamily="18" charset="0"/>
              </a:rPr>
              <a:t>求正整数</a:t>
            </a:r>
            <a:r>
              <a:rPr lang="en-US" altLang="zh-CN" sz="2400"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n (m</a:t>
            </a:r>
            <a:r>
              <a:rPr lang="zh-CN"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的最大公因数</a:t>
            </a:r>
          </a:p>
          <a:p>
            <a:pPr eaLnBrk="1" hangingPunct="1">
              <a:lnSpc>
                <a:spcPct val="90000"/>
              </a:lnSpc>
              <a:buFont typeface="Wingdings" panose="05000000000000000000" pitchFamily="2" charset="2"/>
              <a:buNone/>
              <a:defRPr/>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r ← mod(m, n)</a:t>
            </a:r>
          </a:p>
          <a:p>
            <a:pPr eaLnBrk="1" hangingPunct="1">
              <a:lnSpc>
                <a:spcPct val="90000"/>
              </a:lnSpc>
              <a:buFont typeface="Wingdings" panose="05000000000000000000" pitchFamily="2" charset="2"/>
              <a:buNone/>
              <a:defRPr/>
            </a:pPr>
            <a:r>
              <a:rPr lang="en-US" altLang="zh-CN" sz="2400" dirty="0">
                <a:latin typeface="Times New Roman" panose="02020603050405020304" pitchFamily="18" charset="0"/>
                <a:cs typeface="Times New Roman" panose="02020603050405020304" pitchFamily="18" charset="0"/>
              </a:rPr>
              <a:t> 		 While r≠0 Do</a:t>
            </a:r>
          </a:p>
          <a:p>
            <a:pPr eaLnBrk="1" hangingPunct="1">
              <a:lnSpc>
                <a:spcPct val="90000"/>
              </a:lnSpc>
              <a:buFont typeface="Wingdings" panose="05000000000000000000" pitchFamily="2" charset="2"/>
              <a:buNone/>
              <a:defRPr/>
            </a:pPr>
            <a:r>
              <a:rPr lang="en-US" altLang="zh-CN" sz="2400" dirty="0">
                <a:latin typeface="Times New Roman" panose="02020603050405020304" pitchFamily="18" charset="0"/>
                <a:cs typeface="Times New Roman" panose="02020603050405020304" pitchFamily="18" charset="0"/>
              </a:rPr>
              <a:t>      	      m ←n. n ←r. r ←mod(</a:t>
            </a:r>
            <a:r>
              <a:rPr lang="en-US" altLang="zh-CN" sz="2400" dirty="0" err="1">
                <a:latin typeface="Times New Roman" panose="02020603050405020304" pitchFamily="18" charset="0"/>
                <a:cs typeface="Times New Roman" panose="02020603050405020304" pitchFamily="18" charset="0"/>
              </a:rPr>
              <a:t>m,n</a:t>
            </a:r>
            <a:r>
              <a:rPr lang="en-US" altLang="zh-CN" sz="2400" dirty="0">
                <a:latin typeface="Times New Roman" panose="02020603050405020304" pitchFamily="18" charset="0"/>
                <a:cs typeface="Times New Roman" panose="02020603050405020304" pitchFamily="18" charset="0"/>
              </a:rPr>
              <a:t>).</a:t>
            </a:r>
          </a:p>
          <a:p>
            <a:pPr eaLnBrk="1" hangingPunct="1">
              <a:lnSpc>
                <a:spcPct val="90000"/>
              </a:lnSpc>
              <a:buFont typeface="Wingdings" panose="05000000000000000000" pitchFamily="2" charset="2"/>
              <a:buNone/>
              <a:defRPr/>
            </a:pPr>
            <a:r>
              <a:rPr lang="en-US" altLang="zh-CN" sz="2400" dirty="0">
                <a:latin typeface="Times New Roman" panose="02020603050405020304" pitchFamily="18" charset="0"/>
                <a:cs typeface="Times New Roman" panose="02020603050405020304" pitchFamily="18" charset="0"/>
              </a:rPr>
              <a:t>  		Repeat</a:t>
            </a:r>
          </a:p>
          <a:p>
            <a:pPr eaLnBrk="1" hangingPunct="1">
              <a:lnSpc>
                <a:spcPct val="90000"/>
              </a:lnSpc>
              <a:buFont typeface="Wingdings" panose="05000000000000000000" pitchFamily="2" charset="2"/>
              <a:buNone/>
              <a:defRPr/>
            </a:pPr>
            <a:r>
              <a:rPr lang="en-US" altLang="zh-CN" sz="2400" dirty="0">
                <a:latin typeface="Times New Roman" panose="02020603050405020304" pitchFamily="18" charset="0"/>
                <a:cs typeface="Times New Roman" panose="02020603050405020304" pitchFamily="18" charset="0"/>
              </a:rPr>
              <a:t>  		Return n</a:t>
            </a:r>
          </a:p>
          <a:p>
            <a:pPr eaLnBrk="1" hangingPunct="1">
              <a:lnSpc>
                <a:spcPct val="90000"/>
              </a:lnSpc>
              <a:buFont typeface="Wingdings" panose="05000000000000000000" pitchFamily="2" charset="2"/>
              <a:buNone/>
              <a:defRPr/>
            </a:pPr>
            <a:r>
              <a:rPr lang="en-US" altLang="zh-CN" sz="2400" dirty="0">
                <a:latin typeface="Times New Roman" panose="02020603050405020304" pitchFamily="18" charset="0"/>
                <a:cs typeface="Times New Roman" panose="02020603050405020304" pitchFamily="18" charset="0"/>
              </a:rPr>
              <a:t>End Euclid</a:t>
            </a:r>
          </a:p>
        </p:txBody>
      </p:sp>
      <p:sp>
        <p:nvSpPr>
          <p:cNvPr id="5" name="圆角矩形标注 4">
            <a:extLst>
              <a:ext uri="{FF2B5EF4-FFF2-40B4-BE49-F238E27FC236}">
                <a16:creationId xmlns:a16="http://schemas.microsoft.com/office/drawing/2014/main" xmlns="" id="{DB6D8B69-15B0-4649-BE31-B5DE85EE07EC}"/>
              </a:ext>
            </a:extLst>
          </p:cNvPr>
          <p:cNvSpPr>
            <a:spLocks noChangeArrowheads="1"/>
          </p:cNvSpPr>
          <p:nvPr/>
        </p:nvSpPr>
        <p:spPr bwMode="auto">
          <a:xfrm>
            <a:off x="4450297" y="4666655"/>
            <a:ext cx="3619021" cy="647700"/>
          </a:xfrm>
          <a:prstGeom prst="wedgeRoundRectCallout">
            <a:avLst>
              <a:gd name="adj1" fmla="val -30204"/>
              <a:gd name="adj2" fmla="val -107527"/>
              <a:gd name="adj3" fmla="val 16667"/>
            </a:avLst>
          </a:prstGeom>
          <a:solidFill>
            <a:schemeClr val="accent1"/>
          </a:solidFill>
          <a:ln w="31750" cap="sq" algn="ctr">
            <a:solidFill>
              <a:schemeClr val="tx1"/>
            </a:solidFill>
            <a:round/>
            <a:headEnd type="none" w="sm" len="sm"/>
            <a:tailEnd type="triangle" w="med" len="lg"/>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3200" b="1" dirty="0">
                <a:solidFill>
                  <a:schemeClr val="accent5">
                    <a:lumMod val="20000"/>
                    <a:lumOff val="80000"/>
                  </a:schemeClr>
                </a:solidFill>
              </a:rPr>
              <a:t>基本操作：求余</a:t>
            </a:r>
          </a:p>
        </p:txBody>
      </p:sp>
      <p:cxnSp>
        <p:nvCxnSpPr>
          <p:cNvPr id="7" name="直接连接符 6"/>
          <p:cNvCxnSpPr>
            <a:cxnSpLocks/>
          </p:cNvCxnSpPr>
          <p:nvPr/>
        </p:nvCxnSpPr>
        <p:spPr bwMode="auto">
          <a:xfrm>
            <a:off x="1425960" y="3081698"/>
            <a:ext cx="2331290" cy="0"/>
          </a:xfrm>
          <a:prstGeom prst="line">
            <a:avLst/>
          </a:prstGeom>
          <a:solidFill>
            <a:schemeClr val="accent1"/>
          </a:solidFill>
          <a:ln w="31750" cap="sq" cmpd="sng" algn="ctr">
            <a:solidFill>
              <a:srgbClr val="FF0000"/>
            </a:solidFill>
            <a:prstDash val="solid"/>
            <a:round/>
            <a:headEnd type="none" w="sm" len="sm"/>
            <a:tailEnd type="none" w="med" len="lg"/>
          </a:ln>
          <a:effectLst/>
        </p:spPr>
      </p:cxnSp>
      <p:cxnSp>
        <p:nvCxnSpPr>
          <p:cNvPr id="9" name="直接连接符 8"/>
          <p:cNvCxnSpPr>
            <a:cxnSpLocks/>
          </p:cNvCxnSpPr>
          <p:nvPr/>
        </p:nvCxnSpPr>
        <p:spPr bwMode="auto">
          <a:xfrm>
            <a:off x="3616877" y="3945794"/>
            <a:ext cx="2487456" cy="0"/>
          </a:xfrm>
          <a:prstGeom prst="line">
            <a:avLst/>
          </a:prstGeom>
          <a:solidFill>
            <a:schemeClr val="accent1"/>
          </a:solidFill>
          <a:ln w="31750" cap="sq" cmpd="sng" algn="ctr">
            <a:solidFill>
              <a:srgbClr val="FF0000"/>
            </a:solidFill>
            <a:prstDash val="solid"/>
            <a:round/>
            <a:headEnd type="none" w="sm" len="sm"/>
            <a:tailEnd type="none" w="med" len="lg"/>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739EB4-AF4D-9240-6F4E-E81AB205755D}"/>
            </a:ext>
          </a:extLst>
        </p:cNvPr>
        <p:cNvGrpSpPr/>
        <p:nvPr/>
      </p:nvGrpSpPr>
      <p:grpSpPr>
        <a:xfrm>
          <a:off x="0" y="0"/>
          <a:ext cx="0" cy="0"/>
          <a:chOff x="0" y="0"/>
          <a:chExt cx="0" cy="0"/>
        </a:xfrm>
      </p:grpSpPr>
      <p:sp>
        <p:nvSpPr>
          <p:cNvPr id="55298" name="灯片编号占位符 3">
            <a:extLst>
              <a:ext uri="{FF2B5EF4-FFF2-40B4-BE49-F238E27FC236}">
                <a16:creationId xmlns:a16="http://schemas.microsoft.com/office/drawing/2014/main" xmlns="" id="{F86479F7-212E-D37E-E747-45DEE7A31EB5}"/>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FD7A6B77-1994-4F3E-B517-533F702E80E0}" type="slidenum">
              <a:rPr altLang="zh-CN" sz="1000"/>
              <a:pPr>
                <a:spcBef>
                  <a:spcPct val="0"/>
                </a:spcBef>
                <a:buClrTx/>
                <a:buSzTx/>
                <a:buFont typeface="Arial" panose="020B0604020202020204" pitchFamily="34" charset="0"/>
                <a:buNone/>
              </a:pPr>
              <a:t>22</a:t>
            </a:fld>
            <a:endParaRPr lang="zh-CN" altLang="zh-CN" sz="1000"/>
          </a:p>
        </p:txBody>
      </p:sp>
      <p:sp>
        <p:nvSpPr>
          <p:cNvPr id="55299" name="Rectangle 2">
            <a:extLst>
              <a:ext uri="{FF2B5EF4-FFF2-40B4-BE49-F238E27FC236}">
                <a16:creationId xmlns:a16="http://schemas.microsoft.com/office/drawing/2014/main" xmlns="" id="{6382A750-298C-D63B-BD96-602AEE13DAA7}"/>
              </a:ext>
            </a:extLst>
          </p:cNvPr>
          <p:cNvSpPr>
            <a:spLocks noChangeArrowheads="1"/>
          </p:cNvSpPr>
          <p:nvPr/>
        </p:nvSpPr>
        <p:spPr bwMode="auto">
          <a:xfrm>
            <a:off x="344650" y="2984045"/>
            <a:ext cx="9746124" cy="902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50000"/>
              </a:lnSpc>
              <a:spcBef>
                <a:spcPct val="10000"/>
              </a:spcBef>
              <a:buClr>
                <a:srgbClr val="A50021"/>
              </a:buClr>
              <a:buFont typeface="Wingdings" panose="05000000000000000000" pitchFamily="2" charset="2"/>
              <a:buNone/>
            </a:pPr>
            <a:r>
              <a:rPr lang="zh-CN" altLang="en-US" dirty="0">
                <a:latin typeface="Times New Roman" panose="02020603050405020304" pitchFamily="18" charset="0"/>
              </a:rPr>
              <a:t>基本操作的次数，是语句在程序段中的</a:t>
            </a:r>
            <a:r>
              <a:rPr lang="zh-CN" altLang="en-US" b="1" dirty="0">
                <a:latin typeface="Times New Roman" panose="02020603050405020304" pitchFamily="18" charset="0"/>
              </a:rPr>
              <a:t>频率计数。</a:t>
            </a:r>
          </a:p>
        </p:txBody>
      </p:sp>
      <p:sp>
        <p:nvSpPr>
          <p:cNvPr id="325635" name="Text Box 3">
            <a:extLst>
              <a:ext uri="{FF2B5EF4-FFF2-40B4-BE49-F238E27FC236}">
                <a16:creationId xmlns:a16="http://schemas.microsoft.com/office/drawing/2014/main" xmlns="" id="{CC7B2E2D-3ECD-F7EC-6FCD-B8D703843857}"/>
              </a:ext>
            </a:extLst>
          </p:cNvPr>
          <p:cNvSpPr txBox="1">
            <a:spLocks noChangeArrowheads="1"/>
          </p:cNvSpPr>
          <p:nvPr/>
        </p:nvSpPr>
        <p:spPr bwMode="auto">
          <a:xfrm>
            <a:off x="344650" y="65261"/>
            <a:ext cx="1368152" cy="2622550"/>
          </a:xfrm>
          <a:prstGeom prst="rect">
            <a:avLst/>
          </a:prstGeom>
          <a:solidFill>
            <a:srgbClr val="FFF3FF"/>
          </a:solidFill>
          <a:ln w="9525">
            <a:solidFill>
              <a:srgbClr val="CC99FF"/>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en-US" altLang="zh-CN" dirty="0">
                <a:latin typeface="Times New Roman" panose="02020603050405020304" pitchFamily="18" charset="0"/>
              </a:rPr>
              <a:t>begin</a:t>
            </a:r>
          </a:p>
          <a:p>
            <a:pPr eaLnBrk="1" hangingPunct="1">
              <a:lnSpc>
                <a:spcPct val="110000"/>
              </a:lnSpc>
              <a:spcBef>
                <a:spcPct val="0"/>
              </a:spcBef>
              <a:buClrTx/>
              <a:buSzTx/>
              <a:buFont typeface="Arial" panose="020B0604020202020204" pitchFamily="34" charset="0"/>
              <a:buNone/>
            </a:pPr>
            <a:r>
              <a:rPr lang="en-US" altLang="zh-CN" i="1" dirty="0" err="1">
                <a:solidFill>
                  <a:srgbClr val="B21BEF"/>
                </a:solidFill>
                <a:latin typeface="Times New Roman" panose="02020603050405020304" pitchFamily="18" charset="0"/>
              </a:rPr>
              <a:t>x</a:t>
            </a:r>
            <a:r>
              <a:rPr lang="en-US" altLang="zh-CN" dirty="0" err="1">
                <a:solidFill>
                  <a:srgbClr val="B21BEF"/>
                </a:solidFill>
                <a:latin typeface="Times New Roman" panose="02020603050405020304" pitchFamily="18" charset="0"/>
                <a:sym typeface="Symbol" panose="05050102010706020507" pitchFamily="18" charset="2"/>
              </a:rPr>
              <a:t></a:t>
            </a:r>
            <a:r>
              <a:rPr lang="en-US" altLang="zh-CN" i="1" dirty="0" err="1">
                <a:solidFill>
                  <a:srgbClr val="B21BEF"/>
                </a:solidFill>
                <a:latin typeface="Times New Roman" panose="02020603050405020304" pitchFamily="18" charset="0"/>
              </a:rPr>
              <a:t>x</a:t>
            </a:r>
            <a:r>
              <a:rPr lang="en-US" altLang="zh-CN" dirty="0" err="1">
                <a:solidFill>
                  <a:srgbClr val="B21BEF"/>
                </a:solidFill>
                <a:latin typeface="Times New Roman" panose="02020603050405020304" pitchFamily="18" charset="0"/>
                <a:sym typeface="Symbol" panose="05050102010706020507" pitchFamily="18" charset="2"/>
              </a:rPr>
              <a:t></a:t>
            </a:r>
            <a:r>
              <a:rPr lang="en-US" altLang="zh-CN" i="1" dirty="0" err="1">
                <a:solidFill>
                  <a:srgbClr val="B21BEF"/>
                </a:solidFill>
                <a:latin typeface="Times New Roman" panose="02020603050405020304" pitchFamily="18" charset="0"/>
              </a:rPr>
              <a:t>y</a:t>
            </a:r>
            <a:endParaRPr lang="en-US" altLang="zh-CN" i="1" dirty="0">
              <a:solidFill>
                <a:srgbClr val="B21BEF"/>
              </a:solidFill>
              <a:latin typeface="Times New Roman" panose="02020603050405020304" pitchFamily="18" charset="0"/>
            </a:endParaRPr>
          </a:p>
          <a:p>
            <a:pPr eaLnBrk="1" hangingPunct="1">
              <a:lnSpc>
                <a:spcPct val="110000"/>
              </a:lnSpc>
              <a:spcBef>
                <a:spcPct val="0"/>
              </a:spcBef>
              <a:buClrTx/>
              <a:buSzTx/>
              <a:buFont typeface="Arial" panose="020B0604020202020204" pitchFamily="34" charset="0"/>
              <a:buNone/>
            </a:pPr>
            <a:r>
              <a:rPr lang="en-US" altLang="zh-CN" dirty="0">
                <a:latin typeface="Times New Roman" panose="02020603050405020304" pitchFamily="18" charset="0"/>
              </a:rPr>
              <a:t>end</a:t>
            </a:r>
          </a:p>
          <a:p>
            <a:pPr eaLnBrk="1" hangingPunct="1">
              <a:lnSpc>
                <a:spcPct val="110000"/>
              </a:lnSpc>
              <a:spcBef>
                <a:spcPct val="0"/>
              </a:spcBef>
              <a:buClrTx/>
              <a:buSzTx/>
              <a:buFont typeface="Arial" panose="020B0604020202020204" pitchFamily="34" charset="0"/>
              <a:buNone/>
            </a:pPr>
            <a:endParaRPr lang="en-US" altLang="zh-CN" dirty="0">
              <a:solidFill>
                <a:schemeClr val="bg1"/>
              </a:solidFill>
              <a:latin typeface="Times New Roman" panose="02020603050405020304" pitchFamily="18" charset="0"/>
            </a:endParaRPr>
          </a:p>
          <a:p>
            <a:pPr eaLnBrk="1" hangingPunct="1">
              <a:lnSpc>
                <a:spcPct val="150000"/>
              </a:lnSpc>
              <a:spcBef>
                <a:spcPct val="0"/>
              </a:spcBef>
              <a:buClrTx/>
              <a:buSzTx/>
              <a:buFont typeface="Arial" panose="020B0604020202020204" pitchFamily="34" charset="0"/>
              <a:buNone/>
            </a:pPr>
            <a:r>
              <a:rPr lang="en-US" altLang="zh-CN" dirty="0">
                <a:solidFill>
                  <a:srgbClr val="0066FF"/>
                </a:solidFill>
                <a:latin typeface="Times New Roman" panose="02020603050405020304" pitchFamily="18" charset="0"/>
              </a:rPr>
              <a:t>FC:1</a:t>
            </a:r>
          </a:p>
        </p:txBody>
      </p:sp>
      <p:sp>
        <p:nvSpPr>
          <p:cNvPr id="325636" name="Text Box 4">
            <a:extLst>
              <a:ext uri="{FF2B5EF4-FFF2-40B4-BE49-F238E27FC236}">
                <a16:creationId xmlns:a16="http://schemas.microsoft.com/office/drawing/2014/main" xmlns="" id="{D2235967-2586-B4E3-D76D-2B36EA33DEC6}"/>
              </a:ext>
            </a:extLst>
          </p:cNvPr>
          <p:cNvSpPr txBox="1">
            <a:spLocks noChangeArrowheads="1"/>
          </p:cNvSpPr>
          <p:nvPr/>
        </p:nvSpPr>
        <p:spPr bwMode="auto">
          <a:xfrm>
            <a:off x="2115239" y="44624"/>
            <a:ext cx="2448272" cy="2578100"/>
          </a:xfrm>
          <a:prstGeom prst="rect">
            <a:avLst/>
          </a:prstGeom>
          <a:solidFill>
            <a:srgbClr val="FFFFE5"/>
          </a:solidFill>
          <a:ln w="9525">
            <a:solidFill>
              <a:srgbClr val="FEF800"/>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dirty="0">
                <a:latin typeface="Times New Roman" panose="02020603050405020304" pitchFamily="18" charset="0"/>
              </a:rPr>
              <a:t>begin</a:t>
            </a:r>
          </a:p>
          <a:p>
            <a:pPr eaLnBrk="1" hangingPunct="1">
              <a:spcBef>
                <a:spcPct val="0"/>
              </a:spcBef>
              <a:buClrTx/>
              <a:buSzTx/>
              <a:buFont typeface="Arial" panose="020B0604020202020204" pitchFamily="34" charset="0"/>
              <a:buNone/>
            </a:pPr>
            <a:r>
              <a:rPr lang="en-US" altLang="zh-CN" dirty="0">
                <a:latin typeface="Times New Roman" panose="02020603050405020304" pitchFamily="18" charset="0"/>
              </a:rPr>
              <a:t>for </a:t>
            </a:r>
            <a:r>
              <a:rPr lang="en-US" altLang="zh-CN" i="1" dirty="0">
                <a:latin typeface="Times New Roman" panose="02020603050405020304" pitchFamily="18" charset="0"/>
              </a:rPr>
              <a:t>i</a:t>
            </a:r>
            <a:r>
              <a:rPr lang="en-US" altLang="zh-CN" sz="2400" dirty="0">
                <a:latin typeface="Arial" panose="020B0604020202020204" pitchFamily="34" charset="0"/>
                <a:sym typeface="Symbol" panose="05050102010706020507" pitchFamily="18" charset="2"/>
              </a:rPr>
              <a:t></a:t>
            </a:r>
            <a:r>
              <a:rPr lang="en-US" altLang="zh-CN" dirty="0">
                <a:latin typeface="Times New Roman" panose="02020603050405020304" pitchFamily="18" charset="0"/>
              </a:rPr>
              <a:t>1 to </a:t>
            </a:r>
            <a:r>
              <a:rPr lang="en-US" altLang="zh-CN" i="1" dirty="0">
                <a:latin typeface="Times New Roman" panose="02020603050405020304" pitchFamily="18" charset="0"/>
              </a:rPr>
              <a:t>n</a:t>
            </a:r>
            <a:r>
              <a:rPr lang="en-US" altLang="zh-CN" dirty="0">
                <a:latin typeface="Times New Roman" panose="02020603050405020304" pitchFamily="18" charset="0"/>
              </a:rPr>
              <a:t> do</a:t>
            </a:r>
          </a:p>
          <a:p>
            <a:pPr eaLnBrk="1" hangingPunct="1">
              <a:spcBef>
                <a:spcPct val="0"/>
              </a:spcBef>
              <a:buClrTx/>
              <a:buSzTx/>
              <a:buFont typeface="Arial" panose="020B0604020202020204" pitchFamily="34" charset="0"/>
              <a:buNone/>
            </a:pPr>
            <a:r>
              <a:rPr lang="en-US" altLang="zh-CN" i="1" dirty="0">
                <a:solidFill>
                  <a:schemeClr val="folHlink"/>
                </a:solidFill>
                <a:latin typeface="Times New Roman" panose="02020603050405020304" pitchFamily="18" charset="0"/>
              </a:rPr>
              <a:t>   </a:t>
            </a:r>
            <a:r>
              <a:rPr lang="en-US" altLang="zh-CN" i="1" dirty="0" err="1">
                <a:solidFill>
                  <a:srgbClr val="B21BEF"/>
                </a:solidFill>
                <a:latin typeface="Times New Roman" panose="02020603050405020304" pitchFamily="18" charset="0"/>
              </a:rPr>
              <a:t>x</a:t>
            </a:r>
            <a:r>
              <a:rPr lang="en-US" altLang="zh-CN" sz="2400" dirty="0" err="1">
                <a:solidFill>
                  <a:srgbClr val="B21BEF"/>
                </a:solidFill>
                <a:latin typeface="Arial" panose="020B0604020202020204" pitchFamily="34" charset="0"/>
                <a:sym typeface="Symbol" panose="05050102010706020507" pitchFamily="18" charset="2"/>
              </a:rPr>
              <a:t></a:t>
            </a:r>
            <a:r>
              <a:rPr lang="en-US" altLang="zh-CN" i="1" dirty="0" err="1">
                <a:solidFill>
                  <a:srgbClr val="B21BEF"/>
                </a:solidFill>
                <a:latin typeface="Times New Roman" panose="02020603050405020304" pitchFamily="18" charset="0"/>
              </a:rPr>
              <a:t>x</a:t>
            </a:r>
            <a:r>
              <a:rPr lang="en-US" altLang="zh-CN" sz="2400" dirty="0" err="1">
                <a:solidFill>
                  <a:srgbClr val="B21BEF"/>
                </a:solidFill>
                <a:latin typeface="Arial" panose="020B0604020202020204" pitchFamily="34" charset="0"/>
                <a:sym typeface="Symbol" panose="05050102010706020507" pitchFamily="18" charset="2"/>
              </a:rPr>
              <a:t></a:t>
            </a:r>
            <a:r>
              <a:rPr lang="en-US" altLang="zh-CN" i="1" dirty="0" err="1">
                <a:solidFill>
                  <a:srgbClr val="B21BEF"/>
                </a:solidFill>
                <a:latin typeface="Times New Roman" panose="02020603050405020304" pitchFamily="18" charset="0"/>
              </a:rPr>
              <a:t>y</a:t>
            </a:r>
            <a:endParaRPr lang="en-US" altLang="zh-CN" i="1" dirty="0">
              <a:solidFill>
                <a:srgbClr val="B21BEF"/>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dirty="0">
                <a:latin typeface="Times New Roman" panose="02020603050405020304" pitchFamily="18" charset="0"/>
              </a:rPr>
              <a:t>end</a:t>
            </a:r>
          </a:p>
          <a:p>
            <a:pPr eaLnBrk="1" hangingPunct="1">
              <a:lnSpc>
                <a:spcPct val="80000"/>
              </a:lnSpc>
              <a:spcBef>
                <a:spcPct val="0"/>
              </a:spcBef>
              <a:buClrTx/>
              <a:buSzTx/>
              <a:buFont typeface="Arial" panose="020B0604020202020204" pitchFamily="34" charset="0"/>
              <a:buNone/>
            </a:pPr>
            <a:endParaRPr lang="en-US" altLang="zh-CN" dirty="0">
              <a:latin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dirty="0" err="1">
                <a:solidFill>
                  <a:srgbClr val="0066FF"/>
                </a:solidFill>
                <a:latin typeface="Times New Roman" panose="02020603050405020304" pitchFamily="18" charset="0"/>
              </a:rPr>
              <a:t>FC:</a:t>
            </a:r>
            <a:r>
              <a:rPr lang="en-US" altLang="zh-CN" i="1" dirty="0" err="1">
                <a:solidFill>
                  <a:srgbClr val="0066FF"/>
                </a:solidFill>
                <a:latin typeface="Times New Roman" panose="02020603050405020304" pitchFamily="18" charset="0"/>
              </a:rPr>
              <a:t>n</a:t>
            </a:r>
            <a:endParaRPr lang="en-US" altLang="zh-CN" i="1" dirty="0">
              <a:solidFill>
                <a:srgbClr val="0066FF"/>
              </a:solidFill>
              <a:latin typeface="Times New Roman" panose="02020603050405020304" pitchFamily="18" charset="0"/>
            </a:endParaRPr>
          </a:p>
        </p:txBody>
      </p:sp>
      <p:sp>
        <p:nvSpPr>
          <p:cNvPr id="325637" name="Text Box 5">
            <a:extLst>
              <a:ext uri="{FF2B5EF4-FFF2-40B4-BE49-F238E27FC236}">
                <a16:creationId xmlns:a16="http://schemas.microsoft.com/office/drawing/2014/main" xmlns="" id="{CB245CB2-D8FD-B6CE-8A4C-6617C559506E}"/>
              </a:ext>
            </a:extLst>
          </p:cNvPr>
          <p:cNvSpPr txBox="1">
            <a:spLocks noChangeArrowheads="1"/>
          </p:cNvSpPr>
          <p:nvPr/>
        </p:nvSpPr>
        <p:spPr bwMode="auto">
          <a:xfrm>
            <a:off x="4965948" y="44624"/>
            <a:ext cx="2714228" cy="2663825"/>
          </a:xfrm>
          <a:prstGeom prst="rect">
            <a:avLst/>
          </a:prstGeom>
          <a:solidFill>
            <a:srgbClr val="DDFFFF"/>
          </a:solidFill>
          <a:ln w="9525">
            <a:solidFill>
              <a:srgbClr val="00FFFF"/>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dirty="0">
                <a:latin typeface="Times New Roman" panose="02020603050405020304" pitchFamily="18" charset="0"/>
              </a:rPr>
              <a:t>begin</a:t>
            </a:r>
          </a:p>
          <a:p>
            <a:pPr eaLnBrk="1" hangingPunct="1">
              <a:spcBef>
                <a:spcPct val="0"/>
              </a:spcBef>
              <a:buClrTx/>
              <a:buSzTx/>
              <a:buFont typeface="Arial" panose="020B0604020202020204" pitchFamily="34" charset="0"/>
              <a:buNone/>
            </a:pPr>
            <a:r>
              <a:rPr lang="en-US" altLang="zh-CN" dirty="0">
                <a:latin typeface="Times New Roman" panose="02020603050405020304" pitchFamily="18" charset="0"/>
              </a:rPr>
              <a:t>for  </a:t>
            </a:r>
            <a:r>
              <a:rPr lang="en-US" altLang="zh-CN" i="1" dirty="0">
                <a:latin typeface="Times New Roman" panose="02020603050405020304" pitchFamily="18" charset="0"/>
              </a:rPr>
              <a:t>i</a:t>
            </a:r>
            <a:r>
              <a:rPr lang="en-US" altLang="zh-CN" sz="2400" dirty="0">
                <a:latin typeface="Arial" panose="020B0604020202020204" pitchFamily="34" charset="0"/>
                <a:sym typeface="Symbol" panose="05050102010706020507" pitchFamily="18" charset="2"/>
              </a:rPr>
              <a:t></a:t>
            </a:r>
            <a:r>
              <a:rPr lang="en-US" altLang="zh-CN" dirty="0">
                <a:latin typeface="Times New Roman" panose="02020603050405020304" pitchFamily="18" charset="0"/>
              </a:rPr>
              <a:t>1 to </a:t>
            </a:r>
            <a:r>
              <a:rPr lang="en-US" altLang="zh-CN" i="1" dirty="0">
                <a:latin typeface="Times New Roman" panose="02020603050405020304" pitchFamily="18" charset="0"/>
              </a:rPr>
              <a:t>n</a:t>
            </a:r>
            <a:r>
              <a:rPr lang="en-US" altLang="zh-CN" dirty="0">
                <a:latin typeface="Times New Roman" panose="02020603050405020304" pitchFamily="18" charset="0"/>
              </a:rPr>
              <a:t> do</a:t>
            </a:r>
          </a:p>
          <a:p>
            <a:pPr eaLnBrk="1" hangingPunct="1">
              <a:spcBef>
                <a:spcPct val="0"/>
              </a:spcBef>
              <a:buClrTx/>
              <a:buSzTx/>
              <a:buFont typeface="Arial" panose="020B0604020202020204" pitchFamily="34" charset="0"/>
              <a:buNone/>
            </a:pPr>
            <a:r>
              <a:rPr lang="en-US" altLang="zh-CN" dirty="0">
                <a:latin typeface="Times New Roman" panose="02020603050405020304" pitchFamily="18" charset="0"/>
              </a:rPr>
              <a:t>   for  </a:t>
            </a:r>
            <a:r>
              <a:rPr lang="en-US" altLang="zh-CN" i="1" dirty="0">
                <a:latin typeface="Times New Roman" panose="02020603050405020304" pitchFamily="18" charset="0"/>
              </a:rPr>
              <a:t>j</a:t>
            </a:r>
            <a:r>
              <a:rPr lang="en-US" altLang="zh-CN" sz="2400" dirty="0">
                <a:latin typeface="Arial" panose="020B0604020202020204" pitchFamily="34" charset="0"/>
                <a:sym typeface="Symbol" panose="05050102010706020507" pitchFamily="18" charset="2"/>
              </a:rPr>
              <a:t></a:t>
            </a:r>
            <a:r>
              <a:rPr lang="en-US" altLang="zh-CN" dirty="0">
                <a:latin typeface="Times New Roman" panose="02020603050405020304" pitchFamily="18" charset="0"/>
              </a:rPr>
              <a:t>1 to </a:t>
            </a:r>
            <a:r>
              <a:rPr lang="en-US" altLang="zh-CN" i="1" dirty="0">
                <a:latin typeface="Times New Roman" panose="02020603050405020304" pitchFamily="18" charset="0"/>
              </a:rPr>
              <a:t>n</a:t>
            </a:r>
            <a:r>
              <a:rPr lang="en-US" altLang="zh-CN" dirty="0">
                <a:latin typeface="Times New Roman" panose="02020603050405020304" pitchFamily="18" charset="0"/>
              </a:rPr>
              <a:t> do</a:t>
            </a:r>
          </a:p>
          <a:p>
            <a:pPr eaLnBrk="1" hangingPunct="1">
              <a:spcBef>
                <a:spcPct val="0"/>
              </a:spcBef>
              <a:buClrTx/>
              <a:buSzTx/>
              <a:buFont typeface="Arial" panose="020B0604020202020204" pitchFamily="34" charset="0"/>
              <a:buNone/>
            </a:pPr>
            <a:r>
              <a:rPr lang="en-US" altLang="zh-CN" i="1" dirty="0">
                <a:solidFill>
                  <a:schemeClr val="folHlink"/>
                </a:solidFill>
                <a:latin typeface="Times New Roman" panose="02020603050405020304" pitchFamily="18" charset="0"/>
              </a:rPr>
              <a:t>      </a:t>
            </a:r>
            <a:r>
              <a:rPr lang="en-US" altLang="zh-CN" i="1" dirty="0" err="1">
                <a:solidFill>
                  <a:srgbClr val="B21BEF"/>
                </a:solidFill>
                <a:latin typeface="Times New Roman" panose="02020603050405020304" pitchFamily="18" charset="0"/>
              </a:rPr>
              <a:t>x</a:t>
            </a:r>
            <a:r>
              <a:rPr lang="en-US" altLang="zh-CN" sz="2400" dirty="0" err="1">
                <a:solidFill>
                  <a:srgbClr val="B21BEF"/>
                </a:solidFill>
                <a:latin typeface="Arial" panose="020B0604020202020204" pitchFamily="34" charset="0"/>
                <a:sym typeface="Symbol" panose="05050102010706020507" pitchFamily="18" charset="2"/>
              </a:rPr>
              <a:t></a:t>
            </a:r>
            <a:r>
              <a:rPr lang="en-US" altLang="zh-CN" i="1" dirty="0" err="1">
                <a:solidFill>
                  <a:srgbClr val="B21BEF"/>
                </a:solidFill>
                <a:latin typeface="Times New Roman" panose="02020603050405020304" pitchFamily="18" charset="0"/>
              </a:rPr>
              <a:t>x</a:t>
            </a:r>
            <a:r>
              <a:rPr lang="en-US" altLang="zh-CN" sz="2400" dirty="0" err="1">
                <a:solidFill>
                  <a:srgbClr val="B21BEF"/>
                </a:solidFill>
                <a:latin typeface="Arial" panose="020B0604020202020204" pitchFamily="34" charset="0"/>
                <a:sym typeface="Symbol" panose="05050102010706020507" pitchFamily="18" charset="2"/>
              </a:rPr>
              <a:t></a:t>
            </a:r>
            <a:r>
              <a:rPr lang="en-US" altLang="zh-CN" i="1" dirty="0" err="1">
                <a:solidFill>
                  <a:srgbClr val="B21BEF"/>
                </a:solidFill>
                <a:latin typeface="Times New Roman" panose="02020603050405020304" pitchFamily="18" charset="0"/>
              </a:rPr>
              <a:t>y</a:t>
            </a:r>
            <a:endParaRPr lang="en-US" altLang="zh-CN" i="1" dirty="0">
              <a:solidFill>
                <a:srgbClr val="B21BEF"/>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dirty="0">
                <a:latin typeface="Times New Roman" panose="02020603050405020304" pitchFamily="18" charset="0"/>
              </a:rPr>
              <a:t>end</a:t>
            </a:r>
          </a:p>
          <a:p>
            <a:pPr eaLnBrk="1" hangingPunct="1">
              <a:spcBef>
                <a:spcPct val="0"/>
              </a:spcBef>
              <a:buClrTx/>
              <a:buSzTx/>
              <a:buFont typeface="Arial" panose="020B0604020202020204" pitchFamily="34" charset="0"/>
              <a:buNone/>
            </a:pPr>
            <a:r>
              <a:rPr lang="en-US" altLang="zh-CN" dirty="0">
                <a:solidFill>
                  <a:srgbClr val="0066FF"/>
                </a:solidFill>
                <a:latin typeface="Times New Roman" panose="02020603050405020304" pitchFamily="18" charset="0"/>
              </a:rPr>
              <a:t>FC:</a:t>
            </a:r>
            <a:r>
              <a:rPr lang="en-US" altLang="zh-CN" i="1" dirty="0">
                <a:solidFill>
                  <a:srgbClr val="0066FF"/>
                </a:solidFill>
                <a:latin typeface="Times New Roman" panose="02020603050405020304" pitchFamily="18" charset="0"/>
              </a:rPr>
              <a:t>n</a:t>
            </a:r>
            <a:r>
              <a:rPr lang="en-US" altLang="zh-CN" baseline="30000" dirty="0">
                <a:solidFill>
                  <a:srgbClr val="0066FF"/>
                </a:solidFill>
                <a:latin typeface="Times New Roman" panose="02020603050405020304" pitchFamily="18" charset="0"/>
              </a:rPr>
              <a:t>2</a:t>
            </a:r>
          </a:p>
        </p:txBody>
      </p:sp>
      <p:sp>
        <p:nvSpPr>
          <p:cNvPr id="2" name="内容占位符 2">
            <a:extLst>
              <a:ext uri="{FF2B5EF4-FFF2-40B4-BE49-F238E27FC236}">
                <a16:creationId xmlns:a16="http://schemas.microsoft.com/office/drawing/2014/main" xmlns="" id="{82B35519-8FC3-0291-780B-AC81CDFFDE40}"/>
              </a:ext>
            </a:extLst>
          </p:cNvPr>
          <p:cNvSpPr txBox="1">
            <a:spLocks/>
          </p:cNvSpPr>
          <p:nvPr/>
        </p:nvSpPr>
        <p:spPr>
          <a:xfrm>
            <a:off x="75836" y="4141522"/>
            <a:ext cx="4818104" cy="2520280"/>
          </a:xfrm>
          <a:prstGeom prst="rect">
            <a:avLst/>
          </a:prstGeom>
          <a:solidFill>
            <a:schemeClr val="accent1">
              <a:lumMod val="20000"/>
              <a:lumOff val="80000"/>
            </a:schemeClr>
          </a:solidFill>
        </p:spPr>
        <p:txBody>
          <a:bodyPr/>
          <a:lstStyle>
            <a:lvl1pPr marL="228600" indent="-228600" algn="l" defTabSz="914400" rtl="0" eaLnBrk="1" latinLnBrk="0" hangingPunct="1">
              <a:lnSpc>
                <a:spcPct val="9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dirty="0">
                <a:latin typeface="Consolas" panose="020B0609020204030204" pitchFamily="49" charset="0"/>
                <a:cs typeface="+mn-ea"/>
                <a:sym typeface="+mn-lt"/>
              </a:rPr>
              <a:t>count=0; </a:t>
            </a:r>
          </a:p>
          <a:p>
            <a:pPr marL="0" indent="0">
              <a:buFont typeface="Wingdings" panose="05000000000000000000" pitchFamily="2" charset="2"/>
              <a:buNone/>
            </a:pPr>
            <a:r>
              <a:rPr lang="en-US" altLang="zh-CN" dirty="0">
                <a:solidFill>
                  <a:srgbClr val="0000FF"/>
                </a:solidFill>
                <a:latin typeface="Consolas" panose="020B0609020204030204" pitchFamily="49" charset="0"/>
                <a:cs typeface="+mn-ea"/>
                <a:sym typeface="+mn-lt"/>
              </a:rPr>
              <a:t>for</a:t>
            </a:r>
            <a:r>
              <a:rPr lang="en-US" altLang="zh-CN" dirty="0">
                <a:latin typeface="Consolas" panose="020B0609020204030204" pitchFamily="49" charset="0"/>
                <a:cs typeface="+mn-ea"/>
                <a:sym typeface="+mn-lt"/>
              </a:rPr>
              <a:t>(</a:t>
            </a:r>
            <a:r>
              <a:rPr lang="en-US" altLang="zh-CN" dirty="0" err="1">
                <a:latin typeface="Consolas" panose="020B0609020204030204" pitchFamily="49" charset="0"/>
                <a:cs typeface="+mn-ea"/>
                <a:sym typeface="+mn-lt"/>
              </a:rPr>
              <a:t>i</a:t>
            </a:r>
            <a:r>
              <a:rPr lang="en-US" altLang="zh-CN" dirty="0">
                <a:latin typeface="Consolas" panose="020B0609020204030204" pitchFamily="49" charset="0"/>
                <a:cs typeface="+mn-ea"/>
                <a:sym typeface="+mn-lt"/>
              </a:rPr>
              <a:t>=1; </a:t>
            </a:r>
            <a:r>
              <a:rPr lang="en-US" altLang="zh-CN" dirty="0" err="1">
                <a:latin typeface="Consolas" panose="020B0609020204030204" pitchFamily="49" charset="0"/>
                <a:cs typeface="+mn-ea"/>
                <a:sym typeface="+mn-lt"/>
              </a:rPr>
              <a:t>i</a:t>
            </a:r>
            <a:r>
              <a:rPr lang="en-US" altLang="zh-CN" dirty="0">
                <a:latin typeface="Consolas" panose="020B0609020204030204" pitchFamily="49" charset="0"/>
                <a:cs typeface="+mn-ea"/>
                <a:sym typeface="+mn-lt"/>
              </a:rPr>
              <a:t>&lt;n; </a:t>
            </a:r>
            <a:r>
              <a:rPr lang="en-US" altLang="zh-CN" dirty="0" err="1">
                <a:latin typeface="Consolas" panose="020B0609020204030204" pitchFamily="49" charset="0"/>
                <a:cs typeface="+mn-ea"/>
                <a:sym typeface="+mn-lt"/>
              </a:rPr>
              <a:t>i</a:t>
            </a:r>
            <a:r>
              <a:rPr lang="en-US" altLang="zh-CN" dirty="0">
                <a:latin typeface="Consolas" panose="020B0609020204030204" pitchFamily="49" charset="0"/>
                <a:cs typeface="+mn-ea"/>
                <a:sym typeface="+mn-lt"/>
              </a:rPr>
              <a:t>*=2) </a:t>
            </a:r>
          </a:p>
          <a:p>
            <a:pPr marL="0" indent="0">
              <a:buFont typeface="Wingdings" panose="05000000000000000000" pitchFamily="2" charset="2"/>
              <a:buNone/>
            </a:pPr>
            <a:r>
              <a:rPr lang="en-US" altLang="zh-CN" dirty="0">
                <a:latin typeface="Consolas" panose="020B0609020204030204" pitchFamily="49" charset="0"/>
                <a:cs typeface="+mn-ea"/>
                <a:sym typeface="+mn-lt"/>
              </a:rPr>
              <a:t>	count++;</a:t>
            </a:r>
          </a:p>
          <a:p>
            <a:pPr marL="0" indent="0">
              <a:buNone/>
            </a:pPr>
            <a:endParaRPr lang="pt-BR" altLang="zh-CN" b="1" dirty="0">
              <a:solidFill>
                <a:srgbClr val="0000FF"/>
              </a:solidFill>
              <a:highlight>
                <a:srgbClr val="FFFF00"/>
              </a:highlight>
              <a:cs typeface="+mn-ea"/>
              <a:sym typeface="+mn-lt"/>
            </a:endParaRPr>
          </a:p>
          <a:p>
            <a:pPr marL="0" indent="0">
              <a:buNone/>
            </a:pPr>
            <a:r>
              <a:rPr lang="en-US" altLang="zh-CN" b="1" dirty="0">
                <a:solidFill>
                  <a:srgbClr val="0000FF"/>
                </a:solidFill>
                <a:highlight>
                  <a:srgbClr val="FFFF00"/>
                </a:highlight>
                <a:cs typeface="+mn-ea"/>
                <a:sym typeface="+mn-lt"/>
              </a:rPr>
              <a:t>FC: </a:t>
            </a:r>
            <a:r>
              <a:rPr lang="pt-BR" altLang="zh-CN" b="1" dirty="0">
                <a:solidFill>
                  <a:srgbClr val="0000FF"/>
                </a:solidFill>
                <a:highlight>
                  <a:srgbClr val="FFFF00"/>
                </a:highlight>
                <a:cs typeface="+mn-ea"/>
                <a:sym typeface="+mn-lt"/>
              </a:rPr>
              <a:t>logn</a:t>
            </a:r>
            <a:endParaRPr lang="zh-CN" altLang="zh-CN" b="1" dirty="0">
              <a:solidFill>
                <a:srgbClr val="0000FF"/>
              </a:solidFill>
              <a:highlight>
                <a:srgbClr val="FFFF00"/>
              </a:highlight>
              <a:cs typeface="+mn-ea"/>
              <a:sym typeface="+mn-lt"/>
            </a:endParaRPr>
          </a:p>
          <a:p>
            <a:pPr marL="0" indent="0">
              <a:buFont typeface="Wingdings" panose="05000000000000000000" pitchFamily="2" charset="2"/>
              <a:buNone/>
            </a:pPr>
            <a:endParaRPr lang="en-US" altLang="zh-CN" dirty="0">
              <a:latin typeface="Consolas" panose="020B0609020204030204" pitchFamily="49" charset="0"/>
              <a:cs typeface="+mn-ea"/>
              <a:sym typeface="+mn-lt"/>
            </a:endParaRPr>
          </a:p>
          <a:p>
            <a:pPr marL="0" indent="0">
              <a:buFont typeface="Wingdings" panose="05000000000000000000" pitchFamily="2" charset="2"/>
              <a:buNone/>
            </a:pPr>
            <a:endParaRPr lang="en-US" altLang="zh-CN" dirty="0">
              <a:cs typeface="+mn-ea"/>
              <a:sym typeface="+mn-lt"/>
            </a:endParaRPr>
          </a:p>
        </p:txBody>
      </p:sp>
      <p:sp>
        <p:nvSpPr>
          <p:cNvPr id="3" name="内容占位符 2">
            <a:extLst>
              <a:ext uri="{FF2B5EF4-FFF2-40B4-BE49-F238E27FC236}">
                <a16:creationId xmlns:a16="http://schemas.microsoft.com/office/drawing/2014/main" xmlns="" id="{9D092A5E-3DAA-0DBA-BB23-2BC7C6C4C294}"/>
              </a:ext>
            </a:extLst>
          </p:cNvPr>
          <p:cNvSpPr txBox="1">
            <a:spLocks/>
          </p:cNvSpPr>
          <p:nvPr/>
        </p:nvSpPr>
        <p:spPr>
          <a:xfrm>
            <a:off x="4965948" y="4131355"/>
            <a:ext cx="5325616" cy="2530447"/>
          </a:xfrm>
          <a:prstGeom prst="rect">
            <a:avLst/>
          </a:prstGeom>
          <a:noFill/>
          <a:ln>
            <a:solidFill>
              <a:srgbClr val="FF0000"/>
            </a:solidFill>
          </a:ln>
        </p:spPr>
        <p:txBody>
          <a:bodyPr/>
          <a:lstStyle>
            <a:lvl1pPr marL="228600" indent="-228600" algn="l" defTabSz="914400" rtl="0" eaLnBrk="1" latinLnBrk="0" hangingPunct="1">
              <a:lnSpc>
                <a:spcPct val="9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dirty="0">
                <a:latin typeface="Consolas" panose="020B0609020204030204" pitchFamily="49" charset="0"/>
                <a:cs typeface="+mn-ea"/>
                <a:sym typeface="+mn-lt"/>
              </a:rPr>
              <a:t>count=0; </a:t>
            </a:r>
          </a:p>
          <a:p>
            <a:pPr marL="0" indent="0">
              <a:buFont typeface="Wingdings" panose="05000000000000000000" pitchFamily="2" charset="2"/>
              <a:buNone/>
            </a:pPr>
            <a:r>
              <a:rPr lang="en-US" altLang="zh-CN" dirty="0">
                <a:solidFill>
                  <a:srgbClr val="0000FF"/>
                </a:solidFill>
                <a:latin typeface="Consolas" panose="020B0609020204030204" pitchFamily="49" charset="0"/>
                <a:cs typeface="+mn-ea"/>
                <a:sym typeface="+mn-lt"/>
              </a:rPr>
              <a:t>for</a:t>
            </a:r>
            <a:r>
              <a:rPr lang="en-US" altLang="zh-CN" dirty="0">
                <a:latin typeface="Consolas" panose="020B0609020204030204" pitchFamily="49" charset="0"/>
                <a:cs typeface="+mn-ea"/>
                <a:sym typeface="+mn-lt"/>
              </a:rPr>
              <a:t>(k=1; k&lt;=n; k*=2) </a:t>
            </a:r>
          </a:p>
          <a:p>
            <a:pPr marL="0" indent="0">
              <a:buFont typeface="Wingdings" panose="05000000000000000000" pitchFamily="2" charset="2"/>
              <a:buNone/>
            </a:pPr>
            <a:r>
              <a:rPr lang="en-US" altLang="zh-CN" dirty="0">
                <a:solidFill>
                  <a:schemeClr val="bg2"/>
                </a:solidFill>
                <a:latin typeface="Consolas" panose="020B0609020204030204" pitchFamily="49" charset="0"/>
                <a:cs typeface="+mn-ea"/>
                <a:sym typeface="+mn-lt"/>
              </a:rPr>
              <a:t>	</a:t>
            </a:r>
            <a:r>
              <a:rPr lang="en-US" altLang="zh-CN" dirty="0">
                <a:solidFill>
                  <a:srgbClr val="0000FF"/>
                </a:solidFill>
                <a:latin typeface="Consolas" panose="020B0609020204030204" pitchFamily="49" charset="0"/>
                <a:cs typeface="+mn-ea"/>
                <a:sym typeface="+mn-lt"/>
              </a:rPr>
              <a:t>for</a:t>
            </a:r>
            <a:r>
              <a:rPr lang="en-US" altLang="zh-CN" dirty="0">
                <a:latin typeface="Consolas" panose="020B0609020204030204" pitchFamily="49" charset="0"/>
                <a:cs typeface="+mn-ea"/>
                <a:sym typeface="+mn-lt"/>
              </a:rPr>
              <a:t>(j=1; j&lt;=n; </a:t>
            </a:r>
            <a:r>
              <a:rPr lang="en-US" altLang="zh-CN" dirty="0" err="1">
                <a:latin typeface="Consolas" panose="020B0609020204030204" pitchFamily="49" charset="0"/>
                <a:cs typeface="+mn-ea"/>
                <a:sym typeface="+mn-lt"/>
              </a:rPr>
              <a:t>j++</a:t>
            </a:r>
            <a:r>
              <a:rPr lang="en-US" altLang="zh-CN" dirty="0">
                <a:latin typeface="Consolas" panose="020B0609020204030204" pitchFamily="49" charset="0"/>
                <a:cs typeface="+mn-ea"/>
                <a:sym typeface="+mn-lt"/>
              </a:rPr>
              <a:t>) </a:t>
            </a:r>
          </a:p>
          <a:p>
            <a:pPr marL="0" indent="0">
              <a:buFont typeface="Wingdings" panose="05000000000000000000" pitchFamily="2" charset="2"/>
              <a:buNone/>
            </a:pPr>
            <a:r>
              <a:rPr lang="en-US" altLang="zh-CN" dirty="0">
                <a:solidFill>
                  <a:schemeClr val="bg2"/>
                </a:solidFill>
                <a:latin typeface="Consolas" panose="020B0609020204030204" pitchFamily="49" charset="0"/>
                <a:cs typeface="+mn-ea"/>
                <a:sym typeface="+mn-lt"/>
              </a:rPr>
              <a:t>		</a:t>
            </a:r>
            <a:r>
              <a:rPr lang="en-US" altLang="zh-CN" dirty="0">
                <a:latin typeface="Consolas" panose="020B0609020204030204" pitchFamily="49" charset="0"/>
                <a:cs typeface="+mn-ea"/>
                <a:sym typeface="+mn-lt"/>
              </a:rPr>
              <a:t>count++;</a:t>
            </a:r>
          </a:p>
          <a:p>
            <a:pPr marL="0" indent="0">
              <a:buFont typeface="Wingdings" panose="05000000000000000000" pitchFamily="2" charset="2"/>
              <a:buNone/>
            </a:pPr>
            <a:r>
              <a:rPr lang="en-US" altLang="zh-CN" b="1" dirty="0">
                <a:solidFill>
                  <a:srgbClr val="0000FF"/>
                </a:solidFill>
                <a:highlight>
                  <a:srgbClr val="FFFF00"/>
                </a:highlight>
                <a:cs typeface="+mn-ea"/>
                <a:sym typeface="+mn-lt"/>
              </a:rPr>
              <a:t>FC: </a:t>
            </a:r>
            <a:r>
              <a:rPr lang="pt-BR" altLang="zh-CN" b="1" dirty="0">
                <a:solidFill>
                  <a:srgbClr val="0000FF"/>
                </a:solidFill>
                <a:highlight>
                  <a:srgbClr val="FFFF00"/>
                </a:highlight>
                <a:cs typeface="+mn-ea"/>
                <a:sym typeface="+mn-lt"/>
              </a:rPr>
              <a:t>nlogn</a:t>
            </a:r>
            <a:endParaRPr lang="zh-CN" altLang="zh-CN" b="1" dirty="0">
              <a:solidFill>
                <a:srgbClr val="0000FF"/>
              </a:solidFill>
              <a:highlight>
                <a:srgbClr val="FFFF00"/>
              </a:highlight>
              <a:cs typeface="+mn-ea"/>
              <a:sym typeface="+mn-lt"/>
            </a:endParaRPr>
          </a:p>
        </p:txBody>
      </p:sp>
    </p:spTree>
    <p:extLst>
      <p:ext uri="{BB962C8B-B14F-4D97-AF65-F5344CB8AC3E}">
        <p14:creationId xmlns:p14="http://schemas.microsoft.com/office/powerpoint/2010/main" val="121614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a:extLst>
              <a:ext uri="{FF2B5EF4-FFF2-40B4-BE49-F238E27FC236}">
                <a16:creationId xmlns:a16="http://schemas.microsoft.com/office/drawing/2014/main" xmlns="" id="{77E77AC4-5FA0-4EBB-B539-CE8A3921F83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DE5C2699-4E44-42A2-ADC1-C3030F1DC594}" type="slidenum">
              <a:rPr altLang="zh-CN" sz="1000"/>
              <a:pPr>
                <a:spcBef>
                  <a:spcPct val="0"/>
                </a:spcBef>
                <a:buClrTx/>
                <a:buSzTx/>
                <a:buFont typeface="Arial" panose="020B0604020202020204" pitchFamily="34" charset="0"/>
                <a:buNone/>
              </a:pPr>
              <a:t>23</a:t>
            </a:fld>
            <a:endParaRPr lang="zh-CN" altLang="zh-CN" sz="1000"/>
          </a:p>
        </p:txBody>
      </p:sp>
      <p:sp>
        <p:nvSpPr>
          <p:cNvPr id="51203" name="Rectangle 2">
            <a:extLst>
              <a:ext uri="{FF2B5EF4-FFF2-40B4-BE49-F238E27FC236}">
                <a16:creationId xmlns:a16="http://schemas.microsoft.com/office/drawing/2014/main" xmlns="" id="{993FFAAE-2240-4110-AD00-3D85D1292CEA}"/>
              </a:ext>
            </a:extLst>
          </p:cNvPr>
          <p:cNvSpPr>
            <a:spLocks noGrp="1" noChangeArrowheads="1"/>
          </p:cNvSpPr>
          <p:nvPr>
            <p:ph type="title"/>
          </p:nvPr>
        </p:nvSpPr>
        <p:spPr>
          <a:xfrm>
            <a:off x="263352" y="471487"/>
            <a:ext cx="10585176" cy="1008063"/>
          </a:xfrm>
        </p:spPr>
        <p:txBody>
          <a:bodyPr>
            <a:normAutofit/>
          </a:bodyPr>
          <a:lstStyle/>
          <a:p>
            <a:pPr eaLnBrk="1" hangingPunct="1"/>
            <a:r>
              <a:rPr kumimoji="1" lang="zh-CN" altLang="en-US" dirty="0">
                <a:solidFill>
                  <a:schemeClr val="tx2"/>
                </a:solidFill>
              </a:rPr>
              <a:t>算法复杂度，有些情况下与输入的数据集相关</a:t>
            </a:r>
            <a:endParaRPr kumimoji="1" lang="en-US" altLang="zh-CN" dirty="0">
              <a:solidFill>
                <a:schemeClr val="tx2"/>
              </a:solidFill>
            </a:endParaRPr>
          </a:p>
        </p:txBody>
      </p:sp>
      <p:sp>
        <p:nvSpPr>
          <p:cNvPr id="51204" name="Rectangle 3">
            <a:extLst>
              <a:ext uri="{FF2B5EF4-FFF2-40B4-BE49-F238E27FC236}">
                <a16:creationId xmlns:a16="http://schemas.microsoft.com/office/drawing/2014/main" xmlns="" id="{AFE58D40-7AD3-420A-8003-A2BEF70BB708}"/>
              </a:ext>
            </a:extLst>
          </p:cNvPr>
          <p:cNvSpPr>
            <a:spLocks noGrp="1" noChangeArrowheads="1"/>
          </p:cNvSpPr>
          <p:nvPr>
            <p:ph idx="1"/>
          </p:nvPr>
        </p:nvSpPr>
        <p:spPr>
          <a:xfrm>
            <a:off x="381000" y="1814513"/>
            <a:ext cx="10323512" cy="4572000"/>
          </a:xfrm>
        </p:spPr>
        <p:txBody>
          <a:bodyPr/>
          <a:lstStyle/>
          <a:p>
            <a:pPr eaLnBrk="1" hangingPunct="1">
              <a:lnSpc>
                <a:spcPct val="120000"/>
              </a:lnSpc>
            </a:pPr>
            <a:r>
              <a:rPr lang="zh-CN" altLang="en-US" dirty="0"/>
              <a:t>确定出能反映算法在各种情况下工作的</a:t>
            </a:r>
            <a:r>
              <a:rPr lang="zh-CN" altLang="en-US" dirty="0">
                <a:solidFill>
                  <a:srgbClr val="C00000"/>
                </a:solidFill>
              </a:rPr>
              <a:t>数据集</a:t>
            </a:r>
            <a:r>
              <a:rPr lang="zh-CN" altLang="en-US" dirty="0"/>
              <a:t>。</a:t>
            </a:r>
          </a:p>
          <a:p>
            <a:pPr lvl="1" eaLnBrk="1" hangingPunct="1">
              <a:lnSpc>
                <a:spcPct val="120000"/>
              </a:lnSpc>
            </a:pPr>
            <a:r>
              <a:rPr lang="zh-CN" altLang="en-US" dirty="0"/>
              <a:t>构造出能产生</a:t>
            </a:r>
            <a:r>
              <a:rPr lang="zh-CN" altLang="en-US" dirty="0">
                <a:solidFill>
                  <a:srgbClr val="0000FF"/>
                </a:solidFill>
              </a:rPr>
              <a:t>最好</a:t>
            </a:r>
            <a:r>
              <a:rPr lang="zh-CN" altLang="en-US" dirty="0"/>
              <a:t>、</a:t>
            </a:r>
            <a:r>
              <a:rPr lang="zh-CN" altLang="en-US" dirty="0">
                <a:solidFill>
                  <a:srgbClr val="0000FF"/>
                </a:solidFill>
              </a:rPr>
              <a:t>最坏</a:t>
            </a:r>
            <a:r>
              <a:rPr lang="zh-CN" altLang="en-US" dirty="0"/>
              <a:t>和</a:t>
            </a:r>
            <a:r>
              <a:rPr lang="zh-CN" altLang="en-US" dirty="0">
                <a:solidFill>
                  <a:srgbClr val="0000FF"/>
                </a:solidFill>
              </a:rPr>
              <a:t>有代表性</a:t>
            </a:r>
            <a:r>
              <a:rPr lang="zh-CN" altLang="en-US" dirty="0"/>
              <a:t>情况的数据配置。</a:t>
            </a:r>
          </a:p>
          <a:p>
            <a:pPr lvl="1" eaLnBrk="1" hangingPunct="1">
              <a:lnSpc>
                <a:spcPct val="120000"/>
              </a:lnSpc>
            </a:pPr>
            <a:r>
              <a:rPr lang="zh-CN" altLang="en-US" dirty="0"/>
              <a:t>在这些数据集上运行算法，以更准确评价算法时间性能</a:t>
            </a:r>
            <a:r>
              <a:rPr lang="zh-CN" altLang="en-US" dirty="0">
                <a:solidFill>
                  <a:schemeClr val="tx2"/>
                </a:solidFill>
              </a:rPr>
              <a:t>。</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1451484" y="3325812"/>
            <a:ext cx="8280920" cy="321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20000"/>
              </a:lnSpc>
              <a:spcBef>
                <a:spcPct val="20000"/>
              </a:spcBef>
              <a:buClr>
                <a:schemeClr val="bg2"/>
              </a:buClr>
              <a:buSzPct val="75000"/>
            </a:pPr>
            <a:r>
              <a:rPr lang="zh-CN" altLang="en-US" sz="2400" dirty="0">
                <a:solidFill>
                  <a:srgbClr val="FF0000"/>
                </a:solidFill>
                <a:latin typeface="幼圆" panose="02010509060101010101" pitchFamily="49" charset="-122"/>
                <a:ea typeface="幼圆" panose="02010509060101010101" pitchFamily="49" charset="-122"/>
              </a:rPr>
              <a:t>最坏</a:t>
            </a:r>
            <a:r>
              <a:rPr lang="zh-CN" altLang="en-US" sz="2400" dirty="0">
                <a:latin typeface="幼圆" panose="02010509060101010101" pitchFamily="49" charset="-122"/>
                <a:ea typeface="幼圆" panose="02010509060101010101" pitchFamily="49" charset="-122"/>
              </a:rPr>
              <a:t>情况下</a:t>
            </a:r>
            <a:r>
              <a:rPr lang="zh-CN" altLang="en-US" sz="2400" dirty="0">
                <a:latin typeface="Arial" panose="020B0604020202020204" pitchFamily="34" charset="0"/>
                <a:ea typeface="幼圆" panose="02010509060101010101" pitchFamily="49" charset="-122"/>
                <a:cs typeface="Arial" panose="020B0604020202020204" pitchFamily="34" charset="0"/>
              </a:rPr>
              <a:t>：</a:t>
            </a:r>
            <a:r>
              <a:rPr lang="zh-CN" altLang="en-US" sz="2400" i="1" dirty="0">
                <a:latin typeface="Arial" panose="020B0604020202020204" pitchFamily="34" charset="0"/>
                <a:ea typeface="幼圆" panose="02010509060101010101" pitchFamily="49" charset="-122"/>
                <a:cs typeface="Arial" panose="020B0604020202020204" pitchFamily="34" charset="0"/>
              </a:rPr>
              <a:t>  </a:t>
            </a:r>
            <a:r>
              <a:rPr lang="en-US" altLang="zh-CN" sz="2400" i="1" dirty="0" err="1">
                <a:latin typeface="Times New Roman" pitchFamily="18" charset="0"/>
              </a:rPr>
              <a:t>T</a:t>
            </a:r>
            <a:r>
              <a:rPr lang="en-US" altLang="zh-CN" sz="2400" baseline="-25000" dirty="0" err="1">
                <a:latin typeface="Times New Roman" pitchFamily="18" charset="0"/>
              </a:rPr>
              <a:t>max</a:t>
            </a:r>
            <a:r>
              <a:rPr lang="en-US" altLang="zh-CN" sz="2400" dirty="0">
                <a:latin typeface="Times New Roman" pitchFamily="18" charset="0"/>
              </a:rPr>
              <a:t>(</a:t>
            </a:r>
            <a:r>
              <a:rPr lang="en-US" altLang="zh-CN" sz="2400" i="1" dirty="0">
                <a:latin typeface="Times New Roman" pitchFamily="18" charset="0"/>
              </a:rPr>
              <a:t>n</a:t>
            </a:r>
            <a:r>
              <a:rPr lang="en-US" altLang="zh-CN" sz="2400" dirty="0">
                <a:latin typeface="Times New Roman" pitchFamily="18" charset="0"/>
              </a:rPr>
              <a:t>) =max{ </a:t>
            </a:r>
            <a:r>
              <a:rPr lang="en-US" altLang="zh-CN" sz="2400" i="1" dirty="0">
                <a:latin typeface="Times New Roman" pitchFamily="18" charset="0"/>
              </a:rPr>
              <a:t>T</a:t>
            </a:r>
            <a:r>
              <a:rPr lang="en-US" altLang="zh-CN" sz="2400" dirty="0">
                <a:latin typeface="Times New Roman" pitchFamily="18" charset="0"/>
              </a:rPr>
              <a:t>(</a:t>
            </a:r>
            <a:r>
              <a:rPr lang="en-US" altLang="zh-CN" sz="2400" i="1" dirty="0">
                <a:latin typeface="Times New Roman" pitchFamily="18" charset="0"/>
              </a:rPr>
              <a:t>I</a:t>
            </a:r>
            <a:r>
              <a:rPr lang="en-US" altLang="zh-CN" sz="2400" dirty="0">
                <a:latin typeface="Times New Roman" pitchFamily="18" charset="0"/>
              </a:rPr>
              <a:t>) | size(</a:t>
            </a:r>
            <a:r>
              <a:rPr lang="en-US" altLang="zh-CN" sz="2400" i="1" dirty="0">
                <a:latin typeface="Times New Roman" pitchFamily="18" charset="0"/>
              </a:rPr>
              <a:t>I</a:t>
            </a:r>
            <a:r>
              <a:rPr lang="en-US" altLang="zh-CN" sz="2400" dirty="0">
                <a:latin typeface="Times New Roman" pitchFamily="18" charset="0"/>
              </a:rPr>
              <a:t>)=</a:t>
            </a:r>
            <a:r>
              <a:rPr lang="en-US" altLang="zh-CN" sz="2400" i="1" dirty="0">
                <a:latin typeface="Times New Roman" pitchFamily="18" charset="0"/>
              </a:rPr>
              <a:t>n </a:t>
            </a:r>
            <a:r>
              <a:rPr lang="en-US" altLang="zh-CN" sz="2400" dirty="0">
                <a:latin typeface="Times New Roman" pitchFamily="18" charset="0"/>
              </a:rPr>
              <a:t>}</a:t>
            </a:r>
          </a:p>
          <a:p>
            <a:pPr marL="342900" indent="-342900">
              <a:lnSpc>
                <a:spcPct val="120000"/>
              </a:lnSpc>
              <a:spcBef>
                <a:spcPct val="20000"/>
              </a:spcBef>
              <a:buClr>
                <a:schemeClr val="bg2"/>
              </a:buClr>
              <a:buSzPct val="75000"/>
            </a:pPr>
            <a:r>
              <a:rPr lang="zh-CN" altLang="en-US" sz="2400" dirty="0">
                <a:solidFill>
                  <a:srgbClr val="FF0000"/>
                </a:solidFill>
                <a:latin typeface="幼圆" panose="02010509060101010101" pitchFamily="49" charset="-122"/>
                <a:ea typeface="幼圆" panose="02010509060101010101" pitchFamily="49" charset="-122"/>
              </a:rPr>
              <a:t>最好</a:t>
            </a:r>
            <a:r>
              <a:rPr lang="zh-CN" altLang="en-US" sz="2400" dirty="0">
                <a:latin typeface="幼圆" panose="02010509060101010101" pitchFamily="49" charset="-122"/>
                <a:ea typeface="幼圆" panose="02010509060101010101" pitchFamily="49" charset="-122"/>
              </a:rPr>
              <a:t>情况下</a:t>
            </a:r>
            <a:r>
              <a:rPr lang="zh-CN" altLang="en-US" sz="2400" dirty="0">
                <a:latin typeface="Arial" panose="020B0604020202020204" pitchFamily="34" charset="0"/>
                <a:ea typeface="幼圆" panose="02010509060101010101" pitchFamily="49" charset="-122"/>
                <a:cs typeface="Arial" panose="020B0604020202020204" pitchFamily="34" charset="0"/>
              </a:rPr>
              <a:t>：</a:t>
            </a:r>
            <a:r>
              <a:rPr lang="zh-CN" altLang="en-US" sz="2400" i="1" dirty="0">
                <a:latin typeface="Arial" panose="020B0604020202020204" pitchFamily="34" charset="0"/>
                <a:ea typeface="幼圆" panose="02010509060101010101" pitchFamily="49" charset="-122"/>
                <a:cs typeface="Arial" panose="020B0604020202020204" pitchFamily="34" charset="0"/>
              </a:rPr>
              <a:t>  </a:t>
            </a:r>
            <a:r>
              <a:rPr lang="en-US" altLang="zh-CN" sz="2400" i="1" dirty="0" err="1">
                <a:latin typeface="Times New Roman" pitchFamily="18" charset="0"/>
              </a:rPr>
              <a:t>T</a:t>
            </a:r>
            <a:r>
              <a:rPr lang="en-US" altLang="zh-CN" sz="2400" baseline="-25000" dirty="0" err="1">
                <a:latin typeface="Times New Roman" pitchFamily="18" charset="0"/>
              </a:rPr>
              <a:t>min</a:t>
            </a:r>
            <a:r>
              <a:rPr lang="en-US" altLang="zh-CN" sz="2400" dirty="0">
                <a:latin typeface="Times New Roman" pitchFamily="18" charset="0"/>
              </a:rPr>
              <a:t>(</a:t>
            </a:r>
            <a:r>
              <a:rPr lang="en-US" altLang="zh-CN" sz="2400" i="1" dirty="0">
                <a:latin typeface="Times New Roman" pitchFamily="18" charset="0"/>
              </a:rPr>
              <a:t>n</a:t>
            </a:r>
            <a:r>
              <a:rPr lang="en-US" altLang="zh-CN" sz="2400" dirty="0">
                <a:latin typeface="Times New Roman" pitchFamily="18" charset="0"/>
              </a:rPr>
              <a:t>) = min{ </a:t>
            </a:r>
            <a:r>
              <a:rPr lang="en-US" altLang="zh-CN" sz="2400" i="1" dirty="0">
                <a:latin typeface="Times New Roman" pitchFamily="18" charset="0"/>
              </a:rPr>
              <a:t>T</a:t>
            </a:r>
            <a:r>
              <a:rPr lang="en-US" altLang="zh-CN" sz="2400" dirty="0">
                <a:latin typeface="Times New Roman" pitchFamily="18" charset="0"/>
              </a:rPr>
              <a:t>(</a:t>
            </a:r>
            <a:r>
              <a:rPr lang="en-US" altLang="zh-CN" sz="2400" i="1" dirty="0">
                <a:latin typeface="Times New Roman" pitchFamily="18" charset="0"/>
              </a:rPr>
              <a:t>I</a:t>
            </a:r>
            <a:r>
              <a:rPr lang="en-US" altLang="zh-CN" sz="2400" dirty="0">
                <a:latin typeface="Times New Roman" pitchFamily="18" charset="0"/>
              </a:rPr>
              <a:t>) | size(</a:t>
            </a:r>
            <a:r>
              <a:rPr lang="en-US" altLang="zh-CN" sz="2400" i="1" dirty="0">
                <a:latin typeface="Times New Roman" pitchFamily="18" charset="0"/>
              </a:rPr>
              <a:t>I</a:t>
            </a:r>
            <a:r>
              <a:rPr lang="en-US" altLang="zh-CN" sz="2400" dirty="0">
                <a:latin typeface="Times New Roman" pitchFamily="18" charset="0"/>
              </a:rPr>
              <a:t>)=</a:t>
            </a:r>
            <a:r>
              <a:rPr lang="en-US" altLang="zh-CN" sz="2400" i="1" dirty="0">
                <a:latin typeface="Times New Roman" pitchFamily="18" charset="0"/>
              </a:rPr>
              <a:t>n </a:t>
            </a:r>
            <a:r>
              <a:rPr lang="en-US" altLang="zh-CN" sz="2400" dirty="0">
                <a:latin typeface="Times New Roman" pitchFamily="18" charset="0"/>
              </a:rPr>
              <a:t>}</a:t>
            </a:r>
          </a:p>
          <a:p>
            <a:pPr marL="342900" indent="-342900">
              <a:lnSpc>
                <a:spcPct val="120000"/>
              </a:lnSpc>
              <a:spcBef>
                <a:spcPct val="20000"/>
              </a:spcBef>
              <a:buClr>
                <a:schemeClr val="bg2"/>
              </a:buClr>
              <a:buSzPct val="75000"/>
            </a:pPr>
            <a:r>
              <a:rPr lang="zh-CN" altLang="en-US" sz="2400" dirty="0">
                <a:solidFill>
                  <a:srgbClr val="FF0000"/>
                </a:solidFill>
                <a:latin typeface="幼圆" panose="02010509060101010101" pitchFamily="49" charset="-122"/>
                <a:ea typeface="幼圆" panose="02010509060101010101" pitchFamily="49" charset="-122"/>
              </a:rPr>
              <a:t>平均</a:t>
            </a:r>
            <a:r>
              <a:rPr lang="zh-CN" altLang="en-US" sz="2400" dirty="0">
                <a:latin typeface="幼圆" panose="02010509060101010101" pitchFamily="49" charset="-122"/>
                <a:ea typeface="幼圆" panose="02010509060101010101" pitchFamily="49" charset="-122"/>
              </a:rPr>
              <a:t>情况下：</a:t>
            </a:r>
            <a:r>
              <a:rPr lang="zh-CN" altLang="en-US" sz="2400" i="1" dirty="0">
                <a:latin typeface="幼圆" panose="02010509060101010101" pitchFamily="49" charset="-122"/>
                <a:ea typeface="幼圆" panose="02010509060101010101" pitchFamily="49" charset="-122"/>
              </a:rPr>
              <a:t> </a:t>
            </a:r>
            <a:r>
              <a:rPr lang="en-US" altLang="zh-CN" sz="2400" i="1" dirty="0" err="1">
                <a:latin typeface="Times New Roman" pitchFamily="18" charset="0"/>
              </a:rPr>
              <a:t>T</a:t>
            </a:r>
            <a:r>
              <a:rPr lang="en-US" altLang="zh-CN" sz="2400" baseline="-25000" dirty="0" err="1">
                <a:latin typeface="Times New Roman" pitchFamily="18" charset="0"/>
              </a:rPr>
              <a:t>avg</a:t>
            </a:r>
            <a:r>
              <a:rPr lang="en-US" altLang="zh-CN" sz="2400" dirty="0">
                <a:latin typeface="Times New Roman" pitchFamily="18" charset="0"/>
              </a:rPr>
              <a:t>(</a:t>
            </a:r>
            <a:r>
              <a:rPr lang="en-US" altLang="zh-CN" sz="2400" i="1" dirty="0">
                <a:latin typeface="Times New Roman" pitchFamily="18" charset="0"/>
              </a:rPr>
              <a:t>n</a:t>
            </a:r>
            <a:r>
              <a:rPr lang="en-US" altLang="zh-CN" sz="2400" dirty="0">
                <a:latin typeface="Times New Roman" pitchFamily="18" charset="0"/>
              </a:rPr>
              <a:t>) =</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24</a:t>
            </a:fld>
            <a:endParaRPr lang="en-US" altLang="zh-CN"/>
          </a:p>
        </p:txBody>
      </p:sp>
      <p:sp>
        <p:nvSpPr>
          <p:cNvPr id="5" name="Rectangle 2"/>
          <p:cNvSpPr>
            <a:spLocks noGrp="1" noChangeArrowheads="1"/>
          </p:cNvSpPr>
          <p:nvPr>
            <p:ph type="title"/>
          </p:nvPr>
        </p:nvSpPr>
        <p:spPr>
          <a:xfrm>
            <a:off x="551384" y="116632"/>
            <a:ext cx="10972800" cy="1371600"/>
          </a:xfrm>
        </p:spPr>
        <p:txBody>
          <a:bodyPr/>
          <a:lstStyle/>
          <a:p>
            <a:pPr eaLnBrk="1" hangingPunct="1"/>
            <a:r>
              <a:rPr kumimoji="1" lang="zh-CN" altLang="en-US" dirty="0">
                <a:solidFill>
                  <a:schemeClr val="tx2"/>
                </a:solidFill>
              </a:rPr>
              <a:t>时间复杂度的形式化定义</a:t>
            </a:r>
          </a:p>
        </p:txBody>
      </p:sp>
      <p:sp>
        <p:nvSpPr>
          <p:cNvPr id="6" name="Rectangle 3"/>
          <p:cNvSpPr txBox="1">
            <a:spLocks noChangeArrowheads="1"/>
          </p:cNvSpPr>
          <p:nvPr/>
        </p:nvSpPr>
        <p:spPr>
          <a:xfrm>
            <a:off x="551384" y="1569761"/>
            <a:ext cx="10972800" cy="1048535"/>
          </a:xfrm>
          <a:prstGeom prst="rect">
            <a:avLst/>
          </a:prstGeom>
          <a:noFill/>
        </p:spPr>
        <p:txBody>
          <a:bodyPr vert="horz" lIns="91440" tIns="45720" rIns="91440" bIns="45720" rtlCol="0">
            <a:no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600" dirty="0">
                <a:latin typeface="Times New Roman" pitchFamily="18" charset="0"/>
              </a:rPr>
              <a:t>算法的时间复杂度</a:t>
            </a:r>
            <a:r>
              <a:rPr lang="en-US" altLang="zh-CN" sz="2600" i="1" dirty="0">
                <a:latin typeface="Times New Roman" pitchFamily="18" charset="0"/>
              </a:rPr>
              <a:t>T</a:t>
            </a:r>
            <a:r>
              <a:rPr lang="en-US" altLang="zh-CN" sz="2600" dirty="0">
                <a:latin typeface="Times New Roman" pitchFamily="18" charset="0"/>
              </a:rPr>
              <a:t>(</a:t>
            </a:r>
            <a:r>
              <a:rPr lang="en-US" altLang="zh-CN" sz="2600" i="1" dirty="0">
                <a:latin typeface="Times New Roman" pitchFamily="18" charset="0"/>
              </a:rPr>
              <a:t>n</a:t>
            </a:r>
            <a:r>
              <a:rPr lang="en-US" altLang="zh-CN" sz="2600" dirty="0">
                <a:latin typeface="Times New Roman" pitchFamily="18" charset="0"/>
              </a:rPr>
              <a:t>)</a:t>
            </a:r>
            <a:r>
              <a:rPr lang="zh-CN" altLang="en-US" sz="2600" dirty="0">
                <a:latin typeface="Times New Roman" pitchFamily="18" charset="0"/>
              </a:rPr>
              <a:t>，算法的空间复杂度</a:t>
            </a:r>
            <a:r>
              <a:rPr lang="en-US" altLang="zh-CN" sz="2600" i="1" dirty="0">
                <a:latin typeface="Times New Roman" pitchFamily="18" charset="0"/>
              </a:rPr>
              <a:t>S</a:t>
            </a:r>
            <a:r>
              <a:rPr lang="en-US" altLang="zh-CN" sz="2600" dirty="0">
                <a:latin typeface="Times New Roman" pitchFamily="18" charset="0"/>
              </a:rPr>
              <a:t>(</a:t>
            </a:r>
            <a:r>
              <a:rPr lang="en-US" altLang="zh-CN" sz="2600" i="1" dirty="0">
                <a:latin typeface="Times New Roman" pitchFamily="18" charset="0"/>
              </a:rPr>
              <a:t>n</a:t>
            </a:r>
            <a:r>
              <a:rPr lang="en-US" altLang="zh-CN" sz="2600" dirty="0">
                <a:latin typeface="Times New Roman" pitchFamily="18" charset="0"/>
              </a:rPr>
              <a:t>)</a:t>
            </a:r>
            <a:r>
              <a:rPr lang="zh-CN" altLang="en-US" sz="2600" dirty="0">
                <a:latin typeface="Times New Roman" pitchFamily="18" charset="0"/>
              </a:rPr>
              <a:t>，其中，</a:t>
            </a:r>
            <a:r>
              <a:rPr lang="en-US" altLang="zh-CN" sz="2600" i="1" dirty="0">
                <a:latin typeface="Times New Roman" panose="02020603050405020304" pitchFamily="18" charset="0"/>
                <a:cs typeface="Times New Roman" panose="02020603050405020304" pitchFamily="18" charset="0"/>
              </a:rPr>
              <a:t>n</a:t>
            </a:r>
            <a:r>
              <a:rPr lang="zh-CN" altLang="en-US" sz="2600" dirty="0">
                <a:latin typeface="Times New Roman" panose="02020603050405020304" pitchFamily="18" charset="0"/>
                <a:cs typeface="Times New Roman" panose="02020603050405020304" pitchFamily="18" charset="0"/>
              </a:rPr>
              <a:t>是问题的规模，</a:t>
            </a:r>
            <a:r>
              <a:rPr lang="en-US" altLang="zh-CN" sz="2600" i="1" dirty="0">
                <a:latin typeface="Times New Roman" panose="02020603050405020304" pitchFamily="18" charset="0"/>
                <a:cs typeface="Times New Roman" panose="02020603050405020304" pitchFamily="18" charset="0"/>
              </a:rPr>
              <a:t>I</a:t>
            </a:r>
            <a:r>
              <a:rPr lang="zh-CN" altLang="en-US" sz="2600" dirty="0">
                <a:latin typeface="Times New Roman" panose="02020603050405020304" pitchFamily="18" charset="0"/>
                <a:cs typeface="Times New Roman" panose="02020603050405020304" pitchFamily="18" charset="0"/>
              </a:rPr>
              <a:t>是问题的规模为</a:t>
            </a:r>
            <a:r>
              <a:rPr lang="en-US" altLang="zh-CN" sz="2600" i="1" dirty="0">
                <a:latin typeface="Times New Roman" panose="02020603050405020304" pitchFamily="18" charset="0"/>
                <a:cs typeface="Times New Roman" panose="02020603050405020304" pitchFamily="18" charset="0"/>
              </a:rPr>
              <a:t>n</a:t>
            </a:r>
            <a:r>
              <a:rPr lang="zh-CN" altLang="en-US" sz="2600" dirty="0">
                <a:latin typeface="Times New Roman" panose="02020603050405020304" pitchFamily="18" charset="0"/>
                <a:cs typeface="Times New Roman" panose="02020603050405020304" pitchFamily="18" charset="0"/>
              </a:rPr>
              <a:t>的实例，</a:t>
            </a:r>
            <a:r>
              <a:rPr lang="en-US" altLang="zh-CN" sz="2600" i="1" dirty="0">
                <a:latin typeface="Times New Roman" panose="02020603050405020304" pitchFamily="18" charset="0"/>
                <a:cs typeface="Times New Roman" panose="02020603050405020304" pitchFamily="18" charset="0"/>
              </a:rPr>
              <a:t>p(I)</a:t>
            </a:r>
            <a:r>
              <a:rPr lang="zh-CN" altLang="en-US" sz="2600" dirty="0">
                <a:latin typeface="Times New Roman" panose="02020603050405020304" pitchFamily="18" charset="0"/>
                <a:cs typeface="Times New Roman" panose="02020603050405020304" pitchFamily="18" charset="0"/>
              </a:rPr>
              <a:t>是实例</a:t>
            </a:r>
            <a:r>
              <a:rPr lang="en-US" altLang="zh-CN" sz="2600" i="1" dirty="0">
                <a:latin typeface="Times New Roman" panose="02020603050405020304" pitchFamily="18" charset="0"/>
                <a:cs typeface="Times New Roman" panose="02020603050405020304" pitchFamily="18" charset="0"/>
              </a:rPr>
              <a:t>I</a:t>
            </a:r>
            <a:r>
              <a:rPr lang="zh-CN" altLang="en-US" sz="2600" dirty="0">
                <a:latin typeface="Times New Roman" panose="02020603050405020304" pitchFamily="18" charset="0"/>
                <a:cs typeface="Times New Roman" panose="02020603050405020304" pitchFamily="18" charset="0"/>
              </a:rPr>
              <a:t>出现的概率。</a:t>
            </a:r>
          </a:p>
        </p:txBody>
      </p:sp>
      <p:graphicFrame>
        <p:nvGraphicFramePr>
          <p:cNvPr id="7" name="Object 5"/>
          <p:cNvGraphicFramePr>
            <a:graphicFrameLocks noGrp="1" noChangeAspect="1"/>
          </p:cNvGraphicFramePr>
          <p:nvPr>
            <p:ph sz="half" idx="4294967295"/>
            <p:extLst>
              <p:ext uri="{D42A27DB-BD31-4B8C-83A1-F6EECF244321}">
                <p14:modId xmlns:p14="http://schemas.microsoft.com/office/powerpoint/2010/main" val="1375982227"/>
              </p:ext>
            </p:extLst>
          </p:nvPr>
        </p:nvGraphicFramePr>
        <p:xfrm>
          <a:off x="4583832" y="4437112"/>
          <a:ext cx="1728192" cy="589184"/>
        </p:xfrm>
        <a:graphic>
          <a:graphicData uri="http://schemas.openxmlformats.org/presentationml/2006/ole">
            <mc:AlternateContent xmlns:mc="http://schemas.openxmlformats.org/markup-compatibility/2006">
              <mc:Choice xmlns:v="urn:schemas-microsoft-com:vml" Requires="v">
                <p:oleObj spid="_x0000_s1026" name="Equation" r:id="rId3" imgW="1155700" imgH="393700" progId="Equation.DSMT4">
                  <p:embed/>
                </p:oleObj>
              </mc:Choice>
              <mc:Fallback>
                <p:oleObj name="Equation" r:id="rId3" imgW="1155700" imgH="393700" progId="Equation.DSMT4">
                  <p:embed/>
                  <p:pic>
                    <p:nvPicPr>
                      <p:cNvPr id="4608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832" y="4437112"/>
                        <a:ext cx="1728192" cy="58918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4976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23392" y="155221"/>
            <a:ext cx="8229600" cy="1371600"/>
          </a:xfrm>
        </p:spPr>
        <p:txBody>
          <a:bodyPr/>
          <a:lstStyle/>
          <a:p>
            <a:pPr eaLnBrk="1" hangingPunct="1"/>
            <a:r>
              <a:rPr lang="zh-CN" altLang="en-US" dirty="0"/>
              <a:t>算法分析过程</a:t>
            </a:r>
          </a:p>
        </p:txBody>
      </p:sp>
      <p:sp>
        <p:nvSpPr>
          <p:cNvPr id="22541" name="Rectangle 37"/>
          <p:cNvSpPr>
            <a:spLocks noChangeArrowheads="1"/>
          </p:cNvSpPr>
          <p:nvPr/>
        </p:nvSpPr>
        <p:spPr bwMode="auto">
          <a:xfrm>
            <a:off x="5038735" y="1628800"/>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solidFill>
                  <a:srgbClr val="FF0000"/>
                </a:solidFill>
                <a:latin typeface="幼圆" panose="02010509060101010101" pitchFamily="49" charset="-122"/>
                <a:ea typeface="幼圆" panose="02010509060101010101" pitchFamily="49" charset="-122"/>
              </a:rPr>
              <a:t>事前分析</a:t>
            </a:r>
          </a:p>
        </p:txBody>
      </p:sp>
      <p:sp>
        <p:nvSpPr>
          <p:cNvPr id="22542" name="Rectangle 38"/>
          <p:cNvSpPr>
            <a:spLocks noChangeArrowheads="1"/>
          </p:cNvSpPr>
          <p:nvPr/>
        </p:nvSpPr>
        <p:spPr bwMode="auto">
          <a:xfrm>
            <a:off x="1149831" y="1648218"/>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solidFill>
                  <a:srgbClr val="FF0000"/>
                </a:solidFill>
                <a:latin typeface="幼圆" panose="02010509060101010101" pitchFamily="49" charset="-122"/>
                <a:ea typeface="幼圆" panose="02010509060101010101" pitchFamily="49" charset="-122"/>
              </a:rPr>
              <a:t>准备工作</a:t>
            </a:r>
          </a:p>
        </p:txBody>
      </p:sp>
      <p:sp>
        <p:nvSpPr>
          <p:cNvPr id="22543" name="Rectangle 39"/>
          <p:cNvSpPr>
            <a:spLocks noChangeArrowheads="1"/>
          </p:cNvSpPr>
          <p:nvPr/>
        </p:nvSpPr>
        <p:spPr bwMode="auto">
          <a:xfrm>
            <a:off x="8722852" y="1635854"/>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solidFill>
                  <a:srgbClr val="FF0000"/>
                </a:solidFill>
                <a:latin typeface="幼圆" panose="02010509060101010101" pitchFamily="49" charset="-122"/>
                <a:ea typeface="幼圆" panose="02010509060101010101" pitchFamily="49" charset="-122"/>
              </a:rPr>
              <a:t>事后测试</a:t>
            </a:r>
          </a:p>
        </p:txBody>
      </p:sp>
      <p:sp>
        <p:nvSpPr>
          <p:cNvPr id="22545" name="Line 41"/>
          <p:cNvSpPr>
            <a:spLocks noChangeShapeType="1"/>
          </p:cNvSpPr>
          <p:nvPr/>
        </p:nvSpPr>
        <p:spPr bwMode="auto">
          <a:xfrm flipV="1">
            <a:off x="3791745" y="2030497"/>
            <a:ext cx="7128792" cy="25400"/>
          </a:xfrm>
          <a:prstGeom prst="line">
            <a:avLst/>
          </a:prstGeom>
          <a:noFill/>
          <a:ln w="38100" cmpd="dbl">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rgbClr val="FF0000"/>
              </a:solidFill>
              <a:latin typeface="幼圆" panose="02010509060101010101" pitchFamily="49" charset="-122"/>
              <a:ea typeface="幼圆" panose="02010509060101010101" pitchFamily="49" charset="-122"/>
            </a:endParaRPr>
          </a:p>
        </p:txBody>
      </p:sp>
      <p:sp>
        <p:nvSpPr>
          <p:cNvPr id="22546" name="Text Box 42"/>
          <p:cNvSpPr txBox="1">
            <a:spLocks noChangeArrowheads="1"/>
          </p:cNvSpPr>
          <p:nvPr/>
        </p:nvSpPr>
        <p:spPr bwMode="auto">
          <a:xfrm>
            <a:off x="6013603" y="1107161"/>
            <a:ext cx="33131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lang="zh-CN" altLang="en-US" dirty="0">
                <a:solidFill>
                  <a:schemeClr val="tx2">
                    <a:lumMod val="75000"/>
                  </a:schemeClr>
                </a:solidFill>
                <a:latin typeface="幼圆" panose="02010509060101010101" pitchFamily="49" charset="-122"/>
                <a:ea typeface="幼圆" panose="02010509060101010101" pitchFamily="49" charset="-122"/>
              </a:rPr>
              <a:t>全面分析的两个阶段</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25</a:t>
            </a:fld>
            <a:endParaRPr lang="en-US" altLang="zh-CN"/>
          </a:p>
        </p:txBody>
      </p:sp>
      <p:sp>
        <p:nvSpPr>
          <p:cNvPr id="3" name="矩形 2"/>
          <p:cNvSpPr/>
          <p:nvPr/>
        </p:nvSpPr>
        <p:spPr>
          <a:xfrm>
            <a:off x="623545" y="2348857"/>
            <a:ext cx="2880167" cy="1011344"/>
          </a:xfrm>
          <a:prstGeom prst="rect">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spcBef>
                <a:spcPct val="50000"/>
              </a:spcBef>
            </a:pPr>
            <a:r>
              <a:rPr lang="zh-CN" altLang="en-US" sz="2400" dirty="0">
                <a:solidFill>
                  <a:schemeClr val="tx1"/>
                </a:solidFill>
                <a:latin typeface="幼圆" panose="02010509060101010101" pitchFamily="49" charset="-122"/>
                <a:ea typeface="幼圆" panose="02010509060101010101" pitchFamily="49" charset="-122"/>
              </a:rPr>
              <a:t>确定算法所涉及的运算</a:t>
            </a:r>
          </a:p>
        </p:txBody>
      </p:sp>
      <p:sp>
        <p:nvSpPr>
          <p:cNvPr id="21" name="矩形 20"/>
          <p:cNvSpPr/>
          <p:nvPr/>
        </p:nvSpPr>
        <p:spPr>
          <a:xfrm>
            <a:off x="623392" y="3486988"/>
            <a:ext cx="2880167" cy="1507608"/>
          </a:xfrm>
          <a:prstGeom prst="rect">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spcBef>
                <a:spcPct val="50000"/>
              </a:spcBef>
            </a:pPr>
            <a:r>
              <a:rPr lang="zh-CN" altLang="en-US" sz="2400" dirty="0">
                <a:solidFill>
                  <a:schemeClr val="tx1"/>
                </a:solidFill>
                <a:latin typeface="幼圆" panose="02010509060101010101" pitchFamily="49" charset="-122"/>
                <a:ea typeface="幼圆" panose="02010509060101010101" pitchFamily="49" charset="-122"/>
              </a:rPr>
              <a:t>确定出能反映算法在各种情况下工作的数据集</a:t>
            </a:r>
          </a:p>
        </p:txBody>
      </p:sp>
      <p:sp>
        <p:nvSpPr>
          <p:cNvPr id="22" name="矩形 21"/>
          <p:cNvSpPr/>
          <p:nvPr/>
        </p:nvSpPr>
        <p:spPr>
          <a:xfrm>
            <a:off x="4208547" y="2861742"/>
            <a:ext cx="2934285" cy="980726"/>
          </a:xfrm>
          <a:prstGeom prst="rect">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spcBef>
                <a:spcPct val="50000"/>
              </a:spcBef>
            </a:pPr>
            <a:r>
              <a:rPr lang="zh-CN" altLang="en-US" sz="2400" dirty="0">
                <a:solidFill>
                  <a:schemeClr val="tx1"/>
                </a:solidFill>
                <a:latin typeface="幼圆" panose="02010509060101010101" pitchFamily="49" charset="-122"/>
                <a:ea typeface="幼圆" panose="02010509060101010101" pitchFamily="49" charset="-122"/>
              </a:rPr>
              <a:t>分析算法语句的执行次数</a:t>
            </a:r>
          </a:p>
        </p:txBody>
      </p:sp>
      <p:cxnSp>
        <p:nvCxnSpPr>
          <p:cNvPr id="5" name="肘形连接符 4"/>
          <p:cNvCxnSpPr>
            <a:stCxn id="3" idx="3"/>
            <a:endCxn id="22" idx="1"/>
          </p:cNvCxnSpPr>
          <p:nvPr/>
        </p:nvCxnSpPr>
        <p:spPr>
          <a:xfrm>
            <a:off x="3503712" y="2854529"/>
            <a:ext cx="704835" cy="497576"/>
          </a:xfrm>
          <a:prstGeom prst="bentConnector3">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肘形连接符 25"/>
          <p:cNvCxnSpPr>
            <a:stCxn id="21" idx="3"/>
            <a:endCxn id="22" idx="1"/>
          </p:cNvCxnSpPr>
          <p:nvPr/>
        </p:nvCxnSpPr>
        <p:spPr>
          <a:xfrm flipV="1">
            <a:off x="3503559" y="3352105"/>
            <a:ext cx="704988" cy="888687"/>
          </a:xfrm>
          <a:prstGeom prst="bentConnector3">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216840" y="4301290"/>
            <a:ext cx="2917698" cy="1027657"/>
          </a:xfrm>
          <a:prstGeom prst="rect">
            <a:avLst/>
          </a:prstGeom>
          <a:solidFill>
            <a:schemeClr val="accent1">
              <a:lumMod val="20000"/>
              <a:lumOff val="80000"/>
            </a:schemeClr>
          </a:solidFill>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spcBef>
                <a:spcPct val="50000"/>
              </a:spcBef>
            </a:pPr>
            <a:r>
              <a:rPr lang="zh-CN" altLang="en-US" sz="2400" dirty="0">
                <a:solidFill>
                  <a:schemeClr val="tx1"/>
                </a:solidFill>
                <a:latin typeface="幼圆" panose="02010509060101010101" pitchFamily="49" charset="-122"/>
                <a:ea typeface="幼圆" panose="02010509060101010101" pitchFamily="49" charset="-122"/>
              </a:rPr>
              <a:t>分析算法的执行时间的渐进表示</a:t>
            </a:r>
          </a:p>
        </p:txBody>
      </p:sp>
      <p:cxnSp>
        <p:nvCxnSpPr>
          <p:cNvPr id="33" name="肘形连接符 32"/>
          <p:cNvCxnSpPr>
            <a:stCxn id="22" idx="2"/>
            <a:endCxn id="32" idx="0"/>
          </p:cNvCxnSpPr>
          <p:nvPr/>
        </p:nvCxnSpPr>
        <p:spPr>
          <a:xfrm rot="5400000">
            <a:off x="5446279" y="4071879"/>
            <a:ext cx="458822" cy="1"/>
          </a:xfrm>
          <a:prstGeom prst="bentConnector3">
            <a:avLst>
              <a:gd name="adj1" fmla="val 50000"/>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8022026" y="4301289"/>
            <a:ext cx="2917698" cy="1027658"/>
          </a:xfrm>
          <a:prstGeom prst="rect">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spcBef>
                <a:spcPct val="50000"/>
              </a:spcBef>
            </a:pPr>
            <a:r>
              <a:rPr lang="zh-CN" altLang="en-US" sz="2400" dirty="0">
                <a:solidFill>
                  <a:schemeClr val="tx1"/>
                </a:solidFill>
                <a:latin typeface="幼圆" panose="02010509060101010101" pitchFamily="49" charset="-122"/>
                <a:ea typeface="幼圆" panose="02010509060101010101" pitchFamily="49" charset="-122"/>
              </a:rPr>
              <a:t>作时空性能分布图</a:t>
            </a:r>
          </a:p>
        </p:txBody>
      </p:sp>
      <p:cxnSp>
        <p:nvCxnSpPr>
          <p:cNvPr id="38" name="肘形连接符 37"/>
          <p:cNvCxnSpPr>
            <a:stCxn id="37" idx="1"/>
            <a:endCxn id="32" idx="3"/>
          </p:cNvCxnSpPr>
          <p:nvPr/>
        </p:nvCxnSpPr>
        <p:spPr>
          <a:xfrm rot="10800000" flipV="1">
            <a:off x="7134538" y="4815117"/>
            <a:ext cx="887488" cy="1"/>
          </a:xfrm>
          <a:prstGeom prst="bentConnector3">
            <a:avLst>
              <a:gd name="adj1" fmla="val 50000"/>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53D4C18-EC9C-800B-F269-B176890C94D4}"/>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xmlns="" id="{D529A4A3-367D-E749-02F0-3BE7187FFBC9}"/>
              </a:ext>
            </a:extLst>
          </p:cNvPr>
          <p:cNvSpPr>
            <a:spLocks noGrp="1" noChangeArrowheads="1"/>
          </p:cNvSpPr>
          <p:nvPr>
            <p:ph type="title"/>
          </p:nvPr>
        </p:nvSpPr>
        <p:spPr>
          <a:xfrm>
            <a:off x="623392" y="189178"/>
            <a:ext cx="10515600" cy="1325563"/>
          </a:xfrm>
        </p:spPr>
        <p:txBody>
          <a:bodyPr/>
          <a:lstStyle/>
          <a:p>
            <a:pPr eaLnBrk="1" hangingPunct="1"/>
            <a:r>
              <a:rPr kumimoji="1" lang="zh-CN" altLang="en-US" dirty="0">
                <a:solidFill>
                  <a:schemeClr val="tx2"/>
                </a:solidFill>
              </a:rPr>
              <a:t>作时空性能分布图</a:t>
            </a:r>
          </a:p>
        </p:txBody>
      </p:sp>
      <p:sp>
        <p:nvSpPr>
          <p:cNvPr id="50179" name="Rectangle 3">
            <a:extLst>
              <a:ext uri="{FF2B5EF4-FFF2-40B4-BE49-F238E27FC236}">
                <a16:creationId xmlns:a16="http://schemas.microsoft.com/office/drawing/2014/main" xmlns="" id="{1E9AC188-B733-2683-8E21-353F16C8F1AF}"/>
              </a:ext>
            </a:extLst>
          </p:cNvPr>
          <p:cNvSpPr>
            <a:spLocks noGrp="1" noChangeArrowheads="1"/>
          </p:cNvSpPr>
          <p:nvPr>
            <p:ph idx="1"/>
          </p:nvPr>
        </p:nvSpPr>
        <p:spPr>
          <a:xfrm>
            <a:off x="356332" y="1570795"/>
            <a:ext cx="6148860" cy="4040188"/>
          </a:xfrm>
        </p:spPr>
        <p:txBody>
          <a:bodyPr>
            <a:normAutofit/>
          </a:bodyPr>
          <a:lstStyle/>
          <a:p>
            <a:pPr eaLnBrk="1" hangingPunct="1">
              <a:lnSpc>
                <a:spcPct val="120000"/>
              </a:lnSpc>
            </a:pPr>
            <a:r>
              <a:rPr lang="zh-CN" altLang="en-US" sz="2400" dirty="0"/>
              <a:t>事后测试是在对算法进行设计、确认、事前分析和调试之后要做的工作，</a:t>
            </a:r>
            <a:r>
              <a:rPr lang="zh-CN" altLang="en-US" sz="2400" dirty="0">
                <a:solidFill>
                  <a:srgbClr val="FF0000"/>
                </a:solidFill>
              </a:rPr>
              <a:t>与所用计算机密切相关</a:t>
            </a:r>
            <a:r>
              <a:rPr lang="zh-CN" altLang="en-US" sz="2400" dirty="0"/>
              <a:t>。</a:t>
            </a:r>
          </a:p>
          <a:p>
            <a:pPr eaLnBrk="1" hangingPunct="1">
              <a:lnSpc>
                <a:spcPct val="120000"/>
              </a:lnSpc>
            </a:pPr>
            <a:r>
              <a:rPr lang="zh-CN" altLang="en-US" sz="2400" dirty="0"/>
              <a:t>做</a:t>
            </a:r>
            <a:r>
              <a:rPr lang="zh-CN" altLang="en-US" sz="2400" dirty="0">
                <a:solidFill>
                  <a:srgbClr val="FF0000"/>
                </a:solidFill>
              </a:rPr>
              <a:t>时空分布图</a:t>
            </a:r>
            <a:r>
              <a:rPr lang="zh-CN" altLang="en-US" sz="2400" dirty="0"/>
              <a:t>：</a:t>
            </a:r>
          </a:p>
          <a:p>
            <a:pPr lvl="1"/>
            <a:r>
              <a:rPr kumimoji="1" lang="zh-CN" altLang="en-US" dirty="0"/>
              <a:t>分布图与数据集、时间复杂度有关；</a:t>
            </a:r>
          </a:p>
          <a:p>
            <a:pPr lvl="1"/>
            <a:r>
              <a:rPr kumimoji="1" lang="zh-CN" altLang="en-US" dirty="0"/>
              <a:t>为提高准确性、减少</a:t>
            </a:r>
            <a:r>
              <a:rPr lang="zh-CN" altLang="en-US" dirty="0"/>
              <a:t>噪声干扰，可增大规模或重复测量。</a:t>
            </a:r>
            <a:endParaRPr kumimoji="1" lang="zh-CN" altLang="en-US" dirty="0"/>
          </a:p>
        </p:txBody>
      </p:sp>
      <p:sp>
        <p:nvSpPr>
          <p:cNvPr id="2" name="灯片编号占位符 1">
            <a:extLst>
              <a:ext uri="{FF2B5EF4-FFF2-40B4-BE49-F238E27FC236}">
                <a16:creationId xmlns:a16="http://schemas.microsoft.com/office/drawing/2014/main" xmlns="" id="{CA9CAD01-E7C4-94D1-DA92-18E42B7D1983}"/>
              </a:ext>
            </a:extLst>
          </p:cNvPr>
          <p:cNvSpPr>
            <a:spLocks noGrp="1"/>
          </p:cNvSpPr>
          <p:nvPr>
            <p:ph type="sldNum" sz="quarter" idx="12"/>
          </p:nvPr>
        </p:nvSpPr>
        <p:spPr/>
        <p:txBody>
          <a:bodyPr/>
          <a:lstStyle/>
          <a:p>
            <a:pPr>
              <a:defRPr/>
            </a:pPr>
            <a:fld id="{D04713B0-7EE7-420A-BB22-6F99F562E080}" type="slidenum">
              <a:rPr lang="en-US" altLang="zh-CN" smtClean="0"/>
              <a:pPr>
                <a:defRPr/>
              </a:pPr>
              <a:t>26</a:t>
            </a:fld>
            <a:endParaRPr lang="en-US" altLang="zh-CN"/>
          </a:p>
        </p:txBody>
      </p:sp>
      <p:grpSp>
        <p:nvGrpSpPr>
          <p:cNvPr id="3" name="组合 330779">
            <a:extLst>
              <a:ext uri="{FF2B5EF4-FFF2-40B4-BE49-F238E27FC236}">
                <a16:creationId xmlns:a16="http://schemas.microsoft.com/office/drawing/2014/main" xmlns="" id="{70FE16C7-32CC-8B01-AD0E-5208B857C40C}"/>
              </a:ext>
            </a:extLst>
          </p:cNvPr>
          <p:cNvGrpSpPr>
            <a:grpSpLocks/>
          </p:cNvGrpSpPr>
          <p:nvPr/>
        </p:nvGrpSpPr>
        <p:grpSpPr bwMode="auto">
          <a:xfrm>
            <a:off x="6672064" y="1503818"/>
            <a:ext cx="5328592" cy="3754438"/>
            <a:chOff x="1236" y="1877"/>
            <a:chExt cx="3266" cy="1968"/>
          </a:xfrm>
        </p:grpSpPr>
        <p:sp>
          <p:nvSpPr>
            <p:cNvPr id="4" name="Text Box 5">
              <a:extLst>
                <a:ext uri="{FF2B5EF4-FFF2-40B4-BE49-F238E27FC236}">
                  <a16:creationId xmlns:a16="http://schemas.microsoft.com/office/drawing/2014/main" xmlns="" id="{98010DD7-98F0-E32A-2A70-25BB5919B330}"/>
                </a:ext>
              </a:extLst>
            </p:cNvPr>
            <p:cNvSpPr txBox="1">
              <a:spLocks noChangeArrowheads="1"/>
            </p:cNvSpPr>
            <p:nvPr/>
          </p:nvSpPr>
          <p:spPr bwMode="auto">
            <a:xfrm>
              <a:off x="1236" y="2387"/>
              <a:ext cx="34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just">
                <a:spcBef>
                  <a:spcPct val="0"/>
                </a:spcBef>
                <a:buClrTx/>
                <a:buSzTx/>
                <a:buFont typeface="Arial" panose="020B0604020202020204" pitchFamily="34" charset="0"/>
                <a:buNone/>
              </a:pPr>
              <a:r>
                <a:rPr lang="en-US" altLang="zh-CN" sz="1800">
                  <a:solidFill>
                    <a:srgbClr val="0033CC"/>
                  </a:solidFill>
                  <a:ea typeface="宋体" panose="02010600030101010101" pitchFamily="2" charset="-122"/>
                </a:rPr>
                <a:t>80</a:t>
              </a:r>
            </a:p>
          </p:txBody>
        </p:sp>
        <p:sp>
          <p:nvSpPr>
            <p:cNvPr id="5" name="Text Box 6">
              <a:extLst>
                <a:ext uri="{FF2B5EF4-FFF2-40B4-BE49-F238E27FC236}">
                  <a16:creationId xmlns:a16="http://schemas.microsoft.com/office/drawing/2014/main" xmlns="" id="{6CA058DC-DFE7-3355-4BE0-01F06AA88E65}"/>
                </a:ext>
              </a:extLst>
            </p:cNvPr>
            <p:cNvSpPr txBox="1">
              <a:spLocks noChangeArrowheads="1"/>
            </p:cNvSpPr>
            <p:nvPr/>
          </p:nvSpPr>
          <p:spPr bwMode="auto">
            <a:xfrm>
              <a:off x="1236" y="2619"/>
              <a:ext cx="34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just">
                <a:spcBef>
                  <a:spcPct val="0"/>
                </a:spcBef>
                <a:buClrTx/>
                <a:buSzTx/>
                <a:buFont typeface="Arial" panose="020B0604020202020204" pitchFamily="34" charset="0"/>
                <a:buNone/>
              </a:pPr>
              <a:r>
                <a:rPr lang="en-US" altLang="zh-CN" sz="1800">
                  <a:solidFill>
                    <a:srgbClr val="0033CC"/>
                  </a:solidFill>
                  <a:ea typeface="宋体" panose="02010600030101010101" pitchFamily="2" charset="-122"/>
                </a:rPr>
                <a:t>70</a:t>
              </a:r>
            </a:p>
          </p:txBody>
        </p:sp>
        <p:sp>
          <p:nvSpPr>
            <p:cNvPr id="6" name="Text Box 7">
              <a:extLst>
                <a:ext uri="{FF2B5EF4-FFF2-40B4-BE49-F238E27FC236}">
                  <a16:creationId xmlns:a16="http://schemas.microsoft.com/office/drawing/2014/main" xmlns="" id="{8407EC4C-D02F-1068-27F3-799A2F9D9DA3}"/>
                </a:ext>
              </a:extLst>
            </p:cNvPr>
            <p:cNvSpPr txBox="1">
              <a:spLocks noChangeArrowheads="1"/>
            </p:cNvSpPr>
            <p:nvPr/>
          </p:nvSpPr>
          <p:spPr bwMode="auto">
            <a:xfrm>
              <a:off x="1236" y="2851"/>
              <a:ext cx="34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just">
                <a:spcBef>
                  <a:spcPct val="0"/>
                </a:spcBef>
                <a:buClrTx/>
                <a:buSzTx/>
                <a:buFont typeface="Arial" panose="020B0604020202020204" pitchFamily="34" charset="0"/>
                <a:buNone/>
              </a:pPr>
              <a:r>
                <a:rPr lang="en-US" altLang="zh-CN" sz="1800">
                  <a:solidFill>
                    <a:srgbClr val="0033CC"/>
                  </a:solidFill>
                  <a:ea typeface="宋体" panose="02010600030101010101" pitchFamily="2" charset="-122"/>
                </a:rPr>
                <a:t>60</a:t>
              </a:r>
            </a:p>
          </p:txBody>
        </p:sp>
        <p:sp>
          <p:nvSpPr>
            <p:cNvPr id="7" name="Text Box 8">
              <a:extLst>
                <a:ext uri="{FF2B5EF4-FFF2-40B4-BE49-F238E27FC236}">
                  <a16:creationId xmlns:a16="http://schemas.microsoft.com/office/drawing/2014/main" xmlns="" id="{3F5839F7-C832-6A28-1BDF-23541598F4BE}"/>
                </a:ext>
              </a:extLst>
            </p:cNvPr>
            <p:cNvSpPr txBox="1">
              <a:spLocks noChangeArrowheads="1"/>
            </p:cNvSpPr>
            <p:nvPr/>
          </p:nvSpPr>
          <p:spPr bwMode="auto">
            <a:xfrm>
              <a:off x="3165" y="3391"/>
              <a:ext cx="32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just">
                <a:spcBef>
                  <a:spcPct val="0"/>
                </a:spcBef>
                <a:buClrTx/>
                <a:buSzTx/>
                <a:buFont typeface="Arial" panose="020B0604020202020204" pitchFamily="34" charset="0"/>
                <a:buNone/>
              </a:pPr>
              <a:r>
                <a:rPr lang="en-US" altLang="zh-CN" sz="1800">
                  <a:solidFill>
                    <a:srgbClr val="0033CC"/>
                  </a:solidFill>
                  <a:ea typeface="宋体" panose="02010600030101010101" pitchFamily="2" charset="-122"/>
                </a:rPr>
                <a:t>30</a:t>
              </a:r>
            </a:p>
          </p:txBody>
        </p:sp>
        <p:sp>
          <p:nvSpPr>
            <p:cNvPr id="8" name="Text Box 9">
              <a:extLst>
                <a:ext uri="{FF2B5EF4-FFF2-40B4-BE49-F238E27FC236}">
                  <a16:creationId xmlns:a16="http://schemas.microsoft.com/office/drawing/2014/main" xmlns="" id="{84A7CEE7-E49E-9722-1042-685FD90176B8}"/>
                </a:ext>
              </a:extLst>
            </p:cNvPr>
            <p:cNvSpPr txBox="1">
              <a:spLocks noChangeArrowheads="1"/>
            </p:cNvSpPr>
            <p:nvPr/>
          </p:nvSpPr>
          <p:spPr bwMode="auto">
            <a:xfrm>
              <a:off x="2562" y="3391"/>
              <a:ext cx="326"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just">
                <a:spcBef>
                  <a:spcPct val="0"/>
                </a:spcBef>
                <a:buClrTx/>
                <a:buSzTx/>
                <a:buFont typeface="Arial" panose="020B0604020202020204" pitchFamily="34" charset="0"/>
                <a:buNone/>
              </a:pPr>
              <a:r>
                <a:rPr lang="en-US" altLang="zh-CN" sz="1800">
                  <a:solidFill>
                    <a:srgbClr val="0033CC"/>
                  </a:solidFill>
                  <a:ea typeface="宋体" panose="02010600030101010101" pitchFamily="2" charset="-122"/>
                </a:rPr>
                <a:t>20</a:t>
              </a:r>
            </a:p>
          </p:txBody>
        </p:sp>
        <p:sp>
          <p:nvSpPr>
            <p:cNvPr id="9" name="Text Box 10">
              <a:extLst>
                <a:ext uri="{FF2B5EF4-FFF2-40B4-BE49-F238E27FC236}">
                  <a16:creationId xmlns:a16="http://schemas.microsoft.com/office/drawing/2014/main" xmlns="" id="{33F3E7C2-0FCA-7AB8-B9F0-18B9857BBA74}"/>
                </a:ext>
              </a:extLst>
            </p:cNvPr>
            <p:cNvSpPr txBox="1">
              <a:spLocks noChangeArrowheads="1"/>
            </p:cNvSpPr>
            <p:nvPr/>
          </p:nvSpPr>
          <p:spPr bwMode="auto">
            <a:xfrm>
              <a:off x="1970" y="3391"/>
              <a:ext cx="326"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just">
                <a:spcBef>
                  <a:spcPct val="0"/>
                </a:spcBef>
                <a:buClrTx/>
                <a:buSzTx/>
                <a:buFont typeface="Arial" panose="020B0604020202020204" pitchFamily="34" charset="0"/>
                <a:buNone/>
              </a:pPr>
              <a:r>
                <a:rPr lang="en-US" altLang="zh-CN" sz="1800">
                  <a:solidFill>
                    <a:srgbClr val="0033CC"/>
                  </a:solidFill>
                  <a:ea typeface="宋体" panose="02010600030101010101" pitchFamily="2" charset="-122"/>
                </a:rPr>
                <a:t>10</a:t>
              </a:r>
            </a:p>
          </p:txBody>
        </p:sp>
        <p:sp>
          <p:nvSpPr>
            <p:cNvPr id="10" name="Text Box 11">
              <a:extLst>
                <a:ext uri="{FF2B5EF4-FFF2-40B4-BE49-F238E27FC236}">
                  <a16:creationId xmlns:a16="http://schemas.microsoft.com/office/drawing/2014/main" xmlns="" id="{D235C77A-3C80-D651-C764-7EE7221EE6B9}"/>
                </a:ext>
              </a:extLst>
            </p:cNvPr>
            <p:cNvSpPr txBox="1">
              <a:spLocks noChangeArrowheads="1"/>
            </p:cNvSpPr>
            <p:nvPr/>
          </p:nvSpPr>
          <p:spPr bwMode="auto">
            <a:xfrm>
              <a:off x="1433" y="1877"/>
              <a:ext cx="19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just">
                <a:spcBef>
                  <a:spcPct val="0"/>
                </a:spcBef>
                <a:buClrTx/>
                <a:buSzTx/>
                <a:buFont typeface="Arial" panose="020B0604020202020204" pitchFamily="34" charset="0"/>
                <a:buNone/>
              </a:pPr>
              <a:r>
                <a:rPr lang="en-US" altLang="zh-CN" sz="2000" i="1" dirty="0">
                  <a:solidFill>
                    <a:srgbClr val="0033CC"/>
                  </a:solidFill>
                  <a:ea typeface="宋体" panose="02010600030101010101" pitchFamily="2" charset="-122"/>
                </a:rPr>
                <a:t>S</a:t>
              </a:r>
            </a:p>
          </p:txBody>
        </p:sp>
        <p:sp>
          <p:nvSpPr>
            <p:cNvPr id="11" name="Text Box 12">
              <a:extLst>
                <a:ext uri="{FF2B5EF4-FFF2-40B4-BE49-F238E27FC236}">
                  <a16:creationId xmlns:a16="http://schemas.microsoft.com/office/drawing/2014/main" xmlns="" id="{C2C62207-74B7-A6BF-4897-57A26AB8B73A}"/>
                </a:ext>
              </a:extLst>
            </p:cNvPr>
            <p:cNvSpPr txBox="1">
              <a:spLocks noChangeArrowheads="1"/>
            </p:cNvSpPr>
            <p:nvPr/>
          </p:nvSpPr>
          <p:spPr bwMode="auto">
            <a:xfrm>
              <a:off x="4305" y="3221"/>
              <a:ext cx="19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just">
                <a:spcBef>
                  <a:spcPct val="0"/>
                </a:spcBef>
                <a:buClrTx/>
                <a:buSzTx/>
                <a:buFont typeface="Arial" panose="020B0604020202020204" pitchFamily="34" charset="0"/>
                <a:buNone/>
              </a:pPr>
              <a:r>
                <a:rPr lang="en-US" altLang="zh-CN" sz="1800" dirty="0">
                  <a:solidFill>
                    <a:srgbClr val="0033CC"/>
                  </a:solidFill>
                  <a:latin typeface="Bookman Old Style" panose="02050604050505020204" pitchFamily="18" charset="0"/>
                  <a:ea typeface="宋体" panose="02010600030101010101" pitchFamily="2" charset="-122"/>
                </a:rPr>
                <a:t>t</a:t>
              </a:r>
            </a:p>
          </p:txBody>
        </p:sp>
        <p:sp>
          <p:nvSpPr>
            <p:cNvPr id="12" name="Line 13">
              <a:extLst>
                <a:ext uri="{FF2B5EF4-FFF2-40B4-BE49-F238E27FC236}">
                  <a16:creationId xmlns:a16="http://schemas.microsoft.com/office/drawing/2014/main" xmlns="" id="{5CE06C66-49CC-4C08-0E95-A37DCA8EF992}"/>
                </a:ext>
              </a:extLst>
            </p:cNvPr>
            <p:cNvSpPr>
              <a:spLocks noChangeShapeType="1"/>
            </p:cNvSpPr>
            <p:nvPr/>
          </p:nvSpPr>
          <p:spPr bwMode="auto">
            <a:xfrm>
              <a:off x="1477" y="2971"/>
              <a:ext cx="5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4">
              <a:extLst>
                <a:ext uri="{FF2B5EF4-FFF2-40B4-BE49-F238E27FC236}">
                  <a16:creationId xmlns:a16="http://schemas.microsoft.com/office/drawing/2014/main" xmlns="" id="{8DA24BCE-545D-EE07-0553-12C404321F37}"/>
                </a:ext>
              </a:extLst>
            </p:cNvPr>
            <p:cNvSpPr>
              <a:spLocks noChangeShapeType="1"/>
            </p:cNvSpPr>
            <p:nvPr/>
          </p:nvSpPr>
          <p:spPr bwMode="auto">
            <a:xfrm>
              <a:off x="2069" y="2730"/>
              <a:ext cx="5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5">
              <a:extLst>
                <a:ext uri="{FF2B5EF4-FFF2-40B4-BE49-F238E27FC236}">
                  <a16:creationId xmlns:a16="http://schemas.microsoft.com/office/drawing/2014/main" xmlns="" id="{CAB9E175-180D-21D6-3401-44C909D40A8D}"/>
                </a:ext>
              </a:extLst>
            </p:cNvPr>
            <p:cNvSpPr>
              <a:spLocks noChangeShapeType="1"/>
            </p:cNvSpPr>
            <p:nvPr/>
          </p:nvSpPr>
          <p:spPr bwMode="auto">
            <a:xfrm>
              <a:off x="2661" y="2489"/>
              <a:ext cx="5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6">
              <a:extLst>
                <a:ext uri="{FF2B5EF4-FFF2-40B4-BE49-F238E27FC236}">
                  <a16:creationId xmlns:a16="http://schemas.microsoft.com/office/drawing/2014/main" xmlns="" id="{F2935681-BEB0-39A6-5057-0443D764E21F}"/>
                </a:ext>
              </a:extLst>
            </p:cNvPr>
            <p:cNvSpPr>
              <a:spLocks noChangeShapeType="1"/>
            </p:cNvSpPr>
            <p:nvPr/>
          </p:nvSpPr>
          <p:spPr bwMode="auto">
            <a:xfrm>
              <a:off x="3253" y="2489"/>
              <a:ext cx="0" cy="8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17">
              <a:extLst>
                <a:ext uri="{FF2B5EF4-FFF2-40B4-BE49-F238E27FC236}">
                  <a16:creationId xmlns:a16="http://schemas.microsoft.com/office/drawing/2014/main" xmlns="" id="{48087572-A89F-5A35-E9C8-8B829D2CDBBC}"/>
                </a:ext>
              </a:extLst>
            </p:cNvPr>
            <p:cNvSpPr txBox="1">
              <a:spLocks noChangeArrowheads="1"/>
            </p:cNvSpPr>
            <p:nvPr/>
          </p:nvSpPr>
          <p:spPr bwMode="auto">
            <a:xfrm>
              <a:off x="2171" y="2971"/>
              <a:ext cx="68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ctr">
                <a:spcBef>
                  <a:spcPct val="0"/>
                </a:spcBef>
                <a:buClrTx/>
                <a:buSzTx/>
                <a:buFont typeface="Arial" panose="020B0604020202020204" pitchFamily="34" charset="0"/>
                <a:buNone/>
              </a:pPr>
              <a:r>
                <a:rPr lang="zh-CN" altLang="en-US" sz="2000">
                  <a:solidFill>
                    <a:srgbClr val="0033CC"/>
                  </a:solidFill>
                  <a:ea typeface="宋体" panose="02010600030101010101" pitchFamily="2" charset="-122"/>
                </a:rPr>
                <a:t>时空效率</a:t>
              </a:r>
            </a:p>
          </p:txBody>
        </p:sp>
        <p:sp>
          <p:nvSpPr>
            <p:cNvPr id="17" name="Line 18">
              <a:extLst>
                <a:ext uri="{FF2B5EF4-FFF2-40B4-BE49-F238E27FC236}">
                  <a16:creationId xmlns:a16="http://schemas.microsoft.com/office/drawing/2014/main" xmlns="" id="{09B86674-B5CD-B8B6-CB0A-D4C94BA573D0}"/>
                </a:ext>
              </a:extLst>
            </p:cNvPr>
            <p:cNvSpPr>
              <a:spLocks noChangeShapeType="1"/>
            </p:cNvSpPr>
            <p:nvPr/>
          </p:nvSpPr>
          <p:spPr bwMode="auto">
            <a:xfrm>
              <a:off x="2069" y="2735"/>
              <a:ext cx="0"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9">
              <a:extLst>
                <a:ext uri="{FF2B5EF4-FFF2-40B4-BE49-F238E27FC236}">
                  <a16:creationId xmlns:a16="http://schemas.microsoft.com/office/drawing/2014/main" xmlns="" id="{8130ACA7-A9EE-7005-249F-DE3C7262A2F3}"/>
                </a:ext>
              </a:extLst>
            </p:cNvPr>
            <p:cNvSpPr>
              <a:spLocks noChangeShapeType="1"/>
            </p:cNvSpPr>
            <p:nvPr/>
          </p:nvSpPr>
          <p:spPr bwMode="auto">
            <a:xfrm>
              <a:off x="2644" y="2503"/>
              <a:ext cx="0" cy="2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Text Box 20">
              <a:extLst>
                <a:ext uri="{FF2B5EF4-FFF2-40B4-BE49-F238E27FC236}">
                  <a16:creationId xmlns:a16="http://schemas.microsoft.com/office/drawing/2014/main" xmlns="" id="{4930E7D3-5039-862E-676E-58DE25163237}"/>
                </a:ext>
              </a:extLst>
            </p:cNvPr>
            <p:cNvSpPr txBox="1">
              <a:spLocks noChangeArrowheads="1"/>
            </p:cNvSpPr>
            <p:nvPr/>
          </p:nvSpPr>
          <p:spPr bwMode="auto">
            <a:xfrm>
              <a:off x="1576" y="3636"/>
              <a:ext cx="231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accent2"/>
                </a:buClr>
                <a:buSzPct val="75000"/>
                <a:buFont typeface="Monotype Sorts" pitchFamily="2" charset="2"/>
                <a:buChar char="l"/>
                <a:defRPr sz="2800" b="1">
                  <a:solidFill>
                    <a:schemeClr val="tx1"/>
                  </a:solidFill>
                  <a:latin typeface="Times New Roman" panose="02020603050405020304" pitchFamily="18" charset="0"/>
                  <a:ea typeface="仿宋_GB2312" pitchFamily="49" charset="-122"/>
                </a:defRPr>
              </a:lvl1pPr>
              <a:lvl2pPr marL="742950" indent="-28575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2pPr>
              <a:lvl3pPr marL="1143000" indent="-228600">
                <a:spcBef>
                  <a:spcPct val="20000"/>
                </a:spcBef>
                <a:buClr>
                  <a:schemeClr val="tx2"/>
                </a:buClr>
                <a:buSzPct val="65000"/>
                <a:buFont typeface="Monotype Sorts" pitchFamily="2" charset="2"/>
                <a:buChar char="l"/>
                <a:defRPr sz="2400" b="1">
                  <a:solidFill>
                    <a:schemeClr val="tx1"/>
                  </a:solidFill>
                  <a:latin typeface="Times New Roman" panose="02020603050405020304" pitchFamily="18" charset="0"/>
                  <a:ea typeface="仿宋_GB2312" pitchFamily="49" charset="-122"/>
                </a:defRPr>
              </a:lvl3pPr>
              <a:lvl4pPr marL="1600200" indent="-228600">
                <a:spcBef>
                  <a:spcPct val="20000"/>
                </a:spcBef>
                <a:buClr>
                  <a:schemeClr val="tx1"/>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4pPr>
              <a:lvl5pPr marL="2057400" indent="-228600">
                <a:spcBef>
                  <a:spcPct val="20000"/>
                </a:spcBef>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lr>
                  <a:schemeClr val="hlink"/>
                </a:buClr>
                <a:buSzPct val="100000"/>
                <a:buFont typeface="Monotype Sorts" pitchFamily="2" charset="2"/>
                <a:buChar char="•"/>
                <a:defRPr sz="2400" b="1">
                  <a:solidFill>
                    <a:schemeClr val="tx1"/>
                  </a:solidFill>
                  <a:latin typeface="Times New Roman" panose="02020603050405020304" pitchFamily="18" charset="0"/>
                  <a:ea typeface="仿宋_GB2312" pitchFamily="49" charset="-122"/>
                </a:defRPr>
              </a:lvl9pPr>
            </a:lstStyle>
            <a:p>
              <a:pPr algn="ctr">
                <a:spcBef>
                  <a:spcPct val="0"/>
                </a:spcBef>
                <a:buClrTx/>
                <a:buSzTx/>
                <a:buFont typeface="Arial" panose="020B0604020202020204" pitchFamily="34" charset="0"/>
                <a:buNone/>
              </a:pPr>
              <a:r>
                <a:rPr lang="zh-CN" altLang="en-US" sz="2000" dirty="0">
                  <a:solidFill>
                    <a:srgbClr val="0033CC"/>
                  </a:solidFill>
                  <a:latin typeface="宋体" panose="02010600030101010101" pitchFamily="2" charset="-122"/>
                  <a:ea typeface="宋体" panose="02010600030101010101" pitchFamily="2" charset="-122"/>
                </a:rPr>
                <a:t>时空分布示意图</a:t>
              </a:r>
              <a:endParaRPr lang="zh-CN" altLang="en-US" sz="2000" dirty="0">
                <a:solidFill>
                  <a:srgbClr val="0033CC"/>
                </a:solidFill>
                <a:ea typeface="宋体" panose="02010600030101010101" pitchFamily="2" charset="-122"/>
              </a:endParaRPr>
            </a:p>
          </p:txBody>
        </p:sp>
        <p:sp>
          <p:nvSpPr>
            <p:cNvPr id="20" name="Line 21">
              <a:extLst>
                <a:ext uri="{FF2B5EF4-FFF2-40B4-BE49-F238E27FC236}">
                  <a16:creationId xmlns:a16="http://schemas.microsoft.com/office/drawing/2014/main" xmlns="" id="{0AC8F54D-9CB8-CD29-B7EE-9260A994EA6A}"/>
                </a:ext>
              </a:extLst>
            </p:cNvPr>
            <p:cNvSpPr>
              <a:spLocks noChangeShapeType="1"/>
            </p:cNvSpPr>
            <p:nvPr/>
          </p:nvSpPr>
          <p:spPr bwMode="auto">
            <a:xfrm rot="5400000">
              <a:off x="1500" y="2663"/>
              <a:ext cx="0" cy="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2">
              <a:extLst>
                <a:ext uri="{FF2B5EF4-FFF2-40B4-BE49-F238E27FC236}">
                  <a16:creationId xmlns:a16="http://schemas.microsoft.com/office/drawing/2014/main" xmlns="" id="{F271401E-44DC-763B-D423-F1B15D76D832}"/>
                </a:ext>
              </a:extLst>
            </p:cNvPr>
            <p:cNvSpPr>
              <a:spLocks noChangeShapeType="1"/>
            </p:cNvSpPr>
            <p:nvPr/>
          </p:nvSpPr>
          <p:spPr bwMode="auto">
            <a:xfrm>
              <a:off x="2651" y="3291"/>
              <a:ext cx="0" cy="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3">
              <a:extLst>
                <a:ext uri="{FF2B5EF4-FFF2-40B4-BE49-F238E27FC236}">
                  <a16:creationId xmlns:a16="http://schemas.microsoft.com/office/drawing/2014/main" xmlns="" id="{3F83AA9D-A68B-0CBC-DA3C-BBDEC44E17AA}"/>
                </a:ext>
              </a:extLst>
            </p:cNvPr>
            <p:cNvSpPr>
              <a:spLocks noChangeShapeType="1"/>
            </p:cNvSpPr>
            <p:nvPr/>
          </p:nvSpPr>
          <p:spPr bwMode="auto">
            <a:xfrm flipV="1">
              <a:off x="1477" y="2127"/>
              <a:ext cx="0" cy="120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4">
              <a:extLst>
                <a:ext uri="{FF2B5EF4-FFF2-40B4-BE49-F238E27FC236}">
                  <a16:creationId xmlns:a16="http://schemas.microsoft.com/office/drawing/2014/main" xmlns="" id="{6590A345-E8C0-E731-B981-B276490A5F0B}"/>
                </a:ext>
              </a:extLst>
            </p:cNvPr>
            <p:cNvSpPr>
              <a:spLocks noChangeShapeType="1"/>
            </p:cNvSpPr>
            <p:nvPr/>
          </p:nvSpPr>
          <p:spPr bwMode="auto">
            <a:xfrm>
              <a:off x="1477" y="3333"/>
              <a:ext cx="276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5">
              <a:extLst>
                <a:ext uri="{FF2B5EF4-FFF2-40B4-BE49-F238E27FC236}">
                  <a16:creationId xmlns:a16="http://schemas.microsoft.com/office/drawing/2014/main" xmlns="" id="{76CC508C-2D18-EFFB-993D-E23E142FC5FB}"/>
                </a:ext>
              </a:extLst>
            </p:cNvPr>
            <p:cNvSpPr>
              <a:spLocks noChangeShapeType="1"/>
            </p:cNvSpPr>
            <p:nvPr/>
          </p:nvSpPr>
          <p:spPr bwMode="auto">
            <a:xfrm rot="5400000">
              <a:off x="1500" y="2424"/>
              <a:ext cx="0" cy="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6">
              <a:extLst>
                <a:ext uri="{FF2B5EF4-FFF2-40B4-BE49-F238E27FC236}">
                  <a16:creationId xmlns:a16="http://schemas.microsoft.com/office/drawing/2014/main" xmlns="" id="{7596C1B5-9A3F-500A-92B6-5392773DEF68}"/>
                </a:ext>
              </a:extLst>
            </p:cNvPr>
            <p:cNvSpPr>
              <a:spLocks noChangeShapeType="1"/>
            </p:cNvSpPr>
            <p:nvPr/>
          </p:nvSpPr>
          <p:spPr bwMode="auto">
            <a:xfrm>
              <a:off x="2059" y="3291"/>
              <a:ext cx="0" cy="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7818592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xmlns="" id="{E202A9FF-248F-4984-A4BE-54C06CDBE564}"/>
              </a:ext>
            </a:extLst>
          </p:cNvPr>
          <p:cNvSpPr>
            <a:spLocks noGrp="1"/>
          </p:cNvSpPr>
          <p:nvPr>
            <p:ph type="sldNum" sz="quarter" idx="12"/>
          </p:nvPr>
        </p:nvSpPr>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EC35180A-E755-4A0B-A674-FE297F1D1CF0}" type="slidenum">
              <a:rPr lang="en-US" altLang="zh-CN"/>
              <a:pPr eaLnBrk="1" hangingPunct="1"/>
              <a:t>27</a:t>
            </a:fld>
            <a:endParaRPr lang="en-US" altLang="zh-CN"/>
          </a:p>
        </p:txBody>
      </p:sp>
      <p:sp>
        <p:nvSpPr>
          <p:cNvPr id="272387" name="Rectangle 3">
            <a:extLst>
              <a:ext uri="{FF2B5EF4-FFF2-40B4-BE49-F238E27FC236}">
                <a16:creationId xmlns:a16="http://schemas.microsoft.com/office/drawing/2014/main" xmlns="" id="{1762A644-CFD2-498F-BF64-44D6E4F360A4}"/>
              </a:ext>
            </a:extLst>
          </p:cNvPr>
          <p:cNvSpPr>
            <a:spLocks noGrp="1" noChangeArrowheads="1"/>
          </p:cNvSpPr>
          <p:nvPr>
            <p:ph type="body" idx="1"/>
          </p:nvPr>
        </p:nvSpPr>
        <p:spPr>
          <a:xfrm>
            <a:off x="1055440" y="1556792"/>
            <a:ext cx="10298360" cy="4645025"/>
          </a:xfrm>
        </p:spPr>
        <p:txBody>
          <a:bodyPr>
            <a:normAutofit lnSpcReduction="10000"/>
          </a:bodyPr>
          <a:lstStyle/>
          <a:p>
            <a:pPr eaLnBrk="1" hangingPunct="1">
              <a:lnSpc>
                <a:spcPct val="150000"/>
              </a:lnSpc>
              <a:defRPr/>
            </a:pPr>
            <a:r>
              <a:rPr lang="zh-CN" altLang="en-US" dirty="0">
                <a:latin typeface="Times New Roman" panose="02020603050405020304" pitchFamily="18" charset="0"/>
                <a:cs typeface="Times New Roman" panose="02020603050405020304" pitchFamily="18" charset="0"/>
              </a:rPr>
              <a:t>假设针对同一问题，设计了三个算法，其基本操作的运行次数分别为：</a:t>
            </a:r>
            <a:endParaRPr lang="en-US" altLang="zh-CN" dirty="0">
              <a:latin typeface="Times New Roman" panose="02020603050405020304" pitchFamily="18" charset="0"/>
              <a:cs typeface="Times New Roman" panose="02020603050405020304" pitchFamily="18" charset="0"/>
            </a:endParaRPr>
          </a:p>
          <a:p>
            <a:pPr eaLnBrk="1" hangingPunct="1">
              <a:lnSpc>
                <a:spcPct val="150000"/>
              </a:lnSpc>
              <a:buNone/>
              <a:defRPr/>
            </a:pPr>
            <a:r>
              <a:rPr lang="en-US" altLang="zh-CN" dirty="0">
                <a:latin typeface="Times New Roman" panose="02020603050405020304" pitchFamily="18" charset="0"/>
                <a:cs typeface="Times New Roman" panose="02020603050405020304" pitchFamily="18" charset="0"/>
              </a:rPr>
              <a:t>                    n,   n</a:t>
            </a:r>
            <a:r>
              <a:rPr lang="en-US" altLang="zh-CN" baseline="30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n</a:t>
            </a:r>
            <a:r>
              <a:rPr lang="en-US" altLang="zh-CN" baseline="30000" dirty="0">
                <a:latin typeface="Times New Roman" panose="02020603050405020304" pitchFamily="18" charset="0"/>
                <a:cs typeface="Times New Roman" panose="02020603050405020304" pitchFamily="18" charset="0"/>
              </a:rPr>
              <a:t>3</a:t>
            </a:r>
            <a:endParaRPr lang="en-US" altLang="zh-CN" dirty="0">
              <a:latin typeface="Times New Roman" panose="02020603050405020304" pitchFamily="18" charset="0"/>
              <a:cs typeface="Times New Roman" panose="02020603050405020304" pitchFamily="18" charset="0"/>
            </a:endParaRPr>
          </a:p>
          <a:p>
            <a:pPr marL="0" indent="0">
              <a:lnSpc>
                <a:spcPct val="150000"/>
              </a:lnSpc>
              <a:buNone/>
              <a:defRPr/>
            </a:pPr>
            <a:r>
              <a:rPr lang="zh-CN" altLang="en-US" dirty="0">
                <a:latin typeface="Times New Roman" panose="02020603050405020304" pitchFamily="18" charset="0"/>
                <a:cs typeface="Times New Roman" panose="02020603050405020304" pitchFamily="18" charset="0"/>
              </a:rPr>
              <a:t>  哪个算法好？哪个算法运行得快？</a:t>
            </a:r>
            <a:endParaRPr lang="en-US" altLang="zh-CN" dirty="0">
              <a:latin typeface="Times New Roman" panose="02020603050405020304" pitchFamily="18" charset="0"/>
              <a:cs typeface="Times New Roman" panose="02020603050405020304" pitchFamily="18" charset="0"/>
            </a:endParaRPr>
          </a:p>
          <a:p>
            <a:pPr eaLnBrk="1" hangingPunct="1">
              <a:lnSpc>
                <a:spcPct val="150000"/>
              </a:lnSpc>
              <a:defRPr/>
            </a:pPr>
            <a:r>
              <a:rPr lang="zh-CN" altLang="en-US" dirty="0">
                <a:solidFill>
                  <a:srgbClr val="C00000"/>
                </a:solidFill>
                <a:latin typeface="Times New Roman" panose="02020603050405020304" pitchFamily="18" charset="0"/>
                <a:cs typeface="Times New Roman" panose="02020603050405020304" pitchFamily="18" charset="0"/>
              </a:rPr>
              <a:t>如果</a:t>
            </a:r>
            <a:r>
              <a:rPr lang="en-US" altLang="zh-CN" i="1" dirty="0">
                <a:solidFill>
                  <a:srgbClr val="C00000"/>
                </a:solidFill>
                <a:latin typeface="Times New Roman" panose="02020603050405020304" pitchFamily="18" charset="0"/>
                <a:cs typeface="Times New Roman" panose="02020603050405020304" pitchFamily="18" charset="0"/>
              </a:rPr>
              <a:t>n</a:t>
            </a:r>
            <a:r>
              <a:rPr lang="zh-CN" altLang="en-US" dirty="0">
                <a:solidFill>
                  <a:srgbClr val="C00000"/>
                </a:solidFill>
                <a:latin typeface="Times New Roman" panose="02020603050405020304" pitchFamily="18" charset="0"/>
                <a:cs typeface="Times New Roman" panose="02020603050405020304" pitchFamily="18" charset="0"/>
              </a:rPr>
              <a:t>比较小时，三者的区别并不特别大。但当</a:t>
            </a:r>
            <a:r>
              <a:rPr lang="en-US" altLang="zh-CN" dirty="0">
                <a:solidFill>
                  <a:srgbClr val="C00000"/>
                </a:solidFill>
                <a:latin typeface="Times New Roman" panose="02020603050405020304" pitchFamily="18" charset="0"/>
                <a:cs typeface="Times New Roman" panose="02020603050405020304" pitchFamily="18" charset="0"/>
              </a:rPr>
              <a:t>n</a:t>
            </a:r>
            <a:r>
              <a:rPr lang="zh-CN" altLang="en-US" dirty="0">
                <a:solidFill>
                  <a:srgbClr val="C00000"/>
                </a:solidFill>
                <a:latin typeface="Times New Roman" panose="02020603050405020304" pitchFamily="18" charset="0"/>
                <a:cs typeface="Times New Roman" panose="02020603050405020304" pitchFamily="18" charset="0"/>
              </a:rPr>
              <a:t>比较大时，三者的区别将非常大！因此，我们关注</a:t>
            </a:r>
            <a:r>
              <a:rPr lang="en-US" altLang="zh-CN" dirty="0">
                <a:solidFill>
                  <a:srgbClr val="C00000"/>
                </a:solidFill>
                <a:latin typeface="Times New Roman" panose="02020603050405020304" pitchFamily="18" charset="0"/>
                <a:cs typeface="Times New Roman" panose="02020603050405020304" pitchFamily="18" charset="0"/>
              </a:rPr>
              <a:t>——</a:t>
            </a:r>
            <a:r>
              <a:rPr lang="zh-CN" altLang="en-US" dirty="0">
                <a:solidFill>
                  <a:srgbClr val="C00000"/>
                </a:solidFill>
                <a:latin typeface="Times New Roman" panose="02020603050405020304" pitchFamily="18" charset="0"/>
                <a:cs typeface="Times New Roman" panose="02020603050405020304" pitchFamily="18" charset="0"/>
              </a:rPr>
              <a:t>随</a:t>
            </a:r>
            <a:r>
              <a:rPr lang="en-US" altLang="zh-CN" dirty="0">
                <a:solidFill>
                  <a:srgbClr val="C00000"/>
                </a:solidFill>
                <a:latin typeface="Times New Roman" panose="02020603050405020304" pitchFamily="18" charset="0"/>
                <a:cs typeface="Times New Roman" panose="02020603050405020304" pitchFamily="18" charset="0"/>
              </a:rPr>
              <a:t>n</a:t>
            </a:r>
            <a:r>
              <a:rPr lang="zh-CN" altLang="en-US" dirty="0">
                <a:solidFill>
                  <a:srgbClr val="C00000"/>
                </a:solidFill>
                <a:latin typeface="Times New Roman" panose="02020603050405020304" pitchFamily="18" charset="0"/>
                <a:cs typeface="Times New Roman" panose="02020603050405020304" pitchFamily="18" charset="0"/>
              </a:rPr>
              <a:t>的变化，操作次数的</a:t>
            </a:r>
            <a:r>
              <a:rPr lang="zh-CN" altLang="en-US" dirty="0">
                <a:solidFill>
                  <a:srgbClr val="C00000"/>
                </a:solidFill>
                <a:highlight>
                  <a:srgbClr val="FFFF00"/>
                </a:highlight>
                <a:latin typeface="Times New Roman" panose="02020603050405020304" pitchFamily="18" charset="0"/>
                <a:cs typeface="Times New Roman" panose="02020603050405020304" pitchFamily="18" charset="0"/>
              </a:rPr>
              <a:t>变化趋势</a:t>
            </a:r>
            <a:r>
              <a:rPr lang="zh-CN" altLang="en-US" dirty="0">
                <a:solidFill>
                  <a:srgbClr val="C00000"/>
                </a:solidFill>
                <a:latin typeface="Times New Roman" panose="02020603050405020304" pitchFamily="18" charset="0"/>
                <a:cs typeface="Times New Roman" panose="02020603050405020304" pitchFamily="18" charset="0"/>
              </a:rPr>
              <a:t>。</a:t>
            </a:r>
          </a:p>
        </p:txBody>
      </p:sp>
      <p:sp>
        <p:nvSpPr>
          <p:cNvPr id="432130" name="Rectangle 2">
            <a:extLst>
              <a:ext uri="{FF2B5EF4-FFF2-40B4-BE49-F238E27FC236}">
                <a16:creationId xmlns:a16="http://schemas.microsoft.com/office/drawing/2014/main" xmlns="" id="{8379A933-6777-4010-A7E9-D29736FB88C3}"/>
              </a:ext>
            </a:extLst>
          </p:cNvPr>
          <p:cNvSpPr txBox="1">
            <a:spLocks noChangeArrowheads="1"/>
          </p:cNvSpPr>
          <p:nvPr/>
        </p:nvSpPr>
        <p:spPr>
          <a:xfrm>
            <a:off x="623392" y="516596"/>
            <a:ext cx="82296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1E5293"/>
                </a:solidFill>
                <a:latin typeface="Arial" panose="020B0604020202020204" pitchFamily="34" charset="0"/>
                <a:ea typeface="幼圆" panose="02010509060101010101" pitchFamily="49" charset="-122"/>
                <a:cs typeface="Arial" panose="020B0604020202020204" pitchFamily="34" charset="0"/>
              </a:defRPr>
            </a:lvl1pPr>
          </a:lstStyle>
          <a:p>
            <a:pPr>
              <a:defRPr/>
            </a:pPr>
            <a:r>
              <a:rPr kumimoji="1" lang="en-US" altLang="zh-CN" dirty="0">
                <a:solidFill>
                  <a:schemeClr val="tx2"/>
                </a:solidFill>
              </a:rPr>
              <a:t>2)</a:t>
            </a:r>
            <a:r>
              <a:rPr kumimoji="1" lang="zh-CN" altLang="en-US" dirty="0">
                <a:solidFill>
                  <a:schemeClr val="tx2"/>
                </a:solidFill>
              </a:rPr>
              <a:t> 时间复杂度的渐进表示</a:t>
            </a:r>
          </a:p>
        </p:txBody>
      </p:sp>
    </p:spTree>
    <p:extLst>
      <p:ext uri="{BB962C8B-B14F-4D97-AF65-F5344CB8AC3E}">
        <p14:creationId xmlns:p14="http://schemas.microsoft.com/office/powerpoint/2010/main" val="3081893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72387">
                                            <p:txEl>
                                              <p:pRg st="3" end="3"/>
                                            </p:txEl>
                                          </p:spTgt>
                                        </p:tgtEl>
                                        <p:attrNameLst>
                                          <p:attrName>style.visibility</p:attrName>
                                        </p:attrNameLst>
                                      </p:cBhvr>
                                      <p:to>
                                        <p:strVal val="visible"/>
                                      </p:to>
                                    </p:set>
                                    <p:animEffect transition="in" filter="wipe(down)">
                                      <p:cBhvr>
                                        <p:cTn id="7" dur="500"/>
                                        <p:tgtEl>
                                          <p:spTgt spid="272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xmlns="" id="{3639A049-73DC-4B1A-BC44-CFB76D9CCE7B}"/>
              </a:ext>
            </a:extLst>
          </p:cNvPr>
          <p:cNvSpPr>
            <a:spLocks noGrp="1"/>
          </p:cNvSpPr>
          <p:nvPr>
            <p:ph type="sldNum" sz="quarter" idx="12"/>
          </p:nvPr>
        </p:nvSpPr>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BD335BD-BECC-4DA5-BBE3-CFBB2C186A27}" type="slidenum">
              <a:rPr lang="en-US" altLang="zh-CN"/>
              <a:pPr eaLnBrk="1" hangingPunct="1"/>
              <a:t>28</a:t>
            </a:fld>
            <a:endParaRPr lang="en-US" altLang="zh-CN"/>
          </a:p>
        </p:txBody>
      </p:sp>
      <p:sp>
        <p:nvSpPr>
          <p:cNvPr id="6" name="内容占位符 2">
            <a:extLst>
              <a:ext uri="{FF2B5EF4-FFF2-40B4-BE49-F238E27FC236}">
                <a16:creationId xmlns:a16="http://schemas.microsoft.com/office/drawing/2014/main" xmlns="" id="{E0F4F8D9-9906-4B23-B92B-62896A27031A}"/>
              </a:ext>
            </a:extLst>
          </p:cNvPr>
          <p:cNvSpPr txBox="1">
            <a:spLocks/>
          </p:cNvSpPr>
          <p:nvPr/>
        </p:nvSpPr>
        <p:spPr bwMode="auto">
          <a:xfrm>
            <a:off x="551384" y="823169"/>
            <a:ext cx="10585176" cy="1117389"/>
          </a:xfrm>
          <a:prstGeom prst="rect">
            <a:avLst/>
          </a:prstGeom>
          <a:noFill/>
          <a:ln w="9525">
            <a:noFill/>
            <a:miter lim="800000"/>
            <a:headEnd/>
            <a:tailEnd/>
          </a:ln>
          <a:effectLst/>
        </p:spPr>
        <p:txBody>
          <a:bodyPr/>
          <a:lstStyle/>
          <a:p>
            <a:pPr algn="l" eaLnBrk="0" hangingPunct="0">
              <a:lnSpc>
                <a:spcPct val="150000"/>
              </a:lnSpc>
              <a:spcBef>
                <a:spcPct val="50000"/>
              </a:spcBef>
              <a:buClr>
                <a:schemeClr val="hlink"/>
              </a:buClr>
              <a:buSzPct val="70000"/>
              <a:defRPr/>
            </a:pPr>
            <a:r>
              <a:rPr lang="zh-CN" altLang="en-US" sz="2800" kern="0" dirty="0">
                <a:latin typeface="Times New Roman" panose="02020603050405020304" pitchFamily="18" charset="0"/>
                <a:ea typeface="幼圆" panose="02010509060101010101" pitchFamily="49" charset="-122"/>
                <a:cs typeface="Times New Roman" panose="02020603050405020304" pitchFamily="18" charset="0"/>
              </a:rPr>
              <a:t>随</a:t>
            </a:r>
            <a:r>
              <a:rPr lang="en-US" altLang="zh-CN" sz="2800" i="1" kern="0" dirty="0">
                <a:latin typeface="Times New Roman" panose="02020603050405020304" pitchFamily="18" charset="0"/>
                <a:ea typeface="幼圆" panose="02010509060101010101" pitchFamily="49" charset="-122"/>
                <a:cs typeface="Times New Roman" panose="02020603050405020304" pitchFamily="18" charset="0"/>
              </a:rPr>
              <a:t>n</a:t>
            </a:r>
            <a:r>
              <a:rPr lang="zh-CN" altLang="en-US" sz="2800" kern="0" dirty="0">
                <a:latin typeface="Times New Roman" panose="02020603050405020304" pitchFamily="18" charset="0"/>
                <a:ea typeface="幼圆" panose="02010509060101010101" pitchFamily="49" charset="-122"/>
                <a:cs typeface="Times New Roman" panose="02020603050405020304" pitchFamily="18" charset="0"/>
              </a:rPr>
              <a:t>增长，下列函数中增长最慢的是哪个？增长最快的呢？</a:t>
            </a:r>
            <a:endParaRPr lang="en-US" altLang="zh-CN" sz="2800" kern="0" dirty="0">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xmlns="" id="{63D84754-EAF0-4998-AE5B-FACE62312F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440" y="2163465"/>
            <a:ext cx="8353424" cy="3871366"/>
          </a:xfrm>
          <a:prstGeom prst="rect">
            <a:avLst/>
          </a:prstGeom>
        </p:spPr>
      </p:pic>
    </p:spTree>
    <p:extLst>
      <p:ext uri="{BB962C8B-B14F-4D97-AF65-F5344CB8AC3E}">
        <p14:creationId xmlns:p14="http://schemas.microsoft.com/office/powerpoint/2010/main" val="146023448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E5EB7477-4CBC-4288-9683-DA7CF2C2474C}"/>
              </a:ext>
            </a:extLst>
          </p:cNvPr>
          <p:cNvSpPr>
            <a:spLocks noGrp="1"/>
          </p:cNvSpPr>
          <p:nvPr>
            <p:ph idx="1"/>
          </p:nvPr>
        </p:nvSpPr>
        <p:spPr>
          <a:xfrm>
            <a:off x="473696" y="305835"/>
            <a:ext cx="10374832" cy="1530779"/>
          </a:xfrm>
        </p:spPr>
        <p:txBody>
          <a:bodyPr>
            <a:noAutofit/>
          </a:bodyPr>
          <a:lstStyle/>
          <a:p>
            <a:pPr>
              <a:lnSpc>
                <a:spcPct val="150000"/>
              </a:lnSpc>
              <a:defRPr/>
            </a:pPr>
            <a:r>
              <a:rPr lang="zh-CN" altLang="en-US" sz="2600" dirty="0">
                <a:solidFill>
                  <a:srgbClr val="C00000"/>
                </a:solidFill>
              </a:rPr>
              <a:t>对数函数</a:t>
            </a:r>
            <a:r>
              <a:rPr lang="zh-CN" altLang="en-US" sz="2600" dirty="0"/>
              <a:t>的增长如此之慢，几乎可以认为，如果一个算法，具有对数级的基本操作次数，该程序对任何实际规模的输入几乎都会在瞬间完成。</a:t>
            </a:r>
          </a:p>
        </p:txBody>
      </p:sp>
      <p:sp>
        <p:nvSpPr>
          <p:cNvPr id="4" name="灯片编号占位符 3">
            <a:extLst>
              <a:ext uri="{FF2B5EF4-FFF2-40B4-BE49-F238E27FC236}">
                <a16:creationId xmlns:a16="http://schemas.microsoft.com/office/drawing/2014/main" xmlns="" id="{5ADFE2EF-98CF-4635-821E-86855070AABB}"/>
              </a:ext>
            </a:extLst>
          </p:cNvPr>
          <p:cNvSpPr>
            <a:spLocks noGrp="1"/>
          </p:cNvSpPr>
          <p:nvPr>
            <p:ph type="sldNum" sz="quarter" idx="12"/>
          </p:nvPr>
        </p:nvSpPr>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73E2B74D-E0FF-476F-B9DA-8470ED7A1B0D}" type="slidenum">
              <a:rPr lang="en-US" altLang="zh-CN"/>
              <a:pPr eaLnBrk="1" hangingPunct="1"/>
              <a:t>29</a:t>
            </a:fld>
            <a:endParaRPr lang="en-US" altLang="zh-CN"/>
          </a:p>
        </p:txBody>
      </p:sp>
      <p:pic>
        <p:nvPicPr>
          <p:cNvPr id="5" name="图片 4">
            <a:extLst>
              <a:ext uri="{FF2B5EF4-FFF2-40B4-BE49-F238E27FC236}">
                <a16:creationId xmlns:a16="http://schemas.microsoft.com/office/drawing/2014/main" xmlns="" id="{6B21D18C-1B1C-4C8A-95D3-4D3A29CBD2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0712" y="2319375"/>
            <a:ext cx="1750715" cy="3900325"/>
          </a:xfrm>
          <a:prstGeom prst="rect">
            <a:avLst/>
          </a:prstGeom>
        </p:spPr>
      </p:pic>
      <p:pic>
        <p:nvPicPr>
          <p:cNvPr id="6" name="内容占位符 4" descr="20190404192343144[1].png">
            <a:extLst>
              <a:ext uri="{FF2B5EF4-FFF2-40B4-BE49-F238E27FC236}">
                <a16:creationId xmlns:a16="http://schemas.microsoft.com/office/drawing/2014/main" xmlns="" id="{0F91F46C-CD84-4A53-85D3-F43D77DBB9BE}"/>
              </a:ext>
            </a:extLst>
          </p:cNvPr>
          <p:cNvPicPr>
            <a:picLocks noChangeAspect="1"/>
          </p:cNvPicPr>
          <p:nvPr/>
        </p:nvPicPr>
        <p:blipFill>
          <a:blip r:embed="rId3"/>
          <a:stretch>
            <a:fillRect/>
          </a:stretch>
        </p:blipFill>
        <p:spPr>
          <a:xfrm>
            <a:off x="4655840" y="2028783"/>
            <a:ext cx="4968552" cy="4239042"/>
          </a:xfrm>
          <a:prstGeom prst="rect">
            <a:avLst/>
          </a:prstGeom>
        </p:spPr>
      </p:pic>
    </p:spTree>
    <p:extLst>
      <p:ext uri="{BB962C8B-B14F-4D97-AF65-F5344CB8AC3E}">
        <p14:creationId xmlns:p14="http://schemas.microsoft.com/office/powerpoint/2010/main" val="6268022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xmlns="" id="{D00C0DDE-DD04-419B-9B4E-B4C93DCC585D}"/>
              </a:ext>
            </a:extLst>
          </p:cNvPr>
          <p:cNvSpPr>
            <a:spLocks noGrp="1"/>
          </p:cNvSpPr>
          <p:nvPr>
            <p:ph type="sldNum" sz="quarter" idx="12"/>
          </p:nvPr>
        </p:nvSpPr>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C511E2B8-0A8F-4950-8C94-AA08ADD3309E}" type="slidenum">
              <a:rPr lang="en-US" altLang="zh-CN"/>
              <a:pPr eaLnBrk="1" hangingPunct="1"/>
              <a:t>30</a:t>
            </a:fld>
            <a:endParaRPr lang="en-US" altLang="zh-CN"/>
          </a:p>
        </p:txBody>
      </p:sp>
      <p:graphicFrame>
        <p:nvGraphicFramePr>
          <p:cNvPr id="5" name="内容占位符 4">
            <a:extLst>
              <a:ext uri="{FF2B5EF4-FFF2-40B4-BE49-F238E27FC236}">
                <a16:creationId xmlns:a16="http://schemas.microsoft.com/office/drawing/2014/main" xmlns="" id="{85F88F07-8CE8-4948-B073-FE0AE6CBE08A}"/>
              </a:ext>
            </a:extLst>
          </p:cNvPr>
          <p:cNvGraphicFramePr>
            <a:graphicFrameLocks noGrp="1"/>
          </p:cNvGraphicFramePr>
          <p:nvPr>
            <p:ph idx="1"/>
          </p:nvPr>
        </p:nvGraphicFramePr>
        <p:xfrm>
          <a:off x="2674938" y="296863"/>
          <a:ext cx="6048376" cy="2052636"/>
        </p:xfrm>
        <a:graphic>
          <a:graphicData uri="http://schemas.openxmlformats.org/drawingml/2006/table">
            <a:tbl>
              <a:tblPr firstRow="1" bandRow="1">
                <a:tableStyleId>{5C22544A-7EE6-4342-B048-85BDC9FD1C3A}</a:tableStyleId>
              </a:tblPr>
              <a:tblGrid>
                <a:gridCol w="1120070">
                  <a:extLst>
                    <a:ext uri="{9D8B030D-6E8A-4147-A177-3AD203B41FA5}">
                      <a16:colId xmlns:a16="http://schemas.microsoft.com/office/drawing/2014/main" xmlns="" val="20000"/>
                    </a:ext>
                  </a:extLst>
                </a:gridCol>
                <a:gridCol w="2464153">
                  <a:extLst>
                    <a:ext uri="{9D8B030D-6E8A-4147-A177-3AD203B41FA5}">
                      <a16:colId xmlns:a16="http://schemas.microsoft.com/office/drawing/2014/main" xmlns="" val="20001"/>
                    </a:ext>
                  </a:extLst>
                </a:gridCol>
                <a:gridCol w="2464153">
                  <a:extLst>
                    <a:ext uri="{9D8B030D-6E8A-4147-A177-3AD203B41FA5}">
                      <a16:colId xmlns:a16="http://schemas.microsoft.com/office/drawing/2014/main" xmlns="" val="20002"/>
                    </a:ext>
                  </a:extLst>
                </a:gridCol>
              </a:tblGrid>
              <a:tr h="684212">
                <a:tc>
                  <a:txBody>
                    <a:bodyPr/>
                    <a:lstStyle/>
                    <a:p>
                      <a:pPr algn="ctr"/>
                      <a:r>
                        <a:rPr lang="en-US" altLang="zh-CN" sz="2800" b="1" dirty="0">
                          <a:solidFill>
                            <a:schemeClr val="bg2"/>
                          </a:solidFill>
                        </a:rPr>
                        <a:t>n</a:t>
                      </a:r>
                      <a:endParaRPr lang="zh-CN" altLang="en-US" sz="2800" b="1" dirty="0">
                        <a:solidFill>
                          <a:schemeClr val="bg2"/>
                        </a:solidFill>
                      </a:endParaRPr>
                    </a:p>
                  </a:txBody>
                  <a:tcPr marL="91435" marR="91435" marT="45729" marB="45729">
                    <a:solidFill>
                      <a:srgbClr val="92D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800" b="1" baseline="0" dirty="0">
                          <a:solidFill>
                            <a:schemeClr val="bg2"/>
                          </a:solidFill>
                        </a:rPr>
                        <a:t>2</a:t>
                      </a:r>
                      <a:r>
                        <a:rPr lang="en-US" altLang="zh-CN" sz="2800" b="1" baseline="30000" dirty="0">
                          <a:solidFill>
                            <a:schemeClr val="bg2"/>
                          </a:solidFill>
                        </a:rPr>
                        <a:t>n</a:t>
                      </a:r>
                      <a:endParaRPr lang="zh-CN" altLang="en-US" sz="2800" b="1" dirty="0">
                        <a:solidFill>
                          <a:schemeClr val="bg2"/>
                        </a:solidFill>
                      </a:endParaRPr>
                    </a:p>
                  </a:txBody>
                  <a:tcPr marL="91435" marR="91435" marT="45729" marB="45729">
                    <a:solidFill>
                      <a:srgbClr val="92D050"/>
                    </a:solidFill>
                  </a:tcPr>
                </a:tc>
                <a:tc>
                  <a:txBody>
                    <a:bodyPr/>
                    <a:lstStyle/>
                    <a:p>
                      <a:pPr algn="ctr"/>
                      <a:r>
                        <a:rPr lang="en-US" altLang="zh-CN" sz="2800" b="1" dirty="0">
                          <a:solidFill>
                            <a:schemeClr val="bg2"/>
                          </a:solidFill>
                        </a:rPr>
                        <a:t>n!</a:t>
                      </a:r>
                      <a:endParaRPr lang="zh-CN" altLang="en-US" sz="2800" b="1" dirty="0">
                        <a:solidFill>
                          <a:schemeClr val="bg2"/>
                        </a:solidFill>
                      </a:endParaRPr>
                    </a:p>
                  </a:txBody>
                  <a:tcPr marL="91435" marR="91435" marT="45729" marB="45729">
                    <a:solidFill>
                      <a:srgbClr val="92D050"/>
                    </a:solidFill>
                  </a:tcPr>
                </a:tc>
                <a:extLst>
                  <a:ext uri="{0D108BD9-81ED-4DB2-BD59-A6C34878D82A}">
                    <a16:rowId xmlns:a16="http://schemas.microsoft.com/office/drawing/2014/main" xmlns="" val="10000"/>
                  </a:ext>
                </a:extLst>
              </a:tr>
              <a:tr h="684212">
                <a:tc>
                  <a:txBody>
                    <a:bodyPr/>
                    <a:lstStyle/>
                    <a:p>
                      <a:pPr algn="ctr"/>
                      <a:r>
                        <a:rPr lang="en-US" altLang="zh-CN" sz="2800" b="1" dirty="0"/>
                        <a:t>10</a:t>
                      </a:r>
                      <a:endParaRPr lang="zh-CN" altLang="en-US" sz="2800" b="1" dirty="0"/>
                    </a:p>
                  </a:txBody>
                  <a:tcPr marL="91435" marR="91435" marT="45729" marB="45729">
                    <a:solidFill>
                      <a:srgbClr val="92D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800" b="1" baseline="0" dirty="0">
                          <a:solidFill>
                            <a:schemeClr val="bg2"/>
                          </a:solidFill>
                        </a:rPr>
                        <a:t>2</a:t>
                      </a:r>
                      <a:r>
                        <a:rPr lang="en-US" altLang="zh-CN" sz="2800" b="1" baseline="30000" dirty="0">
                          <a:solidFill>
                            <a:schemeClr val="bg2"/>
                          </a:solidFill>
                        </a:rPr>
                        <a:t>10</a:t>
                      </a:r>
                      <a:endParaRPr lang="zh-CN" altLang="en-US" sz="2800" b="1" dirty="0"/>
                    </a:p>
                  </a:txBody>
                  <a:tcPr marL="91432" marR="91432" marT="45718" marB="45718">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a:t>≈3.6*10</a:t>
                      </a:r>
                      <a:r>
                        <a:rPr lang="en-US" altLang="zh-CN" sz="2800" b="1" baseline="30000" dirty="0"/>
                        <a:t>6</a:t>
                      </a:r>
                      <a:endParaRPr lang="zh-CN" altLang="en-US" sz="2800" b="1" dirty="0"/>
                    </a:p>
                  </a:txBody>
                  <a:tcPr marL="91435" marR="91435" marT="45729" marB="45729">
                    <a:solidFill>
                      <a:srgbClr val="92D050"/>
                    </a:solidFill>
                  </a:tcPr>
                </a:tc>
                <a:extLst>
                  <a:ext uri="{0D108BD9-81ED-4DB2-BD59-A6C34878D82A}">
                    <a16:rowId xmlns:a16="http://schemas.microsoft.com/office/drawing/2014/main" xmlns="" val="10001"/>
                  </a:ext>
                </a:extLst>
              </a:tr>
              <a:tr h="684212">
                <a:tc>
                  <a:txBody>
                    <a:bodyPr/>
                    <a:lstStyle/>
                    <a:p>
                      <a:pPr algn="ctr"/>
                      <a:r>
                        <a:rPr lang="en-US" altLang="zh-CN" sz="2800" b="1" dirty="0"/>
                        <a:t>10</a:t>
                      </a:r>
                      <a:r>
                        <a:rPr lang="en-US" altLang="zh-CN" sz="2800" b="1" baseline="30000" dirty="0"/>
                        <a:t>2</a:t>
                      </a:r>
                      <a:endParaRPr lang="zh-CN" altLang="en-US" sz="2800" b="1" dirty="0"/>
                    </a:p>
                  </a:txBody>
                  <a:tcPr marL="91435" marR="91435" marT="45729" marB="45729">
                    <a:solidFill>
                      <a:srgbClr val="92D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800" b="1" baseline="0" dirty="0">
                          <a:solidFill>
                            <a:schemeClr val="bg2"/>
                          </a:solidFill>
                        </a:rPr>
                        <a:t>2</a:t>
                      </a:r>
                      <a:r>
                        <a:rPr lang="en-US" altLang="zh-CN" sz="2800" b="1" baseline="30000" dirty="0">
                          <a:solidFill>
                            <a:schemeClr val="bg2"/>
                          </a:solidFill>
                        </a:rPr>
                        <a:t>100</a:t>
                      </a:r>
                      <a:endParaRPr lang="zh-CN" altLang="en-US" sz="2800" b="1" dirty="0"/>
                    </a:p>
                  </a:txBody>
                  <a:tcPr marL="91432" marR="91432" marT="45718" marB="45718">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a:t>≈9.3*10</a:t>
                      </a:r>
                      <a:r>
                        <a:rPr lang="en-US" altLang="zh-CN" sz="2800" b="1" baseline="30000" dirty="0"/>
                        <a:t>157</a:t>
                      </a:r>
                      <a:endParaRPr lang="zh-CN" altLang="en-US" sz="2800" dirty="0"/>
                    </a:p>
                  </a:txBody>
                  <a:tcPr marL="91435" marR="91435" marT="45729" marB="45729">
                    <a:solidFill>
                      <a:srgbClr val="92D050"/>
                    </a:solidFill>
                  </a:tcPr>
                </a:tc>
                <a:extLst>
                  <a:ext uri="{0D108BD9-81ED-4DB2-BD59-A6C34878D82A}">
                    <a16:rowId xmlns:a16="http://schemas.microsoft.com/office/drawing/2014/main" xmlns="" val="10002"/>
                  </a:ext>
                </a:extLst>
              </a:tr>
            </a:tbl>
          </a:graphicData>
        </a:graphic>
      </p:graphicFrame>
      <p:sp>
        <p:nvSpPr>
          <p:cNvPr id="6" name="内容占位符 2">
            <a:extLst>
              <a:ext uri="{FF2B5EF4-FFF2-40B4-BE49-F238E27FC236}">
                <a16:creationId xmlns:a16="http://schemas.microsoft.com/office/drawing/2014/main" xmlns="" id="{2F511F60-2909-4A09-9371-C1590665D32F}"/>
              </a:ext>
            </a:extLst>
          </p:cNvPr>
          <p:cNvSpPr txBox="1">
            <a:spLocks/>
          </p:cNvSpPr>
          <p:nvPr/>
        </p:nvSpPr>
        <p:spPr bwMode="auto">
          <a:xfrm>
            <a:off x="335360" y="2760662"/>
            <a:ext cx="11377264" cy="3960813"/>
          </a:xfrm>
          <a:prstGeom prst="rect">
            <a:avLst/>
          </a:prstGeom>
          <a:noFill/>
          <a:ln w="9525">
            <a:noFill/>
            <a:miter lim="800000"/>
            <a:headEnd/>
            <a:tailEnd/>
          </a:ln>
          <a:effectLst/>
        </p:spPr>
        <p:txBody>
          <a:bodyPr/>
          <a:lstStyle/>
          <a:p>
            <a:pPr marL="457200" indent="-457200" eaLnBrk="0" hangingPunct="0">
              <a:lnSpc>
                <a:spcPct val="130000"/>
              </a:lnSpc>
              <a:buSzPct val="70000"/>
              <a:buFont typeface="Wingdings" panose="05000000000000000000" pitchFamily="2" charset="2"/>
              <a:buChar char="l"/>
              <a:defRPr/>
            </a:pPr>
            <a:r>
              <a:rPr lang="zh-CN" altLang="en-US" sz="2800" kern="0" dirty="0">
                <a:solidFill>
                  <a:srgbClr val="C00000"/>
                </a:solidFill>
                <a:latin typeface="幼圆" panose="02010509060101010101" pitchFamily="49" charset="-122"/>
                <a:ea typeface="幼圆" panose="02010509060101010101" pitchFamily="49" charset="-122"/>
                <a:cs typeface="Times New Roman" panose="02020603050405020304" pitchFamily="18" charset="0"/>
              </a:rPr>
              <a:t>指数函数</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和</a:t>
            </a:r>
            <a:r>
              <a:rPr lang="zh-CN" altLang="en-US" sz="2800" kern="0" dirty="0">
                <a:solidFill>
                  <a:srgbClr val="C00000"/>
                </a:solidFill>
                <a:latin typeface="幼圆" panose="02010509060101010101" pitchFamily="49" charset="-122"/>
                <a:ea typeface="幼圆" panose="02010509060101010101" pitchFamily="49" charset="-122"/>
                <a:cs typeface="Times New Roman" panose="02020603050405020304" pitchFamily="18" charset="0"/>
              </a:rPr>
              <a:t>阶乘函数</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增长如此之快，以至于即使</a:t>
            </a:r>
            <a:r>
              <a:rPr lang="en-US" altLang="zh-CN" sz="2800" kern="0" dirty="0">
                <a:latin typeface="幼圆" panose="02010509060101010101" pitchFamily="49" charset="-122"/>
                <a:ea typeface="幼圆" panose="02010509060101010101" pitchFamily="49" charset="-122"/>
                <a:cs typeface="Times New Roman" panose="02020603050405020304" pitchFamily="18" charset="0"/>
              </a:rPr>
              <a:t>n</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值并不大，函数的值也会是天文数字。</a:t>
            </a:r>
            <a:endParaRPr lang="en-US" altLang="zh-CN" sz="2800" kern="0" dirty="0">
              <a:latin typeface="幼圆" panose="02010509060101010101" pitchFamily="49" charset="-122"/>
              <a:ea typeface="幼圆" panose="02010509060101010101" pitchFamily="49" charset="-122"/>
              <a:cs typeface="Times New Roman" panose="02020603050405020304" pitchFamily="18" charset="0"/>
            </a:endParaRPr>
          </a:p>
          <a:p>
            <a:pPr marL="457200" indent="-457200" eaLnBrk="0" hangingPunct="0">
              <a:lnSpc>
                <a:spcPct val="130000"/>
              </a:lnSpc>
              <a:buSzPct val="70000"/>
              <a:buFont typeface="Wingdings" panose="05000000000000000000" pitchFamily="2" charset="2"/>
              <a:buChar char="l"/>
              <a:defRPr/>
            </a:pP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例如：假设针对某问题设计出算法，其基本运算次数为</a:t>
            </a:r>
            <a:r>
              <a:rPr lang="en-US" altLang="zh-CN" sz="2800" dirty="0">
                <a:latin typeface="幼圆" panose="02010509060101010101" pitchFamily="49" charset="-122"/>
                <a:ea typeface="幼圆" panose="02010509060101010101" pitchFamily="49" charset="-122"/>
                <a:cs typeface="Times New Roman" panose="02020603050405020304" pitchFamily="18" charset="0"/>
              </a:rPr>
              <a:t>2</a:t>
            </a:r>
            <a:r>
              <a:rPr lang="en-US" altLang="zh-CN" sz="2800" baseline="30000" dirty="0">
                <a:latin typeface="幼圆" panose="02010509060101010101" pitchFamily="49" charset="-122"/>
                <a:ea typeface="幼圆" panose="02010509060101010101" pitchFamily="49" charset="-122"/>
                <a:cs typeface="Times New Roman" panose="02020603050405020304" pitchFamily="18" charset="0"/>
              </a:rPr>
              <a:t>n</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a:t>
            </a:r>
            <a:r>
              <a:rPr lang="en-US" altLang="zh-CN" sz="2800" kern="0" dirty="0">
                <a:latin typeface="幼圆" panose="02010509060101010101" pitchFamily="49" charset="-122"/>
                <a:ea typeface="幼圆" panose="02010509060101010101" pitchFamily="49" charset="-122"/>
                <a:cs typeface="Times New Roman" panose="02020603050405020304" pitchFamily="18" charset="0"/>
              </a:rPr>
              <a:t>n</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为数据规模）。当</a:t>
            </a:r>
            <a:r>
              <a:rPr lang="en-US" altLang="zh-CN" sz="2800" kern="0" dirty="0">
                <a:solidFill>
                  <a:srgbClr val="FF0000"/>
                </a:solidFill>
                <a:latin typeface="幼圆" panose="02010509060101010101" pitchFamily="49" charset="-122"/>
                <a:ea typeface="幼圆" panose="02010509060101010101" pitchFamily="49" charset="-122"/>
                <a:cs typeface="Times New Roman" panose="02020603050405020304" pitchFamily="18" charset="0"/>
              </a:rPr>
              <a:t>n=100</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时，基本运算次数为</a:t>
            </a:r>
            <a:r>
              <a:rPr lang="en-US" altLang="zh-CN" sz="2800" kern="0" dirty="0">
                <a:latin typeface="幼圆" panose="02010509060101010101" pitchFamily="49" charset="-122"/>
                <a:ea typeface="幼圆" panose="02010509060101010101" pitchFamily="49" charset="-122"/>
                <a:cs typeface="Times New Roman" panose="02020603050405020304" pitchFamily="18" charset="0"/>
              </a:rPr>
              <a:t>2</a:t>
            </a:r>
            <a:r>
              <a:rPr lang="en-US" altLang="zh-CN" sz="2800" kern="0" baseline="30000" dirty="0">
                <a:latin typeface="幼圆" panose="02010509060101010101" pitchFamily="49" charset="-122"/>
                <a:ea typeface="幼圆" panose="02010509060101010101" pitchFamily="49" charset="-122"/>
                <a:cs typeface="Times New Roman" panose="02020603050405020304" pitchFamily="18" charset="0"/>
              </a:rPr>
              <a:t>100</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，假设计算机每秒能做</a:t>
            </a:r>
            <a:r>
              <a:rPr lang="en-US" altLang="zh-CN" sz="2800" kern="0" dirty="0">
                <a:latin typeface="幼圆" panose="02010509060101010101" pitchFamily="49" charset="-122"/>
                <a:ea typeface="幼圆" panose="02010509060101010101" pitchFamily="49" charset="-122"/>
                <a:cs typeface="Times New Roman" panose="02020603050405020304" pitchFamily="18" charset="0"/>
              </a:rPr>
              <a:t>1</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万亿次</a:t>
            </a:r>
            <a:r>
              <a:rPr lang="en-US" altLang="zh-CN" sz="2800" kern="0" dirty="0">
                <a:latin typeface="幼圆" panose="02010509060101010101" pitchFamily="49" charset="-122"/>
                <a:ea typeface="幼圆" panose="02010509060101010101" pitchFamily="49" charset="-122"/>
                <a:cs typeface="Times New Roman" panose="02020603050405020304" pitchFamily="18" charset="0"/>
              </a:rPr>
              <a:t>(10</a:t>
            </a:r>
            <a:r>
              <a:rPr lang="en-US" altLang="zh-CN" sz="2800" kern="0" baseline="30000" dirty="0">
                <a:latin typeface="幼圆" panose="02010509060101010101" pitchFamily="49" charset="-122"/>
                <a:ea typeface="幼圆" panose="02010509060101010101" pitchFamily="49" charset="-122"/>
                <a:cs typeface="Times New Roman" panose="02020603050405020304" pitchFamily="18" charset="0"/>
              </a:rPr>
              <a:t>12</a:t>
            </a:r>
            <a:r>
              <a:rPr lang="en-US" altLang="zh-CN" sz="2800" kern="0" dirty="0">
                <a:latin typeface="幼圆" panose="02010509060101010101" pitchFamily="49" charset="-122"/>
                <a:ea typeface="幼圆" panose="02010509060101010101" pitchFamily="49" charset="-122"/>
                <a:cs typeface="Times New Roman" panose="02020603050405020304" pitchFamily="18" charset="0"/>
              </a:rPr>
              <a:t>)</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该基本操作，需要多长时间可以完成</a:t>
            </a:r>
            <a:r>
              <a:rPr lang="en-US" altLang="zh-CN" sz="2800" kern="0" dirty="0">
                <a:latin typeface="幼圆" panose="02010509060101010101" pitchFamily="49" charset="-122"/>
                <a:ea typeface="幼圆" panose="02010509060101010101" pitchFamily="49" charset="-122"/>
                <a:cs typeface="Times New Roman" panose="02020603050405020304" pitchFamily="18" charset="0"/>
              </a:rPr>
              <a:t>2</a:t>
            </a:r>
            <a:r>
              <a:rPr lang="en-US" altLang="zh-CN" sz="2800" kern="0" baseline="30000" dirty="0">
                <a:latin typeface="幼圆" panose="02010509060101010101" pitchFamily="49" charset="-122"/>
                <a:ea typeface="幼圆" panose="02010509060101010101" pitchFamily="49" charset="-122"/>
                <a:cs typeface="Times New Roman" panose="02020603050405020304" pitchFamily="18" charset="0"/>
              </a:rPr>
              <a:t>100</a:t>
            </a:r>
            <a:r>
              <a:rPr lang="zh-CN" altLang="en-US" sz="2800" kern="0" dirty="0">
                <a:latin typeface="幼圆" panose="02010509060101010101" pitchFamily="49" charset="-122"/>
                <a:ea typeface="幼圆" panose="02010509060101010101" pitchFamily="49" charset="-122"/>
                <a:cs typeface="Times New Roman" panose="02020603050405020304" pitchFamily="18" charset="0"/>
              </a:rPr>
              <a:t>次基本操作？</a:t>
            </a:r>
          </a:p>
        </p:txBody>
      </p:sp>
    </p:spTree>
    <p:extLst>
      <p:ext uri="{BB962C8B-B14F-4D97-AF65-F5344CB8AC3E}">
        <p14:creationId xmlns:p14="http://schemas.microsoft.com/office/powerpoint/2010/main" val="18362813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xmlns="" id="{92E15FA5-9F77-4DC3-83F3-D3223C8968DE}"/>
              </a:ext>
            </a:extLst>
          </p:cNvPr>
          <p:cNvSpPr>
            <a:spLocks noGrp="1"/>
          </p:cNvSpPr>
          <p:nvPr>
            <p:ph type="sldNum" sz="quarter" idx="12"/>
          </p:nvPr>
        </p:nvSpPr>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655DB39C-CC1C-449E-AE22-F50D8D5E7B04}" type="slidenum">
              <a:rPr lang="en-US" altLang="zh-CN"/>
              <a:pPr eaLnBrk="1" hangingPunct="1"/>
              <a:t>31</a:t>
            </a:fld>
            <a:endParaRPr lang="en-US" altLang="zh-CN"/>
          </a:p>
        </p:txBody>
      </p:sp>
      <p:sp>
        <p:nvSpPr>
          <p:cNvPr id="57348" name="矩形 5">
            <a:extLst>
              <a:ext uri="{FF2B5EF4-FFF2-40B4-BE49-F238E27FC236}">
                <a16:creationId xmlns:a16="http://schemas.microsoft.com/office/drawing/2014/main" xmlns="" id="{FB44DE8C-EB84-46C5-8055-04C40A357490}"/>
              </a:ext>
            </a:extLst>
          </p:cNvPr>
          <p:cNvSpPr>
            <a:spLocks noChangeArrowheads="1"/>
          </p:cNvSpPr>
          <p:nvPr/>
        </p:nvSpPr>
        <p:spPr bwMode="auto">
          <a:xfrm>
            <a:off x="624981" y="296864"/>
            <a:ext cx="6983412" cy="611187"/>
          </a:xfrm>
          <a:prstGeom prst="rect">
            <a:avLst/>
          </a:prstGeom>
          <a:solidFill>
            <a:schemeClr val="accent1"/>
          </a:solidFill>
          <a:ln w="31750" cap="sq" algn="ctr">
            <a:solidFill>
              <a:schemeClr val="tx1"/>
            </a:solidFill>
            <a:round/>
            <a:headEnd type="none" w="sm" len="sm"/>
            <a:tailEnd type="triangle" w="med" len="lg"/>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l" eaLnBrk="1" hangingPunct="1"/>
            <a:r>
              <a:rPr lang="zh-CN" altLang="en-US" sz="3200" b="1" dirty="0">
                <a:solidFill>
                  <a:schemeClr val="bg1"/>
                </a:solidFill>
              </a:rPr>
              <a:t>一年可计算的基本操作次数为</a:t>
            </a:r>
          </a:p>
        </p:txBody>
      </p:sp>
      <p:sp>
        <p:nvSpPr>
          <p:cNvPr id="57350" name="矩形 7">
            <a:extLst>
              <a:ext uri="{FF2B5EF4-FFF2-40B4-BE49-F238E27FC236}">
                <a16:creationId xmlns:a16="http://schemas.microsoft.com/office/drawing/2014/main" xmlns="" id="{FE5F0030-70C0-4C49-A9BD-EA6B6B5C4F76}"/>
              </a:ext>
            </a:extLst>
          </p:cNvPr>
          <p:cNvSpPr>
            <a:spLocks noChangeArrowheads="1"/>
          </p:cNvSpPr>
          <p:nvPr/>
        </p:nvSpPr>
        <p:spPr bwMode="auto">
          <a:xfrm>
            <a:off x="710090" y="1872829"/>
            <a:ext cx="6983412" cy="612775"/>
          </a:xfrm>
          <a:prstGeom prst="rect">
            <a:avLst/>
          </a:prstGeom>
          <a:solidFill>
            <a:schemeClr val="accent1"/>
          </a:solidFill>
          <a:ln w="31750" cap="sq" algn="ctr">
            <a:solidFill>
              <a:schemeClr val="tx1"/>
            </a:solidFill>
            <a:round/>
            <a:headEnd type="none" w="sm" len="sm"/>
            <a:tailEnd type="triangle" w="med" len="lg"/>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l" eaLnBrk="1" hangingPunct="1"/>
            <a:r>
              <a:rPr lang="zh-CN" altLang="en-US" sz="3200" b="1" dirty="0">
                <a:solidFill>
                  <a:schemeClr val="bg1"/>
                </a:solidFill>
                <a:latin typeface="Times New Roman" panose="02020603050405020304" pitchFamily="18" charset="0"/>
              </a:rPr>
              <a:t>计算</a:t>
            </a:r>
            <a:r>
              <a:rPr lang="en-US" altLang="zh-CN" sz="3200" b="1" dirty="0">
                <a:solidFill>
                  <a:schemeClr val="bg1"/>
                </a:solidFill>
                <a:latin typeface="Times New Roman" panose="02020603050405020304" pitchFamily="18" charset="0"/>
              </a:rPr>
              <a:t>2</a:t>
            </a:r>
            <a:r>
              <a:rPr lang="en-US" altLang="zh-CN" sz="3200" b="1" baseline="30000" dirty="0">
                <a:solidFill>
                  <a:schemeClr val="bg1"/>
                </a:solidFill>
                <a:latin typeface="Times New Roman" panose="02020603050405020304" pitchFamily="18" charset="0"/>
              </a:rPr>
              <a:t>100</a:t>
            </a:r>
            <a:r>
              <a:rPr lang="zh-CN" altLang="en-US" sz="3200" b="1" dirty="0">
                <a:solidFill>
                  <a:schemeClr val="bg1"/>
                </a:solidFill>
              </a:rPr>
              <a:t>次基本操作需要多少年？</a:t>
            </a:r>
          </a:p>
        </p:txBody>
      </p:sp>
      <p:sp>
        <p:nvSpPr>
          <p:cNvPr id="11" name="矩形 10">
            <a:extLst>
              <a:ext uri="{FF2B5EF4-FFF2-40B4-BE49-F238E27FC236}">
                <a16:creationId xmlns:a16="http://schemas.microsoft.com/office/drawing/2014/main" xmlns="" id="{01D43420-6315-48F3-99E8-D9B32C4F4DB4}"/>
              </a:ext>
            </a:extLst>
          </p:cNvPr>
          <p:cNvSpPr>
            <a:spLocks noChangeArrowheads="1"/>
          </p:cNvSpPr>
          <p:nvPr/>
        </p:nvSpPr>
        <p:spPr bwMode="auto">
          <a:xfrm>
            <a:off x="689582" y="3895925"/>
            <a:ext cx="6985000" cy="612775"/>
          </a:xfrm>
          <a:prstGeom prst="rect">
            <a:avLst/>
          </a:prstGeom>
          <a:solidFill>
            <a:schemeClr val="accent1"/>
          </a:solidFill>
          <a:ln w="31750" cap="sq" algn="ctr">
            <a:solidFill>
              <a:schemeClr val="tx1"/>
            </a:solidFill>
            <a:round/>
            <a:headEnd type="none" w="sm" len="sm"/>
            <a:tailEnd type="triangle" w="med" len="lg"/>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l" eaLnBrk="1" hangingPunct="1"/>
            <a:r>
              <a:rPr lang="zh-CN" altLang="en-US" sz="3200" b="1" dirty="0">
                <a:solidFill>
                  <a:schemeClr val="bg1"/>
                </a:solidFill>
                <a:latin typeface="Times New Roman" panose="02020603050405020304" pitchFamily="18" charset="0"/>
              </a:rPr>
              <a:t>地球的年龄为</a:t>
            </a:r>
            <a:r>
              <a:rPr lang="en-US" altLang="zh-CN" sz="3200" b="1" dirty="0">
                <a:solidFill>
                  <a:schemeClr val="bg1"/>
                </a:solidFill>
                <a:latin typeface="Times New Roman" panose="02020603050405020304" pitchFamily="18" charset="0"/>
              </a:rPr>
              <a:t>45</a:t>
            </a:r>
            <a:r>
              <a:rPr lang="zh-CN" altLang="en-US" sz="3200" b="1" dirty="0">
                <a:solidFill>
                  <a:schemeClr val="bg1"/>
                </a:solidFill>
                <a:latin typeface="Times New Roman" panose="02020603050405020304" pitchFamily="18" charset="0"/>
              </a:rPr>
              <a:t>亿年（</a:t>
            </a:r>
            <a:r>
              <a:rPr lang="en-US" altLang="zh-CN" sz="3200" b="1" dirty="0">
                <a:solidFill>
                  <a:schemeClr val="bg1"/>
                </a:solidFill>
                <a:latin typeface="Times New Roman" panose="02020603050405020304" pitchFamily="18" charset="0"/>
              </a:rPr>
              <a:t>4.5</a:t>
            </a:r>
            <a:r>
              <a:rPr lang="zh-CN" altLang="en-US" sz="3200" b="1" dirty="0">
                <a:solidFill>
                  <a:schemeClr val="bg1"/>
                </a:solidFill>
                <a:latin typeface="Times New Roman" panose="02020603050405020304" pitchFamily="18" charset="0"/>
              </a:rPr>
              <a:t>*</a:t>
            </a:r>
            <a:r>
              <a:rPr lang="en-US" altLang="zh-CN" sz="3200" b="1" dirty="0">
                <a:solidFill>
                  <a:schemeClr val="bg1"/>
                </a:solidFill>
                <a:latin typeface="Times New Roman" panose="02020603050405020304" pitchFamily="18" charset="0"/>
              </a:rPr>
              <a:t>10</a:t>
            </a:r>
            <a:r>
              <a:rPr lang="en-US" altLang="zh-CN" sz="3200" b="1" baseline="30000" dirty="0">
                <a:solidFill>
                  <a:schemeClr val="bg1"/>
                </a:solidFill>
                <a:latin typeface="Times New Roman" panose="02020603050405020304" pitchFamily="18" charset="0"/>
              </a:rPr>
              <a:t>9</a:t>
            </a:r>
            <a:r>
              <a:rPr lang="zh-CN" altLang="en-US" sz="3200" b="1" dirty="0">
                <a:solidFill>
                  <a:schemeClr val="bg1"/>
                </a:solidFill>
              </a:rPr>
              <a:t>）</a:t>
            </a:r>
          </a:p>
        </p:txBody>
      </p:sp>
      <p:pic>
        <p:nvPicPr>
          <p:cNvPr id="3" name="图片 2">
            <a:extLst>
              <a:ext uri="{FF2B5EF4-FFF2-40B4-BE49-F238E27FC236}">
                <a16:creationId xmlns:a16="http://schemas.microsoft.com/office/drawing/2014/main" xmlns="" id="{379E2A8F-938D-499A-9639-D23BB837A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982" y="1074244"/>
            <a:ext cx="7114203" cy="410068"/>
          </a:xfrm>
          <a:prstGeom prst="rect">
            <a:avLst/>
          </a:prstGeom>
        </p:spPr>
      </p:pic>
      <p:pic>
        <p:nvPicPr>
          <p:cNvPr id="8" name="图片 7">
            <a:extLst>
              <a:ext uri="{FF2B5EF4-FFF2-40B4-BE49-F238E27FC236}">
                <a16:creationId xmlns:a16="http://schemas.microsoft.com/office/drawing/2014/main" xmlns="" id="{DFA4D6FC-3291-49D0-B3F9-D9B768EB6E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176" y="2785160"/>
            <a:ext cx="1979451" cy="419438"/>
          </a:xfrm>
          <a:prstGeom prst="rect">
            <a:avLst/>
          </a:prstGeom>
        </p:spPr>
      </p:pic>
      <p:pic>
        <p:nvPicPr>
          <p:cNvPr id="10" name="图片 9">
            <a:extLst>
              <a:ext uri="{FF2B5EF4-FFF2-40B4-BE49-F238E27FC236}">
                <a16:creationId xmlns:a16="http://schemas.microsoft.com/office/drawing/2014/main" xmlns="" id="{70A3643A-0038-4B5E-8AB4-C2FBB4653E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6620" y="2623703"/>
            <a:ext cx="3114368" cy="1035223"/>
          </a:xfrm>
          <a:prstGeom prst="rect">
            <a:avLst/>
          </a:prstGeom>
        </p:spPr>
      </p:pic>
      <p:sp>
        <p:nvSpPr>
          <p:cNvPr id="16" name="文本框 15">
            <a:extLst>
              <a:ext uri="{FF2B5EF4-FFF2-40B4-BE49-F238E27FC236}">
                <a16:creationId xmlns:a16="http://schemas.microsoft.com/office/drawing/2014/main" xmlns="" id="{B3422BBF-8454-4894-96F6-477E88DA7BD4}"/>
              </a:ext>
            </a:extLst>
          </p:cNvPr>
          <p:cNvSpPr txBox="1"/>
          <p:nvPr/>
        </p:nvSpPr>
        <p:spPr>
          <a:xfrm>
            <a:off x="623392" y="5018479"/>
            <a:ext cx="10873208" cy="637675"/>
          </a:xfrm>
          <a:prstGeom prst="rect">
            <a:avLst/>
          </a:prstGeom>
          <a:noFill/>
        </p:spPr>
        <p:txBody>
          <a:bodyPr wrap="square">
            <a:spAutoFit/>
          </a:bodyPr>
          <a:lstStyle/>
          <a:p>
            <a:pPr>
              <a:lnSpc>
                <a:spcPct val="150000"/>
              </a:lnSpc>
              <a:defRPr/>
            </a:pPr>
            <a:r>
              <a:rPr lang="zh-CN" altLang="en-US" sz="2800" dirty="0">
                <a:latin typeface="幼圆" panose="02010509060101010101" pitchFamily="49" charset="-122"/>
                <a:ea typeface="幼圆" panose="02010509060101010101" pitchFamily="49" charset="-122"/>
              </a:rPr>
              <a:t>一个</a:t>
            </a:r>
            <a:r>
              <a:rPr lang="zh-CN" altLang="en-US" sz="2800" dirty="0">
                <a:solidFill>
                  <a:srgbClr val="FF0000"/>
                </a:solidFill>
                <a:latin typeface="幼圆" panose="02010509060101010101" pitchFamily="49" charset="-122"/>
                <a:ea typeface="幼圆" panose="02010509060101010101" pitchFamily="49" charset="-122"/>
              </a:rPr>
              <a:t>指数级操作次数的算法</a:t>
            </a:r>
            <a:r>
              <a:rPr lang="zh-CN" altLang="en-US" sz="2800" dirty="0">
                <a:latin typeface="幼圆" panose="02010509060101010101" pitchFamily="49" charset="-122"/>
                <a:ea typeface="幼圆" panose="02010509060101010101" pitchFamily="49" charset="-122"/>
              </a:rPr>
              <a:t>，仅可以用来解决规模非常小的问题。</a:t>
            </a:r>
          </a:p>
        </p:txBody>
      </p:sp>
    </p:spTree>
    <p:extLst>
      <p:ext uri="{BB962C8B-B14F-4D97-AF65-F5344CB8AC3E}">
        <p14:creationId xmlns:p14="http://schemas.microsoft.com/office/powerpoint/2010/main" val="29249429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7368" y="347187"/>
            <a:ext cx="10515600" cy="1325563"/>
          </a:xfrm>
        </p:spPr>
        <p:txBody>
          <a:bodyPr/>
          <a:lstStyle/>
          <a:p>
            <a:r>
              <a:rPr lang="zh-CN" altLang="en-US" dirty="0"/>
              <a:t>使用时间单位</a:t>
            </a:r>
            <a:r>
              <a:rPr lang="en-US" altLang="zh-CN" dirty="0"/>
              <a:t>——</a:t>
            </a:r>
            <a:r>
              <a:rPr lang="zh-CN" altLang="en-US" dirty="0"/>
              <a:t>不同时间复杂度函数的对比</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32</a:t>
            </a:fld>
            <a:endParaRPr lang="en-US" altLang="zh-CN"/>
          </a:p>
        </p:txBody>
      </p:sp>
      <p:graphicFrame>
        <p:nvGraphicFramePr>
          <p:cNvPr id="5" name="表格 4"/>
          <p:cNvGraphicFramePr>
            <a:graphicFrameLocks noGrp="1"/>
          </p:cNvGraphicFramePr>
          <p:nvPr/>
        </p:nvGraphicFramePr>
        <p:xfrm>
          <a:off x="191345" y="1916832"/>
          <a:ext cx="7200799" cy="2952329"/>
        </p:xfrm>
        <a:graphic>
          <a:graphicData uri="http://schemas.openxmlformats.org/drawingml/2006/table">
            <a:tbl>
              <a:tblPr>
                <a:tableStyleId>{5940675A-B579-460E-94D1-54222C63F5DA}</a:tableStyleId>
              </a:tblPr>
              <a:tblGrid>
                <a:gridCol w="720079">
                  <a:extLst>
                    <a:ext uri="{9D8B030D-6E8A-4147-A177-3AD203B41FA5}">
                      <a16:colId xmlns:a16="http://schemas.microsoft.com/office/drawing/2014/main" xmlns="" val="20000"/>
                    </a:ext>
                  </a:extLst>
                </a:gridCol>
                <a:gridCol w="720080">
                  <a:extLst>
                    <a:ext uri="{9D8B030D-6E8A-4147-A177-3AD203B41FA5}">
                      <a16:colId xmlns:a16="http://schemas.microsoft.com/office/drawing/2014/main" xmlns="" val="20001"/>
                    </a:ext>
                  </a:extLst>
                </a:gridCol>
                <a:gridCol w="432048">
                  <a:extLst>
                    <a:ext uri="{9D8B030D-6E8A-4147-A177-3AD203B41FA5}">
                      <a16:colId xmlns:a16="http://schemas.microsoft.com/office/drawing/2014/main" xmlns="" val="20002"/>
                    </a:ext>
                  </a:extLst>
                </a:gridCol>
                <a:gridCol w="792088">
                  <a:extLst>
                    <a:ext uri="{9D8B030D-6E8A-4147-A177-3AD203B41FA5}">
                      <a16:colId xmlns:a16="http://schemas.microsoft.com/office/drawing/2014/main" xmlns="" val="20003"/>
                    </a:ext>
                  </a:extLst>
                </a:gridCol>
                <a:gridCol w="648072">
                  <a:extLst>
                    <a:ext uri="{9D8B030D-6E8A-4147-A177-3AD203B41FA5}">
                      <a16:colId xmlns:a16="http://schemas.microsoft.com/office/drawing/2014/main" xmlns="" val="20004"/>
                    </a:ext>
                  </a:extLst>
                </a:gridCol>
                <a:gridCol w="648072">
                  <a:extLst>
                    <a:ext uri="{9D8B030D-6E8A-4147-A177-3AD203B41FA5}">
                      <a16:colId xmlns:a16="http://schemas.microsoft.com/office/drawing/2014/main" xmlns="" val="20005"/>
                    </a:ext>
                  </a:extLst>
                </a:gridCol>
                <a:gridCol w="720080">
                  <a:extLst>
                    <a:ext uri="{9D8B030D-6E8A-4147-A177-3AD203B41FA5}">
                      <a16:colId xmlns:a16="http://schemas.microsoft.com/office/drawing/2014/main" xmlns="" val="20006"/>
                    </a:ext>
                  </a:extLst>
                </a:gridCol>
                <a:gridCol w="648072">
                  <a:extLst>
                    <a:ext uri="{9D8B030D-6E8A-4147-A177-3AD203B41FA5}">
                      <a16:colId xmlns:a16="http://schemas.microsoft.com/office/drawing/2014/main" xmlns="" val="20007"/>
                    </a:ext>
                  </a:extLst>
                </a:gridCol>
                <a:gridCol w="1008112">
                  <a:extLst>
                    <a:ext uri="{9D8B030D-6E8A-4147-A177-3AD203B41FA5}">
                      <a16:colId xmlns:a16="http://schemas.microsoft.com/office/drawing/2014/main" xmlns="" val="20008"/>
                    </a:ext>
                  </a:extLst>
                </a:gridCol>
                <a:gridCol w="864096">
                  <a:extLst>
                    <a:ext uri="{9D8B030D-6E8A-4147-A177-3AD203B41FA5}">
                      <a16:colId xmlns:a16="http://schemas.microsoft.com/office/drawing/2014/main" xmlns="" val="20009"/>
                    </a:ext>
                  </a:extLst>
                </a:gridCol>
              </a:tblGrid>
              <a:tr h="686613">
                <a:tc>
                  <a:txBody>
                    <a:bodyPr/>
                    <a:lstStyle/>
                    <a:p>
                      <a:pPr algn="ctr">
                        <a:spcAft>
                          <a:spcPts val="0"/>
                        </a:spcAft>
                      </a:pPr>
                      <a:r>
                        <a:rPr lang="en-US" sz="2000" kern="100" dirty="0">
                          <a:effectLst/>
                          <a:latin typeface="幼圆" panose="02010509060101010101" pitchFamily="49" charset="-122"/>
                          <a:ea typeface="幼圆" panose="02010509060101010101" pitchFamily="49" charset="-122"/>
                        </a:rPr>
                        <a:t>T(n)</a:t>
                      </a:r>
                      <a:endParaRPr lang="zh-CN" sz="1600" kern="100" dirty="0">
                        <a:effectLst/>
                        <a:latin typeface="幼圆" panose="02010509060101010101" pitchFamily="49" charset="-122"/>
                        <a:ea typeface="幼圆" panose="02010509060101010101" pitchFamily="49" charset="-122"/>
                      </a:endParaRPr>
                    </a:p>
                    <a:p>
                      <a:pPr algn="ctr">
                        <a:spcAft>
                          <a:spcPts val="0"/>
                        </a:spcAft>
                      </a:pPr>
                      <a:r>
                        <a:rPr lang="zh-CN" sz="2000" kern="100" dirty="0">
                          <a:effectLst/>
                          <a:latin typeface="幼圆" panose="02010509060101010101" pitchFamily="49" charset="-122"/>
                          <a:ea typeface="幼圆" panose="02010509060101010101" pitchFamily="49" charset="-122"/>
                        </a:rPr>
                        <a:t>微秒</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dirty="0" err="1">
                          <a:effectLst/>
                          <a:latin typeface="幼圆" panose="02010509060101010101" pitchFamily="49" charset="-122"/>
                          <a:ea typeface="幼圆" panose="02010509060101010101" pitchFamily="49" charset="-122"/>
                        </a:rPr>
                        <a:t>logn</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dirty="0">
                          <a:effectLst/>
                          <a:latin typeface="幼圆" panose="02010509060101010101" pitchFamily="49" charset="-122"/>
                          <a:ea typeface="幼圆" panose="02010509060101010101" pitchFamily="49" charset="-122"/>
                        </a:rPr>
                        <a:t>n</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nlogn</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n</a:t>
                      </a:r>
                      <a:r>
                        <a:rPr lang="en-US" sz="2000" kern="100" baseline="30000">
                          <a:effectLst/>
                          <a:latin typeface="幼圆" panose="02010509060101010101" pitchFamily="49" charset="-122"/>
                          <a:ea typeface="幼圆" panose="02010509060101010101" pitchFamily="49" charset="-122"/>
                        </a:rPr>
                        <a:t>2</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n</a:t>
                      </a:r>
                      <a:r>
                        <a:rPr lang="en-US" sz="2000" kern="100" baseline="30000">
                          <a:effectLst/>
                          <a:latin typeface="幼圆" panose="02010509060101010101" pitchFamily="49" charset="-122"/>
                          <a:ea typeface="幼圆" panose="02010509060101010101" pitchFamily="49" charset="-122"/>
                        </a:rPr>
                        <a:t>3</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pPr>
                      <a:r>
                        <a:rPr lang="en-US" sz="2000" kern="100">
                          <a:effectLst/>
                          <a:latin typeface="幼圆" panose="02010509060101010101" pitchFamily="49" charset="-122"/>
                          <a:ea typeface="幼圆" panose="02010509060101010101" pitchFamily="49" charset="-122"/>
                        </a:rPr>
                        <a:t>n</a:t>
                      </a:r>
                      <a:r>
                        <a:rPr lang="en-US" sz="2000" kern="100" baseline="30000">
                          <a:effectLst/>
                          <a:latin typeface="幼圆" panose="02010509060101010101" pitchFamily="49" charset="-122"/>
                          <a:ea typeface="幼圆" panose="02010509060101010101" pitchFamily="49" charset="-122"/>
                        </a:rPr>
                        <a:t>5</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a:effectLst/>
                          <a:latin typeface="幼圆" panose="02010509060101010101" pitchFamily="49" charset="-122"/>
                          <a:ea typeface="幼圆" panose="02010509060101010101" pitchFamily="49" charset="-122"/>
                        </a:rPr>
                        <a:t>2</a:t>
                      </a:r>
                      <a:r>
                        <a:rPr lang="en-US" sz="2000" kern="100" baseline="30000">
                          <a:effectLst/>
                          <a:latin typeface="幼圆" panose="02010509060101010101" pitchFamily="49" charset="-122"/>
                          <a:ea typeface="幼圆" panose="02010509060101010101" pitchFamily="49" charset="-122"/>
                        </a:rPr>
                        <a:t>n</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pPr>
                      <a:r>
                        <a:rPr lang="en-US" sz="2000" kern="100">
                          <a:effectLst/>
                          <a:latin typeface="幼圆" panose="02010509060101010101" pitchFamily="49" charset="-122"/>
                          <a:ea typeface="幼圆" panose="02010509060101010101" pitchFamily="49" charset="-122"/>
                        </a:rPr>
                        <a:t>3</a:t>
                      </a:r>
                      <a:r>
                        <a:rPr lang="en-US" sz="2000" kern="100" baseline="30000">
                          <a:effectLst/>
                          <a:latin typeface="幼圆" panose="02010509060101010101" pitchFamily="49" charset="-122"/>
                          <a:ea typeface="幼圆" panose="02010509060101010101" pitchFamily="49" charset="-122"/>
                        </a:rPr>
                        <a:t>n</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a:effectLst/>
                          <a:latin typeface="幼圆" panose="02010509060101010101" pitchFamily="49" charset="-122"/>
                          <a:ea typeface="幼圆" panose="02010509060101010101" pitchFamily="49" charset="-122"/>
                        </a:rPr>
                        <a:t>n!</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extLst>
                  <a:ext uri="{0D108BD9-81ED-4DB2-BD59-A6C34878D82A}">
                    <a16:rowId xmlns:a16="http://schemas.microsoft.com/office/drawing/2014/main" xmlns="" val="10000"/>
                  </a:ext>
                </a:extLst>
              </a:tr>
              <a:tr h="686613">
                <a:tc>
                  <a:txBody>
                    <a:bodyPr/>
                    <a:lstStyle/>
                    <a:p>
                      <a:pPr algn="ctr">
                        <a:spcAft>
                          <a:spcPts val="0"/>
                        </a:spcAft>
                      </a:pPr>
                      <a:r>
                        <a:rPr lang="en-US" sz="2000" kern="100">
                          <a:effectLst/>
                          <a:latin typeface="幼圆" panose="02010509060101010101" pitchFamily="49" charset="-122"/>
                          <a:ea typeface="幼圆" panose="02010509060101010101" pitchFamily="49" charset="-122"/>
                        </a:rPr>
                        <a:t>n=10</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a:effectLst/>
                          <a:latin typeface="幼圆" panose="02010509060101010101" pitchFamily="49" charset="-122"/>
                          <a:ea typeface="幼圆" panose="02010509060101010101" pitchFamily="49" charset="-122"/>
                        </a:rPr>
                        <a:t>3.3</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10</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33</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dirty="0">
                          <a:effectLst/>
                          <a:latin typeface="幼圆" panose="02010509060101010101" pitchFamily="49" charset="-122"/>
                          <a:ea typeface="幼圆" panose="02010509060101010101" pitchFamily="49" charset="-122"/>
                        </a:rPr>
                        <a:t>100</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1</a:t>
                      </a:r>
                      <a:endParaRPr lang="zh-CN" sz="1600" kern="100">
                        <a:effectLst/>
                        <a:latin typeface="幼圆" panose="02010509060101010101" pitchFamily="49" charset="-122"/>
                        <a:ea typeface="幼圆" panose="02010509060101010101" pitchFamily="49" charset="-122"/>
                      </a:endParaRPr>
                    </a:p>
                    <a:p>
                      <a:pPr marL="635" indent="-68580" algn="ctr">
                        <a:spcAft>
                          <a:spcPts val="0"/>
                        </a:spcAft>
                        <a:tabLst>
                          <a:tab pos="-68580" algn="l"/>
                        </a:tabLst>
                      </a:pPr>
                      <a:r>
                        <a:rPr lang="zh-CN" sz="2000" kern="100">
                          <a:effectLst/>
                          <a:latin typeface="幼圆" panose="02010509060101010101" pitchFamily="49" charset="-122"/>
                          <a:ea typeface="幼圆" panose="02010509060101010101" pitchFamily="49" charset="-122"/>
                        </a:rPr>
                        <a:t>毫秒</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pPr>
                      <a:r>
                        <a:rPr lang="en-US" sz="2000" kern="100" dirty="0">
                          <a:effectLst/>
                          <a:latin typeface="幼圆" panose="02010509060101010101" pitchFamily="49" charset="-122"/>
                          <a:ea typeface="幼圆" panose="02010509060101010101" pitchFamily="49" charset="-122"/>
                        </a:rPr>
                        <a:t>0.1</a:t>
                      </a:r>
                      <a:endParaRPr lang="zh-CN" sz="1600" kern="100" dirty="0">
                        <a:effectLst/>
                        <a:latin typeface="幼圆" panose="02010509060101010101" pitchFamily="49" charset="-122"/>
                        <a:ea typeface="幼圆" panose="02010509060101010101" pitchFamily="49" charset="-122"/>
                      </a:endParaRPr>
                    </a:p>
                    <a:p>
                      <a:pPr marL="635" indent="-68580" algn="ctr">
                        <a:spcAft>
                          <a:spcPts val="0"/>
                        </a:spcAft>
                      </a:pPr>
                      <a:r>
                        <a:rPr lang="zh-CN" sz="2000" kern="100" dirty="0">
                          <a:effectLst/>
                          <a:latin typeface="幼圆" panose="02010509060101010101" pitchFamily="49" charset="-122"/>
                          <a:ea typeface="幼圆" panose="02010509060101010101" pitchFamily="49" charset="-122"/>
                        </a:rPr>
                        <a:t>秒</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a:effectLst/>
                          <a:latin typeface="幼圆" panose="02010509060101010101" pitchFamily="49" charset="-122"/>
                          <a:ea typeface="幼圆" panose="02010509060101010101" pitchFamily="49" charset="-122"/>
                        </a:rPr>
                        <a:t>1</a:t>
                      </a:r>
                      <a:endParaRPr lang="zh-CN" sz="1600" kern="100">
                        <a:effectLst/>
                        <a:latin typeface="幼圆" panose="02010509060101010101" pitchFamily="49" charset="-122"/>
                        <a:ea typeface="幼圆" panose="02010509060101010101" pitchFamily="49" charset="-122"/>
                      </a:endParaRPr>
                    </a:p>
                    <a:p>
                      <a:pPr algn="ctr">
                        <a:spcAft>
                          <a:spcPts val="0"/>
                        </a:spcAft>
                      </a:pPr>
                      <a:r>
                        <a:rPr lang="zh-CN" sz="2000" kern="100">
                          <a:effectLst/>
                          <a:latin typeface="幼圆" panose="02010509060101010101" pitchFamily="49" charset="-122"/>
                          <a:ea typeface="幼圆" panose="02010509060101010101" pitchFamily="49" charset="-122"/>
                        </a:rPr>
                        <a:t>毫秒</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pPr>
                      <a:r>
                        <a:rPr lang="en-US" sz="2000" kern="100" dirty="0">
                          <a:effectLst/>
                          <a:latin typeface="幼圆" panose="02010509060101010101" pitchFamily="49" charset="-122"/>
                          <a:ea typeface="幼圆" panose="02010509060101010101" pitchFamily="49" charset="-122"/>
                        </a:rPr>
                        <a:t>59</a:t>
                      </a:r>
                      <a:endParaRPr lang="zh-CN" sz="1600" kern="100" dirty="0">
                        <a:effectLst/>
                        <a:latin typeface="幼圆" panose="02010509060101010101" pitchFamily="49" charset="-122"/>
                        <a:ea typeface="幼圆" panose="02010509060101010101" pitchFamily="49" charset="-122"/>
                      </a:endParaRPr>
                    </a:p>
                    <a:p>
                      <a:pPr marL="635" indent="-68580" algn="ctr">
                        <a:spcAft>
                          <a:spcPts val="0"/>
                        </a:spcAft>
                      </a:pPr>
                      <a:r>
                        <a:rPr lang="zh-CN" sz="2000" kern="100" dirty="0">
                          <a:effectLst/>
                          <a:latin typeface="幼圆" panose="02010509060101010101" pitchFamily="49" charset="-122"/>
                          <a:ea typeface="幼圆" panose="02010509060101010101" pitchFamily="49" charset="-122"/>
                        </a:rPr>
                        <a:t>毫秒</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a:effectLst/>
                          <a:latin typeface="幼圆" panose="02010509060101010101" pitchFamily="49" charset="-122"/>
                          <a:ea typeface="幼圆" panose="02010509060101010101" pitchFamily="49" charset="-122"/>
                        </a:rPr>
                        <a:t>3.6</a:t>
                      </a:r>
                      <a:endParaRPr lang="zh-CN" sz="1600" kern="100">
                        <a:effectLst/>
                        <a:latin typeface="幼圆" panose="02010509060101010101" pitchFamily="49" charset="-122"/>
                        <a:ea typeface="幼圆" panose="02010509060101010101" pitchFamily="49" charset="-122"/>
                      </a:endParaRPr>
                    </a:p>
                    <a:p>
                      <a:pPr algn="ctr">
                        <a:spcAft>
                          <a:spcPts val="0"/>
                        </a:spcAft>
                      </a:pPr>
                      <a:r>
                        <a:rPr lang="zh-CN" sz="2000" kern="100">
                          <a:effectLst/>
                          <a:latin typeface="幼圆" panose="02010509060101010101" pitchFamily="49" charset="-122"/>
                          <a:ea typeface="幼圆" panose="02010509060101010101" pitchFamily="49" charset="-122"/>
                        </a:rPr>
                        <a:t>秒</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extLst>
                  <a:ext uri="{0D108BD9-81ED-4DB2-BD59-A6C34878D82A}">
                    <a16:rowId xmlns:a16="http://schemas.microsoft.com/office/drawing/2014/main" xmlns="" val="10001"/>
                  </a:ext>
                </a:extLst>
              </a:tr>
              <a:tr h="686613">
                <a:tc>
                  <a:txBody>
                    <a:bodyPr/>
                    <a:lstStyle/>
                    <a:p>
                      <a:pPr algn="ctr">
                        <a:spcAft>
                          <a:spcPts val="0"/>
                        </a:spcAft>
                      </a:pPr>
                      <a:r>
                        <a:rPr lang="en-US" sz="2000" kern="100">
                          <a:effectLst/>
                          <a:latin typeface="幼圆" panose="02010509060101010101" pitchFamily="49" charset="-122"/>
                          <a:ea typeface="幼圆" panose="02010509060101010101" pitchFamily="49" charset="-122"/>
                        </a:rPr>
                        <a:t>n=40</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a:effectLst/>
                          <a:latin typeface="幼圆" panose="02010509060101010101" pitchFamily="49" charset="-122"/>
                          <a:ea typeface="幼圆" panose="02010509060101010101" pitchFamily="49" charset="-122"/>
                        </a:rPr>
                        <a:t>5.3</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40</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213</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dirty="0">
                          <a:effectLst/>
                          <a:latin typeface="幼圆" panose="02010509060101010101" pitchFamily="49" charset="-122"/>
                          <a:ea typeface="幼圆" panose="02010509060101010101" pitchFamily="49" charset="-122"/>
                        </a:rPr>
                        <a:t>1600</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64</a:t>
                      </a:r>
                      <a:endParaRPr lang="zh-CN" sz="1600" kern="100">
                        <a:effectLst/>
                        <a:latin typeface="幼圆" panose="02010509060101010101" pitchFamily="49" charset="-122"/>
                        <a:ea typeface="幼圆" panose="02010509060101010101" pitchFamily="49" charset="-122"/>
                      </a:endParaRPr>
                    </a:p>
                    <a:p>
                      <a:pPr marL="635" indent="-68580" algn="ctr">
                        <a:spcAft>
                          <a:spcPts val="0"/>
                        </a:spcAft>
                        <a:tabLst>
                          <a:tab pos="-68580" algn="l"/>
                        </a:tabLst>
                      </a:pPr>
                      <a:r>
                        <a:rPr lang="zh-CN" sz="2000" kern="100">
                          <a:effectLst/>
                          <a:latin typeface="幼圆" panose="02010509060101010101" pitchFamily="49" charset="-122"/>
                          <a:ea typeface="幼圆" panose="02010509060101010101" pitchFamily="49" charset="-122"/>
                        </a:rPr>
                        <a:t>毫秒</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pPr>
                      <a:r>
                        <a:rPr lang="en-US" sz="2000" kern="100">
                          <a:effectLst/>
                          <a:latin typeface="幼圆" panose="02010509060101010101" pitchFamily="49" charset="-122"/>
                          <a:ea typeface="幼圆" panose="02010509060101010101" pitchFamily="49" charset="-122"/>
                        </a:rPr>
                        <a:t>1.3</a:t>
                      </a:r>
                      <a:endParaRPr lang="zh-CN" sz="1600" kern="100">
                        <a:effectLst/>
                        <a:latin typeface="幼圆" panose="02010509060101010101" pitchFamily="49" charset="-122"/>
                        <a:ea typeface="幼圆" panose="02010509060101010101" pitchFamily="49" charset="-122"/>
                      </a:endParaRPr>
                    </a:p>
                    <a:p>
                      <a:pPr marL="635" indent="-68580" algn="ctr">
                        <a:spcAft>
                          <a:spcPts val="0"/>
                        </a:spcAft>
                      </a:pPr>
                      <a:r>
                        <a:rPr lang="zh-CN" sz="2000" kern="100">
                          <a:effectLst/>
                          <a:latin typeface="幼圆" panose="02010509060101010101" pitchFamily="49" charset="-122"/>
                          <a:ea typeface="幼圆" panose="02010509060101010101" pitchFamily="49" charset="-122"/>
                        </a:rPr>
                        <a:t>分</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a:effectLst/>
                          <a:latin typeface="幼圆" panose="02010509060101010101" pitchFamily="49" charset="-122"/>
                          <a:ea typeface="幼圆" panose="02010509060101010101" pitchFamily="49" charset="-122"/>
                        </a:rPr>
                        <a:t>12.7</a:t>
                      </a:r>
                      <a:endParaRPr lang="zh-CN" sz="1600" kern="100">
                        <a:effectLst/>
                        <a:latin typeface="幼圆" panose="02010509060101010101" pitchFamily="49" charset="-122"/>
                        <a:ea typeface="幼圆" panose="02010509060101010101" pitchFamily="49" charset="-122"/>
                      </a:endParaRPr>
                    </a:p>
                    <a:p>
                      <a:pPr algn="ctr">
                        <a:spcAft>
                          <a:spcPts val="0"/>
                        </a:spcAft>
                      </a:pPr>
                      <a:r>
                        <a:rPr lang="zh-CN" sz="2000" kern="100">
                          <a:effectLst/>
                          <a:latin typeface="幼圆" panose="02010509060101010101" pitchFamily="49" charset="-122"/>
                          <a:ea typeface="幼圆" panose="02010509060101010101" pitchFamily="49" charset="-122"/>
                        </a:rPr>
                        <a:t>天</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pPr>
                      <a:r>
                        <a:rPr lang="en-US" sz="2000" kern="100">
                          <a:effectLst/>
                          <a:latin typeface="幼圆" panose="02010509060101010101" pitchFamily="49" charset="-122"/>
                          <a:ea typeface="幼圆" panose="02010509060101010101" pitchFamily="49" charset="-122"/>
                        </a:rPr>
                        <a:t>3855</a:t>
                      </a:r>
                      <a:endParaRPr lang="zh-CN" sz="1600" kern="100">
                        <a:effectLst/>
                        <a:latin typeface="幼圆" panose="02010509060101010101" pitchFamily="49" charset="-122"/>
                        <a:ea typeface="幼圆" panose="02010509060101010101" pitchFamily="49" charset="-122"/>
                      </a:endParaRPr>
                    </a:p>
                    <a:p>
                      <a:pPr marL="635" indent="-68580" algn="ctr">
                        <a:spcAft>
                          <a:spcPts val="0"/>
                        </a:spcAft>
                      </a:pPr>
                      <a:r>
                        <a:rPr lang="zh-CN" sz="2000" kern="100">
                          <a:effectLst/>
                          <a:latin typeface="幼圆" panose="02010509060101010101" pitchFamily="49" charset="-122"/>
                          <a:ea typeface="幼圆" panose="02010509060101010101" pitchFamily="49" charset="-122"/>
                        </a:rPr>
                        <a:t>世纪</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a:effectLst/>
                          <a:latin typeface="幼圆" panose="02010509060101010101" pitchFamily="49" charset="-122"/>
                          <a:ea typeface="幼圆" panose="02010509060101010101" pitchFamily="49" charset="-122"/>
                        </a:rPr>
                        <a:t>10</a:t>
                      </a:r>
                      <a:r>
                        <a:rPr lang="en-US" sz="2000" kern="100" baseline="30000">
                          <a:effectLst/>
                          <a:latin typeface="幼圆" panose="02010509060101010101" pitchFamily="49" charset="-122"/>
                          <a:ea typeface="幼圆" panose="02010509060101010101" pitchFamily="49" charset="-122"/>
                        </a:rPr>
                        <a:t>3</a:t>
                      </a:r>
                      <a:endParaRPr lang="zh-CN" sz="1600" kern="100">
                        <a:effectLst/>
                        <a:latin typeface="幼圆" panose="02010509060101010101" pitchFamily="49" charset="-122"/>
                        <a:ea typeface="幼圆" panose="02010509060101010101" pitchFamily="49" charset="-122"/>
                      </a:endParaRPr>
                    </a:p>
                    <a:p>
                      <a:pPr algn="ctr">
                        <a:spcAft>
                          <a:spcPts val="0"/>
                        </a:spcAft>
                      </a:pPr>
                      <a:r>
                        <a:rPr lang="zh-CN" sz="2000" kern="100">
                          <a:effectLst/>
                          <a:latin typeface="幼圆" panose="02010509060101010101" pitchFamily="49" charset="-122"/>
                          <a:ea typeface="幼圆" panose="02010509060101010101" pitchFamily="49" charset="-122"/>
                        </a:rPr>
                        <a:t>世纪</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extLst>
                  <a:ext uri="{0D108BD9-81ED-4DB2-BD59-A6C34878D82A}">
                    <a16:rowId xmlns:a16="http://schemas.microsoft.com/office/drawing/2014/main" xmlns="" val="10002"/>
                  </a:ext>
                </a:extLst>
              </a:tr>
              <a:tr h="892490">
                <a:tc>
                  <a:txBody>
                    <a:bodyPr/>
                    <a:lstStyle/>
                    <a:p>
                      <a:pPr algn="ctr">
                        <a:spcAft>
                          <a:spcPts val="0"/>
                        </a:spcAft>
                      </a:pPr>
                      <a:r>
                        <a:rPr lang="en-US" sz="2000" kern="100">
                          <a:effectLst/>
                          <a:latin typeface="幼圆" panose="02010509060101010101" pitchFamily="49" charset="-122"/>
                          <a:ea typeface="幼圆" panose="02010509060101010101" pitchFamily="49" charset="-122"/>
                        </a:rPr>
                        <a:t>n=60</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dirty="0">
                          <a:effectLst/>
                          <a:latin typeface="幼圆" panose="02010509060101010101" pitchFamily="49" charset="-122"/>
                          <a:ea typeface="幼圆" panose="02010509060101010101" pitchFamily="49" charset="-122"/>
                        </a:rPr>
                        <a:t>5.9</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60</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354</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3600</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tabLst>
                          <a:tab pos="-68580" algn="l"/>
                        </a:tabLst>
                      </a:pPr>
                      <a:r>
                        <a:rPr lang="en-US" sz="2000" kern="100">
                          <a:effectLst/>
                          <a:latin typeface="幼圆" panose="02010509060101010101" pitchFamily="49" charset="-122"/>
                          <a:ea typeface="幼圆" panose="02010509060101010101" pitchFamily="49" charset="-122"/>
                        </a:rPr>
                        <a:t>216</a:t>
                      </a:r>
                      <a:endParaRPr lang="zh-CN" sz="1600" kern="100">
                        <a:effectLst/>
                        <a:latin typeface="幼圆" panose="02010509060101010101" pitchFamily="49" charset="-122"/>
                        <a:ea typeface="幼圆" panose="02010509060101010101" pitchFamily="49" charset="-122"/>
                      </a:endParaRPr>
                    </a:p>
                    <a:p>
                      <a:pPr marL="635" indent="-68580" algn="ctr">
                        <a:spcAft>
                          <a:spcPts val="0"/>
                        </a:spcAft>
                        <a:tabLst>
                          <a:tab pos="-68580" algn="l"/>
                        </a:tabLst>
                      </a:pPr>
                      <a:r>
                        <a:rPr lang="zh-CN" sz="2000" kern="100">
                          <a:effectLst/>
                          <a:latin typeface="幼圆" panose="02010509060101010101" pitchFamily="49" charset="-122"/>
                          <a:ea typeface="幼圆" panose="02010509060101010101" pitchFamily="49" charset="-122"/>
                        </a:rPr>
                        <a:t>毫秒</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marL="635" indent="-68580" algn="ctr">
                        <a:spcAft>
                          <a:spcPts val="0"/>
                        </a:spcAft>
                      </a:pPr>
                      <a:r>
                        <a:rPr lang="en-US" sz="2000" kern="100" dirty="0">
                          <a:effectLst/>
                          <a:latin typeface="幼圆" panose="02010509060101010101" pitchFamily="49" charset="-122"/>
                          <a:ea typeface="幼圆" panose="02010509060101010101" pitchFamily="49" charset="-122"/>
                        </a:rPr>
                        <a:t>7.6</a:t>
                      </a:r>
                      <a:endParaRPr lang="zh-CN" sz="1600" kern="100" dirty="0">
                        <a:effectLst/>
                        <a:latin typeface="幼圆" panose="02010509060101010101" pitchFamily="49" charset="-122"/>
                        <a:ea typeface="幼圆" panose="02010509060101010101" pitchFamily="49" charset="-122"/>
                      </a:endParaRPr>
                    </a:p>
                    <a:p>
                      <a:pPr marL="635" indent="-68580" algn="ctr">
                        <a:spcAft>
                          <a:spcPts val="0"/>
                        </a:spcAft>
                      </a:pPr>
                      <a:r>
                        <a:rPr lang="zh-CN" sz="2000" kern="100" dirty="0">
                          <a:effectLst/>
                          <a:latin typeface="幼圆" panose="02010509060101010101" pitchFamily="49" charset="-122"/>
                          <a:ea typeface="幼圆" panose="02010509060101010101" pitchFamily="49" charset="-122"/>
                        </a:rPr>
                        <a:t>分</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a:effectLst/>
                          <a:latin typeface="幼圆" panose="02010509060101010101" pitchFamily="49" charset="-122"/>
                          <a:ea typeface="幼圆" panose="02010509060101010101" pitchFamily="49" charset="-122"/>
                        </a:rPr>
                        <a:t>366</a:t>
                      </a:r>
                      <a:endParaRPr lang="zh-CN" sz="1600" kern="100">
                        <a:effectLst/>
                        <a:latin typeface="幼圆" panose="02010509060101010101" pitchFamily="49" charset="-122"/>
                        <a:ea typeface="幼圆" panose="02010509060101010101" pitchFamily="49" charset="-122"/>
                      </a:endParaRPr>
                    </a:p>
                    <a:p>
                      <a:pPr algn="ctr">
                        <a:spcAft>
                          <a:spcPts val="0"/>
                        </a:spcAft>
                      </a:pPr>
                      <a:r>
                        <a:rPr lang="zh-CN" sz="2000" kern="100">
                          <a:effectLst/>
                          <a:latin typeface="幼圆" panose="02010509060101010101" pitchFamily="49" charset="-122"/>
                          <a:ea typeface="幼圆" panose="02010509060101010101" pitchFamily="49" charset="-122"/>
                        </a:rPr>
                        <a:t>世纪</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indent="-60325" algn="ctr">
                        <a:spcAft>
                          <a:spcPts val="0"/>
                        </a:spcAft>
                      </a:pPr>
                      <a:r>
                        <a:rPr lang="en-US" sz="1600" kern="100">
                          <a:effectLst/>
                          <a:latin typeface="幼圆" panose="02010509060101010101" pitchFamily="49" charset="-122"/>
                          <a:ea typeface="幼圆" panose="02010509060101010101" pitchFamily="49" charset="-122"/>
                        </a:rPr>
                        <a:t>1.3</a:t>
                      </a:r>
                      <a:r>
                        <a:rPr lang="zh-CN" sz="1600" kern="100">
                          <a:effectLst/>
                          <a:latin typeface="幼圆" panose="02010509060101010101" pitchFamily="49" charset="-122"/>
                          <a:ea typeface="幼圆" panose="02010509060101010101" pitchFamily="49" charset="-122"/>
                        </a:rPr>
                        <a:t>×</a:t>
                      </a:r>
                      <a:r>
                        <a:rPr lang="en-US" sz="1600" kern="100">
                          <a:effectLst/>
                          <a:latin typeface="幼圆" panose="02010509060101010101" pitchFamily="49" charset="-122"/>
                          <a:ea typeface="幼圆" panose="02010509060101010101" pitchFamily="49" charset="-122"/>
                        </a:rPr>
                        <a:t>10</a:t>
                      </a:r>
                      <a:r>
                        <a:rPr lang="en-US" sz="1600" kern="100" baseline="30000">
                          <a:effectLst/>
                          <a:latin typeface="幼圆" panose="02010509060101010101" pitchFamily="49" charset="-122"/>
                          <a:ea typeface="幼圆" panose="02010509060101010101" pitchFamily="49" charset="-122"/>
                        </a:rPr>
                        <a:t>13</a:t>
                      </a:r>
                      <a:endParaRPr lang="zh-CN" sz="1600" kern="100">
                        <a:effectLst/>
                        <a:latin typeface="幼圆" panose="02010509060101010101" pitchFamily="49" charset="-122"/>
                        <a:ea typeface="幼圆" panose="02010509060101010101" pitchFamily="49" charset="-122"/>
                      </a:endParaRPr>
                    </a:p>
                    <a:p>
                      <a:pPr marL="635" indent="-68580" algn="ctr">
                        <a:spcAft>
                          <a:spcPts val="0"/>
                        </a:spcAft>
                      </a:pPr>
                      <a:r>
                        <a:rPr lang="zh-CN" sz="2000" kern="100">
                          <a:effectLst/>
                          <a:latin typeface="幼圆" panose="02010509060101010101" pitchFamily="49" charset="-122"/>
                          <a:ea typeface="幼圆" panose="02010509060101010101" pitchFamily="49" charset="-122"/>
                        </a:rPr>
                        <a:t>世纪</a:t>
                      </a:r>
                      <a:endParaRPr lang="zh-CN" sz="1600" b="0" kern="10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tc>
                  <a:txBody>
                    <a:bodyPr/>
                    <a:lstStyle/>
                    <a:p>
                      <a:pPr algn="ctr">
                        <a:spcAft>
                          <a:spcPts val="0"/>
                        </a:spcAft>
                      </a:pPr>
                      <a:r>
                        <a:rPr lang="en-US" sz="2000" kern="100" dirty="0">
                          <a:effectLst/>
                          <a:latin typeface="幼圆" panose="02010509060101010101" pitchFamily="49" charset="-122"/>
                          <a:ea typeface="幼圆" panose="02010509060101010101" pitchFamily="49" charset="-122"/>
                        </a:rPr>
                        <a:t>10</a:t>
                      </a:r>
                      <a:r>
                        <a:rPr lang="en-US" sz="2000" kern="100" baseline="30000" dirty="0">
                          <a:effectLst/>
                          <a:latin typeface="幼圆" panose="02010509060101010101" pitchFamily="49" charset="-122"/>
                          <a:ea typeface="幼圆" panose="02010509060101010101" pitchFamily="49" charset="-122"/>
                        </a:rPr>
                        <a:t>66</a:t>
                      </a:r>
                      <a:endParaRPr lang="zh-CN" sz="1600" kern="100" dirty="0">
                        <a:effectLst/>
                        <a:latin typeface="幼圆" panose="02010509060101010101" pitchFamily="49" charset="-122"/>
                        <a:ea typeface="幼圆" panose="02010509060101010101" pitchFamily="49" charset="-122"/>
                      </a:endParaRPr>
                    </a:p>
                    <a:p>
                      <a:pPr algn="ctr">
                        <a:spcAft>
                          <a:spcPts val="0"/>
                        </a:spcAft>
                      </a:pPr>
                      <a:r>
                        <a:rPr lang="zh-CN" sz="2000" kern="100" dirty="0">
                          <a:effectLst/>
                          <a:latin typeface="幼圆" panose="02010509060101010101" pitchFamily="49" charset="-122"/>
                          <a:ea typeface="幼圆" panose="02010509060101010101" pitchFamily="49" charset="-122"/>
                        </a:rPr>
                        <a:t>世纪</a:t>
                      </a:r>
                      <a:endParaRPr lang="zh-CN" sz="1600" b="0" kern="100" dirty="0">
                        <a:effectLst/>
                        <a:latin typeface="幼圆" panose="02010509060101010101" pitchFamily="49" charset="-122"/>
                        <a:ea typeface="幼圆" panose="02010509060101010101" pitchFamily="49" charset="-122"/>
                        <a:cs typeface="Arial" panose="020B0604020202020204" pitchFamily="34" charset="0"/>
                      </a:endParaRPr>
                    </a:p>
                  </a:txBody>
                  <a:tcPr marL="68585" marR="68585" marT="0" marB="0" anchor="ctr"/>
                </a:tc>
                <a:extLst>
                  <a:ext uri="{0D108BD9-81ED-4DB2-BD59-A6C34878D82A}">
                    <a16:rowId xmlns:a16="http://schemas.microsoft.com/office/drawing/2014/main" xmlns="" val="10003"/>
                  </a:ext>
                </a:extLst>
              </a:tr>
            </a:tbl>
          </a:graphicData>
        </a:graphic>
      </p:graphicFrame>
      <p:pic>
        <p:nvPicPr>
          <p:cNvPr id="6" name="内容占位符 4" descr="20190404192343144[1].png"/>
          <p:cNvPicPr>
            <a:picLocks noGrp="1" noChangeAspect="1"/>
          </p:cNvPicPr>
          <p:nvPr>
            <p:ph idx="1"/>
          </p:nvPr>
        </p:nvPicPr>
        <p:blipFill>
          <a:blip r:embed="rId2"/>
          <a:stretch>
            <a:fillRect/>
          </a:stretch>
        </p:blipFill>
        <p:spPr>
          <a:xfrm>
            <a:off x="7392144" y="1254840"/>
            <a:ext cx="4722629" cy="5136625"/>
          </a:xfrm>
        </p:spPr>
      </p:pic>
      <p:sp>
        <p:nvSpPr>
          <p:cNvPr id="3" name="Rectangle 2">
            <a:extLst>
              <a:ext uri="{FF2B5EF4-FFF2-40B4-BE49-F238E27FC236}">
                <a16:creationId xmlns:a16="http://schemas.microsoft.com/office/drawing/2014/main" xmlns="" id="{CAFD5125-8BE8-8F9C-1B33-E1178CDC2998}"/>
              </a:ext>
            </a:extLst>
          </p:cNvPr>
          <p:cNvSpPr txBox="1">
            <a:spLocks noChangeArrowheads="1"/>
          </p:cNvSpPr>
          <p:nvPr/>
        </p:nvSpPr>
        <p:spPr>
          <a:xfrm>
            <a:off x="414595" y="5373216"/>
            <a:ext cx="6624736" cy="79533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000" kern="1200">
                <a:solidFill>
                  <a:srgbClr val="1E5293"/>
                </a:solidFill>
                <a:latin typeface="Arial" panose="020B0604020202020204" pitchFamily="34" charset="0"/>
                <a:ea typeface="幼圆" panose="02010509060101010101" pitchFamily="49" charset="-122"/>
                <a:cs typeface="Arial" panose="020B0604020202020204" pitchFamily="34" charset="0"/>
              </a:defRPr>
            </a:lvl1pPr>
          </a:lstStyle>
          <a:p>
            <a:pPr>
              <a:lnSpc>
                <a:spcPct val="170000"/>
              </a:lnSpc>
              <a:defRPr/>
            </a:pPr>
            <a:r>
              <a:rPr lang="zh-CN" altLang="en-US" sz="3600" b="1" dirty="0">
                <a:solidFill>
                  <a:srgbClr val="C00000"/>
                </a:solidFill>
              </a:rPr>
              <a:t>小规模数据差异不明显，中等或大规模数据差异巨大。</a:t>
            </a:r>
          </a:p>
        </p:txBody>
      </p:sp>
    </p:spTree>
    <p:extLst>
      <p:ext uri="{BB962C8B-B14F-4D97-AF65-F5344CB8AC3E}">
        <p14:creationId xmlns:p14="http://schemas.microsoft.com/office/powerpoint/2010/main" val="3114677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a:extLst>
              <a:ext uri="{FF2B5EF4-FFF2-40B4-BE49-F238E27FC236}">
                <a16:creationId xmlns:a16="http://schemas.microsoft.com/office/drawing/2014/main" xmlns="" id="{5F5AC5C9-0A96-4F20-82C1-0F1BE93096A4}"/>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E1930CE7-5FCF-49E1-B7D3-EAB56366D1C1}" type="slidenum">
              <a:rPr altLang="zh-CN" sz="1000"/>
              <a:pPr>
                <a:spcBef>
                  <a:spcPct val="0"/>
                </a:spcBef>
                <a:buClrTx/>
                <a:buSzTx/>
                <a:buFont typeface="Arial" panose="020B0604020202020204" pitchFamily="34" charset="0"/>
                <a:buNone/>
              </a:pPr>
              <a:t>33</a:t>
            </a:fld>
            <a:endParaRPr lang="zh-CN" altLang="zh-CN" sz="1000"/>
          </a:p>
        </p:txBody>
      </p:sp>
      <p:sp>
        <p:nvSpPr>
          <p:cNvPr id="5" name="TextBox 4">
            <a:extLst>
              <a:ext uri="{FF2B5EF4-FFF2-40B4-BE49-F238E27FC236}">
                <a16:creationId xmlns:a16="http://schemas.microsoft.com/office/drawing/2014/main" xmlns="" id="{38913ECA-22F1-4E45-80E0-0446D721FAB3}"/>
              </a:ext>
            </a:extLst>
          </p:cNvPr>
          <p:cNvSpPr txBox="1"/>
          <p:nvPr/>
        </p:nvSpPr>
        <p:spPr>
          <a:xfrm>
            <a:off x="983432" y="1340768"/>
            <a:ext cx="9217024" cy="1669881"/>
          </a:xfrm>
          <a:prstGeom prst="rect">
            <a:avLst/>
          </a:prstGeom>
          <a:solidFill>
            <a:schemeClr val="accent4"/>
          </a:solidFill>
        </p:spPr>
        <p:txBody>
          <a:bodyPr wrap="square" rtlCol="0">
            <a:spAutoFit/>
          </a:bodyPr>
          <a:lstStyle/>
          <a:p>
            <a:pPr>
              <a:lnSpc>
                <a:spcPct val="150000"/>
              </a:lnSpc>
            </a:pPr>
            <a:r>
              <a:rPr lang="zh-CN" altLang="en-US" sz="3600" b="1" dirty="0">
                <a:solidFill>
                  <a:schemeClr val="bg1"/>
                </a:solidFill>
              </a:rPr>
              <a:t>若基本操作的次数对应的表达式非常复杂，难以精准表达，也没必要精准表达。</a:t>
            </a:r>
          </a:p>
        </p:txBody>
      </p:sp>
      <p:sp>
        <p:nvSpPr>
          <p:cNvPr id="6" name="内容占位符 2">
            <a:extLst>
              <a:ext uri="{FF2B5EF4-FFF2-40B4-BE49-F238E27FC236}">
                <a16:creationId xmlns:a16="http://schemas.microsoft.com/office/drawing/2014/main" xmlns="" id="{2F14AECD-990E-4E5A-84C2-588CAB8BA75B}"/>
              </a:ext>
            </a:extLst>
          </p:cNvPr>
          <p:cNvSpPr>
            <a:spLocks noGrp="1"/>
          </p:cNvSpPr>
          <p:nvPr>
            <p:ph idx="1"/>
          </p:nvPr>
        </p:nvSpPr>
        <p:spPr>
          <a:xfrm>
            <a:off x="856853" y="3606903"/>
            <a:ext cx="10081120" cy="2558402"/>
          </a:xfrm>
        </p:spPr>
        <p:txBody>
          <a:bodyPr>
            <a:normAutofit/>
          </a:bodyPr>
          <a:lstStyle/>
          <a:p>
            <a:pPr marL="0" indent="0">
              <a:lnSpc>
                <a:spcPct val="150000"/>
              </a:lnSpc>
              <a:buNone/>
            </a:pPr>
            <a:r>
              <a:rPr lang="zh-CN" altLang="en-US" dirty="0">
                <a:latin typeface="Times New Roman" panose="02020603050405020304" pitchFamily="18" charset="0"/>
                <a:cs typeface="Times New Roman" panose="02020603050405020304" pitchFamily="18" charset="0"/>
              </a:rPr>
              <a:t>例如，一个算法中基本操作的运算次数是</a:t>
            </a:r>
            <a:r>
              <a:rPr lang="en-US" altLang="zh-CN" dirty="0">
                <a:latin typeface="Times New Roman" panose="02020603050405020304" pitchFamily="18" charset="0"/>
                <a:cs typeface="Times New Roman" panose="02020603050405020304" pitchFamily="18" charset="0"/>
              </a:rPr>
              <a:t>2n</a:t>
            </a:r>
            <a:r>
              <a:rPr lang="en-US" altLang="zh-CN" baseline="30000"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rPr>
              <a:t>+ 11n + 10</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lnSpc>
                <a:spcPct val="150000"/>
              </a:lnSpc>
              <a:buNone/>
            </a:pPr>
            <a:r>
              <a:rPr lang="zh-CN" altLang="en-US" dirty="0">
                <a:latin typeface="Times New Roman" panose="02020603050405020304" pitchFamily="18" charset="0"/>
                <a:cs typeface="Times New Roman" panose="02020603050405020304" pitchFamily="18" charset="0"/>
              </a:rPr>
              <a:t>使用计算时间的“</a:t>
            </a:r>
            <a:r>
              <a:rPr lang="zh-CN" altLang="en-US" dirty="0">
                <a:highlight>
                  <a:srgbClr val="FFFF00"/>
                </a:highlight>
                <a:latin typeface="Times New Roman" panose="02020603050405020304" pitchFamily="18" charset="0"/>
                <a:cs typeface="Times New Roman" panose="02020603050405020304" pitchFamily="18" charset="0"/>
              </a:rPr>
              <a:t>渐近表示</a:t>
            </a:r>
            <a:r>
              <a:rPr lang="zh-CN" altLang="en-US" dirty="0">
                <a:latin typeface="Times New Roman" panose="02020603050405020304" pitchFamily="18" charset="0"/>
                <a:cs typeface="Times New Roman" panose="02020603050405020304" pitchFamily="18" charset="0"/>
              </a:rPr>
              <a:t>”，算法时间复杂度表示为</a:t>
            </a:r>
            <a:r>
              <a:rPr lang="en-US" altLang="zh-CN" i="1" dirty="0">
                <a:solidFill>
                  <a:srgbClr val="FF0000"/>
                </a:solidFill>
                <a:latin typeface="Times New Roman" panose="02020603050405020304" pitchFamily="18" charset="0"/>
                <a:cs typeface="Times New Roman" panose="02020603050405020304" pitchFamily="18" charset="0"/>
              </a:rPr>
              <a:t>O</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n</a:t>
            </a:r>
            <a:r>
              <a:rPr lang="en-US" altLang="zh-CN" baseline="30000" dirty="0">
                <a:solidFill>
                  <a:srgbClr val="FF0000"/>
                </a:solidFill>
                <a:latin typeface="Times New Roman" panose="02020603050405020304" pitchFamily="18" charset="0"/>
                <a:cs typeface="Times New Roman" panose="02020603050405020304" pitchFamily="18" charset="0"/>
              </a:rPr>
              <a:t>2</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a:extLst>
              <a:ext uri="{FF2B5EF4-FFF2-40B4-BE49-F238E27FC236}">
                <a16:creationId xmlns:a16="http://schemas.microsoft.com/office/drawing/2014/main" xmlns="" id="{34CFDC1B-A914-4FE8-BD67-17F8AB307418}"/>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C853A2CE-68CB-4C4A-9D54-E2026492A40B}" type="slidenum">
              <a:rPr altLang="zh-CN" sz="1000"/>
              <a:pPr>
                <a:spcBef>
                  <a:spcPct val="0"/>
                </a:spcBef>
                <a:buClrTx/>
                <a:buSzTx/>
                <a:buFont typeface="Arial" panose="020B0604020202020204" pitchFamily="34" charset="0"/>
                <a:buNone/>
              </a:pPr>
              <a:t>34</a:t>
            </a:fld>
            <a:endParaRPr lang="zh-CN" altLang="zh-CN" sz="1000"/>
          </a:p>
        </p:txBody>
      </p:sp>
      <p:sp>
        <p:nvSpPr>
          <p:cNvPr id="57347" name="Rectangle 2">
            <a:extLst>
              <a:ext uri="{FF2B5EF4-FFF2-40B4-BE49-F238E27FC236}">
                <a16:creationId xmlns:a16="http://schemas.microsoft.com/office/drawing/2014/main" xmlns="" id="{94F99133-6621-4787-841D-6710104DE3B7}"/>
              </a:ext>
            </a:extLst>
          </p:cNvPr>
          <p:cNvSpPr>
            <a:spLocks noGrp="1" noChangeArrowheads="1"/>
          </p:cNvSpPr>
          <p:nvPr>
            <p:ph type="title"/>
          </p:nvPr>
        </p:nvSpPr>
        <p:spPr>
          <a:xfrm>
            <a:off x="695400" y="404664"/>
            <a:ext cx="8229600" cy="941388"/>
          </a:xfrm>
        </p:spPr>
        <p:txBody>
          <a:bodyPr/>
          <a:lstStyle/>
          <a:p>
            <a:pPr eaLnBrk="1" hangingPunct="1"/>
            <a:r>
              <a:rPr kumimoji="1" lang="zh-CN" altLang="en-US" dirty="0">
                <a:solidFill>
                  <a:schemeClr val="tx2"/>
                </a:solidFill>
              </a:rPr>
              <a:t>计算时间的渐进表示</a:t>
            </a:r>
          </a:p>
        </p:txBody>
      </p:sp>
      <p:sp>
        <p:nvSpPr>
          <p:cNvPr id="57348" name="Rectangle 3">
            <a:extLst>
              <a:ext uri="{FF2B5EF4-FFF2-40B4-BE49-F238E27FC236}">
                <a16:creationId xmlns:a16="http://schemas.microsoft.com/office/drawing/2014/main" xmlns="" id="{0EDF7A90-2B95-4524-BA80-64829CF438BD}"/>
              </a:ext>
            </a:extLst>
          </p:cNvPr>
          <p:cNvSpPr>
            <a:spLocks noGrp="1" noChangeArrowheads="1"/>
          </p:cNvSpPr>
          <p:nvPr>
            <p:ph idx="1"/>
          </p:nvPr>
        </p:nvSpPr>
        <p:spPr>
          <a:xfrm>
            <a:off x="911424" y="1600201"/>
            <a:ext cx="8229600" cy="2368550"/>
          </a:xfrm>
        </p:spPr>
        <p:txBody>
          <a:bodyPr/>
          <a:lstStyle/>
          <a:p>
            <a:pPr eaLnBrk="1" hangingPunct="1"/>
            <a:r>
              <a:rPr lang="zh-CN" altLang="en-US" sz="3200" b="1" dirty="0">
                <a:solidFill>
                  <a:srgbClr val="C00000"/>
                </a:solidFill>
                <a:latin typeface="Times New Roman" panose="02020603050405020304" pitchFamily="18" charset="0"/>
              </a:rPr>
              <a:t>定义</a:t>
            </a:r>
            <a:r>
              <a:rPr lang="en-US" altLang="zh-CN" sz="3200" b="1" dirty="0">
                <a:solidFill>
                  <a:srgbClr val="C00000"/>
                </a:solidFill>
                <a:latin typeface="Times New Roman" panose="02020603050405020304" pitchFamily="18" charset="0"/>
              </a:rPr>
              <a:t>2.1</a:t>
            </a:r>
            <a:r>
              <a:rPr lang="zh-CN" altLang="en-US"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f</a:t>
            </a:r>
            <a:r>
              <a:rPr lang="en-US" altLang="zh-CN"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n</a:t>
            </a:r>
            <a:r>
              <a:rPr lang="en-US" altLang="zh-CN" sz="3200" b="1" dirty="0">
                <a:solidFill>
                  <a:srgbClr val="C00000"/>
                </a:solidFill>
                <a:latin typeface="Times New Roman" panose="02020603050405020304" pitchFamily="18" charset="0"/>
              </a:rPr>
              <a:t>) </a:t>
            </a:r>
            <a:r>
              <a:rPr lang="en-US" altLang="zh-CN" sz="3200" b="1" dirty="0">
                <a:solidFill>
                  <a:srgbClr val="C00000"/>
                </a:solidFill>
                <a:latin typeface="Times New Roman" panose="02020603050405020304" pitchFamily="18" charset="0"/>
                <a:sym typeface="Symbol" panose="05050102010706020507" pitchFamily="18" charset="2"/>
              </a:rPr>
              <a:t></a:t>
            </a:r>
            <a:r>
              <a:rPr lang="en-US" altLang="zh-CN" sz="3200" b="1" dirty="0">
                <a:solidFill>
                  <a:srgbClr val="C00000"/>
                </a:solidFill>
                <a:latin typeface="Times New Roman" panose="02020603050405020304" pitchFamily="18" charset="0"/>
              </a:rPr>
              <a:t> </a:t>
            </a:r>
            <a:r>
              <a:rPr lang="en-US" altLang="zh-CN" sz="3200" b="1" i="1" dirty="0">
                <a:solidFill>
                  <a:srgbClr val="C00000"/>
                </a:solidFill>
                <a:latin typeface="Times New Roman" panose="02020603050405020304" pitchFamily="18" charset="0"/>
              </a:rPr>
              <a:t>O</a:t>
            </a:r>
            <a:r>
              <a:rPr lang="en-US" altLang="zh-CN"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g</a:t>
            </a:r>
            <a:r>
              <a:rPr lang="en-US" altLang="zh-CN"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n</a:t>
            </a:r>
            <a:r>
              <a:rPr lang="en-US" altLang="zh-CN" sz="3200" b="1" dirty="0">
                <a:solidFill>
                  <a:srgbClr val="C00000"/>
                </a:solidFill>
                <a:latin typeface="Times New Roman" panose="02020603050405020304" pitchFamily="18" charset="0"/>
              </a:rPr>
              <a:t>))</a:t>
            </a:r>
          </a:p>
          <a:p>
            <a:pPr eaLnBrk="1" hangingPunct="1"/>
            <a:r>
              <a:rPr lang="zh-CN" altLang="en-US" sz="3200" b="1" dirty="0">
                <a:solidFill>
                  <a:srgbClr val="C00000"/>
                </a:solidFill>
                <a:latin typeface="Times New Roman" panose="02020603050405020304" pitchFamily="18" charset="0"/>
              </a:rPr>
              <a:t>定义</a:t>
            </a:r>
            <a:r>
              <a:rPr lang="en-US" altLang="zh-CN" sz="3200" b="1" dirty="0">
                <a:solidFill>
                  <a:srgbClr val="C00000"/>
                </a:solidFill>
                <a:latin typeface="Times New Roman" panose="02020603050405020304" pitchFamily="18" charset="0"/>
              </a:rPr>
              <a:t>2.2</a:t>
            </a:r>
            <a:r>
              <a:rPr lang="zh-CN" altLang="en-US" sz="3200" b="1" dirty="0">
                <a:solidFill>
                  <a:srgbClr val="C00000"/>
                </a:solidFill>
                <a:latin typeface="Times New Roman" panose="02020603050405020304" pitchFamily="18" charset="0"/>
              </a:rPr>
              <a:t>： </a:t>
            </a:r>
            <a:r>
              <a:rPr lang="en-US" altLang="zh-CN" sz="3200" b="1" i="1" dirty="0">
                <a:solidFill>
                  <a:srgbClr val="C00000"/>
                </a:solidFill>
                <a:latin typeface="Times New Roman" panose="02020603050405020304" pitchFamily="18" charset="0"/>
              </a:rPr>
              <a:t>f</a:t>
            </a:r>
            <a:r>
              <a:rPr lang="en-US" altLang="zh-CN"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n</a:t>
            </a:r>
            <a:r>
              <a:rPr lang="en-US" altLang="zh-CN" sz="3200" b="1" dirty="0">
                <a:solidFill>
                  <a:srgbClr val="C00000"/>
                </a:solidFill>
                <a:latin typeface="Times New Roman" panose="02020603050405020304" pitchFamily="18" charset="0"/>
              </a:rPr>
              <a:t>) </a:t>
            </a:r>
            <a:r>
              <a:rPr lang="en-US" altLang="zh-CN" sz="3200" b="1" dirty="0">
                <a:solidFill>
                  <a:srgbClr val="C00000"/>
                </a:solidFill>
                <a:latin typeface="Times New Roman" panose="02020603050405020304" pitchFamily="18" charset="0"/>
                <a:sym typeface="Symbol" panose="05050102010706020507" pitchFamily="18" charset="2"/>
              </a:rPr>
              <a:t></a:t>
            </a:r>
            <a:r>
              <a:rPr lang="en-US" altLang="zh-CN" sz="3200" b="1" dirty="0">
                <a:solidFill>
                  <a:srgbClr val="C00000"/>
                </a:solidFill>
                <a:latin typeface="Times New Roman" panose="02020603050405020304" pitchFamily="18" charset="0"/>
              </a:rPr>
              <a:t> </a:t>
            </a:r>
            <a:r>
              <a:rPr lang="en-US" altLang="zh-CN" sz="3200" b="1" dirty="0">
                <a:solidFill>
                  <a:srgbClr val="C00000"/>
                </a:solidFill>
                <a:latin typeface="Times New Roman" panose="02020603050405020304" pitchFamily="18" charset="0"/>
                <a:sym typeface="Symbol" panose="05050102010706020507" pitchFamily="18" charset="2"/>
              </a:rPr>
              <a:t></a:t>
            </a:r>
            <a:r>
              <a:rPr lang="en-US" altLang="zh-CN"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g</a:t>
            </a:r>
            <a:r>
              <a:rPr lang="en-US" altLang="zh-CN"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n</a:t>
            </a:r>
            <a:r>
              <a:rPr lang="en-US" altLang="zh-CN" sz="3200" b="1" dirty="0">
                <a:solidFill>
                  <a:srgbClr val="C00000"/>
                </a:solidFill>
                <a:latin typeface="Times New Roman" panose="02020603050405020304" pitchFamily="18" charset="0"/>
              </a:rPr>
              <a:t>))</a:t>
            </a:r>
            <a:endParaRPr lang="en-US" altLang="zh-CN" sz="3200" b="1" dirty="0">
              <a:solidFill>
                <a:srgbClr val="C00000"/>
              </a:solidFill>
              <a:latin typeface="Times New Roman" panose="02020603050405020304" pitchFamily="18" charset="0"/>
              <a:sym typeface="Symbol" panose="05050102010706020507" pitchFamily="18" charset="2"/>
            </a:endParaRPr>
          </a:p>
          <a:p>
            <a:pPr eaLnBrk="1" hangingPunct="1"/>
            <a:r>
              <a:rPr lang="zh-CN" altLang="en-US" sz="3200" b="1" dirty="0">
                <a:solidFill>
                  <a:srgbClr val="C00000"/>
                </a:solidFill>
                <a:latin typeface="Times New Roman" panose="02020603050405020304" pitchFamily="18" charset="0"/>
              </a:rPr>
              <a:t>定义</a:t>
            </a:r>
            <a:r>
              <a:rPr lang="en-US" altLang="zh-CN" sz="3200" b="1" dirty="0">
                <a:solidFill>
                  <a:srgbClr val="C00000"/>
                </a:solidFill>
                <a:latin typeface="Times New Roman" panose="02020603050405020304" pitchFamily="18" charset="0"/>
              </a:rPr>
              <a:t>2.3</a:t>
            </a:r>
            <a:r>
              <a:rPr lang="zh-CN" altLang="en-US" sz="3200" b="1" dirty="0">
                <a:solidFill>
                  <a:srgbClr val="C00000"/>
                </a:solidFill>
                <a:latin typeface="Times New Roman" panose="02020603050405020304" pitchFamily="18" charset="0"/>
              </a:rPr>
              <a:t>： </a:t>
            </a:r>
            <a:r>
              <a:rPr lang="en-US" altLang="zh-CN" sz="3200" b="1" i="1" dirty="0">
                <a:solidFill>
                  <a:srgbClr val="C00000"/>
                </a:solidFill>
                <a:latin typeface="Times New Roman" panose="02020603050405020304" pitchFamily="18" charset="0"/>
              </a:rPr>
              <a:t>f</a:t>
            </a:r>
            <a:r>
              <a:rPr lang="en-US" altLang="zh-CN"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n</a:t>
            </a:r>
            <a:r>
              <a:rPr lang="en-US" altLang="zh-CN" sz="3200" b="1" dirty="0">
                <a:solidFill>
                  <a:srgbClr val="C00000"/>
                </a:solidFill>
                <a:latin typeface="Times New Roman" panose="02020603050405020304" pitchFamily="18" charset="0"/>
              </a:rPr>
              <a:t>) </a:t>
            </a:r>
            <a:r>
              <a:rPr lang="en-US" altLang="zh-CN" sz="3200" b="1" dirty="0">
                <a:solidFill>
                  <a:srgbClr val="C00000"/>
                </a:solidFill>
                <a:latin typeface="Times New Roman" panose="02020603050405020304" pitchFamily="18" charset="0"/>
                <a:sym typeface="Symbol" panose="05050102010706020507" pitchFamily="18" charset="2"/>
              </a:rPr>
              <a:t></a:t>
            </a:r>
            <a:r>
              <a:rPr lang="en-US" altLang="zh-CN" sz="3200" b="1" dirty="0">
                <a:solidFill>
                  <a:srgbClr val="C00000"/>
                </a:solidFill>
                <a:latin typeface="Times New Roman" panose="02020603050405020304" pitchFamily="18" charset="0"/>
              </a:rPr>
              <a:t> </a:t>
            </a:r>
            <a:r>
              <a:rPr lang="en-US" altLang="zh-CN" sz="3200" b="1" dirty="0">
                <a:solidFill>
                  <a:srgbClr val="C00000"/>
                </a:solidFill>
                <a:latin typeface="Times New Roman" panose="02020603050405020304" pitchFamily="18" charset="0"/>
                <a:sym typeface="Symbol" panose="05050102010706020507" pitchFamily="18" charset="2"/>
              </a:rPr>
              <a:t></a:t>
            </a:r>
            <a:r>
              <a:rPr lang="en-US" altLang="zh-CN" sz="3600" b="1" dirty="0">
                <a:solidFill>
                  <a:srgbClr val="C00000"/>
                </a:solidFill>
                <a:latin typeface="Times New Roman" panose="02020603050405020304" pitchFamily="18" charset="0"/>
              </a:rPr>
              <a:t>(</a:t>
            </a:r>
            <a:r>
              <a:rPr lang="en-US" altLang="zh-CN" sz="3600" b="1" i="1" dirty="0">
                <a:solidFill>
                  <a:srgbClr val="C00000"/>
                </a:solidFill>
                <a:latin typeface="Times New Roman" panose="02020603050405020304" pitchFamily="18" charset="0"/>
              </a:rPr>
              <a:t>g</a:t>
            </a:r>
            <a:r>
              <a:rPr lang="en-US" altLang="zh-CN" sz="3600" b="1" dirty="0">
                <a:solidFill>
                  <a:srgbClr val="C00000"/>
                </a:solidFill>
                <a:latin typeface="Times New Roman" panose="02020603050405020304" pitchFamily="18" charset="0"/>
              </a:rPr>
              <a:t>(</a:t>
            </a:r>
            <a:r>
              <a:rPr lang="en-US" altLang="zh-CN" sz="3600" b="1" i="1" dirty="0">
                <a:solidFill>
                  <a:srgbClr val="C00000"/>
                </a:solidFill>
                <a:latin typeface="Times New Roman" panose="02020603050405020304" pitchFamily="18" charset="0"/>
              </a:rPr>
              <a:t>n</a:t>
            </a:r>
            <a:r>
              <a:rPr lang="en-US" altLang="zh-CN" sz="3200" b="1" dirty="0">
                <a:solidFill>
                  <a:srgbClr val="C00000"/>
                </a:solidFill>
                <a:latin typeface="Times New Roman" panose="02020603050405020304" pitchFamily="18" charset="0"/>
              </a:rPr>
              <a:t>))</a:t>
            </a:r>
            <a:r>
              <a:rPr lang="en-US" altLang="zh-CN" sz="3200" b="1" dirty="0">
                <a:solidFill>
                  <a:srgbClr val="C00000"/>
                </a:solidFill>
                <a:latin typeface="Times New Roman" panose="02020603050405020304" pitchFamily="18" charset="0"/>
                <a:sym typeface="Symbol" panose="05050102010706020507" pitchFamily="18" charset="2"/>
              </a:rPr>
              <a:t> </a:t>
            </a:r>
          </a:p>
        </p:txBody>
      </p:sp>
      <p:sp>
        <p:nvSpPr>
          <p:cNvPr id="57349" name="Rectangle 3">
            <a:extLst>
              <a:ext uri="{FF2B5EF4-FFF2-40B4-BE49-F238E27FC236}">
                <a16:creationId xmlns:a16="http://schemas.microsoft.com/office/drawing/2014/main" xmlns="" id="{5E6022EA-26F3-4432-A309-2227F1D3B9B8}"/>
              </a:ext>
            </a:extLst>
          </p:cNvPr>
          <p:cNvSpPr>
            <a:spLocks noChangeArrowheads="1"/>
          </p:cNvSpPr>
          <p:nvPr/>
        </p:nvSpPr>
        <p:spPr bwMode="auto">
          <a:xfrm>
            <a:off x="727942" y="3896517"/>
            <a:ext cx="10625857" cy="272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3200" i="1" dirty="0">
                <a:latin typeface="Times New Roman" panose="02020603050405020304" pitchFamily="18" charset="0"/>
              </a:rPr>
              <a:t> n</a:t>
            </a:r>
            <a:r>
              <a:rPr lang="zh-CN" altLang="en-US" sz="3200" dirty="0">
                <a:latin typeface="Times New Roman" panose="02020603050405020304" pitchFamily="18" charset="0"/>
              </a:rPr>
              <a:t>表示问题的规模</a:t>
            </a:r>
          </a:p>
          <a:p>
            <a:pPr eaLnBrk="1" hangingPunct="1">
              <a:buFont typeface="Wingdings" panose="05000000000000000000" pitchFamily="2" charset="2"/>
              <a:buNone/>
            </a:pPr>
            <a:r>
              <a:rPr lang="zh-CN" altLang="en-US" sz="3200" i="1" dirty="0">
                <a:latin typeface="Times New Roman" panose="02020603050405020304" pitchFamily="18" charset="0"/>
              </a:rPr>
              <a:t> </a:t>
            </a:r>
            <a:r>
              <a:rPr lang="en-US" altLang="zh-CN" sz="3200" i="1" dirty="0">
                <a:latin typeface="Times New Roman" panose="02020603050405020304" pitchFamily="18" charset="0"/>
              </a:rPr>
              <a:t>f</a:t>
            </a:r>
            <a:r>
              <a:rPr lang="en-US" altLang="zh-CN" sz="3200" dirty="0">
                <a:latin typeface="Times New Roman" panose="02020603050405020304" pitchFamily="18" charset="0"/>
              </a:rPr>
              <a:t>(</a:t>
            </a:r>
            <a:r>
              <a:rPr lang="en-US" altLang="zh-CN" sz="3200" i="1" dirty="0">
                <a:latin typeface="Times New Roman" panose="02020603050405020304" pitchFamily="18" charset="0"/>
              </a:rPr>
              <a:t>n</a:t>
            </a:r>
            <a:r>
              <a:rPr lang="en-US" altLang="zh-CN" sz="3200" dirty="0">
                <a:latin typeface="Times New Roman" panose="02020603050405020304" pitchFamily="18" charset="0"/>
              </a:rPr>
              <a:t>) </a:t>
            </a:r>
            <a:r>
              <a:rPr lang="zh-CN" altLang="en-US" sz="3200" dirty="0">
                <a:latin typeface="Times New Roman" panose="02020603050405020304" pitchFamily="18" charset="0"/>
              </a:rPr>
              <a:t>表示算法的计算时间</a:t>
            </a:r>
          </a:p>
          <a:p>
            <a:pPr eaLnBrk="1" hangingPunct="1">
              <a:buFont typeface="Wingdings" panose="05000000000000000000" pitchFamily="2" charset="2"/>
              <a:buNone/>
            </a:pPr>
            <a:r>
              <a:rPr lang="zh-CN" altLang="en-US" sz="3200" i="1" dirty="0">
                <a:latin typeface="Times New Roman" panose="02020603050405020304" pitchFamily="18" charset="0"/>
              </a:rPr>
              <a:t> </a:t>
            </a:r>
            <a:r>
              <a:rPr lang="en-US" altLang="zh-CN" sz="3200" i="1" dirty="0">
                <a:latin typeface="Times New Roman" panose="02020603050405020304" pitchFamily="18" charset="0"/>
              </a:rPr>
              <a:t>g</a:t>
            </a:r>
            <a:r>
              <a:rPr lang="en-US" altLang="zh-CN" sz="3200" dirty="0">
                <a:latin typeface="Times New Roman" panose="02020603050405020304" pitchFamily="18" charset="0"/>
              </a:rPr>
              <a:t>(</a:t>
            </a:r>
            <a:r>
              <a:rPr lang="en-US" altLang="zh-CN" sz="3200" i="1" dirty="0">
                <a:latin typeface="Times New Roman" panose="02020603050405020304" pitchFamily="18" charset="0"/>
              </a:rPr>
              <a:t>n</a:t>
            </a:r>
            <a:r>
              <a:rPr lang="en-US" altLang="zh-CN" sz="3200" dirty="0">
                <a:latin typeface="Times New Roman" panose="02020603050405020304" pitchFamily="18" charset="0"/>
              </a:rPr>
              <a:t>)</a:t>
            </a:r>
            <a:r>
              <a:rPr lang="zh-CN" altLang="en-US" sz="3200" dirty="0">
                <a:latin typeface="Times New Roman" panose="02020603050405020304" pitchFamily="18" charset="0"/>
              </a:rPr>
              <a:t>是在事前分析中确定的某个形式简单的函数 </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kumimoji="1" lang="zh-CN" altLang="en-US" dirty="0">
                <a:solidFill>
                  <a:schemeClr val="tx2"/>
                </a:solidFill>
              </a:rPr>
              <a:t>定义</a:t>
            </a:r>
            <a:r>
              <a:rPr kumimoji="1" lang="en-US" altLang="zh-CN" dirty="0">
                <a:solidFill>
                  <a:schemeClr val="tx2"/>
                </a:solidFill>
              </a:rPr>
              <a:t>2.1</a:t>
            </a:r>
          </a:p>
        </p:txBody>
      </p:sp>
      <p:sp>
        <p:nvSpPr>
          <p:cNvPr id="51205" name="Rectangle 5"/>
          <p:cNvSpPr>
            <a:spLocks noChangeArrowheads="1"/>
          </p:cNvSpPr>
          <p:nvPr/>
        </p:nvSpPr>
        <p:spPr bwMode="auto">
          <a:xfrm>
            <a:off x="766191" y="3505933"/>
            <a:ext cx="10298215" cy="302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28600" indent="-228600">
              <a:lnSpc>
                <a:spcPct val="110000"/>
              </a:lnSpc>
              <a:spcBef>
                <a:spcPts val="1000"/>
              </a:spcBef>
              <a:buClr>
                <a:srgbClr val="1E5293"/>
              </a:buClr>
              <a:buSzPct val="70000"/>
              <a:buFont typeface="Wingdings" panose="05000000000000000000" pitchFamily="2" charset="2"/>
              <a:buChar char="l"/>
            </a:pPr>
            <a:r>
              <a:rPr kumimoji="1" lang="zh-CN" altLang="en-US" sz="2800" dirty="0">
                <a:latin typeface="Arial" panose="020B0604020202020204" pitchFamily="34" charset="0"/>
                <a:ea typeface="幼圆" panose="02010509060101010101" pitchFamily="49" charset="-122"/>
                <a:cs typeface="Arial" panose="020B0604020202020204" pitchFamily="34" charset="0"/>
              </a:rPr>
              <a:t>当</a:t>
            </a:r>
            <a:r>
              <a:rPr kumimoji="1" lang="en-US" altLang="zh-CN" sz="2800" dirty="0">
                <a:latin typeface="Arial" panose="020B0604020202020204" pitchFamily="34" charset="0"/>
                <a:ea typeface="幼圆" panose="02010509060101010101" pitchFamily="49" charset="-122"/>
                <a:cs typeface="Arial" panose="020B0604020202020204" pitchFamily="34" charset="0"/>
              </a:rPr>
              <a:t>n</a:t>
            </a:r>
            <a:r>
              <a:rPr kumimoji="1" lang="zh-CN" altLang="en-US" sz="2800" dirty="0">
                <a:latin typeface="Arial" panose="020B0604020202020204" pitchFamily="34" charset="0"/>
                <a:ea typeface="幼圆" panose="02010509060101010101" pitchFamily="49" charset="-122"/>
                <a:cs typeface="Arial" panose="020B0604020202020204" pitchFamily="34" charset="0"/>
              </a:rPr>
              <a:t>充分大时，</a:t>
            </a:r>
            <a:r>
              <a:rPr kumimoji="1" lang="en-US" altLang="zh-CN" sz="2800" dirty="0">
                <a:latin typeface="Arial" panose="020B0604020202020204" pitchFamily="34" charset="0"/>
                <a:ea typeface="幼圆" panose="02010509060101010101" pitchFamily="49" charset="-122"/>
                <a:cs typeface="Arial" panose="020B0604020202020204" pitchFamily="34" charset="0"/>
              </a:rPr>
              <a:t>f(n)</a:t>
            </a:r>
            <a:r>
              <a:rPr kumimoji="1" lang="zh-CN" altLang="en-US" sz="2800" dirty="0">
                <a:latin typeface="Arial" panose="020B0604020202020204" pitchFamily="34" charset="0"/>
                <a:ea typeface="幼圆" panose="02010509060101010101" pitchFamily="49" charset="-122"/>
                <a:cs typeface="Arial" panose="020B0604020202020204" pitchFamily="34" charset="0"/>
              </a:rPr>
              <a:t>有上界，一个常数倍的</a:t>
            </a:r>
            <a:r>
              <a:rPr kumimoji="1" lang="en-US" altLang="zh-CN" sz="2800" dirty="0">
                <a:latin typeface="Arial" panose="020B0604020202020204" pitchFamily="34" charset="0"/>
                <a:ea typeface="幼圆" panose="02010509060101010101" pitchFamily="49" charset="-122"/>
                <a:cs typeface="Arial" panose="020B0604020202020204" pitchFamily="34" charset="0"/>
              </a:rPr>
              <a:t>g(n)</a:t>
            </a:r>
            <a:r>
              <a:rPr kumimoji="1" lang="zh-CN" altLang="en-US" sz="2800" dirty="0">
                <a:latin typeface="Arial" panose="020B0604020202020204" pitchFamily="34" charset="0"/>
                <a:ea typeface="幼圆" panose="02010509060101010101" pitchFamily="49" charset="-122"/>
                <a:cs typeface="Arial" panose="020B0604020202020204" pitchFamily="34" charset="0"/>
              </a:rPr>
              <a:t>是</a:t>
            </a:r>
            <a:r>
              <a:rPr kumimoji="1" lang="en-US" altLang="zh-CN" sz="2800" dirty="0">
                <a:latin typeface="Arial" panose="020B0604020202020204" pitchFamily="34" charset="0"/>
                <a:ea typeface="幼圆" panose="02010509060101010101" pitchFamily="49" charset="-122"/>
                <a:cs typeface="Arial" panose="020B0604020202020204" pitchFamily="34" charset="0"/>
              </a:rPr>
              <a:t>f(n)</a:t>
            </a:r>
            <a:r>
              <a:rPr kumimoji="1" lang="zh-CN" altLang="en-US" sz="2800" dirty="0">
                <a:latin typeface="Arial" panose="020B0604020202020204" pitchFamily="34" charset="0"/>
                <a:ea typeface="幼圆" panose="02010509060101010101" pitchFamily="49" charset="-122"/>
                <a:cs typeface="Arial" panose="020B0604020202020204" pitchFamily="34" charset="0"/>
              </a:rPr>
              <a:t>的一个上界，</a:t>
            </a:r>
            <a:r>
              <a:rPr kumimoji="1" lang="en-US" altLang="zh-CN" sz="2800" dirty="0">
                <a:latin typeface="Arial" panose="020B0604020202020204" pitchFamily="34" charset="0"/>
                <a:ea typeface="幼圆" panose="02010509060101010101" pitchFamily="49" charset="-122"/>
                <a:cs typeface="Arial" panose="020B0604020202020204" pitchFamily="34" charset="0"/>
              </a:rPr>
              <a:t>f(n)</a:t>
            </a:r>
            <a:r>
              <a:rPr kumimoji="1" lang="zh-CN" altLang="en-US" sz="2800" dirty="0">
                <a:latin typeface="Arial" panose="020B0604020202020204" pitchFamily="34" charset="0"/>
                <a:ea typeface="幼圆" panose="02010509060101010101" pitchFamily="49" charset="-122"/>
                <a:cs typeface="Arial" panose="020B0604020202020204" pitchFamily="34" charset="0"/>
              </a:rPr>
              <a:t>的</a:t>
            </a:r>
            <a:r>
              <a:rPr kumimoji="1" lang="zh-CN" altLang="en-US" sz="2800" dirty="0">
                <a:solidFill>
                  <a:srgbClr val="FF0000"/>
                </a:solidFill>
                <a:latin typeface="Arial" panose="020B0604020202020204" pitchFamily="34" charset="0"/>
                <a:ea typeface="幼圆" panose="02010509060101010101" pitchFamily="49" charset="-122"/>
                <a:cs typeface="Arial" panose="020B0604020202020204" pitchFamily="34" charset="0"/>
              </a:rPr>
              <a:t>数量级（或阶）</a:t>
            </a:r>
            <a:r>
              <a:rPr kumimoji="1" lang="zh-CN" altLang="en-US" sz="2800" dirty="0">
                <a:latin typeface="Arial" panose="020B0604020202020204" pitchFamily="34" charset="0"/>
                <a:ea typeface="幼圆" panose="02010509060101010101" pitchFamily="49" charset="-122"/>
                <a:cs typeface="Arial" panose="020B0604020202020204" pitchFamily="34" charset="0"/>
              </a:rPr>
              <a:t>就是</a:t>
            </a:r>
            <a:r>
              <a:rPr kumimoji="1" lang="en-US" altLang="zh-CN" sz="2800" dirty="0">
                <a:latin typeface="Arial" panose="020B0604020202020204" pitchFamily="34" charset="0"/>
                <a:ea typeface="幼圆" panose="02010509060101010101" pitchFamily="49" charset="-122"/>
                <a:cs typeface="Arial" panose="020B0604020202020204" pitchFamily="34" charset="0"/>
              </a:rPr>
              <a:t>g(n)</a:t>
            </a:r>
            <a:r>
              <a:rPr kumimoji="1" lang="zh-CN" altLang="en-US" sz="2800" dirty="0">
                <a:latin typeface="Arial" panose="020B0604020202020204" pitchFamily="34" charset="0"/>
                <a:ea typeface="幼圆" panose="02010509060101010101" pitchFamily="49" charset="-122"/>
                <a:cs typeface="Arial" panose="020B0604020202020204" pitchFamily="34" charset="0"/>
              </a:rPr>
              <a:t>。</a:t>
            </a:r>
          </a:p>
          <a:p>
            <a:pPr marL="228600" indent="-228600">
              <a:lnSpc>
                <a:spcPct val="110000"/>
              </a:lnSpc>
              <a:spcBef>
                <a:spcPts val="1000"/>
              </a:spcBef>
              <a:buClr>
                <a:srgbClr val="1E5293"/>
              </a:buClr>
              <a:buSzPct val="70000"/>
              <a:buFont typeface="Wingdings" panose="05000000000000000000" pitchFamily="2" charset="2"/>
              <a:buChar char="l"/>
            </a:pPr>
            <a:r>
              <a:rPr kumimoji="1" lang="en-US" altLang="zh-CN" sz="2800" dirty="0">
                <a:latin typeface="Arial" panose="020B0604020202020204" pitchFamily="34" charset="0"/>
                <a:ea typeface="幼圆" panose="02010509060101010101" pitchFamily="49" charset="-122"/>
                <a:cs typeface="Arial" panose="020B0604020202020204" pitchFamily="34" charset="0"/>
              </a:rPr>
              <a:t>f(n)</a:t>
            </a:r>
            <a:r>
              <a:rPr kumimoji="1" lang="zh-CN" altLang="en-US" sz="2800" dirty="0">
                <a:latin typeface="Arial" panose="020B0604020202020204" pitchFamily="34" charset="0"/>
                <a:ea typeface="幼圆" panose="02010509060101010101" pitchFamily="49" charset="-122"/>
                <a:cs typeface="Arial" panose="020B0604020202020204" pitchFamily="34" charset="0"/>
              </a:rPr>
              <a:t>的阶不高于</a:t>
            </a:r>
            <a:r>
              <a:rPr kumimoji="1" lang="en-US" altLang="zh-CN" sz="2800" dirty="0">
                <a:latin typeface="Arial" panose="020B0604020202020204" pitchFamily="34" charset="0"/>
                <a:ea typeface="幼圆" panose="02010509060101010101" pitchFamily="49" charset="-122"/>
                <a:cs typeface="Arial" panose="020B0604020202020204" pitchFamily="34" charset="0"/>
              </a:rPr>
              <a:t>g(n)</a:t>
            </a:r>
            <a:r>
              <a:rPr kumimoji="1" lang="zh-CN" altLang="en-US" sz="2800" dirty="0">
                <a:latin typeface="Arial" panose="020B0604020202020204" pitchFamily="34" charset="0"/>
                <a:ea typeface="幼圆" panose="02010509060101010101" pitchFamily="49" charset="-122"/>
                <a:cs typeface="Arial" panose="020B0604020202020204" pitchFamily="34" charset="0"/>
              </a:rPr>
              <a:t>的阶。</a:t>
            </a:r>
          </a:p>
          <a:p>
            <a:pPr marL="228600" indent="-228600">
              <a:lnSpc>
                <a:spcPct val="110000"/>
              </a:lnSpc>
              <a:spcBef>
                <a:spcPts val="1000"/>
              </a:spcBef>
              <a:buClr>
                <a:srgbClr val="1E5293"/>
              </a:buClr>
              <a:buSzPct val="70000"/>
              <a:buFont typeface="Wingdings" panose="05000000000000000000" pitchFamily="2" charset="2"/>
              <a:buChar char="l"/>
            </a:pPr>
            <a:r>
              <a:rPr kumimoji="1" lang="zh-CN" altLang="en-US" sz="2800" dirty="0">
                <a:latin typeface="Arial" panose="020B0604020202020204" pitchFamily="34" charset="0"/>
                <a:ea typeface="幼圆" panose="02010509060101010101" pitchFamily="49" charset="-122"/>
                <a:cs typeface="Arial" panose="020B0604020202020204" pitchFamily="34" charset="0"/>
              </a:rPr>
              <a:t>在确定</a:t>
            </a:r>
            <a:r>
              <a:rPr kumimoji="1" lang="en-US" altLang="zh-CN" sz="2800" dirty="0">
                <a:latin typeface="Arial" panose="020B0604020202020204" pitchFamily="34" charset="0"/>
                <a:ea typeface="幼圆" panose="02010509060101010101" pitchFamily="49" charset="-122"/>
                <a:cs typeface="Arial" panose="020B0604020202020204" pitchFamily="34" charset="0"/>
              </a:rPr>
              <a:t>f(n)</a:t>
            </a:r>
            <a:r>
              <a:rPr kumimoji="1" lang="zh-CN" altLang="en-US" sz="2800" dirty="0">
                <a:latin typeface="Arial" panose="020B0604020202020204" pitchFamily="34" charset="0"/>
                <a:ea typeface="幼圆" panose="02010509060101010101" pitchFamily="49" charset="-122"/>
                <a:cs typeface="Arial" panose="020B0604020202020204" pitchFamily="34" charset="0"/>
              </a:rPr>
              <a:t>的数量级时，总是试图求出</a:t>
            </a:r>
            <a:r>
              <a:rPr kumimoji="1" lang="zh-CN" altLang="en-US" sz="2800" dirty="0">
                <a:solidFill>
                  <a:srgbClr val="FF0000"/>
                </a:solidFill>
                <a:latin typeface="Arial" panose="020B0604020202020204" pitchFamily="34" charset="0"/>
                <a:ea typeface="幼圆" panose="02010509060101010101" pitchFamily="49" charset="-122"/>
                <a:cs typeface="Arial" panose="020B0604020202020204" pitchFamily="34" charset="0"/>
              </a:rPr>
              <a:t>最小的</a:t>
            </a:r>
            <a:r>
              <a:rPr kumimoji="1" lang="en-US" altLang="zh-CN" sz="2800" dirty="0">
                <a:latin typeface="Arial" panose="020B0604020202020204" pitchFamily="34" charset="0"/>
                <a:ea typeface="幼圆" panose="02010509060101010101" pitchFamily="49" charset="-122"/>
                <a:cs typeface="Arial" panose="020B0604020202020204" pitchFamily="34" charset="0"/>
              </a:rPr>
              <a:t>g(n)</a:t>
            </a:r>
            <a:r>
              <a:rPr kumimoji="1" lang="zh-CN" altLang="en-US" sz="2800" dirty="0">
                <a:latin typeface="Arial" panose="020B0604020202020204" pitchFamily="34" charset="0"/>
                <a:ea typeface="幼圆" panose="02010509060101010101" pitchFamily="49" charset="-122"/>
                <a:cs typeface="Arial" panose="020B0604020202020204" pitchFamily="34" charset="0"/>
              </a:rPr>
              <a:t>。</a:t>
            </a:r>
          </a:p>
          <a:p>
            <a:pPr marL="228600" indent="-228600">
              <a:lnSpc>
                <a:spcPct val="110000"/>
              </a:lnSpc>
              <a:spcBef>
                <a:spcPts val="1000"/>
              </a:spcBef>
              <a:buClr>
                <a:srgbClr val="1E5293"/>
              </a:buClr>
              <a:buSzPct val="70000"/>
              <a:buFont typeface="Wingdings" panose="05000000000000000000" pitchFamily="2" charset="2"/>
              <a:buChar char="l"/>
            </a:pPr>
            <a:r>
              <a:rPr kumimoji="1" lang="zh-CN" altLang="en-US" sz="2800" dirty="0">
                <a:latin typeface="Arial" panose="020B0604020202020204" pitchFamily="34" charset="0"/>
                <a:ea typeface="幼圆" panose="02010509060101010101" pitchFamily="49" charset="-122"/>
                <a:cs typeface="Arial" panose="020B0604020202020204" pitchFamily="34" charset="0"/>
              </a:rPr>
              <a:t>有关证明中，找出</a:t>
            </a:r>
            <a:r>
              <a:rPr kumimoji="1" lang="en-US" altLang="zh-CN" sz="2800" dirty="0">
                <a:latin typeface="Arial" panose="020B0604020202020204" pitchFamily="34" charset="0"/>
                <a:ea typeface="幼圆" panose="02010509060101010101" pitchFamily="49" charset="-122"/>
                <a:cs typeface="Arial" panose="020B0604020202020204" pitchFamily="34" charset="0"/>
              </a:rPr>
              <a:t>c</a:t>
            </a:r>
            <a:r>
              <a:rPr kumimoji="1" lang="zh-CN" altLang="en-US" sz="2800" dirty="0">
                <a:latin typeface="Arial" panose="020B0604020202020204" pitchFamily="34" charset="0"/>
                <a:ea typeface="幼圆" panose="02010509060101010101" pitchFamily="49" charset="-122"/>
                <a:cs typeface="Arial" panose="020B0604020202020204" pitchFamily="34" charset="0"/>
              </a:rPr>
              <a:t>和</a:t>
            </a:r>
            <a:r>
              <a:rPr kumimoji="1" lang="en-US" altLang="zh-CN" sz="2800" dirty="0">
                <a:latin typeface="Arial" panose="020B0604020202020204" pitchFamily="34" charset="0"/>
                <a:ea typeface="幼圆" panose="02010509060101010101" pitchFamily="49" charset="-122"/>
                <a:cs typeface="Arial" panose="020B0604020202020204" pitchFamily="34" charset="0"/>
              </a:rPr>
              <a:t>n</a:t>
            </a:r>
            <a:r>
              <a:rPr kumimoji="1" lang="en-US" altLang="zh-CN" sz="2800" baseline="-25000" dirty="0">
                <a:latin typeface="Arial" panose="020B0604020202020204" pitchFamily="34" charset="0"/>
                <a:ea typeface="幼圆" panose="02010509060101010101" pitchFamily="49" charset="-122"/>
                <a:cs typeface="Arial" panose="020B0604020202020204" pitchFamily="34" charset="0"/>
              </a:rPr>
              <a:t>0</a:t>
            </a:r>
            <a:r>
              <a:rPr kumimoji="1" lang="zh-CN" altLang="en-US" sz="2800" dirty="0">
                <a:latin typeface="Arial" panose="020B0604020202020204" pitchFamily="34" charset="0"/>
                <a:ea typeface="幼圆" panose="02010509060101010101" pitchFamily="49" charset="-122"/>
                <a:cs typeface="Arial" panose="020B0604020202020204" pitchFamily="34" charset="0"/>
              </a:rPr>
              <a:t>是关键。</a:t>
            </a:r>
          </a:p>
        </p:txBody>
      </p:sp>
      <p:grpSp>
        <p:nvGrpSpPr>
          <p:cNvPr id="6" name="组合 5"/>
          <p:cNvGrpSpPr/>
          <p:nvPr/>
        </p:nvGrpSpPr>
        <p:grpSpPr>
          <a:xfrm>
            <a:off x="5569586" y="404666"/>
            <a:ext cx="4774887" cy="1780703"/>
            <a:chOff x="1142976" y="4258910"/>
            <a:chExt cx="6001586" cy="2543322"/>
          </a:xfrm>
        </p:grpSpPr>
        <p:grpSp>
          <p:nvGrpSpPr>
            <p:cNvPr id="7" name="组合 6"/>
            <p:cNvGrpSpPr/>
            <p:nvPr/>
          </p:nvGrpSpPr>
          <p:grpSpPr>
            <a:xfrm>
              <a:off x="1142976" y="4429132"/>
              <a:ext cx="6001586" cy="2373100"/>
              <a:chOff x="1142182" y="4429926"/>
              <a:chExt cx="6001586" cy="2373100"/>
            </a:xfrm>
          </p:grpSpPr>
          <p:cxnSp>
            <p:nvCxnSpPr>
              <p:cNvPr id="17" name="直接箭头连接符 16"/>
              <p:cNvCxnSpPr/>
              <p:nvPr/>
            </p:nvCxnSpPr>
            <p:spPr bwMode="auto">
              <a:xfrm>
                <a:off x="1142976" y="6215082"/>
                <a:ext cx="5429288" cy="1588"/>
              </a:xfrm>
              <a:prstGeom prst="straightConnector1">
                <a:avLst/>
              </a:prstGeom>
              <a:solidFill>
                <a:schemeClr val="accent1"/>
              </a:solidFill>
              <a:ln w="31750" cap="sq" cmpd="sng" algn="ctr">
                <a:solidFill>
                  <a:schemeClr val="tx1"/>
                </a:solidFill>
                <a:prstDash val="solid"/>
                <a:round/>
                <a:headEnd type="none" w="sm" len="sm"/>
                <a:tailEnd type="arrow"/>
              </a:ln>
              <a:effectLst/>
            </p:spPr>
          </p:cxnSp>
          <p:cxnSp>
            <p:nvCxnSpPr>
              <p:cNvPr id="18" name="直接箭头连接符 17"/>
              <p:cNvCxnSpPr/>
              <p:nvPr/>
            </p:nvCxnSpPr>
            <p:spPr bwMode="auto">
              <a:xfrm rot="5400000" flipH="1" flipV="1">
                <a:off x="250001" y="5322107"/>
                <a:ext cx="1785950" cy="1588"/>
              </a:xfrm>
              <a:prstGeom prst="straightConnector1">
                <a:avLst/>
              </a:prstGeom>
              <a:solidFill>
                <a:schemeClr val="accent1"/>
              </a:solidFill>
              <a:ln w="31750" cap="sq" cmpd="sng" algn="ctr">
                <a:solidFill>
                  <a:schemeClr val="tx1"/>
                </a:solidFill>
                <a:prstDash val="solid"/>
                <a:round/>
                <a:headEnd type="none" w="sm" len="sm"/>
                <a:tailEnd type="arrow"/>
              </a:ln>
              <a:effectLst/>
            </p:spPr>
          </p:cxnSp>
          <p:sp>
            <p:nvSpPr>
              <p:cNvPr id="19" name="TextBox 10"/>
              <p:cNvSpPr txBox="1"/>
              <p:nvPr/>
            </p:nvSpPr>
            <p:spPr>
              <a:xfrm>
                <a:off x="6643702" y="6143644"/>
                <a:ext cx="500066" cy="659382"/>
              </a:xfrm>
              <a:prstGeom prst="rect">
                <a:avLst/>
              </a:prstGeom>
              <a:noFill/>
            </p:spPr>
            <p:txBody>
              <a:bodyPr wrap="square" rtlCol="0">
                <a:spAutoFit/>
              </a:bodyPr>
              <a:lstStyle/>
              <a:p>
                <a:r>
                  <a:rPr lang="en-US" altLang="zh-CN" b="1" dirty="0"/>
                  <a:t>n</a:t>
                </a:r>
                <a:endParaRPr lang="zh-CN" altLang="en-US" b="1" dirty="0"/>
              </a:p>
            </p:txBody>
          </p:sp>
        </p:grpSp>
        <p:grpSp>
          <p:nvGrpSpPr>
            <p:cNvPr id="8" name="组合 7"/>
            <p:cNvGrpSpPr/>
            <p:nvPr/>
          </p:nvGrpSpPr>
          <p:grpSpPr>
            <a:xfrm>
              <a:off x="1180214" y="4286256"/>
              <a:ext cx="5177736" cy="1891260"/>
              <a:chOff x="1180214" y="4286256"/>
              <a:chExt cx="5177736" cy="1891260"/>
            </a:xfrm>
          </p:grpSpPr>
          <p:sp>
            <p:nvSpPr>
              <p:cNvPr id="15" name="任意多边形 14"/>
              <p:cNvSpPr/>
              <p:nvPr/>
            </p:nvSpPr>
            <p:spPr bwMode="auto">
              <a:xfrm>
                <a:off x="1180214" y="4561367"/>
                <a:ext cx="4199860" cy="1616149"/>
              </a:xfrm>
              <a:custGeom>
                <a:avLst/>
                <a:gdLst>
                  <a:gd name="connsiteX0" fmla="*/ 0 w 4199860"/>
                  <a:gd name="connsiteY0" fmla="*/ 1616149 h 1616149"/>
                  <a:gd name="connsiteX1" fmla="*/ 478465 w 4199860"/>
                  <a:gd name="connsiteY1" fmla="*/ 1041991 h 1616149"/>
                  <a:gd name="connsiteX2" fmla="*/ 1148316 w 4199860"/>
                  <a:gd name="connsiteY2" fmla="*/ 1127052 h 1616149"/>
                  <a:gd name="connsiteX3" fmla="*/ 1967023 w 4199860"/>
                  <a:gd name="connsiteY3" fmla="*/ 691117 h 1616149"/>
                  <a:gd name="connsiteX4" fmla="*/ 2530549 w 4199860"/>
                  <a:gd name="connsiteY4" fmla="*/ 648586 h 1616149"/>
                  <a:gd name="connsiteX5" fmla="*/ 3317358 w 4199860"/>
                  <a:gd name="connsiteY5" fmla="*/ 170121 h 1616149"/>
                  <a:gd name="connsiteX6" fmla="*/ 4199860 w 4199860"/>
                  <a:gd name="connsiteY6" fmla="*/ 0 h 1616149"/>
                  <a:gd name="connsiteX7" fmla="*/ 4199860 w 4199860"/>
                  <a:gd name="connsiteY7" fmla="*/ 0 h 1616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99860" h="1616149">
                    <a:moveTo>
                      <a:pt x="0" y="1616149"/>
                    </a:moveTo>
                    <a:cubicBezTo>
                      <a:pt x="143539" y="1369828"/>
                      <a:pt x="287079" y="1123507"/>
                      <a:pt x="478465" y="1041991"/>
                    </a:cubicBezTo>
                    <a:cubicBezTo>
                      <a:pt x="669851" y="960475"/>
                      <a:pt x="900223" y="1185531"/>
                      <a:pt x="1148316" y="1127052"/>
                    </a:cubicBezTo>
                    <a:cubicBezTo>
                      <a:pt x="1396409" y="1068573"/>
                      <a:pt x="1736651" y="770861"/>
                      <a:pt x="1967023" y="691117"/>
                    </a:cubicBezTo>
                    <a:cubicBezTo>
                      <a:pt x="2197395" y="611373"/>
                      <a:pt x="2305493" y="735419"/>
                      <a:pt x="2530549" y="648586"/>
                    </a:cubicBezTo>
                    <a:cubicBezTo>
                      <a:pt x="2755605" y="561753"/>
                      <a:pt x="3039140" y="278219"/>
                      <a:pt x="3317358" y="170121"/>
                    </a:cubicBezTo>
                    <a:cubicBezTo>
                      <a:pt x="3595576" y="62023"/>
                      <a:pt x="4199860" y="0"/>
                      <a:pt x="4199860" y="0"/>
                    </a:cubicBezTo>
                    <a:lnTo>
                      <a:pt x="4199860" y="0"/>
                    </a:lnTo>
                  </a:path>
                </a:pathLst>
              </a:custGeom>
              <a:noFill/>
              <a:ln w="31750" cap="sq" cmpd="sng" algn="ctr">
                <a:solidFill>
                  <a:schemeClr val="tx1"/>
                </a:solidFill>
                <a:prstDash val="solid"/>
                <a:round/>
                <a:headEnd type="none" w="sm" len="sm"/>
                <a:tailEnd type="none" w="med" len="lg"/>
              </a:ln>
              <a:effectLst/>
            </p:spPr>
            <p:txBody>
              <a:bodyPr vert="horz" wrap="none" lIns="91440" tIns="45720" rIns="91440" bIns="45720" numCol="1" rtlCol="0" anchor="t" anchorCtr="0" compatLnSpc="1">
                <a:prstTxWarp prst="textNoShape">
                  <a:avLst/>
                </a:prstTxWarp>
              </a:bodyPr>
              <a:lstStyle/>
              <a:p>
                <a:pPr algn="ctr"/>
                <a:endParaRPr lang="zh-CN" altLang="en-US" sz="1800">
                  <a:latin typeface="Tahoma" pitchFamily="34" charset="0"/>
                </a:endParaRPr>
              </a:p>
            </p:txBody>
          </p:sp>
          <p:sp>
            <p:nvSpPr>
              <p:cNvPr id="16" name="TextBox 15"/>
              <p:cNvSpPr txBox="1"/>
              <p:nvPr/>
            </p:nvSpPr>
            <p:spPr>
              <a:xfrm>
                <a:off x="5500694" y="4286256"/>
                <a:ext cx="857256" cy="659381"/>
              </a:xfrm>
              <a:prstGeom prst="rect">
                <a:avLst/>
              </a:prstGeom>
              <a:noFill/>
            </p:spPr>
            <p:txBody>
              <a:bodyPr wrap="square" rtlCol="0">
                <a:spAutoFit/>
              </a:bodyPr>
              <a:lstStyle/>
              <a:p>
                <a:r>
                  <a:rPr lang="en-US" altLang="zh-CN" dirty="0"/>
                  <a:t>f(n)</a:t>
                </a:r>
                <a:endParaRPr lang="zh-CN" altLang="en-US" dirty="0"/>
              </a:p>
            </p:txBody>
          </p:sp>
        </p:grpSp>
        <p:grpSp>
          <p:nvGrpSpPr>
            <p:cNvPr id="9" name="组合 8"/>
            <p:cNvGrpSpPr/>
            <p:nvPr/>
          </p:nvGrpSpPr>
          <p:grpSpPr>
            <a:xfrm>
              <a:off x="1142976" y="4258910"/>
              <a:ext cx="3536181" cy="1956172"/>
              <a:chOff x="1142976" y="4258910"/>
              <a:chExt cx="3536181" cy="1956172"/>
            </a:xfrm>
          </p:grpSpPr>
          <p:cxnSp>
            <p:nvCxnSpPr>
              <p:cNvPr id="13" name="直接连接符 12"/>
              <p:cNvCxnSpPr/>
              <p:nvPr/>
            </p:nvCxnSpPr>
            <p:spPr bwMode="auto">
              <a:xfrm flipV="1">
                <a:off x="1142976" y="4258910"/>
                <a:ext cx="3536181" cy="1956172"/>
              </a:xfrm>
              <a:prstGeom prst="line">
                <a:avLst/>
              </a:prstGeom>
              <a:solidFill>
                <a:schemeClr val="accent1"/>
              </a:solidFill>
              <a:ln w="31750" cap="sq" cmpd="sng" algn="ctr">
                <a:solidFill>
                  <a:srgbClr val="FF0000"/>
                </a:solidFill>
                <a:prstDash val="solid"/>
                <a:round/>
                <a:headEnd type="none" w="sm" len="sm"/>
                <a:tailEnd type="none" w="med" len="lg"/>
              </a:ln>
              <a:effectLst/>
            </p:spPr>
          </p:cxnSp>
          <p:sp>
            <p:nvSpPr>
              <p:cNvPr id="14" name="TextBox 18"/>
              <p:cNvSpPr txBox="1"/>
              <p:nvPr/>
            </p:nvSpPr>
            <p:spPr>
              <a:xfrm>
                <a:off x="3000363" y="4357693"/>
                <a:ext cx="1211596" cy="659381"/>
              </a:xfrm>
              <a:prstGeom prst="rect">
                <a:avLst/>
              </a:prstGeom>
              <a:noFill/>
            </p:spPr>
            <p:txBody>
              <a:bodyPr wrap="square" rtlCol="0">
                <a:spAutoFit/>
              </a:bodyPr>
              <a:lstStyle/>
              <a:p>
                <a:r>
                  <a:rPr lang="en-US" altLang="zh-CN" dirty="0"/>
                  <a:t>C*g(n)</a:t>
                </a:r>
                <a:endParaRPr lang="zh-CN" altLang="en-US" dirty="0"/>
              </a:p>
            </p:txBody>
          </p:sp>
        </p:grpSp>
        <p:grpSp>
          <p:nvGrpSpPr>
            <p:cNvPr id="10" name="组合 9"/>
            <p:cNvGrpSpPr/>
            <p:nvPr/>
          </p:nvGrpSpPr>
          <p:grpSpPr>
            <a:xfrm>
              <a:off x="1886262" y="5644372"/>
              <a:ext cx="571504" cy="1093657"/>
              <a:chOff x="1886262" y="5644372"/>
              <a:chExt cx="571504" cy="1093657"/>
            </a:xfrm>
          </p:grpSpPr>
          <p:sp>
            <p:nvSpPr>
              <p:cNvPr id="11" name="TextBox 21"/>
              <p:cNvSpPr txBox="1"/>
              <p:nvPr/>
            </p:nvSpPr>
            <p:spPr>
              <a:xfrm>
                <a:off x="1886262" y="6166564"/>
                <a:ext cx="571504" cy="571465"/>
              </a:xfrm>
              <a:prstGeom prst="rect">
                <a:avLst/>
              </a:prstGeom>
              <a:noFill/>
            </p:spPr>
            <p:txBody>
              <a:bodyPr wrap="square" rtlCol="0">
                <a:spAutoFit/>
              </a:bodyPr>
              <a:lstStyle/>
              <a:p>
                <a:r>
                  <a:rPr lang="en-US" altLang="zh-CN" sz="2000" b="1" dirty="0">
                    <a:latin typeface="Times New Roman" pitchFamily="18" charset="0"/>
                  </a:rPr>
                  <a:t>n</a:t>
                </a:r>
                <a:r>
                  <a:rPr lang="en-US" altLang="zh-CN" sz="2000" b="1" baseline="-25000" dirty="0">
                    <a:latin typeface="Times New Roman" pitchFamily="18" charset="0"/>
                  </a:rPr>
                  <a:t>0</a:t>
                </a:r>
                <a:endParaRPr lang="zh-CN" altLang="en-US" sz="2000" b="1" dirty="0"/>
              </a:p>
            </p:txBody>
          </p:sp>
          <p:cxnSp>
            <p:nvCxnSpPr>
              <p:cNvPr id="12" name="直接连接符 11"/>
              <p:cNvCxnSpPr/>
              <p:nvPr/>
            </p:nvCxnSpPr>
            <p:spPr bwMode="auto">
              <a:xfrm rot="5400000">
                <a:off x="1821637" y="5965049"/>
                <a:ext cx="642942" cy="1588"/>
              </a:xfrm>
              <a:prstGeom prst="line">
                <a:avLst/>
              </a:prstGeom>
              <a:solidFill>
                <a:schemeClr val="accent1"/>
              </a:solidFill>
              <a:ln w="31750" cap="sq" cmpd="sng" algn="ctr">
                <a:solidFill>
                  <a:schemeClr val="tx1"/>
                </a:solidFill>
                <a:prstDash val="dash"/>
                <a:round/>
                <a:headEnd type="none" w="sm" len="sm"/>
                <a:tailEnd type="none" w="med" len="lg"/>
              </a:ln>
              <a:effectLst/>
            </p:spPr>
          </p:cxnSp>
        </p:grpSp>
      </p:gr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35</a:t>
            </a:fld>
            <a:endParaRPr lang="en-US" altLang="zh-CN"/>
          </a:p>
        </p:txBody>
      </p:sp>
      <p:sp>
        <p:nvSpPr>
          <p:cNvPr id="3" name="矩形 2"/>
          <p:cNvSpPr/>
          <p:nvPr/>
        </p:nvSpPr>
        <p:spPr>
          <a:xfrm>
            <a:off x="766190" y="2126481"/>
            <a:ext cx="10514385" cy="118809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zh-CN" altLang="en-US" sz="2800" dirty="0">
                <a:solidFill>
                  <a:schemeClr val="tx1"/>
                </a:solidFill>
                <a:latin typeface="幼圆" panose="02010509060101010101" pitchFamily="49" charset="-122"/>
                <a:ea typeface="幼圆" panose="02010509060101010101" pitchFamily="49" charset="-122"/>
              </a:rPr>
              <a:t>如果存在两个正常数</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c</a:t>
            </a:r>
            <a:r>
              <a:rPr kumimoji="1" lang="zh-CN" altLang="en-US" sz="2800" dirty="0">
                <a:solidFill>
                  <a:schemeClr val="tx1"/>
                </a:solidFill>
                <a:latin typeface="幼圆" panose="02010509060101010101" pitchFamily="49" charset="-122"/>
                <a:ea typeface="幼圆" panose="02010509060101010101" pitchFamily="49" charset="-122"/>
              </a:rPr>
              <a:t>和</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n</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0</a:t>
            </a:r>
            <a:r>
              <a:rPr kumimoji="1" lang="zh-CN" altLang="en-US" sz="2800" dirty="0">
                <a:solidFill>
                  <a:schemeClr val="tx1"/>
                </a:solidFill>
                <a:latin typeface="幼圆" panose="02010509060101010101" pitchFamily="49" charset="-122"/>
                <a:ea typeface="幼圆" panose="02010509060101010101" pitchFamily="49" charset="-122"/>
              </a:rPr>
              <a:t>，对于所有的</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n≥n</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0</a:t>
            </a:r>
            <a:r>
              <a:rPr kumimoji="1" lang="zh-CN" altLang="en-US" sz="2800" dirty="0">
                <a:solidFill>
                  <a:schemeClr val="tx1"/>
                </a:solidFill>
                <a:latin typeface="幼圆" panose="02010509060101010101" pitchFamily="49" charset="-122"/>
                <a:ea typeface="幼圆" panose="02010509060101010101" pitchFamily="49" charset="-122"/>
              </a:rPr>
              <a:t>，有</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|f(n)|≤</a:t>
            </a:r>
            <a:r>
              <a:rPr kumimoji="1" lang="en-US" altLang="zh-CN" sz="2800" dirty="0" err="1">
                <a:solidFill>
                  <a:schemeClr val="tx1"/>
                </a:solidFill>
                <a:latin typeface="Arial" panose="020B0604020202020204" pitchFamily="34" charset="0"/>
                <a:ea typeface="幼圆" panose="02010509060101010101" pitchFamily="49" charset="-122"/>
                <a:cs typeface="Arial" panose="020B0604020202020204" pitchFamily="34" charset="0"/>
              </a:rPr>
              <a:t>c|g</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(n)|</a:t>
            </a:r>
            <a:r>
              <a:rPr kumimoji="1" lang="zh-CN" altLang="en-US" sz="2800" dirty="0">
                <a:solidFill>
                  <a:schemeClr val="tx1"/>
                </a:solidFill>
                <a:latin typeface="幼圆" panose="02010509060101010101" pitchFamily="49" charset="-122"/>
                <a:ea typeface="幼圆" panose="02010509060101010101" pitchFamily="49" charset="-122"/>
              </a:rPr>
              <a:t>，则记作：</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f(n)=O(g(n))</a:t>
            </a:r>
            <a:r>
              <a:rPr kumimoji="1" lang="zh-CN" altLang="en-US" sz="2800" dirty="0">
                <a:solidFill>
                  <a:schemeClr val="tx1"/>
                </a:solidFill>
                <a:latin typeface="幼圆" panose="02010509060101010101" pitchFamily="49" charset="-122"/>
                <a:ea typeface="幼圆" panose="020105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0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0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0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a:extLst>
              <a:ext uri="{FF2B5EF4-FFF2-40B4-BE49-F238E27FC236}">
                <a16:creationId xmlns:a16="http://schemas.microsoft.com/office/drawing/2014/main" xmlns="" id="{F032D158-1C7A-4362-971B-76F91C01B740}"/>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96CA06C4-1BB1-4358-94A4-E45C4B896C97}" type="slidenum">
              <a:rPr altLang="zh-CN" sz="1000"/>
              <a:pPr>
                <a:spcBef>
                  <a:spcPct val="0"/>
                </a:spcBef>
                <a:buClrTx/>
                <a:buSzTx/>
                <a:buFont typeface="Arial" panose="020B0604020202020204" pitchFamily="34" charset="0"/>
                <a:buNone/>
              </a:pPr>
              <a:t>36</a:t>
            </a:fld>
            <a:endParaRPr lang="zh-CN" altLang="zh-CN" sz="1000"/>
          </a:p>
        </p:txBody>
      </p:sp>
      <p:sp>
        <p:nvSpPr>
          <p:cNvPr id="60419" name="Rectangle 2">
            <a:extLst>
              <a:ext uri="{FF2B5EF4-FFF2-40B4-BE49-F238E27FC236}">
                <a16:creationId xmlns:a16="http://schemas.microsoft.com/office/drawing/2014/main" xmlns="" id="{90014C56-D819-4368-BD2A-9A12BF5DB773}"/>
              </a:ext>
            </a:extLst>
          </p:cNvPr>
          <p:cNvSpPr>
            <a:spLocks noGrp="1" noChangeArrowheads="1"/>
          </p:cNvSpPr>
          <p:nvPr>
            <p:ph type="title" idx="4294967295"/>
          </p:nvPr>
        </p:nvSpPr>
        <p:spPr/>
        <p:txBody>
          <a:bodyPr anchor="ctr">
            <a:normAutofit/>
          </a:bodyPr>
          <a:lstStyle/>
          <a:p>
            <a:pPr eaLnBrk="1" hangingPunct="1"/>
            <a:r>
              <a:rPr lang="zh-CN" altLang="en-US" sz="4400" b="1" dirty="0">
                <a:solidFill>
                  <a:srgbClr val="0033CC"/>
                </a:solidFill>
                <a:latin typeface="Times New Roman" panose="02020603050405020304" pitchFamily="18" charset="0"/>
              </a:rPr>
              <a:t>例</a:t>
            </a:r>
            <a:r>
              <a:rPr lang="zh-CN" altLang="en-US" sz="4400" b="1" i="1" dirty="0">
                <a:solidFill>
                  <a:srgbClr val="0033CC"/>
                </a:solidFill>
                <a:latin typeface="Times New Roman" panose="02020603050405020304" pitchFamily="18" charset="0"/>
              </a:rPr>
              <a:t>  </a:t>
            </a:r>
            <a:r>
              <a:rPr lang="zh-CN" altLang="en-US" sz="4400" b="1" dirty="0">
                <a:solidFill>
                  <a:srgbClr val="0033CC"/>
                </a:solidFill>
              </a:rPr>
              <a:t>  判断 </a:t>
            </a:r>
            <a:r>
              <a:rPr lang="en-US" altLang="zh-CN" sz="4400" b="1" i="1" dirty="0">
                <a:solidFill>
                  <a:srgbClr val="0033CC"/>
                </a:solidFill>
                <a:latin typeface="Times New Roman" panose="02020603050405020304" pitchFamily="18" charset="0"/>
              </a:rPr>
              <a:t>f</a:t>
            </a:r>
            <a:r>
              <a:rPr lang="en-US" altLang="zh-CN" sz="4400" b="1" dirty="0">
                <a:solidFill>
                  <a:srgbClr val="0033CC"/>
                </a:solidFill>
                <a:latin typeface="Times New Roman" panose="02020603050405020304" pitchFamily="18" charset="0"/>
              </a:rPr>
              <a:t>(</a:t>
            </a:r>
            <a:r>
              <a:rPr lang="en-US" altLang="zh-CN" sz="4400" b="1" i="1" dirty="0">
                <a:solidFill>
                  <a:srgbClr val="0033CC"/>
                </a:solidFill>
                <a:latin typeface="Times New Roman" panose="02020603050405020304" pitchFamily="18" charset="0"/>
              </a:rPr>
              <a:t>n</a:t>
            </a:r>
            <a:r>
              <a:rPr lang="en-US" altLang="zh-CN" sz="4400" b="1" dirty="0">
                <a:solidFill>
                  <a:srgbClr val="0033CC"/>
                </a:solidFill>
                <a:latin typeface="Times New Roman" panose="02020603050405020304" pitchFamily="18" charset="0"/>
              </a:rPr>
              <a:t>) </a:t>
            </a:r>
            <a:r>
              <a:rPr lang="en-US" altLang="zh-CN" sz="4400" b="1" dirty="0">
                <a:solidFill>
                  <a:srgbClr val="0033CC"/>
                </a:solidFill>
                <a:latin typeface="Times New Roman" panose="02020603050405020304" pitchFamily="18" charset="0"/>
                <a:sym typeface="Symbol" panose="05050102010706020507" pitchFamily="18" charset="2"/>
              </a:rPr>
              <a:t> </a:t>
            </a:r>
            <a:r>
              <a:rPr lang="en-US" altLang="zh-CN" sz="4400" b="1" i="1" dirty="0">
                <a:solidFill>
                  <a:srgbClr val="0033CC"/>
                </a:solidFill>
                <a:latin typeface="Times New Roman" panose="02020603050405020304" pitchFamily="18" charset="0"/>
              </a:rPr>
              <a:t>O</a:t>
            </a:r>
            <a:r>
              <a:rPr lang="en-US" altLang="zh-CN" sz="4400" b="1" dirty="0">
                <a:solidFill>
                  <a:srgbClr val="0033CC"/>
                </a:solidFill>
                <a:latin typeface="Times New Roman" panose="02020603050405020304" pitchFamily="18" charset="0"/>
              </a:rPr>
              <a:t>(</a:t>
            </a:r>
            <a:r>
              <a:rPr lang="en-US" altLang="zh-CN" sz="4400" b="1" i="1" dirty="0">
                <a:solidFill>
                  <a:srgbClr val="0033CC"/>
                </a:solidFill>
                <a:latin typeface="Times New Roman" panose="02020603050405020304" pitchFamily="18" charset="0"/>
              </a:rPr>
              <a:t>g</a:t>
            </a:r>
            <a:r>
              <a:rPr lang="en-US" altLang="zh-CN" sz="4400" b="1" dirty="0">
                <a:solidFill>
                  <a:srgbClr val="0033CC"/>
                </a:solidFill>
                <a:latin typeface="Times New Roman" panose="02020603050405020304" pitchFamily="18" charset="0"/>
              </a:rPr>
              <a:t>(</a:t>
            </a:r>
            <a:r>
              <a:rPr lang="en-US" altLang="zh-CN" sz="4400" b="1" i="1" dirty="0">
                <a:solidFill>
                  <a:srgbClr val="0033CC"/>
                </a:solidFill>
                <a:latin typeface="Times New Roman" panose="02020603050405020304" pitchFamily="18" charset="0"/>
              </a:rPr>
              <a:t>n</a:t>
            </a:r>
            <a:r>
              <a:rPr lang="en-US" altLang="zh-CN" sz="4400" b="1" dirty="0">
                <a:solidFill>
                  <a:srgbClr val="0033CC"/>
                </a:solidFill>
                <a:latin typeface="Times New Roman" panose="02020603050405020304" pitchFamily="18" charset="0"/>
              </a:rPr>
              <a:t>))</a:t>
            </a:r>
            <a:r>
              <a:rPr lang="en-US" altLang="zh-CN" sz="4400" b="1" dirty="0">
                <a:latin typeface="Times New Roman" panose="02020603050405020304" pitchFamily="18" charset="0"/>
              </a:rPr>
              <a:t> </a:t>
            </a:r>
            <a:r>
              <a:rPr lang="zh-CN" altLang="en-US" sz="4400" b="1" dirty="0">
                <a:solidFill>
                  <a:srgbClr val="0033CC"/>
                </a:solidFill>
                <a:latin typeface="Times New Roman" panose="02020603050405020304" pitchFamily="18" charset="0"/>
              </a:rPr>
              <a:t>？</a:t>
            </a:r>
          </a:p>
        </p:txBody>
      </p:sp>
      <p:sp>
        <p:nvSpPr>
          <p:cNvPr id="183299" name="Rectangle 3">
            <a:extLst>
              <a:ext uri="{FF2B5EF4-FFF2-40B4-BE49-F238E27FC236}">
                <a16:creationId xmlns:a16="http://schemas.microsoft.com/office/drawing/2014/main" xmlns="" id="{38A19BB8-596C-4AC4-B48E-7C0EC11BF255}"/>
              </a:ext>
            </a:extLst>
          </p:cNvPr>
          <p:cNvSpPr>
            <a:spLocks noGrp="1" noChangeArrowheads="1"/>
          </p:cNvSpPr>
          <p:nvPr>
            <p:ph type="body" idx="4294967295"/>
          </p:nvPr>
        </p:nvSpPr>
        <p:spPr>
          <a:xfrm>
            <a:off x="838200" y="1825625"/>
            <a:ext cx="6193904" cy="4351338"/>
          </a:xfrm>
        </p:spPr>
        <p:txBody>
          <a:bodyPr/>
          <a:lstStyle/>
          <a:p>
            <a:pPr eaLnBrk="1" hangingPunct="1"/>
            <a:r>
              <a:rPr lang="en-US" altLang="zh-CN" sz="3200" b="1" i="1" dirty="0">
                <a:latin typeface="Times New Roman" panose="02020603050405020304" pitchFamily="18" charset="0"/>
              </a:rPr>
              <a:t>f</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n</a:t>
            </a:r>
            <a:r>
              <a:rPr lang="en-US" altLang="zh-CN" sz="3200"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rPr>
              <a:t>4</a:t>
            </a:r>
            <a:r>
              <a:rPr lang="en-US" altLang="zh-CN" sz="3200" b="1" i="1" dirty="0">
                <a:latin typeface="Times New Roman" panose="02020603050405020304" pitchFamily="18" charset="0"/>
              </a:rPr>
              <a:t>n</a:t>
            </a:r>
            <a:r>
              <a:rPr lang="en-US" altLang="zh-CN" b="1" dirty="0">
                <a:latin typeface="Times New Roman" panose="02020603050405020304" pitchFamily="18" charset="0"/>
              </a:rPr>
              <a:t>,    </a:t>
            </a:r>
            <a:r>
              <a:rPr lang="en-US" altLang="zh-CN" sz="3200" b="1" i="1" dirty="0">
                <a:latin typeface="Times New Roman" panose="02020603050405020304" pitchFamily="18" charset="0"/>
              </a:rPr>
              <a:t>g</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n</a:t>
            </a:r>
            <a:r>
              <a:rPr lang="en-US" altLang="zh-CN" sz="3200"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rPr>
              <a:t> 2</a:t>
            </a:r>
            <a:r>
              <a:rPr lang="en-US" altLang="zh-CN" sz="3200" b="1" i="1" dirty="0">
                <a:latin typeface="Times New Roman" panose="02020603050405020304" pitchFamily="18" charset="0"/>
              </a:rPr>
              <a:t>n</a:t>
            </a:r>
            <a:endParaRPr lang="en-US" altLang="zh-CN" sz="3200" b="1" dirty="0">
              <a:latin typeface="Times New Roman" panose="02020603050405020304" pitchFamily="18" charset="0"/>
            </a:endParaRPr>
          </a:p>
          <a:p>
            <a:pPr eaLnBrk="1" hangingPunct="1"/>
            <a:r>
              <a:rPr lang="en-US" altLang="zh-CN" sz="3200" b="1" i="1" dirty="0">
                <a:latin typeface="Times New Roman" panose="02020603050405020304" pitchFamily="18" charset="0"/>
              </a:rPr>
              <a:t>f</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n</a:t>
            </a:r>
            <a:r>
              <a:rPr lang="en-US" altLang="zh-CN" sz="3200"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512</a:t>
            </a:r>
            <a:r>
              <a:rPr lang="en-US" altLang="zh-CN" sz="3200" b="1" i="1" dirty="0">
                <a:latin typeface="Times New Roman" panose="02020603050405020304" pitchFamily="18" charset="0"/>
              </a:rPr>
              <a:t>n</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1024,  </a:t>
            </a:r>
            <a:r>
              <a:rPr lang="en-US" altLang="zh-CN" sz="3200" b="1" i="1" dirty="0">
                <a:latin typeface="Times New Roman" panose="02020603050405020304" pitchFamily="18" charset="0"/>
              </a:rPr>
              <a:t>g</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n</a:t>
            </a:r>
            <a:r>
              <a:rPr lang="en-US" altLang="zh-CN" sz="3200"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rPr>
              <a:t> </a:t>
            </a:r>
            <a:r>
              <a:rPr lang="en-US" altLang="zh-CN" sz="3200" b="1" i="1" dirty="0">
                <a:latin typeface="Times New Roman" panose="02020603050405020304" pitchFamily="18" charset="0"/>
              </a:rPr>
              <a:t>n</a:t>
            </a:r>
          </a:p>
          <a:p>
            <a:pPr eaLnBrk="1" hangingPunct="1"/>
            <a:r>
              <a:rPr lang="en-US" altLang="zh-CN" sz="3200" b="1" i="1" dirty="0">
                <a:latin typeface="Times New Roman" panose="02020603050405020304" pitchFamily="18" charset="0"/>
              </a:rPr>
              <a:t>f</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n</a:t>
            </a:r>
            <a:r>
              <a:rPr lang="en-US" altLang="zh-CN" sz="3200"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2</a:t>
            </a:r>
            <a:r>
              <a:rPr lang="en-US" altLang="zh-CN" sz="3200" b="1" i="1" dirty="0">
                <a:latin typeface="Times New Roman" panose="02020603050405020304" pitchFamily="18" charset="0"/>
              </a:rPr>
              <a:t>n</a:t>
            </a:r>
            <a:r>
              <a:rPr lang="en-US" altLang="zh-CN" b="1" baseline="30000" dirty="0">
                <a:latin typeface="Times New Roman" panose="02020603050405020304" pitchFamily="18" charset="0"/>
              </a:rPr>
              <a:t>2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11</a:t>
            </a:r>
            <a:r>
              <a:rPr lang="en-US" altLang="zh-CN" sz="3200" b="1" i="1" dirty="0">
                <a:latin typeface="Times New Roman" panose="02020603050405020304" pitchFamily="18" charset="0"/>
              </a:rPr>
              <a:t>n</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10,  </a:t>
            </a:r>
            <a:r>
              <a:rPr lang="en-US" altLang="zh-CN" sz="3200" b="1" i="1" dirty="0">
                <a:latin typeface="Times New Roman" panose="02020603050405020304" pitchFamily="18" charset="0"/>
              </a:rPr>
              <a:t>g</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n</a:t>
            </a:r>
            <a:r>
              <a:rPr lang="en-US" altLang="zh-CN" sz="3200"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rPr>
              <a:t> 3</a:t>
            </a:r>
            <a:r>
              <a:rPr lang="en-US" altLang="zh-CN" sz="3200" b="1" i="1" dirty="0">
                <a:latin typeface="Times New Roman" panose="02020603050405020304" pitchFamily="18" charset="0"/>
              </a:rPr>
              <a:t>n</a:t>
            </a:r>
            <a:r>
              <a:rPr lang="en-US" altLang="zh-CN" sz="3200" b="1" baseline="30000" dirty="0">
                <a:latin typeface="Times New Roman" panose="02020603050405020304" pitchFamily="18" charset="0"/>
              </a:rPr>
              <a:t>2</a:t>
            </a:r>
            <a:endParaRPr lang="en-US" altLang="zh-CN" sz="3200" b="1" dirty="0">
              <a:latin typeface="Times New Roman" panose="02020603050405020304" pitchFamily="18" charset="0"/>
            </a:endParaRPr>
          </a:p>
          <a:p>
            <a:pPr eaLnBrk="1" hangingPunct="1"/>
            <a:r>
              <a:rPr lang="en-US" altLang="zh-CN" sz="3200" b="1" i="1" dirty="0">
                <a:latin typeface="Times New Roman" panose="02020603050405020304" pitchFamily="18" charset="0"/>
              </a:rPr>
              <a:t>f</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n</a:t>
            </a:r>
            <a:r>
              <a:rPr lang="en-US" altLang="zh-CN" sz="3200"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sz="3200" b="1" i="1" dirty="0">
                <a:latin typeface="Times New Roman" panose="02020603050405020304" pitchFamily="18" charset="0"/>
              </a:rPr>
              <a:t>n</a:t>
            </a:r>
            <a:r>
              <a:rPr lang="en-US" altLang="zh-CN" b="1" baseline="30000" dirty="0">
                <a:latin typeface="Times New Roman" panose="02020603050405020304" pitchFamily="18" charset="0"/>
              </a:rPr>
              <a:t>2</a:t>
            </a:r>
            <a:r>
              <a:rPr lang="en-US" altLang="zh-CN" b="1" dirty="0">
                <a:latin typeface="Times New Roman" panose="02020603050405020304" pitchFamily="18" charset="0"/>
              </a:rPr>
              <a:t>,  </a:t>
            </a:r>
            <a:r>
              <a:rPr lang="en-US" altLang="zh-CN" sz="3200" b="1" i="1" dirty="0">
                <a:latin typeface="Times New Roman" panose="02020603050405020304" pitchFamily="18" charset="0"/>
              </a:rPr>
              <a:t>g</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n</a:t>
            </a:r>
            <a:r>
              <a:rPr lang="en-US" altLang="zh-CN" sz="3200"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rPr>
              <a:t> </a:t>
            </a:r>
            <a:r>
              <a:rPr lang="en-US" altLang="zh-CN" sz="3200" b="1" i="1" dirty="0">
                <a:latin typeface="Times New Roman" panose="02020603050405020304" pitchFamily="18" charset="0"/>
              </a:rPr>
              <a:t>n</a:t>
            </a:r>
            <a:r>
              <a:rPr lang="en-US" altLang="zh-CN" b="1" baseline="30000" dirty="0">
                <a:latin typeface="Times New Roman" panose="02020603050405020304" pitchFamily="18" charset="0"/>
              </a:rPr>
              <a:t>3</a:t>
            </a:r>
          </a:p>
          <a:p>
            <a:pPr marL="0" indent="0">
              <a:buNone/>
            </a:pPr>
            <a:endParaRPr lang="en-US" altLang="zh-CN" sz="3200" b="1" dirty="0">
              <a:solidFill>
                <a:srgbClr val="FF0000"/>
              </a:solidFill>
              <a:latin typeface="Times New Roman" panose="02020603050405020304" pitchFamily="18" charset="0"/>
            </a:endParaRPr>
          </a:p>
          <a:p>
            <a:pPr marL="0" indent="0">
              <a:buNone/>
            </a:pPr>
            <a:r>
              <a:rPr lang="en-US" altLang="zh-CN" sz="3200" b="1" dirty="0">
                <a:solidFill>
                  <a:srgbClr val="FF0000"/>
                </a:solidFill>
                <a:latin typeface="Times New Roman" panose="02020603050405020304" pitchFamily="18" charset="0"/>
              </a:rPr>
              <a:t> </a:t>
            </a:r>
            <a:r>
              <a:rPr lang="zh-CN" altLang="en-US" sz="3200" b="1" dirty="0">
                <a:solidFill>
                  <a:srgbClr val="C00000"/>
                </a:solidFill>
                <a:latin typeface="Times New Roman" panose="02020603050405020304" pitchFamily="18" charset="0"/>
              </a:rPr>
              <a:t>反例： </a:t>
            </a:r>
            <a:r>
              <a:rPr lang="en-US" altLang="zh-CN" sz="3200" b="1" i="1" dirty="0">
                <a:solidFill>
                  <a:srgbClr val="C00000"/>
                </a:solidFill>
                <a:latin typeface="Times New Roman" panose="02020603050405020304" pitchFamily="18" charset="0"/>
              </a:rPr>
              <a:t>f</a:t>
            </a:r>
            <a:r>
              <a:rPr lang="en-US" altLang="zh-CN"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n</a:t>
            </a:r>
            <a:r>
              <a:rPr lang="en-US" altLang="zh-CN" sz="3200" b="1" dirty="0">
                <a:solidFill>
                  <a:srgbClr val="C00000"/>
                </a:solidFill>
                <a:latin typeface="Times New Roman" panose="02020603050405020304" pitchFamily="18" charset="0"/>
              </a:rPr>
              <a:t>) </a:t>
            </a:r>
            <a:r>
              <a:rPr lang="en-US" altLang="zh-CN" b="1" dirty="0">
                <a:solidFill>
                  <a:srgbClr val="C00000"/>
                </a:solidFill>
                <a:latin typeface="Times New Roman" panose="02020603050405020304" pitchFamily="18" charset="0"/>
                <a:sym typeface="Symbol" panose="05050102010706020507" pitchFamily="18" charset="2"/>
              </a:rPr>
              <a:t></a:t>
            </a:r>
            <a:r>
              <a:rPr lang="en-US" altLang="zh-CN" b="1" dirty="0">
                <a:solidFill>
                  <a:srgbClr val="C00000"/>
                </a:solidFill>
                <a:latin typeface="Times New Roman" panose="02020603050405020304" pitchFamily="18" charset="0"/>
              </a:rPr>
              <a:t> </a:t>
            </a:r>
            <a:r>
              <a:rPr lang="en-US" altLang="zh-CN" sz="3200" b="1" i="1" dirty="0">
                <a:solidFill>
                  <a:srgbClr val="C00000"/>
                </a:solidFill>
                <a:latin typeface="Times New Roman" panose="02020603050405020304" pitchFamily="18" charset="0"/>
              </a:rPr>
              <a:t>n</a:t>
            </a:r>
            <a:r>
              <a:rPr lang="en-US" altLang="zh-CN" b="1" baseline="30000" dirty="0">
                <a:solidFill>
                  <a:srgbClr val="C00000"/>
                </a:solidFill>
                <a:latin typeface="Times New Roman" panose="02020603050405020304" pitchFamily="18" charset="0"/>
              </a:rPr>
              <a:t>3</a:t>
            </a:r>
            <a:r>
              <a:rPr lang="en-US" altLang="zh-CN" b="1" dirty="0">
                <a:solidFill>
                  <a:srgbClr val="C00000"/>
                </a:solidFill>
                <a:latin typeface="Times New Roman" panose="02020603050405020304" pitchFamily="18" charset="0"/>
              </a:rPr>
              <a:t>, </a:t>
            </a:r>
            <a:r>
              <a:rPr lang="en-US" altLang="zh-CN" sz="3200" b="1" i="1" dirty="0">
                <a:solidFill>
                  <a:srgbClr val="C00000"/>
                </a:solidFill>
                <a:latin typeface="Times New Roman" panose="02020603050405020304" pitchFamily="18" charset="0"/>
              </a:rPr>
              <a:t>g</a:t>
            </a:r>
            <a:r>
              <a:rPr lang="en-US" altLang="zh-CN" sz="3200" b="1" dirty="0">
                <a:solidFill>
                  <a:srgbClr val="C00000"/>
                </a:solidFill>
                <a:latin typeface="Times New Roman" panose="02020603050405020304" pitchFamily="18" charset="0"/>
              </a:rPr>
              <a:t>(</a:t>
            </a:r>
            <a:r>
              <a:rPr lang="en-US" altLang="zh-CN" sz="3200" b="1" i="1" dirty="0">
                <a:solidFill>
                  <a:srgbClr val="C00000"/>
                </a:solidFill>
                <a:latin typeface="Times New Roman" panose="02020603050405020304" pitchFamily="18" charset="0"/>
              </a:rPr>
              <a:t>n</a:t>
            </a:r>
            <a:r>
              <a:rPr lang="en-US" altLang="zh-CN" sz="3200" b="1" dirty="0">
                <a:solidFill>
                  <a:srgbClr val="C00000"/>
                </a:solidFill>
                <a:latin typeface="Times New Roman" panose="02020603050405020304" pitchFamily="18" charset="0"/>
              </a:rPr>
              <a:t>) </a:t>
            </a:r>
            <a:r>
              <a:rPr lang="en-US" altLang="zh-CN" b="1" dirty="0">
                <a:solidFill>
                  <a:srgbClr val="C00000"/>
                </a:solidFill>
                <a:latin typeface="Times New Roman" panose="02020603050405020304" pitchFamily="18" charset="0"/>
                <a:sym typeface="Symbol" panose="05050102010706020507" pitchFamily="18" charset="2"/>
              </a:rPr>
              <a:t></a:t>
            </a:r>
            <a:r>
              <a:rPr lang="en-US" altLang="zh-CN" sz="3200" b="1" dirty="0">
                <a:solidFill>
                  <a:srgbClr val="C00000"/>
                </a:solidFill>
                <a:latin typeface="Times New Roman" panose="02020603050405020304" pitchFamily="18" charset="0"/>
              </a:rPr>
              <a:t> </a:t>
            </a:r>
            <a:r>
              <a:rPr lang="en-US" altLang="zh-CN" sz="3200" b="1" i="1" dirty="0">
                <a:solidFill>
                  <a:srgbClr val="C00000"/>
                </a:solidFill>
                <a:latin typeface="Times New Roman" panose="02020603050405020304" pitchFamily="18" charset="0"/>
              </a:rPr>
              <a:t>n</a:t>
            </a:r>
            <a:r>
              <a:rPr lang="en-US" altLang="zh-CN" b="1" baseline="30000" dirty="0">
                <a:solidFill>
                  <a:srgbClr val="C00000"/>
                </a:solidFill>
                <a:latin typeface="Times New Roman" panose="02020603050405020304" pitchFamily="18" charset="0"/>
              </a:rPr>
              <a:t>2</a:t>
            </a:r>
          </a:p>
        </p:txBody>
      </p:sp>
      <p:sp>
        <p:nvSpPr>
          <p:cNvPr id="432133" name="AutoShape 5">
            <a:extLst>
              <a:ext uri="{FF2B5EF4-FFF2-40B4-BE49-F238E27FC236}">
                <a16:creationId xmlns:a16="http://schemas.microsoft.com/office/drawing/2014/main" xmlns="" id="{BC96C3F5-F47B-4A3F-953A-670B560B009E}"/>
              </a:ext>
            </a:extLst>
          </p:cNvPr>
          <p:cNvSpPr>
            <a:spLocks noChangeArrowheads="1"/>
          </p:cNvSpPr>
          <p:nvPr/>
        </p:nvSpPr>
        <p:spPr bwMode="auto">
          <a:xfrm>
            <a:off x="7176120" y="2636912"/>
            <a:ext cx="3744416" cy="2354188"/>
          </a:xfrm>
          <a:prstGeom prst="roundRect">
            <a:avLst>
              <a:gd name="adj" fmla="val 16667"/>
            </a:avLst>
          </a:prstGeom>
          <a:noFill/>
          <a:ln w="38100" cmpd="dbl">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en-US" altLang="zh-CN" dirty="0">
                <a:latin typeface="Times New Roman" panose="02020603050405020304" pitchFamily="18" charset="0"/>
              </a:rPr>
              <a:t>1) </a:t>
            </a:r>
            <a:r>
              <a:rPr lang="en-US" altLang="zh-CN" i="1" dirty="0">
                <a:latin typeface="Times New Roman" panose="02020603050405020304" pitchFamily="18" charset="0"/>
              </a:rPr>
              <a:t>c</a:t>
            </a:r>
            <a:r>
              <a:rPr lang="en-US" altLang="zh-CN" baseline="-25000" dirty="0">
                <a:latin typeface="Times New Roman" panose="02020603050405020304" pitchFamily="18" charset="0"/>
              </a:rPr>
              <a:t>0</a:t>
            </a:r>
            <a:r>
              <a:rPr lang="en-US" altLang="zh-CN" dirty="0">
                <a:latin typeface="Times New Roman" panose="02020603050405020304" pitchFamily="18" charset="0"/>
              </a:rPr>
              <a:t>=2,</a:t>
            </a:r>
            <a:r>
              <a:rPr lang="en-US" altLang="zh-CN" i="1" dirty="0">
                <a:latin typeface="Times New Roman" panose="02020603050405020304" pitchFamily="18" charset="0"/>
              </a:rPr>
              <a:t>n</a:t>
            </a:r>
            <a:r>
              <a:rPr lang="en-US" altLang="zh-CN" baseline="-25000" dirty="0">
                <a:latin typeface="Times New Roman" panose="02020603050405020304" pitchFamily="18" charset="0"/>
              </a:rPr>
              <a:t>0</a:t>
            </a:r>
            <a:r>
              <a:rPr lang="en-US" altLang="zh-CN" dirty="0">
                <a:latin typeface="Times New Roman" panose="02020603050405020304" pitchFamily="18" charset="0"/>
              </a:rPr>
              <a:t>=1</a:t>
            </a:r>
          </a:p>
          <a:p>
            <a:pPr>
              <a:lnSpc>
                <a:spcPct val="110000"/>
              </a:lnSpc>
              <a:spcBef>
                <a:spcPct val="0"/>
              </a:spcBef>
              <a:buClrTx/>
              <a:buSzTx/>
              <a:buNone/>
            </a:pPr>
            <a:r>
              <a:rPr lang="en-US" altLang="zh-CN" dirty="0">
                <a:latin typeface="Times New Roman" panose="02020603050405020304" pitchFamily="18" charset="0"/>
              </a:rPr>
              <a:t>2)</a:t>
            </a:r>
            <a:r>
              <a:rPr lang="en-US" altLang="zh-CN" i="1" dirty="0">
                <a:latin typeface="Times New Roman" panose="02020603050405020304" pitchFamily="18" charset="0"/>
              </a:rPr>
              <a:t> c</a:t>
            </a:r>
            <a:r>
              <a:rPr lang="en-US" altLang="zh-CN" baseline="-25000" dirty="0">
                <a:latin typeface="Times New Roman" panose="02020603050405020304" pitchFamily="18" charset="0"/>
              </a:rPr>
              <a:t>0</a:t>
            </a:r>
            <a:r>
              <a:rPr lang="en-US" altLang="zh-CN" dirty="0">
                <a:latin typeface="Times New Roman" panose="02020603050405020304" pitchFamily="18" charset="0"/>
              </a:rPr>
              <a:t>=513,</a:t>
            </a:r>
            <a:r>
              <a:rPr lang="en-US" altLang="zh-CN" i="1" dirty="0">
                <a:latin typeface="Times New Roman" panose="02020603050405020304" pitchFamily="18" charset="0"/>
              </a:rPr>
              <a:t>n</a:t>
            </a:r>
            <a:r>
              <a:rPr lang="en-US" altLang="zh-CN" baseline="-25000" dirty="0">
                <a:latin typeface="Times New Roman" panose="02020603050405020304" pitchFamily="18" charset="0"/>
              </a:rPr>
              <a:t>0</a:t>
            </a:r>
            <a:r>
              <a:rPr lang="en-US" altLang="zh-CN" dirty="0">
                <a:latin typeface="Times New Roman" panose="02020603050405020304" pitchFamily="18" charset="0"/>
              </a:rPr>
              <a:t>=1024</a:t>
            </a:r>
          </a:p>
          <a:p>
            <a:pPr eaLnBrk="1" hangingPunct="1">
              <a:lnSpc>
                <a:spcPct val="110000"/>
              </a:lnSpc>
              <a:spcBef>
                <a:spcPct val="0"/>
              </a:spcBef>
              <a:buClrTx/>
              <a:buSzTx/>
              <a:buFont typeface="Arial" panose="020B0604020202020204" pitchFamily="34" charset="0"/>
              <a:buNone/>
            </a:pPr>
            <a:r>
              <a:rPr lang="en-US" altLang="zh-CN" dirty="0">
                <a:latin typeface="Times New Roman" panose="02020603050405020304" pitchFamily="18" charset="0"/>
              </a:rPr>
              <a:t>3) </a:t>
            </a:r>
            <a:r>
              <a:rPr lang="en-US" altLang="zh-CN" i="1" dirty="0">
                <a:latin typeface="Times New Roman" panose="02020603050405020304" pitchFamily="18" charset="0"/>
              </a:rPr>
              <a:t>c</a:t>
            </a:r>
            <a:r>
              <a:rPr lang="en-US" altLang="zh-CN" baseline="-25000" dirty="0">
                <a:latin typeface="Times New Roman" panose="02020603050405020304" pitchFamily="18" charset="0"/>
              </a:rPr>
              <a:t>0</a:t>
            </a:r>
            <a:r>
              <a:rPr lang="en-US" altLang="zh-CN" dirty="0">
                <a:latin typeface="Times New Roman" panose="02020603050405020304" pitchFamily="18" charset="0"/>
              </a:rPr>
              <a:t>=1,</a:t>
            </a:r>
            <a:r>
              <a:rPr lang="en-US" altLang="zh-CN" i="1" dirty="0">
                <a:latin typeface="Times New Roman" panose="02020603050405020304" pitchFamily="18" charset="0"/>
              </a:rPr>
              <a:t>n</a:t>
            </a:r>
            <a:r>
              <a:rPr lang="en-US" altLang="zh-CN" baseline="-25000" dirty="0">
                <a:latin typeface="Times New Roman" panose="02020603050405020304" pitchFamily="18" charset="0"/>
              </a:rPr>
              <a:t>0</a:t>
            </a:r>
            <a:r>
              <a:rPr lang="en-US" altLang="zh-CN" dirty="0">
                <a:latin typeface="Times New Roman" panose="02020603050405020304" pitchFamily="18" charset="0"/>
              </a:rPr>
              <a:t>=10</a:t>
            </a:r>
          </a:p>
          <a:p>
            <a:pPr eaLnBrk="1" hangingPunct="1">
              <a:lnSpc>
                <a:spcPct val="110000"/>
              </a:lnSpc>
              <a:spcBef>
                <a:spcPct val="0"/>
              </a:spcBef>
              <a:buClrTx/>
              <a:buSzTx/>
              <a:buFont typeface="Arial" panose="020B0604020202020204" pitchFamily="34" charset="0"/>
              <a:buNone/>
            </a:pPr>
            <a:r>
              <a:rPr lang="en-US" altLang="zh-CN" dirty="0">
                <a:latin typeface="Times New Roman" panose="02020603050405020304" pitchFamily="18" charset="0"/>
              </a:rPr>
              <a:t>4) </a:t>
            </a:r>
            <a:r>
              <a:rPr lang="en-US" altLang="zh-CN" i="1" dirty="0">
                <a:latin typeface="Times New Roman" panose="02020603050405020304" pitchFamily="18" charset="0"/>
              </a:rPr>
              <a:t>c</a:t>
            </a:r>
            <a:r>
              <a:rPr lang="en-US" altLang="zh-CN" baseline="-25000" dirty="0">
                <a:latin typeface="Times New Roman" panose="02020603050405020304" pitchFamily="18" charset="0"/>
              </a:rPr>
              <a:t>0</a:t>
            </a:r>
            <a:r>
              <a:rPr lang="en-US" altLang="zh-CN" dirty="0">
                <a:latin typeface="Times New Roman" panose="02020603050405020304" pitchFamily="18" charset="0"/>
              </a:rPr>
              <a:t>=1,</a:t>
            </a:r>
            <a:r>
              <a:rPr lang="en-US" altLang="zh-CN" i="1" dirty="0">
                <a:latin typeface="Times New Roman" panose="02020603050405020304" pitchFamily="18" charset="0"/>
              </a:rPr>
              <a:t>n</a:t>
            </a:r>
            <a:r>
              <a:rPr lang="en-US" altLang="zh-CN" baseline="-25000" dirty="0">
                <a:latin typeface="Times New Roman" panose="02020603050405020304" pitchFamily="18" charset="0"/>
              </a:rPr>
              <a:t>0</a:t>
            </a:r>
            <a:r>
              <a:rPr lang="en-US" altLang="zh-CN" dirty="0">
                <a:latin typeface="Times New Roman" panose="02020603050405020304" pitchFamily="18" charset="0"/>
              </a:rPr>
              <a:t>=1</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2133"/>
                                        </p:tgtEl>
                                        <p:attrNameLst>
                                          <p:attrName>style.visibility</p:attrName>
                                        </p:attrNameLst>
                                      </p:cBhvr>
                                      <p:to>
                                        <p:strVal val="visible"/>
                                      </p:to>
                                    </p:set>
                                    <p:anim calcmode="lin" valueType="num">
                                      <p:cBhvr additive="base">
                                        <p:cTn id="7" dur="500" fill="hold"/>
                                        <p:tgtEl>
                                          <p:spTgt spid="432133"/>
                                        </p:tgtEl>
                                        <p:attrNameLst>
                                          <p:attrName>ppt_x</p:attrName>
                                        </p:attrNameLst>
                                      </p:cBhvr>
                                      <p:tavLst>
                                        <p:tav tm="0">
                                          <p:val>
                                            <p:strVal val="#ppt_x"/>
                                          </p:val>
                                        </p:tav>
                                        <p:tav tm="100000">
                                          <p:val>
                                            <p:strVal val="#ppt_x"/>
                                          </p:val>
                                        </p:tav>
                                      </p:tavLst>
                                    </p:anim>
                                    <p:anim calcmode="lin" valueType="num">
                                      <p:cBhvr additive="base">
                                        <p:cTn id="8" dur="500" fill="hold"/>
                                        <p:tgtEl>
                                          <p:spTgt spid="43213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3299">
                                            <p:txEl>
                                              <p:pRg st="5" end="5"/>
                                            </p:txEl>
                                          </p:spTgt>
                                        </p:tgtEl>
                                        <p:attrNameLst>
                                          <p:attrName>style.visibility</p:attrName>
                                        </p:attrNameLst>
                                      </p:cBhvr>
                                      <p:to>
                                        <p:strVal val="visible"/>
                                      </p:to>
                                    </p:set>
                                    <p:anim calcmode="lin" valueType="num">
                                      <p:cBhvr additive="base">
                                        <p:cTn id="13" dur="500" fill="hold"/>
                                        <p:tgtEl>
                                          <p:spTgt spid="183299">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329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a:extLst>
              <a:ext uri="{FF2B5EF4-FFF2-40B4-BE49-F238E27FC236}">
                <a16:creationId xmlns:a16="http://schemas.microsoft.com/office/drawing/2014/main" xmlns="" id="{2C950DA8-6231-4E88-8C3A-A1BF26EFE34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4B6871E7-8F28-4014-92BF-628C98DB3248}" type="slidenum">
              <a:rPr altLang="zh-CN" sz="1000"/>
              <a:pPr>
                <a:spcBef>
                  <a:spcPct val="0"/>
                </a:spcBef>
                <a:buClrTx/>
                <a:buSzTx/>
                <a:buFont typeface="Arial" panose="020B0604020202020204" pitchFamily="34" charset="0"/>
                <a:buNone/>
              </a:pPr>
              <a:t>37</a:t>
            </a:fld>
            <a:endParaRPr lang="zh-CN" altLang="zh-CN" sz="1000"/>
          </a:p>
        </p:txBody>
      </p:sp>
      <p:sp>
        <p:nvSpPr>
          <p:cNvPr id="433154" name="Rectangle 2">
            <a:extLst>
              <a:ext uri="{FF2B5EF4-FFF2-40B4-BE49-F238E27FC236}">
                <a16:creationId xmlns:a16="http://schemas.microsoft.com/office/drawing/2014/main" xmlns="" id="{A0FE142E-9470-4D31-87B9-A89BD3A2D1E1}"/>
              </a:ext>
            </a:extLst>
          </p:cNvPr>
          <p:cNvSpPr>
            <a:spLocks noGrp="1" noChangeArrowheads="1"/>
          </p:cNvSpPr>
          <p:nvPr>
            <p:ph type="title"/>
          </p:nvPr>
        </p:nvSpPr>
        <p:spPr>
          <a:xfrm>
            <a:off x="479376" y="404664"/>
            <a:ext cx="8553450" cy="1012825"/>
          </a:xfrm>
        </p:spPr>
        <p:txBody>
          <a:bodyPr>
            <a:normAutofit fontScale="90000"/>
          </a:bodyPr>
          <a:lstStyle/>
          <a:p>
            <a:pPr eaLnBrk="1" hangingPunct="1">
              <a:defRPr/>
            </a:pPr>
            <a:r>
              <a:rPr kumimoji="1" lang="en-US" altLang="zh-CN" dirty="0">
                <a:solidFill>
                  <a:schemeClr val="tx2"/>
                </a:solidFill>
              </a:rPr>
              <a:t>O</a:t>
            </a:r>
            <a:r>
              <a:rPr kumimoji="1" lang="zh-CN" altLang="en-US" dirty="0">
                <a:solidFill>
                  <a:schemeClr val="tx2"/>
                </a:solidFill>
              </a:rPr>
              <a:t>性质</a:t>
            </a:r>
            <a:r>
              <a:rPr kumimoji="1" lang="en-US" altLang="zh-CN" dirty="0">
                <a:solidFill>
                  <a:schemeClr val="tx2"/>
                </a:solidFill>
              </a:rPr>
              <a:t>——</a:t>
            </a:r>
            <a:r>
              <a:rPr kumimoji="1" lang="zh-CN" altLang="en-US" dirty="0">
                <a:solidFill>
                  <a:schemeClr val="tx2"/>
                </a:solidFill>
              </a:rPr>
              <a:t>数学性质及算法分析中的含义</a:t>
            </a:r>
          </a:p>
        </p:txBody>
      </p:sp>
      <p:sp>
        <p:nvSpPr>
          <p:cNvPr id="61444" name="Rectangle 3">
            <a:extLst>
              <a:ext uri="{FF2B5EF4-FFF2-40B4-BE49-F238E27FC236}">
                <a16:creationId xmlns:a16="http://schemas.microsoft.com/office/drawing/2014/main" xmlns="" id="{0F57C0C0-A690-4AF6-88A6-066A7DF22CA5}"/>
              </a:ext>
            </a:extLst>
          </p:cNvPr>
          <p:cNvSpPr>
            <a:spLocks noGrp="1" noChangeArrowheads="1"/>
          </p:cNvSpPr>
          <p:nvPr>
            <p:ph idx="1"/>
          </p:nvPr>
        </p:nvSpPr>
        <p:spPr>
          <a:xfrm>
            <a:off x="623392" y="1857301"/>
            <a:ext cx="10730408" cy="4059237"/>
          </a:xfrm>
        </p:spPr>
        <p:txBody>
          <a:bodyPr>
            <a:normAutofit lnSpcReduction="10000"/>
          </a:bodyPr>
          <a:lstStyle/>
          <a:p>
            <a:pPr eaLnBrk="1" hangingPunct="1">
              <a:buFont typeface="Wingdings" panose="05000000000000000000" pitchFamily="2" charset="2"/>
              <a:buNone/>
            </a:pPr>
            <a:r>
              <a:rPr lang="zh-CN" altLang="en-US" b="1" dirty="0">
                <a:latin typeface="Times New Roman" panose="02020603050405020304" pitchFamily="18" charset="0"/>
              </a:rPr>
              <a:t>对于非负的</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a:t>
            </a:r>
            <a:r>
              <a:rPr lang="zh-CN" altLang="en-US" b="1" dirty="0">
                <a:latin typeface="Times New Roman" panose="02020603050405020304" pitchFamily="18" charset="0"/>
              </a:rPr>
              <a:t>和</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a:t>
            </a:r>
            <a:r>
              <a:rPr lang="zh-CN" altLang="en-US" b="1" dirty="0">
                <a:latin typeface="Times New Roman" panose="02020603050405020304" pitchFamily="18" charset="0"/>
              </a:rPr>
              <a:t>，根据定义</a:t>
            </a:r>
            <a:r>
              <a:rPr lang="en-US" altLang="zh-CN" b="1" dirty="0">
                <a:latin typeface="Times New Roman" panose="02020603050405020304" pitchFamily="18" charset="0"/>
              </a:rPr>
              <a:t>2.1</a:t>
            </a:r>
            <a:r>
              <a:rPr lang="zh-CN" altLang="en-US" b="1" dirty="0">
                <a:latin typeface="Times New Roman" panose="02020603050405020304" pitchFamily="18" charset="0"/>
              </a:rPr>
              <a:t>，有如下性质：</a:t>
            </a:r>
          </a:p>
          <a:p>
            <a:pPr>
              <a:buNone/>
            </a:pPr>
            <a:r>
              <a:rPr lang="en-US" altLang="zh-CN" b="1" dirty="0">
                <a:latin typeface="Times New Roman" panose="02020603050405020304" pitchFamily="18" charset="0"/>
              </a:rPr>
              <a:t>1.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a:t>
            </a:r>
          </a:p>
          <a:p>
            <a:pPr>
              <a:buNone/>
            </a:pPr>
            <a:r>
              <a:rPr lang="en-US" altLang="zh-CN" b="1" dirty="0">
                <a:latin typeface="Times New Roman" panose="02020603050405020304" pitchFamily="18" charset="0"/>
              </a:rPr>
              <a:t>2.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(max(</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p>
          <a:p>
            <a:pPr eaLnBrk="1" hangingPunct="1">
              <a:buFont typeface="Wingdings" panose="05000000000000000000" pitchFamily="2" charset="2"/>
              <a:buNone/>
            </a:pPr>
            <a:r>
              <a:rPr lang="en-US" altLang="zh-CN" b="1" dirty="0">
                <a:latin typeface="Times New Roman" panose="02020603050405020304" pitchFamily="18" charset="0"/>
              </a:rPr>
              <a:t>3.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a:t>
            </a:r>
          </a:p>
          <a:p>
            <a:pPr eaLnBrk="1" hangingPunct="1">
              <a:buFont typeface="Wingdings" panose="05000000000000000000" pitchFamily="2" charset="2"/>
              <a:buNone/>
            </a:pPr>
            <a:r>
              <a:rPr lang="en-US" altLang="zh-CN" b="1" dirty="0">
                <a:latin typeface="Times New Roman" panose="02020603050405020304" pitchFamily="18" charset="0"/>
              </a:rPr>
              <a:t>4. </a:t>
            </a:r>
            <a:r>
              <a:rPr lang="zh-CN" altLang="en-US" b="1" dirty="0">
                <a:latin typeface="Times New Roman" panose="02020603050405020304" pitchFamily="18" charset="0"/>
              </a:rPr>
              <a:t>如果</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，则</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a:t>
            </a:r>
          </a:p>
          <a:p>
            <a:pPr eaLnBrk="1" hangingPunct="1">
              <a:buFont typeface="Wingdings" panose="05000000000000000000" pitchFamily="2" charset="2"/>
              <a:buNone/>
            </a:pPr>
            <a:r>
              <a:rPr lang="en-US" altLang="zh-CN" b="1" dirty="0">
                <a:latin typeface="Times New Roman" panose="02020603050405020304" pitchFamily="18" charset="0"/>
              </a:rPr>
              <a:t>5.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err="1">
                <a:latin typeface="Times New Roman" panose="02020603050405020304" pitchFamily="18" charset="0"/>
              </a:rPr>
              <a:t>cf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，其中</a:t>
            </a:r>
            <a:r>
              <a:rPr lang="en-US" altLang="zh-CN" b="1" i="1" dirty="0">
                <a:latin typeface="Times New Roman" panose="02020603050405020304" pitchFamily="18" charset="0"/>
              </a:rPr>
              <a:t>c</a:t>
            </a:r>
            <a:r>
              <a:rPr lang="zh-CN" altLang="en-US" b="1" dirty="0">
                <a:latin typeface="Times New Roman" panose="02020603050405020304" pitchFamily="18" charset="0"/>
              </a:rPr>
              <a:t>是一个正的常数；</a:t>
            </a:r>
          </a:p>
          <a:p>
            <a:pPr eaLnBrk="1" hangingPunct="1">
              <a:buFont typeface="Wingdings" panose="05000000000000000000" pitchFamily="2" charset="2"/>
              <a:buNone/>
            </a:pPr>
            <a:r>
              <a:rPr lang="en-US" altLang="zh-CN" b="1" dirty="0">
                <a:latin typeface="Times New Roman" panose="02020603050405020304" pitchFamily="18" charset="0"/>
              </a:rPr>
              <a:t>6. </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a:t>
            </a:r>
            <a:r>
              <a:rPr lang="zh-CN" altLang="en-US" b="1" dirty="0">
                <a:latin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a:extLst>
              <a:ext uri="{FF2B5EF4-FFF2-40B4-BE49-F238E27FC236}">
                <a16:creationId xmlns:a16="http://schemas.microsoft.com/office/drawing/2014/main" xmlns="" id="{EE53EA2C-2248-4E21-A459-FBB91B38EB65}"/>
              </a:ext>
            </a:extLst>
          </p:cNvPr>
          <p:cNvSpPr txBox="1">
            <a:spLocks noGrp="1" noChangeArrowheads="1"/>
          </p:cNvSpPr>
          <p:nvPr/>
        </p:nvSpPr>
        <p:spPr bwMode="auto">
          <a:xfrm>
            <a:off x="8401050" y="6392863"/>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SzTx/>
              <a:buFont typeface="Arial" panose="020B0604020202020204" pitchFamily="34" charset="0"/>
              <a:buNone/>
            </a:pPr>
            <a:fld id="{C81605D2-0FC9-42C4-AA6E-71288FB9719D}" type="slidenum">
              <a:rPr lang="en-US" altLang="zh-CN" sz="1000"/>
              <a:pPr algn="r" eaLnBrk="1" hangingPunct="1">
                <a:spcBef>
                  <a:spcPct val="0"/>
                </a:spcBef>
                <a:buClrTx/>
                <a:buSzTx/>
                <a:buFont typeface="Arial" panose="020B0604020202020204" pitchFamily="34" charset="0"/>
                <a:buNone/>
              </a:pPr>
              <a:t>38</a:t>
            </a:fld>
            <a:endParaRPr lang="en-US" altLang="zh-CN" sz="1000"/>
          </a:p>
        </p:txBody>
      </p:sp>
      <p:sp>
        <p:nvSpPr>
          <p:cNvPr id="63491" name="Rectangle 2">
            <a:extLst>
              <a:ext uri="{FF2B5EF4-FFF2-40B4-BE49-F238E27FC236}">
                <a16:creationId xmlns:a16="http://schemas.microsoft.com/office/drawing/2014/main" xmlns="" id="{B0776ED7-1856-491B-9D72-1423E84DE9B2}"/>
              </a:ext>
            </a:extLst>
          </p:cNvPr>
          <p:cNvSpPr>
            <a:spLocks noGrp="1" noChangeArrowheads="1"/>
          </p:cNvSpPr>
          <p:nvPr>
            <p:ph type="body" idx="4294967295"/>
          </p:nvPr>
        </p:nvSpPr>
        <p:spPr>
          <a:xfrm>
            <a:off x="479376" y="260648"/>
            <a:ext cx="11305256" cy="5389978"/>
          </a:xfrm>
        </p:spPr>
        <p:txBody>
          <a:bodyPr/>
          <a:lstStyle/>
          <a:p>
            <a:pPr eaLnBrk="1" hangingPunct="1">
              <a:lnSpc>
                <a:spcPct val="120000"/>
              </a:lnSpc>
              <a:buFont typeface="Wingdings" panose="05000000000000000000" pitchFamily="2" charset="2"/>
              <a:buNone/>
            </a:pPr>
            <a:r>
              <a:rPr lang="zh-CN" altLang="en-US" sz="2600" b="1" dirty="0">
                <a:solidFill>
                  <a:srgbClr val="0033CC"/>
                </a:solidFill>
                <a:latin typeface="Times New Roman" panose="02020603050405020304" pitchFamily="18" charset="0"/>
              </a:rPr>
              <a:t>性质</a:t>
            </a:r>
            <a:r>
              <a:rPr lang="en-US" altLang="zh-CN" sz="2600" b="1" dirty="0">
                <a:solidFill>
                  <a:srgbClr val="0033CC"/>
                </a:solidFill>
                <a:latin typeface="Times New Roman" panose="02020603050405020304" pitchFamily="18" charset="0"/>
              </a:rPr>
              <a:t>1</a:t>
            </a:r>
            <a:r>
              <a:rPr lang="zh-CN" altLang="en-US"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O</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f</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a:t>
            </a:r>
            <a:r>
              <a:rPr lang="en-US" altLang="zh-CN" sz="2600" b="1" dirty="0">
                <a:solidFill>
                  <a:srgbClr val="0033CC"/>
                </a:solidFill>
                <a:latin typeface="Times New Roman" panose="02020603050405020304" pitchFamily="18" charset="0"/>
                <a:sym typeface="Symbol" panose="05050102010706020507" pitchFamily="18" charset="2"/>
              </a:rPr>
              <a:t></a:t>
            </a:r>
            <a:r>
              <a:rPr lang="en-US" altLang="zh-CN" sz="2600" b="1" i="1" dirty="0">
                <a:solidFill>
                  <a:srgbClr val="0033CC"/>
                </a:solidFill>
                <a:latin typeface="Times New Roman" panose="02020603050405020304" pitchFamily="18" charset="0"/>
              </a:rPr>
              <a:t>O</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g</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 </a:t>
            </a:r>
            <a:r>
              <a:rPr lang="en-US" altLang="zh-CN" sz="2600" b="1" dirty="0">
                <a:solidFill>
                  <a:srgbClr val="0033CC"/>
                </a:solidFill>
                <a:latin typeface="Times New Roman" panose="02020603050405020304" pitchFamily="18" charset="0"/>
                <a:sym typeface="Symbol" panose="05050102010706020507" pitchFamily="18" charset="2"/>
              </a:rPr>
              <a:t></a:t>
            </a:r>
            <a:r>
              <a:rPr lang="en-US" altLang="zh-CN" sz="2600" b="1" dirty="0">
                <a:solidFill>
                  <a:srgbClr val="0033CC"/>
                </a:solidFill>
                <a:latin typeface="Times New Roman" panose="02020603050405020304" pitchFamily="18" charset="0"/>
              </a:rPr>
              <a:t> </a:t>
            </a:r>
            <a:r>
              <a:rPr lang="en-US" altLang="zh-CN" sz="2600" b="1" i="1" dirty="0">
                <a:solidFill>
                  <a:srgbClr val="0033CC"/>
                </a:solidFill>
                <a:latin typeface="Times New Roman" panose="02020603050405020304" pitchFamily="18" charset="0"/>
              </a:rPr>
              <a:t>O</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f</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a:t>
            </a:r>
            <a:r>
              <a:rPr lang="en-US" altLang="zh-CN" sz="2600" b="1" dirty="0">
                <a:solidFill>
                  <a:srgbClr val="0033CC"/>
                </a:solidFill>
                <a:latin typeface="Times New Roman" panose="02020603050405020304" pitchFamily="18" charset="0"/>
                <a:sym typeface="Symbol" panose="05050102010706020507" pitchFamily="18" charset="2"/>
              </a:rPr>
              <a:t></a:t>
            </a:r>
            <a:r>
              <a:rPr lang="en-US" altLang="zh-CN" sz="2600" b="1" i="1" dirty="0">
                <a:solidFill>
                  <a:srgbClr val="0033CC"/>
                </a:solidFill>
                <a:latin typeface="Times New Roman" panose="02020603050405020304" pitchFamily="18" charset="0"/>
              </a:rPr>
              <a:t>g</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 </a:t>
            </a:r>
            <a:r>
              <a:rPr lang="zh-CN" altLang="en-US" sz="2600" b="1" dirty="0">
                <a:solidFill>
                  <a:srgbClr val="0033CC"/>
                </a:solidFill>
                <a:latin typeface="Times New Roman" panose="02020603050405020304" pitchFamily="18" charset="0"/>
              </a:rPr>
              <a:t>的证明</a:t>
            </a:r>
            <a:r>
              <a:rPr lang="zh-CN" altLang="en-US" sz="2600" b="1" dirty="0">
                <a:latin typeface="Times New Roman" panose="02020603050405020304" pitchFamily="18" charset="0"/>
              </a:rPr>
              <a:t>：</a:t>
            </a:r>
          </a:p>
          <a:p>
            <a:pPr eaLnBrk="1" hangingPunct="1">
              <a:lnSpc>
                <a:spcPct val="120000"/>
              </a:lnSpc>
              <a:buFont typeface="Wingdings" panose="05000000000000000000" pitchFamily="2" charset="2"/>
              <a:buNone/>
            </a:pPr>
            <a:r>
              <a:rPr lang="zh-CN" altLang="en-US" sz="2200" b="1" dirty="0">
                <a:latin typeface="Times New Roman" panose="02020603050405020304" pitchFamily="18" charset="0"/>
              </a:rPr>
              <a:t>对于任意</a:t>
            </a:r>
            <a:r>
              <a:rPr lang="en-US" altLang="zh-CN" sz="2200" b="1" i="1" dirty="0">
                <a:latin typeface="Times New Roman" panose="02020603050405020304" pitchFamily="18" charset="0"/>
              </a:rPr>
              <a:t>f</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，存在正常数</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和自然数</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，使得对所有</a:t>
            </a:r>
            <a:r>
              <a:rPr lang="en-US" altLang="zh-CN" sz="2200" b="1" i="1" dirty="0">
                <a:latin typeface="Times New Roman" panose="02020603050405020304" pitchFamily="18" charset="0"/>
              </a:rPr>
              <a:t>n</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，有</a:t>
            </a:r>
            <a:r>
              <a:rPr lang="en-US" altLang="zh-CN" sz="2200" b="1" i="1" dirty="0">
                <a:latin typeface="Times New Roman" panose="02020603050405020304" pitchFamily="18" charset="0"/>
              </a:rPr>
              <a:t>f</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1</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a:t>
            </a:r>
          </a:p>
          <a:p>
            <a:pPr eaLnBrk="1" hangingPunct="1">
              <a:lnSpc>
                <a:spcPct val="120000"/>
              </a:lnSpc>
              <a:buFont typeface="Wingdings" panose="05000000000000000000" pitchFamily="2" charset="2"/>
              <a:buNone/>
            </a:pPr>
            <a:r>
              <a:rPr lang="zh-CN" altLang="en-US" sz="2200" b="1" dirty="0">
                <a:latin typeface="Times New Roman" panose="02020603050405020304" pitchFamily="18" charset="0"/>
              </a:rPr>
              <a:t>类似地，对于任意</a:t>
            </a:r>
            <a:r>
              <a:rPr lang="en-US" altLang="zh-CN" sz="2200" b="1" i="1" dirty="0">
                <a:latin typeface="Times New Roman" panose="02020603050405020304" pitchFamily="18" charset="0"/>
              </a:rPr>
              <a:t>g</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，存在正常数</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和自然数</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，使得对所有</a:t>
            </a:r>
            <a:r>
              <a:rPr lang="en-US" altLang="zh-CN" sz="2200" b="1" i="1" dirty="0">
                <a:latin typeface="Times New Roman" panose="02020603050405020304" pitchFamily="18" charset="0"/>
              </a:rPr>
              <a:t>n</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，有</a:t>
            </a:r>
            <a:r>
              <a:rPr lang="en-US" altLang="zh-CN" sz="2200" b="1" i="1" dirty="0">
                <a:latin typeface="Times New Roman" panose="02020603050405020304" pitchFamily="18" charset="0"/>
              </a:rPr>
              <a:t>g</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2</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a:t>
            </a:r>
          </a:p>
          <a:p>
            <a:pPr eaLnBrk="1" hangingPunct="1">
              <a:lnSpc>
                <a:spcPct val="120000"/>
              </a:lnSpc>
              <a:buFont typeface="Wingdings" panose="05000000000000000000" pitchFamily="2" charset="2"/>
              <a:buNone/>
            </a:pPr>
            <a:r>
              <a:rPr lang="zh-CN" altLang="en-US" sz="2200" b="1" dirty="0">
                <a:latin typeface="Times New Roman" panose="02020603050405020304" pitchFamily="18" charset="0"/>
              </a:rPr>
              <a:t>令</a:t>
            </a:r>
            <a:r>
              <a:rPr lang="en-US" altLang="zh-CN" sz="2200" b="1" i="1" dirty="0">
                <a:solidFill>
                  <a:srgbClr val="FF0000"/>
                </a:solidFill>
                <a:latin typeface="Times New Roman" panose="02020603050405020304" pitchFamily="18" charset="0"/>
              </a:rPr>
              <a:t>c</a:t>
            </a:r>
            <a:r>
              <a:rPr lang="en-US" altLang="zh-CN" sz="2200" b="1" baseline="-25000" dirty="0">
                <a:solidFill>
                  <a:srgbClr val="FF0000"/>
                </a:solidFill>
                <a:latin typeface="Times New Roman" panose="02020603050405020304" pitchFamily="18" charset="0"/>
              </a:rPr>
              <a:t>3 </a:t>
            </a:r>
            <a:r>
              <a:rPr lang="en-US" altLang="zh-CN" sz="2200" b="1" dirty="0">
                <a:solidFill>
                  <a:srgbClr val="FF0000"/>
                </a:solidFill>
                <a:latin typeface="Times New Roman" panose="02020603050405020304" pitchFamily="18" charset="0"/>
                <a:sym typeface="Symbol" panose="05050102010706020507" pitchFamily="18" charset="2"/>
              </a:rPr>
              <a:t></a:t>
            </a:r>
            <a:r>
              <a:rPr lang="en-US" altLang="zh-CN" sz="2200" b="1" dirty="0">
                <a:solidFill>
                  <a:srgbClr val="FF0000"/>
                </a:solidFill>
                <a:latin typeface="Times New Roman" panose="02020603050405020304" pitchFamily="18" charset="0"/>
              </a:rPr>
              <a:t> max{</a:t>
            </a:r>
            <a:r>
              <a:rPr lang="en-US" altLang="zh-CN" sz="2200" b="1" i="1" dirty="0">
                <a:solidFill>
                  <a:srgbClr val="FF0000"/>
                </a:solidFill>
                <a:latin typeface="Times New Roman" panose="02020603050405020304" pitchFamily="18" charset="0"/>
              </a:rPr>
              <a:t>c</a:t>
            </a:r>
            <a:r>
              <a:rPr lang="en-US" altLang="zh-CN" sz="2200" b="1" baseline="-25000" dirty="0">
                <a:solidFill>
                  <a:srgbClr val="FF0000"/>
                </a:solidFill>
                <a:latin typeface="Times New Roman" panose="02020603050405020304" pitchFamily="18" charset="0"/>
              </a:rPr>
              <a:t>1</a:t>
            </a:r>
            <a:r>
              <a:rPr lang="en-US" altLang="zh-CN"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c</a:t>
            </a:r>
            <a:r>
              <a:rPr lang="en-US" altLang="zh-CN" sz="2200" b="1" baseline="-25000" dirty="0">
                <a:solidFill>
                  <a:srgbClr val="FF0000"/>
                </a:solidFill>
                <a:latin typeface="Times New Roman" panose="02020603050405020304" pitchFamily="18" charset="0"/>
              </a:rPr>
              <a:t>2</a:t>
            </a:r>
            <a:r>
              <a:rPr lang="en-US" altLang="zh-CN" sz="2200" b="1" dirty="0">
                <a:solidFill>
                  <a:srgbClr val="FF0000"/>
                </a:solidFill>
                <a:latin typeface="Times New Roman" panose="02020603050405020304" pitchFamily="18" charset="0"/>
              </a:rPr>
              <a:t>}</a:t>
            </a:r>
            <a:r>
              <a:rPr lang="zh-CN" altLang="en-US" sz="2200" b="1" dirty="0">
                <a:latin typeface="Times New Roman" panose="02020603050405020304" pitchFamily="18" charset="0"/>
              </a:rPr>
              <a:t>， </a:t>
            </a:r>
            <a:r>
              <a:rPr lang="en-US" altLang="zh-CN" sz="2200" b="1" i="1" dirty="0">
                <a:solidFill>
                  <a:srgbClr val="FF0000"/>
                </a:solidFill>
                <a:latin typeface="Times New Roman" panose="02020603050405020304" pitchFamily="18" charset="0"/>
              </a:rPr>
              <a:t>n</a:t>
            </a:r>
            <a:r>
              <a:rPr lang="en-US" altLang="zh-CN" sz="2200" b="1" baseline="-25000" dirty="0">
                <a:solidFill>
                  <a:srgbClr val="FF0000"/>
                </a:solidFill>
                <a:latin typeface="Times New Roman" panose="02020603050405020304" pitchFamily="18" charset="0"/>
              </a:rPr>
              <a:t>3</a:t>
            </a:r>
            <a:r>
              <a:rPr lang="en-US" altLang="zh-CN" sz="2200" b="1" dirty="0">
                <a:solidFill>
                  <a:srgbClr val="FF0000"/>
                </a:solidFill>
                <a:latin typeface="Times New Roman" panose="02020603050405020304" pitchFamily="18" charset="0"/>
              </a:rPr>
              <a:t> </a:t>
            </a:r>
            <a:r>
              <a:rPr lang="en-US" altLang="zh-CN" sz="2200" b="1" dirty="0">
                <a:solidFill>
                  <a:srgbClr val="FF0000"/>
                </a:solidFill>
                <a:latin typeface="Times New Roman" panose="02020603050405020304" pitchFamily="18" charset="0"/>
                <a:sym typeface="Symbol" panose="05050102010706020507" pitchFamily="18" charset="2"/>
              </a:rPr>
              <a:t></a:t>
            </a:r>
            <a:r>
              <a:rPr lang="en-US" altLang="zh-CN" sz="2200" b="1" dirty="0">
                <a:solidFill>
                  <a:srgbClr val="FF0000"/>
                </a:solidFill>
                <a:latin typeface="Times New Roman" panose="02020603050405020304" pitchFamily="18" charset="0"/>
              </a:rPr>
              <a:t> max{</a:t>
            </a:r>
            <a:r>
              <a:rPr lang="en-US" altLang="zh-CN" sz="2200" b="1" i="1" dirty="0">
                <a:solidFill>
                  <a:srgbClr val="FF0000"/>
                </a:solidFill>
                <a:latin typeface="Times New Roman" panose="02020603050405020304" pitchFamily="18" charset="0"/>
              </a:rPr>
              <a:t>n</a:t>
            </a:r>
            <a:r>
              <a:rPr lang="en-US" altLang="zh-CN" sz="2200" b="1" baseline="-25000" dirty="0">
                <a:solidFill>
                  <a:srgbClr val="FF0000"/>
                </a:solidFill>
                <a:latin typeface="Times New Roman" panose="02020603050405020304" pitchFamily="18" charset="0"/>
              </a:rPr>
              <a:t>1</a:t>
            </a:r>
            <a:r>
              <a:rPr lang="en-US" altLang="zh-CN"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n</a:t>
            </a:r>
            <a:r>
              <a:rPr lang="en-US" altLang="zh-CN" sz="2200" b="1" baseline="-25000" dirty="0">
                <a:solidFill>
                  <a:srgbClr val="FF0000"/>
                </a:solidFill>
                <a:latin typeface="Times New Roman" panose="02020603050405020304" pitchFamily="18" charset="0"/>
              </a:rPr>
              <a:t>2</a:t>
            </a:r>
            <a:r>
              <a:rPr lang="en-US" altLang="zh-CN" sz="2200" b="1" dirty="0">
                <a:solidFill>
                  <a:srgbClr val="FF0000"/>
                </a:solidFill>
                <a:latin typeface="Times New Roman" panose="02020603050405020304" pitchFamily="18" charset="0"/>
              </a:rPr>
              <a:t>}</a:t>
            </a:r>
            <a:r>
              <a:rPr lang="zh-CN" altLang="en-US" sz="2200" b="1" dirty="0">
                <a:latin typeface="Times New Roman" panose="02020603050405020304" pitchFamily="18" charset="0"/>
              </a:rPr>
              <a:t>，</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en-US" altLang="zh-CN" sz="2200" b="1" dirty="0">
                <a:latin typeface="Times New Roman" panose="02020603050405020304" pitchFamily="18" charset="0"/>
                <a:sym typeface="Symbol" panose="05050102010706020507" pitchFamily="18" charset="2"/>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endParaRPr lang="zh-CN" altLang="en-US" sz="2200" b="1" dirty="0">
              <a:latin typeface="Times New Roman" panose="02020603050405020304" pitchFamily="18" charset="0"/>
            </a:endParaRPr>
          </a:p>
          <a:p>
            <a:pPr eaLnBrk="1" hangingPunct="1">
              <a:lnSpc>
                <a:spcPct val="120000"/>
              </a:lnSpc>
              <a:buFont typeface="Wingdings" panose="05000000000000000000" pitchFamily="2" charset="2"/>
              <a:buNone/>
            </a:pPr>
            <a:r>
              <a:rPr lang="zh-CN" altLang="en-US" sz="2200" b="1" dirty="0">
                <a:latin typeface="Times New Roman" panose="02020603050405020304" pitchFamily="18" charset="0"/>
              </a:rPr>
              <a:t>则对所有的 </a:t>
            </a:r>
            <a:r>
              <a:rPr lang="en-US" altLang="zh-CN" sz="2200" b="1" i="1" dirty="0">
                <a:latin typeface="Times New Roman" panose="02020603050405020304" pitchFamily="18" charset="0"/>
              </a:rPr>
              <a:t>n </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3</a:t>
            </a:r>
            <a:r>
              <a:rPr lang="zh-CN" altLang="en-US" sz="2200" b="1" dirty="0">
                <a:latin typeface="Times New Roman" panose="02020603050405020304" pitchFamily="18" charset="0"/>
              </a:rPr>
              <a:t>，有</a:t>
            </a:r>
          </a:p>
          <a:p>
            <a:pPr eaLnBrk="1" hangingPunct="1">
              <a:lnSpc>
                <a:spcPct val="120000"/>
              </a:lnSpc>
              <a:buFont typeface="Wingdings" panose="05000000000000000000" pitchFamily="2" charset="2"/>
              <a:buNone/>
            </a:pPr>
            <a:r>
              <a:rPr lang="zh-CN" altLang="en-US" sz="2200" b="1" i="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i="1" dirty="0">
                <a:latin typeface="Times New Roman" panose="02020603050405020304" pitchFamily="18" charset="0"/>
              </a:rPr>
              <a:t> f</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p>
          <a:p>
            <a:pPr eaLnBrk="1" hangingPunct="1">
              <a:lnSpc>
                <a:spcPct val="120000"/>
              </a:lnSpc>
              <a:buFont typeface="Wingdings" panose="05000000000000000000" pitchFamily="2" charset="2"/>
              <a:buNone/>
            </a:pP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1</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2</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p>
          <a:p>
            <a:pPr eaLnBrk="1" hangingPunct="1">
              <a:lnSpc>
                <a:spcPct val="120000"/>
              </a:lnSpc>
              <a:spcBef>
                <a:spcPct val="0"/>
              </a:spcBef>
              <a:buClr>
                <a:schemeClr val="bg1"/>
              </a:buClr>
              <a:buFont typeface="Wingdings" panose="05000000000000000000" pitchFamily="2" charset="2"/>
              <a:buNone/>
            </a:pPr>
            <a:r>
              <a:rPr lang="en-US" altLang="zh-CN" sz="2200" b="1" dirty="0">
                <a:latin typeface="Times New Roman" panose="02020603050405020304" pitchFamily="18" charset="0"/>
                <a:sym typeface="Symbol" panose="05050102010706020507" pitchFamily="18" charset="2"/>
              </a:rPr>
              <a:t>                           </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p>
          <a:p>
            <a:pPr eaLnBrk="1" hangingPunct="1">
              <a:lnSpc>
                <a:spcPct val="120000"/>
              </a:lnSpc>
              <a:spcBef>
                <a:spcPct val="0"/>
              </a:spcBef>
              <a:buClr>
                <a:schemeClr val="bg1"/>
              </a:buClr>
              <a:buFont typeface="Wingdings" panose="05000000000000000000" pitchFamily="2" charset="2"/>
              <a:buNone/>
            </a:pPr>
            <a:r>
              <a:rPr lang="en-US" altLang="zh-CN" sz="2200" b="1" dirty="0">
                <a:latin typeface="Times New Roman" panose="02020603050405020304" pitchFamily="18" charset="0"/>
              </a:rPr>
              <a:t>                           </a:t>
            </a:r>
            <a:r>
              <a:rPr lang="en-US" altLang="zh-CN" sz="2200" b="1" dirty="0">
                <a:solidFill>
                  <a:srgbClr val="C00000"/>
                </a:solidFill>
                <a:latin typeface="Times New Roman" panose="02020603050405020304" pitchFamily="18" charset="0"/>
                <a:sym typeface="Symbol" panose="05050102010706020507" pitchFamily="18" charset="2"/>
              </a:rPr>
              <a:t></a:t>
            </a:r>
            <a:r>
              <a:rPr lang="en-US" altLang="zh-CN" sz="2200" b="1" dirty="0">
                <a:solidFill>
                  <a:srgbClr val="C00000"/>
                </a:solidFill>
                <a:latin typeface="Times New Roman" panose="02020603050405020304" pitchFamily="18" charset="0"/>
              </a:rPr>
              <a:t> </a:t>
            </a:r>
            <a:r>
              <a:rPr lang="en-US" altLang="zh-CN" sz="2200" b="1" i="1" dirty="0">
                <a:solidFill>
                  <a:srgbClr val="C00000"/>
                </a:solidFill>
                <a:latin typeface="Times New Roman" panose="02020603050405020304" pitchFamily="18" charset="0"/>
              </a:rPr>
              <a:t>c</a:t>
            </a:r>
            <a:r>
              <a:rPr lang="en-US" altLang="zh-CN" sz="2200" b="1" baseline="-25000" dirty="0">
                <a:solidFill>
                  <a:srgbClr val="C00000"/>
                </a:solidFill>
                <a:latin typeface="Times New Roman" panose="02020603050405020304" pitchFamily="18" charset="0"/>
              </a:rPr>
              <a:t>3</a:t>
            </a:r>
            <a:r>
              <a:rPr lang="en-US" altLang="zh-CN" sz="2200" b="1" dirty="0">
                <a:solidFill>
                  <a:srgbClr val="C00000"/>
                </a:solidFill>
                <a:latin typeface="Times New Roman" panose="02020603050405020304" pitchFamily="18" charset="0"/>
              </a:rPr>
              <a:t>(</a:t>
            </a:r>
            <a:r>
              <a:rPr lang="en-US" altLang="zh-CN" sz="2200" b="1" i="1" dirty="0">
                <a:solidFill>
                  <a:srgbClr val="C00000"/>
                </a:solidFill>
                <a:latin typeface="Times New Roman" panose="02020603050405020304" pitchFamily="18" charset="0"/>
              </a:rPr>
              <a:t>f</a:t>
            </a:r>
            <a:r>
              <a:rPr lang="en-US" altLang="zh-CN" sz="2200" b="1" dirty="0">
                <a:solidFill>
                  <a:srgbClr val="C00000"/>
                </a:solidFill>
                <a:latin typeface="Times New Roman" panose="02020603050405020304" pitchFamily="18" charset="0"/>
              </a:rPr>
              <a:t>(</a:t>
            </a:r>
            <a:r>
              <a:rPr lang="en-US" altLang="zh-CN" sz="2200" b="1" i="1" dirty="0">
                <a:solidFill>
                  <a:srgbClr val="C00000"/>
                </a:solidFill>
                <a:latin typeface="Times New Roman" panose="02020603050405020304" pitchFamily="18" charset="0"/>
              </a:rPr>
              <a:t>n</a:t>
            </a:r>
            <a:r>
              <a:rPr lang="en-US" altLang="zh-CN" sz="2200" b="1" dirty="0">
                <a:solidFill>
                  <a:srgbClr val="C00000"/>
                </a:solidFill>
                <a:latin typeface="Times New Roman" panose="02020603050405020304" pitchFamily="18" charset="0"/>
              </a:rPr>
              <a:t>) </a:t>
            </a:r>
            <a:r>
              <a:rPr lang="en-US" altLang="zh-CN" sz="2200" b="1" dirty="0">
                <a:solidFill>
                  <a:srgbClr val="C00000"/>
                </a:solidFill>
                <a:latin typeface="Times New Roman" panose="02020603050405020304" pitchFamily="18" charset="0"/>
                <a:sym typeface="Symbol" panose="05050102010706020507" pitchFamily="18" charset="2"/>
              </a:rPr>
              <a:t></a:t>
            </a:r>
            <a:r>
              <a:rPr lang="en-US" altLang="zh-CN" sz="2200" b="1" dirty="0">
                <a:solidFill>
                  <a:srgbClr val="C00000"/>
                </a:solidFill>
                <a:latin typeface="Times New Roman" panose="02020603050405020304" pitchFamily="18" charset="0"/>
              </a:rPr>
              <a:t> </a:t>
            </a:r>
            <a:r>
              <a:rPr lang="en-US" altLang="zh-CN" sz="2200" b="1" i="1" dirty="0">
                <a:solidFill>
                  <a:srgbClr val="C00000"/>
                </a:solidFill>
                <a:latin typeface="Times New Roman" panose="02020603050405020304" pitchFamily="18" charset="0"/>
              </a:rPr>
              <a:t>g</a:t>
            </a:r>
            <a:r>
              <a:rPr lang="en-US" altLang="zh-CN" sz="2200" b="1" dirty="0">
                <a:solidFill>
                  <a:srgbClr val="C00000"/>
                </a:solidFill>
                <a:latin typeface="Times New Roman" panose="02020603050405020304" pitchFamily="18" charset="0"/>
              </a:rPr>
              <a:t>(</a:t>
            </a:r>
            <a:r>
              <a:rPr lang="en-US" altLang="zh-CN" sz="2200" b="1" i="1" dirty="0">
                <a:solidFill>
                  <a:srgbClr val="C00000"/>
                </a:solidFill>
                <a:latin typeface="Times New Roman" panose="02020603050405020304" pitchFamily="18" charset="0"/>
              </a:rPr>
              <a:t>n</a:t>
            </a:r>
            <a:r>
              <a:rPr lang="en-US" altLang="zh-CN" sz="2200" b="1" dirty="0">
                <a:solidFill>
                  <a:srgbClr val="C00000"/>
                </a:solidFill>
                <a:latin typeface="Times New Roman" panose="02020603050405020304" pitchFamily="18" charset="0"/>
              </a:rPr>
              <a:t>))</a:t>
            </a:r>
          </a:p>
          <a:p>
            <a:pPr eaLnBrk="1" hangingPunct="1">
              <a:lnSpc>
                <a:spcPct val="120000"/>
              </a:lnSpc>
              <a:spcBef>
                <a:spcPct val="0"/>
              </a:spcBef>
              <a:buClr>
                <a:schemeClr val="bg1"/>
              </a:buClr>
              <a:buFont typeface="Wingdings" panose="05000000000000000000" pitchFamily="2" charset="2"/>
              <a:buNone/>
            </a:pP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p>
        </p:txBody>
      </p:sp>
      <p:sp>
        <p:nvSpPr>
          <p:cNvPr id="2" name="文本框 1">
            <a:extLst>
              <a:ext uri="{FF2B5EF4-FFF2-40B4-BE49-F238E27FC236}">
                <a16:creationId xmlns:a16="http://schemas.microsoft.com/office/drawing/2014/main" xmlns="" id="{EE9370E8-1D0D-C481-8876-364080DF5452}"/>
              </a:ext>
            </a:extLst>
          </p:cNvPr>
          <p:cNvSpPr txBox="1"/>
          <p:nvPr/>
        </p:nvSpPr>
        <p:spPr>
          <a:xfrm>
            <a:off x="373714" y="5650626"/>
            <a:ext cx="10690838" cy="1056443"/>
          </a:xfrm>
          <a:prstGeom prst="rect">
            <a:avLst/>
          </a:prstGeom>
          <a:solidFill>
            <a:schemeClr val="accent5">
              <a:lumMod val="20000"/>
              <a:lumOff val="80000"/>
            </a:schemeClr>
          </a:solidFill>
        </p:spPr>
        <p:txBody>
          <a:bodyPr wrap="square" rtlCol="0">
            <a:spAutoFit/>
          </a:bodyPr>
          <a:lstStyle/>
          <a:p>
            <a:pPr>
              <a:lnSpc>
                <a:spcPct val="150000"/>
              </a:lnSpc>
            </a:pPr>
            <a:r>
              <a:rPr lang="zh-CN" altLang="en-US" sz="2200" dirty="0"/>
              <a:t>一个算法由逻辑上是加法关系的多个部分构成，可独立分析每部分的复杂度，与合在一起进行整体分析，两者等效。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a:extLst>
              <a:ext uri="{FF2B5EF4-FFF2-40B4-BE49-F238E27FC236}">
                <a16:creationId xmlns:a16="http://schemas.microsoft.com/office/drawing/2014/main" xmlns="" id="{2392D118-56F1-4A4F-B4E4-E25FBFD24304}"/>
              </a:ext>
            </a:extLst>
          </p:cNvPr>
          <p:cNvSpPr txBox="1">
            <a:spLocks noGrp="1" noChangeArrowheads="1"/>
          </p:cNvSpPr>
          <p:nvPr/>
        </p:nvSpPr>
        <p:spPr bwMode="auto">
          <a:xfrm>
            <a:off x="8401050" y="6392863"/>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SzTx/>
              <a:buFont typeface="Arial" panose="020B0604020202020204" pitchFamily="34" charset="0"/>
              <a:buNone/>
            </a:pPr>
            <a:fld id="{26E62465-B9DC-4167-A718-35EFAC027CC9}" type="slidenum">
              <a:rPr lang="en-US" altLang="zh-CN" sz="1000"/>
              <a:pPr algn="r" eaLnBrk="1" hangingPunct="1">
                <a:spcBef>
                  <a:spcPct val="0"/>
                </a:spcBef>
                <a:buClrTx/>
                <a:buSzTx/>
                <a:buFont typeface="Arial" panose="020B0604020202020204" pitchFamily="34" charset="0"/>
                <a:buNone/>
              </a:pPr>
              <a:t>39</a:t>
            </a:fld>
            <a:endParaRPr lang="en-US" altLang="zh-CN" sz="1000"/>
          </a:p>
        </p:txBody>
      </p:sp>
      <p:sp>
        <p:nvSpPr>
          <p:cNvPr id="62467" name="Rectangle 2">
            <a:extLst>
              <a:ext uri="{FF2B5EF4-FFF2-40B4-BE49-F238E27FC236}">
                <a16:creationId xmlns:a16="http://schemas.microsoft.com/office/drawing/2014/main" xmlns="" id="{60921555-42FD-4DAD-B386-6B4DE43D34C0}"/>
              </a:ext>
            </a:extLst>
          </p:cNvPr>
          <p:cNvSpPr>
            <a:spLocks noGrp="1" noChangeArrowheads="1"/>
          </p:cNvSpPr>
          <p:nvPr>
            <p:ph type="body" idx="4294967295"/>
          </p:nvPr>
        </p:nvSpPr>
        <p:spPr>
          <a:xfrm>
            <a:off x="479376" y="176987"/>
            <a:ext cx="11305256" cy="6192837"/>
          </a:xfrm>
        </p:spPr>
        <p:txBody>
          <a:bodyPr/>
          <a:lstStyle/>
          <a:p>
            <a:pPr eaLnBrk="1" hangingPunct="1">
              <a:lnSpc>
                <a:spcPct val="130000"/>
              </a:lnSpc>
              <a:buFont typeface="Wingdings" panose="05000000000000000000" pitchFamily="2" charset="2"/>
              <a:buNone/>
            </a:pPr>
            <a:r>
              <a:rPr lang="zh-CN" altLang="en-US" sz="2600" b="1" dirty="0">
                <a:solidFill>
                  <a:srgbClr val="0033CC"/>
                </a:solidFill>
                <a:latin typeface="Times New Roman" panose="02020603050405020304" pitchFamily="18" charset="0"/>
              </a:rPr>
              <a:t>性质</a:t>
            </a:r>
            <a:r>
              <a:rPr lang="en-US" altLang="zh-CN" sz="2600" b="1" dirty="0">
                <a:solidFill>
                  <a:srgbClr val="0033CC"/>
                </a:solidFill>
                <a:latin typeface="Times New Roman" panose="02020603050405020304" pitchFamily="18" charset="0"/>
              </a:rPr>
              <a:t>2</a:t>
            </a:r>
            <a:r>
              <a:rPr lang="zh-CN" altLang="en-US"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O</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f</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a:t>
            </a:r>
            <a:r>
              <a:rPr lang="en-US" altLang="zh-CN" sz="2600" b="1" dirty="0">
                <a:solidFill>
                  <a:srgbClr val="0033CC"/>
                </a:solidFill>
                <a:latin typeface="Times New Roman" panose="02020603050405020304" pitchFamily="18" charset="0"/>
                <a:sym typeface="Symbol" panose="05050102010706020507" pitchFamily="18" charset="2"/>
              </a:rPr>
              <a:t></a:t>
            </a:r>
            <a:r>
              <a:rPr lang="en-US" altLang="zh-CN" sz="2600" b="1" i="1" dirty="0">
                <a:solidFill>
                  <a:srgbClr val="0033CC"/>
                </a:solidFill>
                <a:latin typeface="Times New Roman" panose="02020603050405020304" pitchFamily="18" charset="0"/>
              </a:rPr>
              <a:t>O</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g</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 </a:t>
            </a:r>
            <a:r>
              <a:rPr lang="en-US" altLang="zh-CN" sz="2600" b="1" dirty="0">
                <a:solidFill>
                  <a:srgbClr val="0033CC"/>
                </a:solidFill>
                <a:latin typeface="Times New Roman" panose="02020603050405020304" pitchFamily="18" charset="0"/>
                <a:sym typeface="Symbol" panose="05050102010706020507" pitchFamily="18" charset="2"/>
              </a:rPr>
              <a:t></a:t>
            </a:r>
            <a:r>
              <a:rPr lang="en-US" altLang="zh-CN" sz="2600" b="1" dirty="0">
                <a:solidFill>
                  <a:srgbClr val="0033CC"/>
                </a:solidFill>
                <a:latin typeface="Times New Roman" panose="02020603050405020304" pitchFamily="18" charset="0"/>
              </a:rPr>
              <a:t> </a:t>
            </a:r>
            <a:r>
              <a:rPr lang="en-US" altLang="zh-CN" sz="2600" b="1" i="1" dirty="0">
                <a:solidFill>
                  <a:srgbClr val="0033CC"/>
                </a:solidFill>
                <a:latin typeface="Times New Roman" panose="02020603050405020304" pitchFamily="18" charset="0"/>
              </a:rPr>
              <a:t>O</a:t>
            </a:r>
            <a:r>
              <a:rPr lang="en-US" altLang="zh-CN" sz="2600" b="1" dirty="0">
                <a:solidFill>
                  <a:srgbClr val="0033CC"/>
                </a:solidFill>
                <a:latin typeface="Times New Roman" panose="02020603050405020304" pitchFamily="18" charset="0"/>
              </a:rPr>
              <a:t>(max{</a:t>
            </a:r>
            <a:r>
              <a:rPr lang="en-US" altLang="zh-CN" sz="2600" b="1" i="1" dirty="0">
                <a:solidFill>
                  <a:srgbClr val="0033CC"/>
                </a:solidFill>
                <a:latin typeface="Times New Roman" panose="02020603050405020304" pitchFamily="18" charset="0"/>
              </a:rPr>
              <a:t>f</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 </a:t>
            </a:r>
            <a:r>
              <a:rPr lang="en-US" altLang="zh-CN" sz="2600" b="1" i="1" dirty="0">
                <a:solidFill>
                  <a:srgbClr val="0033CC"/>
                </a:solidFill>
                <a:latin typeface="Times New Roman" panose="02020603050405020304" pitchFamily="18" charset="0"/>
              </a:rPr>
              <a:t>g</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 </a:t>
            </a:r>
            <a:r>
              <a:rPr lang="zh-CN" altLang="en-US" sz="2600" b="1" dirty="0">
                <a:solidFill>
                  <a:srgbClr val="0033CC"/>
                </a:solidFill>
                <a:latin typeface="Times New Roman" panose="02020603050405020304" pitchFamily="18" charset="0"/>
              </a:rPr>
              <a:t>的证明：</a:t>
            </a:r>
          </a:p>
          <a:p>
            <a:pPr eaLnBrk="1" hangingPunct="1">
              <a:lnSpc>
                <a:spcPct val="130000"/>
              </a:lnSpc>
              <a:buFont typeface="Wingdings" panose="05000000000000000000" pitchFamily="2" charset="2"/>
              <a:buNone/>
            </a:pPr>
            <a:r>
              <a:rPr lang="zh-CN" altLang="en-US" sz="2200" b="1" dirty="0">
                <a:latin typeface="Times New Roman" panose="02020603050405020304" pitchFamily="18" charset="0"/>
              </a:rPr>
              <a:t>对于</a:t>
            </a:r>
            <a:r>
              <a:rPr lang="zh-CN" altLang="en-US" sz="2200" b="1" dirty="0">
                <a:solidFill>
                  <a:srgbClr val="FF0000"/>
                </a:solidFill>
                <a:latin typeface="Times New Roman" panose="02020603050405020304" pitchFamily="18" charset="0"/>
              </a:rPr>
              <a:t>任意</a:t>
            </a:r>
            <a:r>
              <a:rPr lang="en-US" altLang="zh-CN" sz="2200" b="1" i="1" dirty="0">
                <a:solidFill>
                  <a:srgbClr val="FF0000"/>
                </a:solidFill>
                <a:latin typeface="Times New Roman" panose="02020603050405020304" pitchFamily="18" charset="0"/>
              </a:rPr>
              <a:t>f</a:t>
            </a:r>
            <a:r>
              <a:rPr lang="en-US" altLang="zh-CN" sz="2200" b="1" baseline="-25000" dirty="0">
                <a:solidFill>
                  <a:srgbClr val="FF0000"/>
                </a:solidFill>
                <a:latin typeface="Times New Roman" panose="02020603050405020304" pitchFamily="18" charset="0"/>
              </a:rPr>
              <a:t>1</a:t>
            </a:r>
            <a:r>
              <a:rPr lang="en-US" altLang="zh-CN" sz="2200" b="1" dirty="0">
                <a:solidFill>
                  <a:srgbClr val="FF0000"/>
                </a:solidFill>
                <a:latin typeface="Times New Roman" panose="02020603050405020304" pitchFamily="18" charset="0"/>
              </a:rPr>
              <a:t>(</a:t>
            </a:r>
            <a:r>
              <a:rPr lang="en-US" altLang="zh-CN" sz="2200" b="1" i="1" dirty="0">
                <a:solidFill>
                  <a:srgbClr val="FF0000"/>
                </a:solidFill>
                <a:latin typeface="Times New Roman" panose="02020603050405020304" pitchFamily="18" charset="0"/>
              </a:rPr>
              <a:t>n</a:t>
            </a:r>
            <a:r>
              <a:rPr lang="en-US" altLang="zh-CN" sz="2200" b="1" dirty="0">
                <a:solidFill>
                  <a:srgbClr val="FF0000"/>
                </a:solidFill>
                <a:latin typeface="Times New Roman" panose="02020603050405020304" pitchFamily="18" charset="0"/>
              </a:rPr>
              <a:t>) </a:t>
            </a:r>
            <a:r>
              <a:rPr lang="en-US" altLang="zh-CN" sz="2200" b="1" dirty="0">
                <a:solidFill>
                  <a:srgbClr val="FF0000"/>
                </a:solidFill>
                <a:latin typeface="Times New Roman" panose="02020603050405020304" pitchFamily="18" charset="0"/>
                <a:sym typeface="Symbol" panose="05050102010706020507" pitchFamily="18" charset="2"/>
              </a:rPr>
              <a:t></a:t>
            </a:r>
            <a:r>
              <a:rPr lang="en-US" altLang="zh-CN"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O</a:t>
            </a:r>
            <a:r>
              <a:rPr lang="en-US" altLang="zh-CN" sz="2200" b="1" dirty="0">
                <a:solidFill>
                  <a:srgbClr val="FF0000"/>
                </a:solidFill>
                <a:latin typeface="Times New Roman" panose="02020603050405020304" pitchFamily="18" charset="0"/>
              </a:rPr>
              <a:t>(</a:t>
            </a:r>
            <a:r>
              <a:rPr lang="en-US" altLang="zh-CN" sz="2200" b="1" i="1" dirty="0">
                <a:solidFill>
                  <a:srgbClr val="FF0000"/>
                </a:solidFill>
                <a:latin typeface="Times New Roman" panose="02020603050405020304" pitchFamily="18" charset="0"/>
              </a:rPr>
              <a:t>f</a:t>
            </a:r>
            <a:r>
              <a:rPr lang="en-US" altLang="zh-CN" sz="2200" b="1" dirty="0">
                <a:solidFill>
                  <a:srgbClr val="FF0000"/>
                </a:solidFill>
                <a:latin typeface="Times New Roman" panose="02020603050405020304" pitchFamily="18" charset="0"/>
              </a:rPr>
              <a:t>(</a:t>
            </a:r>
            <a:r>
              <a:rPr lang="en-US" altLang="zh-CN" sz="2200" b="1" i="1" dirty="0">
                <a:solidFill>
                  <a:srgbClr val="FF0000"/>
                </a:solidFill>
                <a:latin typeface="Times New Roman" panose="02020603050405020304" pitchFamily="18" charset="0"/>
              </a:rPr>
              <a:t>n</a:t>
            </a:r>
            <a:r>
              <a:rPr lang="en-US" altLang="zh-CN" sz="2200" b="1" dirty="0">
                <a:solidFill>
                  <a:srgbClr val="FF0000"/>
                </a:solidFill>
                <a:latin typeface="Times New Roman" panose="02020603050405020304" pitchFamily="18" charset="0"/>
              </a:rPr>
              <a:t>)) </a:t>
            </a:r>
            <a:r>
              <a:rPr lang="zh-CN" altLang="en-US" sz="2200" b="1" dirty="0">
                <a:latin typeface="Times New Roman" panose="02020603050405020304" pitchFamily="18" charset="0"/>
              </a:rPr>
              <a:t>，存在正常数</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和自然数</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，使得对所有</a:t>
            </a:r>
            <a:r>
              <a:rPr lang="en-US" altLang="zh-CN" sz="2200" b="1" i="1" dirty="0">
                <a:latin typeface="Times New Roman" panose="02020603050405020304" pitchFamily="18" charset="0"/>
              </a:rPr>
              <a:t>n</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，有</a:t>
            </a:r>
            <a:r>
              <a:rPr lang="en-US" altLang="zh-CN" sz="2200" b="1" i="1" dirty="0">
                <a:latin typeface="Times New Roman" panose="02020603050405020304" pitchFamily="18" charset="0"/>
              </a:rPr>
              <a:t>f</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1</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a:t>
            </a:r>
          </a:p>
          <a:p>
            <a:pPr eaLnBrk="1" hangingPunct="1">
              <a:lnSpc>
                <a:spcPct val="130000"/>
              </a:lnSpc>
              <a:buFont typeface="Wingdings" panose="05000000000000000000" pitchFamily="2" charset="2"/>
              <a:buNone/>
            </a:pPr>
            <a:r>
              <a:rPr lang="zh-CN" altLang="en-US" sz="2200" b="1" dirty="0">
                <a:latin typeface="Times New Roman" panose="02020603050405020304" pitchFamily="18" charset="0"/>
              </a:rPr>
              <a:t>类似地，对于</a:t>
            </a:r>
            <a:r>
              <a:rPr lang="zh-CN" altLang="en-US" sz="2200" b="1" dirty="0">
                <a:solidFill>
                  <a:srgbClr val="FF0000"/>
                </a:solidFill>
                <a:latin typeface="Times New Roman" panose="02020603050405020304" pitchFamily="18" charset="0"/>
              </a:rPr>
              <a:t>任意</a:t>
            </a:r>
            <a:r>
              <a:rPr lang="en-US" altLang="zh-CN" sz="2200" b="1" i="1" dirty="0">
                <a:solidFill>
                  <a:srgbClr val="FF0000"/>
                </a:solidFill>
                <a:latin typeface="Times New Roman" panose="02020603050405020304" pitchFamily="18" charset="0"/>
              </a:rPr>
              <a:t>g</a:t>
            </a:r>
            <a:r>
              <a:rPr lang="en-US" altLang="zh-CN" sz="2200" b="1" baseline="-25000" dirty="0">
                <a:solidFill>
                  <a:srgbClr val="FF0000"/>
                </a:solidFill>
                <a:latin typeface="Times New Roman" panose="02020603050405020304" pitchFamily="18" charset="0"/>
              </a:rPr>
              <a:t>1</a:t>
            </a:r>
            <a:r>
              <a:rPr lang="en-US" altLang="zh-CN" sz="2200" b="1" dirty="0">
                <a:solidFill>
                  <a:srgbClr val="FF0000"/>
                </a:solidFill>
                <a:latin typeface="Times New Roman" panose="02020603050405020304" pitchFamily="18" charset="0"/>
              </a:rPr>
              <a:t>(</a:t>
            </a:r>
            <a:r>
              <a:rPr lang="en-US" altLang="zh-CN" sz="2200" b="1" i="1" dirty="0">
                <a:solidFill>
                  <a:srgbClr val="FF0000"/>
                </a:solidFill>
                <a:latin typeface="Times New Roman" panose="02020603050405020304" pitchFamily="18" charset="0"/>
              </a:rPr>
              <a:t>n</a:t>
            </a:r>
            <a:r>
              <a:rPr lang="en-US" altLang="zh-CN" sz="2200" b="1" dirty="0">
                <a:solidFill>
                  <a:srgbClr val="FF0000"/>
                </a:solidFill>
                <a:latin typeface="Times New Roman" panose="02020603050405020304" pitchFamily="18" charset="0"/>
              </a:rPr>
              <a:t>) </a:t>
            </a:r>
            <a:r>
              <a:rPr lang="en-US" altLang="zh-CN" sz="2200" b="1" dirty="0">
                <a:solidFill>
                  <a:srgbClr val="FF0000"/>
                </a:solidFill>
                <a:latin typeface="Times New Roman" panose="02020603050405020304" pitchFamily="18" charset="0"/>
                <a:sym typeface="Symbol" panose="05050102010706020507" pitchFamily="18" charset="2"/>
              </a:rPr>
              <a:t></a:t>
            </a:r>
            <a:r>
              <a:rPr lang="en-US" altLang="zh-CN"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O</a:t>
            </a:r>
            <a:r>
              <a:rPr lang="en-US" altLang="zh-CN" sz="2200" b="1" dirty="0">
                <a:solidFill>
                  <a:srgbClr val="FF0000"/>
                </a:solidFill>
                <a:latin typeface="Times New Roman" panose="02020603050405020304" pitchFamily="18" charset="0"/>
              </a:rPr>
              <a:t>(</a:t>
            </a:r>
            <a:r>
              <a:rPr lang="en-US" altLang="zh-CN" sz="2200" b="1" i="1" dirty="0">
                <a:solidFill>
                  <a:srgbClr val="FF0000"/>
                </a:solidFill>
                <a:latin typeface="Times New Roman" panose="02020603050405020304" pitchFamily="18" charset="0"/>
              </a:rPr>
              <a:t>g</a:t>
            </a:r>
            <a:r>
              <a:rPr lang="en-US" altLang="zh-CN" sz="2200" b="1" dirty="0">
                <a:solidFill>
                  <a:srgbClr val="FF0000"/>
                </a:solidFill>
                <a:latin typeface="Times New Roman" panose="02020603050405020304" pitchFamily="18" charset="0"/>
              </a:rPr>
              <a:t>(</a:t>
            </a:r>
            <a:r>
              <a:rPr lang="en-US" altLang="zh-CN" sz="2200" b="1" i="1" dirty="0">
                <a:solidFill>
                  <a:srgbClr val="FF0000"/>
                </a:solidFill>
                <a:latin typeface="Times New Roman" panose="02020603050405020304" pitchFamily="18" charset="0"/>
              </a:rPr>
              <a:t>n</a:t>
            </a:r>
            <a:r>
              <a:rPr lang="en-US" altLang="zh-CN" sz="2200" b="1" dirty="0">
                <a:solidFill>
                  <a:srgbClr val="FF0000"/>
                </a:solidFill>
                <a:latin typeface="Times New Roman" panose="02020603050405020304" pitchFamily="18" charset="0"/>
              </a:rPr>
              <a:t>)) </a:t>
            </a:r>
            <a:r>
              <a:rPr lang="zh-CN" altLang="en-US" sz="2200" b="1" dirty="0">
                <a:latin typeface="Times New Roman" panose="02020603050405020304" pitchFamily="18" charset="0"/>
              </a:rPr>
              <a:t>，存在正常数</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和自然数</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，使得对所有</a:t>
            </a:r>
            <a:r>
              <a:rPr lang="en-US" altLang="zh-CN" sz="2200" b="1" i="1" dirty="0">
                <a:latin typeface="Times New Roman" panose="02020603050405020304" pitchFamily="18" charset="0"/>
              </a:rPr>
              <a:t>n</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，有</a:t>
            </a:r>
            <a:r>
              <a:rPr lang="en-US" altLang="zh-CN" sz="2200" b="1" i="1" dirty="0">
                <a:latin typeface="Times New Roman" panose="02020603050405020304" pitchFamily="18" charset="0"/>
              </a:rPr>
              <a:t>g</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2</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a:t>
            </a:r>
          </a:p>
          <a:p>
            <a:pPr eaLnBrk="1" hangingPunct="1">
              <a:lnSpc>
                <a:spcPct val="130000"/>
              </a:lnSpc>
              <a:buFont typeface="Wingdings" panose="05000000000000000000" pitchFamily="2" charset="2"/>
              <a:buNone/>
            </a:pPr>
            <a:r>
              <a:rPr lang="zh-CN" altLang="en-US" sz="2200" b="1" dirty="0">
                <a:latin typeface="Times New Roman" panose="02020603050405020304" pitchFamily="18" charset="0"/>
              </a:rPr>
              <a:t>令</a:t>
            </a:r>
            <a:r>
              <a:rPr lang="en-US" altLang="zh-CN" sz="2200" b="1" i="1" dirty="0">
                <a:solidFill>
                  <a:srgbClr val="FF0000"/>
                </a:solidFill>
                <a:latin typeface="Times New Roman" panose="02020603050405020304" pitchFamily="18" charset="0"/>
              </a:rPr>
              <a:t>c</a:t>
            </a:r>
            <a:r>
              <a:rPr lang="en-US" altLang="zh-CN" sz="2200" b="1" baseline="-25000" dirty="0">
                <a:solidFill>
                  <a:srgbClr val="FF0000"/>
                </a:solidFill>
                <a:latin typeface="Times New Roman" panose="02020603050405020304" pitchFamily="18" charset="0"/>
              </a:rPr>
              <a:t>3 </a:t>
            </a:r>
            <a:r>
              <a:rPr lang="en-US" altLang="zh-CN" sz="2200" b="1" dirty="0">
                <a:solidFill>
                  <a:srgbClr val="FF0000"/>
                </a:solidFill>
                <a:latin typeface="Times New Roman" panose="02020603050405020304" pitchFamily="18" charset="0"/>
                <a:sym typeface="Symbol" panose="05050102010706020507" pitchFamily="18" charset="2"/>
              </a:rPr>
              <a:t></a:t>
            </a:r>
            <a:r>
              <a:rPr lang="en-US" altLang="zh-CN" sz="2200" b="1" dirty="0">
                <a:solidFill>
                  <a:srgbClr val="FF0000"/>
                </a:solidFill>
                <a:latin typeface="Times New Roman" panose="02020603050405020304" pitchFamily="18" charset="0"/>
              </a:rPr>
              <a:t> max{</a:t>
            </a:r>
            <a:r>
              <a:rPr lang="en-US" altLang="zh-CN" sz="2200" b="1" i="1" dirty="0">
                <a:solidFill>
                  <a:srgbClr val="FF0000"/>
                </a:solidFill>
                <a:latin typeface="Times New Roman" panose="02020603050405020304" pitchFamily="18" charset="0"/>
              </a:rPr>
              <a:t>c</a:t>
            </a:r>
            <a:r>
              <a:rPr lang="en-US" altLang="zh-CN" sz="2200" b="1" baseline="-25000" dirty="0">
                <a:solidFill>
                  <a:srgbClr val="FF0000"/>
                </a:solidFill>
                <a:latin typeface="Times New Roman" panose="02020603050405020304" pitchFamily="18" charset="0"/>
              </a:rPr>
              <a:t>1</a:t>
            </a:r>
            <a:r>
              <a:rPr lang="en-US" altLang="zh-CN"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c</a:t>
            </a:r>
            <a:r>
              <a:rPr lang="en-US" altLang="zh-CN" sz="2200" b="1" baseline="-25000" dirty="0">
                <a:solidFill>
                  <a:srgbClr val="FF0000"/>
                </a:solidFill>
                <a:latin typeface="Times New Roman" panose="02020603050405020304" pitchFamily="18" charset="0"/>
              </a:rPr>
              <a:t>2</a:t>
            </a:r>
            <a:r>
              <a:rPr lang="en-US" altLang="zh-CN" sz="2200" b="1" dirty="0">
                <a:solidFill>
                  <a:srgbClr val="FF0000"/>
                </a:solidFill>
                <a:latin typeface="Times New Roman" panose="02020603050405020304" pitchFamily="18" charset="0"/>
              </a:rPr>
              <a:t>}</a:t>
            </a:r>
            <a:r>
              <a:rPr lang="zh-CN" altLang="en-US"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n</a:t>
            </a:r>
            <a:r>
              <a:rPr lang="en-US" altLang="zh-CN" sz="2200" b="1" baseline="-25000" dirty="0">
                <a:solidFill>
                  <a:srgbClr val="FF0000"/>
                </a:solidFill>
                <a:latin typeface="Times New Roman" panose="02020603050405020304" pitchFamily="18" charset="0"/>
              </a:rPr>
              <a:t>3</a:t>
            </a:r>
            <a:r>
              <a:rPr lang="en-US" altLang="zh-CN" sz="2200" b="1" dirty="0">
                <a:solidFill>
                  <a:srgbClr val="FF0000"/>
                </a:solidFill>
                <a:latin typeface="Times New Roman" panose="02020603050405020304" pitchFamily="18" charset="0"/>
              </a:rPr>
              <a:t> </a:t>
            </a:r>
            <a:r>
              <a:rPr lang="en-US" altLang="zh-CN" sz="2200" b="1" dirty="0">
                <a:solidFill>
                  <a:srgbClr val="FF0000"/>
                </a:solidFill>
                <a:latin typeface="Times New Roman" panose="02020603050405020304" pitchFamily="18" charset="0"/>
                <a:sym typeface="Symbol" panose="05050102010706020507" pitchFamily="18" charset="2"/>
              </a:rPr>
              <a:t></a:t>
            </a:r>
            <a:r>
              <a:rPr lang="en-US" altLang="zh-CN" sz="2200" b="1" dirty="0">
                <a:solidFill>
                  <a:srgbClr val="FF0000"/>
                </a:solidFill>
                <a:latin typeface="Times New Roman" panose="02020603050405020304" pitchFamily="18" charset="0"/>
              </a:rPr>
              <a:t> max{</a:t>
            </a:r>
            <a:r>
              <a:rPr lang="en-US" altLang="zh-CN" sz="2200" b="1" i="1" dirty="0">
                <a:solidFill>
                  <a:srgbClr val="FF0000"/>
                </a:solidFill>
                <a:latin typeface="Times New Roman" panose="02020603050405020304" pitchFamily="18" charset="0"/>
              </a:rPr>
              <a:t>n</a:t>
            </a:r>
            <a:r>
              <a:rPr lang="en-US" altLang="zh-CN" sz="2200" b="1" baseline="-25000" dirty="0">
                <a:solidFill>
                  <a:srgbClr val="FF0000"/>
                </a:solidFill>
                <a:latin typeface="Times New Roman" panose="02020603050405020304" pitchFamily="18" charset="0"/>
              </a:rPr>
              <a:t>1</a:t>
            </a:r>
            <a:r>
              <a:rPr lang="en-US" altLang="zh-CN"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n</a:t>
            </a:r>
            <a:r>
              <a:rPr lang="en-US" altLang="zh-CN" sz="2200" b="1" baseline="-25000" dirty="0">
                <a:solidFill>
                  <a:srgbClr val="FF0000"/>
                </a:solidFill>
                <a:latin typeface="Times New Roman" panose="02020603050405020304" pitchFamily="18" charset="0"/>
              </a:rPr>
              <a:t>2</a:t>
            </a:r>
            <a:r>
              <a:rPr lang="en-US" altLang="zh-CN" sz="2200" b="1" dirty="0">
                <a:solidFill>
                  <a:srgbClr val="FF0000"/>
                </a:solidFill>
                <a:latin typeface="Times New Roman" panose="02020603050405020304" pitchFamily="18" charset="0"/>
              </a:rPr>
              <a:t>}</a:t>
            </a:r>
            <a:r>
              <a:rPr lang="zh-CN" altLang="en-US" sz="2200" b="1" dirty="0">
                <a:latin typeface="Times New Roman" panose="02020603050405020304" pitchFamily="18" charset="0"/>
              </a:rPr>
              <a:t>，</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max{</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(n),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endParaRPr lang="zh-CN" altLang="en-US" sz="2200" b="1" dirty="0">
              <a:latin typeface="Times New Roman" panose="02020603050405020304" pitchFamily="18" charset="0"/>
            </a:endParaRPr>
          </a:p>
          <a:p>
            <a:pPr eaLnBrk="1" hangingPunct="1">
              <a:lnSpc>
                <a:spcPct val="130000"/>
              </a:lnSpc>
              <a:buFont typeface="Wingdings" panose="05000000000000000000" pitchFamily="2" charset="2"/>
              <a:buNone/>
            </a:pPr>
            <a:r>
              <a:rPr lang="zh-CN" altLang="en-US" sz="2200" b="1" dirty="0">
                <a:latin typeface="Times New Roman" panose="02020603050405020304" pitchFamily="18" charset="0"/>
              </a:rPr>
              <a:t>则对所有的 </a:t>
            </a:r>
            <a:r>
              <a:rPr lang="en-US" altLang="zh-CN" sz="2200" b="1" i="1" dirty="0">
                <a:latin typeface="Times New Roman" panose="02020603050405020304" pitchFamily="18" charset="0"/>
              </a:rPr>
              <a:t>n </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3</a:t>
            </a:r>
            <a:r>
              <a:rPr lang="zh-CN" altLang="en-US" sz="2200" b="1" dirty="0">
                <a:latin typeface="Times New Roman" panose="02020603050405020304" pitchFamily="18" charset="0"/>
              </a:rPr>
              <a:t>，有</a:t>
            </a:r>
          </a:p>
          <a:p>
            <a:pPr eaLnBrk="1" hangingPunct="1">
              <a:lnSpc>
                <a:spcPct val="130000"/>
              </a:lnSpc>
              <a:buFont typeface="Wingdings" panose="05000000000000000000" pitchFamily="2" charset="2"/>
              <a:buNone/>
            </a:pPr>
            <a:r>
              <a:rPr lang="en-US" altLang="zh-CN" sz="2200" b="1" i="1" dirty="0">
                <a:latin typeface="Times New Roman" panose="02020603050405020304" pitchFamily="18" charset="0"/>
              </a:rPr>
              <a:t>f</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i="1" dirty="0">
                <a:latin typeface="Times New Roman" panose="02020603050405020304" pitchFamily="18" charset="0"/>
              </a:rPr>
              <a:t>g</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1</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2</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p>
          <a:p>
            <a:pPr eaLnBrk="1" hangingPunct="1">
              <a:lnSpc>
                <a:spcPct val="130000"/>
              </a:lnSpc>
              <a:spcBef>
                <a:spcPct val="0"/>
              </a:spcBef>
              <a:buClr>
                <a:schemeClr val="bg1"/>
              </a:buClr>
              <a:buFont typeface="Wingdings" panose="05000000000000000000" pitchFamily="2" charset="2"/>
              <a:buNone/>
            </a:pPr>
            <a:r>
              <a:rPr lang="en-US" altLang="zh-CN" sz="2200" b="1" dirty="0">
                <a:latin typeface="Times New Roman" panose="02020603050405020304" pitchFamily="18" charset="0"/>
                <a:sym typeface="Symbol" panose="05050102010706020507" pitchFamily="18" charset="2"/>
              </a:rPr>
              <a:t>                    </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p>
          <a:p>
            <a:pPr eaLnBrk="1" hangingPunct="1">
              <a:lnSpc>
                <a:spcPct val="130000"/>
              </a:lnSpc>
              <a:spcBef>
                <a:spcPct val="0"/>
              </a:spcBef>
              <a:buClr>
                <a:schemeClr val="bg1"/>
              </a:buClr>
              <a:buFont typeface="Wingdings" panose="05000000000000000000" pitchFamily="2" charset="2"/>
              <a:buNone/>
            </a:pPr>
            <a:r>
              <a:rPr lang="en-US" altLang="zh-CN" sz="2200" b="1" dirty="0">
                <a:latin typeface="Times New Roman" panose="02020603050405020304" pitchFamily="18" charset="0"/>
                <a:sym typeface="Symbol" panose="05050102010706020507" pitchFamily="18" charset="2"/>
              </a:rPr>
              <a:t>                   </a:t>
            </a:r>
            <a:r>
              <a:rPr lang="en-US" altLang="zh-CN" sz="2200" b="1" dirty="0">
                <a:latin typeface="Times New Roman" panose="02020603050405020304" pitchFamily="18" charset="0"/>
              </a:rPr>
              <a:t> 2</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dirty="0">
                <a:latin typeface="Times New Roman" panose="02020603050405020304" pitchFamily="18" charset="0"/>
              </a:rPr>
              <a:t> max{</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p>
          <a:p>
            <a:pPr eaLnBrk="1" hangingPunct="1">
              <a:lnSpc>
                <a:spcPct val="130000"/>
              </a:lnSpc>
              <a:spcBef>
                <a:spcPct val="0"/>
              </a:spcBef>
              <a:buClr>
                <a:schemeClr val="bg1"/>
              </a:buClr>
              <a:buFont typeface="Wingdings" panose="05000000000000000000" pitchFamily="2" charset="2"/>
              <a:buNone/>
            </a:pP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2</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(max{</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p>
        </p:txBody>
      </p:sp>
      <p:sp>
        <p:nvSpPr>
          <p:cNvPr id="4" name="文本框 3">
            <a:extLst>
              <a:ext uri="{FF2B5EF4-FFF2-40B4-BE49-F238E27FC236}">
                <a16:creationId xmlns:a16="http://schemas.microsoft.com/office/drawing/2014/main" xmlns="" id="{3DEAC089-129A-14A4-6D7C-0F585E6E7B65}"/>
              </a:ext>
            </a:extLst>
          </p:cNvPr>
          <p:cNvSpPr txBox="1"/>
          <p:nvPr/>
        </p:nvSpPr>
        <p:spPr>
          <a:xfrm>
            <a:off x="407368" y="5593533"/>
            <a:ext cx="10405640" cy="548612"/>
          </a:xfrm>
          <a:prstGeom prst="rect">
            <a:avLst/>
          </a:prstGeom>
          <a:solidFill>
            <a:schemeClr val="accent5">
              <a:lumMod val="20000"/>
              <a:lumOff val="80000"/>
            </a:schemeClr>
          </a:solidFill>
        </p:spPr>
        <p:txBody>
          <a:bodyPr wrap="square" rtlCol="0">
            <a:spAutoFit/>
          </a:bodyPr>
          <a:lstStyle/>
          <a:p>
            <a:pPr>
              <a:lnSpc>
                <a:spcPct val="150000"/>
              </a:lnSpc>
            </a:pPr>
            <a:r>
              <a:rPr lang="zh-CN" altLang="en-US" sz="2200" dirty="0"/>
              <a:t>逻辑上是加法关系的两个代码段，总的时间复杂度，是由复杂度高的代码段决定的。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a:extLst>
              <a:ext uri="{FF2B5EF4-FFF2-40B4-BE49-F238E27FC236}">
                <a16:creationId xmlns:a16="http://schemas.microsoft.com/office/drawing/2014/main" xmlns="" id="{3E749A2C-BCF5-4CD3-9909-2C0FDDE1DEEC}"/>
              </a:ext>
            </a:extLst>
          </p:cNvPr>
          <p:cNvSpPr txBox="1">
            <a:spLocks noGrp="1" noChangeArrowheads="1"/>
          </p:cNvSpPr>
          <p:nvPr/>
        </p:nvSpPr>
        <p:spPr bwMode="auto">
          <a:xfrm>
            <a:off x="8401050" y="6392863"/>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r" eaLnBrk="1" hangingPunct="1">
              <a:spcBef>
                <a:spcPct val="0"/>
              </a:spcBef>
              <a:buClrTx/>
              <a:buSzTx/>
              <a:buFont typeface="Arial" panose="020B0604020202020204" pitchFamily="34" charset="0"/>
              <a:buNone/>
            </a:pPr>
            <a:fld id="{17DE46C2-5650-4C50-8C62-042866891928}" type="slidenum">
              <a:rPr lang="en-US" altLang="zh-CN" sz="1000"/>
              <a:pPr algn="r" eaLnBrk="1" hangingPunct="1">
                <a:spcBef>
                  <a:spcPct val="0"/>
                </a:spcBef>
                <a:buClrTx/>
                <a:buSzTx/>
                <a:buFont typeface="Arial" panose="020B0604020202020204" pitchFamily="34" charset="0"/>
                <a:buNone/>
              </a:pPr>
              <a:t>40</a:t>
            </a:fld>
            <a:endParaRPr lang="en-US" altLang="zh-CN" sz="1000"/>
          </a:p>
        </p:txBody>
      </p:sp>
      <p:sp>
        <p:nvSpPr>
          <p:cNvPr id="64515" name="Rectangle 2">
            <a:extLst>
              <a:ext uri="{FF2B5EF4-FFF2-40B4-BE49-F238E27FC236}">
                <a16:creationId xmlns:a16="http://schemas.microsoft.com/office/drawing/2014/main" xmlns="" id="{43D06A18-9598-438E-A2B6-43B84CAA6B79}"/>
              </a:ext>
            </a:extLst>
          </p:cNvPr>
          <p:cNvSpPr>
            <a:spLocks noGrp="1" noChangeArrowheads="1"/>
          </p:cNvSpPr>
          <p:nvPr>
            <p:ph type="body" idx="4294967295"/>
          </p:nvPr>
        </p:nvSpPr>
        <p:spPr>
          <a:xfrm>
            <a:off x="479376" y="464638"/>
            <a:ext cx="11017224" cy="5918200"/>
          </a:xfrm>
        </p:spPr>
        <p:txBody>
          <a:bodyPr/>
          <a:lstStyle/>
          <a:p>
            <a:pPr eaLnBrk="1" hangingPunct="1">
              <a:lnSpc>
                <a:spcPct val="120000"/>
              </a:lnSpc>
              <a:buFont typeface="Wingdings" panose="05000000000000000000" pitchFamily="2" charset="2"/>
              <a:buNone/>
            </a:pPr>
            <a:r>
              <a:rPr lang="zh-CN" altLang="en-US" sz="2600" b="1" dirty="0">
                <a:solidFill>
                  <a:srgbClr val="0033CC"/>
                </a:solidFill>
                <a:latin typeface="Times New Roman" panose="02020603050405020304" pitchFamily="18" charset="0"/>
              </a:rPr>
              <a:t>性质</a:t>
            </a:r>
            <a:r>
              <a:rPr lang="en-US" altLang="zh-CN" sz="2600" b="1" dirty="0">
                <a:solidFill>
                  <a:srgbClr val="0033CC"/>
                </a:solidFill>
                <a:latin typeface="Times New Roman" panose="02020603050405020304" pitchFamily="18" charset="0"/>
              </a:rPr>
              <a:t>3</a:t>
            </a:r>
            <a:r>
              <a:rPr lang="zh-CN" altLang="en-US"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O</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f</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a:t>
            </a:r>
            <a:r>
              <a:rPr lang="en-US" altLang="zh-CN" sz="2600" b="1" dirty="0">
                <a:solidFill>
                  <a:srgbClr val="0033CC"/>
                </a:solidFill>
                <a:latin typeface="Times New Roman" panose="02020603050405020304" pitchFamily="18" charset="0"/>
                <a:sym typeface="Symbol" panose="05050102010706020507" pitchFamily="18" charset="2"/>
              </a:rPr>
              <a:t></a:t>
            </a:r>
            <a:r>
              <a:rPr lang="en-US" altLang="zh-CN" sz="2600" b="1" i="1" dirty="0">
                <a:solidFill>
                  <a:srgbClr val="0033CC"/>
                </a:solidFill>
                <a:latin typeface="Times New Roman" panose="02020603050405020304" pitchFamily="18" charset="0"/>
              </a:rPr>
              <a:t>O</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g</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 </a:t>
            </a:r>
            <a:r>
              <a:rPr lang="en-US" altLang="zh-CN" sz="2600" b="1" dirty="0">
                <a:solidFill>
                  <a:srgbClr val="0033CC"/>
                </a:solidFill>
                <a:latin typeface="Times New Roman" panose="02020603050405020304" pitchFamily="18" charset="0"/>
                <a:sym typeface="Symbol" panose="05050102010706020507" pitchFamily="18" charset="2"/>
              </a:rPr>
              <a:t></a:t>
            </a:r>
            <a:r>
              <a:rPr lang="en-US" altLang="zh-CN" sz="2600" b="1" dirty="0">
                <a:solidFill>
                  <a:srgbClr val="0033CC"/>
                </a:solidFill>
                <a:latin typeface="Times New Roman" panose="02020603050405020304" pitchFamily="18" charset="0"/>
              </a:rPr>
              <a:t> </a:t>
            </a:r>
            <a:r>
              <a:rPr lang="en-US" altLang="zh-CN" sz="2600" b="1" i="1" dirty="0">
                <a:solidFill>
                  <a:srgbClr val="0033CC"/>
                </a:solidFill>
                <a:latin typeface="Times New Roman" panose="02020603050405020304" pitchFamily="18" charset="0"/>
              </a:rPr>
              <a:t>O</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f</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 </a:t>
            </a:r>
            <a:r>
              <a:rPr lang="en-US" altLang="zh-CN" sz="2600" b="1" dirty="0">
                <a:solidFill>
                  <a:srgbClr val="0033CC"/>
                </a:solidFill>
                <a:latin typeface="Times New Roman" panose="02020603050405020304" pitchFamily="18" charset="0"/>
                <a:sym typeface="Symbol" panose="05050102010706020507" pitchFamily="18" charset="2"/>
              </a:rPr>
              <a:t></a:t>
            </a:r>
            <a:r>
              <a:rPr lang="en-US" altLang="zh-CN" sz="2600" b="1" dirty="0">
                <a:solidFill>
                  <a:srgbClr val="0033CC"/>
                </a:solidFill>
                <a:latin typeface="Times New Roman" panose="02020603050405020304" pitchFamily="18" charset="0"/>
              </a:rPr>
              <a:t> </a:t>
            </a:r>
            <a:r>
              <a:rPr lang="en-US" altLang="zh-CN" sz="2600" b="1" i="1" dirty="0">
                <a:solidFill>
                  <a:srgbClr val="0033CC"/>
                </a:solidFill>
                <a:latin typeface="Times New Roman" panose="02020603050405020304" pitchFamily="18" charset="0"/>
              </a:rPr>
              <a:t>g</a:t>
            </a:r>
            <a:r>
              <a:rPr lang="en-US" altLang="zh-CN" sz="2600" b="1" dirty="0">
                <a:solidFill>
                  <a:srgbClr val="0033CC"/>
                </a:solidFill>
                <a:latin typeface="Times New Roman" panose="02020603050405020304" pitchFamily="18" charset="0"/>
              </a:rPr>
              <a:t>(</a:t>
            </a:r>
            <a:r>
              <a:rPr lang="en-US" altLang="zh-CN" sz="2600" b="1" i="1" dirty="0">
                <a:solidFill>
                  <a:srgbClr val="0033CC"/>
                </a:solidFill>
                <a:latin typeface="Times New Roman" panose="02020603050405020304" pitchFamily="18" charset="0"/>
              </a:rPr>
              <a:t>n</a:t>
            </a:r>
            <a:r>
              <a:rPr lang="en-US" altLang="zh-CN" sz="2600" b="1" dirty="0">
                <a:solidFill>
                  <a:srgbClr val="0033CC"/>
                </a:solidFill>
                <a:latin typeface="Times New Roman" panose="02020603050405020304" pitchFamily="18" charset="0"/>
              </a:rPr>
              <a:t>)) </a:t>
            </a:r>
            <a:r>
              <a:rPr lang="zh-CN" altLang="en-US" sz="2600" b="1" dirty="0">
                <a:solidFill>
                  <a:srgbClr val="0033CC"/>
                </a:solidFill>
                <a:latin typeface="Times New Roman" panose="02020603050405020304" pitchFamily="18" charset="0"/>
              </a:rPr>
              <a:t>的证明：</a:t>
            </a:r>
          </a:p>
          <a:p>
            <a:pPr eaLnBrk="1" hangingPunct="1">
              <a:lnSpc>
                <a:spcPct val="120000"/>
              </a:lnSpc>
              <a:buFont typeface="Wingdings" panose="05000000000000000000" pitchFamily="2" charset="2"/>
              <a:buNone/>
            </a:pPr>
            <a:r>
              <a:rPr lang="zh-CN" altLang="en-US" sz="2200" b="1" dirty="0">
                <a:latin typeface="Times New Roman" panose="02020603050405020304" pitchFamily="18" charset="0"/>
              </a:rPr>
              <a:t>对于任意</a:t>
            </a:r>
            <a:r>
              <a:rPr lang="en-US" altLang="zh-CN" sz="2200" b="1" i="1" dirty="0">
                <a:latin typeface="Times New Roman" panose="02020603050405020304" pitchFamily="18" charset="0"/>
              </a:rPr>
              <a:t>f</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，存在正常数</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和自然数</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，使得对所有 </a:t>
            </a:r>
            <a:r>
              <a:rPr lang="en-US" altLang="zh-CN" sz="2200" b="1" i="1" dirty="0">
                <a:latin typeface="Times New Roman" panose="02020603050405020304" pitchFamily="18" charset="0"/>
              </a:rPr>
              <a:t>n</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，有</a:t>
            </a:r>
            <a:r>
              <a:rPr lang="en-US" altLang="zh-CN" sz="2200" b="1" i="1" dirty="0">
                <a:latin typeface="Times New Roman" panose="02020603050405020304" pitchFamily="18" charset="0"/>
              </a:rPr>
              <a:t>f</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1</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a:t>
            </a:r>
          </a:p>
          <a:p>
            <a:pPr eaLnBrk="1" hangingPunct="1">
              <a:lnSpc>
                <a:spcPct val="120000"/>
              </a:lnSpc>
              <a:buFont typeface="Wingdings" panose="05000000000000000000" pitchFamily="2" charset="2"/>
              <a:buNone/>
            </a:pPr>
            <a:r>
              <a:rPr lang="zh-CN" altLang="en-US" sz="2200" b="1" dirty="0">
                <a:latin typeface="Times New Roman" panose="02020603050405020304" pitchFamily="18" charset="0"/>
              </a:rPr>
              <a:t>类似地，对于任意</a:t>
            </a:r>
            <a:r>
              <a:rPr lang="en-US" altLang="zh-CN" sz="2200" b="1" i="1" dirty="0">
                <a:latin typeface="Times New Roman" panose="02020603050405020304" pitchFamily="18" charset="0"/>
              </a:rPr>
              <a:t>g</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，存在正常数</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2 </a:t>
            </a:r>
            <a:r>
              <a:rPr lang="zh-CN" altLang="en-US" sz="2200" b="1" dirty="0">
                <a:latin typeface="Times New Roman" panose="02020603050405020304" pitchFamily="18" charset="0"/>
              </a:rPr>
              <a:t>和自然数</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，使得对所有</a:t>
            </a:r>
            <a:r>
              <a:rPr lang="en-US" altLang="zh-CN" sz="2200" b="1" i="1" dirty="0">
                <a:latin typeface="Times New Roman" panose="02020603050405020304" pitchFamily="18" charset="0"/>
              </a:rPr>
              <a:t>n</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，有</a:t>
            </a:r>
            <a:r>
              <a:rPr lang="en-US" altLang="zh-CN" sz="2200" b="1" i="1" dirty="0">
                <a:latin typeface="Times New Roman" panose="02020603050405020304" pitchFamily="18" charset="0"/>
              </a:rPr>
              <a:t>g</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2</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zh-CN" altLang="en-US" sz="2200" b="1" dirty="0">
                <a:latin typeface="Times New Roman" panose="02020603050405020304" pitchFamily="18" charset="0"/>
              </a:rPr>
              <a:t>。</a:t>
            </a:r>
          </a:p>
          <a:p>
            <a:pPr eaLnBrk="1" hangingPunct="1">
              <a:lnSpc>
                <a:spcPct val="120000"/>
              </a:lnSpc>
              <a:buFont typeface="Wingdings" panose="05000000000000000000" pitchFamily="2" charset="2"/>
              <a:buNone/>
            </a:pPr>
            <a:r>
              <a:rPr lang="zh-CN" altLang="en-US" sz="2200" b="1" dirty="0">
                <a:latin typeface="Times New Roman" panose="02020603050405020304" pitchFamily="18" charset="0"/>
              </a:rPr>
              <a:t>令</a:t>
            </a:r>
            <a:r>
              <a:rPr lang="en-US" altLang="zh-CN" sz="2200" b="1" i="1" dirty="0">
                <a:solidFill>
                  <a:srgbClr val="FF0000"/>
                </a:solidFill>
                <a:latin typeface="Times New Roman" panose="02020603050405020304" pitchFamily="18" charset="0"/>
              </a:rPr>
              <a:t>c</a:t>
            </a:r>
            <a:r>
              <a:rPr lang="en-US" altLang="zh-CN" sz="2200" b="1" baseline="-25000" dirty="0">
                <a:solidFill>
                  <a:srgbClr val="FF0000"/>
                </a:solidFill>
                <a:latin typeface="Times New Roman" panose="02020603050405020304" pitchFamily="18" charset="0"/>
              </a:rPr>
              <a:t>3 </a:t>
            </a:r>
            <a:r>
              <a:rPr lang="en-US" altLang="zh-CN" sz="2200" b="1" dirty="0">
                <a:solidFill>
                  <a:srgbClr val="FF0000"/>
                </a:solidFill>
                <a:latin typeface="Times New Roman" panose="02020603050405020304" pitchFamily="18" charset="0"/>
                <a:sym typeface="Symbol" panose="05050102010706020507" pitchFamily="18" charset="2"/>
              </a:rPr>
              <a:t></a:t>
            </a:r>
            <a:r>
              <a:rPr lang="en-US" altLang="zh-CN"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c</a:t>
            </a:r>
            <a:r>
              <a:rPr lang="en-US" altLang="zh-CN" sz="2200" b="1" baseline="-25000" dirty="0">
                <a:solidFill>
                  <a:srgbClr val="FF0000"/>
                </a:solidFill>
                <a:latin typeface="Times New Roman" panose="02020603050405020304" pitchFamily="18" charset="0"/>
              </a:rPr>
              <a:t>1 </a:t>
            </a:r>
            <a:r>
              <a:rPr lang="en-US" altLang="zh-CN" sz="2200" b="1" dirty="0">
                <a:solidFill>
                  <a:srgbClr val="FF0000"/>
                </a:solidFill>
                <a:latin typeface="Times New Roman" panose="02020603050405020304" pitchFamily="18" charset="0"/>
                <a:sym typeface="Symbol" panose="05050102010706020507" pitchFamily="18" charset="2"/>
              </a:rPr>
              <a:t></a:t>
            </a:r>
            <a:r>
              <a:rPr lang="en-US" altLang="zh-CN"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c</a:t>
            </a:r>
            <a:r>
              <a:rPr lang="en-US" altLang="zh-CN" sz="2200" b="1" baseline="-25000" dirty="0">
                <a:solidFill>
                  <a:srgbClr val="FF0000"/>
                </a:solidFill>
                <a:latin typeface="Times New Roman" panose="02020603050405020304" pitchFamily="18" charset="0"/>
              </a:rPr>
              <a:t>2</a:t>
            </a:r>
            <a:r>
              <a:rPr lang="zh-CN" altLang="en-US"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n</a:t>
            </a:r>
            <a:r>
              <a:rPr lang="en-US" altLang="zh-CN" sz="2200" b="1" baseline="-25000" dirty="0">
                <a:solidFill>
                  <a:srgbClr val="FF0000"/>
                </a:solidFill>
                <a:latin typeface="Times New Roman" panose="02020603050405020304" pitchFamily="18" charset="0"/>
              </a:rPr>
              <a:t>3</a:t>
            </a:r>
            <a:r>
              <a:rPr lang="en-US" altLang="zh-CN" sz="2200" b="1" dirty="0">
                <a:solidFill>
                  <a:srgbClr val="FF0000"/>
                </a:solidFill>
                <a:latin typeface="Times New Roman" panose="02020603050405020304" pitchFamily="18" charset="0"/>
              </a:rPr>
              <a:t> </a:t>
            </a:r>
            <a:r>
              <a:rPr lang="en-US" altLang="zh-CN" sz="2200" b="1" dirty="0">
                <a:solidFill>
                  <a:srgbClr val="FF0000"/>
                </a:solidFill>
                <a:latin typeface="Times New Roman" panose="02020603050405020304" pitchFamily="18" charset="0"/>
                <a:sym typeface="Symbol" panose="05050102010706020507" pitchFamily="18" charset="2"/>
              </a:rPr>
              <a:t></a:t>
            </a:r>
            <a:r>
              <a:rPr lang="en-US" altLang="zh-CN" sz="2200" b="1" dirty="0">
                <a:solidFill>
                  <a:srgbClr val="FF0000"/>
                </a:solidFill>
                <a:latin typeface="Times New Roman" panose="02020603050405020304" pitchFamily="18" charset="0"/>
              </a:rPr>
              <a:t> max{</a:t>
            </a:r>
            <a:r>
              <a:rPr lang="en-US" altLang="zh-CN" sz="2200" b="1" i="1" dirty="0">
                <a:solidFill>
                  <a:srgbClr val="FF0000"/>
                </a:solidFill>
                <a:latin typeface="Times New Roman" panose="02020603050405020304" pitchFamily="18" charset="0"/>
              </a:rPr>
              <a:t>n</a:t>
            </a:r>
            <a:r>
              <a:rPr lang="en-US" altLang="zh-CN" sz="2200" b="1" baseline="-25000" dirty="0">
                <a:solidFill>
                  <a:srgbClr val="FF0000"/>
                </a:solidFill>
                <a:latin typeface="Times New Roman" panose="02020603050405020304" pitchFamily="18" charset="0"/>
              </a:rPr>
              <a:t>1</a:t>
            </a:r>
            <a:r>
              <a:rPr lang="en-US" altLang="zh-CN" sz="2200" b="1" dirty="0">
                <a:solidFill>
                  <a:srgbClr val="FF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n</a:t>
            </a:r>
            <a:r>
              <a:rPr lang="en-US" altLang="zh-CN" sz="2200" b="1" baseline="-25000" dirty="0">
                <a:solidFill>
                  <a:srgbClr val="FF0000"/>
                </a:solidFill>
                <a:latin typeface="Times New Roman" panose="02020603050405020304" pitchFamily="18" charset="0"/>
              </a:rPr>
              <a:t>2</a:t>
            </a:r>
            <a:r>
              <a:rPr lang="en-US" altLang="zh-CN" sz="2200" b="1" dirty="0">
                <a:solidFill>
                  <a:srgbClr val="FF0000"/>
                </a:solidFill>
                <a:latin typeface="Times New Roman" panose="02020603050405020304" pitchFamily="18" charset="0"/>
              </a:rPr>
              <a:t>}</a:t>
            </a:r>
            <a:r>
              <a:rPr lang="zh-CN" altLang="en-US" sz="2200" b="1" dirty="0">
                <a:latin typeface="Times New Roman" panose="02020603050405020304" pitchFamily="18" charset="0"/>
              </a:rPr>
              <a:t>，</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endParaRPr lang="zh-CN" altLang="en-US" sz="2200" b="1" dirty="0">
              <a:latin typeface="Times New Roman" panose="02020603050405020304" pitchFamily="18" charset="0"/>
            </a:endParaRPr>
          </a:p>
          <a:p>
            <a:pPr eaLnBrk="1" hangingPunct="1">
              <a:lnSpc>
                <a:spcPct val="120000"/>
              </a:lnSpc>
              <a:buFont typeface="Wingdings" panose="05000000000000000000" pitchFamily="2" charset="2"/>
              <a:buNone/>
            </a:pPr>
            <a:r>
              <a:rPr lang="zh-CN" altLang="en-US" sz="2200" b="1" dirty="0">
                <a:latin typeface="Times New Roman" panose="02020603050405020304" pitchFamily="18" charset="0"/>
              </a:rPr>
              <a:t>则对所有的 </a:t>
            </a:r>
            <a:r>
              <a:rPr lang="en-US" altLang="zh-CN" sz="2200" b="1" i="1" dirty="0">
                <a:latin typeface="Times New Roman" panose="02020603050405020304" pitchFamily="18" charset="0"/>
              </a:rPr>
              <a:t>n </a:t>
            </a:r>
            <a:r>
              <a:rPr lang="en-US" altLang="zh-CN" sz="2200" b="1" dirty="0">
                <a:latin typeface="Times New Roman" panose="02020603050405020304" pitchFamily="18" charset="0"/>
                <a:sym typeface="Symbol" panose="05050102010706020507" pitchFamily="18" charset="2"/>
              </a:rPr>
              <a:t> </a:t>
            </a:r>
            <a:r>
              <a:rPr lang="en-US" altLang="zh-CN" sz="2200" b="1" i="1" dirty="0">
                <a:latin typeface="Times New Roman" panose="02020603050405020304" pitchFamily="18" charset="0"/>
              </a:rPr>
              <a:t>n</a:t>
            </a:r>
            <a:r>
              <a:rPr lang="en-US" altLang="zh-CN" sz="2200" b="1" baseline="-25000" dirty="0">
                <a:latin typeface="Times New Roman" panose="02020603050405020304" pitchFamily="18" charset="0"/>
              </a:rPr>
              <a:t>3</a:t>
            </a:r>
            <a:r>
              <a:rPr lang="zh-CN" altLang="en-US" sz="2200" b="1" dirty="0">
                <a:latin typeface="Times New Roman" panose="02020603050405020304" pitchFamily="18" charset="0"/>
              </a:rPr>
              <a:t>，有</a:t>
            </a:r>
          </a:p>
          <a:p>
            <a:pPr eaLnBrk="1" hangingPunct="1">
              <a:lnSpc>
                <a:spcPct val="120000"/>
              </a:lnSpc>
              <a:buFont typeface="Wingdings" panose="05000000000000000000" pitchFamily="2" charset="2"/>
              <a:buNone/>
            </a:pPr>
            <a:r>
              <a:rPr lang="zh-CN" altLang="en-US" sz="2200" b="1" i="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i="1" dirty="0">
                <a:latin typeface="Times New Roman" panose="02020603050405020304" pitchFamily="18" charset="0"/>
              </a:rPr>
              <a:t> f</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baseline="-25000" dirty="0">
                <a:latin typeface="Times New Roman" panose="02020603050405020304" pitchFamily="18" charset="0"/>
              </a:rPr>
              <a:t>1</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1</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2</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p>
          <a:p>
            <a:pPr eaLnBrk="1" hangingPunct="1">
              <a:lnSpc>
                <a:spcPct val="120000"/>
              </a:lnSpc>
              <a:spcBef>
                <a:spcPct val="0"/>
              </a:spcBef>
              <a:buClr>
                <a:schemeClr val="bg1"/>
              </a:buClr>
              <a:buFont typeface="Wingdings" panose="05000000000000000000" pitchFamily="2" charset="2"/>
              <a:buNone/>
            </a:pPr>
            <a:r>
              <a:rPr lang="en-US" altLang="zh-CN" sz="2200" b="1" dirty="0">
                <a:latin typeface="Times New Roman" panose="02020603050405020304" pitchFamily="18" charset="0"/>
                <a:sym typeface="Symbol" panose="05050102010706020507" pitchFamily="18" charset="2"/>
              </a:rPr>
              <a:t>                                 </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p>
          <a:p>
            <a:pPr eaLnBrk="1" hangingPunct="1">
              <a:lnSpc>
                <a:spcPct val="120000"/>
              </a:lnSpc>
              <a:spcBef>
                <a:spcPct val="0"/>
              </a:spcBef>
              <a:buClr>
                <a:schemeClr val="bg1"/>
              </a:buClr>
              <a:buFont typeface="Wingdings" panose="05000000000000000000" pitchFamily="2" charset="2"/>
              <a:buNone/>
            </a:pP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c</a:t>
            </a:r>
            <a:r>
              <a:rPr lang="en-US" altLang="zh-CN" sz="2200" b="1" baseline="-25000" dirty="0">
                <a:latin typeface="Times New Roman" panose="02020603050405020304" pitchFamily="18" charset="0"/>
              </a:rPr>
              <a:t>3</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p>
          <a:p>
            <a:pPr eaLnBrk="1" hangingPunct="1">
              <a:lnSpc>
                <a:spcPct val="120000"/>
              </a:lnSpc>
              <a:spcBef>
                <a:spcPct val="0"/>
              </a:spcBef>
              <a:buClr>
                <a:schemeClr val="bg1"/>
              </a:buClr>
              <a:buFont typeface="Wingdings" panose="05000000000000000000" pitchFamily="2" charset="2"/>
              <a:buNone/>
            </a:pP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838200" y="160313"/>
            <a:ext cx="10515600" cy="1325563"/>
          </a:xfrm>
        </p:spPr>
        <p:txBody>
          <a:bodyPr/>
          <a:lstStyle/>
          <a:p>
            <a:pPr eaLnBrk="1" hangingPunct="1"/>
            <a:r>
              <a:rPr kumimoji="1" lang="zh-CN" altLang="en-US" dirty="0">
                <a:solidFill>
                  <a:schemeClr val="tx2"/>
                </a:solidFill>
              </a:rPr>
              <a:t>定理</a:t>
            </a:r>
            <a:r>
              <a:rPr kumimoji="1" lang="en-US" altLang="zh-CN" dirty="0">
                <a:solidFill>
                  <a:schemeClr val="tx2"/>
                </a:solidFill>
              </a:rPr>
              <a:t>2.1</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41</a:t>
            </a:fld>
            <a:endParaRPr lang="en-US" altLang="zh-CN"/>
          </a:p>
        </p:txBody>
      </p:sp>
      <p:sp>
        <p:nvSpPr>
          <p:cNvPr id="184323" name="Rectangle 3">
            <a:extLst>
              <a:ext uri="{FF2B5EF4-FFF2-40B4-BE49-F238E27FC236}">
                <a16:creationId xmlns:a16="http://schemas.microsoft.com/office/drawing/2014/main" xmlns="" id="{D239436D-83D6-436A-B268-6AEA03FD35D1}"/>
              </a:ext>
            </a:extLst>
          </p:cNvPr>
          <p:cNvSpPr txBox="1">
            <a:spLocks noChangeArrowheads="1"/>
          </p:cNvSpPr>
          <p:nvPr/>
        </p:nvSpPr>
        <p:spPr>
          <a:xfrm>
            <a:off x="767408" y="1291186"/>
            <a:ext cx="10441160" cy="706008"/>
          </a:xfrm>
          <a:prstGeom prst="rect">
            <a:avLst/>
          </a:prstGeom>
          <a:solidFill>
            <a:schemeClr val="accent5">
              <a:lumMod val="20000"/>
              <a:lumOff val="80000"/>
            </a:schemeClr>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Font typeface="Wingdings" panose="05000000000000000000" pitchFamily="2" charset="2"/>
              <a:buNone/>
              <a:defRPr/>
            </a:pPr>
            <a:r>
              <a:rPr lang="zh-CN" altLang="en-US" b="1">
                <a:effectLst>
                  <a:outerShdw blurRad="38100" dist="38100" dir="2700000" algn="tl">
                    <a:srgbClr val="FFFFFF"/>
                  </a:outerShdw>
                </a:effectLst>
                <a:latin typeface="Times New Roman" panose="02020603050405020304" pitchFamily="18" charset="0"/>
              </a:rPr>
              <a:t>若</a:t>
            </a:r>
            <a:r>
              <a:rPr lang="en-US" altLang="zh-CN" b="1">
                <a:effectLst>
                  <a:outerShdw blurRad="38100" dist="38100" dir="2700000" algn="tl">
                    <a:srgbClr val="FFFFFF"/>
                  </a:outerShdw>
                </a:effectLst>
                <a:latin typeface="Times New Roman" panose="02020603050405020304" pitchFamily="18" charset="0"/>
              </a:rPr>
              <a:t>A(</a:t>
            </a:r>
            <a:r>
              <a:rPr lang="en-US" altLang="zh-CN" b="1" i="1">
                <a:effectLst>
                  <a:outerShdw blurRad="38100" dist="38100" dir="2700000" algn="tl">
                    <a:srgbClr val="FFFFFF"/>
                  </a:outerShdw>
                </a:effectLst>
                <a:latin typeface="Times New Roman" panose="02020603050405020304" pitchFamily="18" charset="0"/>
              </a:rPr>
              <a:t>n</a:t>
            </a:r>
            <a:r>
              <a:rPr lang="en-US" altLang="zh-CN" b="1">
                <a:effectLst>
                  <a:outerShdw blurRad="38100" dist="38100" dir="2700000" algn="tl">
                    <a:srgbClr val="FFFFFF"/>
                  </a:outerShdw>
                </a:effectLst>
                <a:latin typeface="Times New Roman" panose="02020603050405020304" pitchFamily="18" charset="0"/>
              </a:rPr>
              <a:t>)</a:t>
            </a:r>
            <a:r>
              <a:rPr lang="en-US" altLang="zh-CN" b="1">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b="1" i="1">
                <a:effectLst>
                  <a:outerShdw blurRad="38100" dist="38100" dir="2700000" algn="tl">
                    <a:srgbClr val="FFFFFF"/>
                  </a:outerShdw>
                </a:effectLst>
                <a:latin typeface="Times New Roman" panose="02020603050405020304" pitchFamily="18" charset="0"/>
              </a:rPr>
              <a:t>a</a:t>
            </a:r>
            <a:r>
              <a:rPr lang="en-US" altLang="zh-CN" b="1" i="1" baseline="-25000">
                <a:effectLst>
                  <a:outerShdw blurRad="38100" dist="38100" dir="2700000" algn="tl">
                    <a:srgbClr val="FFFFFF"/>
                  </a:outerShdw>
                </a:effectLst>
                <a:latin typeface="Times New Roman" panose="02020603050405020304" pitchFamily="18" charset="0"/>
              </a:rPr>
              <a:t>m</a:t>
            </a:r>
            <a:r>
              <a:rPr lang="en-US" altLang="zh-CN" b="1" i="1">
                <a:effectLst>
                  <a:outerShdw blurRad="38100" dist="38100" dir="2700000" algn="tl">
                    <a:srgbClr val="FFFFFF"/>
                  </a:outerShdw>
                </a:effectLst>
                <a:latin typeface="Times New Roman" panose="02020603050405020304" pitchFamily="18" charset="0"/>
              </a:rPr>
              <a:t>n</a:t>
            </a:r>
            <a:r>
              <a:rPr lang="en-US" altLang="zh-CN" b="1" i="1" baseline="30000">
                <a:effectLst>
                  <a:outerShdw blurRad="38100" dist="38100" dir="2700000" algn="tl">
                    <a:srgbClr val="FFFFFF"/>
                  </a:outerShdw>
                </a:effectLst>
                <a:latin typeface="Times New Roman" panose="02020603050405020304" pitchFamily="18" charset="0"/>
              </a:rPr>
              <a:t>m</a:t>
            </a:r>
            <a:r>
              <a:rPr lang="en-US" altLang="zh-CN" b="1" baseline="30000">
                <a:effectLst>
                  <a:outerShdw blurRad="38100" dist="38100" dir="2700000" algn="tl">
                    <a:srgbClr val="FFFFFF"/>
                  </a:outerShdw>
                </a:effectLst>
                <a:latin typeface="Times New Roman" panose="02020603050405020304" pitchFamily="18" charset="0"/>
              </a:rPr>
              <a:t> </a:t>
            </a:r>
            <a:r>
              <a:rPr lang="en-US" altLang="zh-CN" b="1">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b="1">
                <a:effectLst>
                  <a:outerShdw blurRad="38100" dist="38100" dir="2700000" algn="tl">
                    <a:srgbClr val="FFFFFF"/>
                  </a:outerShdw>
                </a:effectLst>
                <a:latin typeface="Times New Roman" panose="02020603050405020304" pitchFamily="18" charset="0"/>
              </a:rPr>
              <a:t> </a:t>
            </a:r>
            <a:r>
              <a:rPr lang="en-US" altLang="zh-CN" b="1">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b="1">
                <a:effectLst>
                  <a:outerShdw blurRad="38100" dist="38100" dir="2700000" algn="tl">
                    <a:srgbClr val="FFFFFF"/>
                  </a:outerShdw>
                </a:effectLst>
                <a:latin typeface="Times New Roman" panose="02020603050405020304" pitchFamily="18" charset="0"/>
              </a:rPr>
              <a:t> </a:t>
            </a:r>
            <a:r>
              <a:rPr lang="en-US" altLang="zh-CN" b="1">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b="1">
                <a:effectLst>
                  <a:outerShdw blurRad="38100" dist="38100" dir="2700000" algn="tl">
                    <a:srgbClr val="FFFFFF"/>
                  </a:outerShdw>
                </a:effectLst>
                <a:latin typeface="Times New Roman" panose="02020603050405020304" pitchFamily="18" charset="0"/>
              </a:rPr>
              <a:t> </a:t>
            </a:r>
            <a:r>
              <a:rPr lang="en-US" altLang="zh-CN" b="1" i="1">
                <a:effectLst>
                  <a:outerShdw blurRad="38100" dist="38100" dir="2700000" algn="tl">
                    <a:srgbClr val="FFFFFF"/>
                  </a:outerShdw>
                </a:effectLst>
                <a:latin typeface="Times New Roman" panose="02020603050405020304" pitchFamily="18" charset="0"/>
              </a:rPr>
              <a:t>a</a:t>
            </a:r>
            <a:r>
              <a:rPr lang="en-US" altLang="zh-CN" b="1" baseline="-25000">
                <a:effectLst>
                  <a:outerShdw blurRad="38100" dist="38100" dir="2700000" algn="tl">
                    <a:srgbClr val="FFFFFF"/>
                  </a:outerShdw>
                </a:effectLst>
                <a:latin typeface="Times New Roman" panose="02020603050405020304" pitchFamily="18" charset="0"/>
              </a:rPr>
              <a:t>1</a:t>
            </a:r>
            <a:r>
              <a:rPr lang="en-US" altLang="zh-CN" b="1" i="1">
                <a:effectLst>
                  <a:outerShdw blurRad="38100" dist="38100" dir="2700000" algn="tl">
                    <a:srgbClr val="FFFFFF"/>
                  </a:outerShdw>
                </a:effectLst>
                <a:latin typeface="Times New Roman" panose="02020603050405020304" pitchFamily="18" charset="0"/>
              </a:rPr>
              <a:t>n</a:t>
            </a:r>
            <a:r>
              <a:rPr lang="en-US" altLang="zh-CN" b="1">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b="1" i="1">
                <a:effectLst>
                  <a:outerShdw blurRad="38100" dist="38100" dir="2700000" algn="tl">
                    <a:srgbClr val="FFFFFF"/>
                  </a:outerShdw>
                </a:effectLst>
                <a:latin typeface="Times New Roman" panose="02020603050405020304" pitchFamily="18" charset="0"/>
              </a:rPr>
              <a:t>a</a:t>
            </a:r>
            <a:r>
              <a:rPr lang="en-US" altLang="zh-CN" b="1" baseline="-25000">
                <a:effectLst>
                  <a:outerShdw blurRad="38100" dist="38100" dir="2700000" algn="tl">
                    <a:srgbClr val="FFFFFF"/>
                  </a:outerShdw>
                </a:effectLst>
                <a:latin typeface="Times New Roman" panose="02020603050405020304" pitchFamily="18" charset="0"/>
              </a:rPr>
              <a:t>0</a:t>
            </a:r>
            <a:r>
              <a:rPr lang="zh-CN" altLang="en-US" b="1">
                <a:effectLst>
                  <a:outerShdw blurRad="38100" dist="38100" dir="2700000" algn="tl">
                    <a:srgbClr val="FFFFFF"/>
                  </a:outerShdw>
                </a:effectLst>
                <a:latin typeface="Times New Roman" panose="02020603050405020304" pitchFamily="18" charset="0"/>
              </a:rPr>
              <a:t>是一个</a:t>
            </a:r>
            <a:r>
              <a:rPr lang="en-US" altLang="zh-CN" b="1" i="1">
                <a:effectLst>
                  <a:outerShdw blurRad="38100" dist="38100" dir="2700000" algn="tl">
                    <a:srgbClr val="FFFFFF"/>
                  </a:outerShdw>
                </a:effectLst>
                <a:latin typeface="Times New Roman" panose="02020603050405020304" pitchFamily="18" charset="0"/>
              </a:rPr>
              <a:t>m</a:t>
            </a:r>
            <a:r>
              <a:rPr lang="zh-CN" altLang="en-US" b="1">
                <a:effectLst>
                  <a:outerShdw blurRad="38100" dist="38100" dir="2700000" algn="tl">
                    <a:srgbClr val="FFFFFF"/>
                  </a:outerShdw>
                </a:effectLst>
                <a:latin typeface="Times New Roman" panose="02020603050405020304" pitchFamily="18" charset="0"/>
              </a:rPr>
              <a:t>次多项式，则</a:t>
            </a:r>
            <a:r>
              <a:rPr lang="en-US" altLang="zh-CN" b="1">
                <a:effectLst>
                  <a:outerShdw blurRad="38100" dist="38100" dir="2700000" algn="tl">
                    <a:srgbClr val="FFFFFF"/>
                  </a:outerShdw>
                </a:effectLst>
                <a:latin typeface="Times New Roman" panose="02020603050405020304" pitchFamily="18" charset="0"/>
              </a:rPr>
              <a:t>A(</a:t>
            </a:r>
            <a:r>
              <a:rPr lang="en-US" altLang="zh-CN" b="1" i="1">
                <a:effectLst>
                  <a:outerShdw blurRad="38100" dist="38100" dir="2700000" algn="tl">
                    <a:srgbClr val="FFFFFF"/>
                  </a:outerShdw>
                </a:effectLst>
                <a:latin typeface="Times New Roman" panose="02020603050405020304" pitchFamily="18" charset="0"/>
              </a:rPr>
              <a:t>n</a:t>
            </a:r>
            <a:r>
              <a:rPr lang="en-US" altLang="zh-CN" b="1">
                <a:effectLst>
                  <a:outerShdw blurRad="38100" dist="38100" dir="2700000" algn="tl">
                    <a:srgbClr val="FFFFFF"/>
                  </a:outerShdw>
                </a:effectLst>
                <a:latin typeface="Times New Roman" panose="02020603050405020304" pitchFamily="18" charset="0"/>
              </a:rPr>
              <a:t>) </a:t>
            </a:r>
            <a:r>
              <a:rPr lang="en-US" altLang="zh-CN" b="1">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b="1">
                <a:effectLst>
                  <a:outerShdw blurRad="38100" dist="38100" dir="2700000" algn="tl">
                    <a:srgbClr val="FFFFFF"/>
                  </a:outerShdw>
                </a:effectLst>
                <a:latin typeface="Times New Roman" panose="02020603050405020304" pitchFamily="18" charset="0"/>
              </a:rPr>
              <a:t> </a:t>
            </a:r>
            <a:r>
              <a:rPr lang="en-US" altLang="zh-CN" b="1" i="1">
                <a:effectLst>
                  <a:outerShdw blurRad="38100" dist="38100" dir="2700000" algn="tl">
                    <a:srgbClr val="FFFFFF"/>
                  </a:outerShdw>
                </a:effectLst>
                <a:latin typeface="Times New Roman" panose="02020603050405020304" pitchFamily="18" charset="0"/>
              </a:rPr>
              <a:t>O</a:t>
            </a:r>
            <a:r>
              <a:rPr lang="en-US" altLang="zh-CN" b="1">
                <a:effectLst>
                  <a:outerShdw blurRad="38100" dist="38100" dir="2700000" algn="tl">
                    <a:srgbClr val="FFFFFF"/>
                  </a:outerShdw>
                </a:effectLst>
                <a:latin typeface="Times New Roman" panose="02020603050405020304" pitchFamily="18" charset="0"/>
              </a:rPr>
              <a:t>(</a:t>
            </a:r>
            <a:r>
              <a:rPr lang="en-US" altLang="zh-CN" b="1" i="1">
                <a:effectLst>
                  <a:outerShdw blurRad="38100" dist="38100" dir="2700000" algn="tl">
                    <a:srgbClr val="FFFFFF"/>
                  </a:outerShdw>
                </a:effectLst>
                <a:latin typeface="Times New Roman" panose="02020603050405020304" pitchFamily="18" charset="0"/>
              </a:rPr>
              <a:t>n</a:t>
            </a:r>
            <a:r>
              <a:rPr lang="en-US" altLang="zh-CN" b="1" i="1" baseline="30000">
                <a:effectLst>
                  <a:outerShdw blurRad="38100" dist="38100" dir="2700000" algn="tl">
                    <a:srgbClr val="FFFFFF"/>
                  </a:outerShdw>
                </a:effectLst>
                <a:latin typeface="Times New Roman" panose="02020603050405020304" pitchFamily="18" charset="0"/>
              </a:rPr>
              <a:t>m</a:t>
            </a:r>
            <a:r>
              <a:rPr lang="en-US" altLang="zh-CN" b="1">
                <a:effectLst>
                  <a:outerShdw blurRad="38100" dist="38100" dir="2700000" algn="tl">
                    <a:srgbClr val="FFFFFF"/>
                  </a:outerShdw>
                </a:effectLst>
                <a:latin typeface="Times New Roman" panose="02020603050405020304" pitchFamily="18" charset="0"/>
              </a:rPr>
              <a:t>)</a:t>
            </a:r>
            <a:endParaRPr lang="en-US" altLang="zh-CN" b="1" dirty="0">
              <a:effectLst>
                <a:outerShdw blurRad="38100" dist="38100" dir="2700000" algn="tl">
                  <a:srgbClr val="FFFFFF"/>
                </a:outerShdw>
              </a:effectLst>
              <a:latin typeface="Times New Roman" panose="02020603050405020304" pitchFamily="18" charset="0"/>
            </a:endParaRPr>
          </a:p>
        </p:txBody>
      </p:sp>
      <p:sp>
        <p:nvSpPr>
          <p:cNvPr id="331780" name="Text Box 4">
            <a:extLst>
              <a:ext uri="{FF2B5EF4-FFF2-40B4-BE49-F238E27FC236}">
                <a16:creationId xmlns:a16="http://schemas.microsoft.com/office/drawing/2014/main" xmlns="" id="{49C1B1A8-A2BF-45C9-8A35-E46756ADAAF9}"/>
              </a:ext>
            </a:extLst>
          </p:cNvPr>
          <p:cNvSpPr txBox="1">
            <a:spLocks noChangeArrowheads="1"/>
          </p:cNvSpPr>
          <p:nvPr/>
        </p:nvSpPr>
        <p:spPr bwMode="auto">
          <a:xfrm>
            <a:off x="695400" y="2221667"/>
            <a:ext cx="9950305" cy="4454233"/>
          </a:xfrm>
          <a:prstGeom prst="rect">
            <a:avLst/>
          </a:prstGeom>
          <a:noFill/>
          <a:ln>
            <a:noFill/>
          </a:ln>
        </p:spPr>
        <p:txBody>
          <a:bodyPr wrap="square">
            <a:spAutoFit/>
          </a:bodyPr>
          <a:lstStyle>
            <a:lvl1pPr algn="ctr">
              <a:defRPr sz="2400" b="1">
                <a:solidFill>
                  <a:schemeClr val="tx1"/>
                </a:solidFill>
                <a:latin typeface="Arial" panose="020B0604020202020204" pitchFamily="34" charset="0"/>
                <a:ea typeface="宋体" panose="02010600030101010101" pitchFamily="2" charset="-122"/>
              </a:defRPr>
            </a:lvl1pPr>
            <a:lvl2pPr algn="ctr">
              <a:defRPr sz="2400" b="1">
                <a:solidFill>
                  <a:schemeClr val="tx1"/>
                </a:solidFill>
                <a:latin typeface="Arial" panose="020B0604020202020204" pitchFamily="34" charset="0"/>
                <a:ea typeface="宋体" panose="02010600030101010101" pitchFamily="2" charset="-122"/>
              </a:defRPr>
            </a:lvl2pPr>
            <a:lvl3pPr algn="ctr">
              <a:defRPr sz="2400" b="1">
                <a:solidFill>
                  <a:schemeClr val="tx1"/>
                </a:solidFill>
                <a:latin typeface="Arial" panose="020B0604020202020204" pitchFamily="34" charset="0"/>
                <a:ea typeface="宋体" panose="02010600030101010101" pitchFamily="2" charset="-122"/>
              </a:defRPr>
            </a:lvl3pPr>
            <a:lvl4pPr algn="ctr">
              <a:defRPr sz="2400" b="1">
                <a:solidFill>
                  <a:schemeClr val="tx1"/>
                </a:solidFill>
                <a:latin typeface="Arial" panose="020B0604020202020204" pitchFamily="34" charset="0"/>
                <a:ea typeface="宋体" panose="02010600030101010101" pitchFamily="2" charset="-122"/>
              </a:defRPr>
            </a:lvl4pPr>
            <a:lvl5pPr algn="ctr">
              <a:defRPr sz="2400" b="1">
                <a:solidFill>
                  <a:schemeClr val="tx1"/>
                </a:solidFill>
                <a:latin typeface="Arial" panose="020B0604020202020204" pitchFamily="34" charset="0"/>
                <a:ea typeface="宋体" panose="02010600030101010101" pitchFamily="2" charset="-122"/>
              </a:defRPr>
            </a:lvl5pPr>
            <a:lvl6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6pPr>
            <a:lvl7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7pPr>
            <a:lvl8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8pPr>
            <a:lvl9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9pPr>
          </a:lstStyle>
          <a:p>
            <a:pPr algn="l" eaLnBrk="1" hangingPunct="1">
              <a:lnSpc>
                <a:spcPct val="150000"/>
              </a:lnSpc>
              <a:buClr>
                <a:srgbClr val="A50021"/>
              </a:buClr>
              <a:buSzPct val="75000"/>
              <a:buFont typeface="Wingdings" panose="05000000000000000000" pitchFamily="2" charset="2"/>
              <a:buNone/>
              <a:defRPr/>
            </a:pPr>
            <a:r>
              <a:rPr lang="zh-CN" altLang="en-US" dirty="0">
                <a:latin typeface="Times New Roman" panose="02020603050405020304" pitchFamily="18" charset="0"/>
              </a:rPr>
              <a:t>性质</a:t>
            </a:r>
            <a:r>
              <a:rPr lang="en-US" altLang="zh-CN" dirty="0">
                <a:latin typeface="Times New Roman" panose="02020603050405020304" pitchFamily="18" charset="0"/>
              </a:rPr>
              <a:t>2</a:t>
            </a:r>
            <a:r>
              <a:rPr lang="zh-CN" altLang="en-US" dirty="0">
                <a:latin typeface="Times New Roman" panose="02020603050405020304" pitchFamily="18" charset="0"/>
              </a:rPr>
              <a:t>的应用，也可以用</a:t>
            </a:r>
            <a:r>
              <a:rPr lang="en-US" altLang="zh-CN" i="1" dirty="0">
                <a:latin typeface="Times New Roman" panose="02020603050405020304" pitchFamily="18" charset="0"/>
              </a:rPr>
              <a:t>O</a:t>
            </a:r>
            <a:r>
              <a:rPr lang="zh-CN" altLang="en-US" dirty="0">
                <a:latin typeface="Times New Roman" panose="02020603050405020304" pitchFamily="18" charset="0"/>
              </a:rPr>
              <a:t>定义证明。</a:t>
            </a:r>
            <a:endParaRPr lang="en-US" altLang="zh-CN" dirty="0">
              <a:latin typeface="Times New Roman" panose="02020603050405020304" pitchFamily="18" charset="0"/>
            </a:endParaRPr>
          </a:p>
          <a:p>
            <a:pPr algn="l" eaLnBrk="1" hangingPunct="1">
              <a:lnSpc>
                <a:spcPct val="150000"/>
              </a:lnSpc>
              <a:buClr>
                <a:srgbClr val="A50021"/>
              </a:buClr>
              <a:buSzPct val="75000"/>
              <a:buFont typeface="Wingdings" panose="05000000000000000000" pitchFamily="2" charset="2"/>
              <a:buNone/>
              <a:defRPr/>
            </a:pPr>
            <a:r>
              <a:rPr lang="zh-CN" altLang="en-US" dirty="0">
                <a:latin typeface="Times New Roman" panose="02020603050405020304" pitchFamily="18" charset="0"/>
              </a:rPr>
              <a:t>证明：取</a:t>
            </a:r>
            <a:r>
              <a:rPr lang="en-US" altLang="zh-CN" i="1" dirty="0">
                <a:solidFill>
                  <a:srgbClr val="FF0000"/>
                </a:solidFill>
                <a:latin typeface="Times New Roman" panose="02020603050405020304" pitchFamily="18" charset="0"/>
              </a:rPr>
              <a:t>n</a:t>
            </a:r>
            <a:r>
              <a:rPr lang="en-US" altLang="zh-CN" baseline="-25000" dirty="0">
                <a:solidFill>
                  <a:srgbClr val="FF0000"/>
                </a:solidFill>
                <a:latin typeface="Times New Roman" panose="02020603050405020304" pitchFamily="18" charset="0"/>
              </a:rPr>
              <a:t>0</a:t>
            </a:r>
            <a:r>
              <a:rPr lang="en-US" altLang="zh-CN" dirty="0">
                <a:solidFill>
                  <a:srgbClr val="FF0000"/>
                </a:solidFill>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1</a:t>
            </a:r>
            <a:r>
              <a:rPr lang="zh-CN" altLang="en-US" dirty="0">
                <a:latin typeface="Times New Roman" panose="02020603050405020304" pitchFamily="18" charset="0"/>
              </a:rPr>
              <a:t>，当</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n</a:t>
            </a:r>
            <a:r>
              <a:rPr lang="en-US" altLang="zh-CN" baseline="-25000" dirty="0">
                <a:latin typeface="Times New Roman" panose="02020603050405020304" pitchFamily="18" charset="0"/>
              </a:rPr>
              <a:t>0</a:t>
            </a:r>
            <a:r>
              <a:rPr lang="zh-CN" altLang="en-US" dirty="0">
                <a:latin typeface="Times New Roman" panose="02020603050405020304" pitchFamily="18" charset="0"/>
              </a:rPr>
              <a:t>时</a:t>
            </a:r>
          </a:p>
          <a:p>
            <a:pPr algn="l" eaLnBrk="1" hangingPunct="1">
              <a:lnSpc>
                <a:spcPct val="150000"/>
              </a:lnSpc>
              <a:buClr>
                <a:srgbClr val="A50021"/>
              </a:buClr>
              <a:buSzPct val="75000"/>
              <a:buFont typeface="Wingdings" panose="05000000000000000000" pitchFamily="2" charset="2"/>
              <a:buNone/>
              <a:defRPr/>
            </a:pPr>
            <a:r>
              <a:rPr lang="zh-CN" altLang="en-US" dirty="0">
                <a:latin typeface="Times New Roman" panose="02020603050405020304" pitchFamily="18" charset="0"/>
              </a:rPr>
              <a:t>            根据</a:t>
            </a:r>
            <a:r>
              <a:rPr lang="en-US" altLang="zh-CN" dirty="0">
                <a:latin typeface="Times New Roman" panose="02020603050405020304" pitchFamily="18" charset="0"/>
              </a:rPr>
              <a:t>A(</a:t>
            </a:r>
            <a:r>
              <a:rPr lang="en-US" altLang="zh-CN" i="1" dirty="0">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的定义和不等式关系</a:t>
            </a:r>
            <a:r>
              <a:rPr lang="en-US" altLang="zh-CN"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 </a:t>
            </a:r>
            <a:r>
              <a:rPr lang="en-US" altLang="zh-CN" dirty="0">
                <a:effectLst>
                  <a:outerShdw blurRad="38100" dist="38100" dir="2700000" algn="tl">
                    <a:srgbClr val="C0C0C0"/>
                  </a:outerShdw>
                </a:effectLst>
                <a:sym typeface="Symbol" panose="05050102010706020507" pitchFamily="18" charset="2"/>
              </a:rPr>
              <a:t></a:t>
            </a:r>
            <a:r>
              <a:rPr lang="en-US" altLang="zh-CN" dirty="0">
                <a:sym typeface="Symbol" panose="05050102010706020507" pitchFamily="18" charset="2"/>
              </a:rPr>
              <a:t> </a:t>
            </a:r>
            <a:r>
              <a:rPr lang="en-US" altLang="zh-CN" dirty="0">
                <a:latin typeface="Times New Roman" panose="02020603050405020304" pitchFamily="18" charset="0"/>
              </a:rPr>
              <a:t>B|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dirty="0">
                <a:latin typeface="Times New Roman" panose="02020603050405020304" pitchFamily="18" charset="0"/>
              </a:rPr>
              <a:t>|B|</a:t>
            </a:r>
          </a:p>
          <a:p>
            <a:pPr algn="l" eaLnBrk="1" hangingPunct="1">
              <a:lnSpc>
                <a:spcPct val="150000"/>
              </a:lnSpc>
              <a:buClr>
                <a:srgbClr val="A50021"/>
              </a:buClr>
              <a:buSzPct val="75000"/>
              <a:buFont typeface="Wingdings" panose="05000000000000000000" pitchFamily="2" charset="2"/>
              <a:buNone/>
              <a:defRPr/>
            </a:pPr>
            <a:r>
              <a:rPr lang="zh-CN" altLang="en-US" dirty="0">
                <a:latin typeface="Times New Roman" panose="02020603050405020304" pitchFamily="18" charset="0"/>
              </a:rPr>
              <a:t>            有 </a:t>
            </a:r>
            <a:r>
              <a:rPr lang="en-US" altLang="zh-CN" dirty="0">
                <a:latin typeface="Times New Roman" panose="02020603050405020304" pitchFamily="18" charset="0"/>
              </a:rPr>
              <a:t>|A(</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latin typeface="Times New Roman" panose="02020603050405020304" pitchFamily="18" charset="0"/>
              </a:rPr>
              <a:t> |</a:t>
            </a:r>
            <a:r>
              <a:rPr lang="en-US" altLang="zh-CN" i="1" dirty="0" err="1">
                <a:latin typeface="Times New Roman" panose="02020603050405020304" pitchFamily="18" charset="0"/>
              </a:rPr>
              <a:t>a</a:t>
            </a:r>
            <a:r>
              <a:rPr lang="en-US" altLang="zh-CN" i="1" baseline="-25000" dirty="0" err="1">
                <a:latin typeface="Times New Roman" panose="02020603050405020304" pitchFamily="18" charset="0"/>
              </a:rPr>
              <a:t>m</a:t>
            </a:r>
            <a:r>
              <a:rPr lang="en-US" altLang="zh-CN" i="1" dirty="0" err="1">
                <a:latin typeface="Times New Roman" panose="02020603050405020304" pitchFamily="18" charset="0"/>
              </a:rPr>
              <a:t>n</a:t>
            </a:r>
            <a:r>
              <a:rPr lang="en-US" altLang="zh-CN" i="1" baseline="30000" dirty="0" err="1">
                <a:latin typeface="Times New Roman" panose="02020603050405020304" pitchFamily="18" charset="0"/>
              </a:rPr>
              <a:t>m</a:t>
            </a:r>
            <a:r>
              <a:rPr lang="en-US" altLang="zh-CN" baseline="30000"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i="1" dirty="0">
                <a:latin typeface="Times New Roman" panose="02020603050405020304" pitchFamily="18" charset="0"/>
              </a:rPr>
              <a:t>a</a:t>
            </a:r>
            <a:r>
              <a:rPr lang="en-US" altLang="zh-CN" baseline="-25000" dirty="0">
                <a:latin typeface="Times New Roman" panose="02020603050405020304" pitchFamily="18" charset="0"/>
              </a:rPr>
              <a:t>1 </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i="1" dirty="0">
                <a:latin typeface="Times New Roman" panose="02020603050405020304" pitchFamily="18" charset="0"/>
              </a:rPr>
              <a:t>a</a:t>
            </a:r>
            <a:r>
              <a:rPr lang="en-US" altLang="zh-CN" baseline="-25000" dirty="0">
                <a:latin typeface="Times New Roman" panose="02020603050405020304" pitchFamily="18" charset="0"/>
              </a:rPr>
              <a:t>0 </a:t>
            </a:r>
            <a:r>
              <a:rPr lang="en-US" altLang="zh-CN" dirty="0">
                <a:latin typeface="Times New Roman" panose="02020603050405020304" pitchFamily="18" charset="0"/>
              </a:rPr>
              <a:t>|   </a:t>
            </a:r>
            <a:r>
              <a:rPr lang="en-US" altLang="zh-CN" dirty="0">
                <a:sym typeface="Symbol" panose="05050102010706020507" pitchFamily="18" charset="2"/>
              </a:rPr>
              <a:t></a:t>
            </a:r>
            <a:r>
              <a:rPr lang="en-US" altLang="zh-CN" dirty="0">
                <a:latin typeface="Times New Roman" panose="02020603050405020304" pitchFamily="18" charset="0"/>
              </a:rPr>
              <a:t> |</a:t>
            </a:r>
            <a:r>
              <a:rPr lang="en-US" altLang="zh-CN" i="1" dirty="0" err="1">
                <a:latin typeface="Times New Roman" panose="02020603050405020304" pitchFamily="18" charset="0"/>
              </a:rPr>
              <a:t>a</a:t>
            </a:r>
            <a:r>
              <a:rPr lang="en-US" altLang="zh-CN" i="1" baseline="-25000" dirty="0" err="1">
                <a:latin typeface="Times New Roman" panose="02020603050405020304" pitchFamily="18" charset="0"/>
              </a:rPr>
              <a:t>m</a:t>
            </a:r>
            <a:r>
              <a:rPr lang="en-US" altLang="zh-CN" dirty="0" err="1">
                <a:latin typeface="Times New Roman" panose="02020603050405020304" pitchFamily="18" charset="0"/>
              </a:rPr>
              <a:t>|</a:t>
            </a:r>
            <a:r>
              <a:rPr lang="en-US" altLang="zh-CN" i="1" dirty="0" err="1">
                <a:latin typeface="Times New Roman" panose="02020603050405020304" pitchFamily="18" charset="0"/>
              </a:rPr>
              <a:t>n</a:t>
            </a:r>
            <a:r>
              <a:rPr lang="en-US" altLang="zh-CN" i="1" baseline="30000" dirty="0" err="1">
                <a:latin typeface="Times New Roman" panose="02020603050405020304" pitchFamily="18" charset="0"/>
              </a:rPr>
              <a:t>m</a:t>
            </a:r>
            <a:r>
              <a:rPr lang="en-US" altLang="zh-CN" baseline="30000"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baseline="-25000" dirty="0">
                <a:latin typeface="Times New Roman" panose="02020603050405020304" pitchFamily="18" charset="0"/>
              </a:rPr>
              <a:t>1 </a:t>
            </a:r>
            <a:r>
              <a:rPr lang="en-US" altLang="zh-CN" dirty="0">
                <a:latin typeface="Times New Roman" panose="02020603050405020304" pitchFamily="18" charset="0"/>
              </a:rPr>
              <a:t>|</a:t>
            </a:r>
            <a:r>
              <a:rPr lang="en-US" altLang="zh-CN" baseline="-25000"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baseline="-25000" dirty="0">
                <a:latin typeface="Times New Roman" panose="02020603050405020304" pitchFamily="18" charset="0"/>
              </a:rPr>
              <a:t>0 </a:t>
            </a:r>
            <a:r>
              <a:rPr lang="en-US" altLang="zh-CN" dirty="0">
                <a:latin typeface="Times New Roman" panose="02020603050405020304" pitchFamily="18" charset="0"/>
              </a:rPr>
              <a:t>|</a:t>
            </a:r>
          </a:p>
          <a:p>
            <a:pPr algn="l" eaLnBrk="1" hangingPunct="1">
              <a:lnSpc>
                <a:spcPct val="150000"/>
              </a:lnSpc>
              <a:buClr>
                <a:srgbClr val="A50021"/>
              </a:buClr>
              <a:buSzPct val="75000"/>
              <a:buFont typeface="Wingdings" panose="05000000000000000000" pitchFamily="2" charset="2"/>
              <a:buNone/>
              <a:defRPr/>
            </a:pP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en-US" altLang="zh-CN" i="1" baseline="-25000" dirty="0">
                <a:latin typeface="Times New Roman" panose="02020603050405020304" pitchFamily="18" charset="0"/>
              </a:rPr>
              <a:t>m</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i="1" baseline="-25000" dirty="0">
                <a:latin typeface="Times New Roman" panose="02020603050405020304" pitchFamily="18" charset="0"/>
              </a:rPr>
              <a:t>m</a:t>
            </a:r>
            <a:r>
              <a:rPr lang="en-US" altLang="zh-CN" baseline="-25000"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baseline="-25000" dirty="0">
                <a:latin typeface="Times New Roman" panose="02020603050405020304" pitchFamily="18" charset="0"/>
              </a:rPr>
              <a:t>0 </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n</a:t>
            </a:r>
            <a:r>
              <a:rPr lang="en-US" altLang="zh-CN" i="1" baseline="30000" dirty="0">
                <a:latin typeface="Times New Roman" panose="02020603050405020304" pitchFamily="18" charset="0"/>
              </a:rPr>
              <a:t>m </a:t>
            </a:r>
            <a:r>
              <a:rPr lang="en-US" altLang="zh-CN" dirty="0">
                <a:latin typeface="Times New Roman" panose="02020603050405020304" pitchFamily="18" charset="0"/>
              </a:rPr>
              <a:t>)</a:t>
            </a:r>
            <a:r>
              <a:rPr lang="en-US" altLang="zh-CN" baseline="30000" dirty="0">
                <a:latin typeface="Times New Roman" panose="02020603050405020304" pitchFamily="18" charset="0"/>
              </a:rPr>
              <a:t> </a:t>
            </a:r>
            <a:r>
              <a:rPr lang="en-US" altLang="zh-CN" i="1" dirty="0">
                <a:latin typeface="Times New Roman" panose="02020603050405020304" pitchFamily="18" charset="0"/>
              </a:rPr>
              <a:t>n</a:t>
            </a:r>
            <a:r>
              <a:rPr lang="en-US" altLang="zh-CN" i="1" baseline="30000" dirty="0">
                <a:latin typeface="Times New Roman" panose="02020603050405020304" pitchFamily="18" charset="0"/>
              </a:rPr>
              <a:t>m</a:t>
            </a:r>
          </a:p>
          <a:p>
            <a:pPr algn="l" eaLnBrk="1" hangingPunct="1">
              <a:lnSpc>
                <a:spcPct val="150000"/>
              </a:lnSpc>
              <a:buClr>
                <a:srgbClr val="A50021"/>
              </a:buClr>
              <a:buSzPct val="75000"/>
              <a:buFont typeface="Wingdings" panose="05000000000000000000" pitchFamily="2" charset="2"/>
              <a:buNone/>
              <a:defRPr/>
            </a:pPr>
            <a:r>
              <a:rPr lang="en-US" altLang="zh-CN" baseline="30000" dirty="0">
                <a:latin typeface="Times New Roman" panose="02020603050405020304" pitchFamily="18" charset="0"/>
              </a:rPr>
              <a:t>                              </a:t>
            </a:r>
            <a:r>
              <a:rPr lang="en-US" altLang="zh-CN" dirty="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a</a:t>
            </a:r>
            <a:r>
              <a:rPr lang="en-US" altLang="zh-CN" i="1" baseline="-25000" dirty="0">
                <a:latin typeface="Times New Roman" panose="02020603050405020304" pitchFamily="18" charset="0"/>
              </a:rPr>
              <a:t>m</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i="1" baseline="-25000" dirty="0">
                <a:latin typeface="Times New Roman" panose="02020603050405020304" pitchFamily="18" charset="0"/>
              </a:rPr>
              <a:t>m </a:t>
            </a:r>
            <a:r>
              <a:rPr lang="en-US" altLang="zh-CN" i="1" baseline="-25000"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dirty="0">
                <a:sym typeface="Symbol" panose="05050102010706020507" pitchFamily="18" charset="2"/>
              </a:rPr>
              <a:t></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baseline="-25000" dirty="0">
                <a:latin typeface="Times New Roman" panose="02020603050405020304" pitchFamily="18" charset="0"/>
              </a:rPr>
              <a:t>0 </a:t>
            </a:r>
            <a:r>
              <a:rPr lang="en-US" altLang="zh-CN" dirty="0">
                <a:latin typeface="Times New Roman" panose="02020603050405020304" pitchFamily="18" charset="0"/>
              </a:rPr>
              <a:t>|)</a:t>
            </a:r>
            <a:r>
              <a:rPr lang="en-US" altLang="zh-CN" baseline="30000" dirty="0">
                <a:latin typeface="Times New Roman" panose="02020603050405020304" pitchFamily="18" charset="0"/>
              </a:rPr>
              <a:t> </a:t>
            </a:r>
            <a:r>
              <a:rPr lang="en-US" altLang="zh-CN" i="1" dirty="0">
                <a:latin typeface="Times New Roman" panose="02020603050405020304" pitchFamily="18" charset="0"/>
              </a:rPr>
              <a:t>n</a:t>
            </a:r>
            <a:r>
              <a:rPr lang="en-US" altLang="zh-CN" i="1" baseline="30000" dirty="0">
                <a:latin typeface="Times New Roman" panose="02020603050405020304" pitchFamily="18" charset="0"/>
              </a:rPr>
              <a:t>m</a:t>
            </a:r>
          </a:p>
          <a:p>
            <a:pPr algn="l" eaLnBrk="1" hangingPunct="1">
              <a:lnSpc>
                <a:spcPct val="150000"/>
              </a:lnSpc>
              <a:buClr>
                <a:srgbClr val="A50021"/>
              </a:buClr>
              <a:buSzPct val="75000"/>
              <a:buFont typeface="Wingdings" panose="05000000000000000000" pitchFamily="2" charset="2"/>
              <a:buNone/>
              <a:defRPr/>
            </a:pPr>
            <a:r>
              <a:rPr lang="zh-CN" altLang="en-US" dirty="0">
                <a:latin typeface="Times New Roman" panose="02020603050405020304" pitchFamily="18" charset="0"/>
              </a:rPr>
              <a:t>             取 </a:t>
            </a:r>
            <a:r>
              <a:rPr lang="en-US" altLang="zh-CN" i="1" dirty="0">
                <a:solidFill>
                  <a:srgbClr val="FF0000"/>
                </a:solidFill>
                <a:latin typeface="Times New Roman" panose="02020603050405020304" pitchFamily="18" charset="0"/>
              </a:rPr>
              <a:t>c</a:t>
            </a:r>
            <a:r>
              <a:rPr lang="en-US" altLang="zh-CN" dirty="0">
                <a:solidFill>
                  <a:srgbClr val="FF0000"/>
                </a:solidFill>
                <a:latin typeface="Times New Roman" panose="02020603050405020304" pitchFamily="18" charset="0"/>
              </a:rPr>
              <a:t> </a:t>
            </a:r>
            <a:r>
              <a:rPr lang="en-US" altLang="zh-CN" dirty="0">
                <a:solidFill>
                  <a:srgbClr val="FF0000"/>
                </a:solidFill>
                <a:effectLst>
                  <a:outerShdw blurRad="38100" dist="38100" dir="2700000" algn="tl">
                    <a:srgbClr val="C0C0C0"/>
                  </a:outerShdw>
                </a:effectLst>
                <a:sym typeface="Symbol" panose="05050102010706020507" pitchFamily="18" charset="2"/>
              </a:rPr>
              <a:t></a:t>
            </a:r>
            <a:r>
              <a:rPr lang="en-US" altLang="zh-CN" dirty="0">
                <a:solidFill>
                  <a:srgbClr val="FF0000"/>
                </a:solidFill>
                <a:latin typeface="Times New Roman" panose="02020603050405020304" pitchFamily="18" charset="0"/>
              </a:rPr>
              <a:t> |</a:t>
            </a:r>
            <a:r>
              <a:rPr lang="en-US" altLang="zh-CN" i="1" dirty="0">
                <a:solidFill>
                  <a:srgbClr val="FF0000"/>
                </a:solidFill>
                <a:latin typeface="Times New Roman" panose="02020603050405020304" pitchFamily="18" charset="0"/>
              </a:rPr>
              <a:t>a</a:t>
            </a:r>
            <a:r>
              <a:rPr lang="en-US" altLang="zh-CN" i="1" baseline="-25000" dirty="0">
                <a:solidFill>
                  <a:srgbClr val="FF0000"/>
                </a:solidFill>
                <a:latin typeface="Times New Roman" panose="02020603050405020304" pitchFamily="18" charset="0"/>
              </a:rPr>
              <a:t>m</a:t>
            </a:r>
            <a:r>
              <a:rPr lang="en-US" altLang="zh-CN" dirty="0">
                <a:solidFill>
                  <a:srgbClr val="FF0000"/>
                </a:solidFill>
                <a:latin typeface="Times New Roman" panose="02020603050405020304" pitchFamily="18" charset="0"/>
              </a:rPr>
              <a:t>| </a:t>
            </a:r>
            <a:r>
              <a:rPr lang="en-US" altLang="zh-CN" dirty="0">
                <a:solidFill>
                  <a:srgbClr val="FF0000"/>
                </a:solidFill>
                <a:effectLst>
                  <a:outerShdw blurRad="38100" dist="38100" dir="2700000" algn="tl">
                    <a:srgbClr val="C0C0C0"/>
                  </a:outerShdw>
                </a:effectLst>
                <a:sym typeface="Symbol" panose="05050102010706020507" pitchFamily="18" charset="2"/>
              </a:rPr>
              <a:t></a:t>
            </a:r>
            <a:r>
              <a:rPr lang="en-US" altLang="zh-CN" dirty="0">
                <a:solidFill>
                  <a:srgbClr val="FF0000"/>
                </a:solidFill>
              </a:rPr>
              <a:t> </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a</a:t>
            </a:r>
            <a:r>
              <a:rPr lang="en-US" altLang="zh-CN" i="1" baseline="-25000" dirty="0">
                <a:solidFill>
                  <a:srgbClr val="FF0000"/>
                </a:solidFill>
                <a:latin typeface="Times New Roman" panose="02020603050405020304" pitchFamily="18" charset="0"/>
              </a:rPr>
              <a:t>m</a:t>
            </a:r>
            <a:r>
              <a:rPr lang="en-US" altLang="zh-CN" baseline="-25000" dirty="0">
                <a:solidFill>
                  <a:srgbClr val="FF0000"/>
                </a:solidFill>
                <a:latin typeface="Times New Roman" panose="02020603050405020304" pitchFamily="18" charset="0"/>
                <a:sym typeface="Symbol" panose="05050102010706020507" pitchFamily="18" charset="2"/>
              </a:rPr>
              <a:t></a:t>
            </a:r>
            <a:r>
              <a:rPr lang="en-US" altLang="zh-CN" baseline="-25000" dirty="0">
                <a:solidFill>
                  <a:srgbClr val="FF0000"/>
                </a:solidFill>
                <a:latin typeface="Times New Roman" panose="02020603050405020304" pitchFamily="18" charset="0"/>
              </a:rPr>
              <a:t>1</a:t>
            </a:r>
            <a:r>
              <a:rPr lang="en-US" altLang="zh-CN" dirty="0">
                <a:solidFill>
                  <a:srgbClr val="FF0000"/>
                </a:solidFill>
                <a:latin typeface="Times New Roman" panose="02020603050405020304" pitchFamily="18" charset="0"/>
              </a:rPr>
              <a:t>| </a:t>
            </a:r>
            <a:r>
              <a:rPr lang="en-US" altLang="zh-CN" dirty="0">
                <a:solidFill>
                  <a:srgbClr val="FF0000"/>
                </a:solidFill>
                <a:sym typeface="Symbol" panose="05050102010706020507" pitchFamily="18" charset="2"/>
              </a:rPr>
              <a:t></a:t>
            </a:r>
            <a:r>
              <a:rPr lang="en-US" altLang="zh-CN" dirty="0">
                <a:solidFill>
                  <a:srgbClr val="FF0000"/>
                </a:solidFill>
                <a:latin typeface="Times New Roman" panose="02020603050405020304" pitchFamily="18" charset="0"/>
              </a:rPr>
              <a:t> </a:t>
            </a:r>
            <a:r>
              <a:rPr lang="en-US" altLang="zh-CN" dirty="0">
                <a:solidFill>
                  <a:srgbClr val="FF0000"/>
                </a:solidFill>
                <a:effectLst>
                  <a:outerShdw blurRad="38100" dist="38100" dir="2700000" algn="tl">
                    <a:srgbClr val="C0C0C0"/>
                  </a:outerShdw>
                </a:effectLst>
                <a:sym typeface="Symbol" panose="05050102010706020507" pitchFamily="18" charset="2"/>
              </a:rPr>
              <a:t></a:t>
            </a:r>
            <a:r>
              <a:rPr lang="en-US" altLang="zh-CN" dirty="0">
                <a:solidFill>
                  <a:srgbClr val="FF0000"/>
                </a:solidFill>
              </a:rPr>
              <a:t> </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a</a:t>
            </a:r>
            <a:r>
              <a:rPr lang="en-US" altLang="zh-CN" baseline="-25000" dirty="0">
                <a:solidFill>
                  <a:srgbClr val="FF0000"/>
                </a:solidFill>
                <a:latin typeface="Times New Roman" panose="02020603050405020304" pitchFamily="18" charset="0"/>
              </a:rPr>
              <a:t>0 </a:t>
            </a:r>
            <a:r>
              <a:rPr lang="en-US" altLang="zh-CN" dirty="0">
                <a:solidFill>
                  <a:srgbClr val="FF0000"/>
                </a:solidFill>
                <a:latin typeface="Times New Roman" panose="02020603050405020304" pitchFamily="18" charset="0"/>
              </a:rPr>
              <a:t>|</a:t>
            </a:r>
            <a:r>
              <a:rPr lang="zh-CN" altLang="en-US" dirty="0">
                <a:latin typeface="Times New Roman" panose="02020603050405020304" pitchFamily="18" charset="0"/>
              </a:rPr>
              <a:t>，有</a:t>
            </a:r>
            <a:r>
              <a:rPr lang="en-US" altLang="zh-CN" dirty="0">
                <a:latin typeface="Times New Roman" panose="02020603050405020304" pitchFamily="18" charset="0"/>
              </a:rPr>
              <a:t>|A(</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en-US" altLang="zh-CN" dirty="0">
                <a:sym typeface="Symbol" panose="05050102010706020507" pitchFamily="18" charset="2"/>
              </a:rPr>
              <a:t></a:t>
            </a:r>
            <a:r>
              <a:rPr lang="en-US" altLang="zh-CN" dirty="0"/>
              <a:t> </a:t>
            </a:r>
            <a:r>
              <a:rPr lang="en-US" altLang="zh-CN" i="1" dirty="0">
                <a:latin typeface="Times New Roman" panose="02020603050405020304" pitchFamily="18" charset="0"/>
              </a:rPr>
              <a:t>c n</a:t>
            </a:r>
            <a:r>
              <a:rPr lang="en-US" altLang="zh-CN" i="1" baseline="30000" dirty="0">
                <a:latin typeface="Times New Roman" panose="02020603050405020304" pitchFamily="18" charset="0"/>
              </a:rPr>
              <a:t>m</a:t>
            </a:r>
          </a:p>
          <a:p>
            <a:pPr algn="l" eaLnBrk="1" hangingPunct="1">
              <a:lnSpc>
                <a:spcPct val="150000"/>
              </a:lnSpc>
              <a:buClr>
                <a:srgbClr val="A50021"/>
              </a:buClr>
              <a:buSzPct val="75000"/>
              <a:buFont typeface="Wingdings" panose="05000000000000000000" pitchFamily="2" charset="2"/>
              <a:buNone/>
              <a:defRPr/>
            </a:pPr>
            <a:r>
              <a:rPr lang="zh-CN" altLang="en-US" dirty="0">
                <a:latin typeface="Times New Roman" panose="02020603050405020304" pitchFamily="18" charset="0"/>
              </a:rPr>
              <a:t>             即</a:t>
            </a:r>
            <a:r>
              <a:rPr lang="en-US" altLang="zh-CN" dirty="0">
                <a:latin typeface="Times New Roman" panose="02020603050405020304" pitchFamily="18" charset="0"/>
              </a:rPr>
              <a:t>A(</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en-US" altLang="zh-CN" dirty="0">
                <a:effectLst>
                  <a:outerShdw blurRad="38100" dist="38100" dir="2700000" algn="tl">
                    <a:srgbClr val="C0C0C0"/>
                  </a:outerShdw>
                </a:effectLst>
                <a:sym typeface="Symbol" panose="05050102010706020507" pitchFamily="18" charset="2"/>
              </a:rPr>
              <a:t></a:t>
            </a:r>
            <a:r>
              <a:rPr lang="en-US" altLang="zh-CN" dirty="0"/>
              <a:t> </a:t>
            </a:r>
            <a:r>
              <a:rPr lang="en-US" altLang="zh-CN" i="1" dirty="0">
                <a:latin typeface="Times New Roman" panose="02020603050405020304" pitchFamily="18" charset="0"/>
              </a:rPr>
              <a:t>O</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i="1" baseline="30000" dirty="0">
                <a:latin typeface="Times New Roman" panose="02020603050405020304" pitchFamily="18" charset="0"/>
              </a:rPr>
              <a:t>m</a:t>
            </a:r>
            <a:r>
              <a:rPr lang="en-US" altLang="zh-CN" dirty="0">
                <a:latin typeface="Times New Roman" panose="02020603050405020304" pitchFamily="18" charset="0"/>
              </a:rPr>
              <a:t>)</a:t>
            </a:r>
            <a:r>
              <a:rPr lang="zh-CN" altLang="en-US" dirty="0">
                <a:latin typeface="Times New Roman" panose="02020603050405020304" pitchFamily="18" charset="0"/>
              </a:rPr>
              <a:t>，定理得证。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17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178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3178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3178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31780">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31780">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31780">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33178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80"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D04713B0-7EE7-420A-BB22-6F99F562E080}" type="slidenum">
              <a:rPr lang="en-US" altLang="zh-CN" b="1" smtClean="0">
                <a:latin typeface="Times New Roman" panose="02020603050405020304" pitchFamily="18" charset="0"/>
                <a:cs typeface="Times New Roman" panose="02020603050405020304" pitchFamily="18" charset="0"/>
              </a:rPr>
              <a:pPr>
                <a:defRPr/>
              </a:pPr>
              <a:t>42</a:t>
            </a:fld>
            <a:endParaRPr lang="en-US" altLang="zh-CN" b="1">
              <a:latin typeface="Times New Roman" panose="02020603050405020304" pitchFamily="18" charset="0"/>
              <a:cs typeface="Times New Roman" panose="02020603050405020304" pitchFamily="18" charset="0"/>
            </a:endParaRPr>
          </a:p>
        </p:txBody>
      </p:sp>
      <p:sp>
        <p:nvSpPr>
          <p:cNvPr id="3" name="灯片编号占位符 3">
            <a:extLst>
              <a:ext uri="{FF2B5EF4-FFF2-40B4-BE49-F238E27FC236}">
                <a16:creationId xmlns:a16="http://schemas.microsoft.com/office/drawing/2014/main" xmlns="" id="{4FB02B0C-26DD-8E13-1E18-EADA6F99E790}"/>
              </a:ext>
            </a:extLst>
          </p:cNvPr>
          <p:cNvSpPr txBox="1">
            <a:spLocks noChangeArrowheads="1"/>
          </p:cNvSpPr>
          <p:nvPr/>
        </p:nvSpPr>
        <p:spPr>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r" defTabSz="914400" rtl="0" eaLnBrk="1" latinLnBrk="0" hangingPunct="1">
              <a:spcBef>
                <a:spcPct val="20000"/>
              </a:spcBef>
              <a:buClr>
                <a:schemeClr val="bg2"/>
              </a:buClr>
              <a:buSzPct val="75000"/>
              <a:buFont typeface="Wingdings" panose="05000000000000000000" pitchFamily="2" charset="2"/>
              <a:buChar char="p"/>
              <a:defRPr sz="2800" kern="1200">
                <a:solidFill>
                  <a:schemeClr val="tx1"/>
                </a:solidFill>
                <a:latin typeface="Verdana" panose="020B0604030504040204" pitchFamily="34" charset="0"/>
                <a:ea typeface="宋体" panose="02010600030101010101" pitchFamily="2" charset="-122"/>
                <a:cs typeface="+mn-cs"/>
              </a:defRPr>
            </a:lvl1pPr>
            <a:lvl2pPr marL="742950" indent="-285750" algn="l" defTabSz="914400" rtl="0" eaLnBrk="1" latinLnBrk="0" hangingPunct="1">
              <a:spcBef>
                <a:spcPct val="20000"/>
              </a:spcBef>
              <a:buClr>
                <a:schemeClr val="tx2"/>
              </a:buClr>
              <a:buSzPct val="75000"/>
              <a:buFont typeface="Wingdings" panose="05000000000000000000" pitchFamily="2" charset="2"/>
              <a:buChar char="n"/>
              <a:defRPr sz="2400" kern="1200">
                <a:solidFill>
                  <a:schemeClr val="tx1"/>
                </a:solidFill>
                <a:latin typeface="Verdana" panose="020B0604030504040204" pitchFamily="34" charset="0"/>
                <a:ea typeface="宋体" panose="02010600030101010101" pitchFamily="2" charset="-122"/>
                <a:cs typeface="+mn-cs"/>
              </a:defRPr>
            </a:lvl2pPr>
            <a:lvl3pPr marL="1143000" indent="-228600" algn="l" defTabSz="914400" rtl="0" eaLnBrk="1" latinLnBrk="0" hangingPunct="1">
              <a:spcBef>
                <a:spcPct val="20000"/>
              </a:spcBef>
              <a:buClr>
                <a:schemeClr val="accent1"/>
              </a:buClr>
              <a:buSzPct val="65000"/>
              <a:buFont typeface="Wingdings" panose="05000000000000000000" pitchFamily="2" charset="2"/>
              <a:buChar char="p"/>
              <a:defRPr sz="2000" kern="1200">
                <a:solidFill>
                  <a:schemeClr val="tx1"/>
                </a:solidFill>
                <a:latin typeface="Verdana" panose="020B0604030504040204" pitchFamily="34" charset="0"/>
                <a:ea typeface="宋体" panose="02010600030101010101" pitchFamily="2" charset="-122"/>
                <a:cs typeface="+mn-cs"/>
              </a:defRPr>
            </a:lvl3pPr>
            <a:lvl4pPr marL="1600200" indent="-228600" algn="l" defTabSz="914400" rtl="0" eaLnBrk="1" latinLnBrk="0" hangingPunct="1">
              <a:spcBef>
                <a:spcPct val="20000"/>
              </a:spcBef>
              <a:buClr>
                <a:schemeClr val="bg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4pPr>
            <a:lvl5pPr marL="2057400" indent="-228600" algn="l" defTabSz="914400" rtl="0" eaLnBrk="1" latinLnBrk="0" hangingPunct="1">
              <a:spcBef>
                <a:spcPct val="20000"/>
              </a:spcBef>
              <a:buClr>
                <a:schemeClr val="tx2"/>
              </a:buClr>
              <a:buSzPct val="80000"/>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lr>
                <a:schemeClr val="tx2"/>
              </a:buClr>
              <a:buSzPct val="80000"/>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lr>
                <a:schemeClr val="tx2"/>
              </a:buClr>
              <a:buSzPct val="80000"/>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lr>
                <a:schemeClr val="tx2"/>
              </a:buClr>
              <a:buSzPct val="80000"/>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lr>
                <a:schemeClr val="tx2"/>
              </a:buClr>
              <a:buSzPct val="80000"/>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9pPr>
          </a:lstStyle>
          <a:p>
            <a:pPr>
              <a:spcBef>
                <a:spcPct val="0"/>
              </a:spcBef>
              <a:buClrTx/>
              <a:buSzTx/>
              <a:buFont typeface="Arial" panose="020B0604020202020204" pitchFamily="34" charset="0"/>
              <a:buNone/>
            </a:pPr>
            <a:fld id="{3E8BFBC2-17DB-43E4-9067-594746055A1F}" type="slidenum">
              <a:rPr lang="en-US" altLang="zh-CN" sz="1000" smtClean="0"/>
              <a:pPr>
                <a:spcBef>
                  <a:spcPct val="0"/>
                </a:spcBef>
                <a:buClrTx/>
                <a:buSzTx/>
                <a:buFont typeface="Arial" panose="020B0604020202020204" pitchFamily="34" charset="0"/>
                <a:buNone/>
              </a:pPr>
              <a:t>42</a:t>
            </a:fld>
            <a:endParaRPr lang="zh-CN" altLang="en-US" sz="1000"/>
          </a:p>
        </p:txBody>
      </p:sp>
      <p:sp>
        <p:nvSpPr>
          <p:cNvPr id="4" name="Rectangle 4">
            <a:extLst>
              <a:ext uri="{FF2B5EF4-FFF2-40B4-BE49-F238E27FC236}">
                <a16:creationId xmlns:a16="http://schemas.microsoft.com/office/drawing/2014/main" xmlns="" id="{804B6724-CE96-E705-9E34-07781BF0679E}"/>
              </a:ext>
            </a:extLst>
          </p:cNvPr>
          <p:cNvSpPr>
            <a:spLocks noChangeArrowheads="1"/>
          </p:cNvSpPr>
          <p:nvPr/>
        </p:nvSpPr>
        <p:spPr bwMode="auto">
          <a:xfrm>
            <a:off x="983432" y="1933575"/>
            <a:ext cx="9479334"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50000"/>
              </a:lnSpc>
              <a:buClr>
                <a:schemeClr val="tx1"/>
              </a:buClr>
              <a:buSzTx/>
              <a:buFont typeface="Wingdings" panose="05000000000000000000" pitchFamily="2" charset="2"/>
              <a:buChar char="Ø"/>
            </a:pPr>
            <a:r>
              <a:rPr lang="zh-CN" altLang="en-US" b="1" dirty="0">
                <a:latin typeface="Times New Roman" panose="02020603050405020304" pitchFamily="18" charset="0"/>
              </a:rPr>
              <a:t>定理</a:t>
            </a:r>
            <a:r>
              <a:rPr lang="en-US" altLang="zh-CN" b="1" dirty="0">
                <a:latin typeface="Times New Roman" panose="02020603050405020304" pitchFamily="18" charset="0"/>
              </a:rPr>
              <a:t>2.1</a:t>
            </a:r>
            <a:r>
              <a:rPr lang="zh-CN" altLang="en-US" b="1" dirty="0">
                <a:latin typeface="Times New Roman" panose="02020603050405020304" pitchFamily="18" charset="0"/>
              </a:rPr>
              <a:t>表明，变量</a:t>
            </a:r>
            <a:r>
              <a:rPr lang="en-US" altLang="zh-CN" b="1" i="1" dirty="0">
                <a:latin typeface="Times New Roman" panose="02020603050405020304" pitchFamily="18" charset="0"/>
              </a:rPr>
              <a:t>n</a:t>
            </a:r>
            <a:r>
              <a:rPr lang="zh-CN" altLang="en-US" b="1" dirty="0">
                <a:latin typeface="Times New Roman" panose="02020603050405020304" pitchFamily="18" charset="0"/>
              </a:rPr>
              <a:t>的最高阶数为</a:t>
            </a:r>
            <a:r>
              <a:rPr lang="en-US" altLang="zh-CN" b="1" i="1" dirty="0">
                <a:latin typeface="Times New Roman" panose="02020603050405020304" pitchFamily="18" charset="0"/>
              </a:rPr>
              <a:t>m</a:t>
            </a:r>
            <a:r>
              <a:rPr lang="zh-CN" altLang="en-US" b="1" dirty="0">
                <a:latin typeface="Times New Roman" panose="02020603050405020304" pitchFamily="18" charset="0"/>
              </a:rPr>
              <a:t>的任一多项式，与</a:t>
            </a:r>
            <a:r>
              <a:rPr lang="en-US" altLang="zh-CN" b="1" i="1" dirty="0">
                <a:latin typeface="Times New Roman" panose="02020603050405020304" pitchFamily="18" charset="0"/>
              </a:rPr>
              <a:t>n</a:t>
            </a:r>
            <a:r>
              <a:rPr lang="en-US" altLang="zh-CN" b="1" i="1" baseline="30000" dirty="0">
                <a:latin typeface="Times New Roman" panose="02020603050405020304" pitchFamily="18" charset="0"/>
              </a:rPr>
              <a:t>m</a:t>
            </a:r>
            <a:r>
              <a:rPr lang="zh-CN" altLang="en-US" b="1" dirty="0">
                <a:latin typeface="Times New Roman" panose="02020603050405020304" pitchFamily="18" charset="0"/>
              </a:rPr>
              <a:t>同阶。因此，一个计算时间为</a:t>
            </a:r>
            <a:r>
              <a:rPr lang="en-US" altLang="zh-CN" b="1" i="1" dirty="0">
                <a:latin typeface="Times New Roman" panose="02020603050405020304" pitchFamily="18" charset="0"/>
              </a:rPr>
              <a:t>m</a:t>
            </a:r>
            <a:r>
              <a:rPr lang="zh-CN" altLang="en-US" b="1" dirty="0">
                <a:latin typeface="Times New Roman" panose="02020603050405020304" pitchFamily="18" charset="0"/>
              </a:rPr>
              <a:t>阶多项式的算法，其时间都可以用</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i="1" baseline="30000" dirty="0">
                <a:latin typeface="Times New Roman" panose="02020603050405020304" pitchFamily="18" charset="0"/>
              </a:rPr>
              <a:t>m</a:t>
            </a:r>
            <a:r>
              <a:rPr lang="en-US" altLang="zh-CN" b="1" dirty="0">
                <a:latin typeface="Times New Roman" panose="02020603050405020304" pitchFamily="18" charset="0"/>
              </a:rPr>
              <a:t>)</a:t>
            </a:r>
            <a:r>
              <a:rPr lang="zh-CN" altLang="en-US" b="1" dirty="0">
                <a:latin typeface="Times New Roman" panose="02020603050405020304" pitchFamily="18" charset="0"/>
              </a:rPr>
              <a:t>来表示。</a:t>
            </a:r>
          </a:p>
        </p:txBody>
      </p:sp>
      <p:sp>
        <p:nvSpPr>
          <p:cNvPr id="5" name="Text Box 5">
            <a:extLst>
              <a:ext uri="{FF2B5EF4-FFF2-40B4-BE49-F238E27FC236}">
                <a16:creationId xmlns:a16="http://schemas.microsoft.com/office/drawing/2014/main" xmlns="" id="{EE795D91-C0BE-0814-8F34-957ACA04EF74}"/>
              </a:ext>
            </a:extLst>
          </p:cNvPr>
          <p:cNvSpPr txBox="1">
            <a:spLocks noChangeArrowheads="1"/>
          </p:cNvSpPr>
          <p:nvPr/>
        </p:nvSpPr>
        <p:spPr bwMode="auto">
          <a:xfrm>
            <a:off x="983432" y="3933825"/>
            <a:ext cx="9865096" cy="1949508"/>
          </a:xfrm>
          <a:prstGeom prst="rect">
            <a:avLst/>
          </a:prstGeom>
          <a:noFill/>
          <a:ln>
            <a:noFill/>
          </a:ln>
        </p:spPr>
        <p:txBody>
          <a:bodyPr wrap="square">
            <a:spAutoFit/>
          </a:bodyPr>
          <a:lstStyle>
            <a:lvl1pPr marL="360363" indent="-360363" algn="ctr">
              <a:defRPr sz="2400" b="1">
                <a:solidFill>
                  <a:schemeClr val="tx1"/>
                </a:solidFill>
                <a:latin typeface="Arial" panose="020B0604020202020204" pitchFamily="34" charset="0"/>
                <a:ea typeface="宋体" panose="02010600030101010101" pitchFamily="2" charset="-122"/>
              </a:defRPr>
            </a:lvl1pPr>
            <a:lvl2pPr marL="539750" algn="ctr">
              <a:defRPr sz="2400" b="1">
                <a:solidFill>
                  <a:schemeClr val="tx1"/>
                </a:solidFill>
                <a:latin typeface="Arial" panose="020B0604020202020204" pitchFamily="34" charset="0"/>
                <a:ea typeface="宋体" panose="02010600030101010101" pitchFamily="2" charset="-122"/>
              </a:defRPr>
            </a:lvl2pPr>
            <a:lvl3pPr algn="ctr">
              <a:defRPr sz="2400" b="1">
                <a:solidFill>
                  <a:schemeClr val="tx1"/>
                </a:solidFill>
                <a:latin typeface="Arial" panose="020B0604020202020204" pitchFamily="34" charset="0"/>
                <a:ea typeface="宋体" panose="02010600030101010101" pitchFamily="2" charset="-122"/>
              </a:defRPr>
            </a:lvl3pPr>
            <a:lvl4pPr algn="ctr">
              <a:defRPr sz="2400" b="1">
                <a:solidFill>
                  <a:schemeClr val="tx1"/>
                </a:solidFill>
                <a:latin typeface="Arial" panose="020B0604020202020204" pitchFamily="34" charset="0"/>
                <a:ea typeface="宋体" panose="02010600030101010101" pitchFamily="2" charset="-122"/>
              </a:defRPr>
            </a:lvl4pPr>
            <a:lvl5pPr algn="ctr">
              <a:defRPr sz="2400" b="1">
                <a:solidFill>
                  <a:schemeClr val="tx1"/>
                </a:solidFill>
                <a:latin typeface="Arial" panose="020B0604020202020204" pitchFamily="34" charset="0"/>
                <a:ea typeface="宋体" panose="02010600030101010101" pitchFamily="2" charset="-122"/>
              </a:defRPr>
            </a:lvl5pPr>
            <a:lvl6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6pPr>
            <a:lvl7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7pPr>
            <a:lvl8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8pPr>
            <a:lvl9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9pPr>
          </a:lstStyle>
          <a:p>
            <a:pPr algn="l" eaLnBrk="1" hangingPunct="1">
              <a:lnSpc>
                <a:spcPct val="150000"/>
              </a:lnSpc>
              <a:spcBef>
                <a:spcPct val="20000"/>
              </a:spcBef>
              <a:buClr>
                <a:schemeClr val="tx1"/>
              </a:buClr>
              <a:buFont typeface="Wingdings" panose="05000000000000000000" pitchFamily="2" charset="2"/>
              <a:buChar char="Ø"/>
              <a:defRPr/>
            </a:pPr>
            <a:r>
              <a:rPr lang="en-US" altLang="zh-CN" sz="2800" dirty="0">
                <a:latin typeface="Times New Roman" panose="02020603050405020304" pitchFamily="18" charset="0"/>
              </a:rPr>
              <a:t> </a:t>
            </a:r>
            <a:r>
              <a:rPr lang="zh-CN" altLang="en-US" sz="2800" dirty="0">
                <a:latin typeface="Times New Roman" panose="02020603050405020304" pitchFamily="18" charset="0"/>
              </a:rPr>
              <a:t>若一个算法有数量级为</a:t>
            </a:r>
            <a:r>
              <a:rPr lang="en-US" altLang="zh-CN" sz="2800" i="1" dirty="0">
                <a:latin typeface="Times New Roman" panose="02020603050405020304" pitchFamily="18" charset="0"/>
              </a:rPr>
              <a:t>c</a:t>
            </a:r>
            <a:r>
              <a:rPr lang="en-US" altLang="zh-CN" sz="2800" baseline="-25000" dirty="0">
                <a:latin typeface="Times New Roman" panose="02020603050405020304" pitchFamily="18" charset="0"/>
              </a:rPr>
              <a:t>1</a:t>
            </a:r>
            <a:r>
              <a:rPr lang="en-US" altLang="zh-CN" sz="2800" i="1" dirty="0">
                <a:latin typeface="Times New Roman" panose="02020603050405020304" pitchFamily="18" charset="0"/>
              </a:rPr>
              <a:t>n</a:t>
            </a:r>
            <a:r>
              <a:rPr lang="en-US" altLang="zh-CN" sz="2800" i="1" baseline="30000" dirty="0">
                <a:latin typeface="Times New Roman" panose="02020603050405020304" pitchFamily="18" charset="0"/>
              </a:rPr>
              <a:t>m</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c</a:t>
            </a:r>
            <a:r>
              <a:rPr lang="en-US" altLang="zh-CN" sz="2800" baseline="-25000" dirty="0">
                <a:latin typeface="Times New Roman" panose="02020603050405020304" pitchFamily="18" charset="0"/>
              </a:rPr>
              <a:t>2</a:t>
            </a:r>
            <a:r>
              <a:rPr lang="en-US" altLang="zh-CN" sz="2800" i="1" dirty="0">
                <a:latin typeface="Times New Roman" panose="02020603050405020304" pitchFamily="18" charset="0"/>
              </a:rPr>
              <a:t>n</a:t>
            </a:r>
            <a:r>
              <a:rPr lang="en-US" altLang="zh-CN" sz="2800" i="1" baseline="30000" dirty="0">
                <a:latin typeface="Times New Roman" panose="02020603050405020304" pitchFamily="18" charset="0"/>
              </a:rPr>
              <a:t>m</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a:t>
            </a:r>
            <a:r>
              <a:rPr lang="zh-CN" altLang="en-US" sz="2800" dirty="0">
                <a:effectLst>
                  <a:outerShdw blurRad="38100" dist="38100" dir="2700000" algn="tl">
                    <a:srgbClr val="C0C0C0"/>
                  </a:outerShdw>
                </a:effectLst>
                <a:sym typeface="Symbol" panose="05050102010706020507" pitchFamily="18" charset="2"/>
              </a:rPr>
              <a:t> ，</a:t>
            </a:r>
            <a:r>
              <a:rPr lang="zh-CN" altLang="en-US" sz="2800" dirty="0">
                <a:latin typeface="Times New Roman" panose="02020603050405020304" pitchFamily="18" charset="0"/>
              </a:rPr>
              <a:t> </a:t>
            </a:r>
            <a:r>
              <a:rPr lang="en-US" altLang="zh-CN" sz="2800" i="1" dirty="0" err="1">
                <a:latin typeface="Times New Roman" panose="02020603050405020304" pitchFamily="18" charset="0"/>
              </a:rPr>
              <a:t>c</a:t>
            </a:r>
            <a:r>
              <a:rPr lang="en-US" altLang="zh-CN" sz="2800" i="1" baseline="-25000" dirty="0" err="1">
                <a:latin typeface="Times New Roman" panose="02020603050405020304" pitchFamily="18" charset="0"/>
              </a:rPr>
              <a:t>k</a:t>
            </a:r>
            <a:r>
              <a:rPr lang="en-US" altLang="zh-CN" sz="2800" i="1" dirty="0" err="1">
                <a:latin typeface="Times New Roman" panose="02020603050405020304" pitchFamily="18" charset="0"/>
              </a:rPr>
              <a:t>n</a:t>
            </a:r>
            <a:r>
              <a:rPr lang="en-US" altLang="zh-CN" sz="2800" i="1" baseline="30000" dirty="0" err="1">
                <a:latin typeface="Times New Roman" panose="02020603050405020304" pitchFamily="18" charset="0"/>
              </a:rPr>
              <a:t>mk</a:t>
            </a:r>
            <a:r>
              <a:rPr lang="zh-CN" altLang="en-US" sz="2800" dirty="0">
                <a:latin typeface="Times New Roman" panose="02020603050405020304" pitchFamily="18" charset="0"/>
              </a:rPr>
              <a:t>的</a:t>
            </a:r>
            <a:r>
              <a:rPr lang="en-US" altLang="zh-CN" sz="2800" i="1" dirty="0">
                <a:latin typeface="Times New Roman" panose="02020603050405020304" pitchFamily="18" charset="0"/>
              </a:rPr>
              <a:t>k</a:t>
            </a:r>
            <a:r>
              <a:rPr lang="zh-CN" altLang="en-US" sz="2800" dirty="0">
                <a:latin typeface="Times New Roman" panose="02020603050405020304" pitchFamily="18" charset="0"/>
              </a:rPr>
              <a:t>个语句，则算法的数量级及计算时间就是</a:t>
            </a:r>
            <a:r>
              <a:rPr lang="en-US" altLang="zh-CN" sz="2800" i="1" dirty="0">
                <a:solidFill>
                  <a:srgbClr val="0033CC"/>
                </a:solidFill>
                <a:latin typeface="Times New Roman" panose="02020603050405020304" pitchFamily="18" charset="0"/>
              </a:rPr>
              <a:t>c</a:t>
            </a:r>
            <a:r>
              <a:rPr lang="en-US" altLang="zh-CN" sz="2800" baseline="-25000" dirty="0">
                <a:solidFill>
                  <a:srgbClr val="0033CC"/>
                </a:solidFill>
                <a:latin typeface="Times New Roman" panose="02020603050405020304" pitchFamily="18" charset="0"/>
              </a:rPr>
              <a:t>1</a:t>
            </a:r>
            <a:r>
              <a:rPr lang="en-US" altLang="zh-CN" sz="2800" i="1" dirty="0">
                <a:solidFill>
                  <a:srgbClr val="0033CC"/>
                </a:solidFill>
                <a:latin typeface="Times New Roman" panose="02020603050405020304" pitchFamily="18" charset="0"/>
              </a:rPr>
              <a:t>n</a:t>
            </a:r>
            <a:r>
              <a:rPr lang="en-US" altLang="zh-CN" sz="2800" i="1" baseline="30000" dirty="0">
                <a:solidFill>
                  <a:srgbClr val="0033CC"/>
                </a:solidFill>
                <a:latin typeface="Times New Roman" panose="02020603050405020304" pitchFamily="18" charset="0"/>
              </a:rPr>
              <a:t>m</a:t>
            </a:r>
            <a:r>
              <a:rPr lang="en-US" altLang="zh-CN" sz="2800" baseline="30000" dirty="0">
                <a:solidFill>
                  <a:srgbClr val="0033CC"/>
                </a:solidFill>
                <a:latin typeface="Times New Roman" panose="02020603050405020304" pitchFamily="18" charset="0"/>
              </a:rPr>
              <a:t>1</a:t>
            </a:r>
            <a:r>
              <a:rPr lang="en-US" altLang="zh-CN" sz="2800" dirty="0">
                <a:solidFill>
                  <a:srgbClr val="0033CC"/>
                </a:solidFill>
                <a:latin typeface="Times New Roman" panose="02020603050405020304" pitchFamily="18" charset="0"/>
                <a:sym typeface="Symbol" panose="05050102010706020507" pitchFamily="18" charset="2"/>
              </a:rPr>
              <a:t></a:t>
            </a:r>
            <a:r>
              <a:rPr lang="en-US" altLang="zh-CN" sz="2800" i="1" dirty="0">
                <a:solidFill>
                  <a:srgbClr val="0033CC"/>
                </a:solidFill>
                <a:latin typeface="Times New Roman" panose="02020603050405020304" pitchFamily="18" charset="0"/>
              </a:rPr>
              <a:t>c</a:t>
            </a:r>
            <a:r>
              <a:rPr lang="en-US" altLang="zh-CN" sz="2800" baseline="-25000" dirty="0">
                <a:solidFill>
                  <a:srgbClr val="0033CC"/>
                </a:solidFill>
                <a:latin typeface="Times New Roman" panose="02020603050405020304" pitchFamily="18" charset="0"/>
              </a:rPr>
              <a:t>2</a:t>
            </a:r>
            <a:r>
              <a:rPr lang="en-US" altLang="zh-CN" sz="2800" i="1" dirty="0">
                <a:solidFill>
                  <a:srgbClr val="0033CC"/>
                </a:solidFill>
                <a:latin typeface="Times New Roman" panose="02020603050405020304" pitchFamily="18" charset="0"/>
              </a:rPr>
              <a:t>n</a:t>
            </a:r>
            <a:r>
              <a:rPr lang="en-US" altLang="zh-CN" sz="2800" i="1" baseline="30000" dirty="0">
                <a:solidFill>
                  <a:srgbClr val="0033CC"/>
                </a:solidFill>
                <a:latin typeface="Times New Roman" panose="02020603050405020304" pitchFamily="18" charset="0"/>
              </a:rPr>
              <a:t>m</a:t>
            </a:r>
            <a:r>
              <a:rPr lang="en-US" altLang="zh-CN" sz="2800" baseline="30000" dirty="0">
                <a:solidFill>
                  <a:srgbClr val="0033CC"/>
                </a:solidFill>
                <a:latin typeface="Times New Roman" panose="02020603050405020304" pitchFamily="18" charset="0"/>
              </a:rPr>
              <a:t>2 </a:t>
            </a:r>
            <a:r>
              <a:rPr lang="en-US" altLang="zh-CN" sz="2800" dirty="0">
                <a:solidFill>
                  <a:srgbClr val="0033CC"/>
                </a:solidFill>
                <a:sym typeface="Symbol" panose="05050102010706020507" pitchFamily="18" charset="2"/>
              </a:rPr>
              <a:t></a:t>
            </a:r>
            <a:r>
              <a:rPr lang="en-US" altLang="zh-CN" sz="2800" dirty="0"/>
              <a:t> </a:t>
            </a:r>
            <a:r>
              <a:rPr lang="en-US" altLang="zh-CN" sz="2800" dirty="0">
                <a:solidFill>
                  <a:srgbClr val="0033CC"/>
                </a:solidFill>
                <a:effectLst>
                  <a:outerShdw blurRad="38100" dist="38100" dir="2700000" algn="tl">
                    <a:srgbClr val="C0C0C0"/>
                  </a:outerShdw>
                </a:effectLst>
                <a:sym typeface="Symbol" panose="05050102010706020507" pitchFamily="18" charset="2"/>
              </a:rPr>
              <a:t></a:t>
            </a:r>
            <a:r>
              <a:rPr lang="en-US" altLang="zh-CN" sz="2800" dirty="0">
                <a:solidFill>
                  <a:srgbClr val="0033CC"/>
                </a:solidFill>
                <a:latin typeface="Times New Roman" panose="02020603050405020304" pitchFamily="18" charset="0"/>
              </a:rPr>
              <a:t> </a:t>
            </a:r>
            <a:r>
              <a:rPr lang="en-US" altLang="zh-CN" sz="2800" dirty="0">
                <a:solidFill>
                  <a:srgbClr val="0033CC"/>
                </a:solidFill>
                <a:sym typeface="Symbol" panose="05050102010706020507" pitchFamily="18" charset="2"/>
              </a:rPr>
              <a:t> </a:t>
            </a:r>
            <a:r>
              <a:rPr lang="en-US" altLang="zh-CN" sz="2800" i="1" dirty="0" err="1">
                <a:solidFill>
                  <a:srgbClr val="0033CC"/>
                </a:solidFill>
                <a:latin typeface="Times New Roman" panose="02020603050405020304" pitchFamily="18" charset="0"/>
              </a:rPr>
              <a:t>c</a:t>
            </a:r>
            <a:r>
              <a:rPr lang="en-US" altLang="zh-CN" sz="2800" i="1" baseline="-25000" dirty="0" err="1">
                <a:solidFill>
                  <a:srgbClr val="0033CC"/>
                </a:solidFill>
                <a:latin typeface="Times New Roman" panose="02020603050405020304" pitchFamily="18" charset="0"/>
              </a:rPr>
              <a:t>k</a:t>
            </a:r>
            <a:r>
              <a:rPr lang="en-US" altLang="zh-CN" sz="2800" i="1" dirty="0" err="1">
                <a:solidFill>
                  <a:srgbClr val="0033CC"/>
                </a:solidFill>
                <a:latin typeface="Times New Roman" panose="02020603050405020304" pitchFamily="18" charset="0"/>
              </a:rPr>
              <a:t>n</a:t>
            </a:r>
            <a:r>
              <a:rPr lang="en-US" altLang="zh-CN" sz="2800" i="1" baseline="30000" dirty="0" err="1">
                <a:solidFill>
                  <a:srgbClr val="0033CC"/>
                </a:solidFill>
                <a:latin typeface="Times New Roman" panose="02020603050405020304" pitchFamily="18" charset="0"/>
              </a:rPr>
              <a:t>mk</a:t>
            </a:r>
            <a:r>
              <a:rPr lang="en-US" altLang="zh-CN" sz="2800" i="1" baseline="30000" dirty="0">
                <a:solidFill>
                  <a:srgbClr val="0033CC"/>
                </a:solidFill>
                <a:latin typeface="Times New Roman" panose="02020603050405020304" pitchFamily="18" charset="0"/>
              </a:rPr>
              <a:t> </a:t>
            </a:r>
            <a:r>
              <a:rPr lang="en-US" altLang="zh-CN" sz="2800" dirty="0">
                <a:solidFill>
                  <a:srgbClr val="0033CC"/>
                </a:solidFill>
                <a:latin typeface="Times New Roman" panose="02020603050405020304" pitchFamily="18" charset="0"/>
                <a:sym typeface="Symbol" panose="05050102010706020507" pitchFamily="18" charset="2"/>
              </a:rPr>
              <a:t></a:t>
            </a:r>
            <a:r>
              <a:rPr lang="en-US" altLang="zh-CN" sz="2800" i="1" dirty="0">
                <a:solidFill>
                  <a:srgbClr val="0033CC"/>
                </a:solidFill>
                <a:latin typeface="Times New Roman" panose="02020603050405020304" pitchFamily="18" charset="0"/>
              </a:rPr>
              <a:t>O</a:t>
            </a:r>
            <a:r>
              <a:rPr lang="en-US" altLang="zh-CN" sz="2800" dirty="0">
                <a:solidFill>
                  <a:srgbClr val="0033CC"/>
                </a:solidFill>
                <a:latin typeface="Times New Roman" panose="02020603050405020304" pitchFamily="18" charset="0"/>
              </a:rPr>
              <a:t>(</a:t>
            </a:r>
            <a:r>
              <a:rPr lang="en-US" altLang="zh-CN" sz="2800" i="1" dirty="0">
                <a:solidFill>
                  <a:srgbClr val="0033CC"/>
                </a:solidFill>
                <a:latin typeface="Times New Roman" panose="02020603050405020304" pitchFamily="18" charset="0"/>
              </a:rPr>
              <a:t>n</a:t>
            </a:r>
            <a:r>
              <a:rPr lang="en-US" altLang="zh-CN" sz="2800" i="1" baseline="30000" dirty="0">
                <a:solidFill>
                  <a:srgbClr val="0033CC"/>
                </a:solidFill>
                <a:latin typeface="Times New Roman" panose="02020603050405020304" pitchFamily="18" charset="0"/>
              </a:rPr>
              <a:t>m</a:t>
            </a:r>
            <a:r>
              <a:rPr lang="en-US" altLang="zh-CN" sz="2800" dirty="0">
                <a:solidFill>
                  <a:srgbClr val="0033CC"/>
                </a:solidFill>
                <a:latin typeface="Times New Roman" panose="02020603050405020304" pitchFamily="18" charset="0"/>
              </a:rPr>
              <a:t>)</a:t>
            </a:r>
            <a:r>
              <a:rPr lang="zh-CN" altLang="en-US" sz="2800" dirty="0">
                <a:latin typeface="Times New Roman" panose="02020603050405020304" pitchFamily="18" charset="0"/>
              </a:rPr>
              <a:t>，其中 </a:t>
            </a:r>
            <a:r>
              <a:rPr lang="en-US" altLang="zh-CN" sz="2800" i="1" dirty="0">
                <a:solidFill>
                  <a:srgbClr val="0033CC"/>
                </a:solidFill>
                <a:latin typeface="Times New Roman" panose="02020603050405020304" pitchFamily="18" charset="0"/>
              </a:rPr>
              <a:t>m </a:t>
            </a:r>
            <a:r>
              <a:rPr lang="en-US" altLang="zh-CN" sz="2800" dirty="0">
                <a:solidFill>
                  <a:srgbClr val="0033CC"/>
                </a:solidFill>
                <a:sym typeface="Symbol" panose="05050102010706020507" pitchFamily="18" charset="2"/>
              </a:rPr>
              <a:t></a:t>
            </a:r>
            <a:r>
              <a:rPr lang="en-US" altLang="zh-CN" sz="2800" dirty="0"/>
              <a:t> </a:t>
            </a:r>
            <a:r>
              <a:rPr lang="en-US" altLang="zh-CN" sz="2800" dirty="0">
                <a:solidFill>
                  <a:srgbClr val="0033CC"/>
                </a:solidFill>
                <a:latin typeface="Times New Roman" panose="02020603050405020304" pitchFamily="18" charset="0"/>
              </a:rPr>
              <a:t>max{</a:t>
            </a:r>
            <a:r>
              <a:rPr lang="en-US" altLang="zh-CN" sz="2800" i="1" dirty="0">
                <a:solidFill>
                  <a:srgbClr val="0033CC"/>
                </a:solidFill>
                <a:latin typeface="Times New Roman" panose="02020603050405020304" pitchFamily="18" charset="0"/>
              </a:rPr>
              <a:t>m</a:t>
            </a:r>
            <a:r>
              <a:rPr lang="en-US" altLang="zh-CN" sz="2800" i="1" baseline="-25000" dirty="0">
                <a:solidFill>
                  <a:srgbClr val="0033CC"/>
                </a:solidFill>
                <a:latin typeface="Times New Roman" panose="02020603050405020304" pitchFamily="18" charset="0"/>
              </a:rPr>
              <a:t>i</a:t>
            </a:r>
            <a:r>
              <a:rPr lang="en-US" altLang="zh-CN" sz="2800" dirty="0">
                <a:solidFill>
                  <a:srgbClr val="0033CC"/>
                </a:solidFill>
                <a:latin typeface="Times New Roman" panose="02020603050405020304" pitchFamily="18" charset="0"/>
              </a:rPr>
              <a:t>|1</a:t>
            </a:r>
            <a:r>
              <a:rPr lang="en-US" altLang="zh-CN" sz="2800" dirty="0">
                <a:solidFill>
                  <a:srgbClr val="0033CC"/>
                </a:solidFill>
                <a:latin typeface="Times New Roman" panose="02020603050405020304" pitchFamily="18" charset="0"/>
                <a:sym typeface="Symbol" panose="05050102010706020507" pitchFamily="18" charset="2"/>
              </a:rPr>
              <a:t></a:t>
            </a:r>
            <a:r>
              <a:rPr lang="en-US" altLang="zh-CN" sz="2800" dirty="0">
                <a:solidFill>
                  <a:srgbClr val="0033CC"/>
                </a:solidFill>
                <a:latin typeface="Times New Roman" panose="02020603050405020304" pitchFamily="18" charset="0"/>
              </a:rPr>
              <a:t> </a:t>
            </a:r>
            <a:r>
              <a:rPr lang="en-US" altLang="zh-CN" sz="2800" i="1" dirty="0" err="1">
                <a:solidFill>
                  <a:srgbClr val="0033CC"/>
                </a:solidFill>
                <a:latin typeface="Times New Roman" panose="02020603050405020304" pitchFamily="18" charset="0"/>
              </a:rPr>
              <a:t>i</a:t>
            </a:r>
            <a:r>
              <a:rPr lang="en-US" altLang="zh-CN" sz="2800" i="1" dirty="0">
                <a:solidFill>
                  <a:srgbClr val="0033CC"/>
                </a:solidFill>
                <a:latin typeface="Times New Roman" panose="02020603050405020304" pitchFamily="18" charset="0"/>
              </a:rPr>
              <a:t> </a:t>
            </a:r>
            <a:r>
              <a:rPr lang="en-US" altLang="zh-CN" sz="2800" dirty="0">
                <a:solidFill>
                  <a:srgbClr val="0033CC"/>
                </a:solidFill>
                <a:sym typeface="Symbol" panose="05050102010706020507" pitchFamily="18" charset="2"/>
              </a:rPr>
              <a:t></a:t>
            </a:r>
            <a:r>
              <a:rPr lang="en-US" altLang="zh-CN" sz="2800" dirty="0">
                <a:solidFill>
                  <a:srgbClr val="0033CC"/>
                </a:solidFill>
                <a:latin typeface="Times New Roman" panose="02020603050405020304" pitchFamily="18" charset="0"/>
              </a:rPr>
              <a:t> </a:t>
            </a:r>
            <a:r>
              <a:rPr lang="en-US" altLang="zh-CN" sz="2800" i="1" dirty="0">
                <a:solidFill>
                  <a:srgbClr val="0033CC"/>
                </a:solidFill>
                <a:latin typeface="Times New Roman" panose="02020603050405020304" pitchFamily="18" charset="0"/>
              </a:rPr>
              <a:t>k</a:t>
            </a:r>
            <a:r>
              <a:rPr lang="en-US" altLang="zh-CN" sz="2800" dirty="0">
                <a:solidFill>
                  <a:srgbClr val="0033CC"/>
                </a:solidFill>
                <a:latin typeface="Times New Roman" panose="02020603050405020304" pitchFamily="18" charset="0"/>
              </a:rPr>
              <a:t>}</a:t>
            </a:r>
          </a:p>
        </p:txBody>
      </p:sp>
      <p:sp>
        <p:nvSpPr>
          <p:cNvPr id="6" name="Rectangle 3">
            <a:extLst>
              <a:ext uri="{FF2B5EF4-FFF2-40B4-BE49-F238E27FC236}">
                <a16:creationId xmlns:a16="http://schemas.microsoft.com/office/drawing/2014/main" xmlns="" id="{F3BCDC7B-BD44-9CC7-ECE5-BC78346EE93D}"/>
              </a:ext>
            </a:extLst>
          </p:cNvPr>
          <p:cNvSpPr>
            <a:spLocks noChangeArrowheads="1"/>
          </p:cNvSpPr>
          <p:nvPr/>
        </p:nvSpPr>
        <p:spPr bwMode="auto">
          <a:xfrm>
            <a:off x="839416" y="441326"/>
            <a:ext cx="9479334" cy="1223963"/>
          </a:xfrm>
          <a:prstGeom prst="rect">
            <a:avLst/>
          </a:prstGeom>
          <a:solidFill>
            <a:srgbClr val="CCFFFF"/>
          </a:solidFill>
          <a:ln w="9525">
            <a:solidFill>
              <a:schemeClr val="tx1"/>
            </a:solidFill>
            <a:miter lim="800000"/>
            <a:headEnd/>
            <a:tailEnd/>
          </a:ln>
        </p:spPr>
        <p:txBody>
          <a:bodyPr/>
          <a:lstStyle>
            <a:lvl1pPr marL="342900" indent="-342900" algn="ctr">
              <a:defRPr sz="2400" b="1">
                <a:solidFill>
                  <a:schemeClr val="tx1"/>
                </a:solidFill>
                <a:latin typeface="Arial" panose="020B0604020202020204" pitchFamily="34" charset="0"/>
                <a:ea typeface="宋体" panose="02010600030101010101" pitchFamily="2" charset="-122"/>
              </a:defRPr>
            </a:lvl1pPr>
            <a:lvl2pPr algn="ctr">
              <a:defRPr sz="2400" b="1">
                <a:solidFill>
                  <a:schemeClr val="tx1"/>
                </a:solidFill>
                <a:latin typeface="Arial" panose="020B0604020202020204" pitchFamily="34" charset="0"/>
                <a:ea typeface="宋体" panose="02010600030101010101" pitchFamily="2" charset="-122"/>
              </a:defRPr>
            </a:lvl2pPr>
            <a:lvl3pPr algn="ctr">
              <a:defRPr sz="2400" b="1">
                <a:solidFill>
                  <a:schemeClr val="tx1"/>
                </a:solidFill>
                <a:latin typeface="Arial" panose="020B0604020202020204" pitchFamily="34" charset="0"/>
                <a:ea typeface="宋体" panose="02010600030101010101" pitchFamily="2" charset="-122"/>
              </a:defRPr>
            </a:lvl3pPr>
            <a:lvl4pPr algn="ctr">
              <a:defRPr sz="2400" b="1">
                <a:solidFill>
                  <a:schemeClr val="tx1"/>
                </a:solidFill>
                <a:latin typeface="Arial" panose="020B0604020202020204" pitchFamily="34" charset="0"/>
                <a:ea typeface="宋体" panose="02010600030101010101" pitchFamily="2" charset="-122"/>
              </a:defRPr>
            </a:lvl4pPr>
            <a:lvl5pPr algn="ctr">
              <a:defRPr sz="2400" b="1">
                <a:solidFill>
                  <a:schemeClr val="tx1"/>
                </a:solidFill>
                <a:latin typeface="Arial" panose="020B0604020202020204" pitchFamily="34" charset="0"/>
                <a:ea typeface="宋体" panose="02010600030101010101" pitchFamily="2" charset="-122"/>
              </a:defRPr>
            </a:lvl5pPr>
            <a:lvl6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6pPr>
            <a:lvl7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7pPr>
            <a:lvl8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8pPr>
            <a:lvl9pPr algn="ctr" fontAlgn="base">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9pPr>
          </a:lstStyle>
          <a:p>
            <a:pPr marL="0" indent="0" algn="l" eaLnBrk="1" hangingPunct="1">
              <a:lnSpc>
                <a:spcPct val="110000"/>
              </a:lnSpc>
              <a:spcBef>
                <a:spcPct val="20000"/>
              </a:spcBef>
              <a:buClr>
                <a:schemeClr val="bg2"/>
              </a:buClr>
              <a:buSzPct val="75000"/>
              <a:defRPr/>
            </a:pPr>
            <a:r>
              <a:rPr lang="zh-CN" altLang="en-US" sz="3200" dirty="0">
                <a:effectLst>
                  <a:outerShdw blurRad="38100" dist="38100" dir="2700000" algn="tl">
                    <a:srgbClr val="FFFFFF"/>
                  </a:outerShdw>
                </a:effectLst>
                <a:latin typeface="Times New Roman" panose="02020603050405020304" pitchFamily="18" charset="0"/>
              </a:rPr>
              <a:t>若</a:t>
            </a:r>
            <a:r>
              <a:rPr lang="en-US" altLang="zh-CN" sz="3200" dirty="0">
                <a:effectLst>
                  <a:outerShdw blurRad="38100" dist="38100" dir="2700000" algn="tl">
                    <a:srgbClr val="FFFFFF"/>
                  </a:outerShdw>
                </a:effectLst>
                <a:latin typeface="Times New Roman" panose="02020603050405020304" pitchFamily="18" charset="0"/>
              </a:rPr>
              <a:t>A(</a:t>
            </a:r>
            <a:r>
              <a:rPr lang="en-US" altLang="zh-CN" sz="3200" i="1" dirty="0">
                <a:effectLst>
                  <a:outerShdw blurRad="38100" dist="38100" dir="2700000" algn="tl">
                    <a:srgbClr val="FFFFFF"/>
                  </a:outerShdw>
                </a:effectLst>
                <a:latin typeface="Times New Roman" panose="02020603050405020304" pitchFamily="18" charset="0"/>
              </a:rPr>
              <a:t>n</a:t>
            </a:r>
            <a:r>
              <a:rPr lang="en-US" altLang="zh-CN" sz="3200" dirty="0">
                <a:effectLst>
                  <a:outerShdw blurRad="38100" dist="38100" dir="2700000" algn="tl">
                    <a:srgbClr val="FFFFFF"/>
                  </a:outerShdw>
                </a:effectLst>
                <a:latin typeface="Times New Roman" panose="02020603050405020304" pitchFamily="18" charset="0"/>
              </a:rPr>
              <a:t>)</a:t>
            </a:r>
            <a:r>
              <a:rPr lang="en-US" altLang="zh-CN" sz="3200" dirty="0">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sz="3200" i="1" dirty="0" err="1">
                <a:effectLst>
                  <a:outerShdw blurRad="38100" dist="38100" dir="2700000" algn="tl">
                    <a:srgbClr val="FFFFFF"/>
                  </a:outerShdw>
                </a:effectLst>
                <a:latin typeface="Times New Roman" panose="02020603050405020304" pitchFamily="18" charset="0"/>
              </a:rPr>
              <a:t>a</a:t>
            </a:r>
            <a:r>
              <a:rPr lang="en-US" altLang="zh-CN" sz="3200" i="1" baseline="-25000" dirty="0" err="1">
                <a:effectLst>
                  <a:outerShdw blurRad="38100" dist="38100" dir="2700000" algn="tl">
                    <a:srgbClr val="FFFFFF"/>
                  </a:outerShdw>
                </a:effectLst>
                <a:latin typeface="Times New Roman" panose="02020603050405020304" pitchFamily="18" charset="0"/>
              </a:rPr>
              <a:t>m</a:t>
            </a:r>
            <a:r>
              <a:rPr lang="en-US" altLang="zh-CN" sz="3200" i="1" dirty="0" err="1">
                <a:effectLst>
                  <a:outerShdw blurRad="38100" dist="38100" dir="2700000" algn="tl">
                    <a:srgbClr val="FFFFFF"/>
                  </a:outerShdw>
                </a:effectLst>
                <a:latin typeface="Times New Roman" panose="02020603050405020304" pitchFamily="18" charset="0"/>
              </a:rPr>
              <a:t>n</a:t>
            </a:r>
            <a:r>
              <a:rPr lang="en-US" altLang="zh-CN" sz="3200" i="1" baseline="30000" dirty="0" err="1">
                <a:effectLst>
                  <a:outerShdw blurRad="38100" dist="38100" dir="2700000" algn="tl">
                    <a:srgbClr val="FFFFFF"/>
                  </a:outerShdw>
                </a:effectLst>
                <a:latin typeface="Times New Roman" panose="02020603050405020304" pitchFamily="18" charset="0"/>
              </a:rPr>
              <a:t>m</a:t>
            </a:r>
            <a:r>
              <a:rPr lang="en-US" altLang="zh-CN" sz="3200" baseline="30000" dirty="0">
                <a:effectLst>
                  <a:outerShdw blurRad="38100" dist="38100" dir="2700000" algn="tl">
                    <a:srgbClr val="FFFFFF"/>
                  </a:outerShdw>
                </a:effectLst>
                <a:latin typeface="Times New Roman" panose="02020603050405020304" pitchFamily="18" charset="0"/>
              </a:rPr>
              <a:t> </a:t>
            </a:r>
            <a:r>
              <a:rPr lang="en-US" altLang="zh-CN" sz="3200" dirty="0">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sz="3200" dirty="0">
                <a:effectLst>
                  <a:outerShdw blurRad="38100" dist="38100" dir="2700000" algn="tl">
                    <a:srgbClr val="FFFFFF"/>
                  </a:outerShdw>
                </a:effectLst>
                <a:latin typeface="Times New Roman" panose="02020603050405020304" pitchFamily="18" charset="0"/>
              </a:rPr>
              <a:t> </a:t>
            </a:r>
            <a:r>
              <a:rPr lang="en-US" altLang="zh-CN" sz="3200" dirty="0">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sz="3200" dirty="0">
                <a:effectLst>
                  <a:outerShdw blurRad="38100" dist="38100" dir="2700000" algn="tl">
                    <a:srgbClr val="FFFFFF"/>
                  </a:outerShdw>
                </a:effectLst>
                <a:latin typeface="Times New Roman" panose="02020603050405020304" pitchFamily="18" charset="0"/>
              </a:rPr>
              <a:t> </a:t>
            </a:r>
            <a:r>
              <a:rPr lang="en-US" altLang="zh-CN" sz="3200" dirty="0">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sz="3200" dirty="0">
                <a:effectLst>
                  <a:outerShdw blurRad="38100" dist="38100" dir="2700000" algn="tl">
                    <a:srgbClr val="FFFFFF"/>
                  </a:outerShdw>
                </a:effectLst>
                <a:latin typeface="Times New Roman" panose="02020603050405020304" pitchFamily="18" charset="0"/>
              </a:rPr>
              <a:t> </a:t>
            </a:r>
            <a:r>
              <a:rPr lang="en-US" altLang="zh-CN" sz="3200" i="1" dirty="0">
                <a:effectLst>
                  <a:outerShdw blurRad="38100" dist="38100" dir="2700000" algn="tl">
                    <a:srgbClr val="FFFFFF"/>
                  </a:outerShdw>
                </a:effectLst>
                <a:latin typeface="Times New Roman" panose="02020603050405020304" pitchFamily="18" charset="0"/>
              </a:rPr>
              <a:t>a</a:t>
            </a:r>
            <a:r>
              <a:rPr lang="en-US" altLang="zh-CN" sz="3200" baseline="-25000" dirty="0">
                <a:effectLst>
                  <a:outerShdw blurRad="38100" dist="38100" dir="2700000" algn="tl">
                    <a:srgbClr val="FFFFFF"/>
                  </a:outerShdw>
                </a:effectLst>
                <a:latin typeface="Times New Roman" panose="02020603050405020304" pitchFamily="18" charset="0"/>
              </a:rPr>
              <a:t>1</a:t>
            </a:r>
            <a:r>
              <a:rPr lang="en-US" altLang="zh-CN" sz="3200" i="1" dirty="0">
                <a:effectLst>
                  <a:outerShdw blurRad="38100" dist="38100" dir="2700000" algn="tl">
                    <a:srgbClr val="FFFFFF"/>
                  </a:outerShdw>
                </a:effectLst>
                <a:latin typeface="Times New Roman" panose="02020603050405020304" pitchFamily="18" charset="0"/>
              </a:rPr>
              <a:t>n</a:t>
            </a:r>
            <a:r>
              <a:rPr lang="en-US" altLang="zh-CN" sz="3200" dirty="0">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sz="3200" i="1" dirty="0">
                <a:effectLst>
                  <a:outerShdw blurRad="38100" dist="38100" dir="2700000" algn="tl">
                    <a:srgbClr val="FFFFFF"/>
                  </a:outerShdw>
                </a:effectLst>
                <a:latin typeface="Times New Roman" panose="02020603050405020304" pitchFamily="18" charset="0"/>
              </a:rPr>
              <a:t>a</a:t>
            </a:r>
            <a:r>
              <a:rPr lang="en-US" altLang="zh-CN" sz="3200" baseline="-25000" dirty="0">
                <a:effectLst>
                  <a:outerShdw blurRad="38100" dist="38100" dir="2700000" algn="tl">
                    <a:srgbClr val="FFFFFF"/>
                  </a:outerShdw>
                </a:effectLst>
                <a:latin typeface="Times New Roman" panose="02020603050405020304" pitchFamily="18" charset="0"/>
              </a:rPr>
              <a:t>0</a:t>
            </a:r>
            <a:r>
              <a:rPr lang="zh-CN" altLang="en-US" sz="3200" dirty="0">
                <a:effectLst>
                  <a:outerShdw blurRad="38100" dist="38100" dir="2700000" algn="tl">
                    <a:srgbClr val="FFFFFF"/>
                  </a:outerShdw>
                </a:effectLst>
                <a:latin typeface="Times New Roman" panose="02020603050405020304" pitchFamily="18" charset="0"/>
              </a:rPr>
              <a:t>是一个</a:t>
            </a:r>
            <a:r>
              <a:rPr lang="en-US" altLang="zh-CN" sz="3200" i="1" dirty="0">
                <a:effectLst>
                  <a:outerShdw blurRad="38100" dist="38100" dir="2700000" algn="tl">
                    <a:srgbClr val="FFFFFF"/>
                  </a:outerShdw>
                </a:effectLst>
                <a:latin typeface="Times New Roman" panose="02020603050405020304" pitchFamily="18" charset="0"/>
              </a:rPr>
              <a:t>m</a:t>
            </a:r>
            <a:r>
              <a:rPr lang="zh-CN" altLang="en-US" sz="3200" dirty="0">
                <a:effectLst>
                  <a:outerShdw blurRad="38100" dist="38100" dir="2700000" algn="tl">
                    <a:srgbClr val="FFFFFF"/>
                  </a:outerShdw>
                </a:effectLst>
                <a:latin typeface="Times New Roman" panose="02020603050405020304" pitchFamily="18" charset="0"/>
              </a:rPr>
              <a:t>次多项式，则</a:t>
            </a:r>
            <a:r>
              <a:rPr lang="en-US" altLang="zh-CN" sz="3200" dirty="0">
                <a:effectLst>
                  <a:outerShdw blurRad="38100" dist="38100" dir="2700000" algn="tl">
                    <a:srgbClr val="FFFFFF"/>
                  </a:outerShdw>
                </a:effectLst>
                <a:latin typeface="Times New Roman" panose="02020603050405020304" pitchFamily="18" charset="0"/>
              </a:rPr>
              <a:t>A(</a:t>
            </a:r>
            <a:r>
              <a:rPr lang="en-US" altLang="zh-CN" sz="3200" i="1" dirty="0">
                <a:effectLst>
                  <a:outerShdw blurRad="38100" dist="38100" dir="2700000" algn="tl">
                    <a:srgbClr val="FFFFFF"/>
                  </a:outerShdw>
                </a:effectLst>
                <a:latin typeface="Times New Roman" panose="02020603050405020304" pitchFamily="18" charset="0"/>
              </a:rPr>
              <a:t>n</a:t>
            </a:r>
            <a:r>
              <a:rPr lang="en-US" altLang="zh-CN" sz="3200" dirty="0">
                <a:effectLst>
                  <a:outerShdw blurRad="38100" dist="38100" dir="2700000" algn="tl">
                    <a:srgbClr val="FFFFFF"/>
                  </a:outerShdw>
                </a:effectLst>
                <a:latin typeface="Times New Roman" panose="02020603050405020304" pitchFamily="18" charset="0"/>
              </a:rPr>
              <a:t>) </a:t>
            </a:r>
            <a:r>
              <a:rPr lang="en-US" altLang="zh-CN" sz="3200" dirty="0">
                <a:effectLst>
                  <a:outerShdw blurRad="38100" dist="38100" dir="2700000" algn="tl">
                    <a:srgbClr val="FFFFFF"/>
                  </a:outerShdw>
                </a:effectLst>
                <a:latin typeface="Times New Roman" panose="02020603050405020304" pitchFamily="18" charset="0"/>
                <a:sym typeface="Symbol" panose="05050102010706020507" pitchFamily="18" charset="2"/>
              </a:rPr>
              <a:t></a:t>
            </a:r>
            <a:r>
              <a:rPr lang="en-US" altLang="zh-CN" sz="3200" dirty="0">
                <a:effectLst>
                  <a:outerShdw blurRad="38100" dist="38100" dir="2700000" algn="tl">
                    <a:srgbClr val="FFFFFF"/>
                  </a:outerShdw>
                </a:effectLst>
                <a:latin typeface="Times New Roman" panose="02020603050405020304" pitchFamily="18" charset="0"/>
              </a:rPr>
              <a:t> </a:t>
            </a:r>
            <a:r>
              <a:rPr lang="en-US" altLang="zh-CN" sz="3200" i="1" dirty="0">
                <a:effectLst>
                  <a:outerShdw blurRad="38100" dist="38100" dir="2700000" algn="tl">
                    <a:srgbClr val="FFFFFF"/>
                  </a:outerShdw>
                </a:effectLst>
                <a:latin typeface="Times New Roman" panose="02020603050405020304" pitchFamily="18" charset="0"/>
              </a:rPr>
              <a:t>O</a:t>
            </a:r>
            <a:r>
              <a:rPr lang="en-US" altLang="zh-CN" sz="3200" dirty="0">
                <a:effectLst>
                  <a:outerShdw blurRad="38100" dist="38100" dir="2700000" algn="tl">
                    <a:srgbClr val="FFFFFF"/>
                  </a:outerShdw>
                </a:effectLst>
                <a:latin typeface="Times New Roman" panose="02020603050405020304" pitchFamily="18" charset="0"/>
              </a:rPr>
              <a:t>(</a:t>
            </a:r>
            <a:r>
              <a:rPr lang="en-US" altLang="zh-CN" sz="3200" i="1" dirty="0">
                <a:effectLst>
                  <a:outerShdw blurRad="38100" dist="38100" dir="2700000" algn="tl">
                    <a:srgbClr val="FFFFFF"/>
                  </a:outerShdw>
                </a:effectLst>
                <a:latin typeface="Times New Roman" panose="02020603050405020304" pitchFamily="18" charset="0"/>
              </a:rPr>
              <a:t>n</a:t>
            </a:r>
            <a:r>
              <a:rPr lang="en-US" altLang="zh-CN" sz="3200" i="1" baseline="30000" dirty="0">
                <a:effectLst>
                  <a:outerShdw blurRad="38100" dist="38100" dir="2700000" algn="tl">
                    <a:srgbClr val="FFFFFF"/>
                  </a:outerShdw>
                </a:effectLst>
                <a:latin typeface="Times New Roman" panose="02020603050405020304" pitchFamily="18" charset="0"/>
              </a:rPr>
              <a:t>m</a:t>
            </a:r>
            <a:r>
              <a:rPr lang="en-US" altLang="zh-CN" sz="3200" dirty="0">
                <a:effectLst>
                  <a:outerShdw blurRad="38100" dist="38100" dir="2700000" algn="tl">
                    <a:srgbClr val="FFFFFF"/>
                  </a:outerShdw>
                </a:effectLst>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数量级对算法有效性的影响</a:t>
            </a:r>
          </a:p>
        </p:txBody>
      </p:sp>
      <p:sp>
        <p:nvSpPr>
          <p:cNvPr id="3" name="内容占位符 2"/>
          <p:cNvSpPr>
            <a:spLocks noGrp="1"/>
          </p:cNvSpPr>
          <p:nvPr>
            <p:ph idx="1"/>
          </p:nvPr>
        </p:nvSpPr>
        <p:spPr>
          <a:xfrm>
            <a:off x="838200" y="1697920"/>
            <a:ext cx="10370368" cy="4351338"/>
          </a:xfrm>
        </p:spPr>
        <p:txBody>
          <a:bodyPr/>
          <a:lstStyle/>
          <a:p>
            <a:r>
              <a:rPr kumimoji="1" lang="zh-CN" altLang="en-US" dirty="0"/>
              <a:t>从计算时间上，算法可以分为两类：</a:t>
            </a:r>
            <a:endParaRPr kumimoji="1" lang="en-US" altLang="zh-CN" dirty="0"/>
          </a:p>
          <a:p>
            <a:pPr lvl="1"/>
            <a:r>
              <a:rPr kumimoji="1" lang="zh-CN" altLang="en-US" dirty="0">
                <a:latin typeface="Verdana" pitchFamily="34" charset="0"/>
              </a:rPr>
              <a:t>多项式时间算法</a:t>
            </a:r>
            <a:r>
              <a:rPr kumimoji="1" lang="en-US" altLang="zh-CN" dirty="0"/>
              <a:t>(polynomial time algorithm):</a:t>
            </a:r>
            <a:r>
              <a:rPr kumimoji="1" lang="zh-CN" altLang="en-US" dirty="0">
                <a:latin typeface="Verdana" pitchFamily="34" charset="0"/>
              </a:rPr>
              <a:t>用多项式来对其计算时间限界的算法</a:t>
            </a:r>
            <a:endParaRPr kumimoji="1" lang="en-US" altLang="zh-CN" dirty="0">
              <a:latin typeface="Verdana" pitchFamily="34" charset="0"/>
            </a:endParaRPr>
          </a:p>
          <a:p>
            <a:pPr marL="457200" lvl="1" indent="0" algn="ctr">
              <a:buNone/>
            </a:pPr>
            <a:r>
              <a:rPr kumimoji="1" lang="en-US" altLang="zh-CN" sz="2800" dirty="0">
                <a:solidFill>
                  <a:srgbClr val="FF0000"/>
                </a:solidFill>
                <a:latin typeface="Times New Roman" pitchFamily="18" charset="0"/>
              </a:rPr>
              <a:t>O(1)&lt;O(</a:t>
            </a:r>
            <a:r>
              <a:rPr kumimoji="1" lang="en-US" altLang="zh-CN" sz="2800" dirty="0" err="1">
                <a:solidFill>
                  <a:srgbClr val="FF0000"/>
                </a:solidFill>
                <a:latin typeface="Times New Roman" pitchFamily="18" charset="0"/>
              </a:rPr>
              <a:t>logn</a:t>
            </a:r>
            <a:r>
              <a:rPr kumimoji="1" lang="en-US" altLang="zh-CN" sz="2800" dirty="0">
                <a:solidFill>
                  <a:srgbClr val="FF0000"/>
                </a:solidFill>
                <a:latin typeface="Times New Roman" pitchFamily="18" charset="0"/>
              </a:rPr>
              <a:t>)&lt;O(n)&lt;O(</a:t>
            </a:r>
            <a:r>
              <a:rPr kumimoji="1" lang="en-US" altLang="zh-CN" sz="2800" dirty="0" err="1">
                <a:solidFill>
                  <a:srgbClr val="FF0000"/>
                </a:solidFill>
                <a:latin typeface="Times New Roman" pitchFamily="18" charset="0"/>
              </a:rPr>
              <a:t>nlogn</a:t>
            </a:r>
            <a:r>
              <a:rPr kumimoji="1" lang="en-US" altLang="zh-CN" sz="2800" dirty="0">
                <a:solidFill>
                  <a:srgbClr val="FF0000"/>
                </a:solidFill>
                <a:latin typeface="Times New Roman" pitchFamily="18" charset="0"/>
              </a:rPr>
              <a:t>)&lt;O(n</a:t>
            </a:r>
            <a:r>
              <a:rPr kumimoji="1" lang="en-US" altLang="zh-CN" sz="2800" baseline="30000" dirty="0">
                <a:solidFill>
                  <a:srgbClr val="FF0000"/>
                </a:solidFill>
                <a:latin typeface="Times New Roman" pitchFamily="18" charset="0"/>
              </a:rPr>
              <a:t>2</a:t>
            </a:r>
            <a:r>
              <a:rPr kumimoji="1" lang="en-US" altLang="zh-CN" sz="2800" dirty="0">
                <a:solidFill>
                  <a:srgbClr val="FF0000"/>
                </a:solidFill>
                <a:latin typeface="Times New Roman" pitchFamily="18" charset="0"/>
              </a:rPr>
              <a:t>)&lt;O(n</a:t>
            </a:r>
            <a:r>
              <a:rPr kumimoji="1" lang="en-US" altLang="zh-CN" sz="2800" baseline="30000" dirty="0">
                <a:solidFill>
                  <a:srgbClr val="FF0000"/>
                </a:solidFill>
                <a:latin typeface="Times New Roman" pitchFamily="18" charset="0"/>
              </a:rPr>
              <a:t>3</a:t>
            </a:r>
            <a:r>
              <a:rPr kumimoji="1" lang="en-US" altLang="zh-CN" sz="2800" dirty="0">
                <a:solidFill>
                  <a:srgbClr val="FF0000"/>
                </a:solidFill>
                <a:latin typeface="Times New Roman" pitchFamily="18" charset="0"/>
              </a:rPr>
              <a:t>)</a:t>
            </a:r>
          </a:p>
          <a:p>
            <a:pPr lvl="1"/>
            <a:r>
              <a:rPr kumimoji="1" lang="zh-CN" altLang="en-US" dirty="0">
                <a:latin typeface="Verdana" pitchFamily="34" charset="0"/>
              </a:rPr>
              <a:t>指数时间算法</a:t>
            </a:r>
            <a:r>
              <a:rPr kumimoji="1" lang="en-US" altLang="zh-CN" dirty="0"/>
              <a:t>(exponential time algorithm):</a:t>
            </a:r>
            <a:r>
              <a:rPr kumimoji="1" lang="zh-CN" altLang="en-US" dirty="0">
                <a:latin typeface="Verdana" pitchFamily="34" charset="0"/>
              </a:rPr>
              <a:t>计算时间用指数函数限界的算法</a:t>
            </a:r>
            <a:endParaRPr kumimoji="1" lang="en-US" altLang="zh-CN" dirty="0">
              <a:latin typeface="Verdana" pitchFamily="34" charset="0"/>
            </a:endParaRPr>
          </a:p>
          <a:p>
            <a:pPr marL="457200" lvl="1" indent="0" algn="ctr">
              <a:buNone/>
            </a:pPr>
            <a:r>
              <a:rPr kumimoji="1" lang="en-US" altLang="zh-CN" sz="2800" dirty="0">
                <a:solidFill>
                  <a:srgbClr val="FF0000"/>
                </a:solidFill>
                <a:latin typeface="Times New Roman" pitchFamily="18" charset="0"/>
              </a:rPr>
              <a:t>O(2</a:t>
            </a:r>
            <a:r>
              <a:rPr kumimoji="1" lang="en-US" altLang="zh-CN" sz="2800" baseline="30000" dirty="0">
                <a:solidFill>
                  <a:srgbClr val="FF0000"/>
                </a:solidFill>
                <a:latin typeface="Times New Roman" pitchFamily="18" charset="0"/>
              </a:rPr>
              <a:t>n</a:t>
            </a:r>
            <a:r>
              <a:rPr kumimoji="1" lang="en-US" altLang="zh-CN" sz="2800" dirty="0">
                <a:solidFill>
                  <a:srgbClr val="FF0000"/>
                </a:solidFill>
                <a:latin typeface="Times New Roman" pitchFamily="18" charset="0"/>
              </a:rPr>
              <a:t>)&lt;O(n!)&lt;O(</a:t>
            </a:r>
            <a:r>
              <a:rPr kumimoji="1" lang="en-US" altLang="zh-CN" sz="2800" dirty="0" err="1">
                <a:solidFill>
                  <a:srgbClr val="FF0000"/>
                </a:solidFill>
                <a:latin typeface="Times New Roman" pitchFamily="18" charset="0"/>
              </a:rPr>
              <a:t>n</a:t>
            </a:r>
            <a:r>
              <a:rPr kumimoji="1" lang="en-US" altLang="zh-CN" sz="2800" baseline="30000" dirty="0" err="1">
                <a:solidFill>
                  <a:srgbClr val="FF0000"/>
                </a:solidFill>
                <a:latin typeface="Times New Roman" pitchFamily="18" charset="0"/>
              </a:rPr>
              <a:t>n</a:t>
            </a:r>
            <a:r>
              <a:rPr kumimoji="1" lang="en-US" altLang="zh-CN" sz="2800" dirty="0">
                <a:solidFill>
                  <a:srgbClr val="FF0000"/>
                </a:solidFill>
                <a:latin typeface="Times New Roman" pitchFamily="18" charset="0"/>
              </a:rPr>
              <a:t>)</a:t>
            </a:r>
          </a:p>
          <a:p>
            <a:pPr lvl="1"/>
            <a:endParaRPr kumimoji="1" lang="en-US" altLang="zh-CN" sz="3200" b="1" dirty="0">
              <a:solidFill>
                <a:srgbClr val="0000FF"/>
              </a:solidFill>
              <a:latin typeface="Times New Roman" pitchFamily="18" charset="0"/>
            </a:endParaRPr>
          </a:p>
          <a:p>
            <a:pPr lvl="1"/>
            <a:endParaRPr kumimoji="1"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43</a:t>
            </a:fld>
            <a:endParaRPr lang="en-US" altLang="zh-CN"/>
          </a:p>
        </p:txBody>
      </p:sp>
    </p:spTree>
    <p:extLst>
      <p:ext uri="{BB962C8B-B14F-4D97-AF65-F5344CB8AC3E}">
        <p14:creationId xmlns:p14="http://schemas.microsoft.com/office/powerpoint/2010/main" val="130982125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7408" y="88902"/>
            <a:ext cx="10515600" cy="1325563"/>
          </a:xfrm>
        </p:spPr>
        <p:txBody>
          <a:bodyPr/>
          <a:lstStyle/>
          <a:p>
            <a:pPr eaLnBrk="1" hangingPunct="1"/>
            <a:r>
              <a:rPr kumimoji="1" lang="zh-CN" altLang="en-US" dirty="0">
                <a:solidFill>
                  <a:schemeClr val="tx2"/>
                </a:solidFill>
              </a:rPr>
              <a:t>定义</a:t>
            </a:r>
            <a:r>
              <a:rPr kumimoji="1" lang="en-US" altLang="zh-CN" dirty="0">
                <a:solidFill>
                  <a:schemeClr val="tx2"/>
                </a:solidFill>
              </a:rPr>
              <a:t>2.2</a:t>
            </a:r>
          </a:p>
        </p:txBody>
      </p:sp>
      <p:sp>
        <p:nvSpPr>
          <p:cNvPr id="55299" name="Rectangle 3"/>
          <p:cNvSpPr>
            <a:spLocks noGrp="1" noChangeArrowheads="1"/>
          </p:cNvSpPr>
          <p:nvPr>
            <p:ph idx="1"/>
          </p:nvPr>
        </p:nvSpPr>
        <p:spPr>
          <a:xfrm>
            <a:off x="767408" y="2787658"/>
            <a:ext cx="10729192" cy="2952042"/>
          </a:xfrm>
        </p:spPr>
        <p:txBody>
          <a:bodyPr/>
          <a:lstStyle/>
          <a:p>
            <a:pPr eaLnBrk="1" hangingPunct="1">
              <a:lnSpc>
                <a:spcPct val="110000"/>
              </a:lnSpc>
            </a:pPr>
            <a:r>
              <a:rPr kumimoji="1" lang="zh-CN" altLang="en-US" sz="2800" dirty="0"/>
              <a:t>当</a:t>
            </a:r>
            <a:r>
              <a:rPr kumimoji="1" lang="en-US" altLang="zh-CN" sz="2800" dirty="0"/>
              <a:t>n</a:t>
            </a:r>
            <a:r>
              <a:rPr kumimoji="1" lang="zh-CN" altLang="en-US" sz="2800" dirty="0"/>
              <a:t>充分大时，</a:t>
            </a:r>
            <a:r>
              <a:rPr kumimoji="1" lang="en-US" altLang="zh-CN" sz="2800" dirty="0"/>
              <a:t>f(n)</a:t>
            </a:r>
            <a:r>
              <a:rPr kumimoji="1" lang="zh-CN" altLang="en-US" sz="2800" dirty="0"/>
              <a:t>有</a:t>
            </a:r>
            <a:r>
              <a:rPr kumimoji="1" lang="zh-CN" altLang="en-US" sz="2800" dirty="0">
                <a:solidFill>
                  <a:srgbClr val="FF0000"/>
                </a:solidFill>
              </a:rPr>
              <a:t>下界</a:t>
            </a:r>
            <a:r>
              <a:rPr kumimoji="1" lang="zh-CN" altLang="en-US" sz="2800" dirty="0"/>
              <a:t>，一个常数倍的</a:t>
            </a:r>
            <a:r>
              <a:rPr kumimoji="1" lang="en-US" altLang="zh-CN" sz="2800" dirty="0"/>
              <a:t>g(n)</a:t>
            </a:r>
            <a:r>
              <a:rPr kumimoji="1" lang="zh-CN" altLang="en-US" sz="2800" dirty="0"/>
              <a:t>是</a:t>
            </a:r>
            <a:r>
              <a:rPr kumimoji="1" lang="en-US" altLang="zh-CN" sz="2800" dirty="0"/>
              <a:t>f(n)</a:t>
            </a:r>
            <a:r>
              <a:rPr kumimoji="1" lang="zh-CN" altLang="en-US" sz="2800" dirty="0"/>
              <a:t>的一个下界。</a:t>
            </a:r>
          </a:p>
          <a:p>
            <a:pPr eaLnBrk="1" hangingPunct="1">
              <a:lnSpc>
                <a:spcPct val="110000"/>
              </a:lnSpc>
            </a:pPr>
            <a:r>
              <a:rPr kumimoji="1" lang="en-US" altLang="zh-CN" sz="2800" dirty="0"/>
              <a:t>f(n)</a:t>
            </a:r>
            <a:r>
              <a:rPr kumimoji="1" lang="zh-CN" altLang="en-US" sz="2800" dirty="0"/>
              <a:t>的阶不低于</a:t>
            </a:r>
            <a:r>
              <a:rPr kumimoji="1" lang="en-US" altLang="zh-CN" sz="2800" dirty="0"/>
              <a:t>g(n)</a:t>
            </a:r>
            <a:r>
              <a:rPr kumimoji="1" lang="zh-CN" altLang="en-US" sz="2800" dirty="0"/>
              <a:t>的阶。</a:t>
            </a:r>
          </a:p>
          <a:p>
            <a:pPr eaLnBrk="1" hangingPunct="1">
              <a:lnSpc>
                <a:spcPct val="110000"/>
              </a:lnSpc>
            </a:pPr>
            <a:r>
              <a:rPr kumimoji="1" lang="zh-CN" altLang="en-US" sz="2800" dirty="0"/>
              <a:t>在确定</a:t>
            </a:r>
            <a:r>
              <a:rPr kumimoji="1" lang="en-US" altLang="zh-CN" sz="2800" dirty="0"/>
              <a:t>f(n)</a:t>
            </a:r>
            <a:r>
              <a:rPr kumimoji="1" lang="zh-CN" altLang="en-US" sz="2800" dirty="0"/>
              <a:t>的下界时，总是试图求出</a:t>
            </a:r>
            <a:r>
              <a:rPr kumimoji="1" lang="zh-CN" altLang="en-US" sz="2800" dirty="0">
                <a:solidFill>
                  <a:srgbClr val="FF0000"/>
                </a:solidFill>
              </a:rPr>
              <a:t>最大的</a:t>
            </a:r>
            <a:r>
              <a:rPr kumimoji="1" lang="en-US" altLang="zh-CN" sz="2800" dirty="0"/>
              <a:t>g(n)</a:t>
            </a:r>
            <a:r>
              <a:rPr kumimoji="1" lang="zh-CN" altLang="en-US" sz="2800" dirty="0"/>
              <a:t>。</a:t>
            </a:r>
          </a:p>
          <a:p>
            <a:pPr eaLnBrk="1" hangingPunct="1">
              <a:lnSpc>
                <a:spcPct val="110000"/>
              </a:lnSpc>
            </a:pPr>
            <a:r>
              <a:rPr kumimoji="1" lang="zh-CN" altLang="en-US" sz="2800" dirty="0"/>
              <a:t>有关证明中，找出</a:t>
            </a:r>
            <a:r>
              <a:rPr kumimoji="1" lang="en-US" altLang="zh-CN" sz="2800" dirty="0"/>
              <a:t>c</a:t>
            </a:r>
            <a:r>
              <a:rPr kumimoji="1" lang="zh-CN" altLang="en-US" sz="2800" dirty="0"/>
              <a:t>和</a:t>
            </a:r>
            <a:r>
              <a:rPr kumimoji="1" lang="en-US" altLang="zh-CN" sz="2800" dirty="0"/>
              <a:t>n</a:t>
            </a:r>
            <a:r>
              <a:rPr kumimoji="1" lang="en-US" altLang="zh-CN" sz="2800" baseline="-25000" dirty="0"/>
              <a:t>0</a:t>
            </a:r>
            <a:r>
              <a:rPr kumimoji="1" lang="zh-CN" altLang="en-US" sz="2800" dirty="0"/>
              <a:t>是关键。</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44</a:t>
            </a:fld>
            <a:endParaRPr lang="en-US" altLang="zh-CN"/>
          </a:p>
        </p:txBody>
      </p:sp>
      <p:sp>
        <p:nvSpPr>
          <p:cNvPr id="6" name="矩形 5"/>
          <p:cNvSpPr/>
          <p:nvPr/>
        </p:nvSpPr>
        <p:spPr>
          <a:xfrm>
            <a:off x="732611" y="1268759"/>
            <a:ext cx="10763989" cy="13255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zh-CN" altLang="en-US" sz="2800" dirty="0">
                <a:solidFill>
                  <a:schemeClr val="tx1"/>
                </a:solidFill>
                <a:latin typeface="幼圆" panose="02010509060101010101" pitchFamily="49" charset="-122"/>
                <a:ea typeface="幼圆" panose="02010509060101010101" pitchFamily="49" charset="-122"/>
                <a:cs typeface="Arial" panose="020B0604020202020204" pitchFamily="34" charset="0"/>
              </a:rPr>
              <a:t>如果存在两个正常数</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c</a:t>
            </a:r>
            <a:r>
              <a:rPr kumimoji="1" lang="zh-CN" altLang="en-US" sz="2800" dirty="0">
                <a:solidFill>
                  <a:schemeClr val="tx1"/>
                </a:solidFill>
                <a:latin typeface="幼圆" panose="02010509060101010101" pitchFamily="49" charset="-122"/>
                <a:ea typeface="幼圆" panose="02010509060101010101" pitchFamily="49" charset="-122"/>
                <a:cs typeface="Arial" panose="020B0604020202020204" pitchFamily="34" charset="0"/>
              </a:rPr>
              <a:t>和</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n</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0</a:t>
            </a:r>
            <a:r>
              <a:rPr kumimoji="1" lang="zh-CN" altLang="en-US" sz="2800" dirty="0">
                <a:solidFill>
                  <a:schemeClr val="tx1"/>
                </a:solidFill>
                <a:latin typeface="幼圆" panose="02010509060101010101" pitchFamily="49" charset="-122"/>
                <a:ea typeface="幼圆" panose="02010509060101010101" pitchFamily="49" charset="-122"/>
                <a:cs typeface="Arial" panose="020B0604020202020204" pitchFamily="34" charset="0"/>
              </a:rPr>
              <a:t>，对于所有的</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n≥n</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0</a:t>
            </a:r>
            <a:r>
              <a:rPr kumimoji="1" lang="zh-CN" altLang="en-US" sz="2800" dirty="0">
                <a:solidFill>
                  <a:schemeClr val="tx1"/>
                </a:solidFill>
                <a:latin typeface="幼圆" panose="02010509060101010101" pitchFamily="49" charset="-122"/>
                <a:ea typeface="幼圆" panose="02010509060101010101" pitchFamily="49" charset="-122"/>
                <a:cs typeface="Arial" panose="020B0604020202020204" pitchFamily="34" charset="0"/>
              </a:rPr>
              <a:t>，有</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|f(n)| ≥</a:t>
            </a:r>
            <a:r>
              <a:rPr kumimoji="1" lang="en-US" altLang="zh-CN" dirty="0">
                <a:solidFill>
                  <a:schemeClr val="tx1"/>
                </a:solidFill>
                <a:latin typeface="Arial" panose="020B0604020202020204" pitchFamily="34" charset="0"/>
                <a:ea typeface="幼圆" panose="02010509060101010101" pitchFamily="49" charset="-122"/>
                <a:cs typeface="Arial" panose="020B0604020202020204" pitchFamily="34" charset="0"/>
              </a:rPr>
              <a:t> </a:t>
            </a:r>
            <a:r>
              <a:rPr kumimoji="1" lang="en-US" altLang="zh-CN" sz="2800" dirty="0" err="1">
                <a:solidFill>
                  <a:schemeClr val="tx1"/>
                </a:solidFill>
                <a:latin typeface="Arial" panose="020B0604020202020204" pitchFamily="34" charset="0"/>
                <a:ea typeface="幼圆" panose="02010509060101010101" pitchFamily="49" charset="-122"/>
                <a:cs typeface="Arial" panose="020B0604020202020204" pitchFamily="34" charset="0"/>
              </a:rPr>
              <a:t>c|g</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(n)|</a:t>
            </a:r>
            <a:r>
              <a:rPr kumimoji="1" lang="zh-CN" altLang="en-US" sz="2800" dirty="0">
                <a:solidFill>
                  <a:schemeClr val="tx1"/>
                </a:solidFill>
                <a:latin typeface="幼圆" panose="02010509060101010101" pitchFamily="49" charset="-122"/>
                <a:ea typeface="幼圆" panose="02010509060101010101" pitchFamily="49" charset="-122"/>
                <a:cs typeface="Arial" panose="020B0604020202020204" pitchFamily="34" charset="0"/>
              </a:rPr>
              <a:t>，则记作：</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f(n)=Ω(g(n))</a:t>
            </a:r>
            <a:r>
              <a:rPr kumimoji="1" lang="zh-CN" altLang="en-US" sz="2800" dirty="0">
                <a:solidFill>
                  <a:schemeClr val="tx1"/>
                </a:solidFill>
                <a:latin typeface="幼圆" panose="02010509060101010101" pitchFamily="49" charset="-122"/>
                <a:ea typeface="幼圆" panose="02010509060101010101" pitchFamily="49" charset="-122"/>
                <a:cs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2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2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2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778119" y="193282"/>
            <a:ext cx="10515600" cy="1325563"/>
          </a:xfrm>
        </p:spPr>
        <p:txBody>
          <a:bodyPr/>
          <a:lstStyle/>
          <a:p>
            <a:pPr eaLnBrk="1" hangingPunct="1"/>
            <a:r>
              <a:rPr lang="en-US" altLang="zh-CN" sz="5400" dirty="0">
                <a:latin typeface="Times New Roman" pitchFamily="18" charset="0"/>
                <a:sym typeface="Symbol" pitchFamily="18" charset="2"/>
              </a:rPr>
              <a:t></a:t>
            </a:r>
            <a:r>
              <a:rPr kumimoji="1" lang="zh-CN" altLang="en-US" dirty="0"/>
              <a:t>性质</a:t>
            </a:r>
          </a:p>
        </p:txBody>
      </p:sp>
      <p:sp>
        <p:nvSpPr>
          <p:cNvPr id="45059" name="Rectangle 3"/>
          <p:cNvSpPr>
            <a:spLocks noGrp="1" noChangeArrowheads="1"/>
          </p:cNvSpPr>
          <p:nvPr>
            <p:ph idx="1"/>
          </p:nvPr>
        </p:nvSpPr>
        <p:spPr>
          <a:xfrm>
            <a:off x="778119" y="1628800"/>
            <a:ext cx="8820150" cy="3886200"/>
          </a:xfrm>
        </p:spPr>
        <p:txBody>
          <a:bodyPr>
            <a:normAutofit lnSpcReduction="10000"/>
          </a:bodyPr>
          <a:lstStyle/>
          <a:p>
            <a:pPr eaLnBrk="1" hangingPunct="1">
              <a:buFont typeface="Wingdings" pitchFamily="2" charset="2"/>
              <a:buNone/>
            </a:pPr>
            <a:r>
              <a:rPr kumimoji="1" lang="zh-CN" altLang="en-US" sz="2800" dirty="0">
                <a:latin typeface="Times New Roman" panose="02020603050405020304" pitchFamily="18" charset="0"/>
                <a:cs typeface="Times New Roman" panose="02020603050405020304" pitchFamily="18" charset="0"/>
              </a:rPr>
              <a:t>对于非负的</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和</a:t>
            </a:r>
            <a:r>
              <a:rPr kumimoji="1" lang="en-US" altLang="zh-CN" sz="2800" i="1" dirty="0">
                <a:latin typeface="Times New Roman" panose="02020603050405020304" pitchFamily="18" charset="0"/>
                <a:cs typeface="Times New Roman" panose="02020603050405020304" pitchFamily="18" charset="0"/>
              </a:rPr>
              <a:t>g</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，根据定义</a:t>
            </a:r>
            <a:r>
              <a:rPr kumimoji="1" lang="en-US" altLang="zh-CN" sz="2800" dirty="0">
                <a:latin typeface="Times New Roman" panose="02020603050405020304" pitchFamily="18" charset="0"/>
                <a:cs typeface="Times New Roman" panose="02020603050405020304" pitchFamily="18" charset="0"/>
              </a:rPr>
              <a:t>2.2</a:t>
            </a:r>
            <a:r>
              <a:rPr kumimoji="1" lang="zh-CN" altLang="en-US" sz="2800" dirty="0">
                <a:latin typeface="Times New Roman" panose="02020603050405020304" pitchFamily="18" charset="0"/>
                <a:cs typeface="Times New Roman" panose="02020603050405020304" pitchFamily="18" charset="0"/>
              </a:rPr>
              <a:t>，有如下性质：</a:t>
            </a:r>
            <a:endParaRPr kumimoji="1" lang="zh-CN" altLang="en-US" sz="2800" dirty="0">
              <a:solidFill>
                <a:srgbClr val="0000FF"/>
              </a:solidFill>
              <a:latin typeface="Times New Roman" panose="02020603050405020304" pitchFamily="18" charset="0"/>
              <a:cs typeface="Times New Roman" panose="02020603050405020304" pitchFamily="18" charset="0"/>
            </a:endParaRPr>
          </a:p>
          <a:p>
            <a:pPr>
              <a:buNone/>
            </a:pPr>
            <a:r>
              <a:rPr kumimoji="1" lang="en-US" altLang="zh-CN" sz="2800"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itchFamily="18" charset="2"/>
              </a:rPr>
              <a:t></a:t>
            </a:r>
            <a:r>
              <a:rPr kumimoji="1" lang="en-US" altLang="zh-CN"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cs typeface="Times New Roman" panose="02020603050405020304" pitchFamily="18" charset="0"/>
              </a:rPr>
              <a:t>f</a:t>
            </a:r>
            <a:r>
              <a:rPr kumimoji="1" lang="en-US" altLang="zh-CN"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cs typeface="Times New Roman" panose="02020603050405020304" pitchFamily="18" charset="0"/>
              </a:rPr>
              <a:t>n</a:t>
            </a:r>
            <a:r>
              <a:rPr kumimoji="1"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itchFamily="18" charset="2"/>
              </a:rPr>
              <a:t></a:t>
            </a:r>
            <a:r>
              <a:rPr kumimoji="1" lang="en-US" altLang="zh-CN"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cs typeface="Times New Roman" panose="02020603050405020304" pitchFamily="18" charset="0"/>
              </a:rPr>
              <a:t>g</a:t>
            </a:r>
            <a:r>
              <a:rPr kumimoji="1" lang="en-US" altLang="zh-CN"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cs typeface="Times New Roman" panose="02020603050405020304" pitchFamily="18" charset="0"/>
              </a:rPr>
              <a:t>n</a:t>
            </a:r>
            <a:r>
              <a:rPr kumimoji="1" lang="en-US" altLang="zh-CN" dirty="0">
                <a:latin typeface="Times New Roman" panose="02020603050405020304" pitchFamily="18" charset="0"/>
                <a:cs typeface="Times New Roman" panose="02020603050405020304" pitchFamily="18" charset="0"/>
              </a:rPr>
              <a:t>)) = </a:t>
            </a:r>
            <a:r>
              <a:rPr lang="en-US" altLang="zh-CN" dirty="0">
                <a:latin typeface="Times New Roman" panose="02020603050405020304" pitchFamily="18" charset="0"/>
                <a:cs typeface="Times New Roman" panose="02020603050405020304" pitchFamily="18" charset="0"/>
                <a:sym typeface="Symbol" pitchFamily="18" charset="2"/>
              </a:rPr>
              <a:t></a:t>
            </a:r>
            <a:r>
              <a:rPr kumimoji="1" lang="en-US" altLang="zh-CN"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cs typeface="Times New Roman" panose="02020603050405020304" pitchFamily="18" charset="0"/>
              </a:rPr>
              <a:t>f</a:t>
            </a:r>
            <a:r>
              <a:rPr kumimoji="1" lang="en-US" altLang="zh-CN"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cs typeface="Times New Roman" panose="02020603050405020304" pitchFamily="18" charset="0"/>
              </a:rPr>
              <a:t>n</a:t>
            </a:r>
            <a:r>
              <a:rPr kumimoji="1" lang="en-US" altLang="zh-CN"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cs typeface="Times New Roman" panose="02020603050405020304" pitchFamily="18" charset="0"/>
              </a:rPr>
              <a:t>g</a:t>
            </a:r>
            <a:r>
              <a:rPr kumimoji="1" lang="en-US" altLang="zh-CN"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cs typeface="Times New Roman" panose="02020603050405020304" pitchFamily="18" charset="0"/>
              </a:rPr>
              <a:t>n</a:t>
            </a:r>
            <a:r>
              <a:rPr kumimoji="1" lang="en-US" altLang="zh-CN" dirty="0">
                <a:latin typeface="Times New Roman" panose="02020603050405020304" pitchFamily="18" charset="0"/>
                <a:cs typeface="Times New Roman" panose="02020603050405020304" pitchFamily="18" charset="0"/>
              </a:rPr>
              <a:t>)) </a:t>
            </a:r>
            <a:r>
              <a:rPr kumimoji="1" lang="zh-CN" altLang="en-US" dirty="0">
                <a:latin typeface="Times New Roman" panose="02020603050405020304" pitchFamily="18" charset="0"/>
                <a:cs typeface="Times New Roman" panose="02020603050405020304" pitchFamily="18" charset="0"/>
              </a:rPr>
              <a:t>；</a:t>
            </a:r>
          </a:p>
          <a:p>
            <a:pPr>
              <a:buNone/>
            </a:pPr>
            <a:r>
              <a:rPr kumimoji="1" lang="en-US" altLang="zh-CN" dirty="0">
                <a:latin typeface="Times New Roman" panose="02020603050405020304" pitchFamily="18" charset="0"/>
                <a:cs typeface="Times New Roman" panose="02020603050405020304" pitchFamily="18" charset="0"/>
              </a:rPr>
              <a:t>2.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g</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(min(</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r>
              <a:rPr kumimoji="1" lang="en-US" altLang="zh-CN" sz="2800" i="1" dirty="0">
                <a:latin typeface="Times New Roman" panose="02020603050405020304" pitchFamily="18" charset="0"/>
                <a:cs typeface="Times New Roman" panose="02020603050405020304" pitchFamily="18" charset="0"/>
              </a:rPr>
              <a:t>g</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p>
          <a:p>
            <a:pPr eaLnBrk="1" hangingPunct="1">
              <a:buFont typeface="Wingdings" pitchFamily="2" charset="2"/>
              <a:buNone/>
            </a:pPr>
            <a:r>
              <a:rPr kumimoji="1" lang="en-US" altLang="zh-CN" sz="2800" dirty="0">
                <a:latin typeface="Times New Roman" panose="02020603050405020304" pitchFamily="18" charset="0"/>
                <a:cs typeface="Times New Roman" panose="02020603050405020304" pitchFamily="18" charset="0"/>
              </a:rPr>
              <a:t>3.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g</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r>
              <a:rPr kumimoji="1" lang="en-US" altLang="zh-CN" sz="2800" i="1" dirty="0">
                <a:latin typeface="Times New Roman" panose="02020603050405020304" pitchFamily="18" charset="0"/>
                <a:cs typeface="Times New Roman" panose="02020603050405020304" pitchFamily="18" charset="0"/>
              </a:rPr>
              <a:t>g</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r>
              <a:rPr kumimoji="1" lang="zh-CN" altLang="en-US" sz="2800" dirty="0">
                <a:latin typeface="Times New Roman" panose="02020603050405020304" pitchFamily="18" charset="0"/>
                <a:cs typeface="Times New Roman" panose="02020603050405020304" pitchFamily="18" charset="0"/>
              </a:rPr>
              <a:t>；</a:t>
            </a:r>
          </a:p>
          <a:p>
            <a:pPr eaLnBrk="1" hangingPunct="1">
              <a:buFont typeface="Wingdings" pitchFamily="2" charset="2"/>
              <a:buNone/>
            </a:pPr>
            <a:r>
              <a:rPr kumimoji="1" lang="en-US" altLang="zh-CN" sz="2800" dirty="0">
                <a:latin typeface="Times New Roman" panose="02020603050405020304" pitchFamily="18" charset="0"/>
                <a:cs typeface="Times New Roman" panose="02020603050405020304" pitchFamily="18" charset="0"/>
              </a:rPr>
              <a:t>4.</a:t>
            </a:r>
            <a:r>
              <a:rPr kumimoji="1" lang="zh-CN" altLang="en-US" sz="2800" dirty="0">
                <a:latin typeface="Times New Roman" panose="02020603050405020304" pitchFamily="18" charset="0"/>
                <a:cs typeface="Times New Roman" panose="02020603050405020304" pitchFamily="18" charset="0"/>
              </a:rPr>
              <a:t>如果</a:t>
            </a:r>
            <a:r>
              <a:rPr kumimoji="1" lang="en-US" altLang="zh-CN" sz="2800" i="1" dirty="0">
                <a:latin typeface="Times New Roman" panose="02020603050405020304" pitchFamily="18" charset="0"/>
                <a:cs typeface="Times New Roman" panose="02020603050405020304" pitchFamily="18" charset="0"/>
              </a:rPr>
              <a:t>g</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r>
              <a:rPr kumimoji="1" lang="zh-CN" altLang="en-US" sz="2800" dirty="0">
                <a:latin typeface="Times New Roman" panose="02020603050405020304" pitchFamily="18" charset="0"/>
                <a:cs typeface="Times New Roman" panose="02020603050405020304" pitchFamily="18" charset="0"/>
              </a:rPr>
              <a:t>，则</a:t>
            </a:r>
            <a:r>
              <a:rPr lang="zh-CN" altLang="en-US"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g</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r>
              <a:rPr kumimoji="1" lang="zh-CN" altLang="en-US" sz="2800" dirty="0">
                <a:latin typeface="Times New Roman" panose="02020603050405020304" pitchFamily="18" charset="0"/>
                <a:cs typeface="Times New Roman" panose="02020603050405020304" pitchFamily="18" charset="0"/>
              </a:rPr>
              <a:t>；</a:t>
            </a:r>
          </a:p>
          <a:p>
            <a:pPr eaLnBrk="1" hangingPunct="1">
              <a:buFont typeface="Wingdings" pitchFamily="2" charset="2"/>
              <a:buNone/>
            </a:pPr>
            <a:r>
              <a:rPr kumimoji="1" lang="en-US" altLang="zh-CN" sz="2800" dirty="0">
                <a:latin typeface="Times New Roman" panose="02020603050405020304" pitchFamily="18" charset="0"/>
                <a:cs typeface="Times New Roman" panose="02020603050405020304" pitchFamily="18" charset="0"/>
              </a:rPr>
              <a:t>5.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err="1">
                <a:latin typeface="Times New Roman" panose="02020603050405020304" pitchFamily="18" charset="0"/>
                <a:cs typeface="Times New Roman" panose="02020603050405020304" pitchFamily="18" charset="0"/>
              </a:rPr>
              <a:t>cf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a:t>
            </a:r>
            <a:r>
              <a:rPr kumimoji="1" lang="zh-CN" altLang="en-US" sz="2800" dirty="0">
                <a:latin typeface="Times New Roman" panose="02020603050405020304" pitchFamily="18" charset="0"/>
                <a:cs typeface="Times New Roman" panose="02020603050405020304" pitchFamily="18" charset="0"/>
              </a:rPr>
              <a:t>，其中</a:t>
            </a:r>
            <a:r>
              <a:rPr kumimoji="1" lang="en-US" altLang="zh-CN" sz="2800" i="1" dirty="0">
                <a:latin typeface="Times New Roman" panose="02020603050405020304" pitchFamily="18" charset="0"/>
                <a:cs typeface="Times New Roman" panose="02020603050405020304" pitchFamily="18" charset="0"/>
              </a:rPr>
              <a:t>c</a:t>
            </a:r>
            <a:r>
              <a:rPr kumimoji="1" lang="zh-CN" altLang="en-US" sz="2800" dirty="0">
                <a:latin typeface="Times New Roman" panose="02020603050405020304" pitchFamily="18" charset="0"/>
                <a:cs typeface="Times New Roman" panose="02020603050405020304" pitchFamily="18" charset="0"/>
              </a:rPr>
              <a:t>是一个正的常数；</a:t>
            </a:r>
          </a:p>
          <a:p>
            <a:pPr eaLnBrk="1" hangingPunct="1">
              <a:buFont typeface="Wingdings" pitchFamily="2" charset="2"/>
              <a:buNone/>
            </a:pPr>
            <a:r>
              <a:rPr kumimoji="1" lang="en-US" altLang="zh-CN" sz="2800" dirty="0">
                <a:latin typeface="Times New Roman" panose="02020603050405020304" pitchFamily="18" charset="0"/>
                <a:cs typeface="Times New Roman" panose="02020603050405020304" pitchFamily="18" charset="0"/>
              </a:rPr>
              <a:t>6.</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 = </a:t>
            </a:r>
            <a:r>
              <a:rPr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f</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45</a:t>
            </a:fld>
            <a:endParaRPr lang="en-US" altLang="zh-C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kumimoji="1" lang="zh-CN" altLang="en-US" dirty="0">
                <a:solidFill>
                  <a:schemeClr val="tx2"/>
                </a:solidFill>
              </a:rPr>
              <a:t>定义</a:t>
            </a:r>
            <a:r>
              <a:rPr kumimoji="1" lang="en-US" altLang="zh-CN" dirty="0">
                <a:solidFill>
                  <a:schemeClr val="tx2"/>
                </a:solidFill>
              </a:rPr>
              <a:t>2.3</a:t>
            </a:r>
          </a:p>
        </p:txBody>
      </p:sp>
      <p:sp>
        <p:nvSpPr>
          <p:cNvPr id="46083" name="Rectangle 3"/>
          <p:cNvSpPr>
            <a:spLocks noGrp="1" noChangeArrowheads="1"/>
          </p:cNvSpPr>
          <p:nvPr>
            <p:ph idx="1"/>
          </p:nvPr>
        </p:nvSpPr>
        <p:spPr>
          <a:xfrm>
            <a:off x="916577" y="3448784"/>
            <a:ext cx="10437223" cy="2433573"/>
          </a:xfrm>
        </p:spPr>
        <p:txBody>
          <a:bodyPr/>
          <a:lstStyle/>
          <a:p>
            <a:pPr eaLnBrk="1" hangingPunct="1">
              <a:lnSpc>
                <a:spcPct val="150000"/>
              </a:lnSpc>
            </a:pPr>
            <a:r>
              <a:rPr kumimoji="1" lang="zh-CN" altLang="en-US" sz="2800" dirty="0"/>
              <a:t>一个算法的</a:t>
            </a:r>
            <a:r>
              <a:rPr kumimoji="1" lang="en-US" altLang="zh-CN" sz="2800" dirty="0"/>
              <a:t>f(n)=</a:t>
            </a:r>
            <a:r>
              <a:rPr lang="en-US" altLang="zh-CN" sz="2800" dirty="0">
                <a:latin typeface="Times New Roman" pitchFamily="18" charset="0"/>
                <a:sym typeface="Symbol" pitchFamily="18" charset="2"/>
              </a:rPr>
              <a:t></a:t>
            </a:r>
            <a:r>
              <a:rPr kumimoji="1" lang="en-US" altLang="zh-CN" sz="2800" dirty="0"/>
              <a:t>(g(n))</a:t>
            </a:r>
            <a:r>
              <a:rPr kumimoji="1" lang="zh-CN" altLang="en-US" sz="2800" dirty="0"/>
              <a:t>意味着该算法在最好和最坏情况下的计算时间就一个常数因子范围内而言是相同的。</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46</a:t>
            </a:fld>
            <a:endParaRPr lang="en-US" altLang="zh-CN"/>
          </a:p>
        </p:txBody>
      </p:sp>
      <p:sp>
        <p:nvSpPr>
          <p:cNvPr id="6" name="矩形 5"/>
          <p:cNvSpPr/>
          <p:nvPr/>
        </p:nvSpPr>
        <p:spPr>
          <a:xfrm>
            <a:off x="838201" y="1700609"/>
            <a:ext cx="10442376" cy="158437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zh-CN" altLang="en-US" sz="2800" dirty="0">
                <a:solidFill>
                  <a:schemeClr val="tx1"/>
                </a:solidFill>
                <a:latin typeface="幼圆" panose="02010509060101010101" pitchFamily="49" charset="-122"/>
                <a:ea typeface="幼圆" panose="02010509060101010101" pitchFamily="49" charset="-122"/>
              </a:rPr>
              <a:t>如果存在正常数</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c</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1</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,c</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2</a:t>
            </a:r>
            <a:r>
              <a:rPr kumimoji="1" lang="zh-CN" altLang="en-US" sz="2800" dirty="0">
                <a:solidFill>
                  <a:schemeClr val="tx1"/>
                </a:solidFill>
                <a:latin typeface="幼圆" panose="02010509060101010101" pitchFamily="49" charset="-122"/>
                <a:ea typeface="幼圆" panose="02010509060101010101" pitchFamily="49" charset="-122"/>
              </a:rPr>
              <a:t>和</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n</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0</a:t>
            </a:r>
            <a:r>
              <a:rPr kumimoji="1" lang="zh-CN" altLang="en-US" sz="2800" dirty="0">
                <a:solidFill>
                  <a:schemeClr val="tx1"/>
                </a:solidFill>
                <a:latin typeface="幼圆" panose="02010509060101010101" pitchFamily="49" charset="-122"/>
                <a:ea typeface="幼圆" panose="02010509060101010101" pitchFamily="49" charset="-122"/>
              </a:rPr>
              <a:t>，对于所有的</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n≥n</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0</a:t>
            </a:r>
            <a:r>
              <a:rPr kumimoji="1" lang="zh-CN" altLang="en-US" sz="2800" dirty="0">
                <a:solidFill>
                  <a:schemeClr val="tx1"/>
                </a:solidFill>
                <a:latin typeface="幼圆" panose="02010509060101010101" pitchFamily="49" charset="-122"/>
                <a:ea typeface="幼圆" panose="02010509060101010101" pitchFamily="49" charset="-122"/>
              </a:rPr>
              <a:t>，有</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c</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1</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|g(n)|≤ |f(n)| ≤ c</a:t>
            </a:r>
            <a:r>
              <a:rPr kumimoji="1" lang="en-US" altLang="zh-CN" sz="28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2</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|g(n)|</a:t>
            </a:r>
            <a:r>
              <a:rPr kumimoji="1" lang="zh-CN" altLang="en-US" sz="2800" dirty="0">
                <a:solidFill>
                  <a:schemeClr val="tx1"/>
                </a:solidFill>
                <a:latin typeface="幼圆" panose="02010509060101010101" pitchFamily="49" charset="-122"/>
                <a:ea typeface="幼圆" panose="02010509060101010101" pitchFamily="49" charset="-122"/>
              </a:rPr>
              <a:t>，则记作：</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f(n)=</a:t>
            </a:r>
            <a:r>
              <a:rPr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sym typeface="Symbol" pitchFamily="18" charset="2"/>
              </a:rPr>
              <a:t> </a:t>
            </a:r>
            <a:r>
              <a:rPr kumimoji="1" lang="en-US" altLang="zh-CN" sz="2800" dirty="0">
                <a:solidFill>
                  <a:schemeClr val="tx1"/>
                </a:solidFill>
                <a:latin typeface="Arial" panose="020B0604020202020204" pitchFamily="34" charset="0"/>
                <a:ea typeface="幼圆" panose="02010509060101010101" pitchFamily="49" charset="-122"/>
                <a:cs typeface="Arial" panose="020B0604020202020204" pitchFamily="34" charset="0"/>
              </a:rPr>
              <a:t>(g(n))</a:t>
            </a:r>
            <a:r>
              <a:rPr kumimoji="1" lang="zh-CN" altLang="en-US" sz="2800" dirty="0">
                <a:solidFill>
                  <a:schemeClr val="tx1"/>
                </a:solidFill>
                <a:latin typeface="幼圆" panose="02010509060101010101" pitchFamily="49" charset="-122"/>
                <a:ea typeface="幼圆" panose="02010509060101010101" pitchFamily="49" charset="-122"/>
              </a:rPr>
              <a:t>。</a:t>
            </a:r>
            <a:endParaRPr kumimoji="1" lang="zh-CN" altLang="en-US" sz="2800" dirty="0">
              <a:solidFill>
                <a:schemeClr val="tx1"/>
              </a:solidFill>
              <a:latin typeface="幼圆" panose="02010509060101010101" pitchFamily="49" charset="-122"/>
              <a:ea typeface="幼圆" panose="02010509060101010101" pitchFamily="49"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1">
            <a:extLst>
              <a:ext uri="{FF2B5EF4-FFF2-40B4-BE49-F238E27FC236}">
                <a16:creationId xmlns:a16="http://schemas.microsoft.com/office/drawing/2014/main" xmlns="" id="{C0CDB7D3-B0AD-89B2-037D-36662D99F64D}"/>
              </a:ext>
            </a:extLst>
          </p:cNvPr>
          <p:cNvSpPr>
            <a:spLocks noChangeArrowheads="1"/>
          </p:cNvSpPr>
          <p:nvPr/>
        </p:nvSpPr>
        <p:spPr bwMode="auto">
          <a:xfrm>
            <a:off x="10278812" y="6392864"/>
            <a:ext cx="25583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spAutoFit/>
          </a:bodyPr>
          <a:lstStyle>
            <a:lvl1pPr>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742950" indent="-28575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11430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16002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20574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25146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29718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34290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38862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algn="r" eaLnBrk="1"/>
            <a:fld id="{7386E3FD-7C35-4927-A5D6-836A73C52C3B}" type="slidenum">
              <a:rPr lang="zh-CN" altLang="zh-CN" sz="1000" b="0">
                <a:ea typeface="宋体" panose="02010600030101010101" pitchFamily="2" charset="-122"/>
              </a:rPr>
              <a:pPr algn="r" eaLnBrk="1"/>
              <a:t>47</a:t>
            </a:fld>
            <a:endParaRPr lang="zh-CN" altLang="zh-CN" sz="1000" b="0">
              <a:ea typeface="宋体" panose="02010600030101010101" pitchFamily="2" charset="-122"/>
            </a:endParaRPr>
          </a:p>
        </p:txBody>
      </p:sp>
      <p:pic>
        <p:nvPicPr>
          <p:cNvPr id="104450" name="Picture 2" descr="image.png">
            <a:extLst>
              <a:ext uri="{FF2B5EF4-FFF2-40B4-BE49-F238E27FC236}">
                <a16:creationId xmlns:a16="http://schemas.microsoft.com/office/drawing/2014/main" xmlns="" id="{D0AB9E0C-5BA6-2AFF-F405-BBBE5710D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470" y="1064068"/>
            <a:ext cx="3517558"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1" name="Rectangle 3">
            <a:extLst>
              <a:ext uri="{FF2B5EF4-FFF2-40B4-BE49-F238E27FC236}">
                <a16:creationId xmlns:a16="http://schemas.microsoft.com/office/drawing/2014/main" xmlns="" id="{E147A599-AA37-19D9-D818-37BB44AC9E1C}"/>
              </a:ext>
            </a:extLst>
          </p:cNvPr>
          <p:cNvSpPr>
            <a:spLocks noChangeArrowheads="1"/>
          </p:cNvSpPr>
          <p:nvPr/>
        </p:nvSpPr>
        <p:spPr bwMode="auto">
          <a:xfrm>
            <a:off x="986905" y="274685"/>
            <a:ext cx="42066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 rIns="45720" anchor="ctr">
            <a:spAutoFit/>
          </a:bodyPr>
          <a:lstStyle>
            <a:lvl1pPr>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742950" indent="-28575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11430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16002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20574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25146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29718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34290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38862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algn="ctr" eaLnBrk="1"/>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en-US" altLang="zh-CN" sz="2800" i="1" dirty="0">
                <a:latin typeface="Times New Roman" panose="02020603050405020304" pitchFamily="18" charset="0"/>
                <a:ea typeface="宋体" panose="02010600030101010101" pitchFamily="2" charset="-122"/>
                <a:sym typeface="Times New Roman" panose="02020603050405020304" pitchFamily="18" charset="0"/>
              </a:rPr>
              <a:t>t</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c</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g</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   </a:t>
            </a:r>
            <a:r>
              <a:rPr lang="en-US" altLang="zh-CN" sz="2800" i="1" dirty="0">
                <a:latin typeface="Times New Roman" panose="02020603050405020304" pitchFamily="18" charset="0"/>
                <a:ea typeface="宋体" panose="02010600030101010101" pitchFamily="2" charset="-122"/>
                <a:sym typeface="Times New Roman" panose="02020603050405020304" pitchFamily="18" charset="0"/>
              </a:rPr>
              <a:t>t</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dirty="0">
                <a:solidFill>
                  <a:srgbClr val="C00000"/>
                </a:solidFill>
                <a:latin typeface="Times New Roman" panose="02020603050405020304" pitchFamily="18" charset="0"/>
                <a:ea typeface="宋体" panose="02010600030101010101" pitchFamily="2" charset="-122"/>
                <a:sym typeface="Times New Roman" panose="02020603050405020304" pitchFamily="18" charset="0"/>
              </a:rPr>
              <a:t>O</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g</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p>
        </p:txBody>
      </p:sp>
      <p:pic>
        <p:nvPicPr>
          <p:cNvPr id="104452" name="Picture 4" descr="image.png">
            <a:extLst>
              <a:ext uri="{FF2B5EF4-FFF2-40B4-BE49-F238E27FC236}">
                <a16:creationId xmlns:a16="http://schemas.microsoft.com/office/drawing/2014/main" xmlns="" id="{7276176D-01FA-E9E3-2241-9E2EA785B8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9176" y="998851"/>
            <a:ext cx="3517558" cy="2722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3" name="Rectangle 5">
            <a:extLst>
              <a:ext uri="{FF2B5EF4-FFF2-40B4-BE49-F238E27FC236}">
                <a16:creationId xmlns:a16="http://schemas.microsoft.com/office/drawing/2014/main" xmlns="" id="{6812EA7C-4F4B-4812-2426-979F99BEC8D2}"/>
              </a:ext>
            </a:extLst>
          </p:cNvPr>
          <p:cNvSpPr>
            <a:spLocks noChangeArrowheads="1"/>
          </p:cNvSpPr>
          <p:nvPr/>
        </p:nvSpPr>
        <p:spPr bwMode="auto">
          <a:xfrm>
            <a:off x="6194612" y="274685"/>
            <a:ext cx="42066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 rIns="45720" anchor="ctr">
            <a:spAutoFit/>
          </a:bodyPr>
          <a:lstStyle>
            <a:lvl1pPr>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742950" indent="-28575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11430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16002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20574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25146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29718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34290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38862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algn="ctr" eaLnBrk="1"/>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en-US" altLang="zh-CN" sz="2800" i="1" dirty="0">
                <a:latin typeface="Times New Roman" panose="02020603050405020304" pitchFamily="18" charset="0"/>
                <a:ea typeface="宋体" panose="02010600030101010101" pitchFamily="2" charset="-122"/>
                <a:sym typeface="Times New Roman" panose="02020603050405020304" pitchFamily="18" charset="0"/>
              </a:rPr>
              <a:t> t</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 </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c</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|g(</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 </a:t>
            </a:r>
            <a:r>
              <a:rPr lang="en-US" altLang="zh-CN" sz="2800" i="1" dirty="0">
                <a:latin typeface="Times New Roman" panose="02020603050405020304" pitchFamily="18" charset="0"/>
                <a:ea typeface="宋体" panose="02010600030101010101" pitchFamily="2" charset="-122"/>
                <a:sym typeface="Times New Roman" panose="02020603050405020304" pitchFamily="18" charset="0"/>
              </a:rPr>
              <a:t>t</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dirty="0">
                <a:solidFill>
                  <a:srgbClr val="C00000"/>
                </a:solidFill>
                <a:latin typeface="Times New Roman" panose="02020603050405020304" pitchFamily="18" charset="0"/>
                <a:ea typeface="宋体" panose="02010600030101010101" pitchFamily="2" charset="-122"/>
                <a:sym typeface="Times New Roman" panose="02020603050405020304" pitchFamily="18" charset="0"/>
              </a:rPr>
              <a:t>Ω</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g</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p>
        </p:txBody>
      </p:sp>
      <p:pic>
        <p:nvPicPr>
          <p:cNvPr id="104454" name="Picture 6" descr="image.png">
            <a:extLst>
              <a:ext uri="{FF2B5EF4-FFF2-40B4-BE49-F238E27FC236}">
                <a16:creationId xmlns:a16="http://schemas.microsoft.com/office/drawing/2014/main" xmlns="" id="{C8EB8DB6-81F3-B5BB-7140-912AED8CC5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9037" y="3990927"/>
            <a:ext cx="3094038"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5" name="Rectangle 7">
            <a:extLst>
              <a:ext uri="{FF2B5EF4-FFF2-40B4-BE49-F238E27FC236}">
                <a16:creationId xmlns:a16="http://schemas.microsoft.com/office/drawing/2014/main" xmlns="" id="{192FA4BE-7E58-9317-549A-C914F5C96E32}"/>
              </a:ext>
            </a:extLst>
          </p:cNvPr>
          <p:cNvSpPr>
            <a:spLocks noChangeArrowheads="1"/>
          </p:cNvSpPr>
          <p:nvPr/>
        </p:nvSpPr>
        <p:spPr bwMode="auto">
          <a:xfrm>
            <a:off x="5081589" y="5226051"/>
            <a:ext cx="5178425"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spAutoFit/>
          </a:bodyPr>
          <a:lstStyle>
            <a:lvl1pPr>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742950" indent="-28575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11430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16002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2057400" indent="-228600">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25146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29718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34290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3886200" indent="-228600" eaLnBrk="0" fontAlgn="base" hangingPunct="0">
              <a:spcBef>
                <a:spcPct val="0"/>
              </a:spcBef>
              <a:spcAft>
                <a:spcPct val="0"/>
              </a:spcAft>
              <a:defRPr sz="2400" b="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algn="ctr" eaLnBrk="1"/>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c</a:t>
            </a:r>
            <a:r>
              <a:rPr lang="zh-CN" altLang="zh-CN" sz="2800" baseline="-30000" dirty="0">
                <a:latin typeface="Times New Roman" panose="02020603050405020304" pitchFamily="18" charset="0"/>
                <a:ea typeface="宋体" panose="02010600030101010101" pitchFamily="2" charset="-122"/>
                <a:sym typeface="Times New Roman" panose="02020603050405020304" pitchFamily="18" charset="0"/>
              </a:rPr>
              <a:t>1</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 |</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g</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 |</a:t>
            </a:r>
            <a:r>
              <a:rPr lang="en-US" altLang="zh-CN" sz="2800" i="1" dirty="0">
                <a:latin typeface="Times New Roman" panose="02020603050405020304" pitchFamily="18" charset="0"/>
                <a:ea typeface="宋体" panose="02010600030101010101" pitchFamily="2" charset="-122"/>
                <a:sym typeface="Times New Roman" panose="02020603050405020304" pitchFamily="18" charset="0"/>
              </a:rPr>
              <a:t> t</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 </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c</a:t>
            </a:r>
            <a:r>
              <a:rPr lang="zh-CN" altLang="zh-CN" sz="2800" baseline="-30000" dirty="0">
                <a:latin typeface="Times New Roman" panose="02020603050405020304" pitchFamily="18" charset="0"/>
                <a:ea typeface="宋体" panose="02010600030101010101" pitchFamily="2" charset="-122"/>
                <a:sym typeface="Times New Roman" panose="02020603050405020304" pitchFamily="18" charset="0"/>
              </a:rPr>
              <a:t>2</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 |</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g</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p>
          <a:p>
            <a:pPr algn="ctr" eaLnBrk="1"/>
            <a:r>
              <a:rPr lang="en-US" altLang="zh-CN" sz="2800" i="1" dirty="0">
                <a:latin typeface="Times New Roman" panose="02020603050405020304" pitchFamily="18" charset="0"/>
                <a:ea typeface="宋体" panose="02010600030101010101" pitchFamily="2" charset="-122"/>
                <a:sym typeface="Times New Roman" panose="02020603050405020304" pitchFamily="18" charset="0"/>
              </a:rPr>
              <a:t>t</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dirty="0">
                <a:solidFill>
                  <a:srgbClr val="C00000"/>
                </a:solidFill>
                <a:latin typeface="Times New Roman" panose="02020603050405020304" pitchFamily="18" charset="0"/>
                <a:ea typeface="宋体" panose="02010600030101010101" pitchFamily="2" charset="-122"/>
                <a:sym typeface="Times New Roman" panose="02020603050405020304" pitchFamily="18" charset="0"/>
              </a:rPr>
              <a:t>Θ</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g</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r>
              <a:rPr lang="zh-CN" altLang="zh-CN" sz="2800" i="1" dirty="0">
                <a:latin typeface="Times New Roman" panose="02020603050405020304" pitchFamily="18" charset="0"/>
                <a:ea typeface="宋体" panose="02010600030101010101" pitchFamily="2" charset="-122"/>
                <a:sym typeface="Times New Roman" panose="02020603050405020304" pitchFamily="18" charset="0"/>
              </a:rPr>
              <a:t>n</a:t>
            </a:r>
            <a:r>
              <a:rPr lang="zh-CN" altLang="zh-CN" sz="2800" dirty="0">
                <a:latin typeface="Times New Roman" panose="02020603050405020304" pitchFamily="18" charset="0"/>
                <a:ea typeface="宋体" panose="02010600030101010101" pitchFamily="2" charset="-122"/>
                <a:sym typeface="Times New Roman" panose="02020603050405020304" pitchFamily="18" charset="0"/>
              </a:rPr>
              <a:t>))</a:t>
            </a:r>
          </a:p>
        </p:txBody>
      </p:sp>
    </p:spTree>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51384" y="166687"/>
            <a:ext cx="10515600" cy="1325563"/>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kumimoji="1" lang="zh-CN" altLang="en-US" dirty="0">
                <a:solidFill>
                  <a:schemeClr val="tx2"/>
                </a:solidFill>
              </a:rPr>
              <a:t>渐近表示函数的若干性质</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48</a:t>
            </a:fld>
            <a:endParaRPr lang="en-US" altLang="zh-CN"/>
          </a:p>
        </p:txBody>
      </p:sp>
      <p:sp>
        <p:nvSpPr>
          <p:cNvPr id="5" name="Rectangle 4">
            <a:extLst>
              <a:ext uri="{FF2B5EF4-FFF2-40B4-BE49-F238E27FC236}">
                <a16:creationId xmlns:a16="http://schemas.microsoft.com/office/drawing/2014/main" xmlns="" id="{1C9156A0-5538-A3DE-3D9D-0987806731BB}"/>
              </a:ext>
            </a:extLst>
          </p:cNvPr>
          <p:cNvSpPr txBox="1">
            <a:spLocks noChangeArrowheads="1"/>
          </p:cNvSpPr>
          <p:nvPr/>
        </p:nvSpPr>
        <p:spPr>
          <a:xfrm>
            <a:off x="525030" y="1266156"/>
            <a:ext cx="10828770" cy="544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buFont typeface="Wingdings" panose="05000000000000000000" pitchFamily="2" charset="2"/>
              <a:buNone/>
            </a:pPr>
            <a:r>
              <a:rPr lang="zh-CN" altLang="en-US" sz="2600" b="1" dirty="0">
                <a:solidFill>
                  <a:srgbClr val="0033CC"/>
                </a:solidFill>
              </a:rPr>
              <a:t>（</a:t>
            </a:r>
            <a:r>
              <a:rPr lang="en-US" altLang="zh-CN" sz="2600" b="1" dirty="0">
                <a:solidFill>
                  <a:srgbClr val="0033CC"/>
                </a:solidFill>
                <a:latin typeface="Times New Roman" panose="02020603050405020304" pitchFamily="18" charset="0"/>
              </a:rPr>
              <a:t>1</a:t>
            </a:r>
            <a:r>
              <a:rPr lang="zh-CN" altLang="en-US" sz="2600" b="1" dirty="0">
                <a:solidFill>
                  <a:srgbClr val="0033CC"/>
                </a:solidFill>
              </a:rPr>
              <a:t>）传递性</a:t>
            </a:r>
          </a:p>
          <a:p>
            <a:pPr marL="457200" lvl="1" indent="0">
              <a:lnSpc>
                <a:spcPct val="105000"/>
              </a:lnSpc>
              <a:buNone/>
            </a:pP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a:t>
            </a:r>
          </a:p>
          <a:p>
            <a:pPr marL="457200" lvl="1" indent="0">
              <a:lnSpc>
                <a:spcPct val="105000"/>
              </a:lnSpc>
              <a:buNone/>
            </a:pP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sym typeface="Symbol" panose="05050102010706020507" pitchFamily="18" charset="2"/>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sym typeface="Symbol" panose="05050102010706020507" pitchFamily="18" charset="2"/>
              </a:rPr>
              <a:t>O</a:t>
            </a:r>
            <a:r>
              <a:rPr lang="en-US" altLang="zh-CN" sz="2200" b="1" dirty="0">
                <a:latin typeface="Times New Roman" panose="02020603050405020304" pitchFamily="18" charset="0"/>
                <a:sym typeface="Symbol" panose="05050102010706020507" pitchFamily="18" charset="2"/>
              </a:rPr>
              <a:t> </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sym typeface="Symbol" panose="05050102010706020507" pitchFamily="18" charset="2"/>
              </a:rPr>
              <a:t>O</a:t>
            </a:r>
            <a:r>
              <a:rPr lang="en-US" altLang="zh-CN" sz="2200" b="1" dirty="0">
                <a:latin typeface="Times New Roman" panose="02020603050405020304" pitchFamily="18" charset="0"/>
                <a:sym typeface="Symbol" panose="05050102010706020507" pitchFamily="18" charset="2"/>
              </a:rPr>
              <a:t> </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a:t>
            </a:r>
          </a:p>
          <a:p>
            <a:pPr marL="457200" lvl="1" indent="0">
              <a:lnSpc>
                <a:spcPct val="105000"/>
              </a:lnSpc>
              <a:buNone/>
            </a:pP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 </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h</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a:t>
            </a:r>
          </a:p>
          <a:p>
            <a:pPr>
              <a:lnSpc>
                <a:spcPct val="105000"/>
              </a:lnSpc>
              <a:buFont typeface="Wingdings" panose="05000000000000000000" pitchFamily="2" charset="2"/>
              <a:buNone/>
            </a:pPr>
            <a:r>
              <a:rPr lang="zh-CN" altLang="en-US" sz="2600" b="1" dirty="0">
                <a:solidFill>
                  <a:srgbClr val="0033CC"/>
                </a:solidFill>
                <a:latin typeface="Times New Roman" panose="02020603050405020304" pitchFamily="18" charset="0"/>
              </a:rPr>
              <a:t>（</a:t>
            </a:r>
            <a:r>
              <a:rPr lang="en-US" altLang="zh-CN" sz="2600" b="1" dirty="0">
                <a:solidFill>
                  <a:srgbClr val="0033CC"/>
                </a:solidFill>
                <a:latin typeface="Times New Roman" panose="02020603050405020304" pitchFamily="18" charset="0"/>
              </a:rPr>
              <a:t>2</a:t>
            </a:r>
            <a:r>
              <a:rPr lang="zh-CN" altLang="en-US" sz="2600" b="1" dirty="0">
                <a:solidFill>
                  <a:srgbClr val="0033CC"/>
                </a:solidFill>
                <a:latin typeface="Times New Roman" panose="02020603050405020304" pitchFamily="18" charset="0"/>
              </a:rPr>
              <a:t>）反身性</a:t>
            </a:r>
          </a:p>
          <a:p>
            <a:pPr>
              <a:lnSpc>
                <a:spcPct val="105000"/>
              </a:lnSpc>
              <a:buFont typeface="Wingdings" panose="05000000000000000000" pitchFamily="2" charset="2"/>
              <a:buNone/>
            </a:pPr>
            <a:r>
              <a:rPr lang="zh-CN" altLang="en-US" sz="2600" b="1" i="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a:t>
            </a:r>
            <a:r>
              <a:rPr lang="zh-CN" altLang="en-US" sz="2200" b="1" i="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sym typeface="Symbol" panose="05050102010706020507" pitchFamily="18" charset="2"/>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a:t>
            </a:r>
            <a:r>
              <a:rPr lang="zh-CN" altLang="en-US" sz="2200" b="1" i="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a:t>
            </a:r>
          </a:p>
          <a:p>
            <a:pPr>
              <a:lnSpc>
                <a:spcPct val="105000"/>
              </a:lnSpc>
              <a:buFont typeface="Wingdings" panose="05000000000000000000" pitchFamily="2" charset="2"/>
              <a:buNone/>
            </a:pPr>
            <a:r>
              <a:rPr lang="zh-CN" altLang="en-US" sz="2600" b="1" dirty="0">
                <a:solidFill>
                  <a:srgbClr val="0033CC"/>
                </a:solidFill>
                <a:latin typeface="Times New Roman" panose="02020603050405020304" pitchFamily="18" charset="0"/>
              </a:rPr>
              <a:t>（</a:t>
            </a:r>
            <a:r>
              <a:rPr lang="en-US" altLang="zh-CN" sz="2600" b="1" dirty="0">
                <a:solidFill>
                  <a:srgbClr val="0033CC"/>
                </a:solidFill>
                <a:latin typeface="Times New Roman" panose="02020603050405020304" pitchFamily="18" charset="0"/>
              </a:rPr>
              <a:t>3</a:t>
            </a:r>
            <a:r>
              <a:rPr lang="zh-CN" altLang="en-US" sz="2600" b="1" dirty="0">
                <a:solidFill>
                  <a:srgbClr val="0033CC"/>
                </a:solidFill>
                <a:latin typeface="Times New Roman" panose="02020603050405020304" pitchFamily="18" charset="0"/>
              </a:rPr>
              <a:t>）对称性</a:t>
            </a:r>
          </a:p>
          <a:p>
            <a:pPr>
              <a:lnSpc>
                <a:spcPct val="105000"/>
              </a:lnSpc>
              <a:buFont typeface="Wingdings" panose="05000000000000000000" pitchFamily="2" charset="2"/>
              <a:buNone/>
            </a:pPr>
            <a:r>
              <a:rPr lang="zh-CN" altLang="en-US" sz="2200" b="1" i="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 </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a:t>
            </a:r>
            <a:endParaRPr lang="zh-CN" altLang="en-US" sz="2200" b="1" dirty="0">
              <a:latin typeface="Times New Roman" panose="02020603050405020304" pitchFamily="18" charset="0"/>
              <a:sym typeface="Symbol" panose="05050102010706020507" pitchFamily="18" charset="2"/>
            </a:endParaRPr>
          </a:p>
          <a:p>
            <a:pPr>
              <a:lnSpc>
                <a:spcPct val="105000"/>
              </a:lnSpc>
              <a:buFont typeface="Wingdings" panose="05000000000000000000" pitchFamily="2" charset="2"/>
              <a:buNone/>
            </a:pPr>
            <a:r>
              <a:rPr lang="zh-CN" altLang="en-US" sz="2600" b="1" dirty="0">
                <a:solidFill>
                  <a:srgbClr val="0033CC"/>
                </a:solidFill>
                <a:latin typeface="Times New Roman" panose="02020603050405020304" pitchFamily="18" charset="0"/>
              </a:rPr>
              <a:t>（</a:t>
            </a:r>
            <a:r>
              <a:rPr lang="en-US" altLang="zh-CN" sz="2600" b="1" dirty="0">
                <a:solidFill>
                  <a:srgbClr val="0033CC"/>
                </a:solidFill>
                <a:latin typeface="Times New Roman" panose="02020603050405020304" pitchFamily="18" charset="0"/>
              </a:rPr>
              <a:t>4</a:t>
            </a:r>
            <a:r>
              <a:rPr lang="zh-CN" altLang="en-US" sz="2600" b="1" dirty="0">
                <a:solidFill>
                  <a:srgbClr val="0033CC"/>
                </a:solidFill>
                <a:latin typeface="Times New Roman" panose="02020603050405020304" pitchFamily="18" charset="0"/>
              </a:rPr>
              <a:t>）互对称性</a:t>
            </a:r>
          </a:p>
          <a:p>
            <a:pPr>
              <a:lnSpc>
                <a:spcPct val="105000"/>
              </a:lnSpc>
              <a:buFont typeface="Wingdings" panose="05000000000000000000" pitchFamily="2" charset="2"/>
              <a:buNone/>
            </a:pPr>
            <a:r>
              <a:rPr lang="zh-CN" altLang="en-US" sz="2200" b="1" i="1" dirty="0">
                <a:latin typeface="Times New Roman" panose="02020603050405020304" pitchFamily="18" charset="0"/>
              </a:rPr>
              <a:t>     </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O</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i="1" dirty="0">
                <a:latin typeface="Times New Roman" panose="02020603050405020304" pitchFamily="18" charset="0"/>
              </a:rPr>
              <a:t>g</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a:t>
            </a:r>
            <a:r>
              <a:rPr lang="en-US" altLang="zh-CN" sz="2200" b="1" dirty="0">
                <a:latin typeface="Times New Roman" panose="02020603050405020304" pitchFamily="18" charset="0"/>
              </a:rPr>
              <a:t> </a:t>
            </a:r>
            <a:r>
              <a:rPr lang="en-US" altLang="zh-CN" sz="2200" b="1" dirty="0">
                <a:latin typeface="Times New Roman" panose="02020603050405020304" pitchFamily="18" charset="0"/>
                <a:sym typeface="Symbol" panose="05050102010706020507" pitchFamily="18" charset="2"/>
              </a:rPr>
              <a:t> </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f</a:t>
            </a:r>
            <a:r>
              <a:rPr lang="en-US" altLang="zh-CN" sz="2200" b="1" dirty="0">
                <a:latin typeface="Times New Roman" panose="02020603050405020304" pitchFamily="18" charset="0"/>
              </a:rPr>
              <a:t>(</a:t>
            </a:r>
            <a:r>
              <a:rPr lang="en-US" altLang="zh-CN" sz="2200" b="1" i="1" dirty="0">
                <a:latin typeface="Times New Roman" panose="02020603050405020304" pitchFamily="18" charset="0"/>
              </a:rPr>
              <a:t>n</a:t>
            </a:r>
            <a:r>
              <a:rPr lang="en-US" altLang="zh-CN" sz="2200" b="1" dirty="0">
                <a:latin typeface="Times New Roman" panose="02020603050405020304" pitchFamily="18" charset="0"/>
              </a:rPr>
              <a:t>))</a:t>
            </a:r>
            <a:r>
              <a:rPr lang="en-US" altLang="zh-CN" sz="2200" b="1" dirty="0">
                <a:latin typeface="Times New Roman" panose="02020603050405020304" pitchFamily="18" charset="0"/>
                <a:sym typeface="Symbol" panose="05050102010706020507" pitchFamily="18" charset="2"/>
              </a:rPr>
              <a:t>.</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3">
            <a:extLst>
              <a:ext uri="{FF2B5EF4-FFF2-40B4-BE49-F238E27FC236}">
                <a16:creationId xmlns:a16="http://schemas.microsoft.com/office/drawing/2014/main" xmlns="" id="{A970020C-8320-4ABA-88A2-6EFFCC32067C}"/>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BE1FB6EF-9B54-460A-B04E-1B7569BA9336}" type="slidenum">
              <a:rPr altLang="zh-CN" sz="1000"/>
              <a:pPr>
                <a:spcBef>
                  <a:spcPct val="0"/>
                </a:spcBef>
                <a:buClrTx/>
                <a:buSzTx/>
                <a:buFont typeface="Arial" panose="020B0604020202020204" pitchFamily="34" charset="0"/>
                <a:buNone/>
              </a:pPr>
              <a:t>49</a:t>
            </a:fld>
            <a:endParaRPr lang="zh-CN" altLang="zh-CN" sz="1000"/>
          </a:p>
        </p:txBody>
      </p:sp>
      <p:sp>
        <p:nvSpPr>
          <p:cNvPr id="76803" name="Rectangle 4">
            <a:extLst>
              <a:ext uri="{FF2B5EF4-FFF2-40B4-BE49-F238E27FC236}">
                <a16:creationId xmlns:a16="http://schemas.microsoft.com/office/drawing/2014/main" xmlns="" id="{44F08D34-9548-4E56-9B8F-44F8A22CCA18}"/>
              </a:ext>
            </a:extLst>
          </p:cNvPr>
          <p:cNvSpPr>
            <a:spLocks noGrp="1" noChangeArrowheads="1"/>
          </p:cNvSpPr>
          <p:nvPr>
            <p:ph type="body" idx="4294967295"/>
          </p:nvPr>
        </p:nvSpPr>
        <p:spPr>
          <a:xfrm>
            <a:off x="479376" y="548680"/>
            <a:ext cx="10081120" cy="4751387"/>
          </a:xfrm>
        </p:spPr>
        <p:txBody>
          <a:bodyPr>
            <a:normAutofit/>
          </a:bodyPr>
          <a:lstStyle/>
          <a:p>
            <a:pPr eaLnBrk="1" hangingPunct="1">
              <a:lnSpc>
                <a:spcPct val="140000"/>
              </a:lnSpc>
              <a:buFont typeface="Wingdings" panose="05000000000000000000" pitchFamily="2" charset="2"/>
              <a:buNone/>
            </a:pPr>
            <a:r>
              <a:rPr lang="zh-CN" altLang="en-US" b="1" dirty="0">
                <a:solidFill>
                  <a:srgbClr val="0033CC"/>
                </a:solidFill>
                <a:latin typeface="Times New Roman" panose="02020603050405020304" pitchFamily="18" charset="0"/>
              </a:rPr>
              <a:t>（</a:t>
            </a:r>
            <a:r>
              <a:rPr lang="en-US" altLang="zh-CN" b="1" dirty="0">
                <a:solidFill>
                  <a:srgbClr val="0033CC"/>
                </a:solidFill>
                <a:latin typeface="Times New Roman" panose="02020603050405020304" pitchFamily="18" charset="0"/>
              </a:rPr>
              <a:t>5</a:t>
            </a:r>
            <a:r>
              <a:rPr lang="zh-CN" altLang="en-US" b="1" dirty="0">
                <a:solidFill>
                  <a:srgbClr val="0033CC"/>
                </a:solidFill>
                <a:latin typeface="Times New Roman" panose="02020603050405020304" pitchFamily="18" charset="0"/>
              </a:rPr>
              <a:t>）算术运算</a:t>
            </a:r>
          </a:p>
          <a:p>
            <a:pPr lvl="1">
              <a:lnSpc>
                <a:spcPct val="140000"/>
              </a:lnSpc>
              <a:buNone/>
            </a:pP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(max{</a:t>
            </a:r>
            <a:r>
              <a:rPr lang="en-US" altLang="zh-CN" b="1" i="1" dirty="0">
                <a:latin typeface="Times New Roman" panose="02020603050405020304" pitchFamily="18" charset="0"/>
              </a:rPr>
              <a:t>f</a:t>
            </a:r>
            <a:r>
              <a:rPr lang="en-US" altLang="zh-CN" b="1" dirty="0">
                <a:latin typeface="Times New Roman" panose="02020603050405020304" pitchFamily="18" charset="0"/>
              </a:rPr>
              <a:t>(n), </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a:t>
            </a:r>
          </a:p>
          <a:p>
            <a:pPr lvl="1">
              <a:lnSpc>
                <a:spcPct val="140000"/>
              </a:lnSpc>
              <a:buNone/>
            </a:pP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a:t>
            </a:r>
          </a:p>
          <a:p>
            <a:pPr lvl="1">
              <a:lnSpc>
                <a:spcPct val="140000"/>
              </a:lnSpc>
              <a:buNone/>
            </a:pP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(n)</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a:t>
            </a:r>
          </a:p>
          <a:p>
            <a:pPr lvl="1">
              <a:lnSpc>
                <a:spcPct val="140000"/>
              </a:lnSpc>
              <a:buNone/>
            </a:pP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err="1">
                <a:latin typeface="Times New Roman" panose="02020603050405020304" pitchFamily="18" charset="0"/>
              </a:rPr>
              <a:t>cf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(n)) </a:t>
            </a:r>
            <a:r>
              <a:rPr lang="zh-CN" altLang="en-US" b="1" dirty="0">
                <a:latin typeface="Times New Roman" panose="02020603050405020304" pitchFamily="18" charset="0"/>
              </a:rPr>
              <a:t>；</a:t>
            </a:r>
          </a:p>
          <a:p>
            <a:pPr lvl="1">
              <a:lnSpc>
                <a:spcPct val="140000"/>
              </a:lnSpc>
              <a:buNone/>
            </a:pP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(g(</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f</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O</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a:t>
            </a:r>
          </a:p>
          <a:p>
            <a:pPr eaLnBrk="1" hangingPunct="1">
              <a:lnSpc>
                <a:spcPct val="140000"/>
              </a:lnSpc>
              <a:buFont typeface="Wingdings" panose="05000000000000000000" pitchFamily="2" charset="2"/>
              <a:buNone/>
            </a:pPr>
            <a:r>
              <a:rPr lang="zh-CN" altLang="en-US" b="1" dirty="0">
                <a:latin typeface="Times New Roman" panose="02020603050405020304" pitchFamily="18" charset="0"/>
                <a:sym typeface="Symbol" panose="05050102010706020507" pitchFamily="18" charset="2"/>
              </a:rPr>
              <a:t>    、 也有类似性质，证明方法类似。</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400" y="188640"/>
            <a:ext cx="10515600" cy="1325563"/>
          </a:xfrm>
        </p:spPr>
        <p:txBody>
          <a:bodyPr/>
          <a:lstStyle/>
          <a:p>
            <a:pPr eaLnBrk="1" hangingPunct="1"/>
            <a:r>
              <a:rPr lang="en-US" altLang="zh-CN" dirty="0"/>
              <a:t>2.3  </a:t>
            </a:r>
            <a:r>
              <a:rPr lang="zh-CN" altLang="en-US" dirty="0"/>
              <a:t>用</a:t>
            </a:r>
            <a:r>
              <a:rPr lang="en-US" altLang="zh-CN" dirty="0"/>
              <a:t>SPARKS</a:t>
            </a:r>
            <a:r>
              <a:rPr lang="zh-CN" altLang="en-US" dirty="0"/>
              <a:t>语言写算法</a:t>
            </a:r>
          </a:p>
        </p:txBody>
      </p:sp>
      <p:sp>
        <p:nvSpPr>
          <p:cNvPr id="3" name="内容占位符 2"/>
          <p:cNvSpPr>
            <a:spLocks noGrp="1"/>
          </p:cNvSpPr>
          <p:nvPr>
            <p:ph idx="1"/>
          </p:nvPr>
        </p:nvSpPr>
        <p:spPr>
          <a:xfrm>
            <a:off x="695400" y="1628800"/>
            <a:ext cx="8229600" cy="3886200"/>
          </a:xfrm>
        </p:spPr>
        <p:txBody>
          <a:bodyPr>
            <a:normAutofit/>
          </a:bodyPr>
          <a:lstStyle/>
          <a:p>
            <a:r>
              <a:rPr lang="zh-CN" altLang="en-US" dirty="0"/>
              <a:t>基本数据类型和变量命名规则</a:t>
            </a:r>
            <a:endParaRPr lang="en-US" altLang="zh-CN" dirty="0"/>
          </a:p>
          <a:p>
            <a:r>
              <a:rPr lang="zh-CN" altLang="en-US" dirty="0"/>
              <a:t>运算符</a:t>
            </a:r>
            <a:endParaRPr lang="en-US" altLang="zh-CN" dirty="0"/>
          </a:p>
          <a:p>
            <a:r>
              <a:rPr lang="zh-CN" altLang="en-US" dirty="0"/>
              <a:t>条件语句和循环语句</a:t>
            </a:r>
            <a:endParaRPr lang="en-US" altLang="zh-CN" dirty="0"/>
          </a:p>
          <a:p>
            <a:r>
              <a:rPr lang="zh-CN" altLang="en-US" dirty="0"/>
              <a:t>跳转语句</a:t>
            </a:r>
            <a:endParaRPr lang="en-US" altLang="zh-CN" dirty="0"/>
          </a:p>
          <a:p>
            <a:r>
              <a:rPr lang="zh-CN" altLang="en-US" dirty="0"/>
              <a:t>算法定义</a:t>
            </a:r>
            <a:endParaRPr lang="en-US" altLang="zh-CN" dirty="0"/>
          </a:p>
          <a:p>
            <a:r>
              <a:rPr lang="zh-CN" altLang="en-US" dirty="0"/>
              <a:t>算法的同质异相</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50</a:t>
            </a:fld>
            <a:endParaRPr lang="en-US" altLang="zh-CN"/>
          </a:p>
        </p:txBody>
      </p:sp>
    </p:spTree>
    <p:extLst>
      <p:ext uri="{BB962C8B-B14F-4D97-AF65-F5344CB8AC3E}">
        <p14:creationId xmlns:p14="http://schemas.microsoft.com/office/powerpoint/2010/main" val="339197897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400" y="188640"/>
            <a:ext cx="10515600" cy="1325563"/>
          </a:xfrm>
        </p:spPr>
        <p:txBody>
          <a:bodyPr/>
          <a:lstStyle/>
          <a:p>
            <a:r>
              <a:rPr lang="zh-CN" altLang="en-US" dirty="0"/>
              <a:t>基本数据类型和变量命名规则</a:t>
            </a:r>
          </a:p>
        </p:txBody>
      </p:sp>
      <p:sp>
        <p:nvSpPr>
          <p:cNvPr id="3" name="内容占位符 2"/>
          <p:cNvSpPr>
            <a:spLocks noGrp="1"/>
          </p:cNvSpPr>
          <p:nvPr>
            <p:ph idx="1"/>
          </p:nvPr>
        </p:nvSpPr>
        <p:spPr>
          <a:xfrm>
            <a:off x="831667" y="1556792"/>
            <a:ext cx="10515600" cy="4351338"/>
          </a:xfrm>
        </p:spPr>
        <p:txBody>
          <a:bodyPr/>
          <a:lstStyle/>
          <a:p>
            <a:r>
              <a:rPr kumimoji="1" lang="zh-CN" altLang="en-US" dirty="0">
                <a:latin typeface="幼圆" panose="02010509060101010101" pitchFamily="49" charset="-122"/>
              </a:rPr>
              <a:t>基本数据类型：</a:t>
            </a:r>
          </a:p>
          <a:p>
            <a:pPr marL="457200" lvl="1" indent="0">
              <a:buNone/>
            </a:pPr>
            <a:r>
              <a:rPr kumimoji="1" lang="zh-CN" altLang="en-US" dirty="0">
                <a:latin typeface="幼圆" panose="02010509060101010101" pitchFamily="49" charset="-122"/>
              </a:rPr>
              <a:t>整型</a:t>
            </a:r>
            <a:r>
              <a:rPr kumimoji="1" lang="en-US" altLang="zh-CN" dirty="0"/>
              <a:t>(integer)</a:t>
            </a:r>
            <a:r>
              <a:rPr kumimoji="1" lang="en-US" altLang="zh-CN" dirty="0">
                <a:latin typeface="幼圆" panose="02010509060101010101" pitchFamily="49" charset="-122"/>
              </a:rPr>
              <a:t>, </a:t>
            </a:r>
            <a:r>
              <a:rPr kumimoji="1" lang="zh-CN" altLang="en-US" dirty="0">
                <a:latin typeface="幼圆" panose="02010509060101010101" pitchFamily="49" charset="-122"/>
              </a:rPr>
              <a:t>实型</a:t>
            </a:r>
            <a:r>
              <a:rPr kumimoji="1" lang="en-US" altLang="zh-CN" dirty="0"/>
              <a:t>(real),</a:t>
            </a:r>
            <a:r>
              <a:rPr kumimoji="1" lang="en-US" altLang="zh-CN" dirty="0">
                <a:latin typeface="幼圆" panose="02010509060101010101" pitchFamily="49" charset="-122"/>
              </a:rPr>
              <a:t> </a:t>
            </a:r>
            <a:r>
              <a:rPr kumimoji="1" lang="zh-CN" altLang="en-US" dirty="0">
                <a:latin typeface="幼圆" panose="02010509060101010101" pitchFamily="49" charset="-122"/>
              </a:rPr>
              <a:t>布尔型</a:t>
            </a:r>
            <a:r>
              <a:rPr kumimoji="1" lang="en-US" altLang="zh-CN" dirty="0"/>
              <a:t>(</a:t>
            </a:r>
            <a:r>
              <a:rPr kumimoji="1" lang="en-US" altLang="zh-CN" dirty="0" err="1"/>
              <a:t>boolean</a:t>
            </a:r>
            <a:r>
              <a:rPr kumimoji="1" lang="en-US" altLang="zh-CN" dirty="0"/>
              <a:t>), </a:t>
            </a:r>
            <a:r>
              <a:rPr kumimoji="1" lang="zh-CN" altLang="en-US" dirty="0">
                <a:latin typeface="幼圆" panose="02010509060101010101" pitchFamily="49" charset="-122"/>
              </a:rPr>
              <a:t>字符型</a:t>
            </a:r>
            <a:r>
              <a:rPr kumimoji="1" lang="en-US" altLang="zh-CN" dirty="0"/>
              <a:t>(char)</a:t>
            </a:r>
          </a:p>
          <a:p>
            <a:pPr marL="457200" lvl="1" indent="0">
              <a:buNone/>
            </a:pPr>
            <a:endParaRPr kumimoji="1" lang="en-US" altLang="zh-CN" dirty="0">
              <a:latin typeface="幼圆" panose="02010509060101010101" pitchFamily="49" charset="-122"/>
            </a:endParaRPr>
          </a:p>
          <a:p>
            <a:r>
              <a:rPr kumimoji="1" lang="zh-CN" altLang="en-US" dirty="0">
                <a:latin typeface="幼圆" panose="02010509060101010101" pitchFamily="49" charset="-122"/>
              </a:rPr>
              <a:t>变量命名规则：</a:t>
            </a:r>
          </a:p>
          <a:p>
            <a:pPr marL="457200" lvl="1" indent="0">
              <a:buNone/>
            </a:pPr>
            <a:r>
              <a:rPr kumimoji="1" lang="zh-CN" altLang="en-US" dirty="0">
                <a:latin typeface="幼圆" panose="02010509060101010101" pitchFamily="49" charset="-122"/>
              </a:rPr>
              <a:t>以字母开头，不允许使用特殊字符，不允许与保留字重复</a:t>
            </a:r>
          </a:p>
          <a:p>
            <a:pPr marL="457200" lvl="1" indent="0">
              <a:buNone/>
            </a:pPr>
            <a:endParaRPr kumimoji="1" lang="en-US" altLang="zh-CN" dirty="0">
              <a:latin typeface="幼圆" panose="02010509060101010101" pitchFamily="49" charset="-122"/>
            </a:endParaRPr>
          </a:p>
          <a:p>
            <a:r>
              <a:rPr kumimoji="1" lang="zh-CN" altLang="en-US" dirty="0">
                <a:latin typeface="Verdana" pitchFamily="34" charset="0"/>
              </a:rPr>
              <a:t>数组：任意整数下界和上界的多维数组：</a:t>
            </a:r>
            <a:r>
              <a:rPr kumimoji="1" lang="en-US" altLang="zh-CN" dirty="0"/>
              <a:t>integer </a:t>
            </a:r>
            <a:r>
              <a:rPr kumimoji="1" lang="en-US" altLang="zh-CN" i="1" dirty="0"/>
              <a:t>A(l</a:t>
            </a:r>
            <a:r>
              <a:rPr kumimoji="1" lang="en-US" altLang="zh-CN" i="1" baseline="-25000" dirty="0"/>
              <a:t>1</a:t>
            </a:r>
            <a:r>
              <a:rPr kumimoji="1" lang="en-US" altLang="zh-CN" i="1" dirty="0"/>
              <a:t>:u</a:t>
            </a:r>
            <a:r>
              <a:rPr kumimoji="1" lang="en-US" altLang="zh-CN" i="1" baseline="-25000" dirty="0"/>
              <a:t>1</a:t>
            </a:r>
            <a:r>
              <a:rPr kumimoji="1" lang="en-US" altLang="zh-CN" i="1" dirty="0"/>
              <a:t>,…,</a:t>
            </a:r>
            <a:r>
              <a:rPr kumimoji="1" lang="en-US" altLang="zh-CN" i="1" dirty="0" err="1"/>
              <a:t>l</a:t>
            </a:r>
            <a:r>
              <a:rPr kumimoji="1" lang="en-US" altLang="zh-CN" i="1" baseline="-25000" dirty="0" err="1"/>
              <a:t>n</a:t>
            </a:r>
            <a:r>
              <a:rPr kumimoji="1" lang="en-US" altLang="zh-CN" i="1" dirty="0" err="1"/>
              <a:t>:u</a:t>
            </a:r>
            <a:r>
              <a:rPr kumimoji="1" lang="en-US" altLang="zh-CN" i="1" baseline="-25000" dirty="0" err="1"/>
              <a:t>n</a:t>
            </a:r>
            <a:r>
              <a:rPr kumimoji="1" lang="en-US" altLang="zh-CN" dirty="0"/>
              <a:t>)</a:t>
            </a:r>
            <a:endParaRPr lang="zh-CN" altLang="en-US" dirty="0"/>
          </a:p>
          <a:p>
            <a:endParaRPr lang="zh-CN" altLang="en-US" dirty="0">
              <a:latin typeface="幼圆" panose="02010509060101010101" pitchFamily="49" charset="-122"/>
            </a:endParaRPr>
          </a:p>
        </p:txBody>
      </p:sp>
      <p:sp>
        <p:nvSpPr>
          <p:cNvPr id="4" name="Text Box 9"/>
          <p:cNvSpPr txBox="1">
            <a:spLocks noChangeArrowheads="1"/>
          </p:cNvSpPr>
          <p:nvPr/>
        </p:nvSpPr>
        <p:spPr bwMode="auto">
          <a:xfrm>
            <a:off x="2106985" y="4140016"/>
            <a:ext cx="46370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dirty="0">
                <a:latin typeface="幼圆" panose="02010509060101010101" pitchFamily="49" charset="-122"/>
                <a:ea typeface="幼圆" panose="02010509060101010101" pitchFamily="49" charset="-122"/>
              </a:rPr>
              <a:t>例</a:t>
            </a:r>
            <a:r>
              <a:rPr kumimoji="1" lang="en-US" altLang="zh-CN" sz="2400" dirty="0">
                <a:latin typeface="幼圆" panose="02010509060101010101" pitchFamily="49" charset="-122"/>
                <a:ea typeface="幼圆" panose="02010509060101010101" pitchFamily="49" charset="-122"/>
              </a:rPr>
              <a:t>: </a:t>
            </a:r>
            <a:r>
              <a:rPr kumimoji="1" lang="en-US" altLang="zh-CN" sz="2400" dirty="0">
                <a:latin typeface="Arial" panose="020B0604020202020204" pitchFamily="34" charset="0"/>
                <a:cs typeface="Arial" panose="020B0604020202020204" pitchFamily="34" charset="0"/>
              </a:rPr>
              <a:t>integer   x, y;    char   </a:t>
            </a:r>
            <a:r>
              <a:rPr kumimoji="1" lang="en-US" altLang="zh-CN" sz="2400" dirty="0" err="1">
                <a:latin typeface="Arial" panose="020B0604020202020204" pitchFamily="34" charset="0"/>
                <a:cs typeface="Arial" panose="020B0604020202020204" pitchFamily="34" charset="0"/>
              </a:rPr>
              <a:t>ch</a:t>
            </a:r>
            <a:r>
              <a:rPr kumimoji="1" lang="en-US" altLang="zh-CN" sz="2400" dirty="0">
                <a:latin typeface="Arial" panose="020B0604020202020204" pitchFamily="34" charset="0"/>
                <a:cs typeface="Arial" panose="020B0604020202020204" pitchFamily="34" charset="0"/>
              </a:rPr>
              <a:t>;</a:t>
            </a:r>
          </a:p>
        </p:txBody>
      </p:sp>
      <p:sp>
        <p:nvSpPr>
          <p:cNvPr id="6" name="灯片编号占位符 5"/>
          <p:cNvSpPr>
            <a:spLocks noGrp="1"/>
          </p:cNvSpPr>
          <p:nvPr>
            <p:ph type="sldNum" sz="quarter" idx="12"/>
          </p:nvPr>
        </p:nvSpPr>
        <p:spPr/>
        <p:txBody>
          <a:bodyPr/>
          <a:lstStyle/>
          <a:p>
            <a:pPr>
              <a:defRPr/>
            </a:pPr>
            <a:fld id="{D04713B0-7EE7-420A-BB22-6F99F562E080}" type="slidenum">
              <a:rPr lang="en-US" altLang="zh-CN" smtClean="0"/>
              <a:pPr>
                <a:defRPr/>
              </a:pPr>
              <a:t>51</a:t>
            </a:fld>
            <a:endParaRPr lang="en-US" altLang="zh-CN"/>
          </a:p>
        </p:txBody>
      </p:sp>
      <p:sp>
        <p:nvSpPr>
          <p:cNvPr id="7" name="Text Box 9"/>
          <p:cNvSpPr txBox="1">
            <a:spLocks noChangeArrowheads="1"/>
          </p:cNvSpPr>
          <p:nvPr/>
        </p:nvSpPr>
        <p:spPr bwMode="auto">
          <a:xfrm>
            <a:off x="2106985" y="2597931"/>
            <a:ext cx="46370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spcBef>
                <a:spcPct val="50000"/>
              </a:spcBef>
              <a:defRPr kumimoji="1" sz="2800" b="1">
                <a:solidFill>
                  <a:schemeClr val="accent1">
                    <a:lumMod val="50000"/>
                  </a:schemeClr>
                </a:solidFill>
                <a:latin typeface="Times New Roman" pitchFamily="18" charset="0"/>
              </a:defRPr>
            </a:lvl1pPr>
          </a:lstStyle>
          <a:p>
            <a:r>
              <a:rPr lang="zh-CN" altLang="en-US" sz="2400" b="0" dirty="0">
                <a:solidFill>
                  <a:schemeClr val="tx1"/>
                </a:solidFill>
                <a:latin typeface="幼圆" panose="02010509060101010101" pitchFamily="49" charset="-122"/>
                <a:ea typeface="幼圆" panose="02010509060101010101" pitchFamily="49" charset="-122"/>
              </a:rPr>
              <a:t>布尔值</a:t>
            </a:r>
            <a:r>
              <a:rPr lang="en-US" altLang="zh-CN" sz="2400" b="0" dirty="0">
                <a:solidFill>
                  <a:schemeClr val="tx1"/>
                </a:solidFill>
                <a:latin typeface="幼圆" panose="02010509060101010101" pitchFamily="49" charset="-122"/>
                <a:ea typeface="幼圆" panose="02010509060101010101" pitchFamily="49" charset="-122"/>
              </a:rPr>
              <a:t>: </a:t>
            </a:r>
            <a:r>
              <a:rPr lang="en-US" altLang="zh-CN" sz="2400" b="0" dirty="0">
                <a:solidFill>
                  <a:schemeClr val="tx1"/>
                </a:solidFill>
                <a:latin typeface="Arial" panose="020B0604020202020204" pitchFamily="34" charset="0"/>
                <a:cs typeface="Arial" panose="020B0604020202020204" pitchFamily="34" charset="0"/>
              </a:rPr>
              <a:t>true</a:t>
            </a:r>
            <a:r>
              <a:rPr lang="zh-CN" altLang="en-US" sz="2400" b="0" dirty="0">
                <a:solidFill>
                  <a:schemeClr val="tx1"/>
                </a:solidFill>
                <a:latin typeface="Arial" panose="020B0604020202020204" pitchFamily="34" charset="0"/>
                <a:cs typeface="Arial" panose="020B0604020202020204" pitchFamily="34" charset="0"/>
              </a:rPr>
              <a:t>，</a:t>
            </a:r>
            <a:r>
              <a:rPr lang="en-US" altLang="zh-CN" sz="2400" b="0" dirty="0">
                <a:solidFill>
                  <a:schemeClr val="tx1"/>
                </a:solidFill>
                <a:latin typeface="Arial" panose="020B0604020202020204" pitchFamily="34" charset="0"/>
                <a:cs typeface="Arial" panose="020B0604020202020204" pitchFamily="34" charset="0"/>
              </a:rPr>
              <a:t>false</a:t>
            </a:r>
          </a:p>
        </p:txBody>
      </p:sp>
      <p:sp>
        <p:nvSpPr>
          <p:cNvPr id="8" name="Text Box 10"/>
          <p:cNvSpPr txBox="1">
            <a:spLocks noChangeArrowheads="1"/>
          </p:cNvSpPr>
          <p:nvPr/>
        </p:nvSpPr>
        <p:spPr bwMode="auto">
          <a:xfrm>
            <a:off x="2109580" y="5229200"/>
            <a:ext cx="77851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dirty="0">
                <a:latin typeface="幼圆" panose="02010509060101010101" pitchFamily="49" charset="-122"/>
                <a:ea typeface="幼圆" panose="02010509060101010101" pitchFamily="49" charset="-122"/>
              </a:rPr>
              <a:t>例</a:t>
            </a:r>
            <a:r>
              <a:rPr kumimoji="1" lang="en-US" altLang="zh-CN" sz="2400" dirty="0">
                <a:latin typeface="幼圆" panose="02010509060101010101" pitchFamily="49" charset="-122"/>
                <a:ea typeface="幼圆" panose="02010509060101010101" pitchFamily="49" charset="-122"/>
              </a:rPr>
              <a:t>: </a:t>
            </a:r>
            <a:r>
              <a:rPr kumimoji="1" lang="en-US" altLang="zh-CN" sz="2400" dirty="0">
                <a:latin typeface="Arial" panose="020B0604020202020204" pitchFamily="34" charset="0"/>
                <a:cs typeface="Arial" panose="020B0604020202020204" pitchFamily="34" charset="0"/>
              </a:rPr>
              <a:t>integer   A(1:10);        real   B(3:6 , 1:4);</a:t>
            </a:r>
          </a:p>
        </p:txBody>
      </p:sp>
    </p:spTree>
    <p:extLst>
      <p:ext uri="{BB962C8B-B14F-4D97-AF65-F5344CB8AC3E}">
        <p14:creationId xmlns:p14="http://schemas.microsoft.com/office/powerpoint/2010/main" val="1153056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7" grpId="0" autoUpdateAnimBg="0"/>
      <p:bldP spid="8"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310" y="188640"/>
            <a:ext cx="10515600" cy="1325563"/>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r>
              <a:rPr lang="zh-CN" altLang="en-US" dirty="0"/>
              <a:t>运算符</a:t>
            </a:r>
          </a:p>
        </p:txBody>
      </p:sp>
      <p:sp>
        <p:nvSpPr>
          <p:cNvPr id="3" name="内容占位符 2"/>
          <p:cNvSpPr>
            <a:spLocks noGrp="1"/>
          </p:cNvSpPr>
          <p:nvPr>
            <p:ph idx="1"/>
          </p:nvPr>
        </p:nvSpPr>
        <p:spPr>
          <a:xfrm>
            <a:off x="770310" y="1628800"/>
            <a:ext cx="10515600" cy="4351338"/>
          </a:xfrm>
        </p:spPr>
        <p:txBody>
          <a:bodyPr/>
          <a:lstStyle/>
          <a:p>
            <a:r>
              <a:rPr kumimoji="1" lang="zh-CN" altLang="en-US" sz="2800" dirty="0">
                <a:latin typeface="Verdana" pitchFamily="34" charset="0"/>
              </a:rPr>
              <a:t>赋值语句：变量 </a:t>
            </a:r>
            <a:r>
              <a:rPr kumimoji="1" lang="zh-CN" altLang="en-US" sz="2800" dirty="0">
                <a:latin typeface="Verdana" pitchFamily="34" charset="0"/>
                <a:sym typeface="Symbol" pitchFamily="18" charset="2"/>
              </a:rPr>
              <a:t></a:t>
            </a:r>
            <a:r>
              <a:rPr kumimoji="1" lang="zh-CN" altLang="en-US" sz="2800" dirty="0">
                <a:latin typeface="Verdana" pitchFamily="34" charset="0"/>
                <a:sym typeface="Wingdings" pitchFamily="2" charset="2"/>
              </a:rPr>
              <a:t> 表达式</a:t>
            </a:r>
            <a:endParaRPr kumimoji="1" lang="zh-CN" altLang="en-US" sz="2800" dirty="0">
              <a:latin typeface="Times New Roman" pitchFamily="18" charset="0"/>
            </a:endParaRPr>
          </a:p>
          <a:p>
            <a:r>
              <a:rPr kumimoji="1" lang="zh-CN" altLang="en-US" sz="2800" dirty="0">
                <a:latin typeface="Verdana" pitchFamily="34" charset="0"/>
              </a:rPr>
              <a:t>逻辑运算符：</a:t>
            </a:r>
            <a:r>
              <a:rPr kumimoji="1" lang="en-US" altLang="zh-CN" sz="2800" dirty="0">
                <a:latin typeface="Times New Roman" pitchFamily="18" charset="0"/>
              </a:rPr>
              <a:t>and , or , not</a:t>
            </a:r>
          </a:p>
          <a:p>
            <a:r>
              <a:rPr kumimoji="1" lang="zh-CN" altLang="en-US" sz="2800" dirty="0">
                <a:latin typeface="Verdana" pitchFamily="34" charset="0"/>
              </a:rPr>
              <a:t>关系运算符：</a:t>
            </a:r>
            <a:r>
              <a:rPr kumimoji="1" lang="en-US" altLang="zh-CN" sz="2800" dirty="0">
                <a:latin typeface="Times New Roman" pitchFamily="18" charset="0"/>
              </a:rPr>
              <a:t>&lt; </a:t>
            </a:r>
            <a:r>
              <a:rPr kumimoji="1" lang="zh-CN" altLang="en-US" sz="2800" dirty="0">
                <a:latin typeface="Times New Roman" pitchFamily="18" charset="0"/>
              </a:rPr>
              <a:t>，≤，</a:t>
            </a:r>
            <a:r>
              <a:rPr kumimoji="1" lang="en-US" altLang="zh-CN" sz="2800" dirty="0">
                <a:latin typeface="Times New Roman" pitchFamily="18" charset="0"/>
              </a:rPr>
              <a:t>=</a:t>
            </a:r>
            <a:r>
              <a:rPr kumimoji="1" lang="zh-CN" altLang="en-US" sz="2800" dirty="0">
                <a:latin typeface="Times New Roman" pitchFamily="18" charset="0"/>
              </a:rPr>
              <a:t>，≠，</a:t>
            </a:r>
            <a:r>
              <a:rPr kumimoji="1" lang="en-US" altLang="zh-CN" sz="2800" dirty="0">
                <a:latin typeface="Times New Roman" pitchFamily="18" charset="0"/>
              </a:rPr>
              <a:t>&gt;</a:t>
            </a:r>
            <a:r>
              <a:rPr kumimoji="1" lang="zh-CN" altLang="en-US" sz="2800" dirty="0">
                <a:latin typeface="Times New Roman" pitchFamily="18" charset="0"/>
              </a:rPr>
              <a:t>， ≥</a:t>
            </a:r>
          </a:p>
        </p:txBody>
      </p:sp>
      <p:sp>
        <p:nvSpPr>
          <p:cNvPr id="5" name="灯片编号占位符 4"/>
          <p:cNvSpPr>
            <a:spLocks noGrp="1"/>
          </p:cNvSpPr>
          <p:nvPr>
            <p:ph type="sldNum" sz="quarter" idx="12"/>
          </p:nvPr>
        </p:nvSpPr>
        <p:spPr/>
        <p:txBody>
          <a:bodyPr/>
          <a:lstStyle/>
          <a:p>
            <a:pPr>
              <a:defRPr/>
            </a:pPr>
            <a:fld id="{D04713B0-7EE7-420A-BB22-6F99F562E080}" type="slidenum">
              <a:rPr lang="en-US" altLang="zh-CN" smtClean="0"/>
              <a:pPr>
                <a:defRPr/>
              </a:pPr>
              <a:t>52</a:t>
            </a:fld>
            <a:endParaRPr lang="en-US" altLang="zh-CN"/>
          </a:p>
        </p:txBody>
      </p:sp>
    </p:spTree>
    <p:extLst>
      <p:ext uri="{BB962C8B-B14F-4D97-AF65-F5344CB8AC3E}">
        <p14:creationId xmlns:p14="http://schemas.microsoft.com/office/powerpoint/2010/main" val="42088668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16" y="113184"/>
            <a:ext cx="8229600" cy="1371600"/>
          </a:xfrm>
        </p:spPr>
        <p:txBody>
          <a:bodyPr/>
          <a:lstStyle/>
          <a:p>
            <a:r>
              <a:rPr lang="zh-CN" altLang="en-US" dirty="0"/>
              <a:t>条件语句和循环语句</a:t>
            </a:r>
          </a:p>
        </p:txBody>
      </p:sp>
      <p:sp>
        <p:nvSpPr>
          <p:cNvPr id="3" name="内容占位符 2"/>
          <p:cNvSpPr>
            <a:spLocks noGrp="1"/>
          </p:cNvSpPr>
          <p:nvPr>
            <p:ph idx="1"/>
          </p:nvPr>
        </p:nvSpPr>
        <p:spPr>
          <a:xfrm>
            <a:off x="839416" y="1412776"/>
            <a:ext cx="4032448" cy="4166592"/>
          </a:xfrm>
        </p:spPr>
        <p:txBody>
          <a:bodyPr/>
          <a:lstStyle/>
          <a:p>
            <a:r>
              <a:rPr lang="en-US" altLang="zh-CN" dirty="0"/>
              <a:t>if</a:t>
            </a:r>
            <a:r>
              <a:rPr lang="zh-CN" altLang="en-US" dirty="0"/>
              <a:t>语句</a:t>
            </a:r>
            <a:endParaRPr lang="en-US" altLang="zh-CN" dirty="0"/>
          </a:p>
          <a:p>
            <a:endParaRPr kumimoji="1" lang="en-US" altLang="zh-CN" dirty="0">
              <a:latin typeface="Times New Roman" pitchFamily="18" charset="0"/>
            </a:endParaRPr>
          </a:p>
          <a:p>
            <a:endParaRPr kumimoji="1" lang="en-US" altLang="zh-CN" dirty="0">
              <a:latin typeface="Times New Roman" pitchFamily="18" charset="0"/>
            </a:endParaRPr>
          </a:p>
          <a:p>
            <a:endParaRPr kumimoji="1" lang="en-US" altLang="zh-CN" dirty="0">
              <a:latin typeface="Times New Roman" pitchFamily="18" charset="0"/>
            </a:endParaRPr>
          </a:p>
          <a:p>
            <a:r>
              <a:rPr kumimoji="1" lang="en-US" altLang="zh-CN" dirty="0"/>
              <a:t>case</a:t>
            </a:r>
            <a:r>
              <a:rPr kumimoji="1" lang="zh-CN" altLang="en-US" dirty="0">
                <a:latin typeface="Times New Roman" pitchFamily="18" charset="0"/>
              </a:rPr>
              <a:t>语句</a:t>
            </a:r>
          </a:p>
          <a:p>
            <a:endParaRPr lang="zh-CN" altLang="en-US" dirty="0"/>
          </a:p>
        </p:txBody>
      </p:sp>
      <p:sp>
        <p:nvSpPr>
          <p:cNvPr id="4" name="Text Box 3"/>
          <p:cNvSpPr txBox="1">
            <a:spLocks noChangeArrowheads="1"/>
          </p:cNvSpPr>
          <p:nvPr/>
        </p:nvSpPr>
        <p:spPr bwMode="auto">
          <a:xfrm>
            <a:off x="1487488" y="1943894"/>
            <a:ext cx="2938462" cy="1907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chemeClr val="folHlink"/>
              </a:buClr>
              <a:buSzPct val="75000"/>
              <a:buFont typeface="Wingdings" pitchFamily="2" charset="2"/>
              <a:buNone/>
            </a:pPr>
            <a:r>
              <a:rPr kumimoji="1" lang="en-US" altLang="zh-CN" sz="2400" dirty="0">
                <a:latin typeface="Arial" panose="020B0604020202020204" pitchFamily="34" charset="0"/>
                <a:cs typeface="Arial" panose="020B0604020202020204" pitchFamily="34" charset="0"/>
              </a:rPr>
              <a:t>if </a:t>
            </a:r>
            <a:r>
              <a:rPr kumimoji="1" lang="zh-CN" altLang="en-US" sz="2400" dirty="0">
                <a:latin typeface="幼圆" panose="02010509060101010101" pitchFamily="49" charset="-122"/>
                <a:ea typeface="幼圆" panose="02010509060101010101" pitchFamily="49" charset="-122"/>
                <a:cs typeface="Arial" panose="020B0604020202020204" pitchFamily="34" charset="0"/>
              </a:rPr>
              <a:t>条件</a:t>
            </a:r>
            <a:r>
              <a:rPr kumimoji="1" lang="zh-CN" altLang="en-US" sz="2400" dirty="0">
                <a:latin typeface="Arial" panose="020B0604020202020204" pitchFamily="34" charset="0"/>
                <a:cs typeface="Arial" panose="020B0604020202020204" pitchFamily="34" charset="0"/>
              </a:rPr>
              <a:t> </a:t>
            </a:r>
            <a:r>
              <a:rPr kumimoji="1" lang="en-US" altLang="zh-CN" sz="2400" dirty="0">
                <a:latin typeface="Arial" panose="020B0604020202020204" pitchFamily="34" charset="0"/>
                <a:cs typeface="Arial" panose="020B0604020202020204" pitchFamily="34" charset="0"/>
              </a:rPr>
              <a:t>then  S1</a:t>
            </a:r>
          </a:p>
          <a:p>
            <a:pPr>
              <a:lnSpc>
                <a:spcPct val="70000"/>
              </a:lnSpc>
              <a:spcBef>
                <a:spcPct val="20000"/>
              </a:spcBef>
              <a:buClr>
                <a:schemeClr val="folHlink"/>
              </a:buClr>
              <a:buSzPct val="75000"/>
              <a:buFont typeface="Wingdings" pitchFamily="2" charset="2"/>
              <a:buNone/>
            </a:pPr>
            <a:r>
              <a:rPr kumimoji="1" lang="en-US" altLang="zh-CN" sz="2400" dirty="0" err="1">
                <a:latin typeface="Arial" panose="020B0604020202020204" pitchFamily="34" charset="0"/>
                <a:cs typeface="Arial" panose="020B0604020202020204" pitchFamily="34" charset="0"/>
              </a:rPr>
              <a:t>endif</a:t>
            </a:r>
            <a:endParaRPr kumimoji="1" lang="en-US" altLang="zh-CN" sz="2400" dirty="0">
              <a:latin typeface="Arial" panose="020B0604020202020204" pitchFamily="34" charset="0"/>
              <a:cs typeface="Arial" panose="020B0604020202020204" pitchFamily="34" charset="0"/>
            </a:endParaRPr>
          </a:p>
          <a:p>
            <a:pPr>
              <a:lnSpc>
                <a:spcPct val="120000"/>
              </a:lnSpc>
              <a:spcBef>
                <a:spcPct val="20000"/>
              </a:spcBef>
              <a:buClr>
                <a:schemeClr val="folHlink"/>
              </a:buClr>
              <a:buSzPct val="75000"/>
              <a:buFont typeface="Wingdings" pitchFamily="2" charset="2"/>
              <a:buNone/>
            </a:pPr>
            <a:r>
              <a:rPr kumimoji="1" lang="en-US" altLang="zh-CN" sz="2400" dirty="0">
                <a:latin typeface="Arial" panose="020B0604020202020204" pitchFamily="34" charset="0"/>
                <a:cs typeface="Arial" panose="020B0604020202020204" pitchFamily="34" charset="0"/>
              </a:rPr>
              <a:t>if </a:t>
            </a:r>
            <a:r>
              <a:rPr kumimoji="1" lang="zh-CN" altLang="en-US" sz="2400" dirty="0">
                <a:latin typeface="幼圆" panose="02010509060101010101" pitchFamily="49" charset="-122"/>
                <a:ea typeface="幼圆" panose="02010509060101010101" pitchFamily="49" charset="-122"/>
                <a:cs typeface="Arial" panose="020B0604020202020204" pitchFamily="34" charset="0"/>
              </a:rPr>
              <a:t>条件</a:t>
            </a:r>
            <a:r>
              <a:rPr kumimoji="1" lang="zh-CN" altLang="en-US" sz="2400" dirty="0">
                <a:latin typeface="Arial" panose="020B0604020202020204" pitchFamily="34" charset="0"/>
                <a:cs typeface="Arial" panose="020B0604020202020204" pitchFamily="34" charset="0"/>
              </a:rPr>
              <a:t> </a:t>
            </a:r>
            <a:r>
              <a:rPr kumimoji="1" lang="en-US" altLang="zh-CN" sz="2400" dirty="0">
                <a:latin typeface="Arial" panose="020B0604020202020204" pitchFamily="34" charset="0"/>
                <a:cs typeface="Arial" panose="020B0604020202020204" pitchFamily="34" charset="0"/>
              </a:rPr>
              <a:t>then  S1</a:t>
            </a:r>
          </a:p>
          <a:p>
            <a:pPr>
              <a:lnSpc>
                <a:spcPct val="60000"/>
              </a:lnSpc>
              <a:spcBef>
                <a:spcPct val="20000"/>
              </a:spcBef>
              <a:buClr>
                <a:schemeClr val="folHlink"/>
              </a:buClr>
              <a:buSzPct val="75000"/>
              <a:buFont typeface="Wingdings" pitchFamily="2" charset="2"/>
              <a:buNone/>
            </a:pPr>
            <a:r>
              <a:rPr kumimoji="1" lang="en-US" altLang="zh-CN" sz="2400" dirty="0">
                <a:latin typeface="Arial" panose="020B0604020202020204" pitchFamily="34" charset="0"/>
                <a:cs typeface="Arial" panose="020B0604020202020204" pitchFamily="34" charset="0"/>
              </a:rPr>
              <a:t>else  S2		</a:t>
            </a:r>
          </a:p>
          <a:p>
            <a:pPr>
              <a:lnSpc>
                <a:spcPct val="70000"/>
              </a:lnSpc>
              <a:spcBef>
                <a:spcPct val="20000"/>
              </a:spcBef>
              <a:buClr>
                <a:schemeClr val="folHlink"/>
              </a:buClr>
              <a:buSzPct val="75000"/>
              <a:buFont typeface="Wingdings" pitchFamily="2" charset="2"/>
              <a:buNone/>
            </a:pPr>
            <a:r>
              <a:rPr kumimoji="1" lang="en-US" altLang="zh-CN" sz="2400" dirty="0" err="1">
                <a:latin typeface="Arial" panose="020B0604020202020204" pitchFamily="34" charset="0"/>
                <a:cs typeface="Arial" panose="020B0604020202020204" pitchFamily="34" charset="0"/>
              </a:rPr>
              <a:t>endif</a:t>
            </a:r>
            <a:r>
              <a:rPr kumimoji="1" lang="en-US" altLang="zh-CN" sz="2400" dirty="0">
                <a:latin typeface="Arial" panose="020B0604020202020204" pitchFamily="34" charset="0"/>
                <a:cs typeface="Arial" panose="020B0604020202020204" pitchFamily="34" charset="0"/>
              </a:rPr>
              <a:t>	</a:t>
            </a:r>
          </a:p>
        </p:txBody>
      </p:sp>
      <p:sp>
        <p:nvSpPr>
          <p:cNvPr id="5" name="Text Box 6"/>
          <p:cNvSpPr txBox="1">
            <a:spLocks noChangeArrowheads="1"/>
          </p:cNvSpPr>
          <p:nvPr/>
        </p:nvSpPr>
        <p:spPr bwMode="auto">
          <a:xfrm>
            <a:off x="1487488" y="4208925"/>
            <a:ext cx="2448272" cy="223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20000"/>
              </a:spcBef>
              <a:buClr>
                <a:schemeClr val="folHlink"/>
              </a:buClr>
              <a:buSzPct val="75000"/>
              <a:buFont typeface="Wingdings" pitchFamily="2" charset="2"/>
              <a:buNone/>
            </a:pPr>
            <a:r>
              <a:rPr kumimoji="1" lang="en-US" altLang="zh-CN" sz="2400" dirty="0">
                <a:latin typeface="Arial" panose="020B0604020202020204" pitchFamily="34" charset="0"/>
                <a:ea typeface="幼圆" panose="02010509060101010101" pitchFamily="49" charset="-122"/>
                <a:cs typeface="Arial" panose="020B0604020202020204" pitchFamily="34" charset="0"/>
              </a:rPr>
              <a:t>case</a:t>
            </a:r>
          </a:p>
          <a:p>
            <a:pPr>
              <a:lnSpc>
                <a:spcPct val="90000"/>
              </a:lnSpc>
              <a:spcBef>
                <a:spcPct val="20000"/>
              </a:spcBef>
              <a:buClr>
                <a:schemeClr val="folHlink"/>
              </a:buClr>
              <a:buSzPct val="75000"/>
              <a:buFont typeface="Wingdings" pitchFamily="2" charset="2"/>
              <a:buNone/>
            </a:pPr>
            <a:r>
              <a:rPr kumimoji="1" lang="en-US" altLang="zh-CN" sz="2400" dirty="0">
                <a:latin typeface="Arial" panose="020B0604020202020204" pitchFamily="34" charset="0"/>
                <a:ea typeface="幼圆" panose="02010509060101010101" pitchFamily="49" charset="-122"/>
                <a:cs typeface="Arial" panose="020B0604020202020204" pitchFamily="34" charset="0"/>
              </a:rPr>
              <a:t>   : </a:t>
            </a:r>
            <a:r>
              <a:rPr kumimoji="1" lang="zh-CN" altLang="en-US" sz="2400" dirty="0">
                <a:latin typeface="幼圆" panose="02010509060101010101" pitchFamily="49" charset="-122"/>
                <a:ea typeface="幼圆" panose="02010509060101010101" pitchFamily="49" charset="-122"/>
                <a:cs typeface="Arial" panose="020B0604020202020204" pitchFamily="34" charset="0"/>
              </a:rPr>
              <a:t>条件</a:t>
            </a:r>
            <a:r>
              <a:rPr kumimoji="1" lang="zh-CN" altLang="en-US" sz="2400" dirty="0">
                <a:latin typeface="Arial" panose="020B0604020202020204" pitchFamily="34" charset="0"/>
                <a:ea typeface="幼圆" panose="02010509060101010101" pitchFamily="49" charset="-122"/>
                <a:cs typeface="Arial" panose="020B0604020202020204" pitchFamily="34" charset="0"/>
              </a:rPr>
              <a:t> </a:t>
            </a:r>
            <a:r>
              <a:rPr kumimoji="1" lang="en-US" altLang="zh-CN" sz="2400" dirty="0">
                <a:latin typeface="Arial" panose="020B0604020202020204" pitchFamily="34" charset="0"/>
                <a:ea typeface="幼圆" panose="02010509060101010101" pitchFamily="49" charset="-122"/>
                <a:cs typeface="Arial" panose="020B0604020202020204" pitchFamily="34" charset="0"/>
              </a:rPr>
              <a:t>1: S</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1</a:t>
            </a:r>
          </a:p>
          <a:p>
            <a:pPr>
              <a:lnSpc>
                <a:spcPct val="30000"/>
              </a:lnSpc>
              <a:spcBef>
                <a:spcPct val="20000"/>
              </a:spcBef>
              <a:buClr>
                <a:schemeClr val="folHlink"/>
              </a:buClr>
              <a:buSzPct val="75000"/>
              <a:buFont typeface="Wingdings" pitchFamily="2" charset="2"/>
              <a:buNone/>
            </a:pPr>
            <a:r>
              <a:rPr kumimoji="1" lang="en-US" altLang="zh-CN" sz="2400" dirty="0">
                <a:latin typeface="Arial" panose="020B0604020202020204" pitchFamily="34" charset="0"/>
                <a:ea typeface="幼圆" panose="02010509060101010101" pitchFamily="49" charset="-122"/>
                <a:cs typeface="Arial" panose="020B0604020202020204" pitchFamily="34" charset="0"/>
              </a:rPr>
              <a:t>	…</a:t>
            </a:r>
          </a:p>
          <a:p>
            <a:pPr>
              <a:lnSpc>
                <a:spcPct val="90000"/>
              </a:lnSpc>
              <a:spcBef>
                <a:spcPct val="20000"/>
              </a:spcBef>
              <a:buClr>
                <a:schemeClr val="folHlink"/>
              </a:buClr>
              <a:buSzPct val="75000"/>
              <a:buFont typeface="Wingdings" pitchFamily="2" charset="2"/>
              <a:buNone/>
            </a:pPr>
            <a:r>
              <a:rPr kumimoji="1" lang="en-US" altLang="zh-CN" sz="2400" dirty="0">
                <a:latin typeface="Arial" panose="020B0604020202020204" pitchFamily="34" charset="0"/>
                <a:ea typeface="幼圆" panose="02010509060101010101" pitchFamily="49" charset="-122"/>
                <a:cs typeface="Arial" panose="020B0604020202020204" pitchFamily="34" charset="0"/>
              </a:rPr>
              <a:t>   : </a:t>
            </a:r>
            <a:r>
              <a:rPr kumimoji="1" lang="zh-CN" altLang="en-US" sz="2400" dirty="0">
                <a:latin typeface="幼圆" panose="02010509060101010101" pitchFamily="49" charset="-122"/>
                <a:ea typeface="幼圆" panose="02010509060101010101" pitchFamily="49" charset="-122"/>
                <a:cs typeface="Arial" panose="020B0604020202020204" pitchFamily="34" charset="0"/>
              </a:rPr>
              <a:t>条件</a:t>
            </a:r>
            <a:r>
              <a:rPr kumimoji="1" lang="zh-CN" altLang="en-US" sz="2400" dirty="0">
                <a:latin typeface="Arial" panose="020B0604020202020204" pitchFamily="34" charset="0"/>
                <a:ea typeface="幼圆" panose="02010509060101010101" pitchFamily="49" charset="-122"/>
                <a:cs typeface="Arial" panose="020B0604020202020204" pitchFamily="34" charset="0"/>
              </a:rPr>
              <a:t> </a:t>
            </a:r>
            <a:r>
              <a:rPr kumimoji="1" lang="en-US" altLang="zh-CN" sz="2400" dirty="0">
                <a:latin typeface="Arial" panose="020B0604020202020204" pitchFamily="34" charset="0"/>
                <a:ea typeface="幼圆" panose="02010509060101010101" pitchFamily="49" charset="-122"/>
                <a:cs typeface="Arial" panose="020B0604020202020204" pitchFamily="34" charset="0"/>
              </a:rPr>
              <a:t>n: S</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n</a:t>
            </a:r>
          </a:p>
          <a:p>
            <a:pPr>
              <a:lnSpc>
                <a:spcPct val="90000"/>
              </a:lnSpc>
              <a:spcBef>
                <a:spcPct val="20000"/>
              </a:spcBef>
              <a:buClr>
                <a:schemeClr val="folHlink"/>
              </a:buClr>
              <a:buSzPct val="75000"/>
              <a:buFont typeface="Wingdings" pitchFamily="2" charset="2"/>
              <a:buNone/>
            </a:pPr>
            <a:r>
              <a:rPr kumimoji="1" lang="en-US" altLang="zh-CN" sz="2400" dirty="0">
                <a:latin typeface="Arial" panose="020B0604020202020204" pitchFamily="34" charset="0"/>
                <a:ea typeface="幼圆" panose="02010509060101010101" pitchFamily="49" charset="-122"/>
                <a:cs typeface="Arial" panose="020B0604020202020204" pitchFamily="34" charset="0"/>
              </a:rPr>
              <a:t>   : else   :  S</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n+1</a:t>
            </a:r>
          </a:p>
          <a:p>
            <a:pPr>
              <a:lnSpc>
                <a:spcPct val="90000"/>
              </a:lnSpc>
              <a:spcBef>
                <a:spcPct val="20000"/>
              </a:spcBef>
              <a:buClr>
                <a:schemeClr val="folHlink"/>
              </a:buClr>
              <a:buSzPct val="75000"/>
              <a:buFont typeface="Wingdings" pitchFamily="2" charset="2"/>
              <a:buNone/>
            </a:pPr>
            <a:r>
              <a:rPr kumimoji="1" lang="en-US" altLang="zh-CN" sz="2400" dirty="0" err="1">
                <a:latin typeface="Arial" panose="020B0604020202020204" pitchFamily="34" charset="0"/>
                <a:ea typeface="幼圆" panose="02010509060101010101" pitchFamily="49" charset="-122"/>
                <a:cs typeface="Arial" panose="020B0604020202020204" pitchFamily="34" charset="0"/>
              </a:rPr>
              <a:t>endcase</a:t>
            </a:r>
            <a:endParaRPr kumimoji="1" lang="en-US" altLang="zh-CN" sz="2400" dirty="0">
              <a:latin typeface="Arial" panose="020B0604020202020204" pitchFamily="34" charset="0"/>
              <a:ea typeface="幼圆" panose="02010509060101010101" pitchFamily="49" charset="-122"/>
              <a:cs typeface="Arial" panose="020B0604020202020204" pitchFamily="34" charset="0"/>
            </a:endParaRPr>
          </a:p>
        </p:txBody>
      </p:sp>
      <p:sp>
        <p:nvSpPr>
          <p:cNvPr id="6" name="灯片编号占位符 5"/>
          <p:cNvSpPr>
            <a:spLocks noGrp="1"/>
          </p:cNvSpPr>
          <p:nvPr>
            <p:ph type="sldNum" sz="quarter" idx="12"/>
          </p:nvPr>
        </p:nvSpPr>
        <p:spPr>
          <a:xfrm>
            <a:off x="8482608" y="6295920"/>
            <a:ext cx="2743200" cy="365125"/>
          </a:xfrm>
        </p:spPr>
        <p:txBody>
          <a:bodyPr/>
          <a:lstStyle/>
          <a:p>
            <a:pPr>
              <a:defRPr/>
            </a:pPr>
            <a:fld id="{D04713B0-7EE7-420A-BB22-6F99F562E080}" type="slidenum">
              <a:rPr lang="en-US" altLang="zh-CN" smtClean="0"/>
              <a:pPr>
                <a:defRPr/>
              </a:pPr>
              <a:t>53</a:t>
            </a:fld>
            <a:endParaRPr lang="en-US" altLang="zh-CN"/>
          </a:p>
        </p:txBody>
      </p:sp>
      <p:sp>
        <p:nvSpPr>
          <p:cNvPr id="7" name="内容占位符 2"/>
          <p:cNvSpPr txBox="1">
            <a:spLocks/>
          </p:cNvSpPr>
          <p:nvPr/>
        </p:nvSpPr>
        <p:spPr>
          <a:xfrm>
            <a:off x="5591944" y="1340768"/>
            <a:ext cx="2890664" cy="4497387"/>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while</a:t>
            </a:r>
            <a:r>
              <a:rPr lang="zh-CN" altLang="en-US" dirty="0"/>
              <a:t>语句</a:t>
            </a:r>
            <a:endParaRPr lang="en-US" altLang="zh-CN" dirty="0"/>
          </a:p>
          <a:p>
            <a:endParaRPr lang="en-US" altLang="zh-CN" dirty="0"/>
          </a:p>
          <a:p>
            <a:endParaRPr lang="en-US" altLang="zh-CN" dirty="0"/>
          </a:p>
          <a:p>
            <a:r>
              <a:rPr lang="en-US" altLang="zh-CN" dirty="0"/>
              <a:t>loop</a:t>
            </a:r>
            <a:r>
              <a:rPr lang="zh-CN" altLang="en-US" dirty="0"/>
              <a:t>语句</a:t>
            </a:r>
            <a:endParaRPr lang="en-US" altLang="zh-CN" dirty="0"/>
          </a:p>
          <a:p>
            <a:endParaRPr lang="en-US" altLang="zh-CN" dirty="0"/>
          </a:p>
          <a:p>
            <a:endParaRPr lang="en-US" altLang="zh-CN" dirty="0"/>
          </a:p>
          <a:p>
            <a:r>
              <a:rPr lang="en-US" altLang="zh-CN" dirty="0"/>
              <a:t>for</a:t>
            </a:r>
            <a:r>
              <a:rPr lang="zh-CN" altLang="en-US" dirty="0"/>
              <a:t>语句</a:t>
            </a:r>
          </a:p>
        </p:txBody>
      </p:sp>
      <p:sp>
        <p:nvSpPr>
          <p:cNvPr id="8" name="Text Box 3"/>
          <p:cNvSpPr txBox="1">
            <a:spLocks noChangeArrowheads="1"/>
          </p:cNvSpPr>
          <p:nvPr/>
        </p:nvSpPr>
        <p:spPr bwMode="auto">
          <a:xfrm>
            <a:off x="6328048" y="1832578"/>
            <a:ext cx="5240560" cy="1089529"/>
          </a:xfrm>
          <a:prstGeom prst="rect">
            <a:avLst/>
          </a:prstGeom>
          <a:noFill/>
          <a:ln w="9525">
            <a:noFill/>
            <a:miter lim="800000"/>
            <a:headEnd/>
            <a:tailEnd/>
          </a:ln>
          <a:effectLst/>
          <a:extLst>
            <a:ext uri="{909E8E84-426E-40DD-AFC4-6F175D3DCCD1}">
              <a14:hiddenFill xmlns:a14="http://schemas.microsoft.com/office/drawing/2010/main">
                <a:solidFill>
                  <a:srgbClr val="FFF3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50000"/>
              </a:spcBef>
            </a:pPr>
            <a:r>
              <a:rPr kumimoji="1" lang="en-US" altLang="zh-CN" sz="2400" dirty="0">
                <a:latin typeface="Arial" panose="020B0604020202020204" pitchFamily="34" charset="0"/>
                <a:cs typeface="Arial" panose="020B0604020202020204" pitchFamily="34" charset="0"/>
              </a:rPr>
              <a:t>while  </a:t>
            </a:r>
            <a:r>
              <a:rPr kumimoji="1" lang="zh-CN" altLang="en-US" sz="2400" dirty="0">
                <a:latin typeface="Arial" panose="020B0604020202020204" pitchFamily="34" charset="0"/>
                <a:ea typeface="幼圆" panose="02010509060101010101" pitchFamily="49" charset="-122"/>
                <a:cs typeface="Arial" panose="020B0604020202020204" pitchFamily="34" charset="0"/>
              </a:rPr>
              <a:t>条件</a:t>
            </a:r>
            <a:r>
              <a:rPr kumimoji="1" lang="zh-CN" altLang="en-US" sz="2400" dirty="0">
                <a:latin typeface="Arial" panose="020B0604020202020204" pitchFamily="34" charset="0"/>
                <a:cs typeface="Arial" panose="020B0604020202020204" pitchFamily="34" charset="0"/>
              </a:rPr>
              <a:t>  </a:t>
            </a:r>
            <a:r>
              <a:rPr kumimoji="1" lang="en-US" altLang="zh-CN" sz="2400" dirty="0">
                <a:latin typeface="Arial" panose="020B0604020202020204" pitchFamily="34" charset="0"/>
                <a:cs typeface="Arial" panose="020B0604020202020204" pitchFamily="34" charset="0"/>
              </a:rPr>
              <a:t>do</a:t>
            </a:r>
            <a:endParaRPr kumimoji="1" lang="en-US" altLang="zh-CN" sz="2400" dirty="0">
              <a:latin typeface="幼圆" panose="02010509060101010101" pitchFamily="49" charset="-122"/>
              <a:ea typeface="幼圆" panose="02010509060101010101" pitchFamily="49" charset="-122"/>
              <a:cs typeface="Arial" panose="020B0604020202020204" pitchFamily="34" charset="0"/>
            </a:endParaRPr>
          </a:p>
          <a:p>
            <a:pPr>
              <a:lnSpc>
                <a:spcPct val="40000"/>
              </a:lnSpc>
              <a:spcBef>
                <a:spcPct val="50000"/>
              </a:spcBef>
            </a:pPr>
            <a:r>
              <a:rPr kumimoji="1" lang="en-US" altLang="zh-CN" sz="2400" dirty="0">
                <a:latin typeface="Arial" panose="020B0604020202020204" pitchFamily="34" charset="0"/>
                <a:cs typeface="Arial" panose="020B0604020202020204" pitchFamily="34" charset="0"/>
              </a:rPr>
              <a:t>   S</a:t>
            </a:r>
          </a:p>
          <a:p>
            <a:pPr>
              <a:lnSpc>
                <a:spcPct val="40000"/>
              </a:lnSpc>
              <a:spcBef>
                <a:spcPct val="50000"/>
              </a:spcBef>
            </a:pPr>
            <a:r>
              <a:rPr kumimoji="1" lang="en-US" altLang="zh-CN" sz="2400" dirty="0">
                <a:latin typeface="Arial" panose="020B0604020202020204" pitchFamily="34" charset="0"/>
                <a:cs typeface="Arial" panose="020B0604020202020204" pitchFamily="34" charset="0"/>
              </a:rPr>
              <a:t>repeat //</a:t>
            </a:r>
            <a:r>
              <a:rPr kumimoji="1" lang="zh-CN" altLang="en-US" sz="2400" dirty="0">
                <a:latin typeface="幼圆" panose="02010509060101010101" pitchFamily="49" charset="-122"/>
                <a:ea typeface="幼圆" panose="02010509060101010101" pitchFamily="49" charset="-122"/>
                <a:cs typeface="Arial" panose="020B0604020202020204" pitchFamily="34" charset="0"/>
              </a:rPr>
              <a:t>条件为假，循环结束</a:t>
            </a:r>
            <a:endParaRPr kumimoji="1" lang="en-US" altLang="zh-CN" sz="2400" dirty="0">
              <a:latin typeface="Arial" panose="020B0604020202020204" pitchFamily="34" charset="0"/>
              <a:cs typeface="Arial" panose="020B0604020202020204" pitchFamily="34" charset="0"/>
            </a:endParaRPr>
          </a:p>
        </p:txBody>
      </p:sp>
      <p:sp>
        <p:nvSpPr>
          <p:cNvPr id="9" name="Text Box 4"/>
          <p:cNvSpPr txBox="1">
            <a:spLocks noChangeArrowheads="1"/>
          </p:cNvSpPr>
          <p:nvPr/>
        </p:nvSpPr>
        <p:spPr bwMode="auto">
          <a:xfrm>
            <a:off x="6341495" y="3734291"/>
            <a:ext cx="4363017" cy="1126462"/>
          </a:xfrm>
          <a:prstGeom prst="rect">
            <a:avLst/>
          </a:prstGeom>
          <a:noFill/>
          <a:ln w="9525">
            <a:noFill/>
            <a:miter lim="800000"/>
            <a:headEnd/>
            <a:tailEnd/>
          </a:ln>
          <a:effectLst/>
          <a:extLst>
            <a:ext uri="{909E8E84-426E-40DD-AFC4-6F175D3DCCD1}">
              <a14:hiddenFill xmlns:a14="http://schemas.microsoft.com/office/drawing/2010/main">
                <a:solidFill>
                  <a:srgbClr val="FFFFE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70000"/>
              </a:lnSpc>
              <a:spcBef>
                <a:spcPct val="50000"/>
              </a:spcBef>
            </a:pPr>
            <a:r>
              <a:rPr kumimoji="1" lang="en-US" altLang="zh-CN" sz="2400" dirty="0">
                <a:latin typeface="Arial" panose="020B0604020202020204" pitchFamily="34" charset="0"/>
                <a:ea typeface="幼圆" panose="02010509060101010101" pitchFamily="49" charset="-122"/>
                <a:cs typeface="Arial" panose="020B0604020202020204" pitchFamily="34" charset="0"/>
              </a:rPr>
              <a:t>loop//</a:t>
            </a:r>
            <a:r>
              <a:rPr kumimoji="1" lang="zh-CN" altLang="en-US" sz="2400" dirty="0">
                <a:latin typeface="Arial" panose="020B0604020202020204" pitchFamily="34" charset="0"/>
                <a:ea typeface="幼圆" panose="02010509060101010101" pitchFamily="49" charset="-122"/>
                <a:cs typeface="Arial" panose="020B0604020202020204" pitchFamily="34" charset="0"/>
              </a:rPr>
              <a:t>条件为真，循环结束</a:t>
            </a:r>
            <a:endParaRPr kumimoji="1" lang="en-US" altLang="zh-CN" sz="2400" dirty="0">
              <a:latin typeface="Arial" panose="020B0604020202020204" pitchFamily="34" charset="0"/>
              <a:ea typeface="幼圆" panose="02010509060101010101" pitchFamily="49" charset="-122"/>
              <a:cs typeface="Arial" panose="020B0604020202020204" pitchFamily="34" charset="0"/>
            </a:endParaRPr>
          </a:p>
          <a:p>
            <a:pPr>
              <a:lnSpc>
                <a:spcPct val="70000"/>
              </a:lnSpc>
              <a:spcBef>
                <a:spcPct val="50000"/>
              </a:spcBef>
            </a:pPr>
            <a:r>
              <a:rPr kumimoji="1" lang="en-US" altLang="zh-CN" sz="2400" dirty="0">
                <a:latin typeface="Arial" panose="020B0604020202020204" pitchFamily="34" charset="0"/>
                <a:ea typeface="幼圆" panose="02010509060101010101" pitchFamily="49" charset="-122"/>
                <a:cs typeface="Arial" panose="020B0604020202020204" pitchFamily="34" charset="0"/>
              </a:rPr>
              <a:t>    S</a:t>
            </a:r>
          </a:p>
          <a:p>
            <a:pPr>
              <a:lnSpc>
                <a:spcPct val="40000"/>
              </a:lnSpc>
              <a:spcBef>
                <a:spcPct val="50000"/>
              </a:spcBef>
            </a:pPr>
            <a:r>
              <a:rPr kumimoji="1" lang="en-US" altLang="zh-CN" sz="2400" dirty="0">
                <a:latin typeface="Arial" panose="020B0604020202020204" pitchFamily="34" charset="0"/>
                <a:ea typeface="幼圆" panose="02010509060101010101" pitchFamily="49" charset="-122"/>
                <a:cs typeface="Arial" panose="020B0604020202020204" pitchFamily="34" charset="0"/>
              </a:rPr>
              <a:t>until  </a:t>
            </a:r>
            <a:r>
              <a:rPr kumimoji="1" lang="zh-CN" altLang="en-US" sz="2400" dirty="0">
                <a:latin typeface="幼圆" panose="02010509060101010101" pitchFamily="49" charset="-122"/>
                <a:ea typeface="幼圆" panose="02010509060101010101" pitchFamily="49" charset="-122"/>
                <a:cs typeface="Arial" panose="020B0604020202020204" pitchFamily="34" charset="0"/>
              </a:rPr>
              <a:t>条件</a:t>
            </a:r>
            <a:r>
              <a:rPr kumimoji="1" lang="zh-CN" altLang="en-US" sz="2400" dirty="0">
                <a:latin typeface="Arial" panose="020B0604020202020204" pitchFamily="34" charset="0"/>
                <a:ea typeface="幼圆" panose="02010509060101010101" pitchFamily="49" charset="-122"/>
                <a:cs typeface="Arial" panose="020B0604020202020204" pitchFamily="34" charset="0"/>
              </a:rPr>
              <a:t>  </a:t>
            </a:r>
            <a:r>
              <a:rPr kumimoji="1" lang="en-US" altLang="zh-CN" sz="2400" dirty="0">
                <a:latin typeface="Arial" panose="020B0604020202020204" pitchFamily="34" charset="0"/>
                <a:ea typeface="幼圆" panose="02010509060101010101" pitchFamily="49" charset="-122"/>
                <a:cs typeface="Arial" panose="020B0604020202020204" pitchFamily="34" charset="0"/>
              </a:rPr>
              <a:t>repeat</a:t>
            </a:r>
          </a:p>
        </p:txBody>
      </p:sp>
      <p:sp>
        <p:nvSpPr>
          <p:cNvPr id="10" name="Text Box 5"/>
          <p:cNvSpPr txBox="1">
            <a:spLocks noChangeArrowheads="1"/>
          </p:cNvSpPr>
          <p:nvPr/>
        </p:nvSpPr>
        <p:spPr bwMode="auto">
          <a:xfrm>
            <a:off x="6310155" y="5434747"/>
            <a:ext cx="5616624" cy="1226298"/>
          </a:xfrm>
          <a:prstGeom prst="rect">
            <a:avLst/>
          </a:prstGeom>
          <a:noFill/>
          <a:ln w="9525">
            <a:noFill/>
            <a:miter lim="800000"/>
            <a:headEnd/>
            <a:tailEnd/>
          </a:ln>
          <a:effectLst/>
          <a:extLst>
            <a:ext uri="{909E8E84-426E-40DD-AFC4-6F175D3DCCD1}">
              <a14:hiddenFill xmlns:a14="http://schemas.microsoft.com/office/drawing/2010/main">
                <a:solidFill>
                  <a:srgbClr val="DD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400" dirty="0">
                <a:latin typeface="Arial" panose="020B0604020202020204" pitchFamily="34" charset="0"/>
                <a:cs typeface="Arial" panose="020B0604020202020204" pitchFamily="34" charset="0"/>
              </a:rPr>
              <a:t>for </a:t>
            </a:r>
            <a:r>
              <a:rPr kumimoji="1" lang="zh-CN" altLang="en-US" sz="2400" dirty="0">
                <a:latin typeface="幼圆" panose="02010509060101010101" pitchFamily="49" charset="-122"/>
                <a:ea typeface="幼圆" panose="02010509060101010101" pitchFamily="49" charset="-122"/>
              </a:rPr>
              <a:t>变量</a:t>
            </a:r>
            <a:r>
              <a:rPr kumimoji="1" lang="zh-CN" altLang="en-US" sz="2400" dirty="0">
                <a:latin typeface="幼圆" panose="02010509060101010101" pitchFamily="49" charset="-122"/>
                <a:ea typeface="幼圆" panose="02010509060101010101" pitchFamily="49" charset="-122"/>
                <a:sym typeface="Symbol" pitchFamily="18" charset="2"/>
              </a:rPr>
              <a:t></a:t>
            </a:r>
            <a:r>
              <a:rPr kumimoji="1" lang="zh-CN" altLang="en-US" sz="2400" dirty="0">
                <a:latin typeface="幼圆" panose="02010509060101010101" pitchFamily="49" charset="-122"/>
                <a:ea typeface="幼圆" panose="02010509060101010101" pitchFamily="49" charset="-122"/>
                <a:sym typeface="Wingdings" pitchFamily="2" charset="2"/>
              </a:rPr>
              <a:t>初值 </a:t>
            </a:r>
            <a:r>
              <a:rPr kumimoji="1" lang="en-US" altLang="zh-CN" sz="2400" dirty="0">
                <a:latin typeface="Arial" panose="020B0604020202020204" pitchFamily="34" charset="0"/>
                <a:cs typeface="Arial" panose="020B0604020202020204" pitchFamily="34" charset="0"/>
                <a:sym typeface="Wingdings" pitchFamily="2" charset="2"/>
              </a:rPr>
              <a:t>to </a:t>
            </a:r>
            <a:r>
              <a:rPr kumimoji="1" lang="zh-CN" altLang="en-US" sz="2400" dirty="0">
                <a:latin typeface="幼圆" panose="02010509060101010101" pitchFamily="49" charset="-122"/>
                <a:ea typeface="幼圆" panose="02010509060101010101" pitchFamily="49" charset="-122"/>
                <a:sym typeface="Wingdings" pitchFamily="2" charset="2"/>
              </a:rPr>
              <a:t>终值</a:t>
            </a:r>
            <a:r>
              <a:rPr kumimoji="1" lang="zh-CN" altLang="en-US" sz="2400" dirty="0">
                <a:latin typeface="Times New Roman" pitchFamily="18" charset="0"/>
                <a:sym typeface="Wingdings" pitchFamily="2" charset="2"/>
              </a:rPr>
              <a:t> </a:t>
            </a:r>
            <a:r>
              <a:rPr kumimoji="1" lang="en-US" altLang="zh-CN" sz="2400" dirty="0">
                <a:latin typeface="Arial" panose="020B0604020202020204" pitchFamily="34" charset="0"/>
                <a:cs typeface="Arial" panose="020B0604020202020204" pitchFamily="34" charset="0"/>
                <a:sym typeface="Wingdings" pitchFamily="2" charset="2"/>
              </a:rPr>
              <a:t>by</a:t>
            </a:r>
            <a:r>
              <a:rPr kumimoji="1" lang="en-US" altLang="zh-CN" sz="2400" dirty="0">
                <a:latin typeface="Times New Roman" pitchFamily="18" charset="0"/>
                <a:sym typeface="Wingdings" pitchFamily="2" charset="2"/>
              </a:rPr>
              <a:t> </a:t>
            </a:r>
            <a:r>
              <a:rPr kumimoji="1" lang="zh-CN" altLang="en-US" sz="2400" dirty="0">
                <a:latin typeface="幼圆" panose="02010509060101010101" pitchFamily="49" charset="-122"/>
                <a:ea typeface="幼圆" panose="02010509060101010101" pitchFamily="49" charset="-122"/>
                <a:sym typeface="Wingdings" pitchFamily="2" charset="2"/>
              </a:rPr>
              <a:t>变量增值 </a:t>
            </a:r>
            <a:r>
              <a:rPr kumimoji="1" lang="en-US" altLang="zh-CN" sz="2400" dirty="0">
                <a:latin typeface="Arial" panose="020B0604020202020204" pitchFamily="34" charset="0"/>
                <a:cs typeface="Arial" panose="020B0604020202020204" pitchFamily="34" charset="0"/>
                <a:sym typeface="Wingdings" pitchFamily="2" charset="2"/>
              </a:rPr>
              <a:t>do</a:t>
            </a:r>
          </a:p>
          <a:p>
            <a:pPr>
              <a:lnSpc>
                <a:spcPct val="50000"/>
              </a:lnSpc>
              <a:spcBef>
                <a:spcPct val="50000"/>
              </a:spcBef>
            </a:pPr>
            <a:r>
              <a:rPr kumimoji="1" lang="en-US" altLang="zh-CN" sz="2400" dirty="0">
                <a:latin typeface="Arial" panose="020B0604020202020204" pitchFamily="34" charset="0"/>
                <a:cs typeface="Arial" panose="020B0604020202020204" pitchFamily="34" charset="0"/>
                <a:sym typeface="Wingdings" pitchFamily="2" charset="2"/>
              </a:rPr>
              <a:t>    S</a:t>
            </a:r>
          </a:p>
          <a:p>
            <a:pPr>
              <a:lnSpc>
                <a:spcPct val="50000"/>
              </a:lnSpc>
              <a:spcBef>
                <a:spcPct val="50000"/>
              </a:spcBef>
            </a:pPr>
            <a:r>
              <a:rPr kumimoji="1" lang="en-US" altLang="zh-CN" sz="2400" dirty="0">
                <a:latin typeface="Arial" panose="020B0604020202020204" pitchFamily="34" charset="0"/>
                <a:cs typeface="Arial" panose="020B0604020202020204" pitchFamily="34" charset="0"/>
                <a:sym typeface="Wingdings" pitchFamily="2" charset="2"/>
              </a:rPr>
              <a:t>repeat</a:t>
            </a:r>
          </a:p>
        </p:txBody>
      </p:sp>
    </p:spTree>
    <p:extLst>
      <p:ext uri="{BB962C8B-B14F-4D97-AF65-F5344CB8AC3E}">
        <p14:creationId xmlns:p14="http://schemas.microsoft.com/office/powerpoint/2010/main" val="261156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8" grpId="0"/>
      <p:bldP spid="9" grpId="0"/>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55440" y="332656"/>
            <a:ext cx="8229600" cy="955576"/>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r>
              <a:rPr lang="zh-CN" altLang="en-US" dirty="0"/>
              <a:t>跳转语句</a:t>
            </a:r>
          </a:p>
        </p:txBody>
      </p:sp>
      <p:sp>
        <p:nvSpPr>
          <p:cNvPr id="3" name="内容占位符 2"/>
          <p:cNvSpPr>
            <a:spLocks noGrp="1"/>
          </p:cNvSpPr>
          <p:nvPr>
            <p:ph idx="1"/>
          </p:nvPr>
        </p:nvSpPr>
        <p:spPr>
          <a:xfrm>
            <a:off x="1055440" y="1454607"/>
            <a:ext cx="10729192" cy="4616152"/>
          </a:xfrm>
        </p:spPr>
        <p:txBody>
          <a:bodyPr/>
          <a:lstStyle/>
          <a:p>
            <a:r>
              <a:rPr kumimoji="1" lang="en-US" altLang="zh-CN" dirty="0" err="1"/>
              <a:t>goto</a:t>
            </a:r>
            <a:r>
              <a:rPr kumimoji="1" lang="en-US" altLang="zh-CN" dirty="0"/>
              <a:t> </a:t>
            </a:r>
            <a:r>
              <a:rPr kumimoji="1" lang="zh-CN" altLang="en-US" dirty="0">
                <a:latin typeface="Times New Roman" pitchFamily="18" charset="0"/>
              </a:rPr>
              <a:t>标号</a:t>
            </a:r>
            <a:endParaRPr kumimoji="1" lang="en-US" altLang="zh-CN" dirty="0">
              <a:latin typeface="Times New Roman" pitchFamily="18" charset="0"/>
            </a:endParaRPr>
          </a:p>
          <a:p>
            <a:r>
              <a:rPr kumimoji="1" lang="en-US" altLang="zh-CN" dirty="0"/>
              <a:t>exit</a:t>
            </a:r>
          </a:p>
          <a:p>
            <a:pPr lvl="1"/>
            <a:r>
              <a:rPr kumimoji="1" lang="zh-CN" altLang="en-US" dirty="0">
                <a:latin typeface="Times New Roman" pitchFamily="18" charset="0"/>
              </a:rPr>
              <a:t>转到本循环</a:t>
            </a:r>
            <a:r>
              <a:rPr kumimoji="1" lang="en-US" altLang="zh-CN" dirty="0">
                <a:latin typeface="Times New Roman" pitchFamily="18" charset="0"/>
              </a:rPr>
              <a:t>(</a:t>
            </a:r>
            <a:r>
              <a:rPr kumimoji="1" lang="zh-CN" altLang="en-US" dirty="0">
                <a:latin typeface="Times New Roman" pitchFamily="18" charset="0"/>
              </a:rPr>
              <a:t>含有</a:t>
            </a:r>
            <a:r>
              <a:rPr kumimoji="1" lang="en-US" altLang="zh-CN" dirty="0">
                <a:latin typeface="Times New Roman" pitchFamily="18" charset="0"/>
              </a:rPr>
              <a:t>exit</a:t>
            </a:r>
            <a:r>
              <a:rPr kumimoji="1" lang="zh-CN" altLang="en-US" dirty="0">
                <a:latin typeface="Times New Roman" pitchFamily="18" charset="0"/>
              </a:rPr>
              <a:t>的最内层循环</a:t>
            </a:r>
            <a:r>
              <a:rPr kumimoji="1" lang="en-US" altLang="zh-CN" dirty="0">
                <a:latin typeface="Times New Roman" pitchFamily="18" charset="0"/>
              </a:rPr>
              <a:t>)</a:t>
            </a:r>
            <a:r>
              <a:rPr kumimoji="1" lang="zh-CN" altLang="en-US" dirty="0">
                <a:latin typeface="Times New Roman" pitchFamily="18" charset="0"/>
              </a:rPr>
              <a:t>语句后面的第一条语句</a:t>
            </a:r>
            <a:r>
              <a:rPr kumimoji="1" lang="en-US" altLang="zh-CN" dirty="0">
                <a:latin typeface="Times New Roman" pitchFamily="18" charset="0"/>
              </a:rPr>
              <a:t>,</a:t>
            </a:r>
            <a:r>
              <a:rPr lang="zh-CN" altLang="en-US" dirty="0">
                <a:latin typeface="Times New Roman" panose="02020603050405020304" pitchFamily="18" charset="0"/>
              </a:rPr>
              <a:t>结束本循环语句的执行；</a:t>
            </a:r>
            <a:endParaRPr kumimoji="1" lang="en-US" altLang="zh-CN" dirty="0">
              <a:latin typeface="Times New Roman" pitchFamily="18" charset="0"/>
            </a:endParaRPr>
          </a:p>
          <a:p>
            <a:r>
              <a:rPr kumimoji="1" lang="en-US" altLang="zh-CN" dirty="0"/>
              <a:t>cycle</a:t>
            </a:r>
          </a:p>
          <a:p>
            <a:pPr lvl="1"/>
            <a:r>
              <a:rPr kumimoji="1" lang="zh-CN" altLang="en-US" dirty="0">
                <a:latin typeface="Times New Roman" pitchFamily="18" charset="0"/>
              </a:rPr>
              <a:t>结束本次循环</a:t>
            </a:r>
            <a:r>
              <a:rPr lang="zh-CN" altLang="en-US" dirty="0">
                <a:latin typeface="Times New Roman" panose="02020603050405020304" pitchFamily="18" charset="0"/>
              </a:rPr>
              <a:t>，继续进行下一轮循环</a:t>
            </a:r>
            <a:endParaRPr kumimoji="1" lang="en-US" altLang="zh-CN" dirty="0">
              <a:latin typeface="Times New Roman" pitchFamily="18" charset="0"/>
            </a:endParaRPr>
          </a:p>
          <a:p>
            <a:r>
              <a:rPr kumimoji="1" lang="en-US" altLang="zh-CN" dirty="0"/>
              <a:t>return</a:t>
            </a:r>
            <a:r>
              <a:rPr kumimoji="1" lang="en-US" altLang="zh-CN" dirty="0">
                <a:latin typeface="Times New Roman" pitchFamily="18" charset="0"/>
              </a:rPr>
              <a:t> ( &lt;</a:t>
            </a:r>
            <a:r>
              <a:rPr kumimoji="1" lang="zh-CN" altLang="en-US" dirty="0">
                <a:latin typeface="Times New Roman" pitchFamily="18" charset="0"/>
              </a:rPr>
              <a:t>表达式</a:t>
            </a:r>
            <a:r>
              <a:rPr kumimoji="1" lang="en-US" altLang="zh-CN" dirty="0">
                <a:latin typeface="Times New Roman" pitchFamily="18" charset="0"/>
              </a:rPr>
              <a:t>&gt; )</a:t>
            </a:r>
          </a:p>
          <a:p>
            <a:pPr lvl="1"/>
            <a:r>
              <a:rPr kumimoji="1" lang="zh-CN" altLang="en-US" dirty="0">
                <a:latin typeface="Times New Roman" pitchFamily="18" charset="0"/>
              </a:rPr>
              <a:t>结束本函数或过程的执行</a:t>
            </a:r>
            <a:endParaRPr kumimoji="1" lang="en-US" altLang="zh-CN" dirty="0">
              <a:latin typeface="Times New Roman" pitchFamily="18" charset="0"/>
            </a:endParaRPr>
          </a:p>
          <a:p>
            <a:pPr>
              <a:spcBef>
                <a:spcPct val="50000"/>
              </a:spcBef>
              <a:buClr>
                <a:schemeClr val="hlink"/>
              </a:buClr>
              <a:buNone/>
            </a:pPr>
            <a:endParaRPr kumimoji="1" lang="zh-CN" altLang="en-US" dirty="0">
              <a:latin typeface="Times New Roman" pitchFamily="18" charset="0"/>
            </a:endParaRPr>
          </a:p>
          <a:p>
            <a:pPr>
              <a:spcBef>
                <a:spcPct val="50000"/>
              </a:spcBef>
              <a:buClr>
                <a:schemeClr val="hlink"/>
              </a:buClr>
              <a:buNone/>
            </a:pPr>
            <a:endParaRPr kumimoji="1" lang="zh-CN" altLang="en-US" dirty="0">
              <a:latin typeface="Times New Roman" pitchFamily="18" charset="0"/>
            </a:endParaRPr>
          </a:p>
          <a:p>
            <a:endParaRPr kumimoji="1" lang="zh-CN" altLang="en-US" dirty="0">
              <a:latin typeface="Times New Roman" pitchFamily="18" charset="0"/>
            </a:endParaRPr>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54</a:t>
            </a:fld>
            <a:endParaRPr lang="en-US" altLang="zh-CN"/>
          </a:p>
        </p:txBody>
      </p:sp>
    </p:spTree>
    <p:extLst>
      <p:ext uri="{BB962C8B-B14F-4D97-AF65-F5344CB8AC3E}">
        <p14:creationId xmlns:p14="http://schemas.microsoft.com/office/powerpoint/2010/main" val="89721417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400" y="157222"/>
            <a:ext cx="10515600" cy="1244832"/>
          </a:xfrm>
        </p:spPr>
        <p:txBody>
          <a:bodyPr/>
          <a:lstStyle/>
          <a:p>
            <a:r>
              <a:rPr lang="zh-CN" altLang="en-US" dirty="0"/>
              <a:t>算法定义</a:t>
            </a:r>
          </a:p>
        </p:txBody>
      </p:sp>
      <p:sp>
        <p:nvSpPr>
          <p:cNvPr id="3" name="内容占位符 2"/>
          <p:cNvSpPr>
            <a:spLocks noGrp="1"/>
          </p:cNvSpPr>
          <p:nvPr>
            <p:ph idx="1"/>
          </p:nvPr>
        </p:nvSpPr>
        <p:spPr>
          <a:xfrm>
            <a:off x="727710" y="1424622"/>
            <a:ext cx="10192825" cy="4166592"/>
          </a:xfrm>
        </p:spPr>
        <p:txBody>
          <a:bodyPr/>
          <a:lstStyle/>
          <a:p>
            <a:r>
              <a:rPr kumimoji="1" lang="en-US" altLang="zh-CN" dirty="0">
                <a:latin typeface="Times New Roman" pitchFamily="18" charset="0"/>
              </a:rPr>
              <a:t>SPARKS</a:t>
            </a:r>
            <a:r>
              <a:rPr kumimoji="1" lang="zh-CN" altLang="en-US" dirty="0">
                <a:latin typeface="Times New Roman" pitchFamily="18" charset="0"/>
              </a:rPr>
              <a:t>语言的输入、输出：</a:t>
            </a:r>
          </a:p>
          <a:p>
            <a:pPr lvl="1"/>
            <a:r>
              <a:rPr kumimoji="1" lang="en-US" altLang="zh-CN" dirty="0"/>
              <a:t>read</a:t>
            </a:r>
            <a:r>
              <a:rPr kumimoji="1" lang="zh-CN" altLang="en-US" dirty="0">
                <a:latin typeface="Times New Roman" pitchFamily="18" charset="0"/>
              </a:rPr>
              <a:t>（参数表）；</a:t>
            </a:r>
            <a:r>
              <a:rPr kumimoji="1" lang="en-US" altLang="zh-CN" dirty="0"/>
              <a:t>print</a:t>
            </a:r>
            <a:r>
              <a:rPr kumimoji="1" lang="zh-CN" altLang="en-US" dirty="0">
                <a:latin typeface="Times New Roman" pitchFamily="18" charset="0"/>
              </a:rPr>
              <a:t>（参数表）；</a:t>
            </a:r>
          </a:p>
          <a:p>
            <a:r>
              <a:rPr kumimoji="1" lang="en-US" altLang="zh-CN" dirty="0">
                <a:latin typeface="Times New Roman" pitchFamily="18" charset="0"/>
              </a:rPr>
              <a:t>SPARKS</a:t>
            </a:r>
            <a:r>
              <a:rPr kumimoji="1" lang="zh-CN" altLang="en-US" dirty="0">
                <a:latin typeface="Times New Roman" pitchFamily="18" charset="0"/>
              </a:rPr>
              <a:t>语言的函数</a:t>
            </a:r>
            <a:r>
              <a:rPr kumimoji="1" lang="en-US" altLang="zh-CN" dirty="0">
                <a:latin typeface="Times New Roman" pitchFamily="18" charset="0"/>
              </a:rPr>
              <a:t>(</a:t>
            </a:r>
            <a:r>
              <a:rPr kumimoji="1" lang="zh-CN" altLang="en-US" dirty="0">
                <a:latin typeface="Times New Roman" pitchFamily="18" charset="0"/>
              </a:rPr>
              <a:t>过程</a:t>
            </a:r>
            <a:r>
              <a:rPr kumimoji="1" lang="en-US" altLang="zh-CN" dirty="0">
                <a:latin typeface="Times New Roman" pitchFamily="18" charset="0"/>
              </a:rPr>
              <a:t>)</a:t>
            </a:r>
          </a:p>
          <a:p>
            <a:pPr lvl="1"/>
            <a:endParaRPr lang="zh-CN" altLang="en-US" dirty="0"/>
          </a:p>
        </p:txBody>
      </p:sp>
      <p:sp>
        <p:nvSpPr>
          <p:cNvPr id="4" name="Text Box 3"/>
          <p:cNvSpPr txBox="1">
            <a:spLocks noChangeArrowheads="1"/>
          </p:cNvSpPr>
          <p:nvPr/>
        </p:nvSpPr>
        <p:spPr bwMode="auto">
          <a:xfrm>
            <a:off x="1055440" y="3184890"/>
            <a:ext cx="8280919" cy="193899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kumimoji="1" lang="en-US" altLang="zh-CN" sz="2400" dirty="0">
                <a:latin typeface="Arial" panose="020B0604020202020204" pitchFamily="34" charset="0"/>
                <a:cs typeface="Arial" panose="020B0604020202020204" pitchFamily="34" charset="0"/>
              </a:rPr>
              <a:t>procedure  NAME(&lt;</a:t>
            </a:r>
            <a:r>
              <a:rPr kumimoji="1" lang="zh-CN" altLang="en-US" sz="2400" dirty="0">
                <a:latin typeface="Arial" panose="020B0604020202020204" pitchFamily="34" charset="0"/>
                <a:cs typeface="Arial" panose="020B0604020202020204" pitchFamily="34" charset="0"/>
              </a:rPr>
              <a:t>参数列表</a:t>
            </a:r>
            <a:r>
              <a:rPr kumimoji="1" lang="en-US" altLang="zh-CN" sz="2400" dirty="0">
                <a:latin typeface="Arial" panose="020B0604020202020204" pitchFamily="34" charset="0"/>
                <a:cs typeface="Arial" panose="020B0604020202020204" pitchFamily="34" charset="0"/>
              </a:rPr>
              <a:t>&gt;)</a:t>
            </a:r>
          </a:p>
          <a:p>
            <a:pPr>
              <a:spcBef>
                <a:spcPts val="0"/>
              </a:spcBef>
            </a:pPr>
            <a:r>
              <a:rPr kumimoji="1" lang="en-US" altLang="zh-CN" sz="2400" dirty="0">
                <a:latin typeface="Arial" panose="020B0604020202020204" pitchFamily="34" charset="0"/>
                <a:cs typeface="Arial" panose="020B0604020202020204" pitchFamily="34" charset="0"/>
              </a:rPr>
              <a:t> &lt;</a:t>
            </a:r>
            <a:r>
              <a:rPr kumimoji="1" lang="zh-CN" altLang="en-US" sz="2400" dirty="0">
                <a:latin typeface="Arial" panose="020B0604020202020204" pitchFamily="34" charset="0"/>
                <a:cs typeface="Arial" panose="020B0604020202020204" pitchFamily="34" charset="0"/>
              </a:rPr>
              <a:t>说明部分</a:t>
            </a:r>
            <a:r>
              <a:rPr kumimoji="1" lang="en-US" altLang="zh-CN" sz="2400" dirty="0">
                <a:latin typeface="Arial" panose="020B0604020202020204" pitchFamily="34" charset="0"/>
                <a:cs typeface="Arial" panose="020B0604020202020204" pitchFamily="34" charset="0"/>
              </a:rPr>
              <a:t>&gt;</a:t>
            </a:r>
          </a:p>
          <a:p>
            <a:pPr>
              <a:spcBef>
                <a:spcPts val="0"/>
              </a:spcBef>
            </a:pPr>
            <a:r>
              <a:rPr kumimoji="1" lang="en-US" altLang="zh-CN" sz="2400" dirty="0">
                <a:latin typeface="Arial" panose="020B0604020202020204" pitchFamily="34" charset="0"/>
                <a:cs typeface="Arial" panose="020B0604020202020204" pitchFamily="34" charset="0"/>
              </a:rPr>
              <a:t>       S</a:t>
            </a:r>
          </a:p>
          <a:p>
            <a:pPr>
              <a:spcBef>
                <a:spcPts val="0"/>
              </a:spcBef>
            </a:pPr>
            <a:r>
              <a:rPr kumimoji="1" lang="en-US" altLang="zh-CN" sz="2400" dirty="0">
                <a:latin typeface="Arial" panose="020B0604020202020204" pitchFamily="34" charset="0"/>
                <a:cs typeface="Arial" panose="020B0604020202020204" pitchFamily="34" charset="0"/>
              </a:rPr>
              <a:t>return(&lt;</a:t>
            </a:r>
            <a:r>
              <a:rPr kumimoji="1" lang="zh-CN" altLang="en-US" sz="2400" dirty="0">
                <a:latin typeface="Arial" panose="020B0604020202020204" pitchFamily="34" charset="0"/>
                <a:cs typeface="Arial" panose="020B0604020202020204" pitchFamily="34" charset="0"/>
              </a:rPr>
              <a:t>表达式</a:t>
            </a:r>
            <a:r>
              <a:rPr kumimoji="1" lang="en-US" altLang="zh-CN" sz="2400" dirty="0">
                <a:latin typeface="Arial" panose="020B0604020202020204" pitchFamily="34" charset="0"/>
                <a:cs typeface="Arial" panose="020B0604020202020204" pitchFamily="34" charset="0"/>
              </a:rPr>
              <a:t>&gt;)</a:t>
            </a:r>
          </a:p>
          <a:p>
            <a:pPr>
              <a:spcBef>
                <a:spcPts val="0"/>
              </a:spcBef>
            </a:pPr>
            <a:r>
              <a:rPr kumimoji="1" lang="en-US" altLang="zh-CN" sz="2400" dirty="0">
                <a:latin typeface="Arial" panose="020B0604020202020204" pitchFamily="34" charset="0"/>
                <a:cs typeface="Arial" panose="020B0604020202020204" pitchFamily="34" charset="0"/>
              </a:rPr>
              <a:t>end  NAME</a:t>
            </a:r>
          </a:p>
        </p:txBody>
      </p:sp>
      <p:sp>
        <p:nvSpPr>
          <p:cNvPr id="8" name="灯片编号占位符 7"/>
          <p:cNvSpPr>
            <a:spLocks noGrp="1"/>
          </p:cNvSpPr>
          <p:nvPr>
            <p:ph type="sldNum" sz="quarter" idx="12"/>
          </p:nvPr>
        </p:nvSpPr>
        <p:spPr/>
        <p:txBody>
          <a:bodyPr/>
          <a:lstStyle/>
          <a:p>
            <a:pPr>
              <a:defRPr/>
            </a:pPr>
            <a:fld id="{D04713B0-7EE7-420A-BB22-6F99F562E080}" type="slidenum">
              <a:rPr lang="en-US" altLang="zh-CN" smtClean="0"/>
              <a:pPr>
                <a:defRPr/>
              </a:pPr>
              <a:t>55</a:t>
            </a:fld>
            <a:endParaRPr lang="en-US" altLang="zh-CN"/>
          </a:p>
        </p:txBody>
      </p:sp>
      <p:sp>
        <p:nvSpPr>
          <p:cNvPr id="9" name="AutoShape 11"/>
          <p:cNvSpPr>
            <a:spLocks noChangeArrowheads="1"/>
          </p:cNvSpPr>
          <p:nvPr/>
        </p:nvSpPr>
        <p:spPr bwMode="auto">
          <a:xfrm>
            <a:off x="5824122" y="2642595"/>
            <a:ext cx="3019161" cy="746655"/>
          </a:xfrm>
          <a:prstGeom prst="wedgeRoundRectCallout">
            <a:avLst>
              <a:gd name="adj1" fmla="val -64939"/>
              <a:gd name="adj2" fmla="val -1774"/>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幼圆" panose="02010509060101010101" pitchFamily="49" charset="-122"/>
                <a:ea typeface="幼圆" panose="02010509060101010101" pitchFamily="49" charset="-122"/>
              </a:rPr>
              <a:t>函数名通常用大写字母</a:t>
            </a:r>
          </a:p>
        </p:txBody>
      </p:sp>
      <p:sp>
        <p:nvSpPr>
          <p:cNvPr id="10" name="AutoShape 11"/>
          <p:cNvSpPr>
            <a:spLocks noChangeArrowheads="1"/>
          </p:cNvSpPr>
          <p:nvPr/>
        </p:nvSpPr>
        <p:spPr bwMode="auto">
          <a:xfrm>
            <a:off x="4879168" y="3670964"/>
            <a:ext cx="3949461" cy="1818348"/>
          </a:xfrm>
          <a:prstGeom prst="wedgeRoundRectCallout">
            <a:avLst>
              <a:gd name="adj1" fmla="val -63742"/>
              <a:gd name="adj2" fmla="val -42103"/>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幼圆" panose="02010509060101010101" pitchFamily="49" charset="-122"/>
                <a:ea typeface="幼圆" panose="02010509060101010101" pitchFamily="49" charset="-122"/>
              </a:rPr>
              <a:t>说明部分说明参数的数据类型</a:t>
            </a:r>
          </a:p>
          <a:p>
            <a:r>
              <a:rPr lang="zh-CN" altLang="en-US" sz="2000" dirty="0">
                <a:solidFill>
                  <a:schemeClr val="tx1"/>
                </a:solidFill>
                <a:latin typeface="幼圆" panose="02010509060101010101" pitchFamily="49" charset="-122"/>
                <a:ea typeface="幼圆" panose="02010509060101010101" pitchFamily="49" charset="-122"/>
              </a:rPr>
              <a:t>和函数中使用的变量</a:t>
            </a:r>
          </a:p>
          <a:p>
            <a:r>
              <a:rPr lang="en-US" altLang="zh-CN" sz="2000" dirty="0">
                <a:solidFill>
                  <a:schemeClr val="tx1"/>
                </a:solidFill>
                <a:latin typeface="Arial" panose="020B0604020202020204" pitchFamily="34" charset="0"/>
                <a:cs typeface="Arial" panose="020B0604020202020204" pitchFamily="34" charset="0"/>
              </a:rPr>
              <a:t>parameters</a:t>
            </a:r>
            <a:r>
              <a:rPr lang="en-US" altLang="zh-CN" sz="2000" dirty="0">
                <a:solidFill>
                  <a:schemeClr val="tx1"/>
                </a:solidFill>
              </a:rPr>
              <a:t>   </a:t>
            </a:r>
            <a:r>
              <a:rPr lang="zh-CN" altLang="en-US" sz="2000" dirty="0">
                <a:solidFill>
                  <a:schemeClr val="tx1"/>
                </a:solidFill>
                <a:latin typeface="幼圆" panose="02010509060101010101" pitchFamily="49" charset="-122"/>
                <a:ea typeface="幼圆" panose="02010509060101010101" pitchFamily="49" charset="-122"/>
              </a:rPr>
              <a:t>形式参数</a:t>
            </a:r>
          </a:p>
          <a:p>
            <a:r>
              <a:rPr lang="en-US" altLang="zh-CN" sz="2000" dirty="0">
                <a:solidFill>
                  <a:schemeClr val="tx1"/>
                </a:solidFill>
                <a:latin typeface="Arial" panose="020B0604020202020204" pitchFamily="34" charset="0"/>
                <a:cs typeface="Arial" panose="020B0604020202020204" pitchFamily="34" charset="0"/>
              </a:rPr>
              <a:t>global </a:t>
            </a:r>
            <a:r>
              <a:rPr lang="en-US" altLang="zh-CN" sz="2000" dirty="0">
                <a:solidFill>
                  <a:schemeClr val="tx1"/>
                </a:solidFill>
              </a:rPr>
              <a:t>  </a:t>
            </a:r>
            <a:r>
              <a:rPr lang="zh-CN" altLang="en-US" sz="2000" dirty="0">
                <a:solidFill>
                  <a:schemeClr val="tx1"/>
                </a:solidFill>
                <a:latin typeface="幼圆" panose="02010509060101010101" pitchFamily="49" charset="-122"/>
                <a:ea typeface="幼圆" panose="02010509060101010101" pitchFamily="49" charset="-122"/>
              </a:rPr>
              <a:t>全局变量</a:t>
            </a:r>
          </a:p>
          <a:p>
            <a:r>
              <a:rPr lang="en-US" altLang="zh-CN" sz="2000" dirty="0">
                <a:solidFill>
                  <a:schemeClr val="tx1"/>
                </a:solidFill>
                <a:latin typeface="Arial" panose="020B0604020202020204" pitchFamily="34" charset="0"/>
                <a:ea typeface="幼圆" panose="02010509060101010101" pitchFamily="49" charset="-122"/>
                <a:cs typeface="Arial" panose="020B0604020202020204" pitchFamily="34" charset="0"/>
              </a:rPr>
              <a:t>local</a:t>
            </a:r>
            <a:r>
              <a:rPr lang="en-US" altLang="zh-CN" sz="2000" dirty="0">
                <a:solidFill>
                  <a:schemeClr val="tx1"/>
                </a:solidFill>
                <a:latin typeface="幼圆" panose="02010509060101010101" pitchFamily="49" charset="-122"/>
                <a:ea typeface="幼圆" panose="02010509060101010101" pitchFamily="49" charset="-122"/>
              </a:rPr>
              <a:t>   </a:t>
            </a:r>
            <a:r>
              <a:rPr lang="zh-CN" altLang="en-US" sz="2000" dirty="0">
                <a:solidFill>
                  <a:schemeClr val="tx1"/>
                </a:solidFill>
                <a:latin typeface="幼圆" panose="02010509060101010101" pitchFamily="49" charset="-122"/>
                <a:ea typeface="幼圆" panose="02010509060101010101" pitchFamily="49" charset="-122"/>
              </a:rPr>
              <a:t>局部变量</a:t>
            </a:r>
          </a:p>
        </p:txBody>
      </p:sp>
    </p:spTree>
    <p:extLst>
      <p:ext uri="{BB962C8B-B14F-4D97-AF65-F5344CB8AC3E}">
        <p14:creationId xmlns:p14="http://schemas.microsoft.com/office/powerpoint/2010/main" val="341527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9" grpId="0" animBg="1"/>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tx2"/>
                </a:solidFill>
              </a:rPr>
              <a:t>算法描述例</a:t>
            </a:r>
            <a:r>
              <a:rPr lang="en-US" altLang="zh-CN" dirty="0">
                <a:solidFill>
                  <a:schemeClr val="tx2"/>
                </a:solidFill>
              </a:rPr>
              <a:t>——</a:t>
            </a:r>
            <a:r>
              <a:rPr lang="zh-CN" altLang="en-US" dirty="0">
                <a:solidFill>
                  <a:schemeClr val="tx2"/>
                </a:solidFill>
              </a:rPr>
              <a:t>同质异相</a:t>
            </a:r>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56</a:t>
            </a:fld>
            <a:endParaRPr lang="en-US" altLang="zh-CN"/>
          </a:p>
        </p:txBody>
      </p:sp>
      <p:sp>
        <p:nvSpPr>
          <p:cNvPr id="5" name="Text Box 2"/>
          <p:cNvSpPr txBox="1">
            <a:spLocks noChangeArrowheads="1"/>
          </p:cNvSpPr>
          <p:nvPr/>
        </p:nvSpPr>
        <p:spPr bwMode="auto">
          <a:xfrm>
            <a:off x="994655" y="1690872"/>
            <a:ext cx="4323011" cy="4446411"/>
          </a:xfrm>
          <a:prstGeom prst="rect">
            <a:avLst/>
          </a:prstGeom>
          <a:solidFill>
            <a:schemeClr val="bg1"/>
          </a:solidFill>
          <a:ln w="12700">
            <a:noFill/>
            <a:miter lim="800000"/>
            <a:headEnd/>
            <a:tailEnd/>
          </a:ln>
          <a:effectLst/>
        </p:spPr>
        <p:txBody>
          <a:bodyPr wrap="square" lIns="90000" tIns="46800" rIns="90000" bIns="46800">
            <a:spAutoFit/>
          </a:bodyPr>
          <a:lstStyle/>
          <a:p>
            <a:pPr>
              <a:lnSpc>
                <a:spcPct val="90000"/>
              </a:lnSpc>
              <a:spcBef>
                <a:spcPct val="50000"/>
              </a:spcBef>
            </a:pPr>
            <a:r>
              <a:rPr lang="en-US" altLang="zh-CN" sz="2000" dirty="0">
                <a:latin typeface="Arial" panose="020B0604020202020204" pitchFamily="34" charset="0"/>
                <a:cs typeface="Arial" panose="020B0604020202020204" pitchFamily="34" charset="0"/>
              </a:rPr>
              <a:t>procedure  MAX(A, n, j)</a:t>
            </a:r>
          </a:p>
          <a:p>
            <a:pPr>
              <a:lnSpc>
                <a:spcPct val="60000"/>
              </a:lnSpc>
              <a:spcBef>
                <a:spcPct val="50000"/>
              </a:spcBef>
            </a:pPr>
            <a:r>
              <a:rPr lang="en-US" altLang="zh-CN" sz="2000" dirty="0">
                <a:solidFill>
                  <a:srgbClr val="FF0000"/>
                </a:solidFill>
                <a:latin typeface="Arial" panose="020B0604020202020204" pitchFamily="34" charset="0"/>
                <a:cs typeface="Arial" panose="020B0604020202020204" pitchFamily="34" charset="0"/>
              </a:rPr>
              <a:t> parameters  real  A(1:n);</a:t>
            </a:r>
          </a:p>
          <a:p>
            <a:pPr>
              <a:lnSpc>
                <a:spcPct val="60000"/>
              </a:lnSpc>
              <a:spcBef>
                <a:spcPct val="50000"/>
              </a:spcBef>
            </a:pPr>
            <a:r>
              <a:rPr lang="en-US" altLang="zh-CN" sz="2000" dirty="0">
                <a:solidFill>
                  <a:srgbClr val="FF0000"/>
                </a:solidFill>
                <a:latin typeface="Arial" panose="020B0604020202020204" pitchFamily="34" charset="0"/>
                <a:cs typeface="Arial" panose="020B0604020202020204" pitchFamily="34" charset="0"/>
              </a:rPr>
              <a:t> parameters  integer  n, j;</a:t>
            </a:r>
          </a:p>
          <a:p>
            <a:pPr>
              <a:lnSpc>
                <a:spcPct val="60000"/>
              </a:lnSpc>
              <a:spcBef>
                <a:spcPct val="50000"/>
              </a:spcBef>
            </a:pPr>
            <a:r>
              <a:rPr lang="en-US" altLang="zh-CN" sz="2000" dirty="0">
                <a:solidFill>
                  <a:srgbClr val="FF0000"/>
                </a:solidFill>
                <a:latin typeface="Arial" panose="020B0604020202020204" pitchFamily="34" charset="0"/>
                <a:cs typeface="Arial" panose="020B0604020202020204" pitchFamily="34" charset="0"/>
              </a:rPr>
              <a:t> global real  </a:t>
            </a:r>
            <a:r>
              <a:rPr lang="en-US" altLang="zh-CN" sz="2000" dirty="0" err="1">
                <a:solidFill>
                  <a:srgbClr val="FF0000"/>
                </a:solidFill>
                <a:latin typeface="Arial" panose="020B0604020202020204" pitchFamily="34" charset="0"/>
                <a:cs typeface="Arial" panose="020B0604020202020204" pitchFamily="34" charset="0"/>
              </a:rPr>
              <a:t>xmax</a:t>
            </a:r>
            <a:r>
              <a:rPr lang="en-US" altLang="zh-CN" sz="2000" dirty="0">
                <a:solidFill>
                  <a:srgbClr val="FF0000"/>
                </a:solidFill>
                <a:latin typeface="Arial" panose="020B0604020202020204" pitchFamily="34" charset="0"/>
                <a:cs typeface="Arial" panose="020B0604020202020204" pitchFamily="34" charset="0"/>
              </a:rPr>
              <a:t>;</a:t>
            </a:r>
          </a:p>
          <a:p>
            <a:pPr>
              <a:lnSpc>
                <a:spcPct val="60000"/>
              </a:lnSpc>
              <a:spcBef>
                <a:spcPct val="50000"/>
              </a:spcBef>
            </a:pPr>
            <a:r>
              <a:rPr lang="en-US" altLang="zh-CN" sz="2000" dirty="0">
                <a:solidFill>
                  <a:srgbClr val="FF0000"/>
                </a:solidFill>
                <a:latin typeface="Arial" panose="020B0604020202020204" pitchFamily="34" charset="0"/>
                <a:cs typeface="Arial" panose="020B0604020202020204" pitchFamily="34" charset="0"/>
              </a:rPr>
              <a:t> local  integer  </a:t>
            </a:r>
            <a:r>
              <a:rPr lang="en-US" altLang="zh-CN" sz="2000" dirty="0" err="1">
                <a:solidFill>
                  <a:srgbClr val="FF0000"/>
                </a:solidFill>
                <a:latin typeface="Arial" panose="020B0604020202020204" pitchFamily="34" charset="0"/>
                <a:cs typeface="Arial" panose="020B0604020202020204" pitchFamily="34" charset="0"/>
              </a:rPr>
              <a:t>i</a:t>
            </a:r>
            <a:r>
              <a:rPr lang="en-US" altLang="zh-CN" sz="2000" dirty="0">
                <a:solidFill>
                  <a:srgbClr val="FF0000"/>
                </a:solidFill>
                <a:latin typeface="Arial" panose="020B0604020202020204" pitchFamily="34" charset="0"/>
                <a:cs typeface="Arial" panose="020B0604020202020204" pitchFamily="34" charset="0"/>
              </a:rPr>
              <a:t>; </a:t>
            </a:r>
          </a:p>
          <a:p>
            <a:pPr>
              <a:lnSpc>
                <a:spcPct val="60000"/>
              </a:lnSpc>
              <a:spcBef>
                <a:spcPct val="50000"/>
              </a:spcBef>
            </a:pPr>
            <a:r>
              <a:rPr lang="en-US" altLang="zh-CN" sz="2000" dirty="0" err="1">
                <a:latin typeface="Arial" panose="020B0604020202020204" pitchFamily="34" charset="0"/>
                <a:cs typeface="Arial" panose="020B0604020202020204" pitchFamily="34" charset="0"/>
              </a:rPr>
              <a:t>xmax</a:t>
            </a:r>
            <a:r>
              <a:rPr lang="en-US" altLang="zh-CN" sz="2000" dirty="0" err="1">
                <a:latin typeface="Arial" panose="020B0604020202020204" pitchFamily="34" charset="0"/>
                <a:cs typeface="Arial" panose="020B0604020202020204" pitchFamily="34" charset="0"/>
                <a:sym typeface="Wingdings" pitchFamily="2" charset="2"/>
              </a:rPr>
              <a:t></a:t>
            </a:r>
            <a:r>
              <a:rPr lang="en-US" altLang="zh-CN" sz="2000" dirty="0" err="1">
                <a:latin typeface="Arial" panose="020B0604020202020204" pitchFamily="34" charset="0"/>
                <a:cs typeface="Arial" panose="020B0604020202020204" pitchFamily="34" charset="0"/>
              </a:rPr>
              <a:t>A</a:t>
            </a:r>
            <a:r>
              <a:rPr lang="en-US" altLang="zh-CN" sz="2000" dirty="0">
                <a:latin typeface="Arial" panose="020B0604020202020204" pitchFamily="34" charset="0"/>
                <a:cs typeface="Arial" panose="020B0604020202020204" pitchFamily="34" charset="0"/>
              </a:rPr>
              <a:t>(1);</a:t>
            </a:r>
          </a:p>
          <a:p>
            <a:pPr>
              <a:lnSpc>
                <a:spcPct val="60000"/>
              </a:lnSpc>
              <a:spcBef>
                <a:spcPct val="50000"/>
              </a:spcBef>
            </a:pPr>
            <a:r>
              <a:rPr lang="en-US" altLang="zh-CN" sz="2000" dirty="0">
                <a:latin typeface="Arial" panose="020B0604020202020204" pitchFamily="34" charset="0"/>
                <a:cs typeface="Arial" panose="020B0604020202020204" pitchFamily="34" charset="0"/>
              </a:rPr>
              <a:t>for  i</a:t>
            </a:r>
            <a:r>
              <a:rPr lang="en-US" altLang="zh-CN" sz="2000" dirty="0">
                <a:latin typeface="Arial" panose="020B0604020202020204" pitchFamily="34" charset="0"/>
                <a:cs typeface="Arial" panose="020B0604020202020204" pitchFamily="34" charset="0"/>
                <a:sym typeface="Wingdings" pitchFamily="2" charset="2"/>
              </a:rPr>
              <a:t></a:t>
            </a:r>
            <a:r>
              <a:rPr lang="en-US" altLang="zh-CN" sz="2000" dirty="0">
                <a:latin typeface="Arial" panose="020B0604020202020204" pitchFamily="34" charset="0"/>
                <a:cs typeface="Arial" panose="020B0604020202020204" pitchFamily="34" charset="0"/>
              </a:rPr>
              <a:t>2  to n do</a:t>
            </a:r>
          </a:p>
          <a:p>
            <a:pPr>
              <a:lnSpc>
                <a:spcPct val="60000"/>
              </a:lnSpc>
              <a:spcBef>
                <a:spcPct val="50000"/>
              </a:spcBef>
            </a:pPr>
            <a:r>
              <a:rPr lang="en-US" altLang="zh-CN" sz="2000" dirty="0">
                <a:latin typeface="Arial" panose="020B0604020202020204" pitchFamily="34" charset="0"/>
                <a:cs typeface="Arial" panose="020B0604020202020204" pitchFamily="34" charset="0"/>
              </a:rPr>
              <a:t>     if  A(</a:t>
            </a:r>
            <a:r>
              <a:rPr lang="en-US" altLang="zh-CN" sz="2000" dirty="0" err="1">
                <a:latin typeface="Arial" panose="020B0604020202020204" pitchFamily="34" charset="0"/>
                <a:cs typeface="Arial" panose="020B0604020202020204" pitchFamily="34" charset="0"/>
              </a:rPr>
              <a:t>i</a:t>
            </a:r>
            <a:r>
              <a:rPr lang="en-US" altLang="zh-CN" sz="2000" dirty="0">
                <a:latin typeface="Arial" panose="020B0604020202020204" pitchFamily="34" charset="0"/>
                <a:cs typeface="Arial" panose="020B0604020202020204" pitchFamily="34" charset="0"/>
              </a:rPr>
              <a:t>)&gt;</a:t>
            </a:r>
            <a:r>
              <a:rPr lang="en-US" altLang="zh-CN" sz="2000" dirty="0" err="1">
                <a:latin typeface="Arial" panose="020B0604020202020204" pitchFamily="34" charset="0"/>
                <a:cs typeface="Arial" panose="020B0604020202020204" pitchFamily="34" charset="0"/>
              </a:rPr>
              <a:t>xmax</a:t>
            </a:r>
            <a:r>
              <a:rPr lang="en-US" altLang="zh-CN" sz="2000" dirty="0">
                <a:latin typeface="Arial" panose="020B0604020202020204" pitchFamily="34" charset="0"/>
                <a:cs typeface="Arial" panose="020B0604020202020204" pitchFamily="34" charset="0"/>
              </a:rPr>
              <a:t>  then  </a:t>
            </a:r>
          </a:p>
          <a:p>
            <a:pPr>
              <a:lnSpc>
                <a:spcPct val="60000"/>
              </a:lnSpc>
              <a:spcBef>
                <a:spcPct val="50000"/>
              </a:spcBef>
            </a:pPr>
            <a:r>
              <a:rPr lang="en-US" altLang="zh-CN" sz="2000" dirty="0">
                <a:latin typeface="Arial" panose="020B0604020202020204" pitchFamily="34" charset="0"/>
                <a:cs typeface="Arial" panose="020B0604020202020204" pitchFamily="34" charset="0"/>
              </a:rPr>
              <a:t>            </a:t>
            </a:r>
            <a:r>
              <a:rPr lang="en-US" altLang="zh-CN" sz="2000" dirty="0" err="1">
                <a:latin typeface="Arial" panose="020B0604020202020204" pitchFamily="34" charset="0"/>
                <a:cs typeface="Arial" panose="020B0604020202020204" pitchFamily="34" charset="0"/>
              </a:rPr>
              <a:t>xmax</a:t>
            </a:r>
            <a:r>
              <a:rPr lang="en-US" altLang="zh-CN" sz="2000" dirty="0" err="1">
                <a:latin typeface="Arial" panose="020B0604020202020204" pitchFamily="34" charset="0"/>
                <a:cs typeface="Arial" panose="020B0604020202020204" pitchFamily="34" charset="0"/>
                <a:sym typeface="Wingdings" pitchFamily="2" charset="2"/>
              </a:rPr>
              <a:t></a:t>
            </a:r>
            <a:r>
              <a:rPr lang="en-US" altLang="zh-CN" sz="2000" dirty="0" err="1">
                <a:latin typeface="Arial" panose="020B0604020202020204" pitchFamily="34" charset="0"/>
                <a:cs typeface="Arial" panose="020B0604020202020204" pitchFamily="34" charset="0"/>
              </a:rPr>
              <a:t>A</a:t>
            </a:r>
            <a:r>
              <a:rPr lang="en-US" altLang="zh-CN" sz="2000" dirty="0">
                <a:latin typeface="Arial" panose="020B0604020202020204" pitchFamily="34" charset="0"/>
                <a:cs typeface="Arial" panose="020B0604020202020204" pitchFamily="34" charset="0"/>
              </a:rPr>
              <a:t>(</a:t>
            </a:r>
            <a:r>
              <a:rPr lang="en-US" altLang="zh-CN" sz="2000" dirty="0" err="1">
                <a:latin typeface="Arial" panose="020B0604020202020204" pitchFamily="34" charset="0"/>
                <a:cs typeface="Arial" panose="020B0604020202020204" pitchFamily="34" charset="0"/>
              </a:rPr>
              <a:t>i</a:t>
            </a:r>
            <a:r>
              <a:rPr lang="en-US" altLang="zh-CN" sz="2000" dirty="0">
                <a:latin typeface="Arial" panose="020B0604020202020204" pitchFamily="34" charset="0"/>
                <a:cs typeface="Arial" panose="020B0604020202020204" pitchFamily="34" charset="0"/>
              </a:rPr>
              <a:t>);    </a:t>
            </a:r>
            <a:r>
              <a:rPr lang="en-US" altLang="zh-CN" sz="2000" dirty="0" err="1">
                <a:latin typeface="Arial" panose="020B0604020202020204" pitchFamily="34" charset="0"/>
                <a:cs typeface="Arial" panose="020B0604020202020204" pitchFamily="34" charset="0"/>
              </a:rPr>
              <a:t>j</a:t>
            </a:r>
            <a:r>
              <a:rPr lang="en-US" altLang="zh-CN" sz="2000" dirty="0" err="1">
                <a:latin typeface="Arial" panose="020B0604020202020204" pitchFamily="34" charset="0"/>
                <a:cs typeface="Arial" panose="020B0604020202020204" pitchFamily="34" charset="0"/>
                <a:sym typeface="Wingdings" pitchFamily="2" charset="2"/>
              </a:rPr>
              <a:t></a:t>
            </a:r>
            <a:r>
              <a:rPr lang="en-US" altLang="zh-CN" sz="2000" dirty="0" err="1">
                <a:latin typeface="Arial" panose="020B0604020202020204" pitchFamily="34" charset="0"/>
                <a:cs typeface="Arial" panose="020B0604020202020204" pitchFamily="34" charset="0"/>
              </a:rPr>
              <a:t>i</a:t>
            </a:r>
            <a:endParaRPr lang="en-US" altLang="zh-CN" sz="2000" dirty="0">
              <a:latin typeface="Arial" panose="020B0604020202020204" pitchFamily="34" charset="0"/>
              <a:cs typeface="Arial" panose="020B0604020202020204" pitchFamily="34" charset="0"/>
            </a:endParaRPr>
          </a:p>
          <a:p>
            <a:pPr>
              <a:lnSpc>
                <a:spcPct val="60000"/>
              </a:lnSpc>
              <a:spcBef>
                <a:spcPct val="50000"/>
              </a:spcBef>
            </a:pPr>
            <a:r>
              <a:rPr lang="en-US" altLang="zh-CN" sz="2000" dirty="0">
                <a:latin typeface="Arial" panose="020B0604020202020204" pitchFamily="34" charset="0"/>
                <a:cs typeface="Arial" panose="020B0604020202020204" pitchFamily="34" charset="0"/>
              </a:rPr>
              <a:t>     </a:t>
            </a:r>
            <a:r>
              <a:rPr lang="en-US" altLang="zh-CN" sz="2000" dirty="0" err="1">
                <a:latin typeface="Arial" panose="020B0604020202020204" pitchFamily="34" charset="0"/>
                <a:cs typeface="Arial" panose="020B0604020202020204" pitchFamily="34" charset="0"/>
              </a:rPr>
              <a:t>endif</a:t>
            </a:r>
            <a:r>
              <a:rPr lang="en-US" altLang="zh-CN" sz="2000" dirty="0">
                <a:latin typeface="Arial" panose="020B0604020202020204" pitchFamily="34" charset="0"/>
                <a:cs typeface="Arial" panose="020B0604020202020204" pitchFamily="34" charset="0"/>
              </a:rPr>
              <a:t> </a:t>
            </a:r>
          </a:p>
          <a:p>
            <a:pPr>
              <a:lnSpc>
                <a:spcPct val="60000"/>
              </a:lnSpc>
              <a:spcBef>
                <a:spcPct val="50000"/>
              </a:spcBef>
            </a:pPr>
            <a:r>
              <a:rPr lang="en-US" altLang="zh-CN" sz="2000" dirty="0">
                <a:latin typeface="Arial" panose="020B0604020202020204" pitchFamily="34" charset="0"/>
                <a:cs typeface="Arial" panose="020B0604020202020204" pitchFamily="34" charset="0"/>
              </a:rPr>
              <a:t>repeat</a:t>
            </a:r>
          </a:p>
          <a:p>
            <a:pPr>
              <a:lnSpc>
                <a:spcPct val="60000"/>
              </a:lnSpc>
              <a:spcBef>
                <a:spcPct val="50000"/>
              </a:spcBef>
            </a:pPr>
            <a:r>
              <a:rPr lang="en-US" altLang="zh-CN" sz="2000" dirty="0">
                <a:latin typeface="Arial" panose="020B0604020202020204" pitchFamily="34" charset="0"/>
                <a:cs typeface="Arial" panose="020B0604020202020204" pitchFamily="34" charset="0"/>
              </a:rPr>
              <a:t>return </a:t>
            </a:r>
            <a:r>
              <a:rPr lang="en-US" altLang="zh-CN" sz="2000" dirty="0" err="1">
                <a:latin typeface="Arial" panose="020B0604020202020204" pitchFamily="34" charset="0"/>
                <a:cs typeface="Arial" panose="020B0604020202020204" pitchFamily="34" charset="0"/>
              </a:rPr>
              <a:t>xmax</a:t>
            </a:r>
            <a:endParaRPr lang="en-US" altLang="zh-CN" sz="2000" dirty="0">
              <a:latin typeface="Arial" panose="020B0604020202020204" pitchFamily="34" charset="0"/>
              <a:cs typeface="Arial" panose="020B0604020202020204" pitchFamily="34" charset="0"/>
            </a:endParaRPr>
          </a:p>
          <a:p>
            <a:pPr>
              <a:lnSpc>
                <a:spcPct val="60000"/>
              </a:lnSpc>
              <a:spcBef>
                <a:spcPct val="50000"/>
              </a:spcBef>
            </a:pPr>
            <a:r>
              <a:rPr lang="en-US" altLang="zh-CN" sz="2000" dirty="0">
                <a:latin typeface="Arial" panose="020B0604020202020204" pitchFamily="34" charset="0"/>
                <a:cs typeface="Arial" panose="020B0604020202020204" pitchFamily="34" charset="0"/>
              </a:rPr>
              <a:t>end  MAX    </a:t>
            </a:r>
          </a:p>
        </p:txBody>
      </p:sp>
      <p:sp>
        <p:nvSpPr>
          <p:cNvPr id="6" name="Text Box 3"/>
          <p:cNvSpPr txBox="1">
            <a:spLocks noChangeArrowheads="1"/>
          </p:cNvSpPr>
          <p:nvPr/>
        </p:nvSpPr>
        <p:spPr bwMode="auto">
          <a:xfrm>
            <a:off x="6240016" y="1690872"/>
            <a:ext cx="3970337" cy="3757055"/>
          </a:xfrm>
          <a:prstGeom prst="rect">
            <a:avLst/>
          </a:prstGeom>
          <a:solidFill>
            <a:schemeClr val="bg1"/>
          </a:solidFill>
          <a:ln w="12700">
            <a:noFill/>
            <a:miter lim="800000"/>
            <a:headEnd/>
            <a:tailEnd/>
          </a:ln>
          <a:effectLst/>
        </p:spPr>
        <p:txBody>
          <a:bodyPr lIns="90000" tIns="46800" rIns="90000" bIns="46800">
            <a:spAutoFit/>
          </a:bodyPr>
          <a:lstStyle/>
          <a:p>
            <a:pPr>
              <a:lnSpc>
                <a:spcPct val="90000"/>
              </a:lnSpc>
              <a:spcBef>
                <a:spcPct val="50000"/>
              </a:spcBef>
            </a:pPr>
            <a:r>
              <a:rPr lang="en-US" altLang="zh-CN" sz="2000" dirty="0">
                <a:latin typeface="Arial" panose="020B0604020202020204" pitchFamily="34" charset="0"/>
                <a:cs typeface="Arial" panose="020B0604020202020204" pitchFamily="34" charset="0"/>
              </a:rPr>
              <a:t>procedure  MAX(A, n, j)</a:t>
            </a:r>
          </a:p>
          <a:p>
            <a:pPr>
              <a:lnSpc>
                <a:spcPct val="60000"/>
              </a:lnSpc>
              <a:spcBef>
                <a:spcPct val="50000"/>
              </a:spcBef>
            </a:pPr>
            <a:r>
              <a:rPr lang="en-US" altLang="zh-CN" sz="2000" dirty="0">
                <a:solidFill>
                  <a:srgbClr val="FF0000"/>
                </a:solidFill>
                <a:latin typeface="Arial" panose="020B0604020202020204" pitchFamily="34" charset="0"/>
                <a:cs typeface="Arial" panose="020B0604020202020204" pitchFamily="34" charset="0"/>
              </a:rPr>
              <a:t>global  </a:t>
            </a:r>
            <a:r>
              <a:rPr lang="en-US" altLang="zh-CN" sz="2000" dirty="0" err="1">
                <a:solidFill>
                  <a:srgbClr val="FF0000"/>
                </a:solidFill>
                <a:latin typeface="Arial" panose="020B0604020202020204" pitchFamily="34" charset="0"/>
                <a:cs typeface="Arial" panose="020B0604020202020204" pitchFamily="34" charset="0"/>
              </a:rPr>
              <a:t>xmax</a:t>
            </a:r>
            <a:r>
              <a:rPr lang="en-US" altLang="zh-CN" sz="2000" dirty="0">
                <a:solidFill>
                  <a:srgbClr val="FF0000"/>
                </a:solidFill>
                <a:latin typeface="Arial" panose="020B0604020202020204" pitchFamily="34" charset="0"/>
                <a:cs typeface="Arial" panose="020B0604020202020204" pitchFamily="34" charset="0"/>
              </a:rPr>
              <a:t>; //A(1:n); </a:t>
            </a:r>
          </a:p>
          <a:p>
            <a:pPr>
              <a:lnSpc>
                <a:spcPct val="60000"/>
              </a:lnSpc>
              <a:spcBef>
                <a:spcPct val="50000"/>
              </a:spcBef>
            </a:pPr>
            <a:r>
              <a:rPr lang="en-US" altLang="zh-CN" sz="2000" dirty="0" err="1">
                <a:solidFill>
                  <a:srgbClr val="FF0000"/>
                </a:solidFill>
                <a:latin typeface="Arial" panose="020B0604020202020204" pitchFamily="34" charset="0"/>
                <a:cs typeface="Arial" panose="020B0604020202020204" pitchFamily="34" charset="0"/>
              </a:rPr>
              <a:t>int</a:t>
            </a:r>
            <a:r>
              <a:rPr lang="en-US" altLang="zh-CN" sz="2000" dirty="0">
                <a:solidFill>
                  <a:srgbClr val="FF0000"/>
                </a:solidFill>
                <a:latin typeface="Arial" panose="020B0604020202020204" pitchFamily="34" charset="0"/>
                <a:cs typeface="Arial" panose="020B0604020202020204" pitchFamily="34" charset="0"/>
              </a:rPr>
              <a:t>  </a:t>
            </a:r>
            <a:r>
              <a:rPr lang="en-US" altLang="zh-CN" sz="2000" dirty="0" err="1">
                <a:solidFill>
                  <a:srgbClr val="FF0000"/>
                </a:solidFill>
                <a:latin typeface="Arial" panose="020B0604020202020204" pitchFamily="34" charset="0"/>
                <a:cs typeface="Arial" panose="020B0604020202020204" pitchFamily="34" charset="0"/>
              </a:rPr>
              <a:t>i</a:t>
            </a:r>
            <a:r>
              <a:rPr lang="en-US" altLang="zh-CN" sz="2000" dirty="0">
                <a:solidFill>
                  <a:srgbClr val="FF0000"/>
                </a:solidFill>
                <a:latin typeface="Arial" panose="020B0604020202020204" pitchFamily="34" charset="0"/>
                <a:cs typeface="Arial" panose="020B0604020202020204" pitchFamily="34" charset="0"/>
              </a:rPr>
              <a:t>, n, j;    </a:t>
            </a:r>
          </a:p>
          <a:p>
            <a:pPr>
              <a:lnSpc>
                <a:spcPct val="60000"/>
              </a:lnSpc>
              <a:spcBef>
                <a:spcPct val="50000"/>
              </a:spcBef>
            </a:pPr>
            <a:r>
              <a:rPr lang="en-US" altLang="zh-CN" sz="2000" dirty="0" err="1">
                <a:latin typeface="Arial" panose="020B0604020202020204" pitchFamily="34" charset="0"/>
                <a:cs typeface="Arial" panose="020B0604020202020204" pitchFamily="34" charset="0"/>
              </a:rPr>
              <a:t>xmax</a:t>
            </a:r>
            <a:r>
              <a:rPr lang="en-US" altLang="zh-CN" sz="2000" dirty="0" err="1">
                <a:latin typeface="Arial" panose="020B0604020202020204" pitchFamily="34" charset="0"/>
                <a:cs typeface="Arial" panose="020B0604020202020204" pitchFamily="34" charset="0"/>
                <a:sym typeface="Wingdings" pitchFamily="2" charset="2"/>
              </a:rPr>
              <a:t></a:t>
            </a:r>
            <a:r>
              <a:rPr lang="en-US" altLang="zh-CN" sz="2000" dirty="0" err="1">
                <a:latin typeface="Arial" panose="020B0604020202020204" pitchFamily="34" charset="0"/>
                <a:cs typeface="Arial" panose="020B0604020202020204" pitchFamily="34" charset="0"/>
              </a:rPr>
              <a:t>A</a:t>
            </a:r>
            <a:r>
              <a:rPr lang="en-US" altLang="zh-CN" sz="2000" dirty="0">
                <a:latin typeface="Arial" panose="020B0604020202020204" pitchFamily="34" charset="0"/>
                <a:cs typeface="Arial" panose="020B0604020202020204" pitchFamily="34" charset="0"/>
              </a:rPr>
              <a:t>(1);</a:t>
            </a:r>
          </a:p>
          <a:p>
            <a:pPr>
              <a:lnSpc>
                <a:spcPct val="60000"/>
              </a:lnSpc>
              <a:spcBef>
                <a:spcPct val="50000"/>
              </a:spcBef>
            </a:pPr>
            <a:r>
              <a:rPr lang="en-US" altLang="zh-CN" sz="2000" dirty="0">
                <a:latin typeface="Arial" panose="020B0604020202020204" pitchFamily="34" charset="0"/>
                <a:cs typeface="Arial" panose="020B0604020202020204" pitchFamily="34" charset="0"/>
              </a:rPr>
              <a:t>for  i</a:t>
            </a:r>
            <a:r>
              <a:rPr lang="en-US" altLang="zh-CN" sz="2000" dirty="0">
                <a:latin typeface="Arial" panose="020B0604020202020204" pitchFamily="34" charset="0"/>
                <a:cs typeface="Arial" panose="020B0604020202020204" pitchFamily="34" charset="0"/>
                <a:sym typeface="Wingdings" pitchFamily="2" charset="2"/>
              </a:rPr>
              <a:t></a:t>
            </a:r>
            <a:r>
              <a:rPr lang="en-US" altLang="zh-CN" sz="2000" dirty="0">
                <a:latin typeface="Arial" panose="020B0604020202020204" pitchFamily="34" charset="0"/>
                <a:cs typeface="Arial" panose="020B0604020202020204" pitchFamily="34" charset="0"/>
              </a:rPr>
              <a:t>2  to n do</a:t>
            </a:r>
          </a:p>
          <a:p>
            <a:pPr>
              <a:lnSpc>
                <a:spcPct val="60000"/>
              </a:lnSpc>
              <a:spcBef>
                <a:spcPct val="50000"/>
              </a:spcBef>
            </a:pPr>
            <a:r>
              <a:rPr lang="en-US" altLang="zh-CN" sz="2000" dirty="0">
                <a:latin typeface="Arial" panose="020B0604020202020204" pitchFamily="34" charset="0"/>
                <a:cs typeface="Arial" panose="020B0604020202020204" pitchFamily="34" charset="0"/>
              </a:rPr>
              <a:t>     if  A(</a:t>
            </a:r>
            <a:r>
              <a:rPr lang="en-US" altLang="zh-CN" sz="2000" dirty="0" err="1">
                <a:latin typeface="Arial" panose="020B0604020202020204" pitchFamily="34" charset="0"/>
                <a:cs typeface="Arial" panose="020B0604020202020204" pitchFamily="34" charset="0"/>
              </a:rPr>
              <a:t>i</a:t>
            </a:r>
            <a:r>
              <a:rPr lang="en-US" altLang="zh-CN" sz="2000" dirty="0">
                <a:latin typeface="Arial" panose="020B0604020202020204" pitchFamily="34" charset="0"/>
                <a:cs typeface="Arial" panose="020B0604020202020204" pitchFamily="34" charset="0"/>
              </a:rPr>
              <a:t>)&gt;</a:t>
            </a:r>
            <a:r>
              <a:rPr lang="en-US" altLang="zh-CN" sz="2000" dirty="0" err="1">
                <a:latin typeface="Arial" panose="020B0604020202020204" pitchFamily="34" charset="0"/>
                <a:cs typeface="Arial" panose="020B0604020202020204" pitchFamily="34" charset="0"/>
              </a:rPr>
              <a:t>xmax</a:t>
            </a:r>
            <a:r>
              <a:rPr lang="en-US" altLang="zh-CN" sz="2000" dirty="0">
                <a:latin typeface="Arial" panose="020B0604020202020204" pitchFamily="34" charset="0"/>
                <a:cs typeface="Arial" panose="020B0604020202020204" pitchFamily="34" charset="0"/>
              </a:rPr>
              <a:t>  then  </a:t>
            </a:r>
          </a:p>
          <a:p>
            <a:pPr>
              <a:lnSpc>
                <a:spcPct val="60000"/>
              </a:lnSpc>
              <a:spcBef>
                <a:spcPct val="50000"/>
              </a:spcBef>
            </a:pPr>
            <a:r>
              <a:rPr lang="en-US" altLang="zh-CN" sz="2000" dirty="0">
                <a:latin typeface="Arial" panose="020B0604020202020204" pitchFamily="34" charset="0"/>
                <a:cs typeface="Arial" panose="020B0604020202020204" pitchFamily="34" charset="0"/>
              </a:rPr>
              <a:t>            </a:t>
            </a:r>
            <a:r>
              <a:rPr lang="en-US" altLang="zh-CN" sz="2000" dirty="0" err="1">
                <a:latin typeface="Arial" panose="020B0604020202020204" pitchFamily="34" charset="0"/>
                <a:cs typeface="Arial" panose="020B0604020202020204" pitchFamily="34" charset="0"/>
              </a:rPr>
              <a:t>xmax</a:t>
            </a:r>
            <a:r>
              <a:rPr lang="en-US" altLang="zh-CN" sz="2000" dirty="0" err="1">
                <a:latin typeface="Arial" panose="020B0604020202020204" pitchFamily="34" charset="0"/>
                <a:cs typeface="Arial" panose="020B0604020202020204" pitchFamily="34" charset="0"/>
                <a:sym typeface="Wingdings" pitchFamily="2" charset="2"/>
              </a:rPr>
              <a:t></a:t>
            </a:r>
            <a:r>
              <a:rPr lang="en-US" altLang="zh-CN" sz="2000" dirty="0" err="1">
                <a:latin typeface="Arial" panose="020B0604020202020204" pitchFamily="34" charset="0"/>
                <a:cs typeface="Arial" panose="020B0604020202020204" pitchFamily="34" charset="0"/>
              </a:rPr>
              <a:t>A</a:t>
            </a:r>
            <a:r>
              <a:rPr lang="en-US" altLang="zh-CN" sz="2000" dirty="0">
                <a:latin typeface="Arial" panose="020B0604020202020204" pitchFamily="34" charset="0"/>
                <a:cs typeface="Arial" panose="020B0604020202020204" pitchFamily="34" charset="0"/>
              </a:rPr>
              <a:t>(</a:t>
            </a:r>
            <a:r>
              <a:rPr lang="en-US" altLang="zh-CN" sz="2000" dirty="0" err="1">
                <a:latin typeface="Arial" panose="020B0604020202020204" pitchFamily="34" charset="0"/>
                <a:cs typeface="Arial" panose="020B0604020202020204" pitchFamily="34" charset="0"/>
              </a:rPr>
              <a:t>i</a:t>
            </a:r>
            <a:r>
              <a:rPr lang="en-US" altLang="zh-CN" sz="2000" dirty="0">
                <a:latin typeface="Arial" panose="020B0604020202020204" pitchFamily="34" charset="0"/>
                <a:cs typeface="Arial" panose="020B0604020202020204" pitchFamily="34" charset="0"/>
              </a:rPr>
              <a:t>);    </a:t>
            </a:r>
            <a:r>
              <a:rPr lang="en-US" altLang="zh-CN" sz="2000" dirty="0" err="1">
                <a:latin typeface="Arial" panose="020B0604020202020204" pitchFamily="34" charset="0"/>
                <a:cs typeface="Arial" panose="020B0604020202020204" pitchFamily="34" charset="0"/>
              </a:rPr>
              <a:t>j</a:t>
            </a:r>
            <a:r>
              <a:rPr lang="en-US" altLang="zh-CN" sz="2000" dirty="0" err="1">
                <a:latin typeface="Arial" panose="020B0604020202020204" pitchFamily="34" charset="0"/>
                <a:cs typeface="Arial" panose="020B0604020202020204" pitchFamily="34" charset="0"/>
                <a:sym typeface="Wingdings" pitchFamily="2" charset="2"/>
              </a:rPr>
              <a:t></a:t>
            </a:r>
            <a:r>
              <a:rPr lang="en-US" altLang="zh-CN" sz="2000" dirty="0" err="1">
                <a:latin typeface="Arial" panose="020B0604020202020204" pitchFamily="34" charset="0"/>
                <a:cs typeface="Arial" panose="020B0604020202020204" pitchFamily="34" charset="0"/>
              </a:rPr>
              <a:t>i</a:t>
            </a:r>
            <a:endParaRPr lang="en-US" altLang="zh-CN" sz="2000" dirty="0">
              <a:latin typeface="Arial" panose="020B0604020202020204" pitchFamily="34" charset="0"/>
              <a:cs typeface="Arial" panose="020B0604020202020204" pitchFamily="34" charset="0"/>
            </a:endParaRPr>
          </a:p>
          <a:p>
            <a:pPr>
              <a:lnSpc>
                <a:spcPct val="60000"/>
              </a:lnSpc>
              <a:spcBef>
                <a:spcPct val="50000"/>
              </a:spcBef>
            </a:pPr>
            <a:r>
              <a:rPr lang="en-US" altLang="zh-CN" sz="2000" dirty="0">
                <a:latin typeface="Arial" panose="020B0604020202020204" pitchFamily="34" charset="0"/>
                <a:cs typeface="Arial" panose="020B0604020202020204" pitchFamily="34" charset="0"/>
              </a:rPr>
              <a:t>     </a:t>
            </a:r>
            <a:r>
              <a:rPr lang="en-US" altLang="zh-CN" sz="2000" dirty="0" err="1">
                <a:latin typeface="Arial" panose="020B0604020202020204" pitchFamily="34" charset="0"/>
                <a:cs typeface="Arial" panose="020B0604020202020204" pitchFamily="34" charset="0"/>
              </a:rPr>
              <a:t>endif</a:t>
            </a:r>
            <a:r>
              <a:rPr lang="en-US" altLang="zh-CN" sz="2000" dirty="0">
                <a:latin typeface="Arial" panose="020B0604020202020204" pitchFamily="34" charset="0"/>
                <a:cs typeface="Arial" panose="020B0604020202020204" pitchFamily="34" charset="0"/>
              </a:rPr>
              <a:t> </a:t>
            </a:r>
          </a:p>
          <a:p>
            <a:pPr>
              <a:lnSpc>
                <a:spcPct val="60000"/>
              </a:lnSpc>
              <a:spcBef>
                <a:spcPct val="50000"/>
              </a:spcBef>
            </a:pPr>
            <a:r>
              <a:rPr lang="en-US" altLang="zh-CN" sz="2000" dirty="0">
                <a:latin typeface="Arial" panose="020B0604020202020204" pitchFamily="34" charset="0"/>
                <a:cs typeface="Arial" panose="020B0604020202020204" pitchFamily="34" charset="0"/>
              </a:rPr>
              <a:t>repeat</a:t>
            </a:r>
          </a:p>
          <a:p>
            <a:pPr>
              <a:lnSpc>
                <a:spcPct val="60000"/>
              </a:lnSpc>
              <a:spcBef>
                <a:spcPct val="50000"/>
              </a:spcBef>
            </a:pPr>
            <a:r>
              <a:rPr lang="en-US" altLang="zh-CN" sz="2000" dirty="0">
                <a:latin typeface="Arial" panose="020B0604020202020204" pitchFamily="34" charset="0"/>
                <a:cs typeface="Arial" panose="020B0604020202020204" pitchFamily="34" charset="0"/>
              </a:rPr>
              <a:t>return </a:t>
            </a:r>
            <a:r>
              <a:rPr lang="en-US" altLang="zh-CN" sz="2000" dirty="0" err="1">
                <a:latin typeface="Arial" panose="020B0604020202020204" pitchFamily="34" charset="0"/>
                <a:cs typeface="Arial" panose="020B0604020202020204" pitchFamily="34" charset="0"/>
              </a:rPr>
              <a:t>xmax</a:t>
            </a:r>
            <a:endParaRPr lang="en-US" altLang="zh-CN" sz="2000" dirty="0">
              <a:latin typeface="Arial" panose="020B0604020202020204" pitchFamily="34" charset="0"/>
              <a:cs typeface="Arial" panose="020B0604020202020204" pitchFamily="34" charset="0"/>
            </a:endParaRPr>
          </a:p>
          <a:p>
            <a:pPr>
              <a:lnSpc>
                <a:spcPct val="60000"/>
              </a:lnSpc>
              <a:spcBef>
                <a:spcPct val="50000"/>
              </a:spcBef>
            </a:pPr>
            <a:r>
              <a:rPr lang="en-US" altLang="zh-CN" sz="2000" dirty="0">
                <a:latin typeface="Arial" panose="020B0604020202020204" pitchFamily="34" charset="0"/>
                <a:cs typeface="Arial" panose="020B0604020202020204" pitchFamily="34" charset="0"/>
              </a:rPr>
              <a:t>end  MAX     </a:t>
            </a:r>
          </a:p>
        </p:txBody>
      </p:sp>
    </p:spTree>
    <p:extLst>
      <p:ext uri="{BB962C8B-B14F-4D97-AF65-F5344CB8AC3E}">
        <p14:creationId xmlns:p14="http://schemas.microsoft.com/office/powerpoint/2010/main" val="1796253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3">
            <a:extLst>
              <a:ext uri="{FF2B5EF4-FFF2-40B4-BE49-F238E27FC236}">
                <a16:creationId xmlns:a16="http://schemas.microsoft.com/office/drawing/2014/main" xmlns="" id="{51D5AA1F-DE9C-4039-A9A8-FEDB54CA881A}"/>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ADFEB93F-1ED3-4F76-816D-E04A2F4AB5EB}" type="slidenum">
              <a:rPr altLang="zh-CN" sz="1000"/>
              <a:pPr>
                <a:spcBef>
                  <a:spcPct val="0"/>
                </a:spcBef>
                <a:buClrTx/>
                <a:buSzTx/>
                <a:buFont typeface="Arial" panose="020B0604020202020204" pitchFamily="34" charset="0"/>
                <a:buNone/>
              </a:pPr>
              <a:t>57</a:t>
            </a:fld>
            <a:endParaRPr lang="zh-CN" altLang="zh-CN" sz="1000"/>
          </a:p>
        </p:txBody>
      </p:sp>
      <p:sp>
        <p:nvSpPr>
          <p:cNvPr id="234498" name="Rectangle 2">
            <a:extLst>
              <a:ext uri="{FF2B5EF4-FFF2-40B4-BE49-F238E27FC236}">
                <a16:creationId xmlns:a16="http://schemas.microsoft.com/office/drawing/2014/main" xmlns="" id="{A62ADC89-66D0-491B-A739-28BC436F1213}"/>
              </a:ext>
            </a:extLst>
          </p:cNvPr>
          <p:cNvSpPr>
            <a:spLocks noGrp="1" noChangeArrowheads="1"/>
          </p:cNvSpPr>
          <p:nvPr>
            <p:ph type="title" idx="4294967295"/>
          </p:nvPr>
        </p:nvSpPr>
        <p:spPr>
          <a:xfrm>
            <a:off x="407368" y="344593"/>
            <a:ext cx="2195984" cy="776288"/>
          </a:xfrm>
        </p:spPr>
        <p:txBody>
          <a:bodyPr anchor="ctr">
            <a:normAutofit/>
          </a:bodyPr>
          <a:lstStyle/>
          <a:p>
            <a:pPr algn="ctr" eaLnBrk="1" hangingPunct="1">
              <a:defRPr/>
            </a:pPr>
            <a:r>
              <a:rPr kumimoji="1" lang="zh-CN" altLang="en-US" dirty="0">
                <a:solidFill>
                  <a:schemeClr val="tx2"/>
                </a:solidFill>
              </a:rPr>
              <a:t>小结</a:t>
            </a:r>
          </a:p>
        </p:txBody>
      </p:sp>
      <p:sp>
        <p:nvSpPr>
          <p:cNvPr id="234499" name="Rectangle 3">
            <a:extLst>
              <a:ext uri="{FF2B5EF4-FFF2-40B4-BE49-F238E27FC236}">
                <a16:creationId xmlns:a16="http://schemas.microsoft.com/office/drawing/2014/main" xmlns="" id="{C6C36F68-F76A-4C03-BBF2-B96126CF8848}"/>
              </a:ext>
            </a:extLst>
          </p:cNvPr>
          <p:cNvSpPr>
            <a:spLocks noGrp="1" noChangeArrowheads="1"/>
          </p:cNvSpPr>
          <p:nvPr>
            <p:ph type="body" idx="4294967295"/>
          </p:nvPr>
        </p:nvSpPr>
        <p:spPr>
          <a:xfrm>
            <a:off x="711980" y="1340769"/>
            <a:ext cx="10496588" cy="2952328"/>
          </a:xfrm>
        </p:spPr>
        <p:txBody>
          <a:bodyPr/>
          <a:lstStyle/>
          <a:p>
            <a:pPr eaLnBrk="1" hangingPunct="1">
              <a:defRPr/>
            </a:pPr>
            <a:r>
              <a:rPr lang="zh-CN" altLang="en-US" sz="3200" dirty="0">
                <a:solidFill>
                  <a:srgbClr val="C00000"/>
                </a:solidFill>
              </a:rPr>
              <a:t>算法的五个重要特性</a:t>
            </a:r>
          </a:p>
          <a:p>
            <a:pPr lvl="1" eaLnBrk="1" hangingPunct="1">
              <a:buFont typeface="Wingdings" panose="05000000000000000000" pitchFamily="2" charset="2"/>
              <a:buNone/>
              <a:defRPr/>
            </a:pPr>
            <a:r>
              <a:rPr lang="zh-CN" altLang="en-US" sz="3200" dirty="0"/>
              <a:t>确定性、可行性、输入、输出、有穷性</a:t>
            </a:r>
          </a:p>
          <a:p>
            <a:pPr eaLnBrk="1" hangingPunct="1">
              <a:spcBef>
                <a:spcPct val="30000"/>
              </a:spcBef>
              <a:defRPr/>
            </a:pPr>
            <a:r>
              <a:rPr lang="zh-CN" altLang="en-US" sz="3200" dirty="0"/>
              <a:t>算法分析的基本知识</a:t>
            </a:r>
          </a:p>
          <a:p>
            <a:pPr eaLnBrk="1" hangingPunct="1">
              <a:spcBef>
                <a:spcPct val="30000"/>
              </a:spcBef>
              <a:defRPr/>
            </a:pPr>
            <a:r>
              <a:rPr lang="zh-CN" altLang="en-US" sz="3200" dirty="0">
                <a:solidFill>
                  <a:srgbClr val="C00000"/>
                </a:solidFill>
              </a:rPr>
              <a:t>算法时间复杂度的渐进表示</a:t>
            </a:r>
          </a:p>
          <a:p>
            <a:pPr eaLnBrk="1" hangingPunct="1">
              <a:buFont typeface="Wingdings" panose="05000000000000000000" pitchFamily="2" charset="2"/>
              <a:buNone/>
              <a:defRPr/>
            </a:pPr>
            <a:r>
              <a:rPr lang="zh-CN" altLang="en-US" sz="3200" dirty="0"/>
              <a:t>   理解意义、会使用、能推导证明性质</a:t>
            </a:r>
          </a:p>
        </p:txBody>
      </p:sp>
      <p:sp>
        <p:nvSpPr>
          <p:cNvPr id="2" name="Rectangle 2">
            <a:extLst>
              <a:ext uri="{FF2B5EF4-FFF2-40B4-BE49-F238E27FC236}">
                <a16:creationId xmlns:a16="http://schemas.microsoft.com/office/drawing/2014/main" xmlns="" id="{0CD6012F-8F66-4F97-4AC0-15D29C23C50A}"/>
              </a:ext>
            </a:extLst>
          </p:cNvPr>
          <p:cNvSpPr txBox="1">
            <a:spLocks noChangeArrowheads="1"/>
          </p:cNvSpPr>
          <p:nvPr/>
        </p:nvSpPr>
        <p:spPr>
          <a:xfrm>
            <a:off x="551384" y="4482438"/>
            <a:ext cx="2195984" cy="7762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1E5293"/>
                </a:solidFill>
                <a:latin typeface="Arial" panose="020B0604020202020204" pitchFamily="34" charset="0"/>
                <a:ea typeface="幼圆" panose="02010509060101010101" pitchFamily="49" charset="-122"/>
                <a:cs typeface="Arial" panose="020B0604020202020204" pitchFamily="34" charset="0"/>
              </a:defRPr>
            </a:lvl1pPr>
          </a:lstStyle>
          <a:p>
            <a:pPr algn="ctr">
              <a:defRPr/>
            </a:pPr>
            <a:r>
              <a:rPr kumimoji="1" lang="zh-CN" altLang="en-US" dirty="0">
                <a:solidFill>
                  <a:schemeClr val="tx2"/>
                </a:solidFill>
              </a:rPr>
              <a:t>作业</a:t>
            </a:r>
          </a:p>
        </p:txBody>
      </p:sp>
      <p:sp>
        <p:nvSpPr>
          <p:cNvPr id="3" name="Rectangle 3">
            <a:extLst>
              <a:ext uri="{FF2B5EF4-FFF2-40B4-BE49-F238E27FC236}">
                <a16:creationId xmlns:a16="http://schemas.microsoft.com/office/drawing/2014/main" xmlns="" id="{32986E3A-D17C-7A06-EDFF-8D1CA2884E6A}"/>
              </a:ext>
            </a:extLst>
          </p:cNvPr>
          <p:cNvSpPr txBox="1">
            <a:spLocks noChangeArrowheads="1"/>
          </p:cNvSpPr>
          <p:nvPr/>
        </p:nvSpPr>
        <p:spPr>
          <a:xfrm>
            <a:off x="832375" y="5509161"/>
            <a:ext cx="3391417" cy="7762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3200" dirty="0"/>
              <a:t>学习通发布</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1384" y="2103437"/>
            <a:ext cx="10515600" cy="1325563"/>
          </a:xfrm>
        </p:spPr>
        <p:txBody>
          <a:bodyPr/>
          <a:lstStyle/>
          <a:p>
            <a:r>
              <a:rPr lang="zh-CN" altLang="en-US" dirty="0"/>
              <a:t>本 章 结 束</a:t>
            </a:r>
          </a:p>
        </p:txBody>
      </p:sp>
      <p:sp>
        <p:nvSpPr>
          <p:cNvPr id="3" name="灯片编号占位符 2"/>
          <p:cNvSpPr>
            <a:spLocks noGrp="1"/>
          </p:cNvSpPr>
          <p:nvPr>
            <p:ph type="sldNum" sz="quarter" idx="11"/>
          </p:nvPr>
        </p:nvSpPr>
        <p:spPr/>
        <p:txBody>
          <a:bodyPr/>
          <a:lstStyle/>
          <a:p>
            <a:pPr>
              <a:defRPr/>
            </a:pPr>
            <a:fld id="{C2224BEA-3C3F-4596-8550-1ADD053AC372}" type="slidenum">
              <a:rPr lang="en-US" altLang="zh-CN" smtClean="0"/>
              <a:pPr>
                <a:defRPr/>
              </a:pPr>
              <a:t>58</a:t>
            </a:fld>
            <a:endParaRPr lang="en-US" altLang="zh-CN"/>
          </a:p>
        </p:txBody>
      </p:sp>
    </p:spTree>
    <p:extLst>
      <p:ext uri="{BB962C8B-B14F-4D97-AF65-F5344CB8AC3E}">
        <p14:creationId xmlns:p14="http://schemas.microsoft.com/office/powerpoint/2010/main" val="334106695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a:defRPr/>
            </a:pPr>
            <a:fld id="{C2224BEA-3C3F-4596-8550-1ADD053AC372}" type="slidenum">
              <a:rPr lang="en-US" altLang="zh-CN" smtClean="0"/>
              <a:pPr>
                <a:defRPr/>
              </a:pPr>
              <a:t>59</a:t>
            </a:fld>
            <a:endParaRPr lang="en-US" altLang="zh-CN"/>
          </a:p>
        </p:txBody>
      </p:sp>
      <p:sp>
        <p:nvSpPr>
          <p:cNvPr id="4" name="标题 1">
            <a:extLst>
              <a:ext uri="{FF2B5EF4-FFF2-40B4-BE49-F238E27FC236}">
                <a16:creationId xmlns:a16="http://schemas.microsoft.com/office/drawing/2014/main" xmlns="" id="{78FEA9D6-548A-E2AC-C0F9-22EEB7375822}"/>
              </a:ext>
            </a:extLst>
          </p:cNvPr>
          <p:cNvSpPr txBox="1">
            <a:spLocks/>
          </p:cNvSpPr>
          <p:nvPr/>
        </p:nvSpPr>
        <p:spPr>
          <a:xfrm>
            <a:off x="835130" y="1556792"/>
            <a:ext cx="10515600" cy="2736304"/>
          </a:xfrm>
          <a:prstGeom prst="rect">
            <a:avLst/>
          </a:prstGeom>
        </p:spPr>
        <p:txBody>
          <a:bodyPr vert="horz" lIns="91440" tIns="45720" rIns="91440" bIns="45720" rtlCol="0" anchor="ctr">
            <a:noAutofit/>
          </a:bodyPr>
          <a:lstStyle>
            <a:lvl1pPr marL="0" algn="ctr" defTabSz="914400" rtl="0" eaLnBrk="1" latinLnBrk="0" hangingPunct="1">
              <a:lnSpc>
                <a:spcPct val="90000"/>
              </a:lnSpc>
              <a:spcBef>
                <a:spcPct val="0"/>
              </a:spcBef>
              <a:buNone/>
              <a:defRPr lang="zh-CN" altLang="en-US" sz="5400" kern="1200" dirty="0">
                <a:ln w="22225">
                  <a:solidFill>
                    <a:schemeClr val="accent2"/>
                  </a:solidFill>
                  <a:prstDash val="solid"/>
                </a:ln>
                <a:solidFill>
                  <a:schemeClr val="accent6">
                    <a:lumMod val="75000"/>
                  </a:schemeClr>
                </a:solidFill>
                <a:latin typeface="幼圆" panose="02010509060101010101" pitchFamily="49" charset="-122"/>
                <a:ea typeface="幼圆" panose="02010509060101010101" pitchFamily="49" charset="-122"/>
                <a:cs typeface="+mn-cs"/>
              </a:defRPr>
            </a:lvl1pPr>
          </a:lstStyle>
          <a:p>
            <a:pPr>
              <a:lnSpc>
                <a:spcPct val="210000"/>
              </a:lnSpc>
            </a:pPr>
            <a:r>
              <a:rPr lang="zh-CN" altLang="en-US" sz="4800" dirty="0"/>
              <a:t>第</a:t>
            </a:r>
            <a:r>
              <a:rPr lang="en-US" altLang="zh-CN" sz="4800" dirty="0"/>
              <a:t>3</a:t>
            </a:r>
            <a:r>
              <a:rPr lang="zh-CN" altLang="en-US" sz="4800" dirty="0"/>
              <a:t>章 递归</a:t>
            </a:r>
            <a:endParaRPr lang="en-US" altLang="zh-CN" sz="4800" dirty="0"/>
          </a:p>
          <a:p>
            <a:pPr>
              <a:lnSpc>
                <a:spcPct val="210000"/>
              </a:lnSpc>
            </a:pPr>
            <a:r>
              <a:rPr lang="zh-CN" altLang="en-US" sz="4000" dirty="0"/>
              <a:t>请同学们自行观看在线课程视频</a:t>
            </a:r>
          </a:p>
        </p:txBody>
      </p:sp>
    </p:spTree>
    <p:extLst>
      <p:ext uri="{BB962C8B-B14F-4D97-AF65-F5344CB8AC3E}">
        <p14:creationId xmlns:p14="http://schemas.microsoft.com/office/powerpoint/2010/main" val="246740487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79"/>
</p:tagLst>
</file>

<file path=ppt/tags/tag2.xml><?xml version="1.0" encoding="utf-8"?>
<p:tagLst xmlns:a="http://schemas.openxmlformats.org/drawingml/2006/main" xmlns:r="http://schemas.openxmlformats.org/officeDocument/2006/relationships" xmlns:p="http://schemas.openxmlformats.org/presentationml/2006/main">
  <p:tag name="TIMING" val="|0|0|0.7|0.1"/>
</p:tagLst>
</file>

<file path=ppt/theme/theme1.xml><?xml version="1.0" encoding="utf-8"?>
<a:theme xmlns:a="http://schemas.openxmlformats.org/drawingml/2006/main" name="算法分析模板0731">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算法分析新模板2023" id="{FADB3A85-5174-4FA5-A51F-55BEA2B76671}" vid="{DDE32136-80A6-4B40-8420-6E71B6F9244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算法分析新模板2023</Template>
  <TotalTime>19372</TotalTime>
  <Words>4163</Words>
  <Application>Microsoft Office PowerPoint</Application>
  <PresentationFormat>宽屏</PresentationFormat>
  <Paragraphs>606</Paragraphs>
  <Slides>59</Slides>
  <Notes>11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59</vt:i4>
      </vt:variant>
    </vt:vector>
  </HeadingPairs>
  <TitlesOfParts>
    <vt:vector size="73" baseType="lpstr">
      <vt:lpstr>等线</vt:lpstr>
      <vt:lpstr>宋体</vt:lpstr>
      <vt:lpstr>幼圆</vt:lpstr>
      <vt:lpstr>Arial</vt:lpstr>
      <vt:lpstr>Bookman Old Style</vt:lpstr>
      <vt:lpstr>Calibri</vt:lpstr>
      <vt:lpstr>Consolas</vt:lpstr>
      <vt:lpstr>Symbol</vt:lpstr>
      <vt:lpstr>Tahoma</vt:lpstr>
      <vt:lpstr>Times New Roman</vt:lpstr>
      <vt:lpstr>Verdana</vt:lpstr>
      <vt:lpstr>Wingdings</vt:lpstr>
      <vt:lpstr>算法分析模板0731</vt:lpstr>
      <vt:lpstr>Equation</vt:lpstr>
      <vt:lpstr>第二章  导引与基本数据结构</vt:lpstr>
      <vt:lpstr>目录</vt:lpstr>
      <vt:lpstr>2.1  算 法</vt:lpstr>
      <vt:lpstr>什么是算法</vt:lpstr>
      <vt:lpstr>例：欧几里得算法-Euclidean</vt:lpstr>
      <vt:lpstr>算法(Algorithm)的五个重要特性</vt:lpstr>
      <vt:lpstr>算法(Algorithm)的五个重要特性</vt:lpstr>
      <vt:lpstr>计算过程与算法的区别</vt:lpstr>
      <vt:lpstr>问题的求解过程</vt:lpstr>
      <vt:lpstr>算法学习的基本内容</vt:lpstr>
      <vt:lpstr>如何设计算法（重点）</vt:lpstr>
      <vt:lpstr>如何表示算法</vt:lpstr>
      <vt:lpstr>PowerPoint 演示文稿</vt:lpstr>
      <vt:lpstr>如何确认算法</vt:lpstr>
      <vt:lpstr>如何分析算法（重点）</vt:lpstr>
      <vt:lpstr>测试程序</vt:lpstr>
      <vt:lpstr>2.2 分析算法</vt:lpstr>
      <vt:lpstr>算法分析的目的</vt:lpstr>
      <vt:lpstr>运行时间的度量单位</vt:lpstr>
      <vt:lpstr>运行时间的度量单位</vt:lpstr>
      <vt:lpstr>欧几里得算法的基本操作</vt:lpstr>
      <vt:lpstr>PowerPoint 演示文稿</vt:lpstr>
      <vt:lpstr>算法复杂度，有些情况下与输入的数据集相关</vt:lpstr>
      <vt:lpstr>时间复杂度的形式化定义</vt:lpstr>
      <vt:lpstr>算法分析过程</vt:lpstr>
      <vt:lpstr>作时空性能分布图</vt:lpstr>
      <vt:lpstr>PowerPoint 演示文稿</vt:lpstr>
      <vt:lpstr>PowerPoint 演示文稿</vt:lpstr>
      <vt:lpstr>PowerPoint 演示文稿</vt:lpstr>
      <vt:lpstr>PowerPoint 演示文稿</vt:lpstr>
      <vt:lpstr>PowerPoint 演示文稿</vt:lpstr>
      <vt:lpstr>使用时间单位——不同时间复杂度函数的对比</vt:lpstr>
      <vt:lpstr>PowerPoint 演示文稿</vt:lpstr>
      <vt:lpstr>计算时间的渐进表示</vt:lpstr>
      <vt:lpstr>定义2.1</vt:lpstr>
      <vt:lpstr>例    判断 f(n)  O(g(n)) ？</vt:lpstr>
      <vt:lpstr>O性质——数学性质及算法分析中的含义</vt:lpstr>
      <vt:lpstr>PowerPoint 演示文稿</vt:lpstr>
      <vt:lpstr>PowerPoint 演示文稿</vt:lpstr>
      <vt:lpstr>PowerPoint 演示文稿</vt:lpstr>
      <vt:lpstr>定理2.1</vt:lpstr>
      <vt:lpstr>PowerPoint 演示文稿</vt:lpstr>
      <vt:lpstr>数量级对算法有效性的影响</vt:lpstr>
      <vt:lpstr>定义2.2</vt:lpstr>
      <vt:lpstr>性质</vt:lpstr>
      <vt:lpstr>定义2.3</vt:lpstr>
      <vt:lpstr>PowerPoint 演示文稿</vt:lpstr>
      <vt:lpstr>渐近表示函数的若干性质</vt:lpstr>
      <vt:lpstr>PowerPoint 演示文稿</vt:lpstr>
      <vt:lpstr>2.3  用SPARKS语言写算法</vt:lpstr>
      <vt:lpstr>基本数据类型和变量命名规则</vt:lpstr>
      <vt:lpstr>运算符</vt:lpstr>
      <vt:lpstr>条件语句和循环语句</vt:lpstr>
      <vt:lpstr>跳转语句</vt:lpstr>
      <vt:lpstr>算法定义</vt:lpstr>
      <vt:lpstr>算法描述例——同质异相</vt:lpstr>
      <vt:lpstr>小结</vt:lpstr>
      <vt:lpstr>本 章 结 束</vt:lpstr>
      <vt:lpstr>PowerPoint 演示文稿</vt:lpstr>
    </vt:vector>
  </TitlesOfParts>
  <Company>南京理工大学</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导引</dc:title>
  <dc:creator>龚文杰</dc:creator>
  <cp:lastModifiedBy>Windows 用户</cp:lastModifiedBy>
  <cp:revision>688</cp:revision>
  <dcterms:created xsi:type="dcterms:W3CDTF">2010-09-17T03:09:33Z</dcterms:created>
  <dcterms:modified xsi:type="dcterms:W3CDTF">2025-02-25T07:05:31Z</dcterms:modified>
</cp:coreProperties>
</file>