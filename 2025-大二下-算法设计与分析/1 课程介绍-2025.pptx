
<file path=[Content_Types].xml><?xml version="1.0" encoding="utf-8"?>
<Types xmlns="http://schemas.openxmlformats.org/package/2006/content-types">
  <Default Extension="png" ContentType="image/png"/>
  <Default Extension="jpeg" ContentType="image/jpeg"/>
  <Default Extension="webp" ContentType="image/webp"/>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16" r:id="rId1"/>
  </p:sldMasterIdLst>
  <p:notesMasterIdLst>
    <p:notesMasterId r:id="rId20"/>
  </p:notesMasterIdLst>
  <p:sldIdLst>
    <p:sldId id="368" r:id="rId2"/>
    <p:sldId id="370" r:id="rId3"/>
    <p:sldId id="394" r:id="rId4"/>
    <p:sldId id="396" r:id="rId5"/>
    <p:sldId id="257" r:id="rId6"/>
    <p:sldId id="589" r:id="rId7"/>
    <p:sldId id="591" r:id="rId8"/>
    <p:sldId id="542" r:id="rId9"/>
    <p:sldId id="546" r:id="rId10"/>
    <p:sldId id="548" r:id="rId11"/>
    <p:sldId id="550" r:id="rId12"/>
    <p:sldId id="373" r:id="rId13"/>
    <p:sldId id="369" r:id="rId14"/>
    <p:sldId id="395" r:id="rId15"/>
    <p:sldId id="374" r:id="rId16"/>
    <p:sldId id="382" r:id="rId17"/>
    <p:sldId id="392" r:id="rId18"/>
    <p:sldId id="391"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FF"/>
    <a:srgbClr val="FF3300"/>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85" autoAdjust="0"/>
    <p:restoredTop sz="77908" autoAdjust="0"/>
  </p:normalViewPr>
  <p:slideViewPr>
    <p:cSldViewPr>
      <p:cViewPr varScale="1">
        <p:scale>
          <a:sx n="89" d="100"/>
          <a:sy n="89" d="100"/>
        </p:scale>
        <p:origin x="1110" y="78"/>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宋体"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ea typeface="宋体" charset="-122"/>
              </a:defRPr>
            </a:lvl1pPr>
          </a:lstStyle>
          <a:p>
            <a:pPr>
              <a:defRPr/>
            </a:pPr>
            <a:fld id="{17879CBA-C0A0-49AF-BDCD-A0A484D87473}" type="datetimeFigureOut">
              <a:rPr lang="zh-CN" altLang="en-US"/>
              <a:pPr>
                <a:defRPr/>
              </a:pPr>
              <a:t>2025/2/25</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宋体"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ea typeface="宋体" charset="-122"/>
              </a:defRPr>
            </a:lvl1pPr>
          </a:lstStyle>
          <a:p>
            <a:pPr>
              <a:defRPr/>
            </a:pPr>
            <a:fld id="{263615C9-11BB-4C07-948B-437411D67D61}" type="slidenum">
              <a:rPr lang="zh-CN" altLang="en-US"/>
              <a:pPr>
                <a:defRPr/>
              </a:pPr>
              <a:t>‹#›</a:t>
            </a:fld>
            <a:endParaRPr lang="zh-CN" altLang="en-US"/>
          </a:p>
        </p:txBody>
      </p:sp>
    </p:spTree>
    <p:extLst>
      <p:ext uri="{BB962C8B-B14F-4D97-AF65-F5344CB8AC3E}">
        <p14:creationId xmlns:p14="http://schemas.microsoft.com/office/powerpoint/2010/main" val="39302029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77CDD193-0E08-4F80-89D7-6055C90CB742}"/>
              </a:ext>
            </a:extLst>
          </p:cNvPr>
          <p:cNvSpPr>
            <a:spLocks noGrp="1" noRot="1" noChangeAspect="1" noChangeArrowheads="1" noTextEdit="1"/>
          </p:cNvSpPr>
          <p:nvPr>
            <p:ph type="sldImg" idx="4294967295"/>
          </p:nvPr>
        </p:nvSpPr>
        <p:spPr>
          <a:ln/>
        </p:spPr>
      </p:sp>
      <p:sp>
        <p:nvSpPr>
          <p:cNvPr id="16387" name="Rectangle 3">
            <a:extLst>
              <a:ext uri="{FF2B5EF4-FFF2-40B4-BE49-F238E27FC236}">
                <a16:creationId xmlns:a16="http://schemas.microsoft.com/office/drawing/2014/main" id="{7DF81761-B14A-4BBE-A206-2E5D22D666CF}"/>
              </a:ext>
            </a:extLst>
          </p:cNvPr>
          <p:cNvSpPr>
            <a:spLocks noGrp="1" noChangeArrowheads="1"/>
          </p:cNvSpPr>
          <p:nvPr>
            <p:ph type="body" idx="4294967295"/>
          </p:nvPr>
        </p:nvSpPr>
        <p:spPr/>
        <p:txBody>
          <a:bodyPr>
            <a:prstTxWarp prst="textNoShape">
              <a:avLst/>
            </a:prstTxWarp>
          </a:bodyPr>
          <a:lstStyle/>
          <a:p>
            <a:r>
              <a:rPr lang="zh-CN" altLang="en-US" dirty="0"/>
              <a:t>比如利用计算机作天气预报，必须依据天气变化规律，作出它的数学模型和编好程序后，按照人的安排一步步地工作，计算预报数据，绘制气象云图。</a:t>
            </a:r>
          </a:p>
        </p:txBody>
      </p:sp>
    </p:spTree>
    <p:extLst>
      <p:ext uri="{BB962C8B-B14F-4D97-AF65-F5344CB8AC3E}">
        <p14:creationId xmlns:p14="http://schemas.microsoft.com/office/powerpoint/2010/main" val="3395392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77CDD193-0E08-4F80-89D7-6055C90CB742}"/>
              </a:ext>
            </a:extLst>
          </p:cNvPr>
          <p:cNvSpPr>
            <a:spLocks noGrp="1" noRot="1" noChangeAspect="1" noChangeArrowheads="1" noTextEdit="1"/>
          </p:cNvSpPr>
          <p:nvPr>
            <p:ph type="sldImg" idx="4294967295"/>
          </p:nvPr>
        </p:nvSpPr>
        <p:spPr>
          <a:ln/>
        </p:spPr>
      </p:sp>
      <p:sp>
        <p:nvSpPr>
          <p:cNvPr id="16387" name="Rectangle 3">
            <a:extLst>
              <a:ext uri="{FF2B5EF4-FFF2-40B4-BE49-F238E27FC236}">
                <a16:creationId xmlns:a16="http://schemas.microsoft.com/office/drawing/2014/main" id="{7DF81761-B14A-4BBE-A206-2E5D22D666CF}"/>
              </a:ext>
            </a:extLst>
          </p:cNvPr>
          <p:cNvSpPr>
            <a:spLocks noGrp="1" noChangeArrowheads="1"/>
          </p:cNvSpPr>
          <p:nvPr>
            <p:ph type="body" idx="4294967295"/>
          </p:nvPr>
        </p:nvSpPr>
        <p:spPr/>
        <p:txBody>
          <a:bodyPr>
            <a:prstTxWarp prst="textNoShape">
              <a:avLst/>
            </a:prstTxWarp>
          </a:bodyPr>
          <a:lstStyle/>
          <a:p>
            <a:endParaRPr lang="zh-CN" altLang="en-US" dirty="0"/>
          </a:p>
        </p:txBody>
      </p:sp>
    </p:spTree>
    <p:extLst>
      <p:ext uri="{BB962C8B-B14F-4D97-AF65-F5344CB8AC3E}">
        <p14:creationId xmlns:p14="http://schemas.microsoft.com/office/powerpoint/2010/main" val="1048250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9C82DB66-2DC6-49AF-B970-724D7FDA51D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5A1811EC-9DA6-4A7F-833E-249F82A3B04A}" type="slidenum">
              <a:rPr altLang="zh-CN" sz="1200" b="0" smtClean="0">
                <a:latin typeface="Times New Roman" panose="02020603050405020304" pitchFamily="18" charset="0"/>
              </a:rPr>
              <a:pPr/>
              <a:t>9</a:t>
            </a:fld>
            <a:endParaRPr lang="zh-CN" altLang="zh-CN" sz="1200" b="0">
              <a:latin typeface="Times New Roman" panose="02020603050405020304" pitchFamily="18" charset="0"/>
            </a:endParaRPr>
          </a:p>
        </p:txBody>
      </p:sp>
      <p:sp>
        <p:nvSpPr>
          <p:cNvPr id="18435" name="Rectangle 2">
            <a:extLst>
              <a:ext uri="{FF2B5EF4-FFF2-40B4-BE49-F238E27FC236}">
                <a16:creationId xmlns:a16="http://schemas.microsoft.com/office/drawing/2014/main" id="{2DCC22FE-A835-447B-B3A2-B747FEE52C37}"/>
              </a:ext>
            </a:extLst>
          </p:cNvPr>
          <p:cNvSpPr>
            <a:spLocks noGrp="1" noRot="1" noChangeAspect="1" noChangeArrowheads="1" noTextEdit="1"/>
          </p:cNvSpPr>
          <p:nvPr>
            <p:ph type="sldImg" idx="4294967295"/>
          </p:nvPr>
        </p:nvSpPr>
        <p:spPr>
          <a:ln/>
        </p:spPr>
      </p:sp>
      <p:sp>
        <p:nvSpPr>
          <p:cNvPr id="18436" name="Rectangle 3">
            <a:extLst>
              <a:ext uri="{FF2B5EF4-FFF2-40B4-BE49-F238E27FC236}">
                <a16:creationId xmlns:a16="http://schemas.microsoft.com/office/drawing/2014/main" id="{5CA02F5C-40C4-4EA1-83B9-E481EC8313E0}"/>
              </a:ext>
            </a:extLst>
          </p:cNvPr>
          <p:cNvSpPr>
            <a:spLocks noGrp="1" noChangeArrowheads="1"/>
          </p:cNvSpPr>
          <p:nvPr>
            <p:ph type="body" idx="4294967295"/>
          </p:nvPr>
        </p:nvSpPr>
        <p:spPr/>
        <p:txBody>
          <a:bodyPr>
            <a:prstTxWarp prst="textNoShape">
              <a:avLst/>
            </a:prstTxWarp>
          </a:bodyPr>
          <a:lstStyle/>
          <a:p>
            <a:pPr algn="just" eaLnBrk="1" hangingPunct="1">
              <a:spcBef>
                <a:spcPct val="0"/>
              </a:spcBef>
            </a:pPr>
            <a:endParaRPr lang="en-US" altLang="zh-CN" dirty="0"/>
          </a:p>
          <a:p>
            <a:pPr eaLnBrk="1" hangingPunct="1"/>
            <a:endParaRPr lang="zh-CN" altLang="en-US" dirty="0"/>
          </a:p>
        </p:txBody>
      </p:sp>
    </p:spTree>
    <p:extLst>
      <p:ext uri="{BB962C8B-B14F-4D97-AF65-F5344CB8AC3E}">
        <p14:creationId xmlns:p14="http://schemas.microsoft.com/office/powerpoint/2010/main" val="2819901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FD694C6B-7A8A-4916-9EB8-CBABCDD03A6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90FB48E3-5C12-4631-94C7-40A142BB0B0C}" type="slidenum">
              <a:rPr altLang="zh-CN" sz="1200" b="0" smtClean="0">
                <a:latin typeface="Times New Roman" panose="02020603050405020304" pitchFamily="18" charset="0"/>
              </a:rPr>
              <a:pPr/>
              <a:t>10</a:t>
            </a:fld>
            <a:endParaRPr lang="zh-CN" altLang="zh-CN" sz="1200" b="0">
              <a:latin typeface="Times New Roman" panose="02020603050405020304" pitchFamily="18" charset="0"/>
            </a:endParaRPr>
          </a:p>
        </p:txBody>
      </p:sp>
      <p:sp>
        <p:nvSpPr>
          <p:cNvPr id="20483" name="Rectangle 2">
            <a:extLst>
              <a:ext uri="{FF2B5EF4-FFF2-40B4-BE49-F238E27FC236}">
                <a16:creationId xmlns:a16="http://schemas.microsoft.com/office/drawing/2014/main" id="{DEDCE2CB-094C-42C0-A923-F8E147862BB8}"/>
              </a:ext>
            </a:extLst>
          </p:cNvPr>
          <p:cNvSpPr>
            <a:spLocks noGrp="1" noRot="1" noChangeAspect="1" noChangeArrowheads="1" noTextEdit="1"/>
          </p:cNvSpPr>
          <p:nvPr>
            <p:ph type="sldImg" idx="4294967295"/>
          </p:nvPr>
        </p:nvSpPr>
        <p:spPr>
          <a:ln/>
        </p:spPr>
      </p:sp>
      <p:sp>
        <p:nvSpPr>
          <p:cNvPr id="20484" name="Rectangle 3">
            <a:extLst>
              <a:ext uri="{FF2B5EF4-FFF2-40B4-BE49-F238E27FC236}">
                <a16:creationId xmlns:a16="http://schemas.microsoft.com/office/drawing/2014/main" id="{8724B97F-7495-4E41-BEC1-0EFF56BC252A}"/>
              </a:ext>
            </a:extLst>
          </p:cNvPr>
          <p:cNvSpPr>
            <a:spLocks noGrp="1" noChangeArrowheads="1"/>
          </p:cNvSpPr>
          <p:nvPr>
            <p:ph type="body" idx="4294967295"/>
          </p:nvPr>
        </p:nvSpPr>
        <p:spPr/>
        <p:txBody>
          <a:bodyPr>
            <a:prstTxWarp prst="textNoShape">
              <a:avLst/>
            </a:prstTxWarp>
          </a:bodyPr>
          <a:lstStyle/>
          <a:p>
            <a:pPr eaLnBrk="1" hangingPunct="1"/>
            <a:endParaRPr lang="zh-CN" altLang="en-US"/>
          </a:p>
        </p:txBody>
      </p:sp>
    </p:spTree>
    <p:extLst>
      <p:ext uri="{BB962C8B-B14F-4D97-AF65-F5344CB8AC3E}">
        <p14:creationId xmlns:p14="http://schemas.microsoft.com/office/powerpoint/2010/main" val="17006582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BAFA2E15-C813-4A59-BD0F-5F9C47AA0047}"/>
              </a:ext>
            </a:extLst>
          </p:cNvPr>
          <p:cNvSpPr>
            <a:spLocks noGrp="1" noRot="1" noChangeAspect="1" noChangeArrowheads="1" noTextEdit="1"/>
          </p:cNvSpPr>
          <p:nvPr>
            <p:ph type="sldImg" idx="4294967295"/>
          </p:nvPr>
        </p:nvSpPr>
        <p:spPr>
          <a:ln/>
        </p:spPr>
      </p:sp>
      <p:sp>
        <p:nvSpPr>
          <p:cNvPr id="22531" name="Rectangle 3">
            <a:extLst>
              <a:ext uri="{FF2B5EF4-FFF2-40B4-BE49-F238E27FC236}">
                <a16:creationId xmlns:a16="http://schemas.microsoft.com/office/drawing/2014/main" id="{AEFDB465-2151-4D11-9FAF-96F01874E55F}"/>
              </a:ext>
            </a:extLst>
          </p:cNvPr>
          <p:cNvSpPr>
            <a:spLocks noGrp="1" noChangeArrowheads="1"/>
          </p:cNvSpPr>
          <p:nvPr>
            <p:ph type="body" idx="4294967295"/>
          </p:nvPr>
        </p:nvSpPr>
        <p:spPr/>
        <p:txBody>
          <a:bodyPr>
            <a:prstTxWarp prst="textNoShape">
              <a:avLst/>
            </a:prstTxWarp>
          </a:bodyPr>
          <a:lstStyle/>
          <a:p>
            <a:endParaRPr lang="zh-CN" altLang="en-US" sz="1400" b="1" dirty="0"/>
          </a:p>
        </p:txBody>
      </p:sp>
    </p:spTree>
    <p:extLst>
      <p:ext uri="{BB962C8B-B14F-4D97-AF65-F5344CB8AC3E}">
        <p14:creationId xmlns:p14="http://schemas.microsoft.com/office/powerpoint/2010/main" val="33052603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计算机科学技术中两个最基本的概念：“算法”（</a:t>
            </a:r>
            <a:r>
              <a:rPr lang="en-US" altLang="zh-CN" sz="1200" b="0" i="0" kern="1200" dirty="0">
                <a:solidFill>
                  <a:schemeClr val="tx1"/>
                </a:solidFill>
                <a:effectLst/>
                <a:latin typeface="+mn-lt"/>
                <a:ea typeface="+mn-ea"/>
                <a:cs typeface="+mn-cs"/>
              </a:rPr>
              <a:t>Algorithm</a:t>
            </a:r>
            <a:r>
              <a:rPr lang="zh-CN" altLang="en-US" sz="1200" b="0" i="0" kern="1200" dirty="0">
                <a:solidFill>
                  <a:schemeClr val="tx1"/>
                </a:solidFill>
                <a:effectLst/>
                <a:latin typeface="+mn-lt"/>
                <a:ea typeface="+mn-ea"/>
                <a:cs typeface="+mn-cs"/>
              </a:rPr>
              <a:t>）和“数据结构”（</a:t>
            </a:r>
            <a:r>
              <a:rPr lang="en-US" altLang="zh-CN" sz="1200" b="0" i="0" kern="1200" dirty="0">
                <a:solidFill>
                  <a:schemeClr val="tx1"/>
                </a:solidFill>
                <a:effectLst/>
                <a:latin typeface="+mn-lt"/>
                <a:ea typeface="+mn-ea"/>
                <a:cs typeface="+mn-cs"/>
              </a:rPr>
              <a:t>Data Structure</a:t>
            </a:r>
            <a:r>
              <a:rPr lang="zh-CN" altLang="en-US" sz="1200" b="0" i="0" kern="1200" dirty="0">
                <a:solidFill>
                  <a:schemeClr val="tx1"/>
                </a:solidFill>
                <a:effectLst/>
                <a:latin typeface="+mn-lt"/>
                <a:ea typeface="+mn-ea"/>
                <a:cs typeface="+mn-cs"/>
              </a:rPr>
              <a:t>）就是高德纳于</a:t>
            </a:r>
            <a:r>
              <a:rPr lang="en-US" altLang="zh-CN" sz="1200" b="0" i="0" kern="1200" dirty="0">
                <a:solidFill>
                  <a:schemeClr val="tx1"/>
                </a:solidFill>
                <a:effectLst/>
                <a:latin typeface="+mn-lt"/>
                <a:ea typeface="+mn-ea"/>
                <a:cs typeface="+mn-cs"/>
              </a:rPr>
              <a:t>29</a:t>
            </a:r>
            <a:r>
              <a:rPr lang="zh-CN" altLang="en-US" sz="1200" b="0" i="0" kern="1200" dirty="0">
                <a:solidFill>
                  <a:schemeClr val="tx1"/>
                </a:solidFill>
                <a:effectLst/>
                <a:latin typeface="+mn-lt"/>
                <a:ea typeface="+mn-ea"/>
                <a:cs typeface="+mn-cs"/>
              </a:rPr>
              <a:t>岁时提出来的。</a:t>
            </a:r>
            <a:endParaRPr lang="zh-CN" altLang="en-US" dirty="0"/>
          </a:p>
        </p:txBody>
      </p:sp>
      <p:sp>
        <p:nvSpPr>
          <p:cNvPr id="4" name="灯片编号占位符 3"/>
          <p:cNvSpPr>
            <a:spLocks noGrp="1"/>
          </p:cNvSpPr>
          <p:nvPr>
            <p:ph type="sldNum" sz="quarter" idx="10"/>
          </p:nvPr>
        </p:nvSpPr>
        <p:spPr/>
        <p:txBody>
          <a:bodyPr/>
          <a:lstStyle/>
          <a:p>
            <a:pPr>
              <a:defRPr/>
            </a:pPr>
            <a:fld id="{263615C9-11BB-4C07-948B-437411D67D61}" type="slidenum">
              <a:rPr lang="zh-CN" altLang="en-US" smtClean="0"/>
              <a:pPr>
                <a:defRPr/>
              </a:pPr>
              <a:t>17</a:t>
            </a:fld>
            <a:endParaRPr lang="zh-CN" altLang="en-US"/>
          </a:p>
        </p:txBody>
      </p:sp>
    </p:spTree>
    <p:extLst>
      <p:ext uri="{BB962C8B-B14F-4D97-AF65-F5344CB8AC3E}">
        <p14:creationId xmlns:p14="http://schemas.microsoft.com/office/powerpoint/2010/main" val="376688493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17" name="图片 16"/>
          <p:cNvPicPr>
            <a:picLocks noChangeAspect="1"/>
          </p:cNvPicPr>
          <p:nvPr/>
        </p:nvPicPr>
        <p:blipFill>
          <a:blip r:embed="rId2"/>
          <a:stretch>
            <a:fillRect/>
          </a:stretch>
        </p:blipFill>
        <p:spPr>
          <a:xfrm>
            <a:off x="5905088" y="1418544"/>
            <a:ext cx="6257321" cy="2514214"/>
          </a:xfrm>
          <a:prstGeom prst="rect">
            <a:avLst/>
          </a:prstGeom>
        </p:spPr>
      </p:pic>
      <p:pic>
        <p:nvPicPr>
          <p:cNvPr id="5" name="图片 4"/>
          <p:cNvPicPr>
            <a:picLocks noChangeAspect="1"/>
          </p:cNvPicPr>
          <p:nvPr/>
        </p:nvPicPr>
        <p:blipFill>
          <a:blip r:embed="rId3"/>
          <a:stretch>
            <a:fillRect/>
          </a:stretch>
        </p:blipFill>
        <p:spPr>
          <a:xfrm>
            <a:off x="23552" y="1418543"/>
            <a:ext cx="5872658" cy="2508395"/>
          </a:xfrm>
          <a:prstGeom prst="rect">
            <a:avLst/>
          </a:prstGeom>
        </p:spPr>
      </p:pic>
      <p:grpSp>
        <p:nvGrpSpPr>
          <p:cNvPr id="11" name="组合 10"/>
          <p:cNvGrpSpPr/>
          <p:nvPr/>
        </p:nvGrpSpPr>
        <p:grpSpPr>
          <a:xfrm>
            <a:off x="0" y="5399618"/>
            <a:ext cx="12203093" cy="1485900"/>
            <a:chOff x="0" y="5305425"/>
            <a:chExt cx="12203093" cy="1485900"/>
          </a:xfrm>
        </p:grpSpPr>
        <p:sp>
          <p:nvSpPr>
            <p:cNvPr id="13" name="矩形 12"/>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grpSp>
      <p:sp>
        <p:nvSpPr>
          <p:cNvPr id="10" name="平行四边形 9"/>
          <p:cNvSpPr/>
          <p:nvPr/>
        </p:nvSpPr>
        <p:spPr>
          <a:xfrm>
            <a:off x="-8878" y="1225462"/>
            <a:ext cx="12211802" cy="2894556"/>
          </a:xfrm>
          <a:prstGeom prst="parallelogram">
            <a:avLst>
              <a:gd name="adj" fmla="val 0"/>
            </a:avLst>
          </a:prstGeom>
          <a:solidFill>
            <a:srgbClr val="1B5091">
              <a:alpha val="6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副标题 2"/>
          <p:cNvSpPr>
            <a:spLocks noGrp="1"/>
          </p:cNvSpPr>
          <p:nvPr>
            <p:ph type="subTitle" idx="1"/>
          </p:nvPr>
        </p:nvSpPr>
        <p:spPr>
          <a:xfrm>
            <a:off x="1101360" y="5471047"/>
            <a:ext cx="9831977" cy="781595"/>
          </a:xfrm>
        </p:spPr>
        <p:txBody>
          <a:bodyPr>
            <a:normAutofit/>
          </a:bodyPr>
          <a:lstStyle>
            <a:lvl1pPr marL="0" indent="0" algn="ctr">
              <a:buNone/>
              <a:defRPr sz="2800">
                <a:solidFill>
                  <a:srgbClr val="1E529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dirty="0"/>
          </a:p>
        </p:txBody>
      </p:sp>
      <p:sp>
        <p:nvSpPr>
          <p:cNvPr id="2" name="标题 1"/>
          <p:cNvSpPr>
            <a:spLocks noGrp="1"/>
          </p:cNvSpPr>
          <p:nvPr>
            <p:ph type="ctrTitle"/>
          </p:nvPr>
        </p:nvSpPr>
        <p:spPr>
          <a:xfrm>
            <a:off x="1101360" y="4274634"/>
            <a:ext cx="9831977" cy="999627"/>
          </a:xfrm>
        </p:spPr>
        <p:txBody>
          <a:bodyPr anchor="b">
            <a:normAutofit/>
          </a:bodyPr>
          <a:lstStyle>
            <a:lvl1pPr algn="ctr">
              <a:defRPr sz="5000">
                <a:solidFill>
                  <a:srgbClr val="1E5293"/>
                </a:solidFill>
              </a:defRPr>
            </a:lvl1pPr>
          </a:lstStyle>
          <a:p>
            <a:r>
              <a:rPr lang="zh-CN" altLang="en-US"/>
              <a:t>单击此处编辑母版标题样式</a:t>
            </a:r>
            <a:endParaRPr lang="zh-CN" altLang="en-US" dirty="0"/>
          </a:p>
        </p:txBody>
      </p:sp>
      <p:pic>
        <p:nvPicPr>
          <p:cNvPr id="19" name="图片 1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pic>
        <p:nvPicPr>
          <p:cNvPr id="22" name="图片 2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43726" y="358201"/>
            <a:ext cx="1689716" cy="562718"/>
          </a:xfrm>
          <a:prstGeom prst="rect">
            <a:avLst/>
          </a:prstGeom>
        </p:spPr>
      </p:pic>
    </p:spTree>
    <p:extLst>
      <p:ext uri="{BB962C8B-B14F-4D97-AF65-F5344CB8AC3E}">
        <p14:creationId xmlns:p14="http://schemas.microsoft.com/office/powerpoint/2010/main" val="2064565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20909" y="1360704"/>
            <a:ext cx="12169984" cy="2535726"/>
          </a:xfrm>
          <a:prstGeom prst="rect">
            <a:avLst/>
          </a:prstGeom>
        </p:spPr>
      </p:pic>
      <p:grpSp>
        <p:nvGrpSpPr>
          <p:cNvPr id="11" name="组合 10"/>
          <p:cNvGrpSpPr/>
          <p:nvPr/>
        </p:nvGrpSpPr>
        <p:grpSpPr>
          <a:xfrm>
            <a:off x="12200" y="5372100"/>
            <a:ext cx="12203093" cy="1485900"/>
            <a:chOff x="0" y="5305425"/>
            <a:chExt cx="12203093" cy="1485900"/>
          </a:xfrm>
        </p:grpSpPr>
        <p:sp>
          <p:nvSpPr>
            <p:cNvPr id="13" name="矩形 12"/>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grpSp>
      <p:sp>
        <p:nvSpPr>
          <p:cNvPr id="10" name="平行四边形 9"/>
          <p:cNvSpPr/>
          <p:nvPr/>
        </p:nvSpPr>
        <p:spPr>
          <a:xfrm>
            <a:off x="0" y="1175806"/>
            <a:ext cx="12211802" cy="2894556"/>
          </a:xfrm>
          <a:prstGeom prst="parallelogram">
            <a:avLst>
              <a:gd name="adj" fmla="val 0"/>
            </a:avLst>
          </a:prstGeom>
          <a:solidFill>
            <a:schemeClr val="accent1">
              <a:lumMod val="75000"/>
              <a:alpha val="580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副标题 2"/>
          <p:cNvSpPr>
            <a:spLocks noGrp="1"/>
          </p:cNvSpPr>
          <p:nvPr>
            <p:ph type="subTitle" idx="1"/>
          </p:nvPr>
        </p:nvSpPr>
        <p:spPr>
          <a:xfrm>
            <a:off x="1101360" y="5471047"/>
            <a:ext cx="9831977" cy="781595"/>
          </a:xfrm>
        </p:spPr>
        <p:txBody>
          <a:bodyPr>
            <a:normAutofit/>
          </a:bodyPr>
          <a:lstStyle>
            <a:lvl1pPr marL="0" indent="0" algn="ctr">
              <a:buNone/>
              <a:defRPr sz="2800">
                <a:solidFill>
                  <a:srgbClr val="1E529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dirty="0"/>
          </a:p>
        </p:txBody>
      </p:sp>
      <p:sp>
        <p:nvSpPr>
          <p:cNvPr id="2" name="标题 1"/>
          <p:cNvSpPr>
            <a:spLocks noGrp="1"/>
          </p:cNvSpPr>
          <p:nvPr>
            <p:ph type="ctrTitle"/>
          </p:nvPr>
        </p:nvSpPr>
        <p:spPr>
          <a:xfrm>
            <a:off x="1101360" y="4264253"/>
            <a:ext cx="9831977" cy="999627"/>
          </a:xfrm>
        </p:spPr>
        <p:txBody>
          <a:bodyPr anchor="b">
            <a:normAutofit/>
          </a:bodyPr>
          <a:lstStyle>
            <a:lvl1pPr algn="ctr">
              <a:defRPr sz="5000">
                <a:solidFill>
                  <a:srgbClr val="1E5293"/>
                </a:solidFill>
              </a:defRPr>
            </a:lvl1pPr>
          </a:lstStyle>
          <a:p>
            <a:r>
              <a:rPr lang="zh-CN" altLang="en-US"/>
              <a:t>单击此处编辑母版标题样式</a:t>
            </a:r>
            <a:endParaRPr lang="zh-CN" altLang="en-US" dirty="0"/>
          </a:p>
        </p:txBody>
      </p:sp>
      <p:pic>
        <p:nvPicPr>
          <p:cNvPr id="19" name="图片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pic>
        <p:nvPicPr>
          <p:cNvPr id="22" name="图片 2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343726" y="358201"/>
            <a:ext cx="1689716" cy="562718"/>
          </a:xfrm>
          <a:prstGeom prst="rect">
            <a:avLst/>
          </a:prstGeom>
        </p:spPr>
      </p:pic>
    </p:spTree>
    <p:extLst>
      <p:ext uri="{BB962C8B-B14F-4D97-AF65-F5344CB8AC3E}">
        <p14:creationId xmlns:p14="http://schemas.microsoft.com/office/powerpoint/2010/main" val="1661159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7" name="组合 6"/>
          <p:cNvGrpSpPr/>
          <p:nvPr/>
        </p:nvGrpSpPr>
        <p:grpSpPr>
          <a:xfrm>
            <a:off x="-11093" y="5372100"/>
            <a:ext cx="12203093" cy="1485900"/>
            <a:chOff x="0" y="5305425"/>
            <a:chExt cx="12203093" cy="1485900"/>
          </a:xfrm>
        </p:grpSpPr>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sp>
          <p:nvSpPr>
            <p:cNvPr id="9" name="矩形 8"/>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hasCustomPrompt="1"/>
          </p:nvPr>
        </p:nvSpPr>
        <p:spPr/>
        <p:txBody>
          <a:bodyPr/>
          <a:lstStyle>
            <a:lvl1pPr>
              <a:defRPr/>
            </a:lvl1pPr>
          </a:lstStyle>
          <a:p>
            <a:r>
              <a:rPr lang="zh-CN" altLang="en-US" dirty="0"/>
              <a:t>单击此处编辑母版标题样式</a:t>
            </a:r>
            <a:r>
              <a:rPr lang="en-US" altLang="zh-CN" dirty="0" err="1"/>
              <a:t>abc</a:t>
            </a:r>
            <a:endParaRPr lang="zh-CN" altLang="en-US" dirty="0"/>
          </a:p>
        </p:txBody>
      </p:sp>
      <p:sp>
        <p:nvSpPr>
          <p:cNvPr id="3" name="内容占位符 2"/>
          <p:cNvSpPr>
            <a:spLocks noGrp="1"/>
          </p:cNvSpPr>
          <p:nvPr>
            <p:ph idx="1" hasCustomPrompt="1"/>
          </p:nvPr>
        </p:nvSpPr>
        <p:spPr/>
        <p:txBody>
          <a:bodyPr/>
          <a:lstStyle>
            <a:lvl1pPr>
              <a:lnSpc>
                <a:spcPct val="110000"/>
              </a:lnSpc>
              <a:defRPr/>
            </a:lvl1pPr>
            <a:lvl2pPr>
              <a:lnSpc>
                <a:spcPct val="110000"/>
              </a:lnSpc>
              <a:buClr>
                <a:schemeClr val="accent1">
                  <a:lumMod val="60000"/>
                  <a:lumOff val="40000"/>
                </a:schemeClr>
              </a:buClr>
              <a:defRPr/>
            </a:lvl2pPr>
            <a:lvl3pPr>
              <a:lnSpc>
                <a:spcPct val="110000"/>
              </a:lnSpc>
              <a:buClr>
                <a:schemeClr val="accent1">
                  <a:lumMod val="60000"/>
                  <a:lumOff val="40000"/>
                </a:schemeClr>
              </a:buClr>
              <a:defRPr/>
            </a:lvl3pPr>
            <a:lvl4pPr>
              <a:lnSpc>
                <a:spcPct val="110000"/>
              </a:lnSpc>
              <a:buClr>
                <a:schemeClr val="accent1">
                  <a:lumMod val="60000"/>
                  <a:lumOff val="40000"/>
                </a:schemeClr>
              </a:buClr>
              <a:defRPr/>
            </a:lvl4pPr>
            <a:lvl5pPr>
              <a:lnSpc>
                <a:spcPct val="110000"/>
              </a:lnSpc>
              <a:buClr>
                <a:schemeClr val="accent1">
                  <a:lumMod val="60000"/>
                  <a:lumOff val="40000"/>
                </a:schemeClr>
              </a:buClr>
              <a:defRPr/>
            </a:lvl5pPr>
          </a:lstStyle>
          <a:p>
            <a:pPr lvl="0"/>
            <a:r>
              <a:rPr lang="zh-CN" altLang="en-US" dirty="0"/>
              <a:t>编辑母版文本样式</a:t>
            </a:r>
            <a:r>
              <a:rPr lang="en-US" altLang="zh-CN" dirty="0" err="1"/>
              <a:t>abc</a:t>
            </a:r>
            <a:endParaRPr lang="zh-CN" altLang="en-US" dirty="0"/>
          </a:p>
          <a:p>
            <a:pPr lvl="1"/>
            <a:r>
              <a:rPr lang="zh-CN" altLang="en-US" dirty="0"/>
              <a:t>第二级</a:t>
            </a:r>
            <a:r>
              <a:rPr lang="en-US" altLang="zh-CN" dirty="0" err="1"/>
              <a:t>abc</a:t>
            </a:r>
            <a:endParaRPr lang="zh-CN" altLang="en-US" dirty="0"/>
          </a:p>
          <a:p>
            <a:pPr lvl="2"/>
            <a:r>
              <a:rPr lang="zh-CN" altLang="en-US" dirty="0"/>
              <a:t>第三级</a:t>
            </a:r>
          </a:p>
          <a:p>
            <a:pPr lvl="3"/>
            <a:r>
              <a:rPr lang="zh-CN" altLang="en-US" dirty="0"/>
              <a:t>第四级</a:t>
            </a:r>
          </a:p>
          <a:p>
            <a:pPr lvl="4"/>
            <a:r>
              <a:rPr lang="zh-CN" altLang="en-US" dirty="0"/>
              <a:t>第五级</a:t>
            </a:r>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D04713B0-7EE7-420A-BB22-6F99F562E080}" type="slidenum">
              <a:rPr lang="en-US" altLang="zh-CN" smtClean="0"/>
              <a:pPr>
                <a:defRPr/>
              </a:pPr>
              <a:t>‹#›</a:t>
            </a:fld>
            <a:endParaRPr lang="en-US" altLang="zh-CN"/>
          </a:p>
        </p:txBody>
      </p:sp>
      <p:pic>
        <p:nvPicPr>
          <p:cNvPr id="17" name="图片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spTree>
    <p:extLst>
      <p:ext uri="{BB962C8B-B14F-4D97-AF65-F5344CB8AC3E}">
        <p14:creationId xmlns:p14="http://schemas.microsoft.com/office/powerpoint/2010/main" val="1302898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grpSp>
        <p:nvGrpSpPr>
          <p:cNvPr id="7" name="组合 6"/>
          <p:cNvGrpSpPr/>
          <p:nvPr/>
        </p:nvGrpSpPr>
        <p:grpSpPr>
          <a:xfrm>
            <a:off x="-11093" y="5372100"/>
            <a:ext cx="12203093" cy="1485900"/>
            <a:chOff x="0" y="5305425"/>
            <a:chExt cx="12203093" cy="1485900"/>
          </a:xfrm>
        </p:grpSpPr>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sp>
          <p:nvSpPr>
            <p:cNvPr id="9" name="矩形 8"/>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hasCustomPrompt="1"/>
          </p:nvPr>
        </p:nvSpPr>
        <p:spPr/>
        <p:txBody>
          <a:bodyPr/>
          <a:lstStyle>
            <a:lvl1pPr>
              <a:defRPr/>
            </a:lvl1pPr>
          </a:lstStyle>
          <a:p>
            <a:r>
              <a:rPr lang="zh-CN" altLang="en-US" dirty="0"/>
              <a:t>单击此处编辑母版标题样式</a:t>
            </a:r>
            <a:r>
              <a:rPr lang="en-US" altLang="zh-CN" dirty="0" err="1"/>
              <a:t>abc</a:t>
            </a:r>
            <a:endParaRPr lang="zh-CN" altLang="en-US" dirty="0"/>
          </a:p>
        </p:txBody>
      </p:sp>
      <p:sp>
        <p:nvSpPr>
          <p:cNvPr id="3" name="内容占位符 2"/>
          <p:cNvSpPr>
            <a:spLocks noGrp="1"/>
          </p:cNvSpPr>
          <p:nvPr>
            <p:ph idx="1"/>
          </p:nvPr>
        </p:nvSpPr>
        <p:spPr/>
        <p:txBody>
          <a:bodyPr/>
          <a:lstStyle>
            <a:lvl1pPr>
              <a:lnSpc>
                <a:spcPct val="110000"/>
              </a:lnSpc>
              <a:defRPr/>
            </a:lvl1pPr>
            <a:lvl2pPr>
              <a:lnSpc>
                <a:spcPct val="110000"/>
              </a:lnSpc>
              <a:buClr>
                <a:schemeClr val="accent1">
                  <a:lumMod val="60000"/>
                  <a:lumOff val="40000"/>
                </a:schemeClr>
              </a:buClr>
              <a:defRPr/>
            </a:lvl2pPr>
            <a:lvl3pPr>
              <a:lnSpc>
                <a:spcPct val="110000"/>
              </a:lnSpc>
              <a:buClr>
                <a:schemeClr val="accent1">
                  <a:lumMod val="60000"/>
                  <a:lumOff val="40000"/>
                </a:schemeClr>
              </a:buClr>
              <a:defRPr/>
            </a:lvl3pPr>
            <a:lvl4pPr>
              <a:lnSpc>
                <a:spcPct val="110000"/>
              </a:lnSpc>
              <a:buClr>
                <a:schemeClr val="accent1">
                  <a:lumMod val="60000"/>
                  <a:lumOff val="40000"/>
                </a:schemeClr>
              </a:buClr>
              <a:defRPr/>
            </a:lvl4pPr>
            <a:lvl5pPr>
              <a:lnSpc>
                <a:spcPct val="110000"/>
              </a:lnSpc>
              <a:buClr>
                <a:schemeClr val="accent1">
                  <a:lumMod val="60000"/>
                  <a:lumOff val="40000"/>
                </a:schemeClr>
              </a:buClr>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C2224BEA-3C3F-4596-8550-1ADD053AC372}" type="slidenum">
              <a:rPr lang="en-US" altLang="zh-CN" smtClean="0"/>
              <a:pPr>
                <a:defRPr/>
              </a:pPr>
              <a:t>‹#›</a:t>
            </a:fld>
            <a:endParaRPr lang="en-US" altLang="zh-CN"/>
          </a:p>
        </p:txBody>
      </p:sp>
      <p:pic>
        <p:nvPicPr>
          <p:cNvPr id="17" name="图片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graphicFrame>
        <p:nvGraphicFramePr>
          <p:cNvPr id="10" name="表格 9"/>
          <p:cNvGraphicFramePr>
            <a:graphicFrameLocks noGrp="1"/>
          </p:cNvGraphicFramePr>
          <p:nvPr>
            <p:extLst>
              <p:ext uri="{D42A27DB-BD31-4B8C-83A1-F6EECF244321}">
                <p14:modId xmlns:p14="http://schemas.microsoft.com/office/powerpoint/2010/main" val="3725317638"/>
              </p:ext>
            </p:extLst>
          </p:nvPr>
        </p:nvGraphicFramePr>
        <p:xfrm>
          <a:off x="7016098" y="3250773"/>
          <a:ext cx="949235" cy="396240"/>
        </p:xfrm>
        <a:graphic>
          <a:graphicData uri="http://schemas.openxmlformats.org/drawingml/2006/table">
            <a:tbl>
              <a:tblPr>
                <a:tableStyleId>{2D5ABB26-0587-4C30-8999-92F81FD0307C}</a:tableStyleId>
              </a:tblPr>
              <a:tblGrid>
                <a:gridCol w="949235">
                  <a:extLst>
                    <a:ext uri="{9D8B030D-6E8A-4147-A177-3AD203B41FA5}">
                      <a16:colId xmlns:a16="http://schemas.microsoft.com/office/drawing/2014/main" val="2089850756"/>
                    </a:ext>
                  </a:extLst>
                </a:gridCol>
              </a:tblGrid>
              <a:tr h="0">
                <a:tc>
                  <a:txBody>
                    <a:bodyPr/>
                    <a:lstStyle/>
                    <a:p>
                      <a:endParaRPr lang="zh-CN" altLang="en-US" sz="2000" dirty="0">
                        <a:latin typeface="幼圆" panose="02010509060101010101" pitchFamily="49" charset="-122"/>
                        <a:ea typeface="幼圆" panose="02010509060101010101" pitchFamily="49" charset="-122"/>
                      </a:endParaRPr>
                    </a:p>
                  </a:txBody>
                  <a:tcPr/>
                </a:tc>
                <a:extLst>
                  <a:ext uri="{0D108BD9-81ED-4DB2-BD59-A6C34878D82A}">
                    <a16:rowId xmlns:a16="http://schemas.microsoft.com/office/drawing/2014/main" val="3534267177"/>
                  </a:ext>
                </a:extLst>
              </a:tr>
            </a:tbl>
          </a:graphicData>
        </a:graphic>
      </p:graphicFrame>
    </p:spTree>
    <p:extLst>
      <p:ext uri="{BB962C8B-B14F-4D97-AF65-F5344CB8AC3E}">
        <p14:creationId xmlns:p14="http://schemas.microsoft.com/office/powerpoint/2010/main" val="4187842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单击此处编辑母版标题样式</a:t>
            </a:r>
            <a:r>
              <a:rPr lang="en-US" altLang="zh-CN" dirty="0" err="1"/>
              <a:t>abc</a:t>
            </a:r>
            <a:endParaRPr lang="zh-CN" altLang="en-US" dirty="0"/>
          </a:p>
        </p:txBody>
      </p:sp>
      <p:sp>
        <p:nvSpPr>
          <p:cNvPr id="3" name="内容占位符 2"/>
          <p:cNvSpPr>
            <a:spLocks noGrp="1"/>
          </p:cNvSpPr>
          <p:nvPr>
            <p:ph sz="half" idx="1"/>
          </p:nvPr>
        </p:nvSpPr>
        <p:spPr>
          <a:xfrm>
            <a:off x="838200" y="1825625"/>
            <a:ext cx="5181600" cy="4351338"/>
          </a:xfrm>
        </p:spPr>
        <p:txBody>
          <a:bodyPr/>
          <a:lstStyle>
            <a:lvl1pPr>
              <a:lnSpc>
                <a:spcPct val="110000"/>
              </a:lnSpc>
              <a:defRPr/>
            </a:lvl1pPr>
            <a:lvl2pPr>
              <a:lnSpc>
                <a:spcPct val="110000"/>
              </a:lnSpc>
              <a:buClr>
                <a:schemeClr val="accent1">
                  <a:lumMod val="60000"/>
                  <a:lumOff val="40000"/>
                </a:schemeClr>
              </a:buClr>
              <a:defRPr/>
            </a:lvl2pPr>
            <a:lvl3pPr>
              <a:lnSpc>
                <a:spcPct val="110000"/>
              </a:lnSpc>
              <a:buClr>
                <a:schemeClr val="accent1">
                  <a:lumMod val="60000"/>
                  <a:lumOff val="40000"/>
                </a:schemeClr>
              </a:buClr>
              <a:defRPr/>
            </a:lvl3pPr>
            <a:lvl4pPr>
              <a:lnSpc>
                <a:spcPct val="110000"/>
              </a:lnSpc>
              <a:buClr>
                <a:schemeClr val="accent1">
                  <a:lumMod val="60000"/>
                  <a:lumOff val="40000"/>
                </a:schemeClr>
              </a:buClr>
              <a:defRPr/>
            </a:lvl4pPr>
            <a:lvl5pPr>
              <a:lnSpc>
                <a:spcPct val="110000"/>
              </a:lnSpc>
              <a:buClr>
                <a:schemeClr val="accent1">
                  <a:lumMod val="60000"/>
                  <a:lumOff val="40000"/>
                </a:schemeClr>
              </a:buClr>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72200" y="1825625"/>
            <a:ext cx="5181600" cy="4351338"/>
          </a:xfrm>
        </p:spPr>
        <p:txBody>
          <a:bodyPr/>
          <a:lstStyle>
            <a:lvl1pPr>
              <a:lnSpc>
                <a:spcPct val="110000"/>
              </a:lnSpc>
              <a:defRPr/>
            </a:lvl1pPr>
            <a:lvl2pPr>
              <a:lnSpc>
                <a:spcPct val="110000"/>
              </a:lnSpc>
              <a:buClr>
                <a:schemeClr val="accent1">
                  <a:lumMod val="60000"/>
                  <a:lumOff val="40000"/>
                </a:schemeClr>
              </a:buClr>
              <a:defRPr/>
            </a:lvl2pPr>
            <a:lvl3pPr>
              <a:lnSpc>
                <a:spcPct val="110000"/>
              </a:lnSpc>
              <a:buClr>
                <a:schemeClr val="accent1">
                  <a:lumMod val="60000"/>
                  <a:lumOff val="40000"/>
                </a:schemeClr>
              </a:buClr>
              <a:defRPr/>
            </a:lvl3pPr>
            <a:lvl4pPr>
              <a:lnSpc>
                <a:spcPct val="110000"/>
              </a:lnSpc>
              <a:buClr>
                <a:schemeClr val="accent1">
                  <a:lumMod val="60000"/>
                  <a:lumOff val="40000"/>
                </a:schemeClr>
              </a:buClr>
              <a:defRPr/>
            </a:lvl4pPr>
            <a:lvl5pPr>
              <a:lnSpc>
                <a:spcPct val="110000"/>
              </a:lnSpc>
              <a:buClr>
                <a:schemeClr val="accent1">
                  <a:lumMod val="60000"/>
                  <a:lumOff val="40000"/>
                </a:schemeClr>
              </a:buClr>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81987BE1-1902-418F-9C26-CDCFD3D9B41D}" type="slidenum">
              <a:rPr lang="en-US" altLang="zh-CN" smtClean="0"/>
              <a:pPr>
                <a:defRPr/>
              </a:pPr>
              <a:t>‹#›</a:t>
            </a:fld>
            <a:endParaRPr lang="en-US" altLang="zh-CN"/>
          </a:p>
        </p:txBody>
      </p:sp>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grpSp>
        <p:nvGrpSpPr>
          <p:cNvPr id="9" name="组合 8"/>
          <p:cNvGrpSpPr/>
          <p:nvPr/>
        </p:nvGrpSpPr>
        <p:grpSpPr>
          <a:xfrm>
            <a:off x="-11093" y="5372100"/>
            <a:ext cx="12203093" cy="1485900"/>
            <a:chOff x="0" y="5305425"/>
            <a:chExt cx="12203093" cy="1485900"/>
          </a:xfrm>
        </p:grpSpPr>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sp>
          <p:nvSpPr>
            <p:cNvPr id="11" name="矩形 10"/>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848130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页脚占位符 2"/>
          <p:cNvSpPr>
            <a:spLocks noGrp="1"/>
          </p:cNvSpPr>
          <p:nvPr>
            <p:ph type="ftr" sz="quarter" idx="10"/>
          </p:nvPr>
        </p:nvSpPr>
        <p:spPr/>
        <p:txBody>
          <a:bodyPr/>
          <a:lstStyle/>
          <a:p>
            <a:pPr>
              <a:defRPr/>
            </a:pPr>
            <a:endParaRPr lang="en-US" altLang="zh-CN"/>
          </a:p>
        </p:txBody>
      </p:sp>
      <p:sp>
        <p:nvSpPr>
          <p:cNvPr id="4" name="灯片编号占位符 3"/>
          <p:cNvSpPr>
            <a:spLocks noGrp="1"/>
          </p:cNvSpPr>
          <p:nvPr>
            <p:ph type="sldNum" sz="quarter" idx="11"/>
          </p:nvPr>
        </p:nvSpPr>
        <p:spPr/>
        <p:txBody>
          <a:bodyPr/>
          <a:lstStyle/>
          <a:p>
            <a:pPr>
              <a:defRPr/>
            </a:pPr>
            <a:fld id="{C2224BEA-3C3F-4596-8550-1ADD053AC372}" type="slidenum">
              <a:rPr lang="en-US" altLang="zh-CN" smtClean="0"/>
              <a:pPr>
                <a:defRPr/>
              </a:pPr>
              <a:t>‹#›</a:t>
            </a:fld>
            <a:endParaRPr lang="en-US" altLang="zh-CN"/>
          </a:p>
        </p:txBody>
      </p:sp>
      <p:grpSp>
        <p:nvGrpSpPr>
          <p:cNvPr id="5" name="组合 4"/>
          <p:cNvGrpSpPr/>
          <p:nvPr/>
        </p:nvGrpSpPr>
        <p:grpSpPr>
          <a:xfrm>
            <a:off x="0" y="5372100"/>
            <a:ext cx="12203093" cy="1485900"/>
            <a:chOff x="0" y="5305425"/>
            <a:chExt cx="12203093" cy="1485900"/>
          </a:xfrm>
        </p:grpSpPr>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sp>
          <p:nvSpPr>
            <p:cNvPr id="7" name="矩形 6"/>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spTree>
    <p:extLst>
      <p:ext uri="{BB962C8B-B14F-4D97-AF65-F5344CB8AC3E}">
        <p14:creationId xmlns:p14="http://schemas.microsoft.com/office/powerpoint/2010/main" val="1171186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pPr>
              <a:defRPr/>
            </a:pPr>
            <a:endParaRPr lang="en-US" altLang="zh-CN"/>
          </a:p>
        </p:txBody>
      </p:sp>
      <p:sp>
        <p:nvSpPr>
          <p:cNvPr id="4" name="灯片编号占位符 3"/>
          <p:cNvSpPr>
            <a:spLocks noGrp="1"/>
          </p:cNvSpPr>
          <p:nvPr>
            <p:ph type="sldNum" sz="quarter" idx="12"/>
          </p:nvPr>
        </p:nvSpPr>
        <p:spPr/>
        <p:txBody>
          <a:bodyPr/>
          <a:lstStyle/>
          <a:p>
            <a:pPr>
              <a:defRPr/>
            </a:pPr>
            <a:fld id="{C2224BEA-3C3F-4596-8550-1ADD053AC372}" type="slidenum">
              <a:rPr lang="en-US" altLang="zh-CN" smtClean="0"/>
              <a:pPr>
                <a:defRPr/>
              </a:pPr>
              <a:t>‹#›</a:t>
            </a:fld>
            <a:endParaRPr lang="en-US" altLang="zh-CN"/>
          </a:p>
        </p:txBody>
      </p:sp>
      <p:sp>
        <p:nvSpPr>
          <p:cNvPr id="7" name="标题 1"/>
          <p:cNvSpPr>
            <a:spLocks noGrp="1"/>
          </p:cNvSpPr>
          <p:nvPr>
            <p:ph type="title" hasCustomPrompt="1"/>
          </p:nvPr>
        </p:nvSpPr>
        <p:spPr>
          <a:xfrm>
            <a:off x="838200" y="365125"/>
            <a:ext cx="10515600" cy="1325563"/>
          </a:xfrm>
        </p:spPr>
        <p:txBody>
          <a:bodyPr/>
          <a:lstStyle>
            <a:lvl1pPr>
              <a:defRPr/>
            </a:lvl1pPr>
          </a:lstStyle>
          <a:p>
            <a:r>
              <a:rPr lang="zh-CN" altLang="en-US" dirty="0"/>
              <a:t>单击此处编辑母版标题样式</a:t>
            </a:r>
            <a:r>
              <a:rPr lang="en-US" altLang="zh-CN" dirty="0" err="1"/>
              <a:t>abc</a:t>
            </a:r>
            <a:endParaRPr lang="zh-CN" altLang="en-US" dirty="0"/>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grpSp>
        <p:nvGrpSpPr>
          <p:cNvPr id="10" name="组合 9"/>
          <p:cNvGrpSpPr/>
          <p:nvPr/>
        </p:nvGrpSpPr>
        <p:grpSpPr>
          <a:xfrm>
            <a:off x="-11093" y="5372100"/>
            <a:ext cx="12203093" cy="1485900"/>
            <a:chOff x="0" y="5305425"/>
            <a:chExt cx="12203093" cy="1485900"/>
          </a:xfrm>
        </p:grpSpPr>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sp>
          <p:nvSpPr>
            <p:cNvPr id="12" name="矩形 11"/>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026429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图片与标题">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5183188" y="1384663"/>
            <a:ext cx="6172200" cy="44763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dirty="0"/>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C2224BEA-3C3F-4596-8550-1ADD053AC372}" type="slidenum">
              <a:rPr lang="en-US" altLang="zh-CN" smtClean="0"/>
              <a:pPr>
                <a:defRPr/>
              </a:pPr>
              <a:t>‹#›</a:t>
            </a:fld>
            <a:endParaRPr lang="en-US" altLang="zh-CN"/>
          </a:p>
        </p:txBody>
      </p:sp>
      <p:sp>
        <p:nvSpPr>
          <p:cNvPr id="8" name="内容占位符 2"/>
          <p:cNvSpPr>
            <a:spLocks noGrp="1"/>
          </p:cNvSpPr>
          <p:nvPr>
            <p:ph idx="13"/>
          </p:nvPr>
        </p:nvSpPr>
        <p:spPr>
          <a:xfrm>
            <a:off x="839788" y="1384663"/>
            <a:ext cx="3932237" cy="4476387"/>
          </a:xfrm>
        </p:spPr>
        <p:txBody>
          <a:bodyPr/>
          <a:lstStyle>
            <a:lvl1pPr>
              <a:lnSpc>
                <a:spcPct val="110000"/>
              </a:lnSpc>
              <a:defRPr sz="2800"/>
            </a:lvl1pPr>
            <a:lvl2pPr>
              <a:lnSpc>
                <a:spcPct val="110000"/>
              </a:lnSpc>
              <a:buClr>
                <a:schemeClr val="accent1">
                  <a:lumMod val="60000"/>
                  <a:lumOff val="40000"/>
                </a:schemeClr>
              </a:buClr>
              <a:defRPr sz="2400"/>
            </a:lvl2pPr>
            <a:lvl3pPr>
              <a:lnSpc>
                <a:spcPct val="110000"/>
              </a:lnSpc>
              <a:buClr>
                <a:schemeClr val="accent1">
                  <a:lumMod val="60000"/>
                  <a:lumOff val="40000"/>
                </a:schemeClr>
              </a:buClr>
              <a:defRPr sz="2400"/>
            </a:lvl3pPr>
            <a:lvl4pPr>
              <a:lnSpc>
                <a:spcPct val="110000"/>
              </a:lnSpc>
              <a:buClr>
                <a:schemeClr val="accent1">
                  <a:lumMod val="60000"/>
                  <a:lumOff val="40000"/>
                </a:schemeClr>
              </a:buClr>
              <a:defRPr sz="2400"/>
            </a:lvl4pPr>
            <a:lvl5pPr>
              <a:lnSpc>
                <a:spcPct val="110000"/>
              </a:lnSpc>
              <a:buClr>
                <a:schemeClr val="accent1">
                  <a:lumMod val="60000"/>
                  <a:lumOff val="40000"/>
                </a:schemeClr>
              </a:buClr>
              <a:defRPr sz="24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9" name="标题 1"/>
          <p:cNvSpPr txBox="1">
            <a:spLocks/>
          </p:cNvSpPr>
          <p:nvPr/>
        </p:nvSpPr>
        <p:spPr>
          <a:xfrm>
            <a:off x="733697" y="12999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rgbClr val="1E5293"/>
                </a:solidFill>
                <a:latin typeface="Arial" panose="020B0604020202020204" pitchFamily="34" charset="0"/>
                <a:ea typeface="幼圆" panose="02010509060101010101" pitchFamily="49" charset="-122"/>
                <a:cs typeface="Arial" panose="020B0604020202020204" pitchFamily="34" charset="0"/>
              </a:defRPr>
            </a:lvl1pPr>
          </a:lstStyle>
          <a:p>
            <a:r>
              <a:rPr lang="zh-CN" altLang="en-US" dirty="0"/>
              <a:t>单击此处编辑母版标题样式</a:t>
            </a:r>
            <a:r>
              <a:rPr lang="en-US" altLang="zh-CN" dirty="0" err="1"/>
              <a:t>abc</a:t>
            </a:r>
            <a:endParaRPr lang="zh-CN" altLang="en-US" dirty="0"/>
          </a:p>
        </p:txBody>
      </p:sp>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grpSp>
        <p:nvGrpSpPr>
          <p:cNvPr id="10" name="组合 9"/>
          <p:cNvGrpSpPr/>
          <p:nvPr/>
        </p:nvGrpSpPr>
        <p:grpSpPr>
          <a:xfrm>
            <a:off x="-11093" y="5372100"/>
            <a:ext cx="12203093" cy="1485900"/>
            <a:chOff x="0" y="5305425"/>
            <a:chExt cx="12203093" cy="1485900"/>
          </a:xfrm>
        </p:grpSpPr>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sp>
          <p:nvSpPr>
            <p:cNvPr id="12" name="矩形 11"/>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939365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4928" y="2664188"/>
            <a:ext cx="10515600" cy="1325563"/>
          </a:xfrm>
        </p:spPr>
        <p:txBody>
          <a:bodyPr>
            <a:normAutofit/>
          </a:bodyPr>
          <a:lstStyle>
            <a:lvl1pPr marL="0" algn="ctr" defTabSz="914400" rtl="0" eaLnBrk="1" latinLnBrk="0" hangingPunct="1">
              <a:defRPr lang="zh-CN" altLang="en-US" sz="5400" kern="1200" dirty="0">
                <a:ln w="22225">
                  <a:solidFill>
                    <a:schemeClr val="accent2"/>
                  </a:solidFill>
                  <a:prstDash val="solid"/>
                </a:ln>
                <a:solidFill>
                  <a:schemeClr val="accent6">
                    <a:lumMod val="75000"/>
                  </a:schemeClr>
                </a:solidFill>
                <a:latin typeface="幼圆" panose="02010509060101010101" pitchFamily="49" charset="-122"/>
                <a:ea typeface="幼圆" panose="02010509060101010101" pitchFamily="49" charset="-122"/>
                <a:cs typeface="+mn-cs"/>
              </a:defRPr>
            </a:lvl1pPr>
          </a:lstStyle>
          <a:p>
            <a:r>
              <a:rPr lang="zh-CN" altLang="en-US"/>
              <a:t>单击此处编辑母版标题样式</a:t>
            </a:r>
            <a:endParaRPr lang="zh-CN" altLang="en-US" dirty="0"/>
          </a:p>
        </p:txBody>
      </p:sp>
      <p:sp>
        <p:nvSpPr>
          <p:cNvPr id="3" name="页脚占位符 2"/>
          <p:cNvSpPr>
            <a:spLocks noGrp="1"/>
          </p:cNvSpPr>
          <p:nvPr>
            <p:ph type="ftr" sz="quarter" idx="10"/>
          </p:nvPr>
        </p:nvSpPr>
        <p:spPr/>
        <p:txBody>
          <a:bodyPr/>
          <a:lstStyle/>
          <a:p>
            <a:pPr>
              <a:defRPr/>
            </a:pPr>
            <a:endParaRPr lang="en-US" altLang="zh-CN"/>
          </a:p>
        </p:txBody>
      </p:sp>
      <p:sp>
        <p:nvSpPr>
          <p:cNvPr id="4" name="灯片编号占位符 3"/>
          <p:cNvSpPr>
            <a:spLocks noGrp="1"/>
          </p:cNvSpPr>
          <p:nvPr>
            <p:ph type="sldNum" sz="quarter" idx="11"/>
          </p:nvPr>
        </p:nvSpPr>
        <p:spPr/>
        <p:txBody>
          <a:bodyPr/>
          <a:lstStyle/>
          <a:p>
            <a:pPr>
              <a:defRPr/>
            </a:pPr>
            <a:fld id="{C2224BEA-3C3F-4596-8550-1ADD053AC372}" type="slidenum">
              <a:rPr lang="en-US" altLang="zh-CN" smtClean="0"/>
              <a:pPr>
                <a:defRPr/>
              </a:pPr>
              <a:t>‹#›</a:t>
            </a:fld>
            <a:endParaRPr lang="en-US" altLang="zh-CN"/>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grpSp>
        <p:nvGrpSpPr>
          <p:cNvPr id="7" name="组合 6"/>
          <p:cNvGrpSpPr/>
          <p:nvPr/>
        </p:nvGrpSpPr>
        <p:grpSpPr>
          <a:xfrm>
            <a:off x="-11093" y="5372100"/>
            <a:ext cx="12203093" cy="1485900"/>
            <a:chOff x="0" y="5305425"/>
            <a:chExt cx="12203093" cy="1485900"/>
          </a:xfrm>
        </p:grpSpPr>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sp>
          <p:nvSpPr>
            <p:cNvPr id="9" name="矩形 8"/>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88255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1.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r>
              <a:rPr lang="en-US" altLang="zh-CN" dirty="0" err="1"/>
              <a:t>abc</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r>
              <a:rPr lang="en-US" altLang="zh-CN" dirty="0" err="1"/>
              <a:t>abc</a:t>
            </a:r>
            <a:endParaRPr lang="zh-CN" altLang="en-US" dirty="0"/>
          </a:p>
          <a:p>
            <a:pPr lvl="1"/>
            <a:r>
              <a:rPr lang="zh-CN" altLang="en-US" dirty="0"/>
              <a:t>第二级</a:t>
            </a:r>
            <a:r>
              <a:rPr lang="en-US" altLang="zh-CN" dirty="0" err="1"/>
              <a:t>abc</a:t>
            </a:r>
            <a:endParaRPr lang="zh-CN" altLang="en-US" dirty="0"/>
          </a:p>
          <a:p>
            <a:pPr lvl="2"/>
            <a:r>
              <a:rPr lang="zh-CN" altLang="en-US" dirty="0"/>
              <a:t>第三级</a:t>
            </a:r>
            <a:r>
              <a:rPr lang="en-US" altLang="zh-CN" dirty="0" err="1"/>
              <a:t>abc</a:t>
            </a:r>
            <a:endParaRPr lang="zh-CN" altLang="en-US" dirty="0"/>
          </a:p>
          <a:p>
            <a:pPr lvl="3"/>
            <a:r>
              <a:rPr lang="zh-CN" altLang="en-US" dirty="0"/>
              <a:t>第四级</a:t>
            </a:r>
            <a:r>
              <a:rPr lang="en-US" altLang="zh-CN" dirty="0" err="1"/>
              <a:t>abc</a:t>
            </a:r>
            <a:endParaRPr lang="zh-CN" altLang="en-US" dirty="0"/>
          </a:p>
          <a:p>
            <a:pPr lvl="4"/>
            <a:r>
              <a:rPr lang="zh-CN" altLang="en-US" dirty="0"/>
              <a:t>第五级</a:t>
            </a:r>
            <a:r>
              <a:rPr lang="en-US" altLang="zh-CN" dirty="0" err="1"/>
              <a:t>abc</a:t>
            </a:r>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ltLang="zh-CN"/>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2224BEA-3C3F-4596-8550-1ADD053AC372}" type="slidenum">
              <a:rPr lang="en-US" altLang="zh-CN" smtClean="0"/>
              <a:pPr>
                <a:defRPr/>
              </a:pPr>
              <a:t>‹#›</a:t>
            </a:fld>
            <a:endParaRPr lang="en-US" altLang="zh-CN"/>
          </a:p>
        </p:txBody>
      </p:sp>
      <p:sp>
        <p:nvSpPr>
          <p:cNvPr id="7" name="标题占位符 1"/>
          <p:cNvSpPr txBox="1">
            <a:spLocks noChangeArrowheads="1"/>
          </p:cNvSpPr>
          <p:nvPr>
            <p:custDataLst>
              <p:tags r:id="rId11"/>
            </p:custDataLst>
          </p:nvPr>
        </p:nvSpPr>
        <p:spPr bwMode="auto">
          <a:xfrm>
            <a:off x="501650" y="314420"/>
            <a:ext cx="10852150" cy="660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38100" rIns="76200" bIns="38100" numCol="1" anchor="t" anchorCtr="0" compatLnSpc="1"/>
          <a:lstStyle>
            <a:lvl1pPr algn="l" defTabSz="914400" rtl="0" eaLnBrk="1" latinLnBrk="0" hangingPunct="1">
              <a:lnSpc>
                <a:spcPct val="90000"/>
              </a:lnSpc>
              <a:spcBef>
                <a:spcPct val="0"/>
              </a:spcBef>
              <a:buNone/>
              <a:defRPr sz="3600" b="0" kern="1200">
                <a:solidFill>
                  <a:srgbClr val="1B5091"/>
                </a:solidFill>
                <a:latin typeface="Arial" panose="020B0604020202020204" pitchFamily="34" charset="0"/>
                <a:ea typeface="幼圆" panose="02010509060101010101" pitchFamily="49" charset="-122"/>
                <a:cs typeface="Arial" panose="020B0604020202020204" pitchFamily="34" charset="0"/>
              </a:defRPr>
            </a:lvl1pPr>
          </a:lstStyle>
          <a:p>
            <a:endParaRPr lang="zh-CN" altLang="en-US" dirty="0"/>
          </a:p>
        </p:txBody>
      </p:sp>
    </p:spTree>
    <p:extLst>
      <p:ext uri="{BB962C8B-B14F-4D97-AF65-F5344CB8AC3E}">
        <p14:creationId xmlns:p14="http://schemas.microsoft.com/office/powerpoint/2010/main" val="653742736"/>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Lst>
  <p:hf hdr="0" ftr="0" dt="0"/>
  <p:txStyles>
    <p:titleStyle>
      <a:lvl1pPr algn="l" defTabSz="914400" rtl="0" eaLnBrk="1" latinLnBrk="0" hangingPunct="1">
        <a:lnSpc>
          <a:spcPct val="90000"/>
        </a:lnSpc>
        <a:spcBef>
          <a:spcPct val="0"/>
        </a:spcBef>
        <a:buNone/>
        <a:defRPr sz="4000" kern="1200">
          <a:solidFill>
            <a:srgbClr val="1E5293"/>
          </a:solidFill>
          <a:latin typeface="Arial" panose="020B0604020202020204" pitchFamily="34" charset="0"/>
          <a:ea typeface="幼圆" panose="02010509060101010101" pitchFamily="49" charset="-122"/>
          <a:cs typeface="Arial" panose="020B0604020202020204" pitchFamily="34" charset="0"/>
        </a:defRPr>
      </a:lvl1pPr>
    </p:titleStyle>
    <p:bodyStyle>
      <a:lvl1pPr marL="228600" indent="-228600" algn="l" defTabSz="914400" rtl="0" eaLnBrk="1" latinLnBrk="0" hangingPunct="1">
        <a:lnSpc>
          <a:spcPct val="90000"/>
        </a:lnSpc>
        <a:spcBef>
          <a:spcPts val="1000"/>
        </a:spcBef>
        <a:buClr>
          <a:srgbClr val="1E5293"/>
        </a:buClr>
        <a:buSzPct val="70000"/>
        <a:buFont typeface="Wingdings" panose="05000000000000000000" pitchFamily="2" charset="2"/>
        <a:buChar char="l"/>
        <a:defRPr sz="28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6858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11430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6002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20574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gying@jlu.edu.cn"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10.webp"/><Relationship Id="rId5" Type="http://schemas.openxmlformats.org/officeDocument/2006/relationships/image" Target="../media/image9.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24.jpe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normAutofit fontScale="92500" lnSpcReduction="20000"/>
          </a:bodyPr>
          <a:lstStyle/>
          <a:p>
            <a:r>
              <a:rPr lang="zh-CN" altLang="en-US" dirty="0"/>
              <a:t>任课教师：高滢   </a:t>
            </a:r>
            <a:r>
              <a:rPr lang="en-US" altLang="zh-CN" dirty="0">
                <a:hlinkClick r:id="rId2"/>
              </a:rPr>
              <a:t>gying@jlu.edu.cn</a:t>
            </a:r>
            <a:r>
              <a:rPr lang="en-US" altLang="zh-CN" dirty="0"/>
              <a:t>  </a:t>
            </a:r>
            <a:r>
              <a:rPr lang="zh-CN" altLang="en-US" dirty="0"/>
              <a:t>计算机楼</a:t>
            </a:r>
            <a:r>
              <a:rPr lang="en-US" altLang="zh-CN"/>
              <a:t>A520</a:t>
            </a:r>
            <a:endParaRPr lang="en-US" altLang="zh-CN" dirty="0"/>
          </a:p>
          <a:p>
            <a:r>
              <a:rPr lang="en-US" altLang="zh-CN" dirty="0"/>
              <a:t>2025</a:t>
            </a:r>
            <a:r>
              <a:rPr lang="zh-CN" altLang="en-US" dirty="0"/>
              <a:t>年</a:t>
            </a:r>
            <a:r>
              <a:rPr lang="en-US" altLang="zh-CN" dirty="0"/>
              <a:t>2</a:t>
            </a:r>
            <a:r>
              <a:rPr lang="zh-CN" altLang="en-US" dirty="0"/>
              <a:t>月</a:t>
            </a:r>
            <a:r>
              <a:rPr lang="en-US" altLang="zh-CN" dirty="0"/>
              <a:t>—5</a:t>
            </a:r>
            <a:r>
              <a:rPr lang="zh-CN" altLang="en-US" dirty="0"/>
              <a:t>月</a:t>
            </a:r>
          </a:p>
        </p:txBody>
      </p:sp>
      <p:sp>
        <p:nvSpPr>
          <p:cNvPr id="3" name="标题 2"/>
          <p:cNvSpPr>
            <a:spLocks noGrp="1"/>
          </p:cNvSpPr>
          <p:nvPr>
            <p:ph type="ctrTitle"/>
          </p:nvPr>
        </p:nvSpPr>
        <p:spPr>
          <a:xfrm>
            <a:off x="1101360" y="4149080"/>
            <a:ext cx="9831977" cy="999627"/>
          </a:xfrm>
        </p:spPr>
        <p:txBody>
          <a:bodyPr>
            <a:normAutofit/>
          </a:bodyPr>
          <a:lstStyle/>
          <a:p>
            <a:r>
              <a:rPr lang="zh-CN" altLang="en-US" sz="4800" dirty="0"/>
              <a:t>算法设计与分析</a:t>
            </a:r>
          </a:p>
        </p:txBody>
      </p:sp>
    </p:spTree>
    <p:extLst>
      <p:ext uri="{BB962C8B-B14F-4D97-AF65-F5344CB8AC3E}">
        <p14:creationId xmlns:p14="http://schemas.microsoft.com/office/powerpoint/2010/main" val="20010844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1384" y="193215"/>
            <a:ext cx="10515600" cy="975643"/>
          </a:xfrm>
        </p:spPr>
        <p:txBody>
          <a:bodyPr/>
          <a:lstStyle/>
          <a:p>
            <a:r>
              <a:rPr lang="zh-CN" altLang="en-US" dirty="0"/>
              <a:t>为什么学习算法？</a:t>
            </a:r>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2</a:t>
            </a:fld>
            <a:endParaRPr lang="en-US" altLang="zh-CN"/>
          </a:p>
        </p:txBody>
      </p:sp>
      <p:sp>
        <p:nvSpPr>
          <p:cNvPr id="5" name="内容占位符 2"/>
          <p:cNvSpPr>
            <a:spLocks noGrp="1"/>
          </p:cNvSpPr>
          <p:nvPr>
            <p:ph idx="1"/>
          </p:nvPr>
        </p:nvSpPr>
        <p:spPr>
          <a:xfrm>
            <a:off x="476944" y="1253330"/>
            <a:ext cx="11307688" cy="5103019"/>
          </a:xfrm>
        </p:spPr>
        <p:txBody>
          <a:bodyPr>
            <a:normAutofit/>
          </a:bodyPr>
          <a:lstStyle/>
          <a:p>
            <a:pPr>
              <a:defRPr/>
            </a:pPr>
            <a:r>
              <a:rPr lang="zh-CN" altLang="en-US" sz="2800" dirty="0"/>
              <a:t>有两种思想，就像摆放在天鹅绒上的宝石那样熠熠生辉，一个是微积分，另一个就是</a:t>
            </a:r>
            <a:r>
              <a:rPr lang="zh-CN" altLang="en-US" sz="2800" dirty="0">
                <a:solidFill>
                  <a:srgbClr val="FF0000"/>
                </a:solidFill>
              </a:rPr>
              <a:t>算法</a:t>
            </a:r>
            <a:r>
              <a:rPr lang="zh-CN" altLang="en-US" sz="2800" dirty="0"/>
              <a:t>。微积分以及在微积分基础上建立起来的数学分析体系造就了现代科学，而</a:t>
            </a:r>
            <a:r>
              <a:rPr lang="zh-CN" altLang="en-US" sz="2800" dirty="0">
                <a:solidFill>
                  <a:srgbClr val="FF0000"/>
                </a:solidFill>
              </a:rPr>
              <a:t>算法则造就了现代世界</a:t>
            </a:r>
            <a:r>
              <a:rPr lang="zh-CN" altLang="en-US" sz="2800" dirty="0"/>
              <a:t>。</a:t>
            </a:r>
            <a:endParaRPr lang="en-US" altLang="zh-CN" sz="2800" dirty="0"/>
          </a:p>
          <a:p>
            <a:pPr algn="r">
              <a:buFont typeface="Wingdings" panose="05000000000000000000" pitchFamily="2" charset="2"/>
              <a:buNone/>
              <a:defRPr/>
            </a:pPr>
            <a:r>
              <a:rPr lang="en-US" altLang="zh-CN" sz="2800" dirty="0"/>
              <a:t>——《The advent of Algorithm》</a:t>
            </a:r>
          </a:p>
          <a:p>
            <a:pPr algn="r">
              <a:buFont typeface="Wingdings" panose="05000000000000000000" pitchFamily="2" charset="2"/>
              <a:buNone/>
              <a:defRPr/>
            </a:pPr>
            <a:r>
              <a:rPr lang="en-US" altLang="zh-CN" sz="2800" dirty="0"/>
              <a:t>David </a:t>
            </a:r>
            <a:r>
              <a:rPr lang="en-US" altLang="zh-CN" sz="2800" dirty="0" err="1"/>
              <a:t>Berlinski</a:t>
            </a:r>
            <a:endParaRPr lang="zh-CN" altLang="en-US" sz="2800" dirty="0"/>
          </a:p>
          <a:p>
            <a:r>
              <a:rPr lang="zh-CN" altLang="en-US" dirty="0"/>
              <a:t>算法不只是计算机科学的一个分支，</a:t>
            </a:r>
            <a:r>
              <a:rPr lang="zh-CN" altLang="en-US" u="sng" dirty="0">
                <a:solidFill>
                  <a:srgbClr val="FF0000"/>
                </a:solidFill>
              </a:rPr>
              <a:t>它是计算机科学的核心</a:t>
            </a:r>
            <a:r>
              <a:rPr lang="zh-CN" altLang="en-US" dirty="0"/>
              <a:t>。而且，可以毫不夸张地说，它与绝大多数科学、商业和技术都密切相关。</a:t>
            </a:r>
            <a:endParaRPr lang="en-US" altLang="zh-CN" dirty="0"/>
          </a:p>
          <a:p>
            <a:pPr algn="r">
              <a:buNone/>
            </a:pPr>
            <a:r>
              <a:rPr lang="en-US" altLang="zh-CN" dirty="0"/>
              <a:t>——</a:t>
            </a:r>
            <a:r>
              <a:rPr lang="zh-CN" altLang="en-US" dirty="0"/>
              <a:t>“</a:t>
            </a:r>
            <a:r>
              <a:rPr lang="en-US" altLang="zh-CN" dirty="0"/>
              <a:t>Algorithmics: the spirit of computing</a:t>
            </a:r>
            <a:r>
              <a:rPr lang="zh-CN" altLang="en-US" dirty="0"/>
              <a:t>”</a:t>
            </a:r>
            <a:endParaRPr lang="zh-CN" altLang="en-US" sz="2800" dirty="0"/>
          </a:p>
        </p:txBody>
      </p:sp>
      <p:sp>
        <p:nvSpPr>
          <p:cNvPr id="6" name="圆角矩形标注 5"/>
          <p:cNvSpPr/>
          <p:nvPr/>
        </p:nvSpPr>
        <p:spPr>
          <a:xfrm>
            <a:off x="1199456" y="2924944"/>
            <a:ext cx="3888432" cy="581622"/>
          </a:xfrm>
          <a:prstGeom prst="wedgeRoundRectCallout">
            <a:avLst>
              <a:gd name="adj1" fmla="val 45299"/>
              <a:gd name="adj2" fmla="val -82816"/>
              <a:gd name="adj3" fmla="val 1666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chemeClr val="tx1"/>
                </a:solidFill>
                <a:latin typeface="幼圆" panose="02010509060101010101" pitchFamily="49" charset="-122"/>
                <a:ea typeface="幼圆" panose="02010509060101010101" pitchFamily="49" charset="-122"/>
              </a:rPr>
              <a:t>外延：算法对世界的影响</a:t>
            </a:r>
          </a:p>
        </p:txBody>
      </p:sp>
      <p:sp>
        <p:nvSpPr>
          <p:cNvPr id="3" name="圆角矩形标注 4">
            <a:extLst>
              <a:ext uri="{FF2B5EF4-FFF2-40B4-BE49-F238E27FC236}">
                <a16:creationId xmlns:a16="http://schemas.microsoft.com/office/drawing/2014/main" id="{BAEE59D4-BCFB-5C58-3A1F-8B9785D83323}"/>
              </a:ext>
            </a:extLst>
          </p:cNvPr>
          <p:cNvSpPr/>
          <p:nvPr/>
        </p:nvSpPr>
        <p:spPr>
          <a:xfrm>
            <a:off x="555874" y="5517232"/>
            <a:ext cx="4171974" cy="720080"/>
          </a:xfrm>
          <a:prstGeom prst="wedgeRoundRectCallout">
            <a:avLst>
              <a:gd name="adj1" fmla="val 28255"/>
              <a:gd name="adj2" fmla="val -119307"/>
              <a:gd name="adj3" fmla="val 1666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chemeClr val="tx1"/>
                </a:solidFill>
                <a:latin typeface="幼圆" panose="02010509060101010101" pitchFamily="49" charset="-122"/>
                <a:ea typeface="幼圆" panose="02010509060101010101" pitchFamily="49" charset="-122"/>
              </a:rPr>
              <a:t>内核：算法在专业中的地位</a:t>
            </a:r>
          </a:p>
        </p:txBody>
      </p:sp>
    </p:spTree>
    <p:extLst>
      <p:ext uri="{BB962C8B-B14F-4D97-AF65-F5344CB8AC3E}">
        <p14:creationId xmlns:p14="http://schemas.microsoft.com/office/powerpoint/2010/main" val="2815689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为什么学习算法？</a:t>
            </a:r>
          </a:p>
        </p:txBody>
      </p:sp>
      <p:sp>
        <p:nvSpPr>
          <p:cNvPr id="3" name="内容占位符 2"/>
          <p:cNvSpPr>
            <a:spLocks noGrp="1"/>
          </p:cNvSpPr>
          <p:nvPr>
            <p:ph idx="1"/>
          </p:nvPr>
        </p:nvSpPr>
        <p:spPr/>
        <p:txBody>
          <a:bodyPr/>
          <a:lstStyle/>
          <a:p>
            <a:r>
              <a:rPr lang="zh-CN" altLang="en-US" dirty="0"/>
              <a:t>受过良好训练的计算机科学家知道怎样处理算法：如何构造算法、操作算法、理解算法、分析算法。</a:t>
            </a:r>
            <a:endParaRPr lang="en-US" altLang="zh-CN" dirty="0"/>
          </a:p>
          <a:p>
            <a:r>
              <a:rPr lang="zh-CN" altLang="en-US" dirty="0"/>
              <a:t>这些知识远不止为了写出良好的计算机程序而准备的。算法是一种一般性的职能工具，它必定有助于我们对其他学科的理解，不管是化学、语言学、音乐，还是其他学科。</a:t>
            </a:r>
            <a:endParaRPr lang="en-US" altLang="zh-CN" dirty="0"/>
          </a:p>
          <a:p>
            <a:pPr marL="0" indent="0" algn="r">
              <a:buNone/>
            </a:pPr>
            <a:r>
              <a:rPr lang="en-US" altLang="zh-CN" dirty="0"/>
              <a:t>——Donald Knuth</a:t>
            </a:r>
          </a:p>
          <a:p>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3</a:t>
            </a:fld>
            <a:endParaRPr lang="en-US" altLang="zh-CN" dirty="0"/>
          </a:p>
        </p:txBody>
      </p:sp>
      <p:sp>
        <p:nvSpPr>
          <p:cNvPr id="5" name="圆角矩形标注 4"/>
          <p:cNvSpPr/>
          <p:nvPr/>
        </p:nvSpPr>
        <p:spPr>
          <a:xfrm>
            <a:off x="4151784" y="4581128"/>
            <a:ext cx="3240360" cy="720080"/>
          </a:xfrm>
          <a:prstGeom prst="wedgeRoundRectCallout">
            <a:avLst>
              <a:gd name="adj1" fmla="val -47634"/>
              <a:gd name="adj2" fmla="val -64501"/>
              <a:gd name="adj3" fmla="val 1666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chemeClr val="tx1"/>
                </a:solidFill>
                <a:latin typeface="幼圆" panose="02010509060101010101" pitchFamily="49" charset="-122"/>
                <a:ea typeface="幼圆" panose="02010509060101010101" pitchFamily="49" charset="-122"/>
              </a:rPr>
              <a:t>算法对学习者的影响</a:t>
            </a:r>
          </a:p>
        </p:txBody>
      </p:sp>
    </p:spTree>
    <p:extLst>
      <p:ext uri="{BB962C8B-B14F-4D97-AF65-F5344CB8AC3E}">
        <p14:creationId xmlns:p14="http://schemas.microsoft.com/office/powerpoint/2010/main" val="3960061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CA0B2A-6A7D-63C7-DB29-FBD1C28DA61F}"/>
              </a:ext>
            </a:extLst>
          </p:cNvPr>
          <p:cNvSpPr>
            <a:spLocks noGrp="1"/>
          </p:cNvSpPr>
          <p:nvPr>
            <p:ph type="title"/>
          </p:nvPr>
        </p:nvSpPr>
        <p:spPr/>
        <p:txBody>
          <a:bodyPr/>
          <a:lstStyle/>
          <a:p>
            <a:r>
              <a:rPr lang="zh-CN" altLang="en-US" dirty="0"/>
              <a:t>身边的算法</a:t>
            </a:r>
          </a:p>
        </p:txBody>
      </p:sp>
      <p:sp>
        <p:nvSpPr>
          <p:cNvPr id="3" name="内容占位符 2">
            <a:extLst>
              <a:ext uri="{FF2B5EF4-FFF2-40B4-BE49-F238E27FC236}">
                <a16:creationId xmlns:a16="http://schemas.microsoft.com/office/drawing/2014/main" id="{1E817C25-CD37-D8B4-4A93-2D43C17DB68C}"/>
              </a:ext>
            </a:extLst>
          </p:cNvPr>
          <p:cNvSpPr>
            <a:spLocks noGrp="1"/>
          </p:cNvSpPr>
          <p:nvPr>
            <p:ph idx="1"/>
          </p:nvPr>
        </p:nvSpPr>
        <p:spPr/>
        <p:txBody>
          <a:bodyPr/>
          <a:lstStyle/>
          <a:p>
            <a:pPr>
              <a:lnSpc>
                <a:spcPct val="120000"/>
              </a:lnSpc>
              <a:spcBef>
                <a:spcPts val="0"/>
              </a:spcBef>
            </a:pPr>
            <a:r>
              <a:rPr lang="zh-CN" altLang="en-US" sz="2800" dirty="0">
                <a:latin typeface="Times New Roman" panose="02020603050405020304" pitchFamily="18" charset="0"/>
                <a:cs typeface="Times New Roman" panose="02020603050405020304" pitchFamily="18" charset="0"/>
              </a:rPr>
              <a:t>美团外卖自己并不生产食物，而是使用</a:t>
            </a:r>
            <a:r>
              <a:rPr lang="zh-CN" altLang="en-US" sz="2800" dirty="0">
                <a:solidFill>
                  <a:srgbClr val="FF0000"/>
                </a:solidFill>
                <a:latin typeface="Times New Roman" panose="02020603050405020304" pitchFamily="18" charset="0"/>
                <a:cs typeface="Times New Roman" panose="02020603050405020304" pitchFamily="18" charset="0"/>
              </a:rPr>
              <a:t>算法</a:t>
            </a:r>
            <a:r>
              <a:rPr lang="zh-CN" altLang="en-US" sz="2800" dirty="0">
                <a:latin typeface="Times New Roman" panose="02020603050405020304" pitchFamily="18" charset="0"/>
                <a:cs typeface="Times New Roman" panose="02020603050405020304" pitchFamily="18" charset="0"/>
              </a:rPr>
              <a:t>连接商家和客户和物流，将食物直接“投递”到手中；</a:t>
            </a:r>
            <a:endParaRPr lang="en-US" altLang="zh-CN" sz="2800" dirty="0">
              <a:latin typeface="Times New Roman" panose="02020603050405020304" pitchFamily="18" charset="0"/>
              <a:cs typeface="Times New Roman" panose="02020603050405020304" pitchFamily="18" charset="0"/>
            </a:endParaRPr>
          </a:p>
          <a:p>
            <a:pPr>
              <a:lnSpc>
                <a:spcPct val="120000"/>
              </a:lnSpc>
              <a:spcBef>
                <a:spcPts val="0"/>
              </a:spcBef>
            </a:pPr>
            <a:r>
              <a:rPr lang="zh-CN" altLang="en-US" sz="2800">
                <a:latin typeface="Times New Roman" panose="02020603050405020304" pitchFamily="18" charset="0"/>
                <a:cs typeface="Times New Roman" panose="02020603050405020304" pitchFamily="18" charset="0"/>
              </a:rPr>
              <a:t>滴滴等使用</a:t>
            </a:r>
            <a:r>
              <a:rPr lang="zh-CN" altLang="en-US" sz="2800" dirty="0">
                <a:solidFill>
                  <a:srgbClr val="FF0000"/>
                </a:solidFill>
                <a:latin typeface="Times New Roman" panose="02020603050405020304" pitchFamily="18" charset="0"/>
                <a:cs typeface="Times New Roman" panose="02020603050405020304" pitchFamily="18" charset="0"/>
              </a:rPr>
              <a:t>算法</a:t>
            </a:r>
            <a:r>
              <a:rPr lang="zh-CN" altLang="en-US" sz="2800" dirty="0">
                <a:latin typeface="Times New Roman" panose="02020603050405020304" pitchFamily="18" charset="0"/>
                <a:cs typeface="Times New Roman" panose="02020603050405020304" pitchFamily="18" charset="0"/>
              </a:rPr>
              <a:t>连接司机和乘客，</a:t>
            </a:r>
            <a:r>
              <a:rPr lang="zh-CN" altLang="en-US" sz="2800" dirty="0">
                <a:solidFill>
                  <a:srgbClr val="FF0000"/>
                </a:solidFill>
                <a:latin typeface="Times New Roman" panose="02020603050405020304" pitchFamily="18" charset="0"/>
                <a:cs typeface="Times New Roman" panose="02020603050405020304" pitchFamily="18" charset="0"/>
              </a:rPr>
              <a:t>导航软件</a:t>
            </a:r>
            <a:r>
              <a:rPr lang="zh-CN" altLang="en-US" sz="2800" dirty="0">
                <a:latin typeface="Times New Roman" panose="02020603050405020304" pitchFamily="18" charset="0"/>
                <a:cs typeface="Times New Roman" panose="02020603050405020304" pitchFamily="18" charset="0"/>
              </a:rPr>
              <a:t>使用算法计算最佳路径；</a:t>
            </a:r>
            <a:endParaRPr lang="en-US" altLang="zh-CN" sz="2800" dirty="0">
              <a:latin typeface="Times New Roman" panose="02020603050405020304" pitchFamily="18" charset="0"/>
              <a:cs typeface="Times New Roman" panose="02020603050405020304" pitchFamily="18" charset="0"/>
            </a:endParaRPr>
          </a:p>
          <a:p>
            <a:pPr>
              <a:lnSpc>
                <a:spcPct val="120000"/>
              </a:lnSpc>
              <a:spcBef>
                <a:spcPts val="0"/>
              </a:spcBef>
            </a:pPr>
            <a:r>
              <a:rPr lang="zh-CN" altLang="en-US" sz="2800" dirty="0">
                <a:latin typeface="Times New Roman" panose="02020603050405020304" pitchFamily="18" charset="0"/>
                <a:cs typeface="Times New Roman" panose="02020603050405020304" pitchFamily="18" charset="0"/>
              </a:rPr>
              <a:t>在</a:t>
            </a:r>
            <a:r>
              <a:rPr lang="zh-CN" altLang="en-US" sz="2800" dirty="0">
                <a:solidFill>
                  <a:srgbClr val="FF0000"/>
                </a:solidFill>
                <a:latin typeface="Times New Roman" panose="02020603050405020304" pitchFamily="18" charset="0"/>
                <a:cs typeface="Times New Roman" panose="02020603050405020304" pitchFamily="18" charset="0"/>
              </a:rPr>
              <a:t>网络零售</a:t>
            </a:r>
            <a:r>
              <a:rPr lang="zh-CN" altLang="en-US" sz="2800" dirty="0">
                <a:latin typeface="Times New Roman" panose="02020603050405020304" pitchFamily="18" charset="0"/>
                <a:cs typeface="Times New Roman" panose="02020603050405020304" pitchFamily="18" charset="0"/>
              </a:rPr>
              <a:t>领域，阿里巴巴没有库存，而是使用</a:t>
            </a:r>
            <a:r>
              <a:rPr lang="zh-CN" altLang="en-US" sz="2800" dirty="0">
                <a:solidFill>
                  <a:srgbClr val="FF0000"/>
                </a:solidFill>
                <a:latin typeface="Times New Roman" panose="02020603050405020304" pitchFamily="18" charset="0"/>
                <a:cs typeface="Times New Roman" panose="02020603050405020304" pitchFamily="18" charset="0"/>
              </a:rPr>
              <a:t>算法</a:t>
            </a:r>
            <a:r>
              <a:rPr lang="zh-CN" altLang="en-US" sz="2800" dirty="0">
                <a:latin typeface="Times New Roman" panose="02020603050405020304" pitchFamily="18" charset="0"/>
                <a:cs typeface="Times New Roman" panose="02020603050405020304" pitchFamily="18" charset="0"/>
              </a:rPr>
              <a:t>来帮助销售购买产品；根据顾客过去的购买记录、浏览记录来精准</a:t>
            </a:r>
            <a:r>
              <a:rPr lang="zh-CN" altLang="en-US" sz="2800" dirty="0">
                <a:solidFill>
                  <a:srgbClr val="FF0000"/>
                </a:solidFill>
                <a:latin typeface="Times New Roman" panose="02020603050405020304" pitchFamily="18" charset="0"/>
                <a:cs typeface="Times New Roman" panose="02020603050405020304" pitchFamily="18" charset="0"/>
              </a:rPr>
              <a:t>推荐</a:t>
            </a:r>
            <a:r>
              <a:rPr lang="zh-CN" altLang="en-US" sz="2800" dirty="0">
                <a:latin typeface="Times New Roman" panose="02020603050405020304" pitchFamily="18" charset="0"/>
                <a:cs typeface="Times New Roman" panose="02020603050405020304" pitchFamily="18" charset="0"/>
              </a:rPr>
              <a:t>产品。</a:t>
            </a:r>
            <a:endParaRPr lang="en-US" altLang="zh-CN" sz="2800" dirty="0">
              <a:latin typeface="Times New Roman" panose="02020603050405020304" pitchFamily="18" charset="0"/>
              <a:cs typeface="Times New Roman" panose="02020603050405020304" pitchFamily="18" charset="0"/>
            </a:endParaRPr>
          </a:p>
          <a:p>
            <a:pPr>
              <a:lnSpc>
                <a:spcPct val="120000"/>
              </a:lnSpc>
              <a:spcBef>
                <a:spcPts val="0"/>
              </a:spcBef>
            </a:pPr>
            <a:r>
              <a:rPr lang="zh-CN" altLang="en-US" sz="2800" dirty="0">
                <a:latin typeface="Times New Roman" panose="02020603050405020304" pitchFamily="18" charset="0"/>
                <a:cs typeface="Times New Roman" panose="02020603050405020304" pitchFamily="18" charset="0"/>
              </a:rPr>
              <a:t>字节跳动</a:t>
            </a:r>
            <a:r>
              <a:rPr lang="en-US" altLang="zh-CN" sz="2800"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今日头条、抖音</a:t>
            </a:r>
            <a:r>
              <a:rPr lang="en-US" altLang="zh-CN" sz="2800"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 、百度、腾讯等各互联网</a:t>
            </a:r>
            <a:r>
              <a:rPr lang="zh-CN" altLang="en-US" sz="2800" dirty="0">
                <a:solidFill>
                  <a:srgbClr val="FF0000"/>
                </a:solidFill>
                <a:latin typeface="Times New Roman" panose="02020603050405020304" pitchFamily="18" charset="0"/>
                <a:cs typeface="Times New Roman" panose="02020603050405020304" pitchFamily="18" charset="0"/>
              </a:rPr>
              <a:t>公司及产品</a:t>
            </a:r>
            <a:r>
              <a:rPr lang="zh-CN" altLang="en-US" sz="2800" dirty="0">
                <a:latin typeface="Times New Roman" panose="02020603050405020304" pitchFamily="18" charset="0"/>
                <a:cs typeface="Times New Roman" panose="02020603050405020304" pitchFamily="18" charset="0"/>
              </a:rPr>
              <a:t>中，都离不开算法；算法工程师的需求量非常大，前景广阔。</a:t>
            </a:r>
            <a:endParaRPr lang="en-US" altLang="zh-CN" sz="2800" dirty="0">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a:extLst>
              <a:ext uri="{FF2B5EF4-FFF2-40B4-BE49-F238E27FC236}">
                <a16:creationId xmlns:a16="http://schemas.microsoft.com/office/drawing/2014/main" id="{FDA00702-86CD-A51A-A0D1-6DDC645DFE74}"/>
              </a:ext>
            </a:extLst>
          </p:cNvPr>
          <p:cNvSpPr>
            <a:spLocks noGrp="1"/>
          </p:cNvSpPr>
          <p:nvPr>
            <p:ph type="sldNum" sz="quarter" idx="12"/>
          </p:nvPr>
        </p:nvSpPr>
        <p:spPr/>
        <p:txBody>
          <a:bodyPr/>
          <a:lstStyle/>
          <a:p>
            <a:pPr>
              <a:defRPr/>
            </a:pPr>
            <a:fld id="{D04713B0-7EE7-420A-BB22-6F99F562E080}" type="slidenum">
              <a:rPr lang="en-US" altLang="zh-CN" smtClean="0"/>
              <a:pPr>
                <a:defRPr/>
              </a:pPr>
              <a:t>4</a:t>
            </a:fld>
            <a:endParaRPr lang="en-US" altLang="zh-CN"/>
          </a:p>
        </p:txBody>
      </p:sp>
    </p:spTree>
    <p:extLst>
      <p:ext uri="{BB962C8B-B14F-4D97-AF65-F5344CB8AC3E}">
        <p14:creationId xmlns:p14="http://schemas.microsoft.com/office/powerpoint/2010/main" val="1244024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zh-CN" altLang="en-US" dirty="0"/>
              <a:t>课程体系中的位置</a:t>
            </a:r>
          </a:p>
        </p:txBody>
      </p:sp>
      <p:sp>
        <p:nvSpPr>
          <p:cNvPr id="2" name="灯片编号占位符 1"/>
          <p:cNvSpPr>
            <a:spLocks noGrp="1"/>
          </p:cNvSpPr>
          <p:nvPr>
            <p:ph type="sldNum" sz="quarter" idx="12"/>
          </p:nvPr>
        </p:nvSpPr>
        <p:spPr/>
        <p:txBody>
          <a:bodyPr/>
          <a:lstStyle/>
          <a:p>
            <a:pPr>
              <a:defRPr/>
            </a:pPr>
            <a:fld id="{D04713B0-7EE7-420A-BB22-6F99F562E080}" type="slidenum">
              <a:rPr lang="en-US" altLang="zh-CN" smtClean="0"/>
              <a:pPr>
                <a:defRPr/>
              </a:pPr>
              <a:t>5</a:t>
            </a:fld>
            <a:endParaRPr lang="en-US" altLang="zh-CN"/>
          </a:p>
        </p:txBody>
      </p:sp>
      <p:sp>
        <p:nvSpPr>
          <p:cNvPr id="6" name="Text Box 3"/>
          <p:cNvSpPr txBox="1">
            <a:spLocks noChangeArrowheads="1"/>
          </p:cNvSpPr>
          <p:nvPr/>
        </p:nvSpPr>
        <p:spPr bwMode="auto">
          <a:xfrm>
            <a:off x="2848405" y="1593881"/>
            <a:ext cx="5760640" cy="3670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pPr>
            <a:r>
              <a:rPr kumimoji="1" lang="zh-CN" altLang="en-US" sz="3200" dirty="0">
                <a:latin typeface="幼圆" panose="02010509060101010101" pitchFamily="49" charset="-122"/>
                <a:ea typeface="幼圆" panose="02010509060101010101" pitchFamily="49" charset="-122"/>
              </a:rPr>
              <a:t>可计算性与计算复杂性</a:t>
            </a:r>
            <a:endParaRPr kumimoji="1" lang="en-US" altLang="zh-CN" sz="3200" dirty="0">
              <a:latin typeface="幼圆" panose="02010509060101010101" pitchFamily="49" charset="-122"/>
              <a:ea typeface="幼圆" panose="02010509060101010101" pitchFamily="49" charset="-122"/>
            </a:endParaRPr>
          </a:p>
          <a:p>
            <a:pPr algn="ctr" eaLnBrk="1" hangingPunct="1">
              <a:lnSpc>
                <a:spcPct val="150000"/>
              </a:lnSpc>
            </a:pPr>
            <a:r>
              <a:rPr kumimoji="1" lang="zh-CN" altLang="en-US" sz="3200" dirty="0">
                <a:latin typeface="幼圆" panose="02010509060101010101" pitchFamily="49" charset="-122"/>
                <a:ea typeface="幼圆" panose="02010509060101010101" pitchFamily="49" charset="-122"/>
              </a:rPr>
              <a:t>面向领域的其它相关课程</a:t>
            </a:r>
            <a:endParaRPr kumimoji="1" lang="en-US" altLang="zh-CN" sz="3200" dirty="0">
              <a:latin typeface="幼圆" panose="02010509060101010101" pitchFamily="49" charset="-122"/>
              <a:ea typeface="幼圆" panose="02010509060101010101" pitchFamily="49" charset="-122"/>
            </a:endParaRPr>
          </a:p>
          <a:p>
            <a:pPr algn="ctr" eaLnBrk="1" hangingPunct="1">
              <a:lnSpc>
                <a:spcPct val="150000"/>
              </a:lnSpc>
            </a:pPr>
            <a:r>
              <a:rPr kumimoji="1" lang="zh-CN" altLang="en-US" sz="3200" dirty="0">
                <a:solidFill>
                  <a:srgbClr val="FF0000"/>
                </a:solidFill>
                <a:latin typeface="幼圆" panose="02010509060101010101" pitchFamily="49" charset="-122"/>
                <a:ea typeface="幼圆" panose="02010509060101010101" pitchFamily="49" charset="-122"/>
              </a:rPr>
              <a:t>算法设计与分析</a:t>
            </a:r>
          </a:p>
          <a:p>
            <a:pPr algn="ctr" eaLnBrk="1" hangingPunct="1">
              <a:lnSpc>
                <a:spcPct val="150000"/>
              </a:lnSpc>
            </a:pPr>
            <a:r>
              <a:rPr kumimoji="1" lang="zh-CN" altLang="en-US" sz="3200" dirty="0">
                <a:latin typeface="幼圆" panose="02010509060101010101" pitchFamily="49" charset="-122"/>
                <a:ea typeface="幼圆" panose="02010509060101010101" pitchFamily="49" charset="-122"/>
              </a:rPr>
              <a:t>数据结构</a:t>
            </a:r>
          </a:p>
          <a:p>
            <a:pPr algn="ctr" eaLnBrk="1" hangingPunct="1">
              <a:lnSpc>
                <a:spcPct val="150000"/>
              </a:lnSpc>
            </a:pPr>
            <a:r>
              <a:rPr kumimoji="1" lang="zh-CN" altLang="en-US" sz="3200" dirty="0">
                <a:latin typeface="幼圆" panose="02010509060101010101" pitchFamily="49" charset="-122"/>
                <a:ea typeface="幼圆" panose="02010509060101010101" pitchFamily="49" charset="-122"/>
              </a:rPr>
              <a:t>程序设计基础</a:t>
            </a:r>
          </a:p>
        </p:txBody>
      </p:sp>
      <p:sp>
        <p:nvSpPr>
          <p:cNvPr id="7" name="Line 4"/>
          <p:cNvSpPr>
            <a:spLocks noChangeShapeType="1"/>
          </p:cNvSpPr>
          <p:nvPr/>
        </p:nvSpPr>
        <p:spPr bwMode="auto">
          <a:xfrm flipV="1">
            <a:off x="2639616" y="1880393"/>
            <a:ext cx="0" cy="3097213"/>
          </a:xfrm>
          <a:prstGeom prst="line">
            <a:avLst/>
          </a:prstGeom>
          <a:noFill/>
          <a:ln w="57150">
            <a:solidFill>
              <a:schemeClr val="accent1">
                <a:lumMod val="75000"/>
              </a:schemeClr>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幼圆" panose="02010509060101010101" pitchFamily="49" charset="-122"/>
              <a:ea typeface="幼圆" panose="02010509060101010101" pitchFamily="49" charset="-122"/>
            </a:endParaRPr>
          </a:p>
        </p:txBody>
      </p:sp>
      <p:sp>
        <p:nvSpPr>
          <p:cNvPr id="8" name="Line 5"/>
          <p:cNvSpPr>
            <a:spLocks noChangeShapeType="1"/>
          </p:cNvSpPr>
          <p:nvPr/>
        </p:nvSpPr>
        <p:spPr bwMode="auto">
          <a:xfrm>
            <a:off x="9120336" y="1880393"/>
            <a:ext cx="0" cy="3097213"/>
          </a:xfrm>
          <a:prstGeom prst="line">
            <a:avLst/>
          </a:prstGeom>
          <a:noFill/>
          <a:ln w="57150">
            <a:solidFill>
              <a:schemeClr val="tx2">
                <a:lumMod val="60000"/>
                <a:lumOff val="40000"/>
              </a:schemeClr>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幼圆" panose="02010509060101010101" pitchFamily="49" charset="-122"/>
              <a:ea typeface="幼圆" panose="02010509060101010101"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a:extLst>
              <a:ext uri="{FF2B5EF4-FFF2-40B4-BE49-F238E27FC236}">
                <a16:creationId xmlns:a16="http://schemas.microsoft.com/office/drawing/2014/main" id="{31690693-6C42-42AA-8D65-12BAE63B7737}"/>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SzTx/>
              <a:buFont typeface="Arial" panose="020B0604020202020204" pitchFamily="34" charset="0"/>
              <a:buNone/>
            </a:pPr>
            <a:fld id="{58BE126E-7F45-4B15-9940-73076E743B12}" type="slidenum">
              <a:rPr altLang="zh-CN" sz="1000"/>
              <a:pPr>
                <a:spcBef>
                  <a:spcPct val="0"/>
                </a:spcBef>
                <a:buClrTx/>
                <a:buSzTx/>
                <a:buFont typeface="Arial" panose="020B0604020202020204" pitchFamily="34" charset="0"/>
                <a:buNone/>
              </a:pPr>
              <a:t>6</a:t>
            </a:fld>
            <a:endParaRPr lang="zh-CN" altLang="zh-CN" sz="1000"/>
          </a:p>
        </p:txBody>
      </p:sp>
      <p:sp>
        <p:nvSpPr>
          <p:cNvPr id="396290" name="Rectangle 2">
            <a:extLst>
              <a:ext uri="{FF2B5EF4-FFF2-40B4-BE49-F238E27FC236}">
                <a16:creationId xmlns:a16="http://schemas.microsoft.com/office/drawing/2014/main" id="{8C24DE0F-EFAD-4EFC-9092-4933A3C2F6E6}"/>
              </a:ext>
            </a:extLst>
          </p:cNvPr>
          <p:cNvSpPr>
            <a:spLocks noGrp="1" noChangeArrowheads="1"/>
          </p:cNvSpPr>
          <p:nvPr>
            <p:ph type="title"/>
          </p:nvPr>
        </p:nvSpPr>
        <p:spPr>
          <a:xfrm>
            <a:off x="479376" y="383903"/>
            <a:ext cx="8229600" cy="833438"/>
          </a:xfrm>
        </p:spPr>
        <p:txBody>
          <a:bodyPr>
            <a:normAutofit/>
          </a:bodyPr>
          <a:lstStyle/>
          <a:p>
            <a:pPr eaLnBrk="1" hangingPunct="1">
              <a:defRPr/>
            </a:pPr>
            <a:r>
              <a:rPr lang="zh-CN" altLang="en-US" dirty="0"/>
              <a:t>面向领域的其它相关课程</a:t>
            </a:r>
          </a:p>
        </p:txBody>
      </p:sp>
      <p:sp>
        <p:nvSpPr>
          <p:cNvPr id="15364" name="Rectangle 3">
            <a:extLst>
              <a:ext uri="{FF2B5EF4-FFF2-40B4-BE49-F238E27FC236}">
                <a16:creationId xmlns:a16="http://schemas.microsoft.com/office/drawing/2014/main" id="{E6129327-4F05-4950-A2ED-93C771C1EF7D}"/>
              </a:ext>
            </a:extLst>
          </p:cNvPr>
          <p:cNvSpPr>
            <a:spLocks noGrp="1" noChangeArrowheads="1"/>
          </p:cNvSpPr>
          <p:nvPr>
            <p:ph idx="1"/>
          </p:nvPr>
        </p:nvSpPr>
        <p:spPr>
          <a:xfrm>
            <a:off x="876739" y="1527585"/>
            <a:ext cx="9683757" cy="5029117"/>
          </a:xfrm>
        </p:spPr>
        <p:txBody>
          <a:bodyPr>
            <a:normAutofit lnSpcReduction="10000"/>
          </a:bodyPr>
          <a:lstStyle/>
          <a:p>
            <a:pPr eaLnBrk="1" hangingPunct="1"/>
            <a:r>
              <a:rPr lang="zh-CN" altLang="en-US" dirty="0"/>
              <a:t>人工智能</a:t>
            </a:r>
            <a:endParaRPr lang="en-US" altLang="zh-CN" dirty="0"/>
          </a:p>
          <a:p>
            <a:pPr eaLnBrk="1" hangingPunct="1"/>
            <a:r>
              <a:rPr lang="zh-CN" altLang="en-US" dirty="0"/>
              <a:t>搜索引擎</a:t>
            </a:r>
            <a:endParaRPr lang="en-US" altLang="zh-CN" dirty="0"/>
          </a:p>
          <a:p>
            <a:pPr eaLnBrk="1" hangingPunct="1"/>
            <a:r>
              <a:rPr lang="zh-CN" altLang="en-US" dirty="0"/>
              <a:t>数据挖掘</a:t>
            </a:r>
            <a:r>
              <a:rPr lang="en-US" altLang="zh-CN" dirty="0"/>
              <a:t>/</a:t>
            </a:r>
            <a:r>
              <a:rPr lang="zh-CN" altLang="en-US" dirty="0"/>
              <a:t>机器学习</a:t>
            </a:r>
            <a:endParaRPr lang="en-US" altLang="zh-CN" dirty="0"/>
          </a:p>
          <a:p>
            <a:pPr eaLnBrk="1" hangingPunct="1"/>
            <a:r>
              <a:rPr lang="zh-CN" altLang="en-US" dirty="0"/>
              <a:t>深度学习</a:t>
            </a:r>
            <a:endParaRPr lang="en-US" altLang="zh-CN" dirty="0"/>
          </a:p>
          <a:p>
            <a:pPr eaLnBrk="1" hangingPunct="1"/>
            <a:r>
              <a:rPr lang="zh-CN" altLang="en-US" dirty="0"/>
              <a:t>地理信息系统</a:t>
            </a:r>
            <a:endParaRPr lang="en-US" altLang="zh-CN" dirty="0"/>
          </a:p>
          <a:p>
            <a:pPr eaLnBrk="1" hangingPunct="1"/>
            <a:r>
              <a:rPr lang="zh-CN" altLang="en-US" dirty="0"/>
              <a:t>图像处理</a:t>
            </a:r>
            <a:endParaRPr lang="en-US" altLang="zh-CN" dirty="0"/>
          </a:p>
          <a:p>
            <a:pPr eaLnBrk="1" hangingPunct="1"/>
            <a:r>
              <a:rPr lang="en-US" altLang="zh-CN" sz="2600" dirty="0"/>
              <a:t>…</a:t>
            </a:r>
          </a:p>
          <a:p>
            <a:pPr eaLnBrk="1" hangingPunct="1"/>
            <a:endParaRPr lang="en-US" altLang="zh-CN" sz="2600" dirty="0"/>
          </a:p>
          <a:p>
            <a:pPr marL="0" indent="0">
              <a:buNone/>
            </a:pPr>
            <a:r>
              <a:rPr lang="zh-CN" altLang="en-US" sz="2600" dirty="0"/>
              <a:t>侧重于学习某些或某类具体算法，或面向具体应用领域解决问题。</a:t>
            </a:r>
          </a:p>
        </p:txBody>
      </p:sp>
      <p:pic>
        <p:nvPicPr>
          <p:cNvPr id="5" name="图片 4">
            <a:extLst>
              <a:ext uri="{FF2B5EF4-FFF2-40B4-BE49-F238E27FC236}">
                <a16:creationId xmlns:a16="http://schemas.microsoft.com/office/drawing/2014/main" id="{00B448C0-8B1D-47A8-8456-9CDD69CA1F1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38592" y="3193103"/>
            <a:ext cx="2487161" cy="1468979"/>
          </a:xfrm>
          <a:prstGeom prst="rect">
            <a:avLst/>
          </a:prstGeom>
        </p:spPr>
      </p:pic>
      <p:pic>
        <p:nvPicPr>
          <p:cNvPr id="9" name="图片 8">
            <a:extLst>
              <a:ext uri="{FF2B5EF4-FFF2-40B4-BE49-F238E27FC236}">
                <a16:creationId xmlns:a16="http://schemas.microsoft.com/office/drawing/2014/main" id="{FBF404E5-4414-4701-9AE7-CF9B5E4A503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08976" y="1422338"/>
            <a:ext cx="2656337" cy="1701480"/>
          </a:xfrm>
          <a:prstGeom prst="rect">
            <a:avLst/>
          </a:prstGeom>
        </p:spPr>
      </p:pic>
      <p:pic>
        <p:nvPicPr>
          <p:cNvPr id="13" name="图片 12">
            <a:extLst>
              <a:ext uri="{FF2B5EF4-FFF2-40B4-BE49-F238E27FC236}">
                <a16:creationId xmlns:a16="http://schemas.microsoft.com/office/drawing/2014/main" id="{DB468B20-1985-491B-B7BF-67EA529B23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69415" y="1527585"/>
            <a:ext cx="2656338" cy="1355274"/>
          </a:xfrm>
          <a:prstGeom prst="rect">
            <a:avLst/>
          </a:prstGeom>
        </p:spPr>
      </p:pic>
      <p:pic>
        <p:nvPicPr>
          <p:cNvPr id="20" name="图片 19">
            <a:extLst>
              <a:ext uri="{FF2B5EF4-FFF2-40B4-BE49-F238E27FC236}">
                <a16:creationId xmlns:a16="http://schemas.microsoft.com/office/drawing/2014/main" id="{1D25F4E8-F963-4C5B-B80C-E38BCF67C71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901697" y="3243095"/>
            <a:ext cx="2452103" cy="1468979"/>
          </a:xfrm>
          <a:prstGeom prst="rect">
            <a:avLst/>
          </a:prstGeom>
        </p:spPr>
      </p:pic>
    </p:spTree>
    <p:extLst>
      <p:ext uri="{BB962C8B-B14F-4D97-AF65-F5344CB8AC3E}">
        <p14:creationId xmlns:p14="http://schemas.microsoft.com/office/powerpoint/2010/main" val="3641072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012575F-163D-B65C-25B2-19808AF15A87}"/>
              </a:ext>
            </a:extLst>
          </p:cNvPr>
          <p:cNvSpPr>
            <a:spLocks noGrp="1"/>
          </p:cNvSpPr>
          <p:nvPr>
            <p:ph type="sldNum" sz="quarter" idx="12"/>
          </p:nvPr>
        </p:nvSpPr>
        <p:spPr/>
        <p:txBody>
          <a:bodyPr/>
          <a:lstStyle/>
          <a:p>
            <a:pPr>
              <a:defRPr/>
            </a:pPr>
            <a:fld id="{C2224BEA-3C3F-4596-8550-1ADD053AC372}" type="slidenum">
              <a:rPr lang="en-US" altLang="zh-CN" smtClean="0"/>
              <a:pPr>
                <a:defRPr/>
              </a:pPr>
              <a:t>7</a:t>
            </a:fld>
            <a:endParaRPr lang="en-US" altLang="zh-CN"/>
          </a:p>
        </p:txBody>
      </p:sp>
      <p:pic>
        <p:nvPicPr>
          <p:cNvPr id="4" name="图片 3" descr="2018版培养方案课程课序">
            <a:extLst>
              <a:ext uri="{FF2B5EF4-FFF2-40B4-BE49-F238E27FC236}">
                <a16:creationId xmlns:a16="http://schemas.microsoft.com/office/drawing/2014/main" id="{E4EA23C0-4398-4AD7-7081-02DAEECEEFB6}"/>
              </a:ext>
            </a:extLst>
          </p:cNvPr>
          <p:cNvPicPr>
            <a:picLocks noChangeAspect="1"/>
          </p:cNvPicPr>
          <p:nvPr/>
        </p:nvPicPr>
        <p:blipFill>
          <a:blip r:embed="rId2"/>
          <a:stretch>
            <a:fillRect/>
          </a:stretch>
        </p:blipFill>
        <p:spPr>
          <a:xfrm>
            <a:off x="263352" y="183555"/>
            <a:ext cx="10657184" cy="6413797"/>
          </a:xfrm>
          <a:prstGeom prst="rect">
            <a:avLst/>
          </a:prstGeom>
        </p:spPr>
      </p:pic>
    </p:spTree>
    <p:extLst>
      <p:ext uri="{BB962C8B-B14F-4D97-AF65-F5344CB8AC3E}">
        <p14:creationId xmlns:p14="http://schemas.microsoft.com/office/powerpoint/2010/main" val="2099112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a:extLst>
              <a:ext uri="{FF2B5EF4-FFF2-40B4-BE49-F238E27FC236}">
                <a16:creationId xmlns:a16="http://schemas.microsoft.com/office/drawing/2014/main" id="{31690693-6C42-42AA-8D65-12BAE63B7737}"/>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SzTx/>
              <a:buFont typeface="Arial" panose="020B0604020202020204" pitchFamily="34" charset="0"/>
              <a:buNone/>
            </a:pPr>
            <a:fld id="{58BE126E-7F45-4B15-9940-73076E743B12}" type="slidenum">
              <a:rPr altLang="zh-CN" sz="1000"/>
              <a:pPr>
                <a:spcBef>
                  <a:spcPct val="0"/>
                </a:spcBef>
                <a:buClrTx/>
                <a:buSzTx/>
                <a:buFont typeface="Arial" panose="020B0604020202020204" pitchFamily="34" charset="0"/>
                <a:buNone/>
              </a:pPr>
              <a:t>8</a:t>
            </a:fld>
            <a:endParaRPr lang="zh-CN" altLang="zh-CN" sz="1000"/>
          </a:p>
        </p:txBody>
      </p:sp>
      <p:sp>
        <p:nvSpPr>
          <p:cNvPr id="396290" name="Rectangle 2">
            <a:extLst>
              <a:ext uri="{FF2B5EF4-FFF2-40B4-BE49-F238E27FC236}">
                <a16:creationId xmlns:a16="http://schemas.microsoft.com/office/drawing/2014/main" id="{8C24DE0F-EFAD-4EFC-9092-4933A3C2F6E6}"/>
              </a:ext>
            </a:extLst>
          </p:cNvPr>
          <p:cNvSpPr>
            <a:spLocks noGrp="1" noChangeArrowheads="1"/>
          </p:cNvSpPr>
          <p:nvPr>
            <p:ph type="title"/>
          </p:nvPr>
        </p:nvSpPr>
        <p:spPr>
          <a:xfrm>
            <a:off x="381000" y="492509"/>
            <a:ext cx="8229600" cy="1073102"/>
          </a:xfrm>
        </p:spPr>
        <p:txBody>
          <a:bodyPr>
            <a:normAutofit/>
          </a:bodyPr>
          <a:lstStyle/>
          <a:p>
            <a:pPr eaLnBrk="1" hangingPunct="1">
              <a:defRPr/>
            </a:pPr>
            <a:r>
              <a:rPr lang="zh-CN" altLang="en-US" dirty="0"/>
              <a:t>可计算性与计算复杂性</a:t>
            </a:r>
          </a:p>
        </p:txBody>
      </p:sp>
      <p:sp>
        <p:nvSpPr>
          <p:cNvPr id="15364" name="Rectangle 3">
            <a:extLst>
              <a:ext uri="{FF2B5EF4-FFF2-40B4-BE49-F238E27FC236}">
                <a16:creationId xmlns:a16="http://schemas.microsoft.com/office/drawing/2014/main" id="{E6129327-4F05-4950-A2ED-93C771C1EF7D}"/>
              </a:ext>
            </a:extLst>
          </p:cNvPr>
          <p:cNvSpPr>
            <a:spLocks noGrp="1" noChangeArrowheads="1"/>
          </p:cNvSpPr>
          <p:nvPr>
            <p:ph idx="1"/>
          </p:nvPr>
        </p:nvSpPr>
        <p:spPr>
          <a:xfrm>
            <a:off x="551384" y="2044937"/>
            <a:ext cx="8316912" cy="2951163"/>
          </a:xfrm>
        </p:spPr>
        <p:txBody>
          <a:bodyPr>
            <a:normAutofit fontScale="92500"/>
          </a:bodyPr>
          <a:lstStyle/>
          <a:p>
            <a:pPr marL="0" indent="0">
              <a:buNone/>
            </a:pPr>
            <a:r>
              <a:rPr lang="zh-CN" altLang="en-US" dirty="0"/>
              <a:t>研究生阶段，在理论层面研究：</a:t>
            </a:r>
            <a:endParaRPr lang="en-US" altLang="zh-CN" dirty="0"/>
          </a:p>
          <a:p>
            <a:pPr eaLnBrk="1" hangingPunct="1"/>
            <a:r>
              <a:rPr lang="zh-CN" altLang="en-US" dirty="0"/>
              <a:t>问题能否解决？（可计算）</a:t>
            </a:r>
            <a:endParaRPr lang="en-US" altLang="zh-CN" dirty="0"/>
          </a:p>
          <a:p>
            <a:pPr lvl="1" eaLnBrk="1" hangingPunct="1"/>
            <a:r>
              <a:rPr lang="zh-CN" altLang="en-US" sz="2200" dirty="0"/>
              <a:t>有些问题，不存在有效的解决方法；</a:t>
            </a:r>
            <a:endParaRPr lang="en-US" altLang="zh-CN" sz="2200" dirty="0"/>
          </a:p>
          <a:p>
            <a:pPr lvl="1" eaLnBrk="1" hangingPunct="1"/>
            <a:r>
              <a:rPr lang="zh-CN" altLang="en-US" sz="2200" dirty="0"/>
              <a:t>有些问题，理论上可解决，但依据目前的条件，解决得不好</a:t>
            </a:r>
            <a:r>
              <a:rPr lang="en-US" altLang="zh-CN" sz="2200" dirty="0"/>
              <a:t>…</a:t>
            </a:r>
          </a:p>
          <a:p>
            <a:pPr lvl="1" eaLnBrk="1" hangingPunct="1"/>
            <a:r>
              <a:rPr lang="zh-CN" altLang="en-US" sz="2200" dirty="0"/>
              <a:t>有些问题，理论上可解决，实际解决得也很好。</a:t>
            </a:r>
            <a:endParaRPr lang="en-US" altLang="zh-CN" sz="2200" dirty="0"/>
          </a:p>
          <a:p>
            <a:pPr eaLnBrk="1" hangingPunct="1"/>
            <a:r>
              <a:rPr lang="zh-CN" altLang="en-US" dirty="0"/>
              <a:t>问题解决得好不好？ （计算复杂性）</a:t>
            </a:r>
            <a:endParaRPr lang="zh-CN" altLang="en-US" sz="2600" dirty="0"/>
          </a:p>
        </p:txBody>
      </p:sp>
      <p:pic>
        <p:nvPicPr>
          <p:cNvPr id="3" name="图片 2">
            <a:extLst>
              <a:ext uri="{FF2B5EF4-FFF2-40B4-BE49-F238E27FC236}">
                <a16:creationId xmlns:a16="http://schemas.microsoft.com/office/drawing/2014/main" id="{E9E28B2A-1287-4A4D-8535-433FA8F18F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32104" y="1565611"/>
            <a:ext cx="3374992" cy="177187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a:extLst>
              <a:ext uri="{FF2B5EF4-FFF2-40B4-BE49-F238E27FC236}">
                <a16:creationId xmlns:a16="http://schemas.microsoft.com/office/drawing/2014/main" id="{7B08513B-662F-4BDA-B6C7-DF8FC7276996}"/>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SzTx/>
              <a:buFont typeface="Arial" panose="020B0604020202020204" pitchFamily="34" charset="0"/>
              <a:buNone/>
            </a:pPr>
            <a:fld id="{B89CA4A3-7690-4FB6-B7AC-3D994E1451B4}" type="slidenum">
              <a:rPr altLang="zh-CN" sz="1000"/>
              <a:pPr>
                <a:spcBef>
                  <a:spcPct val="0"/>
                </a:spcBef>
                <a:buClrTx/>
                <a:buSzTx/>
                <a:buFont typeface="Arial" panose="020B0604020202020204" pitchFamily="34" charset="0"/>
                <a:buNone/>
              </a:pPr>
              <a:t>9</a:t>
            </a:fld>
            <a:endParaRPr lang="zh-CN" altLang="zh-CN" sz="1000"/>
          </a:p>
        </p:txBody>
      </p:sp>
      <p:sp>
        <p:nvSpPr>
          <p:cNvPr id="401410" name="Rectangle 2">
            <a:extLst>
              <a:ext uri="{FF2B5EF4-FFF2-40B4-BE49-F238E27FC236}">
                <a16:creationId xmlns:a16="http://schemas.microsoft.com/office/drawing/2014/main" id="{B84CA0C9-7BB7-49EE-9A4C-FA07C45B94A8}"/>
              </a:ext>
            </a:extLst>
          </p:cNvPr>
          <p:cNvSpPr>
            <a:spLocks noGrp="1" noChangeArrowheads="1"/>
          </p:cNvSpPr>
          <p:nvPr>
            <p:ph type="title"/>
          </p:nvPr>
        </p:nvSpPr>
        <p:spPr>
          <a:xfrm>
            <a:off x="1271464" y="404664"/>
            <a:ext cx="8229600" cy="904875"/>
          </a:xfrm>
        </p:spPr>
        <p:txBody>
          <a:bodyPr>
            <a:normAutofit/>
          </a:bodyPr>
          <a:lstStyle/>
          <a:p>
            <a:pPr eaLnBrk="1" hangingPunct="1">
              <a:defRPr/>
            </a:pPr>
            <a:r>
              <a:rPr lang="zh-CN" altLang="en-US" dirty="0"/>
              <a:t>可计算性与计算复杂性研究范畴</a:t>
            </a:r>
          </a:p>
        </p:txBody>
      </p:sp>
      <p:sp>
        <p:nvSpPr>
          <p:cNvPr id="17412" name="Rectangle 3">
            <a:extLst>
              <a:ext uri="{FF2B5EF4-FFF2-40B4-BE49-F238E27FC236}">
                <a16:creationId xmlns:a16="http://schemas.microsoft.com/office/drawing/2014/main" id="{D0316866-56DD-4A92-86A4-3089B8E8E6CC}"/>
              </a:ext>
            </a:extLst>
          </p:cNvPr>
          <p:cNvSpPr>
            <a:spLocks noGrp="1" noChangeArrowheads="1"/>
          </p:cNvSpPr>
          <p:nvPr>
            <p:ph idx="1"/>
          </p:nvPr>
        </p:nvSpPr>
        <p:spPr>
          <a:xfrm>
            <a:off x="479376" y="1592263"/>
            <a:ext cx="10729191" cy="4616450"/>
          </a:xfrm>
        </p:spPr>
        <p:txBody>
          <a:bodyPr>
            <a:normAutofit fontScale="92500"/>
          </a:bodyPr>
          <a:lstStyle/>
          <a:p>
            <a:pPr eaLnBrk="1" hangingPunct="1">
              <a:lnSpc>
                <a:spcPct val="150000"/>
              </a:lnSpc>
            </a:pPr>
            <a:r>
              <a:rPr lang="zh-CN" altLang="en-US" dirty="0">
                <a:latin typeface="幼圆" panose="02010509060101010101" pitchFamily="49" charset="-122"/>
                <a:cs typeface="Times New Roman" panose="02020603050405020304" pitchFamily="18" charset="0"/>
              </a:rPr>
              <a:t>计算机虽然神通广大，还是在人的控制下工作；并非什么都能做，</a:t>
            </a:r>
            <a:r>
              <a:rPr lang="zh-CN" altLang="en-US" dirty="0">
                <a:solidFill>
                  <a:srgbClr val="C00000"/>
                </a:solidFill>
                <a:latin typeface="幼圆" panose="02010509060101010101" pitchFamily="49" charset="-122"/>
                <a:cs typeface="Times New Roman" panose="02020603050405020304" pitchFamily="18" charset="0"/>
              </a:rPr>
              <a:t>有的事情理论上做不了</a:t>
            </a:r>
            <a:r>
              <a:rPr lang="zh-CN" altLang="en-US" dirty="0">
                <a:latin typeface="幼圆" panose="02010509060101010101" pitchFamily="49" charset="-122"/>
                <a:cs typeface="Times New Roman" panose="02020603050405020304" pitchFamily="18" charset="0"/>
              </a:rPr>
              <a:t>。</a:t>
            </a:r>
          </a:p>
          <a:p>
            <a:pPr algn="just">
              <a:lnSpc>
                <a:spcPct val="150000"/>
              </a:lnSpc>
              <a:spcBef>
                <a:spcPct val="0"/>
              </a:spcBef>
            </a:pPr>
            <a:r>
              <a:rPr lang="zh-CN" altLang="en-US" dirty="0">
                <a:latin typeface="幼圆" panose="02010509060101010101" pitchFamily="49" charset="-122"/>
                <a:cs typeface="Times New Roman" panose="02020603050405020304" pitchFamily="18" charset="0"/>
              </a:rPr>
              <a:t>讨论计算机哪些事能做，哪些事做不了，属于</a:t>
            </a:r>
            <a:r>
              <a:rPr lang="zh-CN" altLang="en-US" dirty="0">
                <a:solidFill>
                  <a:srgbClr val="FF0000"/>
                </a:solidFill>
                <a:latin typeface="幼圆" panose="02010509060101010101" pitchFamily="49" charset="-122"/>
                <a:cs typeface="Times New Roman" panose="02020603050405020304" pitchFamily="18" charset="0"/>
              </a:rPr>
              <a:t>可计算性</a:t>
            </a:r>
            <a:r>
              <a:rPr lang="zh-CN" altLang="en-US" dirty="0">
                <a:latin typeface="幼圆" panose="02010509060101010101" pitchFamily="49" charset="-122"/>
                <a:cs typeface="Times New Roman" panose="02020603050405020304" pitchFamily="18" charset="0"/>
              </a:rPr>
              <a:t>理论研究的范畴。</a:t>
            </a:r>
            <a:endParaRPr lang="en-US" altLang="zh-CN" dirty="0">
              <a:latin typeface="幼圆" panose="02010509060101010101" pitchFamily="49" charset="-122"/>
              <a:cs typeface="Times New Roman" panose="02020603050405020304" pitchFamily="18" charset="0"/>
            </a:endParaRPr>
          </a:p>
          <a:p>
            <a:pPr eaLnBrk="1" hangingPunct="1">
              <a:lnSpc>
                <a:spcPct val="150000"/>
              </a:lnSpc>
            </a:pPr>
            <a:r>
              <a:rPr lang="zh-CN" altLang="en-US" dirty="0">
                <a:latin typeface="幼圆" panose="02010509060101010101" pitchFamily="49" charset="-122"/>
                <a:cs typeface="Times New Roman" panose="02020603050405020304" pitchFamily="18" charset="0"/>
              </a:rPr>
              <a:t>可计算的问题</a:t>
            </a:r>
            <a:r>
              <a:rPr lang="en-US" altLang="zh-CN" dirty="0">
                <a:latin typeface="幼圆" panose="02010509060101010101" pitchFamily="49" charset="-122"/>
                <a:cs typeface="Times New Roman" panose="02020603050405020304" pitchFamily="18" charset="0"/>
              </a:rPr>
              <a:t>-</a:t>
            </a:r>
            <a:r>
              <a:rPr lang="zh-CN" altLang="en-US" dirty="0">
                <a:solidFill>
                  <a:srgbClr val="FF0000"/>
                </a:solidFill>
                <a:latin typeface="幼圆" panose="02010509060101010101" pitchFamily="49" charset="-122"/>
                <a:cs typeface="Times New Roman" panose="02020603050405020304" pitchFamily="18" charset="0"/>
              </a:rPr>
              <a:t>例</a:t>
            </a:r>
            <a:r>
              <a:rPr lang="zh-CN" altLang="en-US" dirty="0">
                <a:latin typeface="幼圆" panose="02010509060101010101" pitchFamily="49" charset="-122"/>
                <a:cs typeface="Times New Roman" panose="02020603050405020304" pitchFamily="18" charset="0"/>
              </a:rPr>
              <a:t>：</a:t>
            </a:r>
            <a:r>
              <a:rPr lang="en-US" altLang="zh-CN" dirty="0">
                <a:latin typeface="幼圆" panose="02010509060101010101" pitchFamily="49" charset="-122"/>
                <a:cs typeface="Times New Roman" panose="02020603050405020304" pitchFamily="18" charset="0"/>
              </a:rPr>
              <a:t>26</a:t>
            </a:r>
            <a:r>
              <a:rPr lang="zh-CN" altLang="en-US" dirty="0">
                <a:latin typeface="幼圆" panose="02010509060101010101" pitchFamily="49" charset="-122"/>
                <a:cs typeface="Times New Roman" panose="02020603050405020304" pitchFamily="18" charset="0"/>
              </a:rPr>
              <a:t>个英文字母全排列，排列数为 </a:t>
            </a:r>
            <a:r>
              <a:rPr lang="en-US" altLang="zh-CN" dirty="0">
                <a:latin typeface="幼圆" panose="02010509060101010101" pitchFamily="49" charset="-122"/>
                <a:cs typeface="Times New Roman" panose="02020603050405020304" pitchFamily="18" charset="0"/>
              </a:rPr>
              <a:t>26</a:t>
            </a:r>
            <a:r>
              <a:rPr lang="zh-CN" altLang="en-US" dirty="0">
                <a:latin typeface="幼圆" panose="02010509060101010101" pitchFamily="49" charset="-122"/>
                <a:cs typeface="Times New Roman" panose="02020603050405020304" pitchFamily="18" charset="0"/>
              </a:rPr>
              <a:t>！≈</a:t>
            </a:r>
            <a:r>
              <a:rPr lang="en-US" altLang="zh-CN" dirty="0">
                <a:latin typeface="幼圆" panose="02010509060101010101" pitchFamily="49" charset="-122"/>
                <a:cs typeface="Times New Roman" panose="02020603050405020304" pitchFamily="18" charset="0"/>
              </a:rPr>
              <a:t>4×10</a:t>
            </a:r>
            <a:r>
              <a:rPr lang="en-US" altLang="zh-CN" baseline="30000" dirty="0">
                <a:latin typeface="幼圆" panose="02010509060101010101" pitchFamily="49" charset="-122"/>
                <a:cs typeface="Times New Roman" panose="02020603050405020304" pitchFamily="18" charset="0"/>
              </a:rPr>
              <a:t>26</a:t>
            </a:r>
            <a:r>
              <a:rPr lang="zh-CN" altLang="en-US" dirty="0">
                <a:latin typeface="幼圆" panose="02010509060101010101" pitchFamily="49" charset="-122"/>
                <a:cs typeface="Times New Roman" panose="02020603050405020304" pitchFamily="18" charset="0"/>
              </a:rPr>
              <a:t>；每年有</a:t>
            </a:r>
            <a:r>
              <a:rPr lang="en-US" altLang="zh-CN" dirty="0">
                <a:latin typeface="幼圆" panose="02010509060101010101" pitchFamily="49" charset="-122"/>
                <a:cs typeface="Times New Roman" panose="02020603050405020304" pitchFamily="18" charset="0"/>
              </a:rPr>
              <a:t>365×24×3600</a:t>
            </a:r>
            <a:r>
              <a:rPr lang="zh-CN" altLang="en-US" dirty="0">
                <a:latin typeface="幼圆" panose="02010509060101010101" pitchFamily="49" charset="-122"/>
                <a:cs typeface="Times New Roman" panose="02020603050405020304" pitchFamily="18" charset="0"/>
              </a:rPr>
              <a:t>＝</a:t>
            </a:r>
            <a:r>
              <a:rPr lang="en-US" altLang="zh-CN" dirty="0">
                <a:latin typeface="幼圆" panose="02010509060101010101" pitchFamily="49" charset="-122"/>
                <a:cs typeface="Times New Roman" panose="02020603050405020304" pitchFamily="18" charset="0"/>
              </a:rPr>
              <a:t>3.1536×10</a:t>
            </a:r>
            <a:r>
              <a:rPr lang="en-US" altLang="zh-CN" baseline="30000" dirty="0">
                <a:latin typeface="幼圆" panose="02010509060101010101" pitchFamily="49" charset="-122"/>
                <a:cs typeface="Times New Roman" panose="02020603050405020304" pitchFamily="18" charset="0"/>
              </a:rPr>
              <a:t>7</a:t>
            </a:r>
            <a:r>
              <a:rPr lang="zh-CN" altLang="en-US" dirty="0">
                <a:latin typeface="幼圆" panose="02010509060101010101" pitchFamily="49" charset="-122"/>
                <a:cs typeface="Times New Roman" panose="02020603050405020304" pitchFamily="18" charset="0"/>
              </a:rPr>
              <a:t>秒。每秒能完成</a:t>
            </a:r>
            <a:r>
              <a:rPr lang="en-US" altLang="zh-CN" dirty="0">
                <a:latin typeface="幼圆" panose="02010509060101010101" pitchFamily="49" charset="-122"/>
                <a:cs typeface="Times New Roman" panose="02020603050405020304" pitchFamily="18" charset="0"/>
              </a:rPr>
              <a:t>10</a:t>
            </a:r>
            <a:r>
              <a:rPr lang="en-US" altLang="zh-CN" baseline="30000" dirty="0">
                <a:latin typeface="幼圆" panose="02010509060101010101" pitchFamily="49" charset="-122"/>
                <a:cs typeface="Times New Roman" panose="02020603050405020304" pitchFamily="18" charset="0"/>
              </a:rPr>
              <a:t>7</a:t>
            </a:r>
            <a:r>
              <a:rPr lang="zh-CN" altLang="en-US" dirty="0">
                <a:latin typeface="幼圆" panose="02010509060101010101" pitchFamily="49" charset="-122"/>
                <a:cs typeface="Times New Roman" panose="02020603050405020304" pitchFamily="18" charset="0"/>
              </a:rPr>
              <a:t>个排列的计算机来做这项工作，需要 </a:t>
            </a:r>
            <a:r>
              <a:rPr lang="en-US" altLang="zh-CN" dirty="0">
                <a:latin typeface="幼圆" panose="02010509060101010101" pitchFamily="49" charset="-122"/>
                <a:cs typeface="Times New Roman" panose="02020603050405020304" pitchFamily="18" charset="0"/>
              </a:rPr>
              <a:t>4×10</a:t>
            </a:r>
            <a:r>
              <a:rPr lang="en-US" altLang="zh-CN" baseline="30000" dirty="0">
                <a:latin typeface="幼圆" panose="02010509060101010101" pitchFamily="49" charset="-122"/>
                <a:cs typeface="Times New Roman" panose="02020603050405020304" pitchFamily="18" charset="0"/>
              </a:rPr>
              <a:t>26</a:t>
            </a:r>
            <a:r>
              <a:rPr lang="en-US" altLang="zh-CN" dirty="0">
                <a:latin typeface="幼圆" panose="02010509060101010101" pitchFamily="49" charset="-122"/>
                <a:cs typeface="Times New Roman" panose="02020603050405020304" pitchFamily="18" charset="0"/>
              </a:rPr>
              <a:t>/(3.1536×10</a:t>
            </a:r>
            <a:r>
              <a:rPr lang="en-US" altLang="zh-CN" baseline="30000" dirty="0">
                <a:latin typeface="幼圆" panose="02010509060101010101" pitchFamily="49" charset="-122"/>
                <a:cs typeface="Times New Roman" panose="02020603050405020304" pitchFamily="18" charset="0"/>
              </a:rPr>
              <a:t>7</a:t>
            </a:r>
            <a:r>
              <a:rPr lang="en-US" altLang="zh-CN" dirty="0">
                <a:latin typeface="幼圆" panose="02010509060101010101" pitchFamily="49" charset="-122"/>
                <a:cs typeface="Times New Roman" panose="02020603050405020304" pitchFamily="18" charset="0"/>
              </a:rPr>
              <a:t>×10</a:t>
            </a:r>
            <a:r>
              <a:rPr lang="en-US" altLang="zh-CN" baseline="30000" dirty="0">
                <a:latin typeface="幼圆" panose="02010509060101010101" pitchFamily="49" charset="-122"/>
                <a:cs typeface="Times New Roman" panose="02020603050405020304" pitchFamily="18" charset="0"/>
              </a:rPr>
              <a:t>7</a:t>
            </a:r>
            <a:r>
              <a:rPr lang="en-US" altLang="zh-CN" dirty="0">
                <a:latin typeface="幼圆" panose="02010509060101010101" pitchFamily="49" charset="-122"/>
                <a:cs typeface="Times New Roman" panose="02020603050405020304" pitchFamily="18" charset="0"/>
              </a:rPr>
              <a:t>)≈1.2×10</a:t>
            </a:r>
            <a:r>
              <a:rPr lang="en-US" altLang="zh-CN" baseline="30000" dirty="0">
                <a:latin typeface="幼圆" panose="02010509060101010101" pitchFamily="49" charset="-122"/>
                <a:cs typeface="Times New Roman" panose="02020603050405020304" pitchFamily="18" charset="0"/>
              </a:rPr>
              <a:t>12</a:t>
            </a:r>
            <a:r>
              <a:rPr lang="zh-CN" altLang="en-US" dirty="0">
                <a:latin typeface="幼圆" panose="02010509060101010101" pitchFamily="49" charset="-122"/>
                <a:cs typeface="Times New Roman" panose="02020603050405020304" pitchFamily="18" charset="0"/>
              </a:rPr>
              <a:t>年。</a:t>
            </a:r>
          </a:p>
          <a:p>
            <a:pPr algn="just" eaLnBrk="1" hangingPunct="1">
              <a:lnSpc>
                <a:spcPct val="110000"/>
              </a:lnSpc>
              <a:spcBef>
                <a:spcPct val="0"/>
              </a:spcBef>
            </a:pPr>
            <a:endParaRPr lang="zh-CN" altLang="en-US"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a:extLst>
              <a:ext uri="{FF2B5EF4-FFF2-40B4-BE49-F238E27FC236}">
                <a16:creationId xmlns:a16="http://schemas.microsoft.com/office/drawing/2014/main" id="{3178B147-15F5-4DB0-A43A-803094E3386C}"/>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SzTx/>
              <a:buFont typeface="Arial" panose="020B0604020202020204" pitchFamily="34" charset="0"/>
              <a:buNone/>
            </a:pPr>
            <a:fld id="{73873112-3C50-4230-B5E9-056DCCAB9E48}" type="slidenum">
              <a:rPr altLang="zh-CN" sz="1000"/>
              <a:pPr>
                <a:spcBef>
                  <a:spcPct val="0"/>
                </a:spcBef>
                <a:buClrTx/>
                <a:buSzTx/>
                <a:buFont typeface="Arial" panose="020B0604020202020204" pitchFamily="34" charset="0"/>
                <a:buNone/>
              </a:pPr>
              <a:t>10</a:t>
            </a:fld>
            <a:endParaRPr lang="zh-CN" altLang="zh-CN" sz="1000"/>
          </a:p>
        </p:txBody>
      </p:sp>
      <p:sp>
        <p:nvSpPr>
          <p:cNvPr id="22531" name="Rectangle 2">
            <a:extLst>
              <a:ext uri="{FF2B5EF4-FFF2-40B4-BE49-F238E27FC236}">
                <a16:creationId xmlns:a16="http://schemas.microsoft.com/office/drawing/2014/main" id="{640FCC03-558E-40B8-92BE-F015003B211A}"/>
              </a:ext>
            </a:extLst>
          </p:cNvPr>
          <p:cNvSpPr>
            <a:spLocks noGrp="1" noChangeArrowheads="1"/>
          </p:cNvSpPr>
          <p:nvPr>
            <p:ph idx="1"/>
          </p:nvPr>
        </p:nvSpPr>
        <p:spPr>
          <a:xfrm>
            <a:off x="695400" y="1540944"/>
            <a:ext cx="10801200" cy="4824412"/>
          </a:xfrm>
        </p:spPr>
        <p:txBody>
          <a:bodyPr/>
          <a:lstStyle/>
          <a:p>
            <a:pPr eaLnBrk="1" hangingPunct="1">
              <a:lnSpc>
                <a:spcPct val="150000"/>
              </a:lnSpc>
              <a:defRPr/>
            </a:pPr>
            <a:r>
              <a:rPr lang="zh-CN" altLang="en-US" sz="2600" dirty="0">
                <a:latin typeface="幼圆" panose="02010509060101010101" pitchFamily="49" charset="-122"/>
              </a:rPr>
              <a:t>面向理论上计算机</a:t>
            </a:r>
            <a:r>
              <a:rPr lang="zh-CN" altLang="en-US" sz="2600" dirty="0">
                <a:solidFill>
                  <a:srgbClr val="C00000"/>
                </a:solidFill>
                <a:latin typeface="幼圆" panose="02010509060101010101" pitchFamily="49" charset="-122"/>
              </a:rPr>
              <a:t>能够解决</a:t>
            </a:r>
            <a:r>
              <a:rPr lang="zh-CN" altLang="en-US" sz="2600" dirty="0">
                <a:latin typeface="幼圆" panose="02010509060101010101" pitchFamily="49" charset="-122"/>
              </a:rPr>
              <a:t>的问题。</a:t>
            </a:r>
            <a:endParaRPr lang="en-US" altLang="zh-CN" sz="2600" dirty="0">
              <a:latin typeface="幼圆" panose="02010509060101010101" pitchFamily="49" charset="-122"/>
            </a:endParaRPr>
          </a:p>
          <a:p>
            <a:pPr lvl="1" eaLnBrk="1" hangingPunct="1">
              <a:lnSpc>
                <a:spcPct val="150000"/>
              </a:lnSpc>
              <a:defRPr/>
            </a:pPr>
            <a:r>
              <a:rPr lang="zh-CN" altLang="en-US" sz="2600" dirty="0">
                <a:latin typeface="幼圆" panose="02010509060101010101" pitchFamily="49" charset="-122"/>
              </a:rPr>
              <a:t>要设计或选择较好的、可行的算法。</a:t>
            </a:r>
          </a:p>
          <a:p>
            <a:pPr lvl="1">
              <a:lnSpc>
                <a:spcPct val="150000"/>
              </a:lnSpc>
              <a:defRPr/>
            </a:pPr>
            <a:r>
              <a:rPr lang="zh-CN" altLang="en-US" sz="2600" dirty="0">
                <a:solidFill>
                  <a:srgbClr val="C00000"/>
                </a:solidFill>
                <a:latin typeface="幼圆" panose="02010509060101010101" pitchFamily="49" charset="-122"/>
              </a:rPr>
              <a:t>衡量算法的优劣好坏</a:t>
            </a:r>
            <a:r>
              <a:rPr lang="zh-CN" altLang="en-US" sz="2600" dirty="0">
                <a:latin typeface="幼圆" panose="02010509060101010101" pitchFamily="49" charset="-122"/>
              </a:rPr>
              <a:t>，对算法的计算时间和存储空间做定量的分析。（占用资源少，时间及空间效率高、复杂性低）。</a:t>
            </a:r>
            <a:endParaRPr lang="en-US" altLang="zh-CN" sz="2600" dirty="0">
              <a:latin typeface="幼圆" panose="02010509060101010101" pitchFamily="49" charset="-122"/>
            </a:endParaRPr>
          </a:p>
          <a:p>
            <a:pPr marL="0" indent="0">
              <a:buNone/>
              <a:defRPr/>
            </a:pPr>
            <a:endParaRPr lang="en-US" altLang="zh-CN" sz="2600" dirty="0">
              <a:latin typeface="幼圆" panose="02010509060101010101" pitchFamily="49" charset="-122"/>
            </a:endParaRPr>
          </a:p>
          <a:p>
            <a:pPr marL="0" indent="0">
              <a:buNone/>
              <a:defRPr/>
            </a:pPr>
            <a:r>
              <a:rPr lang="zh-CN" altLang="en-US" sz="2600" dirty="0">
                <a:latin typeface="幼圆" panose="02010509060101010101" pitchFamily="49" charset="-122"/>
              </a:rPr>
              <a:t>注：本课程的计算机是指与图灵机计算能力等价的、冯诺伊曼体系结构计算机，即</a:t>
            </a:r>
            <a:r>
              <a:rPr lang="zh-CN" altLang="en-US" sz="2600" dirty="0">
                <a:solidFill>
                  <a:srgbClr val="C00000"/>
                </a:solidFill>
                <a:latin typeface="幼圆" panose="02010509060101010101" pitchFamily="49" charset="-122"/>
              </a:rPr>
              <a:t>确定性图灵机</a:t>
            </a:r>
            <a:r>
              <a:rPr lang="zh-CN" altLang="en-US" sz="2600" dirty="0">
                <a:latin typeface="幼圆" panose="02010509060101010101" pitchFamily="49" charset="-122"/>
              </a:rPr>
              <a:t>；不适用于其他计算机模型，如量子计算机是非确定性图灵机，其算法和计算复杂性完全不同。</a:t>
            </a:r>
          </a:p>
          <a:p>
            <a:pPr eaLnBrk="1" hangingPunct="1">
              <a:lnSpc>
                <a:spcPct val="110000"/>
              </a:lnSpc>
              <a:defRPr/>
            </a:pPr>
            <a:endParaRPr lang="zh-CN" altLang="en-US" b="1" dirty="0"/>
          </a:p>
        </p:txBody>
      </p:sp>
      <p:sp>
        <p:nvSpPr>
          <p:cNvPr id="405507" name="Rectangle 3">
            <a:extLst>
              <a:ext uri="{FF2B5EF4-FFF2-40B4-BE49-F238E27FC236}">
                <a16:creationId xmlns:a16="http://schemas.microsoft.com/office/drawing/2014/main" id="{23F44034-482C-417D-91AF-AEEEFAB9DEC5}"/>
              </a:ext>
            </a:extLst>
          </p:cNvPr>
          <p:cNvSpPr>
            <a:spLocks noGrp="1" noChangeArrowheads="1"/>
          </p:cNvSpPr>
          <p:nvPr>
            <p:ph type="title"/>
          </p:nvPr>
        </p:nvSpPr>
        <p:spPr>
          <a:xfrm>
            <a:off x="551384" y="492035"/>
            <a:ext cx="8229600" cy="1046163"/>
          </a:xfrm>
        </p:spPr>
        <p:txBody>
          <a:bodyPr anchor="ctr">
            <a:normAutofit/>
          </a:bodyPr>
          <a:lstStyle/>
          <a:p>
            <a:pPr eaLnBrk="1" hangingPunct="1">
              <a:defRPr/>
            </a:pPr>
            <a:r>
              <a:rPr lang="zh-CN" altLang="en-US" dirty="0"/>
              <a:t>算法分析研究范畴</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a:extLst>
              <a:ext uri="{FF2B5EF4-FFF2-40B4-BE49-F238E27FC236}">
                <a16:creationId xmlns:a16="http://schemas.microsoft.com/office/drawing/2014/main" id="{BC3EA667-A631-4F54-AAD2-B0CAA219A0C2}"/>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SzTx/>
              <a:buFont typeface="Arial" panose="020B0604020202020204" pitchFamily="34" charset="0"/>
              <a:buNone/>
            </a:pPr>
            <a:fld id="{E35B3C55-2AD3-419A-8F3F-C679A8992036}" type="slidenum">
              <a:rPr altLang="zh-CN" sz="1000"/>
              <a:pPr>
                <a:spcBef>
                  <a:spcPct val="0"/>
                </a:spcBef>
                <a:buClrTx/>
                <a:buSzTx/>
                <a:buFont typeface="Arial" panose="020B0604020202020204" pitchFamily="34" charset="0"/>
                <a:buNone/>
              </a:pPr>
              <a:t>11</a:t>
            </a:fld>
            <a:endParaRPr lang="zh-CN" altLang="zh-CN" sz="1000"/>
          </a:p>
        </p:txBody>
      </p:sp>
      <p:sp>
        <p:nvSpPr>
          <p:cNvPr id="408578" name="Rectangle 2">
            <a:extLst>
              <a:ext uri="{FF2B5EF4-FFF2-40B4-BE49-F238E27FC236}">
                <a16:creationId xmlns:a16="http://schemas.microsoft.com/office/drawing/2014/main" id="{31F135E6-3D5E-4EF7-8620-CC9572AA0F74}"/>
              </a:ext>
            </a:extLst>
          </p:cNvPr>
          <p:cNvSpPr>
            <a:spLocks noGrp="1" noChangeArrowheads="1"/>
          </p:cNvSpPr>
          <p:nvPr>
            <p:ph type="title"/>
          </p:nvPr>
        </p:nvSpPr>
        <p:spPr>
          <a:xfrm>
            <a:off x="775558" y="349731"/>
            <a:ext cx="8229600" cy="904875"/>
          </a:xfrm>
        </p:spPr>
        <p:txBody>
          <a:bodyPr>
            <a:normAutofit fontScale="90000"/>
          </a:bodyPr>
          <a:lstStyle/>
          <a:p>
            <a:pPr eaLnBrk="1" hangingPunct="1">
              <a:defRPr/>
            </a:pPr>
            <a:r>
              <a:rPr lang="zh-CN" altLang="en-US" dirty="0"/>
              <a:t>算法分析研究范畴</a:t>
            </a:r>
            <a:r>
              <a:rPr lang="en-US" altLang="zh-CN" dirty="0"/>
              <a:t>—</a:t>
            </a:r>
            <a:r>
              <a:rPr lang="zh-CN" altLang="en-US" dirty="0"/>
              <a:t>非数值计算问题</a:t>
            </a:r>
          </a:p>
        </p:txBody>
      </p:sp>
      <p:sp>
        <p:nvSpPr>
          <p:cNvPr id="21508" name="Rectangle 3">
            <a:extLst>
              <a:ext uri="{FF2B5EF4-FFF2-40B4-BE49-F238E27FC236}">
                <a16:creationId xmlns:a16="http://schemas.microsoft.com/office/drawing/2014/main" id="{F0EB2121-E672-452D-B045-E6AC087B6DF2}"/>
              </a:ext>
            </a:extLst>
          </p:cNvPr>
          <p:cNvSpPr>
            <a:spLocks noGrp="1" noChangeArrowheads="1"/>
          </p:cNvSpPr>
          <p:nvPr>
            <p:ph idx="1"/>
          </p:nvPr>
        </p:nvSpPr>
        <p:spPr>
          <a:xfrm>
            <a:off x="743333" y="2495525"/>
            <a:ext cx="4950507" cy="3202224"/>
          </a:xfrm>
        </p:spPr>
        <p:txBody>
          <a:bodyPr>
            <a:normAutofit fontScale="92500" lnSpcReduction="20000"/>
          </a:bodyPr>
          <a:lstStyle/>
          <a:p>
            <a:pPr marL="0" indent="0">
              <a:lnSpc>
                <a:spcPct val="120000"/>
              </a:lnSpc>
              <a:buNone/>
            </a:pPr>
            <a:r>
              <a:rPr lang="zh-CN" altLang="en-US" sz="2400" dirty="0">
                <a:solidFill>
                  <a:srgbClr val="C00000"/>
                </a:solidFill>
                <a:latin typeface="幼圆" panose="02010509060101010101" pitchFamily="49" charset="-122"/>
              </a:rPr>
              <a:t>几个典型的非数值计算问题</a:t>
            </a:r>
            <a:endParaRPr lang="en-US" altLang="zh-CN" sz="2400" dirty="0">
              <a:solidFill>
                <a:srgbClr val="C00000"/>
              </a:solidFill>
              <a:latin typeface="幼圆" panose="02010509060101010101" pitchFamily="49" charset="-122"/>
            </a:endParaRPr>
          </a:p>
          <a:p>
            <a:pPr eaLnBrk="1" hangingPunct="1">
              <a:lnSpc>
                <a:spcPct val="120000"/>
              </a:lnSpc>
            </a:pPr>
            <a:r>
              <a:rPr lang="en-US" altLang="zh-CN" sz="2400" dirty="0">
                <a:latin typeface="幼圆" panose="02010509060101010101" pitchFamily="49" charset="-122"/>
              </a:rPr>
              <a:t>n</a:t>
            </a:r>
            <a:r>
              <a:rPr lang="zh-CN" altLang="en-US" sz="2400" dirty="0">
                <a:latin typeface="幼圆" panose="02010509060101010101" pitchFamily="49" charset="-122"/>
              </a:rPr>
              <a:t>皇后问题</a:t>
            </a:r>
          </a:p>
          <a:p>
            <a:pPr eaLnBrk="1" hangingPunct="1">
              <a:lnSpc>
                <a:spcPct val="120000"/>
              </a:lnSpc>
            </a:pPr>
            <a:r>
              <a:rPr lang="zh-CN" altLang="en-US" sz="2400" dirty="0">
                <a:latin typeface="幼圆" panose="02010509060101010101" pitchFamily="49" charset="-122"/>
              </a:rPr>
              <a:t>巡回推销员问题</a:t>
            </a:r>
          </a:p>
          <a:p>
            <a:pPr eaLnBrk="1" hangingPunct="1">
              <a:lnSpc>
                <a:spcPct val="120000"/>
              </a:lnSpc>
            </a:pPr>
            <a:r>
              <a:rPr lang="zh-CN" altLang="en-US" sz="2400" dirty="0">
                <a:latin typeface="幼圆" panose="02010509060101010101" pitchFamily="49" charset="-122"/>
              </a:rPr>
              <a:t>数独问题</a:t>
            </a:r>
            <a:endParaRPr lang="en-US" altLang="zh-CN" sz="2400" dirty="0">
              <a:latin typeface="幼圆" panose="02010509060101010101" pitchFamily="49" charset="-122"/>
            </a:endParaRPr>
          </a:p>
          <a:p>
            <a:pPr eaLnBrk="1" hangingPunct="1">
              <a:lnSpc>
                <a:spcPct val="120000"/>
              </a:lnSpc>
            </a:pPr>
            <a:r>
              <a:rPr lang="zh-CN" altLang="en-US" sz="2400" dirty="0">
                <a:latin typeface="幼圆" panose="02010509060101010101" pitchFamily="49" charset="-122"/>
              </a:rPr>
              <a:t>背包问题</a:t>
            </a:r>
            <a:endParaRPr lang="en-US" altLang="zh-CN" sz="2400" dirty="0">
              <a:latin typeface="幼圆" panose="02010509060101010101" pitchFamily="49" charset="-122"/>
            </a:endParaRPr>
          </a:p>
          <a:p>
            <a:pPr eaLnBrk="1" hangingPunct="1">
              <a:lnSpc>
                <a:spcPct val="120000"/>
              </a:lnSpc>
            </a:pPr>
            <a:r>
              <a:rPr lang="zh-CN" altLang="en-US" sz="2400" dirty="0">
                <a:latin typeface="幼圆" panose="02010509060101010101" pitchFamily="49" charset="-122"/>
              </a:rPr>
              <a:t>图着色问题</a:t>
            </a:r>
            <a:endParaRPr lang="en-US" altLang="zh-CN" sz="2400" dirty="0">
              <a:latin typeface="幼圆" panose="02010509060101010101" pitchFamily="49" charset="-122"/>
            </a:endParaRPr>
          </a:p>
          <a:p>
            <a:pPr eaLnBrk="1" hangingPunct="1">
              <a:lnSpc>
                <a:spcPct val="120000"/>
              </a:lnSpc>
            </a:pPr>
            <a:r>
              <a:rPr lang="en-US" altLang="zh-CN" sz="2400" dirty="0">
                <a:latin typeface="幼圆" panose="02010509060101010101" pitchFamily="49" charset="-122"/>
              </a:rPr>
              <a:t>…</a:t>
            </a:r>
            <a:endParaRPr lang="zh-CN" altLang="en-US" sz="2400" dirty="0">
              <a:latin typeface="幼圆" panose="02010509060101010101" pitchFamily="49" charset="-122"/>
            </a:endParaRPr>
          </a:p>
        </p:txBody>
      </p:sp>
      <p:pic>
        <p:nvPicPr>
          <p:cNvPr id="21510" name="Picture 4" descr="44">
            <a:extLst>
              <a:ext uri="{FF2B5EF4-FFF2-40B4-BE49-F238E27FC236}">
                <a16:creationId xmlns:a16="http://schemas.microsoft.com/office/drawing/2014/main" id="{612621DD-DC0B-40A7-BF1F-884F8410BE3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31625" t="12505" r="38680" b="25891"/>
          <a:stretch>
            <a:fillRect/>
          </a:stretch>
        </p:blipFill>
        <p:spPr bwMode="auto">
          <a:xfrm>
            <a:off x="6094242" y="2658762"/>
            <a:ext cx="1728787" cy="139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25C6166D-29B1-4FD2-BA2F-DF52D1C5302D}"/>
              </a:ext>
            </a:extLst>
          </p:cNvPr>
          <p:cNvSpPr txBox="1"/>
          <p:nvPr/>
        </p:nvSpPr>
        <p:spPr>
          <a:xfrm>
            <a:off x="680870" y="1251401"/>
            <a:ext cx="10815730" cy="988797"/>
          </a:xfrm>
          <a:prstGeom prst="rect">
            <a:avLst/>
          </a:prstGeom>
          <a:noFill/>
        </p:spPr>
        <p:txBody>
          <a:bodyPr wrap="square">
            <a:spAutoFit/>
          </a:bodyPr>
          <a:lstStyle/>
          <a:p>
            <a:pPr eaLnBrk="1" hangingPunct="1">
              <a:lnSpc>
                <a:spcPct val="120000"/>
              </a:lnSpc>
              <a:defRPr/>
            </a:pPr>
            <a:r>
              <a:rPr lang="zh-CN" altLang="en-US" sz="2600" dirty="0">
                <a:latin typeface="幼圆" panose="02010509060101010101" pitchFamily="49" charset="-122"/>
                <a:ea typeface="幼圆" panose="02010509060101010101" pitchFamily="49" charset="-122"/>
              </a:rPr>
              <a:t>本课程针对</a:t>
            </a:r>
            <a:r>
              <a:rPr lang="zh-CN" altLang="en-US" sz="2600" dirty="0">
                <a:solidFill>
                  <a:srgbClr val="C00000"/>
                </a:solidFill>
                <a:latin typeface="幼圆" panose="02010509060101010101" pitchFamily="49" charset="-122"/>
                <a:ea typeface="幼圆" panose="02010509060101010101" pitchFamily="49" charset="-122"/>
              </a:rPr>
              <a:t>可计算的问题</a:t>
            </a:r>
            <a:r>
              <a:rPr lang="zh-CN" altLang="en-US" sz="2600" dirty="0">
                <a:latin typeface="幼圆" panose="02010509060101010101" pitchFamily="49" charset="-122"/>
                <a:ea typeface="幼圆" panose="02010509060101010101" pitchFamily="49" charset="-122"/>
              </a:rPr>
              <a:t>（重点</a:t>
            </a:r>
            <a:r>
              <a:rPr lang="zh-CN" altLang="en-US" sz="2600" dirty="0">
                <a:solidFill>
                  <a:srgbClr val="C00000"/>
                </a:solidFill>
                <a:latin typeface="幼圆" panose="02010509060101010101" pitchFamily="49" charset="-122"/>
                <a:ea typeface="幼圆" panose="02010509060101010101" pitchFamily="49" charset="-122"/>
              </a:rPr>
              <a:t>是非数值计算</a:t>
            </a:r>
            <a:r>
              <a:rPr lang="zh-CN" altLang="en-US" sz="2600" dirty="0">
                <a:latin typeface="幼圆" panose="02010509060101010101" pitchFamily="49" charset="-122"/>
                <a:ea typeface="幼圆" panose="02010509060101010101" pitchFamily="49" charset="-122"/>
              </a:rPr>
              <a:t>）问题，学习基本的算法设计策略，学习算法分析的基本方法，灵活运用所学方法，解决实际问题。</a:t>
            </a:r>
          </a:p>
        </p:txBody>
      </p:sp>
      <p:pic>
        <p:nvPicPr>
          <p:cNvPr id="3" name="图片 2">
            <a:extLst>
              <a:ext uri="{FF2B5EF4-FFF2-40B4-BE49-F238E27FC236}">
                <a16:creationId xmlns:a16="http://schemas.microsoft.com/office/drawing/2014/main" id="{DA85BD6F-B7B2-787B-AF68-F2FCF948F64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40765" y="2641935"/>
            <a:ext cx="1728787" cy="1574129"/>
          </a:xfrm>
          <a:prstGeom prst="rect">
            <a:avLst/>
          </a:prstGeom>
        </p:spPr>
      </p:pic>
      <p:pic>
        <p:nvPicPr>
          <p:cNvPr id="4" name="内容占位符 3" descr="数独.jpg">
            <a:extLst>
              <a:ext uri="{FF2B5EF4-FFF2-40B4-BE49-F238E27FC236}">
                <a16:creationId xmlns:a16="http://schemas.microsoft.com/office/drawing/2014/main" id="{A71BF02C-D7D4-6F6C-2CC8-89C7A27A40B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679939" y="4366592"/>
            <a:ext cx="1574129" cy="1574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a:extLst>
              <a:ext uri="{FF2B5EF4-FFF2-40B4-BE49-F238E27FC236}">
                <a16:creationId xmlns:a16="http://schemas.microsoft.com/office/drawing/2014/main" id="{E7B1B789-95CB-741F-449B-3B0C8B989E4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51984" y="4257931"/>
            <a:ext cx="2339543" cy="1600339"/>
          </a:xfrm>
          <a:prstGeom prst="rect">
            <a:avLst/>
          </a:prstGeom>
        </p:spPr>
      </p:pic>
      <p:sp>
        <p:nvSpPr>
          <p:cNvPr id="5" name="文本框 4">
            <a:extLst>
              <a:ext uri="{FF2B5EF4-FFF2-40B4-BE49-F238E27FC236}">
                <a16:creationId xmlns:a16="http://schemas.microsoft.com/office/drawing/2014/main" id="{71ACC2C4-C508-33EF-163A-D4259A84DC16}"/>
              </a:ext>
            </a:extLst>
          </p:cNvPr>
          <p:cNvSpPr txBox="1"/>
          <p:nvPr/>
        </p:nvSpPr>
        <p:spPr>
          <a:xfrm>
            <a:off x="680870" y="6076316"/>
            <a:ext cx="9059637" cy="400110"/>
          </a:xfrm>
          <a:prstGeom prst="rect">
            <a:avLst/>
          </a:prstGeom>
          <a:noFill/>
        </p:spPr>
        <p:txBody>
          <a:bodyPr wrap="square">
            <a:spAutoFit/>
          </a:bodyPr>
          <a:lstStyle/>
          <a:p>
            <a:r>
              <a:rPr lang="zh-CN" altLang="en-US" sz="2000" dirty="0">
                <a:latin typeface="幼圆" panose="02010509060101010101" pitchFamily="49" charset="-122"/>
                <a:ea typeface="幼圆" panose="02010509060101010101" pitchFamily="49" charset="-122"/>
              </a:rPr>
              <a:t>数值计算在计算方法课程中学，求解数值问题，如插值计算、数值积分等。</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8376"/>
            <a:ext cx="10515600" cy="1325563"/>
          </a:xfrm>
        </p:spPr>
        <p:txBody>
          <a:bodyPr/>
          <a:lstStyle/>
          <a:p>
            <a:r>
              <a:rPr lang="zh-CN" altLang="en-US" dirty="0"/>
              <a:t>课程内容</a:t>
            </a:r>
          </a:p>
        </p:txBody>
      </p:sp>
      <p:sp>
        <p:nvSpPr>
          <p:cNvPr id="3" name="内容占位符 2"/>
          <p:cNvSpPr>
            <a:spLocks noGrp="1"/>
          </p:cNvSpPr>
          <p:nvPr>
            <p:ph idx="1"/>
          </p:nvPr>
        </p:nvSpPr>
        <p:spPr>
          <a:xfrm>
            <a:off x="838200" y="1724297"/>
            <a:ext cx="10515600" cy="4351338"/>
          </a:xfrm>
        </p:spPr>
        <p:txBody>
          <a:bodyPr>
            <a:normAutofit/>
          </a:bodyPr>
          <a:lstStyle/>
          <a:p>
            <a:r>
              <a:rPr lang="zh-CN" altLang="en-US" dirty="0"/>
              <a:t>基本的算法设计策略</a:t>
            </a:r>
          </a:p>
          <a:p>
            <a:pPr lvl="1"/>
            <a:r>
              <a:rPr lang="zh-CN" altLang="en-US" dirty="0"/>
              <a:t>分治法</a:t>
            </a:r>
          </a:p>
          <a:p>
            <a:pPr lvl="1"/>
            <a:r>
              <a:rPr lang="zh-CN" altLang="en-US" dirty="0"/>
              <a:t>贪心方法</a:t>
            </a:r>
          </a:p>
          <a:p>
            <a:pPr lvl="1"/>
            <a:r>
              <a:rPr lang="zh-CN" altLang="en-US" dirty="0"/>
              <a:t>动态规划</a:t>
            </a:r>
          </a:p>
          <a:p>
            <a:pPr lvl="1"/>
            <a:r>
              <a:rPr lang="zh-CN" altLang="en-US" dirty="0"/>
              <a:t>回溯法</a:t>
            </a:r>
          </a:p>
          <a:p>
            <a:pPr lvl="1"/>
            <a:r>
              <a:rPr lang="zh-CN" altLang="en-US" dirty="0"/>
              <a:t>分支</a:t>
            </a:r>
            <a:r>
              <a:rPr lang="en-US" altLang="zh-CN" dirty="0"/>
              <a:t>-</a:t>
            </a:r>
            <a:r>
              <a:rPr lang="zh-CN" altLang="en-US" dirty="0"/>
              <a:t>限界法</a:t>
            </a:r>
            <a:endParaRPr lang="en-US" altLang="zh-CN" dirty="0"/>
          </a:p>
          <a:p>
            <a:pPr marL="228600" lvl="1">
              <a:lnSpc>
                <a:spcPct val="120000"/>
              </a:lnSpc>
              <a:spcBef>
                <a:spcPts val="1000"/>
              </a:spcBef>
              <a:buClr>
                <a:srgbClr val="1E5293"/>
              </a:buClr>
            </a:pPr>
            <a:r>
              <a:rPr lang="zh-CN" altLang="en-US" sz="2800" dirty="0"/>
              <a:t>基本的算法分析方法</a:t>
            </a:r>
            <a:endParaRPr lang="zh-CN" altLang="en-US" dirty="0"/>
          </a:p>
          <a:p>
            <a:r>
              <a:rPr lang="en-US" altLang="zh-CN" dirty="0"/>
              <a:t>NP-</a:t>
            </a:r>
            <a:r>
              <a:rPr lang="zh-CN" altLang="en-US" dirty="0"/>
              <a:t>难度和</a:t>
            </a:r>
            <a:r>
              <a:rPr lang="en-US" altLang="zh-CN" dirty="0"/>
              <a:t>NP-</a:t>
            </a:r>
            <a:r>
              <a:rPr lang="zh-CN" altLang="en-US" dirty="0"/>
              <a:t>完全问题</a:t>
            </a:r>
          </a:p>
          <a:p>
            <a:endParaRPr lang="zh-CN" altLang="en-US"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12</a:t>
            </a:fld>
            <a:endParaRPr lang="en-US" altLang="zh-CN"/>
          </a:p>
        </p:txBody>
      </p:sp>
      <p:sp>
        <p:nvSpPr>
          <p:cNvPr id="5" name="圆角矩形标注 4"/>
          <p:cNvSpPr/>
          <p:nvPr/>
        </p:nvSpPr>
        <p:spPr>
          <a:xfrm>
            <a:off x="4885319" y="1663980"/>
            <a:ext cx="2520280" cy="720080"/>
          </a:xfrm>
          <a:prstGeom prst="wedgeRoundRectCallout">
            <a:avLst>
              <a:gd name="adj1" fmla="val -64457"/>
              <a:gd name="adj2" fmla="val 1434"/>
              <a:gd name="adj3" fmla="val 1666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chemeClr val="tx1"/>
                </a:solidFill>
                <a:latin typeface="幼圆" panose="02010509060101010101" pitchFamily="49" charset="-122"/>
                <a:ea typeface="幼圆" panose="02010509060101010101" pitchFamily="49" charset="-122"/>
              </a:rPr>
              <a:t>如何设计算法？</a:t>
            </a:r>
          </a:p>
        </p:txBody>
      </p:sp>
      <p:sp>
        <p:nvSpPr>
          <p:cNvPr id="7" name="圆角矩形标注 6"/>
          <p:cNvSpPr/>
          <p:nvPr/>
        </p:nvSpPr>
        <p:spPr>
          <a:xfrm>
            <a:off x="4887009" y="4473940"/>
            <a:ext cx="3383770" cy="720080"/>
          </a:xfrm>
          <a:prstGeom prst="wedgeRoundRectCallout">
            <a:avLst>
              <a:gd name="adj1" fmla="val -64457"/>
              <a:gd name="adj2" fmla="val 1434"/>
              <a:gd name="adj3" fmla="val 1666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chemeClr val="tx1"/>
                </a:solidFill>
                <a:latin typeface="幼圆" panose="02010509060101010101" pitchFamily="49" charset="-122"/>
                <a:ea typeface="幼圆" panose="02010509060101010101" pitchFamily="49" charset="-122"/>
              </a:rPr>
              <a:t>如何判断算法的优劣？</a:t>
            </a:r>
          </a:p>
        </p:txBody>
      </p:sp>
    </p:spTree>
    <p:extLst>
      <p:ext uri="{BB962C8B-B14F-4D97-AF65-F5344CB8AC3E}">
        <p14:creationId xmlns:p14="http://schemas.microsoft.com/office/powerpoint/2010/main" val="35525060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课程目标</a:t>
            </a:r>
          </a:p>
        </p:txBody>
      </p:sp>
      <p:sp>
        <p:nvSpPr>
          <p:cNvPr id="3" name="内容占位符 2"/>
          <p:cNvSpPr>
            <a:spLocks noGrp="1"/>
          </p:cNvSpPr>
          <p:nvPr>
            <p:ph idx="1"/>
          </p:nvPr>
        </p:nvSpPr>
        <p:spPr/>
        <p:txBody>
          <a:bodyPr/>
          <a:lstStyle/>
          <a:p>
            <a:r>
              <a:rPr lang="zh-CN" altLang="zh-CN" dirty="0"/>
              <a:t>掌握分治法、贪心法、动态规划法、回溯法和分支限界法等设计策略适用的问题特点、求解思想、经典算法</a:t>
            </a:r>
            <a:endParaRPr lang="en-US" altLang="zh-CN" dirty="0"/>
          </a:p>
          <a:p>
            <a:r>
              <a:rPr lang="zh-CN" altLang="zh-CN" dirty="0"/>
              <a:t>掌握算法复杂度的分析方法</a:t>
            </a:r>
            <a:endParaRPr lang="en-US" altLang="zh-CN" dirty="0"/>
          </a:p>
          <a:p>
            <a:r>
              <a:rPr lang="zh-CN" altLang="zh-CN" dirty="0"/>
              <a:t>掌握</a:t>
            </a:r>
            <a:r>
              <a:rPr lang="en-US" altLang="zh-CN" dirty="0"/>
              <a:t>NP</a:t>
            </a:r>
            <a:r>
              <a:rPr lang="zh-CN" altLang="zh-CN" dirty="0"/>
              <a:t>难度和</a:t>
            </a:r>
            <a:r>
              <a:rPr lang="en-US" altLang="zh-CN" dirty="0"/>
              <a:t>NP</a:t>
            </a:r>
            <a:r>
              <a:rPr lang="zh-CN" altLang="zh-CN" dirty="0"/>
              <a:t>完全问题的相关理论</a:t>
            </a:r>
            <a:endParaRPr lang="en-US" altLang="zh-CN" dirty="0"/>
          </a:p>
          <a:p>
            <a:r>
              <a:rPr lang="zh-CN" altLang="zh-CN" dirty="0"/>
              <a:t>具备从计算机复杂工程问题中识别出可计算性问题、并运用算法设计策略设计和分析算法的能力</a:t>
            </a:r>
            <a:endParaRPr lang="zh-CN" altLang="en-US"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13</a:t>
            </a:fld>
            <a:endParaRPr lang="en-US" altLang="zh-CN"/>
          </a:p>
        </p:txBody>
      </p:sp>
    </p:spTree>
    <p:extLst>
      <p:ext uri="{BB962C8B-B14F-4D97-AF65-F5344CB8AC3E}">
        <p14:creationId xmlns:p14="http://schemas.microsoft.com/office/powerpoint/2010/main" val="311939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课程考核方式</a:t>
            </a:r>
            <a:r>
              <a:rPr lang="en-US" altLang="zh-CN" dirty="0"/>
              <a:t>-</a:t>
            </a:r>
            <a:r>
              <a:rPr lang="zh-CN" altLang="en-US" dirty="0"/>
              <a:t>计算机科学与技术专业</a:t>
            </a:r>
          </a:p>
        </p:txBody>
      </p:sp>
      <p:sp>
        <p:nvSpPr>
          <p:cNvPr id="3" name="内容占位符 2"/>
          <p:cNvSpPr>
            <a:spLocks noGrp="1"/>
          </p:cNvSpPr>
          <p:nvPr>
            <p:ph idx="1"/>
          </p:nvPr>
        </p:nvSpPr>
        <p:spPr>
          <a:xfrm>
            <a:off x="838200" y="1706712"/>
            <a:ext cx="10298360" cy="4351338"/>
          </a:xfrm>
        </p:spPr>
        <p:txBody>
          <a:bodyPr>
            <a:normAutofit/>
          </a:bodyPr>
          <a:lstStyle/>
          <a:p>
            <a:r>
              <a:rPr lang="zh-CN" altLang="en-US" sz="2400" dirty="0"/>
              <a:t>理论</a:t>
            </a:r>
            <a:r>
              <a:rPr lang="en-US" altLang="zh-CN" sz="2400" dirty="0"/>
              <a:t>48</a:t>
            </a:r>
            <a:r>
              <a:rPr lang="zh-CN" altLang="en-US" sz="2400" dirty="0"/>
              <a:t>学时</a:t>
            </a:r>
            <a:r>
              <a:rPr lang="en-US" altLang="zh-CN" sz="2400" dirty="0"/>
              <a:t>+</a:t>
            </a:r>
            <a:r>
              <a:rPr lang="zh-CN" altLang="en-US" sz="2400" dirty="0"/>
              <a:t>实验</a:t>
            </a:r>
            <a:r>
              <a:rPr lang="en-US" altLang="zh-CN" sz="2400" dirty="0"/>
              <a:t>12</a:t>
            </a:r>
            <a:r>
              <a:rPr lang="zh-CN" altLang="en-US" sz="2400" dirty="0"/>
              <a:t>学时</a:t>
            </a:r>
            <a:endParaRPr lang="en-US" altLang="zh-CN" sz="2400" dirty="0"/>
          </a:p>
          <a:p>
            <a:r>
              <a:rPr lang="zh-CN" altLang="zh-CN" sz="2400" dirty="0"/>
              <a:t>期末考核</a:t>
            </a:r>
            <a:r>
              <a:rPr lang="zh-TW" altLang="zh-CN" sz="2400" dirty="0"/>
              <a:t>（占总成绩</a:t>
            </a:r>
            <a:r>
              <a:rPr lang="en-US" altLang="zh-TW" sz="2400" dirty="0"/>
              <a:t>6</a:t>
            </a:r>
            <a:r>
              <a:rPr lang="en-US" altLang="zh-CN" sz="2400" dirty="0"/>
              <a:t>0%</a:t>
            </a:r>
            <a:r>
              <a:rPr lang="zh-CN" altLang="zh-CN" sz="2400" dirty="0"/>
              <a:t>）</a:t>
            </a:r>
            <a:endParaRPr lang="en-US" altLang="zh-CN" sz="2400" dirty="0"/>
          </a:p>
          <a:p>
            <a:pPr lvl="1"/>
            <a:r>
              <a:rPr lang="zh-CN" altLang="zh-CN" dirty="0"/>
              <a:t>闭卷笔试</a:t>
            </a:r>
            <a:endParaRPr lang="en-US" altLang="zh-CN" dirty="0"/>
          </a:p>
          <a:p>
            <a:r>
              <a:rPr lang="zh-CN" altLang="zh-CN" sz="2400" dirty="0"/>
              <a:t>平时考核</a:t>
            </a:r>
            <a:r>
              <a:rPr lang="zh-TW" altLang="zh-CN" sz="2400" dirty="0"/>
              <a:t>（占总成绩</a:t>
            </a:r>
            <a:r>
              <a:rPr lang="en-US" altLang="zh-TW" sz="2400" dirty="0"/>
              <a:t>2</a:t>
            </a:r>
            <a:r>
              <a:rPr lang="en-US" altLang="zh-CN" sz="2400" dirty="0"/>
              <a:t>0%</a:t>
            </a:r>
            <a:r>
              <a:rPr lang="zh-CN" altLang="zh-CN" sz="2400" dirty="0"/>
              <a:t>）</a:t>
            </a:r>
            <a:endParaRPr lang="en-US" altLang="zh-CN" sz="2400" dirty="0"/>
          </a:p>
          <a:p>
            <a:pPr lvl="1"/>
            <a:r>
              <a:rPr lang="zh-CN" altLang="zh-CN" dirty="0"/>
              <a:t>学习任务</a:t>
            </a:r>
            <a:r>
              <a:rPr lang="en-US" altLang="zh-CN" dirty="0"/>
              <a:t>—</a:t>
            </a:r>
            <a:r>
              <a:rPr lang="zh-CN" altLang="en-US" dirty="0"/>
              <a:t>视频等</a:t>
            </a:r>
            <a:endParaRPr lang="zh-CN" altLang="zh-CN" dirty="0"/>
          </a:p>
          <a:p>
            <a:pPr lvl="1"/>
            <a:r>
              <a:rPr lang="zh-CN" altLang="zh-CN" dirty="0"/>
              <a:t>课堂测试</a:t>
            </a:r>
            <a:r>
              <a:rPr lang="en-US" altLang="zh-CN" dirty="0"/>
              <a:t>/</a:t>
            </a:r>
            <a:r>
              <a:rPr lang="zh-CN" altLang="en-US" dirty="0"/>
              <a:t>练习</a:t>
            </a:r>
            <a:r>
              <a:rPr lang="en-US" altLang="zh-CN" dirty="0"/>
              <a:t>/</a:t>
            </a:r>
            <a:r>
              <a:rPr lang="zh-CN" altLang="en-US" dirty="0"/>
              <a:t>签到等</a:t>
            </a:r>
            <a:endParaRPr lang="zh-CN" altLang="zh-CN" dirty="0"/>
          </a:p>
          <a:p>
            <a:pPr lvl="1"/>
            <a:r>
              <a:rPr lang="zh-CN" altLang="en-US" dirty="0"/>
              <a:t>学习通</a:t>
            </a:r>
            <a:r>
              <a:rPr lang="zh-CN" altLang="zh-CN" dirty="0"/>
              <a:t>作业</a:t>
            </a:r>
            <a:endParaRPr lang="en-US" altLang="zh-CN" dirty="0"/>
          </a:p>
          <a:p>
            <a:r>
              <a:rPr lang="zh-CN" altLang="en-US" sz="2400" dirty="0"/>
              <a:t>实验</a:t>
            </a:r>
            <a:r>
              <a:rPr lang="zh-TW" altLang="zh-CN" sz="2400" dirty="0"/>
              <a:t>（占总成绩</a:t>
            </a:r>
            <a:r>
              <a:rPr lang="en-US" altLang="zh-TW" sz="2400" dirty="0"/>
              <a:t>2</a:t>
            </a:r>
            <a:r>
              <a:rPr lang="en-US" altLang="zh-CN" sz="2400" dirty="0"/>
              <a:t>0%</a:t>
            </a:r>
            <a:r>
              <a:rPr lang="zh-CN" altLang="zh-CN" sz="2400" dirty="0"/>
              <a:t>）</a:t>
            </a:r>
            <a:endParaRPr lang="en-US" altLang="zh-CN" sz="2400" dirty="0"/>
          </a:p>
          <a:p>
            <a:pPr marL="457200" lvl="1" indent="0">
              <a:buNone/>
            </a:pPr>
            <a:endParaRPr lang="en-US" altLang="zh-CN" dirty="0"/>
          </a:p>
          <a:p>
            <a:pPr lvl="1"/>
            <a:endParaRPr lang="zh-CN" altLang="en-US"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14</a:t>
            </a:fld>
            <a:endParaRPr lang="en-US" altLang="zh-CN"/>
          </a:p>
        </p:txBody>
      </p:sp>
      <p:pic>
        <p:nvPicPr>
          <p:cNvPr id="6" name="图片 5">
            <a:extLst>
              <a:ext uri="{FF2B5EF4-FFF2-40B4-BE49-F238E27FC236}">
                <a16:creationId xmlns:a16="http://schemas.microsoft.com/office/drawing/2014/main" id="{6A8A63BD-0A07-186A-6CF6-9CD1B36564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0176" y="1714217"/>
            <a:ext cx="3051938" cy="4001563"/>
          </a:xfrm>
          <a:prstGeom prst="rect">
            <a:avLst/>
          </a:prstGeom>
        </p:spPr>
      </p:pic>
    </p:spTree>
    <p:extLst>
      <p:ext uri="{BB962C8B-B14F-4D97-AF65-F5344CB8AC3E}">
        <p14:creationId xmlns:p14="http://schemas.microsoft.com/office/powerpoint/2010/main" val="14640555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参考书目</a:t>
            </a:r>
          </a:p>
        </p:txBody>
      </p:sp>
      <p:sp>
        <p:nvSpPr>
          <p:cNvPr id="3" name="内容占位符 2"/>
          <p:cNvSpPr>
            <a:spLocks noGrp="1"/>
          </p:cNvSpPr>
          <p:nvPr>
            <p:ph idx="1"/>
          </p:nvPr>
        </p:nvSpPr>
        <p:spPr>
          <a:xfrm>
            <a:off x="831222" y="1646510"/>
            <a:ext cx="10730408" cy="3331567"/>
          </a:xfrm>
        </p:spPr>
        <p:txBody>
          <a:bodyPr>
            <a:normAutofit/>
          </a:bodyPr>
          <a:lstStyle/>
          <a:p>
            <a:r>
              <a:rPr lang="zh-CN" altLang="en-US" dirty="0"/>
              <a:t>屈婉玲等</a:t>
            </a:r>
            <a:r>
              <a:rPr lang="en-US" altLang="zh-CN" dirty="0"/>
              <a:t>. </a:t>
            </a:r>
            <a:r>
              <a:rPr lang="zh-CN" altLang="en-US" dirty="0"/>
              <a:t>算法设计与分析</a:t>
            </a:r>
            <a:r>
              <a:rPr lang="en-US" altLang="zh-CN" dirty="0"/>
              <a:t>(</a:t>
            </a:r>
            <a:r>
              <a:rPr lang="zh-CN" altLang="en-US" dirty="0"/>
              <a:t>第三版</a:t>
            </a:r>
            <a:r>
              <a:rPr lang="en-US" altLang="zh-CN" dirty="0"/>
              <a:t>). </a:t>
            </a:r>
            <a:r>
              <a:rPr lang="zh-CN" altLang="en-US" dirty="0"/>
              <a:t>清华大学出版社</a:t>
            </a:r>
            <a:r>
              <a:rPr lang="en-US" altLang="zh-CN" dirty="0"/>
              <a:t>. 2011</a:t>
            </a:r>
          </a:p>
          <a:p>
            <a:r>
              <a:rPr lang="zh-CN" altLang="en-US" dirty="0"/>
              <a:t>余祥宣等</a:t>
            </a:r>
            <a:r>
              <a:rPr lang="en-US" altLang="zh-CN" dirty="0"/>
              <a:t>.</a:t>
            </a:r>
            <a:r>
              <a:rPr lang="zh-CN" altLang="en-US" dirty="0"/>
              <a:t>计算机算法基础</a:t>
            </a:r>
            <a:r>
              <a:rPr lang="en-US" altLang="zh-CN" dirty="0"/>
              <a:t>(</a:t>
            </a:r>
            <a:r>
              <a:rPr lang="zh-CN" altLang="en-US" dirty="0"/>
              <a:t>第三版</a:t>
            </a:r>
            <a:r>
              <a:rPr lang="en-US" altLang="zh-CN" dirty="0"/>
              <a:t>).</a:t>
            </a:r>
            <a:r>
              <a:rPr lang="zh-CN" altLang="en-US" dirty="0"/>
              <a:t> 华中科技大学出版社</a:t>
            </a:r>
            <a:r>
              <a:rPr lang="en-US" altLang="zh-CN" dirty="0"/>
              <a:t>.2005</a:t>
            </a:r>
          </a:p>
          <a:p>
            <a:r>
              <a:rPr lang="zh-CN" altLang="zh-CN" dirty="0"/>
              <a:t>托马斯</a:t>
            </a:r>
            <a:r>
              <a:rPr lang="en-US" altLang="zh-CN" dirty="0"/>
              <a:t>·</a:t>
            </a:r>
            <a:r>
              <a:rPr lang="zh-CN" altLang="zh-CN" dirty="0"/>
              <a:t>科尔曼 等</a:t>
            </a:r>
            <a:r>
              <a:rPr lang="en-US" altLang="zh-CN" dirty="0"/>
              <a:t>. </a:t>
            </a:r>
            <a:r>
              <a:rPr lang="zh-CN" altLang="zh-CN" dirty="0"/>
              <a:t>算法导论</a:t>
            </a:r>
            <a:r>
              <a:rPr lang="en-US" altLang="zh-CN" dirty="0"/>
              <a:t>(</a:t>
            </a:r>
            <a:r>
              <a:rPr lang="zh-CN" altLang="zh-CN" dirty="0"/>
              <a:t>原书第</a:t>
            </a:r>
            <a:r>
              <a:rPr lang="en-US" altLang="zh-CN" dirty="0"/>
              <a:t>3</a:t>
            </a:r>
            <a:r>
              <a:rPr lang="zh-CN" altLang="zh-CN" dirty="0"/>
              <a:t>版</a:t>
            </a:r>
            <a:r>
              <a:rPr lang="en-US" altLang="zh-CN" dirty="0"/>
              <a:t>) . </a:t>
            </a:r>
            <a:r>
              <a:rPr lang="zh-CN" altLang="zh-CN" dirty="0"/>
              <a:t>机械工业出版社</a:t>
            </a:r>
            <a:r>
              <a:rPr lang="en-US" altLang="zh-CN" dirty="0"/>
              <a:t>.</a:t>
            </a:r>
            <a:r>
              <a:rPr lang="zh-CN" altLang="en-US" dirty="0"/>
              <a:t> </a:t>
            </a:r>
            <a:r>
              <a:rPr lang="en-US" altLang="zh-CN" dirty="0"/>
              <a:t>2013</a:t>
            </a:r>
            <a:endParaRPr lang="zh-CN" altLang="en-US"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15</a:t>
            </a:fld>
            <a:endParaRPr lang="en-US" altLang="zh-CN"/>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52726" y="3606619"/>
            <a:ext cx="2272258" cy="2923691"/>
          </a:xfrm>
          <a:prstGeom prst="rect">
            <a:avLst/>
          </a:prstGeom>
        </p:spPr>
      </p:pic>
      <p:pic>
        <p:nvPicPr>
          <p:cNvPr id="7" name="Picture 2" descr="https://gimg2.baidu.com/image_search/src=http%3A%2F%2Fimg3.doubanio.com%2Flpic%2Fs8819979.jpg&amp;refer=http%3A%2F%2Fimg3.doubanio.com&amp;app=2002&amp;size=f9999,10000&amp;q=a80&amp;n=0&amp;g=0n&amp;fmt=jpeg?sec=1618416431&amp;t=855b661b5b87aaf0c6c10066862ee74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8951" y="3606619"/>
            <a:ext cx="2047129" cy="2779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p:cNvPicPr>
            <a:picLocks noChangeAspect="1"/>
          </p:cNvPicPr>
          <p:nvPr/>
        </p:nvPicPr>
        <p:blipFill>
          <a:blip r:embed="rId4"/>
          <a:stretch>
            <a:fillRect/>
          </a:stretch>
        </p:blipFill>
        <p:spPr>
          <a:xfrm>
            <a:off x="1215754" y="3514211"/>
            <a:ext cx="2159888" cy="2872191"/>
          </a:xfrm>
          <a:prstGeom prst="rect">
            <a:avLst/>
          </a:prstGeom>
        </p:spPr>
      </p:pic>
    </p:spTree>
    <p:extLst>
      <p:ext uri="{BB962C8B-B14F-4D97-AF65-F5344CB8AC3E}">
        <p14:creationId xmlns:p14="http://schemas.microsoft.com/office/powerpoint/2010/main" val="2926003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算法与计算复杂性领域图灵奖得主</a:t>
            </a:r>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16</a:t>
            </a:fld>
            <a:endParaRPr lang="en-US" altLang="zh-CN"/>
          </a:p>
        </p:txBody>
      </p:sp>
      <p:pic>
        <p:nvPicPr>
          <p:cNvPr id="5"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38200" y="1690688"/>
            <a:ext cx="9765956" cy="4351338"/>
          </a:xfrm>
        </p:spPr>
      </p:pic>
    </p:spTree>
    <p:extLst>
      <p:ext uri="{BB962C8B-B14F-4D97-AF65-F5344CB8AC3E}">
        <p14:creationId xmlns:p14="http://schemas.microsoft.com/office/powerpoint/2010/main" val="36543601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请查阅进入课程之前，还希望你知道</a:t>
            </a:r>
            <a:r>
              <a:rPr lang="en-US" altLang="zh-CN" dirty="0"/>
              <a:t>…</a:t>
            </a:r>
            <a:endParaRPr lang="zh-CN" altLang="en-US" dirty="0"/>
          </a:p>
        </p:txBody>
      </p:sp>
      <p:sp>
        <p:nvSpPr>
          <p:cNvPr id="3" name="内容占位符 2"/>
          <p:cNvSpPr>
            <a:spLocks noGrp="1"/>
          </p:cNvSpPr>
          <p:nvPr>
            <p:ph idx="1"/>
          </p:nvPr>
        </p:nvSpPr>
        <p:spPr/>
        <p:txBody>
          <a:bodyPr>
            <a:normAutofit/>
          </a:bodyPr>
          <a:lstStyle/>
          <a:p>
            <a:r>
              <a:rPr lang="zh-CN" altLang="en-US" sz="2400" dirty="0"/>
              <a:t>三位计算机科学家的贡献</a:t>
            </a:r>
            <a:endParaRPr lang="en-US" altLang="zh-CN" sz="2400" dirty="0"/>
          </a:p>
          <a:p>
            <a:pPr lvl="1"/>
            <a:r>
              <a:rPr lang="zh-CN" altLang="en-US" dirty="0"/>
              <a:t>阿兰</a:t>
            </a:r>
            <a:r>
              <a:rPr lang="en-US" altLang="zh-CN" dirty="0"/>
              <a:t>·</a:t>
            </a:r>
            <a:r>
              <a:rPr lang="zh-CN" altLang="en-US" dirty="0"/>
              <a:t>麦席森</a:t>
            </a:r>
            <a:r>
              <a:rPr lang="en-US" altLang="zh-CN" dirty="0"/>
              <a:t>·</a:t>
            </a:r>
            <a:r>
              <a:rPr lang="zh-CN" altLang="en-US" dirty="0"/>
              <a:t>图灵 </a:t>
            </a:r>
            <a:r>
              <a:rPr lang="en-US" altLang="zh-CN" dirty="0"/>
              <a:t>( Alan </a:t>
            </a:r>
            <a:r>
              <a:rPr lang="en-US" altLang="zh-CN" dirty="0" err="1"/>
              <a:t>Mathison</a:t>
            </a:r>
            <a:r>
              <a:rPr lang="en-US" altLang="zh-CN" dirty="0"/>
              <a:t> Turing</a:t>
            </a:r>
            <a:r>
              <a:rPr lang="zh-CN" altLang="en-US" dirty="0"/>
              <a:t>）</a:t>
            </a:r>
            <a:endParaRPr lang="en-US" altLang="zh-CN" dirty="0"/>
          </a:p>
          <a:p>
            <a:pPr lvl="1"/>
            <a:r>
              <a:rPr lang="zh-CN" altLang="en-US" dirty="0"/>
              <a:t>唐纳德</a:t>
            </a:r>
            <a:r>
              <a:rPr lang="en-US" altLang="zh-CN" dirty="0"/>
              <a:t>·</a:t>
            </a:r>
            <a:r>
              <a:rPr lang="zh-CN" altLang="en-US" dirty="0"/>
              <a:t>克努特 </a:t>
            </a:r>
            <a:r>
              <a:rPr lang="en-US" altLang="zh-CN" dirty="0"/>
              <a:t>( Donald Ervin Knuth</a:t>
            </a:r>
            <a:r>
              <a:rPr lang="zh-CN" altLang="en-US" dirty="0"/>
              <a:t>）</a:t>
            </a:r>
            <a:endParaRPr lang="en-US" altLang="zh-CN" dirty="0"/>
          </a:p>
          <a:p>
            <a:pPr lvl="1"/>
            <a:r>
              <a:rPr lang="zh-CN" altLang="en-US" dirty="0"/>
              <a:t>姚期智 </a:t>
            </a:r>
            <a:r>
              <a:rPr lang="en-US" altLang="zh-CN" dirty="0"/>
              <a:t>(Andrew Chi-</a:t>
            </a:r>
            <a:r>
              <a:rPr lang="en-US" altLang="zh-CN" dirty="0" err="1"/>
              <a:t>Chih</a:t>
            </a:r>
            <a:r>
              <a:rPr lang="en-US" altLang="zh-CN" dirty="0"/>
              <a:t> Yao)</a:t>
            </a:r>
          </a:p>
          <a:p>
            <a:pPr lvl="1"/>
            <a:endParaRPr lang="zh-CN" altLang="en-US"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17</a:t>
            </a:fld>
            <a:endParaRPr lang="en-US" altLang="zh-CN"/>
          </a:p>
        </p:txBody>
      </p:sp>
      <p:pic>
        <p:nvPicPr>
          <p:cNvPr id="5" name="Picture 6" descr="3bc6f750ddbea46c1138c26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9496" y="3933056"/>
            <a:ext cx="1603136" cy="1714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descr="ae82673117c37b32eac4af6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1426" y="3890125"/>
            <a:ext cx="1268027" cy="173852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7" name="Picture 5" descr="姚期智"/>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28248" y="3909129"/>
            <a:ext cx="1267421" cy="1700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700538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FF0000"/>
                </a:solidFill>
              </a:rPr>
              <a:t>本 章 结 束</a:t>
            </a:r>
          </a:p>
        </p:txBody>
      </p:sp>
      <p:sp>
        <p:nvSpPr>
          <p:cNvPr id="3" name="灯片编号占位符 2"/>
          <p:cNvSpPr>
            <a:spLocks noGrp="1"/>
          </p:cNvSpPr>
          <p:nvPr>
            <p:ph type="sldNum" sz="quarter" idx="11"/>
          </p:nvPr>
        </p:nvSpPr>
        <p:spPr/>
        <p:txBody>
          <a:bodyPr/>
          <a:lstStyle/>
          <a:p>
            <a:pPr>
              <a:defRPr/>
            </a:pPr>
            <a:fld id="{C2224BEA-3C3F-4596-8550-1ADD053AC372}" type="slidenum">
              <a:rPr lang="en-US" altLang="zh-CN" smtClean="0"/>
              <a:pPr>
                <a:defRPr/>
              </a:pPr>
              <a:t>18</a:t>
            </a:fld>
            <a:endParaRPr lang="en-US" altLang="zh-CN"/>
          </a:p>
        </p:txBody>
      </p:sp>
    </p:spTree>
    <p:extLst>
      <p:ext uri="{BB962C8B-B14F-4D97-AF65-F5344CB8AC3E}">
        <p14:creationId xmlns:p14="http://schemas.microsoft.com/office/powerpoint/2010/main" val="7071891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96579"/>
</p:tagLst>
</file>

<file path=ppt/theme/theme1.xml><?xml version="1.0" encoding="utf-8"?>
<a:theme xmlns:a="http://schemas.openxmlformats.org/drawingml/2006/main" name="算法分析模板0731">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算法分析新模板2023" id="{FADB3A85-5174-4FA5-A51F-55BEA2B76671}" vid="{DDE32136-80A6-4B40-8420-6E71B6F9244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算法分析新模板2023</Template>
  <TotalTime>16986</TotalTime>
  <Words>1114</Words>
  <Application>Microsoft Office PowerPoint</Application>
  <PresentationFormat>宽屏</PresentationFormat>
  <Paragraphs>122</Paragraphs>
  <Slides>18</Slides>
  <Notes>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18</vt:i4>
      </vt:variant>
    </vt:vector>
  </HeadingPairs>
  <TitlesOfParts>
    <vt:vector size="27" baseType="lpstr">
      <vt:lpstr>等线</vt:lpstr>
      <vt:lpstr>宋体</vt:lpstr>
      <vt:lpstr>幼圆</vt:lpstr>
      <vt:lpstr>Arial</vt:lpstr>
      <vt:lpstr>Calibri</vt:lpstr>
      <vt:lpstr>Times New Roman</vt:lpstr>
      <vt:lpstr>Verdana</vt:lpstr>
      <vt:lpstr>Wingdings</vt:lpstr>
      <vt:lpstr>算法分析模板0731</vt:lpstr>
      <vt:lpstr>算法设计与分析</vt:lpstr>
      <vt:lpstr>为什么学习算法？</vt:lpstr>
      <vt:lpstr>为什么学习算法？</vt:lpstr>
      <vt:lpstr>身边的算法</vt:lpstr>
      <vt:lpstr>课程体系中的位置</vt:lpstr>
      <vt:lpstr>面向领域的其它相关课程</vt:lpstr>
      <vt:lpstr>PowerPoint 演示文稿</vt:lpstr>
      <vt:lpstr>可计算性与计算复杂性</vt:lpstr>
      <vt:lpstr>可计算性与计算复杂性研究范畴</vt:lpstr>
      <vt:lpstr>算法分析研究范畴</vt:lpstr>
      <vt:lpstr>算法分析研究范畴—非数值计算问题</vt:lpstr>
      <vt:lpstr>课程内容</vt:lpstr>
      <vt:lpstr>课程目标</vt:lpstr>
      <vt:lpstr>课程考核方式-计算机科学与技术专业</vt:lpstr>
      <vt:lpstr>参考书目</vt:lpstr>
      <vt:lpstr>算法与计算复杂性领域图灵奖得主</vt:lpstr>
      <vt:lpstr>请查阅进入课程之前，还希望你知道…</vt:lpstr>
      <vt:lpstr>本 章 结 束</vt:lpstr>
    </vt:vector>
  </TitlesOfParts>
  <Company>南京理工大学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  导引</dc:title>
  <dc:creator>龚文杰</dc:creator>
  <cp:lastModifiedBy>JLU_NL</cp:lastModifiedBy>
  <cp:revision>678</cp:revision>
  <dcterms:created xsi:type="dcterms:W3CDTF">2010-09-17T03:09:33Z</dcterms:created>
  <dcterms:modified xsi:type="dcterms:W3CDTF">2025-02-25T07:29:11Z</dcterms:modified>
</cp:coreProperties>
</file>