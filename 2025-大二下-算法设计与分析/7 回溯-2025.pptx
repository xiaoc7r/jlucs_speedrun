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6" r:id="rId1"/>
  </p:sldMasterIdLst>
  <p:notesMasterIdLst>
    <p:notesMasterId r:id="rId65"/>
  </p:notesMasterIdLst>
  <p:sldIdLst>
    <p:sldId id="368" r:id="rId2"/>
    <p:sldId id="396" r:id="rId3"/>
    <p:sldId id="397" r:id="rId4"/>
    <p:sldId id="398" r:id="rId5"/>
    <p:sldId id="706" r:id="rId6"/>
    <p:sldId id="689" r:id="rId7"/>
    <p:sldId id="690" r:id="rId8"/>
    <p:sldId id="691" r:id="rId9"/>
    <p:sldId id="705" r:id="rId10"/>
    <p:sldId id="469" r:id="rId11"/>
    <p:sldId id="479" r:id="rId12"/>
    <p:sldId id="471" r:id="rId13"/>
    <p:sldId id="481" r:id="rId14"/>
    <p:sldId id="482" r:id="rId15"/>
    <p:sldId id="408" r:id="rId16"/>
    <p:sldId id="502" r:id="rId17"/>
    <p:sldId id="415" r:id="rId18"/>
    <p:sldId id="416" r:id="rId19"/>
    <p:sldId id="480" r:id="rId20"/>
    <p:sldId id="490" r:id="rId21"/>
    <p:sldId id="483" r:id="rId22"/>
    <p:sldId id="491" r:id="rId23"/>
    <p:sldId id="485" r:id="rId24"/>
    <p:sldId id="486" r:id="rId25"/>
    <p:sldId id="493" r:id="rId26"/>
    <p:sldId id="487" r:id="rId27"/>
    <p:sldId id="488" r:id="rId28"/>
    <p:sldId id="489" r:id="rId29"/>
    <p:sldId id="503" r:id="rId30"/>
    <p:sldId id="470" r:id="rId31"/>
    <p:sldId id="474" r:id="rId32"/>
    <p:sldId id="475" r:id="rId33"/>
    <p:sldId id="476" r:id="rId34"/>
    <p:sldId id="512" r:id="rId35"/>
    <p:sldId id="513" r:id="rId36"/>
    <p:sldId id="511" r:id="rId37"/>
    <p:sldId id="506" r:id="rId38"/>
    <p:sldId id="507" r:id="rId39"/>
    <p:sldId id="508" r:id="rId40"/>
    <p:sldId id="704" r:id="rId41"/>
    <p:sldId id="514" r:id="rId42"/>
    <p:sldId id="426" r:id="rId43"/>
    <p:sldId id="697" r:id="rId44"/>
    <p:sldId id="698" r:id="rId45"/>
    <p:sldId id="699" r:id="rId46"/>
    <p:sldId id="701" r:id="rId47"/>
    <p:sldId id="702" r:id="rId48"/>
    <p:sldId id="707" r:id="rId49"/>
    <p:sldId id="708" r:id="rId50"/>
    <p:sldId id="703" r:id="rId51"/>
    <p:sldId id="435" r:id="rId52"/>
    <p:sldId id="436" r:id="rId53"/>
    <p:sldId id="437" r:id="rId54"/>
    <p:sldId id="438" r:id="rId55"/>
    <p:sldId id="440" r:id="rId56"/>
    <p:sldId id="515" r:id="rId57"/>
    <p:sldId id="516" r:id="rId58"/>
    <p:sldId id="693" r:id="rId59"/>
    <p:sldId id="695" r:id="rId60"/>
    <p:sldId id="696" r:id="rId61"/>
    <p:sldId id="720" r:id="rId62"/>
    <p:sldId id="721" r:id="rId63"/>
    <p:sldId id="391"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FF33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64" autoAdjust="0"/>
    <p:restoredTop sz="82136" autoAdjust="0"/>
  </p:normalViewPr>
  <p:slideViewPr>
    <p:cSldViewPr>
      <p:cViewPr varScale="1">
        <p:scale>
          <a:sx n="111" d="100"/>
          <a:sy n="111" d="100"/>
        </p:scale>
        <p:origin x="234"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charset="-122"/>
              </a:defRPr>
            </a:lvl1pPr>
          </a:lstStyle>
          <a:p>
            <a:pPr>
              <a:defRPr/>
            </a:pPr>
            <a:fld id="{17879CBA-C0A0-49AF-BDCD-A0A484D87473}" type="datetimeFigureOut">
              <a:rPr lang="zh-CN" altLang="en-US"/>
              <a:pPr>
                <a:defRPr/>
              </a:pPr>
              <a:t>2025/4/24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charset="-122"/>
              </a:defRPr>
            </a:lvl1pPr>
          </a:lstStyle>
          <a:p>
            <a:pPr>
              <a:defRPr/>
            </a:pPr>
            <a:fld id="{263615C9-11BB-4C07-948B-437411D67D61}" type="slidenum">
              <a:rPr lang="zh-CN" altLang="en-US"/>
              <a:pPr>
                <a:defRPr/>
              </a:pPr>
              <a:t>‹#›</a:t>
            </a:fld>
            <a:endParaRPr lang="zh-CN" altLang="en-US"/>
          </a:p>
        </p:txBody>
      </p:sp>
    </p:spTree>
    <p:extLst>
      <p:ext uri="{BB962C8B-B14F-4D97-AF65-F5344CB8AC3E}">
        <p14:creationId xmlns:p14="http://schemas.microsoft.com/office/powerpoint/2010/main" val="39302029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根据</a:t>
            </a:r>
            <a:r>
              <a:rPr lang="en-US" altLang="zh-CN"/>
              <a:t>n</a:t>
            </a:r>
            <a:r>
              <a:rPr lang="zh-CN" altLang="en-US"/>
              <a:t>元组定义形式，对于</a:t>
            </a:r>
            <a:r>
              <a:rPr lang="en-US" altLang="zh-CN"/>
              <a:t>X(k)</a:t>
            </a:r>
            <a:r>
              <a:rPr lang="zh-CN" altLang="en-US"/>
              <a:t>，</a:t>
            </a:r>
            <a:r>
              <a:rPr lang="en-US" altLang="zh-CN"/>
              <a:t>k</a:t>
            </a:r>
            <a:r>
              <a:rPr lang="zh-CN" altLang="en-US"/>
              <a:t>表示行数，</a:t>
            </a:r>
            <a:r>
              <a:rPr lang="en-US" altLang="zh-CN"/>
              <a:t>X(k)</a:t>
            </a:r>
            <a:r>
              <a:rPr lang="zh-CN" altLang="en-US"/>
              <a:t>表示列数。当前皇后的二维坐标可以表示为</a:t>
            </a:r>
            <a:r>
              <a:rPr lang="en-US" altLang="zh-CN"/>
              <a:t>(k,X(k))</a:t>
            </a:r>
            <a:endParaRPr lang="zh-CN" altLang="en-US"/>
          </a:p>
        </p:txBody>
      </p:sp>
      <p:sp>
        <p:nvSpPr>
          <p:cNvPr id="409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C219AC3-F8E7-4290-98DB-B0A24327A6FA}" type="slidenum">
              <a:rPr lang="zh-CN" altLang="en-US"/>
              <a:pPr/>
              <a:t>37</a:t>
            </a:fld>
            <a:endParaRPr lang="zh-CN" altLang="en-US"/>
          </a:p>
        </p:txBody>
      </p:sp>
    </p:spTree>
    <p:extLst>
      <p:ext uri="{BB962C8B-B14F-4D97-AF65-F5344CB8AC3E}">
        <p14:creationId xmlns:p14="http://schemas.microsoft.com/office/powerpoint/2010/main" val="3861002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34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7418371-9D11-4F52-B8A7-F46179D524CC}" type="slidenum">
              <a:rPr lang="zh-CN" altLang="en-US" smtClean="0"/>
              <a:pPr eaLnBrk="1" hangingPunct="1"/>
              <a:t>54</a:t>
            </a:fld>
            <a:endParaRPr lang="zh-CN" altLang="en-US"/>
          </a:p>
        </p:txBody>
      </p:sp>
    </p:spTree>
    <p:extLst>
      <p:ext uri="{BB962C8B-B14F-4D97-AF65-F5344CB8AC3E}">
        <p14:creationId xmlns:p14="http://schemas.microsoft.com/office/powerpoint/2010/main" val="491003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7" name="图片 16"/>
          <p:cNvPicPr>
            <a:picLocks noChangeAspect="1"/>
          </p:cNvPicPr>
          <p:nvPr/>
        </p:nvPicPr>
        <p:blipFill>
          <a:blip r:embed="rId2"/>
          <a:stretch>
            <a:fillRect/>
          </a:stretch>
        </p:blipFill>
        <p:spPr>
          <a:xfrm>
            <a:off x="5905088" y="1418544"/>
            <a:ext cx="6257321" cy="2514214"/>
          </a:xfrm>
          <a:prstGeom prst="rect">
            <a:avLst/>
          </a:prstGeom>
        </p:spPr>
      </p:pic>
      <p:pic>
        <p:nvPicPr>
          <p:cNvPr id="5" name="图片 4"/>
          <p:cNvPicPr>
            <a:picLocks noChangeAspect="1"/>
          </p:cNvPicPr>
          <p:nvPr/>
        </p:nvPicPr>
        <p:blipFill>
          <a:blip r:embed="rId3"/>
          <a:stretch>
            <a:fillRect/>
          </a:stretch>
        </p:blipFill>
        <p:spPr>
          <a:xfrm>
            <a:off x="23552" y="1418543"/>
            <a:ext cx="5872658" cy="2508395"/>
          </a:xfrm>
          <a:prstGeom prst="rect">
            <a:avLst/>
          </a:prstGeom>
        </p:spPr>
      </p:pic>
      <p:grpSp>
        <p:nvGrpSpPr>
          <p:cNvPr id="11" name="组合 10"/>
          <p:cNvGrpSpPr/>
          <p:nvPr/>
        </p:nvGrpSpPr>
        <p:grpSpPr>
          <a:xfrm>
            <a:off x="0" y="5399618"/>
            <a:ext cx="12203093" cy="1485900"/>
            <a:chOff x="0" y="5305425"/>
            <a:chExt cx="12203093" cy="1485900"/>
          </a:xfrm>
        </p:grpSpPr>
        <p:sp>
          <p:nvSpPr>
            <p:cNvPr id="13" name="矩形 12"/>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grpSp>
      <p:sp>
        <p:nvSpPr>
          <p:cNvPr id="10" name="平行四边形 9"/>
          <p:cNvSpPr/>
          <p:nvPr/>
        </p:nvSpPr>
        <p:spPr>
          <a:xfrm>
            <a:off x="-8878" y="1225462"/>
            <a:ext cx="12211802" cy="2894556"/>
          </a:xfrm>
          <a:prstGeom prst="parallelogram">
            <a:avLst>
              <a:gd name="adj" fmla="val 0"/>
            </a:avLst>
          </a:prstGeom>
          <a:solidFill>
            <a:srgbClr val="1B5091">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副标题 2"/>
          <p:cNvSpPr>
            <a:spLocks noGrp="1"/>
          </p:cNvSpPr>
          <p:nvPr>
            <p:ph type="subTitle" idx="1"/>
          </p:nvPr>
        </p:nvSpPr>
        <p:spPr>
          <a:xfrm>
            <a:off x="1101360" y="5471047"/>
            <a:ext cx="9831977" cy="781595"/>
          </a:xfrm>
        </p:spPr>
        <p:txBody>
          <a:bodyPr>
            <a:normAutofit/>
          </a:bodyPr>
          <a:lstStyle>
            <a:lvl1pPr marL="0" indent="0" algn="ctr">
              <a:buNone/>
              <a:defRPr sz="2800">
                <a:solidFill>
                  <a:srgbClr val="1E529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dirty="0"/>
          </a:p>
        </p:txBody>
      </p:sp>
      <p:sp>
        <p:nvSpPr>
          <p:cNvPr id="2" name="标题 1"/>
          <p:cNvSpPr>
            <a:spLocks noGrp="1"/>
          </p:cNvSpPr>
          <p:nvPr>
            <p:ph type="ctrTitle"/>
          </p:nvPr>
        </p:nvSpPr>
        <p:spPr>
          <a:xfrm>
            <a:off x="1101360" y="4274634"/>
            <a:ext cx="9831977" cy="999627"/>
          </a:xfrm>
        </p:spPr>
        <p:txBody>
          <a:bodyPr anchor="b">
            <a:normAutofit/>
          </a:bodyPr>
          <a:lstStyle>
            <a:lvl1pPr algn="ctr">
              <a:defRPr sz="5000">
                <a:solidFill>
                  <a:srgbClr val="1E5293"/>
                </a:solidFill>
              </a:defRPr>
            </a:lvl1pPr>
          </a:lstStyle>
          <a:p>
            <a:r>
              <a:rPr lang="zh-CN" altLang="en-US"/>
              <a:t>单击此处编辑母版标题样式</a:t>
            </a:r>
            <a:endParaRPr lang="zh-CN" altLang="en-US" dirty="0"/>
          </a:p>
        </p:txBody>
      </p:sp>
      <p:pic>
        <p:nvPicPr>
          <p:cNvPr id="19" name="图片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pic>
        <p:nvPicPr>
          <p:cNvPr id="22" name="图片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43726" y="358201"/>
            <a:ext cx="1689716" cy="562718"/>
          </a:xfrm>
          <a:prstGeom prst="rect">
            <a:avLst/>
          </a:prstGeom>
        </p:spPr>
      </p:pic>
    </p:spTree>
    <p:extLst>
      <p:ext uri="{BB962C8B-B14F-4D97-AF65-F5344CB8AC3E}">
        <p14:creationId xmlns:p14="http://schemas.microsoft.com/office/powerpoint/2010/main" val="2064565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20909" y="1360704"/>
            <a:ext cx="12169984" cy="2535726"/>
          </a:xfrm>
          <a:prstGeom prst="rect">
            <a:avLst/>
          </a:prstGeom>
        </p:spPr>
      </p:pic>
      <p:grpSp>
        <p:nvGrpSpPr>
          <p:cNvPr id="11" name="组合 10"/>
          <p:cNvGrpSpPr/>
          <p:nvPr/>
        </p:nvGrpSpPr>
        <p:grpSpPr>
          <a:xfrm>
            <a:off x="12200" y="5372100"/>
            <a:ext cx="12203093" cy="1485900"/>
            <a:chOff x="0" y="5305425"/>
            <a:chExt cx="12203093" cy="1485900"/>
          </a:xfrm>
        </p:grpSpPr>
        <p:sp>
          <p:nvSpPr>
            <p:cNvPr id="13" name="矩形 12"/>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grpSp>
      <p:sp>
        <p:nvSpPr>
          <p:cNvPr id="10" name="平行四边形 9"/>
          <p:cNvSpPr/>
          <p:nvPr/>
        </p:nvSpPr>
        <p:spPr>
          <a:xfrm>
            <a:off x="0" y="1175806"/>
            <a:ext cx="12211802" cy="2894556"/>
          </a:xfrm>
          <a:prstGeom prst="parallelogram">
            <a:avLst>
              <a:gd name="adj" fmla="val 0"/>
            </a:avLst>
          </a:prstGeom>
          <a:solidFill>
            <a:schemeClr val="accent1">
              <a:lumMod val="75000"/>
              <a:alpha val="580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副标题 2"/>
          <p:cNvSpPr>
            <a:spLocks noGrp="1"/>
          </p:cNvSpPr>
          <p:nvPr>
            <p:ph type="subTitle" idx="1"/>
          </p:nvPr>
        </p:nvSpPr>
        <p:spPr>
          <a:xfrm>
            <a:off x="1101360" y="5471047"/>
            <a:ext cx="9831977" cy="781595"/>
          </a:xfrm>
        </p:spPr>
        <p:txBody>
          <a:bodyPr>
            <a:normAutofit/>
          </a:bodyPr>
          <a:lstStyle>
            <a:lvl1pPr marL="0" indent="0" algn="ctr">
              <a:buNone/>
              <a:defRPr sz="2800">
                <a:solidFill>
                  <a:srgbClr val="1E529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dirty="0"/>
          </a:p>
        </p:txBody>
      </p:sp>
      <p:sp>
        <p:nvSpPr>
          <p:cNvPr id="2" name="标题 1"/>
          <p:cNvSpPr>
            <a:spLocks noGrp="1"/>
          </p:cNvSpPr>
          <p:nvPr>
            <p:ph type="ctrTitle"/>
          </p:nvPr>
        </p:nvSpPr>
        <p:spPr>
          <a:xfrm>
            <a:off x="1101360" y="4264253"/>
            <a:ext cx="9831977" cy="999627"/>
          </a:xfrm>
        </p:spPr>
        <p:txBody>
          <a:bodyPr anchor="b">
            <a:normAutofit/>
          </a:bodyPr>
          <a:lstStyle>
            <a:lvl1pPr algn="ctr">
              <a:defRPr sz="5000">
                <a:solidFill>
                  <a:srgbClr val="1E5293"/>
                </a:solidFill>
              </a:defRPr>
            </a:lvl1pPr>
          </a:lstStyle>
          <a:p>
            <a:r>
              <a:rPr lang="zh-CN" altLang="en-US"/>
              <a:t>单击此处编辑母版标题样式</a:t>
            </a:r>
            <a:endParaRPr lang="zh-CN" altLang="en-US" dirty="0"/>
          </a:p>
        </p:txBody>
      </p:sp>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43726" y="358201"/>
            <a:ext cx="1689716" cy="562718"/>
          </a:xfrm>
          <a:prstGeom prst="rect">
            <a:avLst/>
          </a:prstGeom>
        </p:spPr>
      </p:pic>
    </p:spTree>
    <p:extLst>
      <p:ext uri="{BB962C8B-B14F-4D97-AF65-F5344CB8AC3E}">
        <p14:creationId xmlns:p14="http://schemas.microsoft.com/office/powerpoint/2010/main" val="1661159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nvPr>
        </p:nvSpPr>
        <p:spPr/>
        <p:txBody>
          <a:bodyPr/>
          <a:lstStyle>
            <a:lvl1pPr>
              <a:defRPr/>
            </a:lvl1p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idx="1" hasCustomPrompt="1"/>
          </p:nvPr>
        </p:nvSpPr>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dirty="0"/>
              <a:t>编辑母版文本样式</a:t>
            </a:r>
            <a:r>
              <a:rPr lang="en-US" altLang="zh-CN" dirty="0" err="1"/>
              <a:t>abc</a:t>
            </a:r>
            <a:endParaRPr lang="zh-CN" altLang="en-US" dirty="0"/>
          </a:p>
          <a:p>
            <a:pPr lvl="1"/>
            <a:r>
              <a:rPr lang="zh-CN" altLang="en-US" dirty="0"/>
              <a:t>第二级</a:t>
            </a:r>
            <a:r>
              <a:rPr lang="en-US" altLang="zh-CN" dirty="0" err="1"/>
              <a:t>abc</a:t>
            </a:r>
            <a:endParaRPr lang="zh-CN" altLang="en-US" dirty="0"/>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D04713B0-7EE7-420A-BB22-6F99F562E080}" type="slidenum">
              <a:rPr lang="en-US" altLang="zh-CN" smtClean="0"/>
              <a:pPr>
                <a:defRPr/>
              </a:pPr>
              <a:t>‹#›</a:t>
            </a:fld>
            <a:endParaRPr lang="en-US" altLang="zh-CN"/>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sp>
        <p:nvSpPr>
          <p:cNvPr id="10" name="矩形 9"/>
          <p:cNvSpPr/>
          <p:nvPr userDrawn="1"/>
        </p:nvSpPr>
        <p:spPr>
          <a:xfrm>
            <a:off x="9534243" y="267287"/>
            <a:ext cx="1602317" cy="707886"/>
          </a:xfrm>
          <a:prstGeom prst="rect">
            <a:avLst/>
          </a:prstGeom>
          <a:noFill/>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cap="none" spc="50" dirty="0">
                <a:ln w="0"/>
                <a:solidFill>
                  <a:schemeClr val="bg1">
                    <a:lumMod val="65000"/>
                  </a:schemeClr>
                </a:solidFill>
                <a:effectLst>
                  <a:innerShdw blurRad="63500" dist="50800" dir="13500000">
                    <a:srgbClr val="000000">
                      <a:alpha val="50000"/>
                    </a:srgbClr>
                  </a:innerShdw>
                </a:effectLst>
                <a:latin typeface="幼圆" panose="02010509060101010101" pitchFamily="49" charset="-122"/>
                <a:ea typeface="幼圆" panose="02010509060101010101" pitchFamily="49" charset="-122"/>
              </a:rPr>
              <a:t>计算机科学与技术学院</a:t>
            </a:r>
          </a:p>
        </p:txBody>
      </p:sp>
    </p:spTree>
    <p:extLst>
      <p:ext uri="{BB962C8B-B14F-4D97-AF65-F5344CB8AC3E}">
        <p14:creationId xmlns:p14="http://schemas.microsoft.com/office/powerpoint/2010/main" val="1302898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nvPr>
        </p:nvSpPr>
        <p:spPr/>
        <p:txBody>
          <a:bodyPr/>
          <a:lstStyle>
            <a:lvl1pPr>
              <a:defRPr/>
            </a:lvl1p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idx="1"/>
          </p:nvPr>
        </p:nvSpPr>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aphicFrame>
        <p:nvGraphicFramePr>
          <p:cNvPr id="10" name="表格 9"/>
          <p:cNvGraphicFramePr>
            <a:graphicFrameLocks noGrp="1"/>
          </p:cNvGraphicFramePr>
          <p:nvPr>
            <p:extLst>
              <p:ext uri="{D42A27DB-BD31-4B8C-83A1-F6EECF244321}">
                <p14:modId xmlns:p14="http://schemas.microsoft.com/office/powerpoint/2010/main" val="3725317638"/>
              </p:ext>
            </p:extLst>
          </p:nvPr>
        </p:nvGraphicFramePr>
        <p:xfrm>
          <a:off x="7016098" y="3250773"/>
          <a:ext cx="949235" cy="396240"/>
        </p:xfrm>
        <a:graphic>
          <a:graphicData uri="http://schemas.openxmlformats.org/drawingml/2006/table">
            <a:tbl>
              <a:tblPr>
                <a:tableStyleId>{2D5ABB26-0587-4C30-8999-92F81FD0307C}</a:tableStyleId>
              </a:tblPr>
              <a:tblGrid>
                <a:gridCol w="949235">
                  <a:extLst>
                    <a:ext uri="{9D8B030D-6E8A-4147-A177-3AD203B41FA5}">
                      <a16:colId xmlns:a16="http://schemas.microsoft.com/office/drawing/2014/main" val="2089850756"/>
                    </a:ext>
                  </a:extLst>
                </a:gridCol>
              </a:tblGrid>
              <a:tr h="0">
                <a:tc>
                  <a:txBody>
                    <a:bodyPr/>
                    <a:lstStyle/>
                    <a:p>
                      <a:endParaRPr lang="zh-CN" altLang="en-US" sz="2000" dirty="0">
                        <a:latin typeface="幼圆" panose="02010509060101010101" pitchFamily="49" charset="-122"/>
                        <a:ea typeface="幼圆" panose="02010509060101010101" pitchFamily="49" charset="-122"/>
                      </a:endParaRPr>
                    </a:p>
                  </a:txBody>
                  <a:tcPr/>
                </a:tc>
                <a:extLst>
                  <a:ext uri="{0D108BD9-81ED-4DB2-BD59-A6C34878D82A}">
                    <a16:rowId xmlns:a16="http://schemas.microsoft.com/office/drawing/2014/main" val="3534267177"/>
                  </a:ext>
                </a:extLst>
              </a:tr>
            </a:tbl>
          </a:graphicData>
        </a:graphic>
      </p:graphicFrame>
    </p:spTree>
    <p:extLst>
      <p:ext uri="{BB962C8B-B14F-4D97-AF65-F5344CB8AC3E}">
        <p14:creationId xmlns:p14="http://schemas.microsoft.com/office/powerpoint/2010/main" val="4187842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单击此处编辑母版标题样式</a:t>
            </a:r>
            <a:r>
              <a:rPr lang="en-US" altLang="zh-CN" dirty="0" err="1"/>
              <a:t>abc</a:t>
            </a:r>
            <a:endParaRPr lang="zh-CN" altLang="en-US" dirty="0"/>
          </a:p>
        </p:txBody>
      </p:sp>
      <p:sp>
        <p:nvSpPr>
          <p:cNvPr id="3" name="内容占位符 2"/>
          <p:cNvSpPr>
            <a:spLocks noGrp="1"/>
          </p:cNvSpPr>
          <p:nvPr>
            <p:ph sz="half" idx="1"/>
          </p:nvPr>
        </p:nvSpPr>
        <p:spPr>
          <a:xfrm>
            <a:off x="838200" y="1825625"/>
            <a:ext cx="5181600" cy="4351338"/>
          </a:xfrm>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lvl1pPr>
              <a:lnSpc>
                <a:spcPct val="110000"/>
              </a:lnSpc>
              <a:defRPr/>
            </a:lvl1pPr>
            <a:lvl2pPr>
              <a:lnSpc>
                <a:spcPct val="110000"/>
              </a:lnSpc>
              <a:buClr>
                <a:schemeClr val="accent1">
                  <a:lumMod val="60000"/>
                  <a:lumOff val="40000"/>
                </a:schemeClr>
              </a:buClr>
              <a:defRPr/>
            </a:lvl2pPr>
            <a:lvl3pPr>
              <a:lnSpc>
                <a:spcPct val="110000"/>
              </a:lnSpc>
              <a:buClr>
                <a:schemeClr val="accent1">
                  <a:lumMod val="60000"/>
                  <a:lumOff val="40000"/>
                </a:schemeClr>
              </a:buClr>
              <a:defRPr/>
            </a:lvl3pPr>
            <a:lvl4pPr>
              <a:lnSpc>
                <a:spcPct val="110000"/>
              </a:lnSpc>
              <a:buClr>
                <a:schemeClr val="accent1">
                  <a:lumMod val="60000"/>
                  <a:lumOff val="40000"/>
                </a:schemeClr>
              </a:buClr>
              <a:defRPr/>
            </a:lvl4pPr>
            <a:lvl5pPr>
              <a:lnSpc>
                <a:spcPct val="110000"/>
              </a:lnSpc>
              <a:buClr>
                <a:schemeClr val="accent1">
                  <a:lumMod val="60000"/>
                  <a:lumOff val="40000"/>
                </a:schemeClr>
              </a:buClr>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81987BE1-1902-418F-9C26-CDCFD3D9B41D}" type="slidenum">
              <a:rPr lang="en-US" altLang="zh-CN" smtClean="0"/>
              <a:pPr>
                <a:defRPr/>
              </a:pPr>
              <a:t>‹#›</a:t>
            </a:fld>
            <a:endParaRPr lang="en-US" altLang="zh-CN"/>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9" name="组合 8"/>
          <p:cNvGrpSpPr/>
          <p:nvPr/>
        </p:nvGrpSpPr>
        <p:grpSpPr>
          <a:xfrm>
            <a:off x="-11093" y="5372100"/>
            <a:ext cx="12203093" cy="1485900"/>
            <a:chOff x="0" y="5305425"/>
            <a:chExt cx="12203093" cy="1485900"/>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1" name="矩形 10"/>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48130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a:defRPr/>
            </a:pPr>
            <a:endParaRPr lang="en-US" altLang="zh-CN"/>
          </a:p>
        </p:txBody>
      </p:sp>
      <p:sp>
        <p:nvSpPr>
          <p:cNvPr id="4" name="灯片编号占位符 3"/>
          <p:cNvSpPr>
            <a:spLocks noGrp="1"/>
          </p:cNvSpPr>
          <p:nvPr>
            <p:ph type="sldNum" sz="quarter" idx="11"/>
          </p:nvPr>
        </p:nvSpPr>
        <p:spPr/>
        <p:txBody>
          <a:bodyPr/>
          <a:lstStyle/>
          <a:p>
            <a:pPr>
              <a:defRPr/>
            </a:pPr>
            <a:fld id="{C2224BEA-3C3F-4596-8550-1ADD053AC372}" type="slidenum">
              <a:rPr lang="en-US" altLang="zh-CN" smtClean="0"/>
              <a:pPr>
                <a:defRPr/>
              </a:pPr>
              <a:t>‹#›</a:t>
            </a:fld>
            <a:endParaRPr lang="en-US" altLang="zh-CN"/>
          </a:p>
        </p:txBody>
      </p:sp>
      <p:grpSp>
        <p:nvGrpSpPr>
          <p:cNvPr id="5" name="组合 4"/>
          <p:cNvGrpSpPr/>
          <p:nvPr/>
        </p:nvGrpSpPr>
        <p:grpSpPr>
          <a:xfrm>
            <a:off x="0" y="5372100"/>
            <a:ext cx="12203093" cy="1485900"/>
            <a:chOff x="0" y="5305425"/>
            <a:chExt cx="12203093" cy="1485900"/>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7" name="矩形 6"/>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spTree>
    <p:extLst>
      <p:ext uri="{BB962C8B-B14F-4D97-AF65-F5344CB8AC3E}">
        <p14:creationId xmlns:p14="http://schemas.microsoft.com/office/powerpoint/2010/main" val="1171186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sp>
        <p:nvSpPr>
          <p:cNvPr id="7" name="标题 1"/>
          <p:cNvSpPr>
            <a:spLocks noGrp="1"/>
          </p:cNvSpPr>
          <p:nvPr>
            <p:ph type="title" hasCustomPrompt="1"/>
          </p:nvPr>
        </p:nvSpPr>
        <p:spPr>
          <a:xfrm>
            <a:off x="838200" y="365125"/>
            <a:ext cx="10515600" cy="1325563"/>
          </a:xfrm>
        </p:spPr>
        <p:txBody>
          <a:bodyPr/>
          <a:lstStyle>
            <a:lvl1pPr>
              <a:defRPr/>
            </a:lvl1pPr>
          </a:lstStyle>
          <a:p>
            <a:r>
              <a:rPr lang="zh-CN" altLang="en-US" dirty="0"/>
              <a:t>单击此处编辑母版标题样式</a:t>
            </a:r>
            <a:r>
              <a:rPr lang="en-US" altLang="zh-CN" dirty="0" err="1"/>
              <a:t>abc</a:t>
            </a:r>
            <a:endParaRPr lang="zh-CN" altLang="en-US" dirty="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10" name="组合 9"/>
          <p:cNvGrpSpPr/>
          <p:nvPr/>
        </p:nvGrpSpPr>
        <p:grpSpPr>
          <a:xfrm>
            <a:off x="-11093" y="5372100"/>
            <a:ext cx="12203093" cy="1485900"/>
            <a:chOff x="0" y="5305425"/>
            <a:chExt cx="12203093" cy="1485900"/>
          </a:xfrm>
        </p:grpSpPr>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2" name="矩形 11"/>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026429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1384663"/>
            <a:ext cx="6172200" cy="44763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dirty="0"/>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C2224BEA-3C3F-4596-8550-1ADD053AC372}" type="slidenum">
              <a:rPr lang="en-US" altLang="zh-CN" smtClean="0"/>
              <a:pPr>
                <a:defRPr/>
              </a:pPr>
              <a:t>‹#›</a:t>
            </a:fld>
            <a:endParaRPr lang="en-US" altLang="zh-CN"/>
          </a:p>
        </p:txBody>
      </p:sp>
      <p:sp>
        <p:nvSpPr>
          <p:cNvPr id="8" name="内容占位符 2"/>
          <p:cNvSpPr>
            <a:spLocks noGrp="1"/>
          </p:cNvSpPr>
          <p:nvPr>
            <p:ph idx="13"/>
          </p:nvPr>
        </p:nvSpPr>
        <p:spPr>
          <a:xfrm>
            <a:off x="839788" y="1384663"/>
            <a:ext cx="3932237" cy="4476387"/>
          </a:xfrm>
        </p:spPr>
        <p:txBody>
          <a:bodyPr/>
          <a:lstStyle>
            <a:lvl1pPr>
              <a:lnSpc>
                <a:spcPct val="110000"/>
              </a:lnSpc>
              <a:defRPr sz="2800"/>
            </a:lvl1pPr>
            <a:lvl2pPr>
              <a:lnSpc>
                <a:spcPct val="110000"/>
              </a:lnSpc>
              <a:buClr>
                <a:schemeClr val="accent1">
                  <a:lumMod val="60000"/>
                  <a:lumOff val="40000"/>
                </a:schemeClr>
              </a:buClr>
              <a:defRPr sz="2400"/>
            </a:lvl2pPr>
            <a:lvl3pPr>
              <a:lnSpc>
                <a:spcPct val="110000"/>
              </a:lnSpc>
              <a:buClr>
                <a:schemeClr val="accent1">
                  <a:lumMod val="60000"/>
                  <a:lumOff val="40000"/>
                </a:schemeClr>
              </a:buClr>
              <a:defRPr sz="2400"/>
            </a:lvl3pPr>
            <a:lvl4pPr>
              <a:lnSpc>
                <a:spcPct val="110000"/>
              </a:lnSpc>
              <a:buClr>
                <a:schemeClr val="accent1">
                  <a:lumMod val="60000"/>
                  <a:lumOff val="40000"/>
                </a:schemeClr>
              </a:buClr>
              <a:defRPr sz="2400"/>
            </a:lvl4pPr>
            <a:lvl5pPr>
              <a:lnSpc>
                <a:spcPct val="110000"/>
              </a:lnSpc>
              <a:buClr>
                <a:schemeClr val="accent1">
                  <a:lumMod val="60000"/>
                  <a:lumOff val="40000"/>
                </a:schemeClr>
              </a:buClr>
              <a:defRPr sz="24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9" name="标题 1"/>
          <p:cNvSpPr txBox="1">
            <a:spLocks/>
          </p:cNvSpPr>
          <p:nvPr/>
        </p:nvSpPr>
        <p:spPr>
          <a:xfrm>
            <a:off x="733697" y="1299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a:lstStyle>
          <a:p>
            <a:r>
              <a:rPr lang="zh-CN" altLang="en-US" dirty="0"/>
              <a:t>单击此处编辑母版标题样式</a:t>
            </a:r>
            <a:r>
              <a:rPr lang="en-US" altLang="zh-CN" dirty="0" err="1"/>
              <a:t>abc</a:t>
            </a:r>
            <a:endParaRPr lang="zh-CN" altLang="en-US" dirty="0"/>
          </a:p>
        </p:txBody>
      </p:sp>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10" name="组合 9"/>
          <p:cNvGrpSpPr/>
          <p:nvPr/>
        </p:nvGrpSpPr>
        <p:grpSpPr>
          <a:xfrm>
            <a:off x="-11093" y="5372100"/>
            <a:ext cx="12203093" cy="1485900"/>
            <a:chOff x="0" y="5305425"/>
            <a:chExt cx="12203093" cy="1485900"/>
          </a:xfrm>
        </p:grpSpPr>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12" name="矩形 11"/>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939365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4928" y="2664188"/>
            <a:ext cx="10515600" cy="1325563"/>
          </a:xfrm>
        </p:spPr>
        <p:txBody>
          <a:bodyPr>
            <a:normAutofit/>
          </a:bodyPr>
          <a:lstStyle>
            <a:lvl1pPr marL="0" algn="ctr" defTabSz="914400" rtl="0" eaLnBrk="1" latinLnBrk="0" hangingPunct="1">
              <a:defRPr lang="zh-CN" altLang="en-US" sz="5400" kern="1200" dirty="0">
                <a:ln w="22225">
                  <a:solidFill>
                    <a:schemeClr val="accent2"/>
                  </a:solidFill>
                  <a:prstDash val="solid"/>
                </a:ln>
                <a:solidFill>
                  <a:schemeClr val="accent6">
                    <a:lumMod val="75000"/>
                  </a:schemeClr>
                </a:solidFill>
                <a:latin typeface="幼圆" panose="02010509060101010101" pitchFamily="49" charset="-122"/>
                <a:ea typeface="幼圆" panose="02010509060101010101" pitchFamily="49" charset="-122"/>
                <a:cs typeface="+mn-cs"/>
              </a:defRPr>
            </a:lvl1pPr>
          </a:lstStyle>
          <a:p>
            <a:r>
              <a:rPr lang="zh-CN" altLang="en-US"/>
              <a:t>单击此处编辑母版标题样式</a:t>
            </a:r>
            <a:endParaRPr lang="zh-CN" altLang="en-US" dirty="0"/>
          </a:p>
        </p:txBody>
      </p:sp>
      <p:sp>
        <p:nvSpPr>
          <p:cNvPr id="3" name="页脚占位符 2"/>
          <p:cNvSpPr>
            <a:spLocks noGrp="1"/>
          </p:cNvSpPr>
          <p:nvPr>
            <p:ph type="ftr" sz="quarter" idx="10"/>
          </p:nvPr>
        </p:nvSpPr>
        <p:spPr/>
        <p:txBody>
          <a:bodyPr/>
          <a:lstStyle/>
          <a:p>
            <a:pPr>
              <a:defRPr/>
            </a:pPr>
            <a:endParaRPr lang="en-US" altLang="zh-CN"/>
          </a:p>
        </p:txBody>
      </p:sp>
      <p:sp>
        <p:nvSpPr>
          <p:cNvPr id="4" name="灯片编号占位符 3"/>
          <p:cNvSpPr>
            <a:spLocks noGrp="1"/>
          </p:cNvSpPr>
          <p:nvPr>
            <p:ph type="sldNum" sz="quarter" idx="11"/>
          </p:nvPr>
        </p:nvSpPr>
        <p:spPr/>
        <p:txBody>
          <a:bodyPr/>
          <a:lstStyle/>
          <a:p>
            <a:pPr>
              <a:defRPr/>
            </a:pPr>
            <a:fld id="{C2224BEA-3C3F-4596-8550-1ADD053AC372}" type="slidenum">
              <a:rPr lang="en-US" altLang="zh-CN" smtClean="0"/>
              <a:pPr>
                <a:defRPr/>
              </a:pPr>
              <a:t>‹#›</a:t>
            </a:fld>
            <a:endParaRPr lang="en-US" altLang="zh-CN"/>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0528" y="91556"/>
            <a:ext cx="856142" cy="961839"/>
          </a:xfrm>
          <a:prstGeom prst="rect">
            <a:avLst/>
          </a:prstGeom>
        </p:spPr>
      </p:pic>
      <p:grpSp>
        <p:nvGrpSpPr>
          <p:cNvPr id="7" name="组合 6"/>
          <p:cNvGrpSpPr/>
          <p:nvPr/>
        </p:nvGrpSpPr>
        <p:grpSpPr>
          <a:xfrm>
            <a:off x="-11093" y="5372100"/>
            <a:ext cx="12203093" cy="1485900"/>
            <a:chOff x="0" y="5305425"/>
            <a:chExt cx="12203093" cy="1485900"/>
          </a:xfrm>
        </p:grpSpPr>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03263"/>
              <a:ext cx="12192000" cy="1290224"/>
            </a:xfrm>
            <a:prstGeom prst="rect">
              <a:avLst/>
            </a:prstGeom>
          </p:spPr>
        </p:pic>
        <p:sp>
          <p:nvSpPr>
            <p:cNvPr id="9" name="矩形 8"/>
            <p:cNvSpPr/>
            <p:nvPr/>
          </p:nvSpPr>
          <p:spPr>
            <a:xfrm>
              <a:off x="0" y="5305425"/>
              <a:ext cx="12203093" cy="1485900"/>
            </a:xfrm>
            <a:prstGeom prst="rect">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8255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1.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r>
              <a:rPr lang="en-US" altLang="zh-CN" dirty="0" err="1"/>
              <a:t>abc</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r>
              <a:rPr lang="en-US" altLang="zh-CN" dirty="0" err="1"/>
              <a:t>abc</a:t>
            </a:r>
            <a:endParaRPr lang="zh-CN" altLang="en-US" dirty="0"/>
          </a:p>
          <a:p>
            <a:pPr lvl="1"/>
            <a:r>
              <a:rPr lang="zh-CN" altLang="en-US" dirty="0"/>
              <a:t>第二级</a:t>
            </a:r>
            <a:r>
              <a:rPr lang="en-US" altLang="zh-CN" dirty="0" err="1"/>
              <a:t>abc</a:t>
            </a:r>
            <a:endParaRPr lang="zh-CN" altLang="en-US" dirty="0"/>
          </a:p>
          <a:p>
            <a:pPr lvl="2"/>
            <a:r>
              <a:rPr lang="zh-CN" altLang="en-US" dirty="0"/>
              <a:t>第三级</a:t>
            </a:r>
            <a:r>
              <a:rPr lang="en-US" altLang="zh-CN" dirty="0" err="1"/>
              <a:t>abc</a:t>
            </a:r>
            <a:endParaRPr lang="zh-CN" altLang="en-US" dirty="0"/>
          </a:p>
          <a:p>
            <a:pPr lvl="3"/>
            <a:r>
              <a:rPr lang="zh-CN" altLang="en-US" dirty="0"/>
              <a:t>第四级</a:t>
            </a:r>
            <a:r>
              <a:rPr lang="en-US" altLang="zh-CN" dirty="0" err="1"/>
              <a:t>abc</a:t>
            </a:r>
            <a:endParaRPr lang="zh-CN" altLang="en-US" dirty="0"/>
          </a:p>
          <a:p>
            <a:pPr lvl="4"/>
            <a:r>
              <a:rPr lang="zh-CN" altLang="en-US" dirty="0"/>
              <a:t>第五级</a:t>
            </a:r>
            <a:r>
              <a:rPr lang="en-US" altLang="zh-CN" dirty="0" err="1"/>
              <a:t>abc</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2224BEA-3C3F-4596-8550-1ADD053AC372}" type="slidenum">
              <a:rPr lang="en-US" altLang="zh-CN" smtClean="0"/>
              <a:pPr>
                <a:defRPr/>
              </a:pPr>
              <a:t>‹#›</a:t>
            </a:fld>
            <a:endParaRPr lang="en-US" altLang="zh-CN"/>
          </a:p>
        </p:txBody>
      </p:sp>
      <p:sp>
        <p:nvSpPr>
          <p:cNvPr id="7" name="标题占位符 1"/>
          <p:cNvSpPr txBox="1">
            <a:spLocks noChangeArrowheads="1"/>
          </p:cNvSpPr>
          <p:nvPr>
            <p:custDataLst>
              <p:tags r:id="rId11"/>
            </p:custDataLst>
          </p:nvPr>
        </p:nvSpPr>
        <p:spPr bwMode="auto">
          <a:xfrm>
            <a:off x="501650" y="314420"/>
            <a:ext cx="10852150" cy="660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lvl1pPr algn="l" defTabSz="914400" rtl="0" eaLnBrk="1" latinLnBrk="0" hangingPunct="1">
              <a:lnSpc>
                <a:spcPct val="90000"/>
              </a:lnSpc>
              <a:spcBef>
                <a:spcPct val="0"/>
              </a:spcBef>
              <a:buNone/>
              <a:defRPr sz="3600" b="0" kern="1200">
                <a:solidFill>
                  <a:srgbClr val="1B5091"/>
                </a:solidFill>
                <a:latin typeface="Arial" panose="020B0604020202020204" pitchFamily="34" charset="0"/>
                <a:ea typeface="幼圆" panose="02010509060101010101" pitchFamily="49" charset="-122"/>
                <a:cs typeface="Arial" panose="020B0604020202020204" pitchFamily="34" charset="0"/>
              </a:defRPr>
            </a:lvl1pPr>
          </a:lstStyle>
          <a:p>
            <a:endParaRPr lang="zh-CN" altLang="en-US" dirty="0"/>
          </a:p>
        </p:txBody>
      </p:sp>
    </p:spTree>
    <p:extLst>
      <p:ext uri="{BB962C8B-B14F-4D97-AF65-F5344CB8AC3E}">
        <p14:creationId xmlns:p14="http://schemas.microsoft.com/office/powerpoint/2010/main" val="65374273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Lst>
  <p:hf hdr="0" ftr="0" dt="0"/>
  <p:txStyles>
    <p:titleStyle>
      <a:lvl1pPr algn="l" defTabSz="914400" rtl="0" eaLnBrk="1" latinLnBrk="0" hangingPunct="1">
        <a:lnSpc>
          <a:spcPct val="90000"/>
        </a:lnSpc>
        <a:spcBef>
          <a:spcPct val="0"/>
        </a:spcBef>
        <a:buNone/>
        <a:defRPr sz="4000" kern="1200">
          <a:solidFill>
            <a:srgbClr val="1E5293"/>
          </a:solidFill>
          <a:latin typeface="Arial" panose="020B0604020202020204" pitchFamily="34" charset="0"/>
          <a:ea typeface="幼圆" panose="02010509060101010101" pitchFamily="49" charset="-122"/>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90000"/>
        </a:lnSpc>
        <a:spcBef>
          <a:spcPts val="500"/>
        </a:spcBef>
        <a:buClr>
          <a:schemeClr val="accent1">
            <a:lumMod val="75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1101360" y="4149080"/>
            <a:ext cx="9831977" cy="999627"/>
          </a:xfrm>
        </p:spPr>
        <p:txBody>
          <a:bodyPr>
            <a:normAutofit/>
          </a:bodyPr>
          <a:lstStyle/>
          <a:p>
            <a:r>
              <a:rPr lang="zh-CN" altLang="en-US" sz="4800" dirty="0"/>
              <a:t>第七</a:t>
            </a:r>
            <a:r>
              <a:rPr lang="zh-CN" altLang="en-US" sz="4800"/>
              <a:t>章 回溯法</a:t>
            </a:r>
            <a:endParaRPr lang="zh-CN" altLang="en-US" sz="4800" dirty="0"/>
          </a:p>
        </p:txBody>
      </p:sp>
    </p:spTree>
    <p:extLst>
      <p:ext uri="{BB962C8B-B14F-4D97-AF65-F5344CB8AC3E}">
        <p14:creationId xmlns:p14="http://schemas.microsoft.com/office/powerpoint/2010/main" val="2001084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14382" y="404664"/>
            <a:ext cx="10515600" cy="1325563"/>
          </a:xfrm>
        </p:spPr>
        <p:txBody>
          <a:bodyPr/>
          <a:lstStyle/>
          <a:p>
            <a:pPr eaLnBrk="1" hangingPunct="1"/>
            <a:r>
              <a:rPr lang="zh-CN" altLang="en-US" dirty="0"/>
              <a:t>目录</a:t>
            </a:r>
          </a:p>
        </p:txBody>
      </p:sp>
      <p:sp>
        <p:nvSpPr>
          <p:cNvPr id="4099" name="Rectangle 3"/>
          <p:cNvSpPr>
            <a:spLocks noGrp="1" noChangeArrowheads="1"/>
          </p:cNvSpPr>
          <p:nvPr>
            <p:ph type="body" idx="1"/>
          </p:nvPr>
        </p:nvSpPr>
        <p:spPr>
          <a:xfrm>
            <a:off x="915598" y="1773517"/>
            <a:ext cx="10004938" cy="3599699"/>
          </a:xfrm>
        </p:spPr>
        <p:txBody>
          <a:bodyPr/>
          <a:lstStyle/>
          <a:p>
            <a:pPr eaLnBrk="1" hangingPunct="1">
              <a:spcBef>
                <a:spcPts val="0"/>
              </a:spcBef>
            </a:pPr>
            <a:r>
              <a:rPr kumimoji="1" lang="en-US" altLang="zh-CN" dirty="0"/>
              <a:t>7.1 </a:t>
            </a:r>
            <a:r>
              <a:rPr kumimoji="1" lang="zh-CN" altLang="en-US" dirty="0"/>
              <a:t>回溯一般方法</a:t>
            </a:r>
            <a:endParaRPr kumimoji="1" lang="en-US" altLang="zh-CN" dirty="0"/>
          </a:p>
          <a:p>
            <a:pPr eaLnBrk="1" hangingPunct="1">
              <a:spcBef>
                <a:spcPts val="0"/>
              </a:spcBef>
            </a:pPr>
            <a:r>
              <a:rPr kumimoji="1" lang="en-US" altLang="zh-CN" dirty="0"/>
              <a:t>7.2 </a:t>
            </a:r>
            <a:r>
              <a:rPr kumimoji="1" lang="zh-CN" altLang="en-US" dirty="0"/>
              <a:t>回溯法的效率估计</a:t>
            </a:r>
            <a:endParaRPr kumimoji="1" lang="en-US" altLang="zh-CN" dirty="0"/>
          </a:p>
          <a:p>
            <a:pPr>
              <a:spcBef>
                <a:spcPts val="0"/>
              </a:spcBef>
            </a:pPr>
            <a:r>
              <a:rPr kumimoji="1" lang="en-US" altLang="zh-CN" dirty="0"/>
              <a:t>7.3 n-</a:t>
            </a:r>
            <a:r>
              <a:rPr kumimoji="1" lang="zh-CN" altLang="en-US" dirty="0"/>
              <a:t>皇后问题</a:t>
            </a:r>
            <a:endParaRPr kumimoji="1" lang="en-US" altLang="zh-CN" dirty="0"/>
          </a:p>
          <a:p>
            <a:pPr>
              <a:spcBef>
                <a:spcPts val="0"/>
              </a:spcBef>
            </a:pPr>
            <a:r>
              <a:rPr lang="en-US" altLang="zh-CN" dirty="0"/>
              <a:t>7.4 </a:t>
            </a:r>
            <a:r>
              <a:rPr lang="zh-CN" altLang="en-US" dirty="0"/>
              <a:t>子集和问题</a:t>
            </a:r>
            <a:endParaRPr lang="en-US" altLang="zh-CN" dirty="0"/>
          </a:p>
          <a:p>
            <a:pPr eaLnBrk="1" hangingPunct="1">
              <a:spcBef>
                <a:spcPts val="0"/>
              </a:spcBef>
            </a:pPr>
            <a:r>
              <a:rPr lang="en-US" altLang="zh-CN" dirty="0"/>
              <a:t>7.5 </a:t>
            </a:r>
            <a:r>
              <a:rPr lang="zh-CN" altLang="en-US" dirty="0"/>
              <a:t>图着色问题</a:t>
            </a:r>
            <a:endParaRPr lang="en-US" altLang="zh-CN" dirty="0"/>
          </a:p>
          <a:p>
            <a:pPr eaLnBrk="1" hangingPunct="1">
              <a:spcBef>
                <a:spcPts val="0"/>
              </a:spcBef>
            </a:pPr>
            <a:r>
              <a:rPr lang="en-US" altLang="zh-CN" dirty="0"/>
              <a:t>7.6 </a:t>
            </a:r>
            <a:r>
              <a:rPr lang="zh-CN" altLang="en-US" dirty="0"/>
              <a:t>小结</a:t>
            </a:r>
            <a:endParaRPr lang="en-US" altLang="zh-CN" dirty="0"/>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2</a:t>
            </a:fld>
            <a:endParaRPr lang="en-US" altLang="zh-CN"/>
          </a:p>
        </p:txBody>
      </p:sp>
    </p:spTree>
    <p:extLst>
      <p:ext uri="{BB962C8B-B14F-4D97-AF65-F5344CB8AC3E}">
        <p14:creationId xmlns:p14="http://schemas.microsoft.com/office/powerpoint/2010/main" val="165462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spcBef>
                <a:spcPts val="0"/>
              </a:spcBef>
            </a:pPr>
            <a:r>
              <a:rPr lang="en-US" altLang="zh-CN" dirty="0"/>
              <a:t>7.1 </a:t>
            </a:r>
            <a:r>
              <a:rPr lang="zh-CN" altLang="en-US" dirty="0"/>
              <a:t>回溯的一般方法</a:t>
            </a:r>
          </a:p>
        </p:txBody>
      </p:sp>
      <p:sp>
        <p:nvSpPr>
          <p:cNvPr id="5123" name="Rectangle 3"/>
          <p:cNvSpPr>
            <a:spLocks noGrp="1" noChangeArrowheads="1"/>
          </p:cNvSpPr>
          <p:nvPr>
            <p:ph type="body" idx="1"/>
          </p:nvPr>
        </p:nvSpPr>
        <p:spPr>
          <a:xfrm>
            <a:off x="911424" y="1678666"/>
            <a:ext cx="10515600" cy="4351338"/>
          </a:xfrm>
        </p:spPr>
        <p:txBody>
          <a:bodyPr/>
          <a:lstStyle/>
          <a:p>
            <a:pPr>
              <a:spcBef>
                <a:spcPts val="0"/>
              </a:spcBef>
            </a:pPr>
            <a:r>
              <a:rPr lang="zh-CN" altLang="en-US" dirty="0"/>
              <a:t>方法适用的问题特点</a:t>
            </a:r>
            <a:endParaRPr lang="en-US" altLang="zh-CN" dirty="0"/>
          </a:p>
          <a:p>
            <a:pPr>
              <a:spcBef>
                <a:spcPts val="0"/>
              </a:spcBef>
            </a:pPr>
            <a:r>
              <a:rPr lang="zh-CN" altLang="en-US" dirty="0"/>
              <a:t>多米诺性质</a:t>
            </a:r>
            <a:endParaRPr lang="en-US" altLang="zh-CN" dirty="0"/>
          </a:p>
          <a:p>
            <a:pPr>
              <a:spcBef>
                <a:spcPts val="0"/>
              </a:spcBef>
            </a:pPr>
            <a:r>
              <a:rPr lang="zh-CN" altLang="en-US" dirty="0"/>
              <a:t>解空间树</a:t>
            </a:r>
            <a:endParaRPr lang="en-US" altLang="zh-CN" dirty="0"/>
          </a:p>
          <a:p>
            <a:pPr>
              <a:spcBef>
                <a:spcPts val="0"/>
              </a:spcBef>
            </a:pPr>
            <a:r>
              <a:rPr kumimoji="1" lang="zh-CN" altLang="en-US" dirty="0"/>
              <a:t>问题建模</a:t>
            </a:r>
            <a:endParaRPr kumimoji="1" lang="en-US" altLang="zh-CN" dirty="0"/>
          </a:p>
          <a:p>
            <a:pPr>
              <a:spcBef>
                <a:spcPts val="0"/>
              </a:spcBef>
            </a:pPr>
            <a:r>
              <a:rPr kumimoji="1" lang="zh-CN" altLang="en-US" dirty="0"/>
              <a:t>动态树中的结点类型</a:t>
            </a:r>
            <a:endParaRPr kumimoji="1" lang="en-US" altLang="zh-CN" dirty="0"/>
          </a:p>
          <a:p>
            <a:pPr>
              <a:spcBef>
                <a:spcPts val="0"/>
              </a:spcBef>
            </a:pPr>
            <a:r>
              <a:rPr kumimoji="1" lang="zh-CN" altLang="en-US" dirty="0"/>
              <a:t>动态树结点生成方式</a:t>
            </a:r>
            <a:endParaRPr kumimoji="1" lang="en-US" altLang="zh-CN" dirty="0"/>
          </a:p>
          <a:p>
            <a:pPr>
              <a:spcBef>
                <a:spcPts val="0"/>
              </a:spcBef>
            </a:pPr>
            <a:r>
              <a:rPr kumimoji="1" lang="zh-CN" altLang="en-US" dirty="0"/>
              <a:t>回溯法的设计思想</a:t>
            </a:r>
            <a:endParaRPr kumimoji="1" lang="en-US" altLang="zh-CN" dirty="0"/>
          </a:p>
          <a:p>
            <a:pPr>
              <a:spcBef>
                <a:spcPts val="0"/>
              </a:spcBef>
            </a:pPr>
            <a:r>
              <a:rPr lang="zh-CN" altLang="en-US" dirty="0"/>
              <a:t>算法</a:t>
            </a:r>
            <a:r>
              <a:rPr lang="en-US" altLang="zh-CN" dirty="0"/>
              <a:t>7.1 </a:t>
            </a:r>
            <a:r>
              <a:rPr lang="zh-CN" altLang="en-US" dirty="0"/>
              <a:t>回溯法的非递归算法</a:t>
            </a:r>
            <a:endParaRPr lang="en-US" altLang="zh-CN" dirty="0"/>
          </a:p>
          <a:p>
            <a:pPr>
              <a:spcBef>
                <a:spcPts val="0"/>
              </a:spcBef>
            </a:pPr>
            <a:r>
              <a:rPr lang="zh-CN" altLang="en-US" dirty="0"/>
              <a:t>算法</a:t>
            </a:r>
            <a:r>
              <a:rPr lang="en-US" altLang="zh-CN" dirty="0"/>
              <a:t>7.2 </a:t>
            </a:r>
            <a:r>
              <a:rPr lang="zh-CN" altLang="en-US" dirty="0"/>
              <a:t>回溯法的递归算法</a:t>
            </a:r>
            <a:endParaRPr kumimoji="1" lang="en-US" altLang="zh-CN" dirty="0"/>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3</a:t>
            </a:fld>
            <a:endParaRPr lang="en-US" altLang="zh-CN"/>
          </a:p>
        </p:txBody>
      </p:sp>
    </p:spTree>
    <p:extLst>
      <p:ext uri="{BB962C8B-B14F-4D97-AF65-F5344CB8AC3E}">
        <p14:creationId xmlns:p14="http://schemas.microsoft.com/office/powerpoint/2010/main" val="622348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39416" y="365125"/>
            <a:ext cx="10515600" cy="1325563"/>
          </a:xfrm>
        </p:spPr>
        <p:txBody>
          <a:bodyPr/>
          <a:lstStyle/>
          <a:p>
            <a:pPr>
              <a:spcBef>
                <a:spcPts val="0"/>
              </a:spcBef>
            </a:pPr>
            <a:r>
              <a:rPr lang="zh-CN" altLang="en-US" dirty="0"/>
              <a:t>方法适用的问题特点</a:t>
            </a:r>
            <a:endParaRPr lang="en-US" altLang="zh-CN" dirty="0"/>
          </a:p>
        </p:txBody>
      </p:sp>
      <p:sp>
        <p:nvSpPr>
          <p:cNvPr id="12291" name="Rectangle 3"/>
          <p:cNvSpPr>
            <a:spLocks noGrp="1" noChangeArrowheads="1"/>
          </p:cNvSpPr>
          <p:nvPr>
            <p:ph type="body" idx="1"/>
          </p:nvPr>
        </p:nvSpPr>
        <p:spPr>
          <a:xfrm>
            <a:off x="948644" y="1690688"/>
            <a:ext cx="10297144" cy="4419600"/>
          </a:xfrm>
        </p:spPr>
        <p:txBody>
          <a:bodyPr>
            <a:normAutofit/>
          </a:bodyPr>
          <a:lstStyle/>
          <a:p>
            <a:pPr eaLnBrk="1" hangingPunct="1"/>
            <a:r>
              <a:rPr kumimoji="1" lang="zh-CN" altLang="en-US" sz="2400" dirty="0"/>
              <a:t>方法适用于解决多阶段决策问题，也称为组合问题</a:t>
            </a:r>
            <a:endParaRPr kumimoji="1" lang="en-US" altLang="zh-CN" sz="2400" dirty="0"/>
          </a:p>
          <a:p>
            <a:pPr lvl="1"/>
            <a:r>
              <a:rPr kumimoji="1" lang="zh-CN" altLang="en-US" dirty="0"/>
              <a:t>问题的解向量用</a:t>
            </a:r>
            <a:r>
              <a:rPr kumimoji="1" lang="zh-CN" altLang="en-US" dirty="0">
                <a:solidFill>
                  <a:srgbClr val="FF0000"/>
                </a:solidFill>
              </a:rPr>
              <a:t>元组</a:t>
            </a:r>
            <a:r>
              <a:rPr kumimoji="1" lang="zh-CN" altLang="en-US" dirty="0"/>
              <a:t>来表示</a:t>
            </a:r>
            <a:r>
              <a:rPr kumimoji="1" lang="en-US" altLang="zh-CN" dirty="0"/>
              <a:t>, </a:t>
            </a:r>
            <a:r>
              <a:rPr kumimoji="1" lang="zh-CN" altLang="en-US" dirty="0"/>
              <a:t>元素</a:t>
            </a:r>
            <a:r>
              <a:rPr kumimoji="1" lang="en-US" altLang="zh-CN" dirty="0"/>
              <a:t>x</a:t>
            </a:r>
            <a:r>
              <a:rPr kumimoji="1" lang="en-US" altLang="zh-CN" baseline="-25000" dirty="0"/>
              <a:t>i</a:t>
            </a:r>
            <a:r>
              <a:rPr kumimoji="1" lang="zh-CN" altLang="en-US" dirty="0"/>
              <a:t>通常取自于某个有穷集</a:t>
            </a:r>
            <a:r>
              <a:rPr kumimoji="1" lang="en-US" altLang="zh-CN" dirty="0"/>
              <a:t>S</a:t>
            </a:r>
            <a:r>
              <a:rPr kumimoji="1" lang="en-US" altLang="zh-CN" baseline="-25000" dirty="0"/>
              <a:t>i</a:t>
            </a:r>
            <a:r>
              <a:rPr kumimoji="1" lang="en-US" altLang="zh-CN" dirty="0"/>
              <a:t> ,1≤i≤n, n</a:t>
            </a:r>
            <a:r>
              <a:rPr kumimoji="1" lang="zh-CN" altLang="en-US" dirty="0"/>
              <a:t>表示问题规模</a:t>
            </a:r>
            <a:endParaRPr kumimoji="1" lang="en-US" altLang="zh-CN" dirty="0"/>
          </a:p>
          <a:p>
            <a:pPr lvl="2"/>
            <a:r>
              <a:rPr kumimoji="1" lang="zh-CN" altLang="en-US" dirty="0"/>
              <a:t>固定长</a:t>
            </a:r>
            <a:r>
              <a:rPr kumimoji="1" lang="en-US" altLang="zh-CN" dirty="0"/>
              <a:t>n-</a:t>
            </a:r>
            <a:r>
              <a:rPr kumimoji="1" lang="zh-CN" altLang="en-US" dirty="0"/>
              <a:t>元组</a:t>
            </a:r>
            <a:r>
              <a:rPr kumimoji="1" lang="en-US" altLang="zh-CN" dirty="0"/>
              <a:t>(x</a:t>
            </a:r>
            <a:r>
              <a:rPr kumimoji="1" lang="en-US" altLang="zh-CN" baseline="-25000" dirty="0"/>
              <a:t>1</a:t>
            </a:r>
            <a:r>
              <a:rPr kumimoji="1" lang="en-US" altLang="zh-CN" dirty="0"/>
              <a:t>, … , </a:t>
            </a:r>
            <a:r>
              <a:rPr kumimoji="1" lang="en-US" altLang="zh-CN" dirty="0" err="1"/>
              <a:t>x</a:t>
            </a:r>
            <a:r>
              <a:rPr kumimoji="1" lang="en-US" altLang="zh-CN" baseline="-25000" dirty="0" err="1"/>
              <a:t>n</a:t>
            </a:r>
            <a:r>
              <a:rPr kumimoji="1" lang="en-US" altLang="zh-CN" dirty="0"/>
              <a:t>)</a:t>
            </a:r>
          </a:p>
          <a:p>
            <a:pPr lvl="2"/>
            <a:r>
              <a:rPr kumimoji="1" lang="zh-CN" altLang="en-US" dirty="0"/>
              <a:t>不定长</a:t>
            </a:r>
            <a:r>
              <a:rPr kumimoji="1" lang="en-US" altLang="zh-CN" dirty="0"/>
              <a:t>k-</a:t>
            </a:r>
            <a:r>
              <a:rPr kumimoji="1" lang="zh-CN" altLang="en-US" dirty="0"/>
              <a:t>元组</a:t>
            </a:r>
            <a:r>
              <a:rPr kumimoji="1" lang="en-US" altLang="zh-CN" dirty="0"/>
              <a:t>(x</a:t>
            </a:r>
            <a:r>
              <a:rPr kumimoji="1" lang="en-US" altLang="zh-CN" baseline="-25000" dirty="0"/>
              <a:t>1</a:t>
            </a:r>
            <a:r>
              <a:rPr kumimoji="1" lang="en-US" altLang="zh-CN" dirty="0"/>
              <a:t>, … , </a:t>
            </a:r>
            <a:r>
              <a:rPr kumimoji="1" lang="en-US" altLang="zh-CN" dirty="0" err="1"/>
              <a:t>x</a:t>
            </a:r>
            <a:r>
              <a:rPr kumimoji="1" lang="en-US" altLang="zh-CN" baseline="-25000" dirty="0" err="1"/>
              <a:t>k</a:t>
            </a:r>
            <a:r>
              <a:rPr kumimoji="1" lang="en-US" altLang="zh-CN" dirty="0"/>
              <a:t>), </a:t>
            </a:r>
            <a:r>
              <a:rPr kumimoji="1" lang="en-US" altLang="zh-CN" dirty="0" err="1"/>
              <a:t>k≤n</a:t>
            </a:r>
            <a:endParaRPr kumimoji="1" lang="en-US" altLang="zh-CN" dirty="0"/>
          </a:p>
          <a:p>
            <a:pPr lvl="1"/>
            <a:r>
              <a:rPr kumimoji="1" lang="zh-CN" altLang="en-US" dirty="0"/>
              <a:t>问题满足</a:t>
            </a:r>
            <a:r>
              <a:rPr kumimoji="1" lang="zh-CN" altLang="en-US" dirty="0">
                <a:solidFill>
                  <a:srgbClr val="FF0000"/>
                </a:solidFill>
              </a:rPr>
              <a:t>多米诺</a:t>
            </a:r>
            <a:r>
              <a:rPr kumimoji="1" lang="zh-CN" altLang="en-US" dirty="0"/>
              <a:t>性质</a:t>
            </a:r>
            <a:endParaRPr kumimoji="1" lang="en-US" altLang="zh-CN" dirty="0"/>
          </a:p>
          <a:p>
            <a:pPr lvl="1"/>
            <a:r>
              <a:rPr kumimoji="1" lang="zh-CN" altLang="en-US" dirty="0"/>
              <a:t>问题寻找满足</a:t>
            </a:r>
            <a:r>
              <a:rPr kumimoji="1" lang="zh-CN" altLang="en-US" dirty="0">
                <a:solidFill>
                  <a:srgbClr val="FF0000"/>
                </a:solidFill>
              </a:rPr>
              <a:t>约束条件</a:t>
            </a:r>
            <a:r>
              <a:rPr kumimoji="1" lang="zh-CN" altLang="en-US" dirty="0"/>
              <a:t>的一个解或所有解；有时则要寻找最优解，此时问题中还存在</a:t>
            </a:r>
            <a:r>
              <a:rPr kumimoji="1" lang="zh-CN" altLang="en-US" dirty="0">
                <a:solidFill>
                  <a:srgbClr val="FF0000"/>
                </a:solidFill>
              </a:rPr>
              <a:t>目标函数</a:t>
            </a:r>
            <a:endParaRPr kumimoji="1" lang="en-US" altLang="zh-CN" dirty="0">
              <a:solidFill>
                <a:srgbClr val="FF0000"/>
              </a:solidFill>
            </a:endParaRPr>
          </a:p>
        </p:txBody>
      </p:sp>
      <p:sp>
        <p:nvSpPr>
          <p:cNvPr id="4" name="圆角矩形标注 3"/>
          <p:cNvSpPr/>
          <p:nvPr/>
        </p:nvSpPr>
        <p:spPr>
          <a:xfrm>
            <a:off x="6312024" y="3861048"/>
            <a:ext cx="1493622" cy="512523"/>
          </a:xfrm>
          <a:prstGeom prst="wedgeRoundRectCallout">
            <a:avLst>
              <a:gd name="adj1" fmla="val -45716"/>
              <a:gd name="adj2" fmla="val 69842"/>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FF0000"/>
                </a:solidFill>
                <a:latin typeface="幼圆" panose="02010509060101010101" pitchFamily="49" charset="-122"/>
                <a:ea typeface="幼圆" panose="02010509060101010101" pitchFamily="49" charset="-122"/>
              </a:rPr>
              <a:t>组合搜索</a:t>
            </a:r>
          </a:p>
        </p:txBody>
      </p:sp>
      <p:sp>
        <p:nvSpPr>
          <p:cNvPr id="5" name="圆角矩形标注 4"/>
          <p:cNvSpPr/>
          <p:nvPr/>
        </p:nvSpPr>
        <p:spPr>
          <a:xfrm>
            <a:off x="8976320" y="4941168"/>
            <a:ext cx="1493622" cy="512523"/>
          </a:xfrm>
          <a:prstGeom prst="wedgeRoundRectCallout">
            <a:avLst>
              <a:gd name="adj1" fmla="val -44538"/>
              <a:gd name="adj2" fmla="val -69113"/>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FF0000"/>
                </a:solidFill>
                <a:latin typeface="幼圆" panose="02010509060101010101" pitchFamily="49" charset="-122"/>
                <a:ea typeface="幼圆" panose="02010509060101010101" pitchFamily="49" charset="-122"/>
              </a:rPr>
              <a:t>组合优化</a:t>
            </a:r>
          </a:p>
        </p:txBody>
      </p:sp>
      <p:sp>
        <p:nvSpPr>
          <p:cNvPr id="6"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4</a:t>
            </a:fld>
            <a:endParaRPr lang="en-US" altLang="zh-CN"/>
          </a:p>
        </p:txBody>
      </p:sp>
    </p:spTree>
    <p:extLst>
      <p:ext uri="{BB962C8B-B14F-4D97-AF65-F5344CB8AC3E}">
        <p14:creationId xmlns:p14="http://schemas.microsoft.com/office/powerpoint/2010/main" val="99731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5</a:t>
            </a:fld>
            <a:endParaRPr lang="en-US" altLang="zh-CN"/>
          </a:p>
        </p:txBody>
      </p:sp>
      <p:sp>
        <p:nvSpPr>
          <p:cNvPr id="5" name="标题 1"/>
          <p:cNvSpPr>
            <a:spLocks noGrp="1"/>
          </p:cNvSpPr>
          <p:nvPr>
            <p:ph type="title"/>
          </p:nvPr>
        </p:nvSpPr>
        <p:spPr>
          <a:xfrm>
            <a:off x="838200" y="365125"/>
            <a:ext cx="10515600" cy="1325563"/>
          </a:xfrm>
        </p:spPr>
        <p:txBody>
          <a:bodyPr/>
          <a:lstStyle/>
          <a:p>
            <a:r>
              <a:rPr lang="zh-CN" altLang="en-US" dirty="0"/>
              <a:t>细分多阶段决策问题</a:t>
            </a:r>
          </a:p>
        </p:txBody>
      </p:sp>
      <p:sp>
        <p:nvSpPr>
          <p:cNvPr id="6" name="内容占位符 2"/>
          <p:cNvSpPr>
            <a:spLocks noGrp="1"/>
          </p:cNvSpPr>
          <p:nvPr>
            <p:ph idx="1"/>
          </p:nvPr>
        </p:nvSpPr>
        <p:spPr>
          <a:xfrm>
            <a:off x="838200" y="1706712"/>
            <a:ext cx="10515600" cy="4351338"/>
          </a:xfrm>
        </p:spPr>
        <p:txBody>
          <a:bodyPr>
            <a:normAutofit/>
          </a:bodyPr>
          <a:lstStyle/>
          <a:p>
            <a:pPr>
              <a:lnSpc>
                <a:spcPct val="120000"/>
              </a:lnSpc>
              <a:spcBef>
                <a:spcPts val="0"/>
              </a:spcBef>
            </a:pPr>
            <a:r>
              <a:rPr lang="zh-CN" altLang="en-US" sz="2400" dirty="0"/>
              <a:t>多阶段决策问题</a:t>
            </a:r>
            <a:r>
              <a:rPr lang="en-US" altLang="zh-CN" sz="2400" dirty="0"/>
              <a:t>/</a:t>
            </a:r>
            <a:r>
              <a:rPr lang="zh-CN" altLang="en-US" sz="2400" dirty="0"/>
              <a:t>组合问题</a:t>
            </a:r>
            <a:endParaRPr lang="en-US" altLang="zh-CN" sz="2400" dirty="0"/>
          </a:p>
          <a:p>
            <a:pPr lvl="1">
              <a:lnSpc>
                <a:spcPct val="120000"/>
              </a:lnSpc>
              <a:spcBef>
                <a:spcPts val="0"/>
              </a:spcBef>
            </a:pPr>
            <a:r>
              <a:rPr lang="zh-CN" altLang="en-US" dirty="0"/>
              <a:t>组合搜索：关注解的存在性</a:t>
            </a:r>
            <a:endParaRPr lang="en-US" altLang="zh-CN" dirty="0"/>
          </a:p>
          <a:p>
            <a:pPr lvl="2">
              <a:lnSpc>
                <a:spcPct val="120000"/>
              </a:lnSpc>
              <a:spcBef>
                <a:spcPts val="0"/>
              </a:spcBef>
            </a:pPr>
            <a:r>
              <a:rPr lang="zh-CN" altLang="en-US" dirty="0"/>
              <a:t>问题描述中</a:t>
            </a:r>
            <a:r>
              <a:rPr lang="zh-CN" altLang="en-US" dirty="0">
                <a:solidFill>
                  <a:srgbClr val="FF0000"/>
                </a:solidFill>
              </a:rPr>
              <a:t>仅存在</a:t>
            </a:r>
            <a:r>
              <a:rPr lang="zh-CN" altLang="en-US" dirty="0"/>
              <a:t>约束条件</a:t>
            </a:r>
            <a:endParaRPr lang="en-US" altLang="zh-CN" dirty="0"/>
          </a:p>
          <a:p>
            <a:pPr lvl="2">
              <a:lnSpc>
                <a:spcPct val="120000"/>
              </a:lnSpc>
              <a:spcBef>
                <a:spcPts val="0"/>
              </a:spcBef>
            </a:pPr>
            <a:r>
              <a:rPr lang="zh-CN" altLang="en-US" dirty="0"/>
              <a:t>问题希望找到一个可行解</a:t>
            </a:r>
            <a:r>
              <a:rPr lang="en-US" altLang="zh-CN" dirty="0"/>
              <a:t>/</a:t>
            </a:r>
            <a:r>
              <a:rPr lang="zh-CN" altLang="en-US" dirty="0"/>
              <a:t>所有可行解</a:t>
            </a:r>
            <a:endParaRPr lang="en-US" altLang="zh-CN" dirty="0"/>
          </a:p>
          <a:p>
            <a:pPr lvl="1">
              <a:lnSpc>
                <a:spcPct val="120000"/>
              </a:lnSpc>
              <a:spcBef>
                <a:spcPts val="0"/>
              </a:spcBef>
            </a:pPr>
            <a:r>
              <a:rPr lang="zh-CN" altLang="en-US"/>
              <a:t>组合优化：关注</a:t>
            </a:r>
            <a:r>
              <a:rPr lang="zh-CN" altLang="en-US" dirty="0"/>
              <a:t>解的最优性</a:t>
            </a:r>
            <a:endParaRPr lang="en-US" altLang="zh-CN" dirty="0"/>
          </a:p>
          <a:p>
            <a:pPr lvl="2">
              <a:lnSpc>
                <a:spcPct val="120000"/>
              </a:lnSpc>
              <a:spcBef>
                <a:spcPts val="0"/>
              </a:spcBef>
            </a:pPr>
            <a:r>
              <a:rPr lang="zh-CN" altLang="en-US" dirty="0"/>
              <a:t>问题描述中</a:t>
            </a:r>
            <a:r>
              <a:rPr lang="zh-CN" altLang="en-US" dirty="0">
                <a:solidFill>
                  <a:srgbClr val="FF0000"/>
                </a:solidFill>
              </a:rPr>
              <a:t>还存在</a:t>
            </a:r>
            <a:r>
              <a:rPr lang="zh-CN" altLang="en-US" dirty="0"/>
              <a:t>目标函数</a:t>
            </a:r>
            <a:endParaRPr lang="en-US" altLang="zh-CN" dirty="0"/>
          </a:p>
          <a:p>
            <a:pPr lvl="2">
              <a:lnSpc>
                <a:spcPct val="120000"/>
              </a:lnSpc>
              <a:spcBef>
                <a:spcPts val="0"/>
              </a:spcBef>
            </a:pPr>
            <a:r>
              <a:rPr lang="zh-CN" altLang="en-US" dirty="0"/>
              <a:t>问题希望找到一个具有极小值</a:t>
            </a:r>
            <a:r>
              <a:rPr lang="en-US" altLang="zh-CN" dirty="0"/>
              <a:t>/</a:t>
            </a:r>
            <a:r>
              <a:rPr lang="zh-CN" altLang="en-US" dirty="0"/>
              <a:t>极大值的可行解，即最优解</a:t>
            </a:r>
            <a:endParaRPr lang="en-US" altLang="zh-CN" dirty="0"/>
          </a:p>
          <a:p>
            <a:pPr lvl="2">
              <a:lnSpc>
                <a:spcPct val="120000"/>
              </a:lnSpc>
              <a:spcBef>
                <a:spcPts val="0"/>
              </a:spcBef>
            </a:pPr>
            <a:r>
              <a:rPr lang="zh-CN" altLang="en-US" dirty="0"/>
              <a:t>也称为极小化</a:t>
            </a:r>
            <a:r>
              <a:rPr lang="en-US" altLang="zh-CN" dirty="0"/>
              <a:t>/</a:t>
            </a:r>
            <a:r>
              <a:rPr lang="zh-CN" altLang="en-US" dirty="0"/>
              <a:t>极大化问题</a:t>
            </a:r>
          </a:p>
        </p:txBody>
      </p:sp>
    </p:spTree>
    <p:extLst>
      <p:ext uri="{BB962C8B-B14F-4D97-AF65-F5344CB8AC3E}">
        <p14:creationId xmlns:p14="http://schemas.microsoft.com/office/powerpoint/2010/main" val="3506442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多米诺性质</a:t>
            </a:r>
          </a:p>
        </p:txBody>
      </p:sp>
      <p:sp>
        <p:nvSpPr>
          <p:cNvPr id="3" name="内容占位符 2"/>
          <p:cNvSpPr>
            <a:spLocks noGrp="1"/>
          </p:cNvSpPr>
          <p:nvPr>
            <p:ph idx="1"/>
          </p:nvPr>
        </p:nvSpPr>
        <p:spPr>
          <a:xfrm>
            <a:off x="858933" y="1697920"/>
            <a:ext cx="10494868" cy="4351338"/>
          </a:xfrm>
        </p:spPr>
        <p:txBody>
          <a:bodyPr>
            <a:noAutofit/>
          </a:bodyPr>
          <a:lstStyle/>
          <a:p>
            <a:r>
              <a:rPr lang="zh-CN" altLang="en-US" sz="2400" dirty="0"/>
              <a:t>多米诺性质</a:t>
            </a:r>
            <a:endParaRPr lang="en-US" altLang="zh-CN" sz="2400" dirty="0"/>
          </a:p>
          <a:p>
            <a:pPr lvl="1"/>
            <a:r>
              <a:rPr lang="zh-CN" altLang="en-US" dirty="0"/>
              <a:t>设</a:t>
            </a:r>
            <a:r>
              <a:rPr kumimoji="1" lang="en-US" altLang="zh-CN" dirty="0"/>
              <a:t>P(x</a:t>
            </a:r>
            <a:r>
              <a:rPr kumimoji="1" lang="en-US" altLang="zh-CN" baseline="-25000" dirty="0"/>
              <a:t>1</a:t>
            </a:r>
            <a:r>
              <a:rPr kumimoji="1" lang="en-US" altLang="zh-CN" dirty="0"/>
              <a:t>,…,x</a:t>
            </a:r>
            <a:r>
              <a:rPr kumimoji="1" lang="en-US" altLang="zh-CN" baseline="-25000" dirty="0"/>
              <a:t>i</a:t>
            </a:r>
            <a:r>
              <a:rPr kumimoji="1" lang="en-US" altLang="zh-CN" dirty="0"/>
              <a:t>)</a:t>
            </a:r>
            <a:r>
              <a:rPr kumimoji="1" lang="zh-CN" altLang="en-US" dirty="0"/>
              <a:t>是关于向量</a:t>
            </a:r>
            <a:r>
              <a:rPr kumimoji="1" lang="en-US" altLang="zh-CN" dirty="0"/>
              <a:t>(x</a:t>
            </a:r>
            <a:r>
              <a:rPr kumimoji="1" lang="en-US" altLang="zh-CN" baseline="-25000" dirty="0"/>
              <a:t>1</a:t>
            </a:r>
            <a:r>
              <a:rPr kumimoji="1" lang="en-US" altLang="zh-CN" dirty="0"/>
              <a:t>,…,x</a:t>
            </a:r>
            <a:r>
              <a:rPr kumimoji="1" lang="en-US" altLang="zh-CN" baseline="-25000" dirty="0"/>
              <a:t>i</a:t>
            </a:r>
            <a:r>
              <a:rPr kumimoji="1" lang="en-US" altLang="zh-CN" dirty="0"/>
              <a:t>)</a:t>
            </a:r>
            <a:r>
              <a:rPr kumimoji="1" lang="zh-CN" altLang="en-US" dirty="0"/>
              <a:t>的某种性质的判定，当</a:t>
            </a:r>
            <a:r>
              <a:rPr kumimoji="1" lang="en-US" altLang="zh-CN" dirty="0"/>
              <a:t>P(x</a:t>
            </a:r>
            <a:r>
              <a:rPr kumimoji="1" lang="en-US" altLang="zh-CN" baseline="-25000" dirty="0"/>
              <a:t>1</a:t>
            </a:r>
            <a:r>
              <a:rPr kumimoji="1" lang="en-US" altLang="zh-CN" dirty="0"/>
              <a:t>,…,x</a:t>
            </a:r>
            <a:r>
              <a:rPr kumimoji="1" lang="en-US" altLang="zh-CN" baseline="-25000" dirty="0"/>
              <a:t>i+1</a:t>
            </a:r>
            <a:r>
              <a:rPr kumimoji="1" lang="en-US" altLang="zh-CN" dirty="0"/>
              <a:t>)</a:t>
            </a:r>
            <a:r>
              <a:rPr kumimoji="1" lang="zh-CN" altLang="en-US" dirty="0"/>
              <a:t>为真时，一定有</a:t>
            </a:r>
            <a:r>
              <a:rPr kumimoji="1" lang="en-US" altLang="zh-CN" dirty="0"/>
              <a:t>P(x</a:t>
            </a:r>
            <a:r>
              <a:rPr kumimoji="1" lang="en-US" altLang="zh-CN" baseline="-25000" dirty="0"/>
              <a:t>1</a:t>
            </a:r>
            <a:r>
              <a:rPr kumimoji="1" lang="en-US" altLang="zh-CN" dirty="0"/>
              <a:t>,…,x</a:t>
            </a:r>
            <a:r>
              <a:rPr kumimoji="1" lang="en-US" altLang="zh-CN" baseline="-25000" dirty="0"/>
              <a:t>i</a:t>
            </a:r>
            <a:r>
              <a:rPr kumimoji="1" lang="en-US" altLang="zh-CN" dirty="0"/>
              <a:t>)</a:t>
            </a:r>
            <a:r>
              <a:rPr kumimoji="1" lang="zh-CN" altLang="en-US" dirty="0"/>
              <a:t>为真，</a:t>
            </a:r>
            <a:r>
              <a:rPr kumimoji="1" lang="en-US" altLang="zh-CN" dirty="0"/>
              <a:t>0&lt;</a:t>
            </a:r>
            <a:r>
              <a:rPr kumimoji="1" lang="en-US" altLang="zh-CN" dirty="0" err="1"/>
              <a:t>i</a:t>
            </a:r>
            <a:r>
              <a:rPr kumimoji="1" lang="en-US" altLang="zh-CN" dirty="0"/>
              <a:t>&lt;n</a:t>
            </a:r>
          </a:p>
          <a:p>
            <a:r>
              <a:rPr kumimoji="1" lang="zh-CN" altLang="en-US" sz="2400" dirty="0"/>
              <a:t>根据多米诺性质，如果</a:t>
            </a:r>
            <a:r>
              <a:rPr kumimoji="1" lang="en-US" altLang="zh-CN" sz="2400" dirty="0"/>
              <a:t>P(x</a:t>
            </a:r>
            <a:r>
              <a:rPr kumimoji="1" lang="en-US" altLang="zh-CN" sz="2400" baseline="-25000" dirty="0"/>
              <a:t>1</a:t>
            </a:r>
            <a:r>
              <a:rPr kumimoji="1" lang="en-US" altLang="zh-CN" sz="2400" dirty="0"/>
              <a:t>,…,x</a:t>
            </a:r>
            <a:r>
              <a:rPr kumimoji="1" lang="en-US" altLang="zh-CN" sz="2400" baseline="-25000" dirty="0"/>
              <a:t>i</a:t>
            </a:r>
            <a:r>
              <a:rPr kumimoji="1" lang="en-US" altLang="zh-CN" sz="2400" dirty="0"/>
              <a:t>)</a:t>
            </a:r>
            <a:r>
              <a:rPr kumimoji="1" lang="zh-CN" altLang="en-US" sz="2400" dirty="0"/>
              <a:t>不成立，则</a:t>
            </a:r>
            <a:r>
              <a:rPr kumimoji="1" lang="en-US" altLang="zh-CN" sz="2400" dirty="0"/>
              <a:t>P(x</a:t>
            </a:r>
            <a:r>
              <a:rPr kumimoji="1" lang="en-US" altLang="zh-CN" sz="2400" baseline="-25000" dirty="0"/>
              <a:t>1</a:t>
            </a:r>
            <a:r>
              <a:rPr kumimoji="1" lang="en-US" altLang="zh-CN" sz="2400" dirty="0"/>
              <a:t>,…,x</a:t>
            </a:r>
            <a:r>
              <a:rPr kumimoji="1" lang="en-US" altLang="zh-CN" sz="2400" baseline="-25000" dirty="0"/>
              <a:t>i+1</a:t>
            </a:r>
            <a:r>
              <a:rPr kumimoji="1" lang="en-US" altLang="zh-CN" sz="2400" dirty="0"/>
              <a:t>)</a:t>
            </a:r>
            <a:r>
              <a:rPr kumimoji="1" lang="zh-CN" altLang="en-US" sz="2400" dirty="0"/>
              <a:t>亦不成立</a:t>
            </a:r>
            <a:endParaRPr kumimoji="1" lang="en-US" altLang="zh-CN" sz="2400" dirty="0"/>
          </a:p>
          <a:p>
            <a:r>
              <a:rPr kumimoji="1" lang="zh-CN" altLang="en-US" sz="2400" dirty="0"/>
              <a:t>一个满足多米诺性质的组合问题</a:t>
            </a:r>
            <a:endParaRPr kumimoji="1" lang="en-US" altLang="zh-CN" sz="2400" dirty="0"/>
          </a:p>
          <a:p>
            <a:pPr lvl="1"/>
            <a:r>
              <a:rPr kumimoji="1" lang="zh-CN" altLang="en-US" dirty="0"/>
              <a:t>是指能够根据</a:t>
            </a:r>
            <a:r>
              <a:rPr kumimoji="1" lang="zh-CN" altLang="en-US" dirty="0">
                <a:solidFill>
                  <a:srgbClr val="FF0000"/>
                </a:solidFill>
              </a:rPr>
              <a:t>约束条件和目标函数</a:t>
            </a:r>
            <a:r>
              <a:rPr kumimoji="1" lang="zh-CN" altLang="en-US" dirty="0"/>
              <a:t>不断检验正在构造的部分解向量</a:t>
            </a:r>
            <a:r>
              <a:rPr kumimoji="1" lang="en-US" altLang="zh-CN" dirty="0"/>
              <a:t>(x</a:t>
            </a:r>
            <a:r>
              <a:rPr kumimoji="1" lang="en-US" altLang="zh-CN" baseline="-25000" dirty="0"/>
              <a:t>1</a:t>
            </a:r>
            <a:r>
              <a:rPr kumimoji="1" lang="en-US" altLang="zh-CN" dirty="0"/>
              <a:t>,…,x</a:t>
            </a:r>
            <a:r>
              <a:rPr kumimoji="1" lang="en-US" altLang="zh-CN" baseline="-25000" dirty="0"/>
              <a:t>i</a:t>
            </a:r>
            <a:r>
              <a:rPr kumimoji="1" lang="en-US" altLang="zh-CN" dirty="0"/>
              <a:t>)</a:t>
            </a:r>
            <a:r>
              <a:rPr kumimoji="1" lang="zh-CN" altLang="en-US" dirty="0"/>
              <a:t>，</a:t>
            </a:r>
            <a:r>
              <a:rPr kumimoji="1" lang="en-US" altLang="zh-CN" dirty="0"/>
              <a:t>0&lt;</a:t>
            </a:r>
            <a:r>
              <a:rPr kumimoji="1" lang="en-US" altLang="zh-CN" dirty="0" err="1"/>
              <a:t>i</a:t>
            </a:r>
            <a:r>
              <a:rPr kumimoji="1" lang="en-US" altLang="zh-CN" dirty="0"/>
              <a:t>&lt;n</a:t>
            </a:r>
            <a:r>
              <a:rPr kumimoji="1" lang="zh-CN" altLang="en-US" dirty="0"/>
              <a:t>，一旦发现不成立，则无需考虑后续</a:t>
            </a:r>
            <a:r>
              <a:rPr kumimoji="1" lang="en-US" altLang="zh-CN" dirty="0"/>
              <a:t>x</a:t>
            </a:r>
            <a:r>
              <a:rPr kumimoji="1" lang="en-US" altLang="zh-CN" baseline="-25000" dirty="0"/>
              <a:t>i+1</a:t>
            </a:r>
            <a:r>
              <a:rPr kumimoji="1" lang="en-US" altLang="zh-CN" dirty="0"/>
              <a:t>,…,</a:t>
            </a:r>
            <a:r>
              <a:rPr kumimoji="1" lang="en-US" altLang="zh-CN" dirty="0" err="1"/>
              <a:t>x</a:t>
            </a:r>
            <a:r>
              <a:rPr kumimoji="1" lang="en-US" altLang="zh-CN" baseline="-25000" dirty="0" err="1"/>
              <a:t>n</a:t>
            </a:r>
            <a:r>
              <a:rPr kumimoji="1" lang="zh-CN" altLang="en-US" dirty="0"/>
              <a:t>的取值</a:t>
            </a:r>
            <a:endParaRPr kumimoji="1" lang="en-US" altLang="zh-CN"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6</a:t>
            </a:fld>
            <a:endParaRPr lang="en-US" altLang="zh-CN"/>
          </a:p>
        </p:txBody>
      </p:sp>
      <p:sp>
        <p:nvSpPr>
          <p:cNvPr id="5" name="内容占位符 2"/>
          <p:cNvSpPr txBox="1">
            <a:spLocks/>
          </p:cNvSpPr>
          <p:nvPr/>
        </p:nvSpPr>
        <p:spPr>
          <a:xfrm>
            <a:off x="1271464" y="5348616"/>
            <a:ext cx="9866312" cy="576064"/>
          </a:xfrm>
          <a:prstGeom prst="rect">
            <a:avLst/>
          </a:prstGeom>
        </p:spPr>
        <p:txBody>
          <a:bodyPr vert="horz" lIns="91440" tIns="45720" rIns="91440" bIns="45720" rtlCol="0">
            <a:noAutofit/>
          </a:bodyPr>
          <a:lstStyle>
            <a:lvl1pPr marL="171450" indent="-171450" algn="l" defTabSz="685800" rtl="0" eaLnBrk="1" latinLnBrk="0" hangingPunct="1">
              <a:lnSpc>
                <a:spcPct val="110000"/>
              </a:lnSpc>
              <a:spcBef>
                <a:spcPts val="750"/>
              </a:spcBef>
              <a:buClr>
                <a:srgbClr val="1E5293"/>
              </a:buClr>
              <a:buSzPct val="70000"/>
              <a:buFont typeface="Wingdings" panose="05000000000000000000" pitchFamily="2" charset="2"/>
              <a:buChar char="l"/>
              <a:defRPr sz="21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5143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8572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2001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15430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kumimoji="1" lang="zh-CN" altLang="en-US" sz="2400" dirty="0">
                <a:solidFill>
                  <a:srgbClr val="FF0000"/>
                </a:solidFill>
              </a:rPr>
              <a:t>思考：利用多米诺性质能够提高算法效率的关键，它会如何起作用？</a:t>
            </a:r>
            <a:endParaRPr kumimoji="1" lang="en-US" altLang="zh-CN" sz="2400" dirty="0">
              <a:solidFill>
                <a:srgbClr val="FF0000"/>
              </a:solidFill>
            </a:endParaRPr>
          </a:p>
        </p:txBody>
      </p:sp>
    </p:spTree>
    <p:extLst>
      <p:ext uri="{BB962C8B-B14F-4D97-AF65-F5344CB8AC3E}">
        <p14:creationId xmlns:p14="http://schemas.microsoft.com/office/powerpoint/2010/main" val="393799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5325" y="1690688"/>
            <a:ext cx="10298360" cy="3691607"/>
          </a:xfrm>
        </p:spPr>
        <p:txBody>
          <a:bodyPr>
            <a:noAutofit/>
          </a:bodyPr>
          <a:lstStyle/>
          <a:p>
            <a:r>
              <a:rPr lang="zh-CN" altLang="en-US" sz="2400" dirty="0"/>
              <a:t>设</a:t>
            </a:r>
            <a:r>
              <a:rPr lang="zh-CN" altLang="en-US" sz="2400" dirty="0">
                <a:solidFill>
                  <a:srgbClr val="FF0000"/>
                </a:solidFill>
              </a:rPr>
              <a:t>约束函数</a:t>
            </a:r>
            <a:r>
              <a:rPr lang="en-US" altLang="zh-CN" sz="2400" dirty="0">
                <a:solidFill>
                  <a:srgbClr val="FF0000"/>
                </a:solidFill>
              </a:rPr>
              <a:t>B</a:t>
            </a:r>
            <a:r>
              <a:rPr lang="zh-CN" altLang="en-US" sz="2400" dirty="0"/>
              <a:t>实现问题的约束条件，</a:t>
            </a:r>
            <a:r>
              <a:rPr kumimoji="1" lang="zh-CN" altLang="en-US" sz="2400" dirty="0"/>
              <a:t>对于</a:t>
            </a:r>
            <a:r>
              <a:rPr kumimoji="1" lang="en-US" altLang="zh-CN" sz="2400" dirty="0"/>
              <a:t>n-</a:t>
            </a:r>
            <a:r>
              <a:rPr kumimoji="1" lang="zh-CN" altLang="en-US" sz="2400" dirty="0"/>
              <a:t>元组</a:t>
            </a:r>
            <a:r>
              <a:rPr kumimoji="1" lang="en-US" altLang="zh-CN" sz="2400" dirty="0"/>
              <a:t>(x</a:t>
            </a:r>
            <a:r>
              <a:rPr kumimoji="1" lang="en-US" altLang="zh-CN" sz="2400" baseline="-25000" dirty="0"/>
              <a:t>1</a:t>
            </a:r>
            <a:r>
              <a:rPr kumimoji="1" lang="en-US" altLang="zh-CN" sz="2400" dirty="0"/>
              <a:t>,…,</a:t>
            </a:r>
            <a:r>
              <a:rPr kumimoji="1" lang="en-US" altLang="zh-CN" sz="2400" dirty="0" err="1"/>
              <a:t>x</a:t>
            </a:r>
            <a:r>
              <a:rPr kumimoji="1" lang="en-US" altLang="zh-CN" sz="2400" baseline="-25000" dirty="0" err="1"/>
              <a:t>n</a:t>
            </a:r>
            <a:r>
              <a:rPr kumimoji="1" lang="en-US" altLang="zh-CN" sz="2400" dirty="0"/>
              <a:t>), </a:t>
            </a:r>
            <a:r>
              <a:rPr kumimoji="1" lang="en-US" altLang="zh-CN" sz="2400" dirty="0" err="1"/>
              <a:t>x</a:t>
            </a:r>
            <a:r>
              <a:rPr kumimoji="1" lang="en-US" altLang="zh-CN" sz="2400" baseline="-25000" dirty="0" err="1"/>
              <a:t>i</a:t>
            </a:r>
            <a:r>
              <a:rPr kumimoji="1" lang="en-US" altLang="zh-CN" sz="2400" dirty="0" err="1"/>
              <a:t>∈S</a:t>
            </a:r>
            <a:r>
              <a:rPr kumimoji="1" lang="en-US" altLang="zh-CN" sz="2400" baseline="-25000" dirty="0" err="1"/>
              <a:t>i</a:t>
            </a:r>
            <a:r>
              <a:rPr kumimoji="1" lang="zh-CN" altLang="en-US" sz="2400" baseline="-25000" dirty="0"/>
              <a:t>，</a:t>
            </a:r>
            <a:endParaRPr kumimoji="1" lang="en-US" altLang="zh-CN" sz="2400" dirty="0"/>
          </a:p>
          <a:p>
            <a:r>
              <a:rPr lang="zh-CN" altLang="en-US" sz="2400" dirty="0"/>
              <a:t>硬性处理</a:t>
            </a:r>
            <a:endParaRPr lang="en-US" altLang="zh-CN" sz="2400" dirty="0"/>
          </a:p>
          <a:p>
            <a:pPr lvl="1"/>
            <a:r>
              <a:rPr lang="en-US" altLang="zh-CN" dirty="0"/>
              <a:t>|S</a:t>
            </a:r>
            <a:r>
              <a:rPr lang="en-US" altLang="zh-CN" baseline="-25000" dirty="0"/>
              <a:t>i</a:t>
            </a:r>
            <a:r>
              <a:rPr lang="en-US" altLang="zh-CN" dirty="0"/>
              <a:t>|=m</a:t>
            </a:r>
            <a:r>
              <a:rPr lang="en-US" altLang="zh-CN" baseline="-25000" dirty="0"/>
              <a:t>i</a:t>
            </a:r>
            <a:r>
              <a:rPr lang="en-US" altLang="zh-CN" dirty="0"/>
              <a:t>,</a:t>
            </a:r>
            <a:r>
              <a:rPr lang="zh-CN" altLang="en-US" dirty="0"/>
              <a:t>向量个数</a:t>
            </a:r>
            <a:r>
              <a:rPr lang="en-US" altLang="zh-CN" dirty="0"/>
              <a:t>m=m</a:t>
            </a:r>
            <a:r>
              <a:rPr lang="en-US" altLang="zh-CN" baseline="-25000" dirty="0"/>
              <a:t>1</a:t>
            </a:r>
            <a:r>
              <a:rPr lang="en-US" altLang="zh-CN" dirty="0"/>
              <a:t>×m</a:t>
            </a:r>
            <a:r>
              <a:rPr lang="en-US" altLang="zh-CN" baseline="-25000" dirty="0"/>
              <a:t>2</a:t>
            </a:r>
            <a:r>
              <a:rPr lang="en-US" altLang="zh-CN" dirty="0"/>
              <a:t>×…×</a:t>
            </a:r>
            <a:r>
              <a:rPr lang="en-US" altLang="zh-CN" dirty="0" err="1"/>
              <a:t>m</a:t>
            </a:r>
            <a:r>
              <a:rPr lang="en-US" altLang="zh-CN" baseline="-25000" dirty="0" err="1"/>
              <a:t>n</a:t>
            </a:r>
            <a:r>
              <a:rPr lang="en-US" altLang="zh-CN" dirty="0"/>
              <a:t>,</a:t>
            </a:r>
            <a:r>
              <a:rPr lang="zh-CN" altLang="en-US" dirty="0"/>
              <a:t>对这</a:t>
            </a:r>
            <a:r>
              <a:rPr lang="en-US" altLang="zh-CN" dirty="0"/>
              <a:t>m</a:t>
            </a:r>
            <a:r>
              <a:rPr lang="zh-CN" altLang="en-US" dirty="0"/>
              <a:t>个</a:t>
            </a:r>
            <a:r>
              <a:rPr lang="en-US" altLang="zh-CN" dirty="0"/>
              <a:t>n-</a:t>
            </a:r>
            <a:r>
              <a:rPr lang="zh-CN" altLang="en-US" dirty="0"/>
              <a:t>元组逐一检测是否满足</a:t>
            </a:r>
            <a:r>
              <a:rPr kumimoji="1" lang="en-US" altLang="zh-CN" dirty="0"/>
              <a:t>B(x</a:t>
            </a:r>
            <a:r>
              <a:rPr kumimoji="1" lang="en-US" altLang="zh-CN" baseline="-25000" dirty="0"/>
              <a:t>1</a:t>
            </a:r>
            <a:r>
              <a:rPr kumimoji="1" lang="en-US" altLang="zh-CN" dirty="0"/>
              <a:t>,…,</a:t>
            </a:r>
            <a:r>
              <a:rPr kumimoji="1" lang="en-US" altLang="zh-CN" dirty="0" err="1"/>
              <a:t>x</a:t>
            </a:r>
            <a:r>
              <a:rPr kumimoji="1" lang="en-US" altLang="zh-CN" baseline="-25000" dirty="0" err="1"/>
              <a:t>n</a:t>
            </a:r>
            <a:r>
              <a:rPr kumimoji="1" lang="en-US" altLang="zh-CN" dirty="0"/>
              <a:t>)</a:t>
            </a:r>
            <a:r>
              <a:rPr lang="zh-CN" altLang="en-US" dirty="0"/>
              <a:t>，从而找出问题的解。</a:t>
            </a:r>
          </a:p>
          <a:p>
            <a:r>
              <a:rPr lang="zh-CN" altLang="en-US" sz="2400" dirty="0"/>
              <a:t>回溯法利用多米诺性质</a:t>
            </a:r>
            <a:endParaRPr lang="en-US" altLang="zh-CN" sz="2400" dirty="0"/>
          </a:p>
          <a:p>
            <a:pPr lvl="1"/>
            <a:r>
              <a:rPr kumimoji="1" lang="zh-CN" altLang="en-US" dirty="0"/>
              <a:t>约束函数</a:t>
            </a:r>
            <a:r>
              <a:rPr kumimoji="1" lang="en-US" altLang="zh-CN" dirty="0"/>
              <a:t>B</a:t>
            </a:r>
            <a:r>
              <a:rPr kumimoji="1" lang="zh-CN" altLang="en-US" dirty="0"/>
              <a:t>可以提前检验正在构造中的部分向量</a:t>
            </a:r>
            <a:r>
              <a:rPr kumimoji="1" lang="en-US" altLang="zh-CN" dirty="0"/>
              <a:t>(x</a:t>
            </a:r>
            <a:r>
              <a:rPr kumimoji="1" lang="en-US" altLang="zh-CN" baseline="-25000" dirty="0"/>
              <a:t>1</a:t>
            </a:r>
            <a:r>
              <a:rPr kumimoji="1" lang="en-US" altLang="zh-CN" dirty="0"/>
              <a:t>,…,x</a:t>
            </a:r>
            <a:r>
              <a:rPr kumimoji="1" lang="en-US" altLang="zh-CN" baseline="-25000" dirty="0"/>
              <a:t>i</a:t>
            </a:r>
            <a:r>
              <a:rPr kumimoji="1" lang="en-US" altLang="zh-CN" dirty="0"/>
              <a:t>)</a:t>
            </a:r>
            <a:r>
              <a:rPr kumimoji="1" lang="zh-CN" altLang="en-US" dirty="0"/>
              <a:t>，如果发现不能导致问题的解</a:t>
            </a:r>
            <a:r>
              <a:rPr kumimoji="1" lang="en-US" altLang="zh-CN" dirty="0"/>
              <a:t>, </a:t>
            </a:r>
            <a:r>
              <a:rPr kumimoji="1" lang="zh-CN" altLang="en-US" dirty="0"/>
              <a:t>终止该向量继续构造，即不再构造</a:t>
            </a:r>
            <a:r>
              <a:rPr kumimoji="1" lang="en-US" altLang="zh-CN" dirty="0"/>
              <a:t>x</a:t>
            </a:r>
            <a:r>
              <a:rPr kumimoji="1" lang="en-US" altLang="zh-CN" baseline="-25000" dirty="0"/>
              <a:t>i+1</a:t>
            </a:r>
            <a:r>
              <a:rPr kumimoji="1" lang="en-US" altLang="zh-CN" dirty="0"/>
              <a:t>,…,</a:t>
            </a:r>
            <a:r>
              <a:rPr kumimoji="1" lang="en-US" altLang="zh-CN" dirty="0" err="1"/>
              <a:t>x</a:t>
            </a:r>
            <a:r>
              <a:rPr kumimoji="1" lang="en-US" altLang="zh-CN" baseline="-25000" dirty="0" err="1"/>
              <a:t>n</a:t>
            </a:r>
            <a:r>
              <a:rPr kumimoji="1" lang="zh-CN" altLang="en-US" dirty="0"/>
              <a:t>的取值，从而减少了</a:t>
            </a:r>
            <a:r>
              <a:rPr kumimoji="1" lang="en-US" altLang="zh-CN" dirty="0"/>
              <a:t>m</a:t>
            </a:r>
            <a:r>
              <a:rPr kumimoji="1" lang="en-US" altLang="zh-CN" baseline="-25000" dirty="0"/>
              <a:t>i+1</a:t>
            </a:r>
            <a:r>
              <a:rPr kumimoji="1" lang="en-US" altLang="zh-CN" dirty="0"/>
              <a:t> </a:t>
            </a:r>
            <a:r>
              <a:rPr lang="en-US" altLang="zh-CN" dirty="0"/>
              <a:t>×</a:t>
            </a:r>
            <a:r>
              <a:rPr kumimoji="1" lang="en-US" altLang="zh-CN" dirty="0"/>
              <a:t>… </a:t>
            </a:r>
            <a:r>
              <a:rPr lang="en-US" altLang="zh-CN" dirty="0"/>
              <a:t>×</a:t>
            </a:r>
            <a:r>
              <a:rPr kumimoji="1" lang="en-US" altLang="zh-CN" dirty="0" err="1"/>
              <a:t>m</a:t>
            </a:r>
            <a:r>
              <a:rPr kumimoji="1" lang="en-US" altLang="zh-CN" baseline="-25000" dirty="0" err="1"/>
              <a:t>n</a:t>
            </a:r>
            <a:r>
              <a:rPr kumimoji="1" lang="zh-CN" altLang="en-US" dirty="0"/>
              <a:t>个向量。</a:t>
            </a:r>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7</a:t>
            </a:fld>
            <a:endParaRPr lang="en-US" altLang="zh-CN"/>
          </a:p>
        </p:txBody>
      </p:sp>
      <p:sp>
        <p:nvSpPr>
          <p:cNvPr id="2" name="矩形 1"/>
          <p:cNvSpPr/>
          <p:nvPr/>
        </p:nvSpPr>
        <p:spPr>
          <a:xfrm>
            <a:off x="911424" y="942051"/>
            <a:ext cx="9937104" cy="523220"/>
          </a:xfrm>
          <a:prstGeom prst="rect">
            <a:avLst/>
          </a:prstGeom>
          <a:solidFill>
            <a:schemeClr val="accent1">
              <a:lumMod val="20000"/>
              <a:lumOff val="80000"/>
            </a:schemeClr>
          </a:solidFill>
        </p:spPr>
        <p:txBody>
          <a:bodyPr wrap="square">
            <a:spAutoFit/>
          </a:bodyPr>
          <a:lstStyle/>
          <a:p>
            <a:r>
              <a:rPr kumimoji="1" lang="zh-CN" altLang="en-US" sz="2800" dirty="0">
                <a:latin typeface="幼圆" panose="02010509060101010101" pitchFamily="49" charset="-122"/>
                <a:ea typeface="幼圆" panose="02010509060101010101" pitchFamily="49" charset="-122"/>
                <a:cs typeface="Arial" panose="020B0604020202020204" pitchFamily="34" charset="0"/>
              </a:rPr>
              <a:t>问题的多米诺性质是回溯法提高算法效率的关键</a:t>
            </a:r>
            <a:endParaRPr kumimoji="1" lang="en-US" altLang="zh-CN" sz="2800" dirty="0">
              <a:latin typeface="幼圆" panose="02010509060101010101" pitchFamily="49" charset="-122"/>
              <a:ea typeface="幼圆" panose="02010509060101010101" pitchFamily="49" charset="-122"/>
              <a:cs typeface="Arial" panose="020B0604020202020204" pitchFamily="34" charset="0"/>
            </a:endParaRPr>
          </a:p>
        </p:txBody>
      </p:sp>
    </p:spTree>
    <p:extLst>
      <p:ext uri="{BB962C8B-B14F-4D97-AF65-F5344CB8AC3E}">
        <p14:creationId xmlns:p14="http://schemas.microsoft.com/office/powerpoint/2010/main" val="1912206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7685" y="87998"/>
            <a:ext cx="10515600" cy="1325563"/>
          </a:xfrm>
        </p:spPr>
        <p:txBody>
          <a:bodyPr/>
          <a:lstStyle/>
          <a:p>
            <a:r>
              <a:rPr lang="zh-CN" altLang="en-US" dirty="0"/>
              <a:t>解空间树</a:t>
            </a:r>
          </a:p>
        </p:txBody>
      </p:sp>
      <p:sp>
        <p:nvSpPr>
          <p:cNvPr id="3" name="内容占位符 2"/>
          <p:cNvSpPr>
            <a:spLocks noGrp="1"/>
          </p:cNvSpPr>
          <p:nvPr>
            <p:ph idx="1"/>
          </p:nvPr>
        </p:nvSpPr>
        <p:spPr>
          <a:xfrm>
            <a:off x="836794" y="2005012"/>
            <a:ext cx="10515600" cy="4351338"/>
          </a:xfrm>
        </p:spPr>
        <p:txBody>
          <a:bodyPr>
            <a:normAutofit/>
          </a:bodyPr>
          <a:lstStyle/>
          <a:p>
            <a:pPr>
              <a:lnSpc>
                <a:spcPct val="120000"/>
              </a:lnSpc>
              <a:spcBef>
                <a:spcPts val="0"/>
              </a:spcBef>
            </a:pPr>
            <a:r>
              <a:rPr lang="zh-CN" altLang="en-US" sz="2400" dirty="0"/>
              <a:t>显式约束：每个</a:t>
            </a:r>
            <a:r>
              <a:rPr lang="en-US" altLang="zh-CN" sz="2400" dirty="0"/>
              <a:t>x</a:t>
            </a:r>
            <a:r>
              <a:rPr lang="en-US" altLang="zh-CN" sz="2400" baseline="-25000" dirty="0"/>
              <a:t>i</a:t>
            </a:r>
            <a:r>
              <a:rPr lang="zh-CN" altLang="en-US" sz="2400" dirty="0"/>
              <a:t>的取值集合</a:t>
            </a:r>
            <a:r>
              <a:rPr kumimoji="1" lang="en-US" altLang="zh-CN" sz="2400" dirty="0">
                <a:solidFill>
                  <a:srgbClr val="FF0000"/>
                </a:solidFill>
              </a:rPr>
              <a:t>S</a:t>
            </a:r>
            <a:r>
              <a:rPr kumimoji="1" lang="en-US" altLang="zh-CN" sz="2400" baseline="-25000" dirty="0">
                <a:solidFill>
                  <a:srgbClr val="FF0000"/>
                </a:solidFill>
              </a:rPr>
              <a:t>i </a:t>
            </a:r>
            <a:r>
              <a:rPr lang="zh-CN" altLang="en-US" sz="2400" dirty="0"/>
              <a:t>，可能与问题实例有关，也可能无关</a:t>
            </a:r>
          </a:p>
          <a:p>
            <a:pPr>
              <a:lnSpc>
                <a:spcPct val="120000"/>
              </a:lnSpc>
              <a:spcBef>
                <a:spcPts val="0"/>
              </a:spcBef>
            </a:pPr>
            <a:r>
              <a:rPr lang="zh-CN" altLang="en-US" sz="2400" dirty="0"/>
              <a:t>隐式约束：</a:t>
            </a:r>
            <a:r>
              <a:rPr kumimoji="1" lang="zh-CN" altLang="en-US" sz="2400" dirty="0"/>
              <a:t>描述了</a:t>
            </a:r>
            <a:r>
              <a:rPr kumimoji="1" lang="en-US" altLang="zh-CN" sz="2400" dirty="0"/>
              <a:t>x</a:t>
            </a:r>
            <a:r>
              <a:rPr kumimoji="1" lang="en-US" altLang="zh-CN" sz="2400" baseline="-25000" dirty="0"/>
              <a:t>i</a:t>
            </a:r>
            <a:r>
              <a:rPr kumimoji="1" lang="zh-CN" altLang="en-US" sz="2400" dirty="0"/>
              <a:t>彼此相关的情况，与问题实例有关</a:t>
            </a:r>
          </a:p>
          <a:p>
            <a:pPr>
              <a:lnSpc>
                <a:spcPct val="120000"/>
              </a:lnSpc>
              <a:spcBef>
                <a:spcPts val="0"/>
              </a:spcBef>
            </a:pPr>
            <a:r>
              <a:rPr kumimoji="1" lang="zh-CN" altLang="en-US" sz="2400" dirty="0"/>
              <a:t>解空间：满足显式约束条件的所有元组</a:t>
            </a:r>
            <a:endParaRPr kumimoji="1" lang="en-US" altLang="zh-CN" sz="2400" dirty="0"/>
          </a:p>
          <a:p>
            <a:pPr>
              <a:lnSpc>
                <a:spcPct val="120000"/>
              </a:lnSpc>
              <a:spcBef>
                <a:spcPts val="0"/>
              </a:spcBef>
            </a:pPr>
            <a:r>
              <a:rPr kumimoji="1" lang="zh-CN" altLang="en-US" sz="2400" dirty="0"/>
              <a:t>解空间树：基于解空间画成的树形状</a:t>
            </a:r>
            <a:endParaRPr kumimoji="1" lang="en-US" altLang="zh-CN" sz="2400" dirty="0"/>
          </a:p>
          <a:p>
            <a:pPr lvl="1">
              <a:lnSpc>
                <a:spcPct val="120000"/>
              </a:lnSpc>
              <a:spcBef>
                <a:spcPts val="0"/>
              </a:spcBef>
            </a:pPr>
            <a:r>
              <a:rPr kumimoji="1" lang="zh-CN" altLang="en-US" dirty="0"/>
              <a:t>问题状态：解空间树中的所有结点。</a:t>
            </a:r>
            <a:endParaRPr kumimoji="1" lang="en-US" altLang="zh-CN" dirty="0"/>
          </a:p>
          <a:p>
            <a:pPr lvl="1">
              <a:lnSpc>
                <a:spcPct val="120000"/>
              </a:lnSpc>
              <a:spcBef>
                <a:spcPts val="0"/>
              </a:spcBef>
            </a:pPr>
            <a:r>
              <a:rPr kumimoji="1" lang="zh-CN" altLang="en-US" dirty="0"/>
              <a:t>解状态</a:t>
            </a:r>
            <a:r>
              <a:rPr kumimoji="1" lang="en-US" altLang="zh-CN" dirty="0"/>
              <a:t>X</a:t>
            </a:r>
            <a:r>
              <a:rPr kumimoji="1" lang="zh-CN" altLang="en-US" dirty="0"/>
              <a:t>：由根到结点</a:t>
            </a:r>
            <a:r>
              <a:rPr kumimoji="1" lang="en-US" altLang="zh-CN" dirty="0"/>
              <a:t>X</a:t>
            </a:r>
            <a:r>
              <a:rPr kumimoji="1" lang="zh-CN" altLang="en-US" dirty="0"/>
              <a:t>的路径确定了解空间中的一个元组</a:t>
            </a:r>
            <a:endParaRPr kumimoji="1" lang="en-US" altLang="zh-CN" dirty="0"/>
          </a:p>
          <a:p>
            <a:pPr lvl="1">
              <a:lnSpc>
                <a:spcPct val="120000"/>
              </a:lnSpc>
              <a:spcBef>
                <a:spcPts val="0"/>
              </a:spcBef>
            </a:pPr>
            <a:r>
              <a:rPr kumimoji="1" lang="zh-CN" altLang="en-US" dirty="0"/>
              <a:t>答案状态</a:t>
            </a:r>
            <a:r>
              <a:rPr kumimoji="1" lang="en-US" altLang="zh-CN" dirty="0"/>
              <a:t>X: </a:t>
            </a:r>
            <a:r>
              <a:rPr kumimoji="1" lang="zh-CN" altLang="en-US" dirty="0"/>
              <a:t>由根到解状态结点</a:t>
            </a:r>
            <a:r>
              <a:rPr kumimoji="1" lang="en-US" altLang="zh-CN" dirty="0"/>
              <a:t>X</a:t>
            </a:r>
            <a:r>
              <a:rPr kumimoji="1" lang="zh-CN" altLang="en-US" dirty="0"/>
              <a:t>的路径确定了问题的一个解。</a:t>
            </a:r>
            <a:endParaRPr kumimoji="1" lang="en-US" altLang="zh-CN" dirty="0"/>
          </a:p>
          <a:p>
            <a:pPr>
              <a:spcBef>
                <a:spcPts val="0"/>
              </a:spcBef>
            </a:pPr>
            <a:endParaRPr kumimoji="1" lang="zh-CN" altLang="en-US" sz="2000"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8</a:t>
            </a:fld>
            <a:endParaRPr lang="en-US" altLang="zh-CN"/>
          </a:p>
        </p:txBody>
      </p:sp>
      <p:sp>
        <p:nvSpPr>
          <p:cNvPr id="6" name="圆角矩形标注 5"/>
          <p:cNvSpPr/>
          <p:nvPr/>
        </p:nvSpPr>
        <p:spPr>
          <a:xfrm>
            <a:off x="8450605" y="2564904"/>
            <a:ext cx="2214790" cy="512523"/>
          </a:xfrm>
          <a:prstGeom prst="wedgeRoundRectCallout">
            <a:avLst>
              <a:gd name="adj1" fmla="val -47365"/>
              <a:gd name="adj2" fmla="val -67398"/>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FF0000"/>
                </a:solidFill>
                <a:latin typeface="幼圆" panose="02010509060101010101" pitchFamily="49" charset="-122"/>
                <a:ea typeface="幼圆" panose="02010509060101010101" pitchFamily="49" charset="-122"/>
              </a:rPr>
              <a:t>对应约束函数</a:t>
            </a:r>
          </a:p>
        </p:txBody>
      </p:sp>
      <p:sp>
        <p:nvSpPr>
          <p:cNvPr id="7" name="圆角矩形标注 6"/>
          <p:cNvSpPr/>
          <p:nvPr/>
        </p:nvSpPr>
        <p:spPr>
          <a:xfrm>
            <a:off x="7877533" y="3645024"/>
            <a:ext cx="2808312" cy="512523"/>
          </a:xfrm>
          <a:prstGeom prst="wedgeRoundRectCallout">
            <a:avLst>
              <a:gd name="adj1" fmla="val -45716"/>
              <a:gd name="adj2" fmla="val 69842"/>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FF0000"/>
                </a:solidFill>
                <a:latin typeface="幼圆" panose="02010509060101010101" pitchFamily="49" charset="-122"/>
                <a:ea typeface="幼圆" panose="02010509060101010101" pitchFamily="49" charset="-122"/>
              </a:rPr>
              <a:t>满足显式约束条件</a:t>
            </a:r>
          </a:p>
        </p:txBody>
      </p:sp>
      <p:sp>
        <p:nvSpPr>
          <p:cNvPr id="8" name="圆角矩形标注 7"/>
          <p:cNvSpPr/>
          <p:nvPr/>
        </p:nvSpPr>
        <p:spPr>
          <a:xfrm>
            <a:off x="7604087" y="5364749"/>
            <a:ext cx="3081758" cy="512523"/>
          </a:xfrm>
          <a:prstGeom prst="wedgeRoundRectCallout">
            <a:avLst>
              <a:gd name="adj1" fmla="val -46683"/>
              <a:gd name="adj2" fmla="val -84552"/>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FF0000"/>
                </a:solidFill>
                <a:latin typeface="幼圆" panose="02010509060101010101" pitchFamily="49" charset="-122"/>
                <a:ea typeface="幼圆" panose="02010509060101010101" pitchFamily="49" charset="-122"/>
              </a:rPr>
              <a:t>还满足隐式约束条件</a:t>
            </a:r>
          </a:p>
        </p:txBody>
      </p:sp>
      <p:sp>
        <p:nvSpPr>
          <p:cNvPr id="9" name="矩形 8"/>
          <p:cNvSpPr/>
          <p:nvPr/>
        </p:nvSpPr>
        <p:spPr>
          <a:xfrm>
            <a:off x="836794" y="1388293"/>
            <a:ext cx="9828601" cy="461665"/>
          </a:xfrm>
          <a:prstGeom prst="rect">
            <a:avLst/>
          </a:prstGeom>
          <a:solidFill>
            <a:schemeClr val="accent1">
              <a:lumMod val="20000"/>
              <a:lumOff val="80000"/>
            </a:schemeClr>
          </a:solidFill>
        </p:spPr>
        <p:txBody>
          <a:bodyPr wrap="square">
            <a:spAutoFit/>
          </a:bodyPr>
          <a:lstStyle/>
          <a:p>
            <a:r>
              <a:rPr kumimoji="1" lang="zh-CN" altLang="en-US" sz="2400" dirty="0">
                <a:latin typeface="幼圆" panose="02010509060101010101" pitchFamily="49" charset="-122"/>
                <a:ea typeface="幼圆" panose="02010509060101010101" pitchFamily="49" charset="-122"/>
                <a:cs typeface="Arial" panose="020B0604020202020204" pitchFamily="34" charset="0"/>
              </a:rPr>
              <a:t>回溯法解决问题的过程就是在解空间树上搜索答案状态结点的过程</a:t>
            </a:r>
            <a:endParaRPr kumimoji="1" lang="en-US" altLang="zh-CN" sz="2400" dirty="0">
              <a:latin typeface="幼圆" panose="02010509060101010101" pitchFamily="49" charset="-122"/>
              <a:ea typeface="幼圆" panose="02010509060101010101" pitchFamily="49" charset="-122"/>
              <a:cs typeface="Arial" panose="020B0604020202020204" pitchFamily="34" charset="0"/>
            </a:endParaRPr>
          </a:p>
        </p:txBody>
      </p:sp>
    </p:spTree>
    <p:extLst>
      <p:ext uri="{BB962C8B-B14F-4D97-AF65-F5344CB8AC3E}">
        <p14:creationId xmlns:p14="http://schemas.microsoft.com/office/powerpoint/2010/main" val="151504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问题建模</a:t>
            </a:r>
            <a:endParaRPr lang="zh-CN" altLang="en-US" dirty="0"/>
          </a:p>
        </p:txBody>
      </p:sp>
      <p:sp>
        <p:nvSpPr>
          <p:cNvPr id="3" name="内容占位符 2"/>
          <p:cNvSpPr>
            <a:spLocks noGrp="1"/>
          </p:cNvSpPr>
          <p:nvPr>
            <p:ph idx="1"/>
          </p:nvPr>
        </p:nvSpPr>
        <p:spPr/>
        <p:txBody>
          <a:bodyPr/>
          <a:lstStyle/>
          <a:p>
            <a:pPr>
              <a:lnSpc>
                <a:spcPct val="120000"/>
              </a:lnSpc>
              <a:spcBef>
                <a:spcPts val="0"/>
              </a:spcBef>
            </a:pPr>
            <a:r>
              <a:rPr kumimoji="1" lang="zh-CN" altLang="en-US" sz="2400" dirty="0"/>
              <a:t>确定元组表达形式</a:t>
            </a:r>
            <a:endParaRPr kumimoji="1" lang="en-US" altLang="zh-CN" sz="2400" dirty="0"/>
          </a:p>
          <a:p>
            <a:pPr lvl="1">
              <a:lnSpc>
                <a:spcPct val="120000"/>
              </a:lnSpc>
              <a:spcBef>
                <a:spcPts val="0"/>
              </a:spcBef>
            </a:pPr>
            <a:r>
              <a:rPr kumimoji="1" lang="zh-CN" altLang="en-US" dirty="0"/>
              <a:t>固定长元组：用大小固定的</a:t>
            </a:r>
            <a:r>
              <a:rPr kumimoji="1" lang="en-US" altLang="zh-CN" dirty="0">
                <a:solidFill>
                  <a:srgbClr val="FF0000"/>
                </a:solidFill>
              </a:rPr>
              <a:t>n-</a:t>
            </a:r>
            <a:r>
              <a:rPr kumimoji="1" lang="zh-CN" altLang="en-US" dirty="0">
                <a:solidFill>
                  <a:srgbClr val="FF0000"/>
                </a:solidFill>
              </a:rPr>
              <a:t>元组</a:t>
            </a:r>
            <a:r>
              <a:rPr kumimoji="1" lang="en-US" altLang="zh-CN" dirty="0"/>
              <a:t>(x</a:t>
            </a:r>
            <a:r>
              <a:rPr kumimoji="1" lang="en-US" altLang="zh-CN" baseline="-25000" dirty="0"/>
              <a:t>1</a:t>
            </a:r>
            <a:r>
              <a:rPr kumimoji="1" lang="en-US" altLang="zh-CN" dirty="0"/>
              <a:t>, … , </a:t>
            </a:r>
            <a:r>
              <a:rPr kumimoji="1" lang="en-US" altLang="zh-CN" dirty="0" err="1"/>
              <a:t>x</a:t>
            </a:r>
            <a:r>
              <a:rPr kumimoji="1" lang="en-US" altLang="zh-CN" baseline="-25000" dirty="0" err="1"/>
              <a:t>n</a:t>
            </a:r>
            <a:r>
              <a:rPr kumimoji="1" lang="en-US" altLang="zh-CN" dirty="0"/>
              <a:t>)</a:t>
            </a:r>
            <a:r>
              <a:rPr kumimoji="1" lang="zh-CN" altLang="en-US" dirty="0"/>
              <a:t>表示</a:t>
            </a:r>
            <a:endParaRPr kumimoji="1" lang="en-US" altLang="zh-CN" dirty="0"/>
          </a:p>
          <a:p>
            <a:pPr lvl="1">
              <a:lnSpc>
                <a:spcPct val="120000"/>
              </a:lnSpc>
              <a:spcBef>
                <a:spcPts val="0"/>
              </a:spcBef>
            </a:pPr>
            <a:r>
              <a:rPr kumimoji="1" lang="zh-CN" altLang="en-US" dirty="0"/>
              <a:t>不定长元组：用大小可变的</a:t>
            </a:r>
            <a:r>
              <a:rPr kumimoji="1" lang="en-US" altLang="zh-CN" dirty="0">
                <a:solidFill>
                  <a:srgbClr val="FF0000"/>
                </a:solidFill>
              </a:rPr>
              <a:t>k-</a:t>
            </a:r>
            <a:r>
              <a:rPr kumimoji="1" lang="zh-CN" altLang="en-US" dirty="0">
                <a:solidFill>
                  <a:srgbClr val="FF0000"/>
                </a:solidFill>
              </a:rPr>
              <a:t>元组</a:t>
            </a:r>
            <a:r>
              <a:rPr kumimoji="1" lang="en-US" altLang="zh-CN" dirty="0"/>
              <a:t>(x</a:t>
            </a:r>
            <a:r>
              <a:rPr kumimoji="1" lang="en-US" altLang="zh-CN" baseline="-25000" dirty="0"/>
              <a:t>1</a:t>
            </a:r>
            <a:r>
              <a:rPr kumimoji="1" lang="en-US" altLang="zh-CN" dirty="0"/>
              <a:t>, … , </a:t>
            </a:r>
            <a:r>
              <a:rPr kumimoji="1" lang="en-US" altLang="zh-CN" dirty="0" err="1"/>
              <a:t>x</a:t>
            </a:r>
            <a:r>
              <a:rPr kumimoji="1" lang="en-US" altLang="zh-CN" baseline="-25000" dirty="0" err="1"/>
              <a:t>k</a:t>
            </a:r>
            <a:r>
              <a:rPr kumimoji="1" lang="en-US" altLang="zh-CN" dirty="0"/>
              <a:t>)</a:t>
            </a:r>
            <a:r>
              <a:rPr kumimoji="1" lang="zh-CN" altLang="en-US" dirty="0"/>
              <a:t>表示</a:t>
            </a:r>
            <a:r>
              <a:rPr kumimoji="1" lang="en-US" altLang="zh-CN" dirty="0"/>
              <a:t>, k ≤n</a:t>
            </a:r>
          </a:p>
          <a:p>
            <a:pPr>
              <a:lnSpc>
                <a:spcPct val="120000"/>
              </a:lnSpc>
              <a:spcBef>
                <a:spcPts val="0"/>
              </a:spcBef>
            </a:pPr>
            <a:r>
              <a:rPr kumimoji="1" lang="zh-CN" altLang="en-US" sz="2400" dirty="0"/>
              <a:t>确定约束条件：显式约束和隐式约束</a:t>
            </a:r>
            <a:endParaRPr kumimoji="1" lang="en-US" altLang="zh-CN" sz="2400" dirty="0"/>
          </a:p>
          <a:p>
            <a:pPr>
              <a:lnSpc>
                <a:spcPct val="120000"/>
              </a:lnSpc>
              <a:spcBef>
                <a:spcPts val="0"/>
              </a:spcBef>
            </a:pPr>
            <a:r>
              <a:rPr kumimoji="1" lang="zh-CN" altLang="en-US" sz="2400" dirty="0"/>
              <a:t>检验问题满足多米诺性质</a:t>
            </a:r>
            <a:endParaRPr kumimoji="1" lang="en-US" altLang="zh-CN" sz="2400" dirty="0"/>
          </a:p>
          <a:p>
            <a:pPr>
              <a:lnSpc>
                <a:spcPct val="120000"/>
              </a:lnSpc>
              <a:spcBef>
                <a:spcPts val="0"/>
              </a:spcBef>
            </a:pPr>
            <a:r>
              <a:rPr kumimoji="1" lang="zh-CN" altLang="en-US" sz="2400" dirty="0"/>
              <a:t>确定解空间树：问题状态、解状态和答案状态</a:t>
            </a:r>
            <a:endParaRPr kumimoji="1" lang="en-US" altLang="zh-CN" sz="2400"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9</a:t>
            </a:fld>
            <a:endParaRPr lang="en-US" altLang="zh-CN"/>
          </a:p>
        </p:txBody>
      </p:sp>
    </p:spTree>
    <p:extLst>
      <p:ext uri="{BB962C8B-B14F-4D97-AF65-F5344CB8AC3E}">
        <p14:creationId xmlns:p14="http://schemas.microsoft.com/office/powerpoint/2010/main" val="3273357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8788" y="260648"/>
            <a:ext cx="10515600" cy="1325563"/>
          </a:xfrm>
        </p:spPr>
        <p:txBody>
          <a:bodyPr/>
          <a:lstStyle/>
          <a:p>
            <a:r>
              <a:rPr kumimoji="1" lang="zh-CN" altLang="en-US" dirty="0"/>
              <a:t>以子集和问题为例</a:t>
            </a:r>
            <a:endParaRPr lang="zh-CN" altLang="en-US" dirty="0"/>
          </a:p>
        </p:txBody>
      </p:sp>
      <p:sp>
        <p:nvSpPr>
          <p:cNvPr id="3" name="内容占位符 2"/>
          <p:cNvSpPr>
            <a:spLocks noGrp="1"/>
          </p:cNvSpPr>
          <p:nvPr>
            <p:ph idx="1"/>
          </p:nvPr>
        </p:nvSpPr>
        <p:spPr>
          <a:xfrm>
            <a:off x="658788" y="1700808"/>
            <a:ext cx="11053836" cy="4320480"/>
          </a:xfrm>
        </p:spPr>
        <p:txBody>
          <a:bodyPr>
            <a:normAutofit/>
          </a:bodyPr>
          <a:lstStyle/>
          <a:p>
            <a:pPr>
              <a:lnSpc>
                <a:spcPct val="120000"/>
              </a:lnSpc>
              <a:spcBef>
                <a:spcPts val="0"/>
              </a:spcBef>
            </a:pPr>
            <a:r>
              <a:rPr kumimoji="1" lang="zh-CN" altLang="en-US" sz="2400" dirty="0"/>
              <a:t>问题描述：</a:t>
            </a:r>
            <a:endParaRPr kumimoji="1" lang="en-US" altLang="zh-CN" sz="2400" dirty="0"/>
          </a:p>
          <a:p>
            <a:pPr lvl="1">
              <a:lnSpc>
                <a:spcPct val="120000"/>
              </a:lnSpc>
              <a:spcBef>
                <a:spcPts val="0"/>
              </a:spcBef>
            </a:pPr>
            <a:r>
              <a:rPr kumimoji="1" lang="zh-CN" altLang="en-US" dirty="0"/>
              <a:t>已知</a:t>
            </a:r>
            <a:r>
              <a:rPr kumimoji="1" lang="en-US" altLang="zh-CN" dirty="0"/>
              <a:t>n+1</a:t>
            </a:r>
            <a:r>
              <a:rPr kumimoji="1" lang="zh-CN" altLang="en-US" dirty="0"/>
              <a:t>个正数：</a:t>
            </a:r>
            <a:r>
              <a:rPr kumimoji="1" lang="en-US" altLang="zh-CN" dirty="0" err="1"/>
              <a:t>w</a:t>
            </a:r>
            <a:r>
              <a:rPr kumimoji="1" lang="en-US" altLang="zh-CN" baseline="-25000" dirty="0" err="1"/>
              <a:t>i</a:t>
            </a:r>
            <a:r>
              <a:rPr kumimoji="1" lang="en-US" altLang="zh-CN" dirty="0"/>
              <a:t>(1≤i≤n)</a:t>
            </a:r>
            <a:r>
              <a:rPr kumimoji="1" lang="zh-CN" altLang="en-US" dirty="0"/>
              <a:t>和</a:t>
            </a:r>
            <a:r>
              <a:rPr kumimoji="1" lang="en-US" altLang="zh-CN" dirty="0"/>
              <a:t>M, </a:t>
            </a:r>
            <a:r>
              <a:rPr kumimoji="1" lang="zh-CN" altLang="en-US" dirty="0"/>
              <a:t>要求找出</a:t>
            </a:r>
            <a:r>
              <a:rPr kumimoji="1" lang="en-US" altLang="zh-CN" dirty="0" err="1"/>
              <a:t>w</a:t>
            </a:r>
            <a:r>
              <a:rPr kumimoji="1" lang="en-US" altLang="zh-CN" baseline="-25000" dirty="0" err="1"/>
              <a:t>i</a:t>
            </a:r>
            <a:r>
              <a:rPr kumimoji="1" lang="zh-CN" altLang="en-US" dirty="0"/>
              <a:t>的和是</a:t>
            </a:r>
            <a:r>
              <a:rPr kumimoji="1" lang="en-US" altLang="zh-CN" dirty="0"/>
              <a:t>M</a:t>
            </a:r>
            <a:r>
              <a:rPr kumimoji="1" lang="zh-CN" altLang="en-US" dirty="0"/>
              <a:t>的</a:t>
            </a:r>
            <a:r>
              <a:rPr kumimoji="1" lang="zh-CN" altLang="en-US" dirty="0">
                <a:solidFill>
                  <a:srgbClr val="FF0000"/>
                </a:solidFill>
              </a:rPr>
              <a:t>所有</a:t>
            </a:r>
            <a:r>
              <a:rPr kumimoji="1" lang="zh-CN" altLang="en-US" dirty="0"/>
              <a:t>子集。</a:t>
            </a:r>
            <a:endParaRPr kumimoji="1" lang="en-US" altLang="zh-CN" dirty="0"/>
          </a:p>
          <a:p>
            <a:pPr>
              <a:lnSpc>
                <a:spcPct val="120000"/>
              </a:lnSpc>
              <a:spcBef>
                <a:spcPts val="0"/>
              </a:spcBef>
            </a:pPr>
            <a:r>
              <a:rPr kumimoji="1" lang="zh-CN" altLang="en-US" sz="2400" dirty="0"/>
              <a:t>问题实例：</a:t>
            </a:r>
            <a:endParaRPr kumimoji="1" lang="en-US" altLang="zh-CN" sz="2400" dirty="0"/>
          </a:p>
          <a:p>
            <a:pPr lvl="1">
              <a:lnSpc>
                <a:spcPct val="120000"/>
              </a:lnSpc>
              <a:spcBef>
                <a:spcPts val="0"/>
              </a:spcBef>
            </a:pPr>
            <a:r>
              <a:rPr kumimoji="1" lang="en-US" altLang="zh-CN" dirty="0"/>
              <a:t>n=4 , (w</a:t>
            </a:r>
            <a:r>
              <a:rPr kumimoji="1" lang="en-US" altLang="zh-CN" baseline="-25000" dirty="0"/>
              <a:t>1</a:t>
            </a:r>
            <a:r>
              <a:rPr kumimoji="1" lang="en-US" altLang="zh-CN" dirty="0"/>
              <a:t>, w</a:t>
            </a:r>
            <a:r>
              <a:rPr kumimoji="1" lang="en-US" altLang="zh-CN" baseline="-25000" dirty="0"/>
              <a:t>2</a:t>
            </a:r>
            <a:r>
              <a:rPr kumimoji="1" lang="en-US" altLang="zh-CN" dirty="0"/>
              <a:t>, w</a:t>
            </a:r>
            <a:r>
              <a:rPr kumimoji="1" lang="en-US" altLang="zh-CN" baseline="-25000" dirty="0"/>
              <a:t>3</a:t>
            </a:r>
            <a:r>
              <a:rPr kumimoji="1" lang="en-US" altLang="zh-CN" dirty="0"/>
              <a:t>, w</a:t>
            </a:r>
            <a:r>
              <a:rPr kumimoji="1" lang="en-US" altLang="zh-CN" baseline="-25000" dirty="0"/>
              <a:t>4</a:t>
            </a:r>
            <a:r>
              <a:rPr kumimoji="1" lang="en-US" altLang="zh-CN" dirty="0"/>
              <a:t> )= (11,13,24,7), M=31</a:t>
            </a:r>
            <a:r>
              <a:rPr kumimoji="1" lang="zh-CN" altLang="en-US" dirty="0"/>
              <a:t>。</a:t>
            </a:r>
            <a:endParaRPr kumimoji="1" lang="en-US" altLang="zh-CN" dirty="0"/>
          </a:p>
          <a:p>
            <a:pPr lvl="1">
              <a:lnSpc>
                <a:spcPct val="120000"/>
              </a:lnSpc>
              <a:spcBef>
                <a:spcPts val="0"/>
              </a:spcBef>
            </a:pPr>
            <a:r>
              <a:rPr kumimoji="1" lang="zh-CN" altLang="en-US" dirty="0">
                <a:latin typeface="幼圆" panose="02010509060101010101" pitchFamily="49" charset="-122"/>
              </a:rPr>
              <a:t>可行解</a:t>
            </a:r>
            <a:r>
              <a:rPr kumimoji="1" lang="en-US" altLang="zh-CN" dirty="0"/>
              <a:t>1</a:t>
            </a:r>
            <a:r>
              <a:rPr kumimoji="1" lang="zh-CN" altLang="en-US" dirty="0">
                <a:latin typeface="幼圆" panose="02010509060101010101" pitchFamily="49" charset="-122"/>
              </a:rPr>
              <a:t>：</a:t>
            </a:r>
            <a:r>
              <a:rPr kumimoji="1" lang="en-US" altLang="zh-CN" dirty="0"/>
              <a:t>11,13,7</a:t>
            </a:r>
          </a:p>
          <a:p>
            <a:pPr lvl="1">
              <a:lnSpc>
                <a:spcPct val="120000"/>
              </a:lnSpc>
              <a:spcBef>
                <a:spcPts val="0"/>
              </a:spcBef>
            </a:pPr>
            <a:r>
              <a:rPr kumimoji="1" lang="zh-CN" altLang="en-US" dirty="0"/>
              <a:t>可行解</a:t>
            </a:r>
            <a:r>
              <a:rPr kumimoji="1" lang="en-US" altLang="zh-CN" dirty="0"/>
              <a:t>2</a:t>
            </a:r>
            <a:r>
              <a:rPr kumimoji="1" lang="zh-CN" altLang="en-US" dirty="0"/>
              <a:t>：</a:t>
            </a:r>
            <a:r>
              <a:rPr kumimoji="1" lang="en-US" altLang="zh-CN" dirty="0"/>
              <a:t>24, 7</a:t>
            </a:r>
          </a:p>
          <a:p>
            <a:pPr>
              <a:lnSpc>
                <a:spcPct val="120000"/>
              </a:lnSpc>
              <a:spcBef>
                <a:spcPts val="0"/>
              </a:spcBef>
            </a:pPr>
            <a:endParaRPr kumimoji="1" lang="en-US" altLang="zh-CN" sz="2400" dirty="0"/>
          </a:p>
          <a:p>
            <a:endParaRPr lang="zh-CN" altLang="en-US" sz="2400"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10</a:t>
            </a:fld>
            <a:endParaRPr lang="en-US" altLang="zh-CN"/>
          </a:p>
        </p:txBody>
      </p:sp>
    </p:spTree>
    <p:extLst>
      <p:ext uri="{BB962C8B-B14F-4D97-AF65-F5344CB8AC3E}">
        <p14:creationId xmlns:p14="http://schemas.microsoft.com/office/powerpoint/2010/main" val="1100609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固定长元组表达</a:t>
            </a:r>
            <a:endParaRPr lang="zh-CN" altLang="en-US" dirty="0"/>
          </a:p>
        </p:txBody>
      </p:sp>
      <p:sp>
        <p:nvSpPr>
          <p:cNvPr id="3" name="内容占位符 2"/>
          <p:cNvSpPr>
            <a:spLocks noGrp="1"/>
          </p:cNvSpPr>
          <p:nvPr>
            <p:ph idx="1"/>
          </p:nvPr>
        </p:nvSpPr>
        <p:spPr>
          <a:xfrm>
            <a:off x="859160" y="1690688"/>
            <a:ext cx="10557747" cy="2649599"/>
          </a:xfrm>
        </p:spPr>
        <p:txBody>
          <a:bodyPr>
            <a:normAutofit/>
          </a:bodyPr>
          <a:lstStyle/>
          <a:p>
            <a:pPr>
              <a:lnSpc>
                <a:spcPct val="120000"/>
              </a:lnSpc>
              <a:spcBef>
                <a:spcPts val="0"/>
              </a:spcBef>
            </a:pPr>
            <a:r>
              <a:rPr kumimoji="1" lang="en-US" altLang="zh-CN" sz="2400" dirty="0"/>
              <a:t>n-</a:t>
            </a:r>
            <a:r>
              <a:rPr kumimoji="1" lang="zh-CN" altLang="en-US" sz="2400" dirty="0"/>
              <a:t>元组</a:t>
            </a:r>
            <a:r>
              <a:rPr kumimoji="1" lang="en-US" altLang="zh-CN" sz="2400" dirty="0"/>
              <a:t>(x</a:t>
            </a:r>
            <a:r>
              <a:rPr kumimoji="1" lang="en-US" altLang="zh-CN" sz="2400" baseline="-25000" dirty="0"/>
              <a:t>1</a:t>
            </a:r>
            <a:r>
              <a:rPr kumimoji="1" lang="en-US" altLang="zh-CN" sz="2400" dirty="0"/>
              <a:t>, … , </a:t>
            </a:r>
            <a:r>
              <a:rPr kumimoji="1" lang="en-US" altLang="zh-CN" sz="2400" dirty="0" err="1"/>
              <a:t>x</a:t>
            </a:r>
            <a:r>
              <a:rPr kumimoji="1" lang="en-US" altLang="zh-CN" sz="2400" baseline="-25000" dirty="0" err="1"/>
              <a:t>n</a:t>
            </a:r>
            <a:r>
              <a:rPr kumimoji="1" lang="en-US" altLang="zh-CN" sz="2400" dirty="0"/>
              <a:t>)</a:t>
            </a:r>
          </a:p>
          <a:p>
            <a:pPr>
              <a:lnSpc>
                <a:spcPct val="120000"/>
              </a:lnSpc>
              <a:spcBef>
                <a:spcPts val="0"/>
              </a:spcBef>
            </a:pPr>
            <a:r>
              <a:rPr kumimoji="1" lang="zh-CN" altLang="en-US" sz="2400" dirty="0"/>
              <a:t>显式约束：</a:t>
            </a:r>
            <a:r>
              <a:rPr kumimoji="1" lang="en-US" altLang="zh-CN" sz="2400" dirty="0"/>
              <a:t>x</a:t>
            </a:r>
            <a:r>
              <a:rPr kumimoji="1" lang="en-US" altLang="zh-CN" sz="2400" baseline="-25000" dirty="0"/>
              <a:t>i</a:t>
            </a:r>
            <a:r>
              <a:rPr kumimoji="1" lang="en-US" altLang="zh-CN" sz="2400" dirty="0"/>
              <a:t>∈{0,1},1≤i≤n</a:t>
            </a:r>
            <a:r>
              <a:rPr kumimoji="1" lang="zh-CN" altLang="en-US" sz="2400" dirty="0"/>
              <a:t>；如果选择</a:t>
            </a:r>
            <a:r>
              <a:rPr kumimoji="1" lang="en-US" altLang="zh-CN" sz="2400" dirty="0" err="1"/>
              <a:t>w</a:t>
            </a:r>
            <a:r>
              <a:rPr kumimoji="1" lang="en-US" altLang="zh-CN" sz="2400" baseline="-25000" dirty="0" err="1"/>
              <a:t>i</a:t>
            </a:r>
            <a:r>
              <a:rPr kumimoji="1" lang="zh-CN" altLang="en-US" sz="2400" dirty="0"/>
              <a:t>，则</a:t>
            </a:r>
            <a:r>
              <a:rPr kumimoji="1" lang="en-US" altLang="zh-CN" sz="2400" dirty="0"/>
              <a:t>x</a:t>
            </a:r>
            <a:r>
              <a:rPr kumimoji="1" lang="en-US" altLang="zh-CN" sz="2400" baseline="-25000" dirty="0"/>
              <a:t>i</a:t>
            </a:r>
            <a:r>
              <a:rPr kumimoji="1" lang="en-US" altLang="zh-CN" sz="2400" dirty="0"/>
              <a:t>=1</a:t>
            </a:r>
            <a:r>
              <a:rPr kumimoji="1" lang="zh-CN" altLang="en-US" sz="2400" dirty="0"/>
              <a:t>；否则</a:t>
            </a:r>
            <a:r>
              <a:rPr kumimoji="1" lang="en-US" altLang="zh-CN" sz="2400" dirty="0"/>
              <a:t>x</a:t>
            </a:r>
            <a:r>
              <a:rPr kumimoji="1" lang="en-US" altLang="zh-CN" sz="2400" baseline="-25000" dirty="0"/>
              <a:t>i</a:t>
            </a:r>
            <a:r>
              <a:rPr kumimoji="1" lang="en-US" altLang="zh-CN" sz="2400" dirty="0"/>
              <a:t>=0</a:t>
            </a:r>
          </a:p>
          <a:p>
            <a:pPr>
              <a:lnSpc>
                <a:spcPct val="120000"/>
              </a:lnSpc>
              <a:spcBef>
                <a:spcPts val="0"/>
              </a:spcBef>
            </a:pPr>
            <a:r>
              <a:rPr kumimoji="1" lang="zh-CN" altLang="en-US" sz="2400" dirty="0"/>
              <a:t>隐式约束：∑</a:t>
            </a:r>
            <a:r>
              <a:rPr kumimoji="1" lang="en-US" altLang="zh-CN" sz="2400" dirty="0" err="1"/>
              <a:t>w</a:t>
            </a:r>
            <a:r>
              <a:rPr kumimoji="1" lang="en-US" altLang="zh-CN" sz="2400" baseline="-25000" dirty="0" err="1"/>
              <a:t>i</a:t>
            </a:r>
            <a:r>
              <a:rPr kumimoji="1" lang="en-US" altLang="zh-CN" sz="2400" dirty="0" err="1"/>
              <a:t>x</a:t>
            </a:r>
            <a:r>
              <a:rPr kumimoji="1" lang="en-US" altLang="zh-CN" sz="2400" baseline="-25000" dirty="0" err="1"/>
              <a:t>i</a:t>
            </a:r>
            <a:r>
              <a:rPr kumimoji="1" lang="en-US" altLang="zh-CN" sz="2400" dirty="0"/>
              <a:t>=M</a:t>
            </a:r>
            <a:r>
              <a:rPr kumimoji="1" lang="zh-CN" altLang="en-US" sz="2400" dirty="0"/>
              <a:t>，</a:t>
            </a:r>
            <a:r>
              <a:rPr kumimoji="1" lang="en-US" altLang="zh-CN" sz="2400" dirty="0"/>
              <a:t>1≤i≤n</a:t>
            </a:r>
          </a:p>
          <a:p>
            <a:pPr>
              <a:lnSpc>
                <a:spcPct val="120000"/>
              </a:lnSpc>
              <a:spcBef>
                <a:spcPts val="0"/>
              </a:spcBef>
            </a:pPr>
            <a:r>
              <a:rPr kumimoji="1" lang="zh-CN" altLang="en-US" sz="2400" dirty="0"/>
              <a:t>多米诺性质：如果部分解向量大于</a:t>
            </a:r>
            <a:r>
              <a:rPr kumimoji="1" lang="en-US" altLang="zh-CN" sz="2400" dirty="0"/>
              <a:t>M</a:t>
            </a:r>
            <a:r>
              <a:rPr kumimoji="1" lang="zh-CN" altLang="en-US" sz="2400" dirty="0"/>
              <a:t>，则包含它的解向量也大于</a:t>
            </a:r>
            <a:r>
              <a:rPr kumimoji="1" lang="en-US" altLang="zh-CN" sz="2400" dirty="0"/>
              <a:t>M</a:t>
            </a:r>
          </a:p>
          <a:p>
            <a:pPr>
              <a:lnSpc>
                <a:spcPct val="120000"/>
              </a:lnSpc>
              <a:spcBef>
                <a:spcPts val="0"/>
              </a:spcBef>
            </a:pPr>
            <a:r>
              <a:rPr kumimoji="1" lang="zh-CN" altLang="en-US" sz="2400" dirty="0"/>
              <a:t>解空间共计</a:t>
            </a:r>
            <a:r>
              <a:rPr kumimoji="1" lang="en-US" altLang="zh-CN" sz="2400" dirty="0">
                <a:solidFill>
                  <a:srgbClr val="FF0000"/>
                </a:solidFill>
              </a:rPr>
              <a:t>2</a:t>
            </a:r>
            <a:r>
              <a:rPr kumimoji="1" lang="en-US" altLang="zh-CN" sz="2400" baseline="30000" dirty="0">
                <a:solidFill>
                  <a:srgbClr val="FF0000"/>
                </a:solidFill>
              </a:rPr>
              <a:t>n</a:t>
            </a:r>
            <a:r>
              <a:rPr kumimoji="1" lang="zh-CN" altLang="en-US" sz="2400" dirty="0"/>
              <a:t>个元组</a:t>
            </a:r>
            <a:endParaRPr kumimoji="1" lang="en-US" altLang="zh-CN" sz="2400"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11</a:t>
            </a:fld>
            <a:endParaRPr lang="en-US" altLang="zh-CN"/>
          </a:p>
        </p:txBody>
      </p:sp>
      <p:sp>
        <p:nvSpPr>
          <p:cNvPr id="7" name="矩形 6"/>
          <p:cNvSpPr/>
          <p:nvPr/>
        </p:nvSpPr>
        <p:spPr>
          <a:xfrm>
            <a:off x="889821" y="4239320"/>
            <a:ext cx="6048672" cy="1421928"/>
          </a:xfrm>
          <a:prstGeom prst="rect">
            <a:avLst/>
          </a:prstGeom>
        </p:spPr>
        <p:txBody>
          <a:bodyPr wrap="square">
            <a:spAutoFit/>
          </a:bodyPr>
          <a:lstStyle/>
          <a:p>
            <a:pPr>
              <a:lnSpc>
                <a:spcPct val="120000"/>
              </a:lnSpc>
            </a:pPr>
            <a:r>
              <a:rPr kumimoji="1" lang="en-US" altLang="zh-CN" sz="2400" dirty="0">
                <a:latin typeface="Arial" panose="020B0604020202020204" pitchFamily="34" charset="0"/>
                <a:ea typeface="幼圆" panose="02010509060101010101" pitchFamily="49" charset="-122"/>
                <a:cs typeface="Arial" panose="020B0604020202020204" pitchFamily="34" charset="0"/>
              </a:rPr>
              <a:t>n=4 , (w</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1</a:t>
            </a:r>
            <a:r>
              <a:rPr kumimoji="1" lang="en-US" altLang="zh-CN" sz="2400" dirty="0">
                <a:latin typeface="Arial" panose="020B0604020202020204" pitchFamily="34" charset="0"/>
                <a:ea typeface="幼圆" panose="02010509060101010101" pitchFamily="49" charset="-122"/>
                <a:cs typeface="Arial" panose="020B0604020202020204" pitchFamily="34" charset="0"/>
              </a:rPr>
              <a:t>, w</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2</a:t>
            </a:r>
            <a:r>
              <a:rPr kumimoji="1" lang="en-US" altLang="zh-CN" sz="2400" dirty="0">
                <a:latin typeface="Arial" panose="020B0604020202020204" pitchFamily="34" charset="0"/>
                <a:ea typeface="幼圆" panose="02010509060101010101" pitchFamily="49" charset="-122"/>
                <a:cs typeface="Arial" panose="020B0604020202020204" pitchFamily="34" charset="0"/>
              </a:rPr>
              <a:t>, w</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3</a:t>
            </a:r>
            <a:r>
              <a:rPr kumimoji="1" lang="en-US" altLang="zh-CN" sz="2400" dirty="0">
                <a:latin typeface="Arial" panose="020B0604020202020204" pitchFamily="34" charset="0"/>
                <a:ea typeface="幼圆" panose="02010509060101010101" pitchFamily="49" charset="-122"/>
                <a:cs typeface="Arial" panose="020B0604020202020204" pitchFamily="34" charset="0"/>
              </a:rPr>
              <a:t>, w</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4</a:t>
            </a:r>
            <a:r>
              <a:rPr kumimoji="1" lang="en-US" altLang="zh-CN" sz="2400" dirty="0">
                <a:latin typeface="Arial" panose="020B0604020202020204" pitchFamily="34" charset="0"/>
                <a:ea typeface="幼圆" panose="02010509060101010101" pitchFamily="49" charset="-122"/>
                <a:cs typeface="Arial" panose="020B0604020202020204" pitchFamily="34" charset="0"/>
              </a:rPr>
              <a:t> )= (11,13,24,7), M=31</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endParaRPr kumimoji="1" lang="en-US" altLang="zh-CN" sz="2400" dirty="0">
              <a:latin typeface="Arial" panose="020B0604020202020204" pitchFamily="34" charset="0"/>
              <a:ea typeface="幼圆" panose="02010509060101010101" pitchFamily="49" charset="-122"/>
              <a:cs typeface="Arial" panose="020B0604020202020204" pitchFamily="34" charset="0"/>
            </a:endParaRPr>
          </a:p>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可行解</a:t>
            </a:r>
            <a:r>
              <a:rPr kumimoji="1" lang="en-US" altLang="zh-CN" sz="2400" dirty="0">
                <a:latin typeface="Arial" panose="020B0604020202020204" pitchFamily="34" charset="0"/>
                <a:ea typeface="幼圆" panose="02010509060101010101" pitchFamily="49" charset="-122"/>
                <a:cs typeface="Arial" panose="020B0604020202020204" pitchFamily="34" charset="0"/>
              </a:rPr>
              <a:t>1</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r>
              <a:rPr kumimoji="1" lang="en-US" altLang="zh-CN" sz="2400" dirty="0">
                <a:latin typeface="Arial" panose="020B0604020202020204" pitchFamily="34" charset="0"/>
                <a:ea typeface="幼圆" panose="02010509060101010101" pitchFamily="49" charset="-122"/>
                <a:cs typeface="Arial" panose="020B0604020202020204" pitchFamily="34" charset="0"/>
              </a:rPr>
              <a:t>11,13,7</a:t>
            </a:r>
          </a:p>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可行解</a:t>
            </a:r>
            <a:r>
              <a:rPr kumimoji="1" lang="en-US" altLang="zh-CN" sz="2400" dirty="0">
                <a:latin typeface="Arial" panose="020B0604020202020204" pitchFamily="34" charset="0"/>
                <a:ea typeface="幼圆" panose="02010509060101010101" pitchFamily="49" charset="-122"/>
                <a:cs typeface="Arial" panose="020B0604020202020204" pitchFamily="34" charset="0"/>
              </a:rPr>
              <a:t>2</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r>
              <a:rPr kumimoji="1" lang="en-US" altLang="zh-CN" sz="2400" dirty="0">
                <a:latin typeface="Arial" panose="020B0604020202020204" pitchFamily="34" charset="0"/>
                <a:ea typeface="幼圆" panose="02010509060101010101" pitchFamily="49" charset="-122"/>
                <a:cs typeface="Arial" panose="020B0604020202020204" pitchFamily="34" charset="0"/>
              </a:rPr>
              <a:t>24, 7</a:t>
            </a:r>
            <a:endParaRPr kumimoji="1" lang="en-US" altLang="zh-CN" sz="2800" dirty="0">
              <a:latin typeface="Arial" panose="020B0604020202020204" pitchFamily="34" charset="0"/>
              <a:ea typeface="幼圆" panose="02010509060101010101" pitchFamily="49" charset="-122"/>
              <a:cs typeface="Arial" panose="020B0604020202020204" pitchFamily="34" charset="0"/>
            </a:endParaRPr>
          </a:p>
        </p:txBody>
      </p:sp>
      <p:sp>
        <p:nvSpPr>
          <p:cNvPr id="8" name="矩形 7"/>
          <p:cNvSpPr/>
          <p:nvPr/>
        </p:nvSpPr>
        <p:spPr>
          <a:xfrm>
            <a:off x="7176120" y="4239320"/>
            <a:ext cx="3291008" cy="1421928"/>
          </a:xfrm>
          <a:prstGeom prst="rect">
            <a:avLst/>
          </a:prstGeom>
        </p:spPr>
        <p:txBody>
          <a:bodyPr wrap="square">
            <a:spAutoFit/>
          </a:bodyPr>
          <a:lstStyle/>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解空间：</a:t>
            </a:r>
            <a:r>
              <a:rPr kumimoji="1" lang="en-US" altLang="zh-CN" sz="2400" dirty="0">
                <a:latin typeface="Arial" panose="020B0604020202020204" pitchFamily="34" charset="0"/>
                <a:ea typeface="幼圆" panose="02010509060101010101" pitchFamily="49" charset="-122"/>
                <a:cs typeface="Arial" panose="020B0604020202020204" pitchFamily="34" charset="0"/>
              </a:rPr>
              <a:t>2</a:t>
            </a:r>
            <a:r>
              <a:rPr kumimoji="1" lang="en-US" altLang="zh-CN" sz="2400" baseline="30000" dirty="0">
                <a:latin typeface="Arial" panose="020B0604020202020204" pitchFamily="34" charset="0"/>
                <a:ea typeface="幼圆" panose="02010509060101010101" pitchFamily="49" charset="-122"/>
                <a:cs typeface="Arial" panose="020B0604020202020204" pitchFamily="34" charset="0"/>
              </a:rPr>
              <a:t>4</a:t>
            </a:r>
            <a:r>
              <a:rPr kumimoji="1" lang="en-US" altLang="zh-CN" sz="2400" dirty="0">
                <a:latin typeface="Arial" panose="020B0604020202020204" pitchFamily="34" charset="0"/>
                <a:ea typeface="幼圆" panose="02010509060101010101" pitchFamily="49" charset="-122"/>
                <a:cs typeface="Arial" panose="020B0604020202020204" pitchFamily="34" charset="0"/>
              </a:rPr>
              <a:t>=16</a:t>
            </a:r>
            <a:r>
              <a:rPr kumimoji="1" lang="zh-CN" altLang="en-US" sz="2400" dirty="0">
                <a:latin typeface="Arial" panose="020B0604020202020204" pitchFamily="34" charset="0"/>
                <a:ea typeface="幼圆" panose="02010509060101010101" pitchFamily="49" charset="-122"/>
                <a:cs typeface="Arial" panose="020B0604020202020204" pitchFamily="34" charset="0"/>
              </a:rPr>
              <a:t>个元组可行解</a:t>
            </a:r>
            <a:r>
              <a:rPr kumimoji="1" lang="en-US" altLang="zh-CN" sz="2400" dirty="0">
                <a:latin typeface="Arial" panose="020B0604020202020204" pitchFamily="34" charset="0"/>
                <a:ea typeface="幼圆" panose="02010509060101010101" pitchFamily="49" charset="-122"/>
                <a:cs typeface="Arial" panose="020B0604020202020204" pitchFamily="34" charset="0"/>
              </a:rPr>
              <a:t>1</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r>
              <a:rPr kumimoji="1" lang="en-US" altLang="zh-CN" sz="2400" dirty="0">
                <a:latin typeface="Arial" panose="020B0604020202020204" pitchFamily="34" charset="0"/>
                <a:ea typeface="幼圆" panose="02010509060101010101" pitchFamily="49" charset="-122"/>
                <a:cs typeface="Arial" panose="020B0604020202020204" pitchFamily="34" charset="0"/>
              </a:rPr>
              <a:t>(1,1,0,1)</a:t>
            </a:r>
          </a:p>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可行解</a:t>
            </a:r>
            <a:r>
              <a:rPr kumimoji="1" lang="en-US" altLang="zh-CN" sz="2400" dirty="0">
                <a:latin typeface="Arial" panose="020B0604020202020204" pitchFamily="34" charset="0"/>
                <a:ea typeface="幼圆" panose="02010509060101010101" pitchFamily="49" charset="-122"/>
                <a:cs typeface="Arial" panose="020B0604020202020204" pitchFamily="34" charset="0"/>
              </a:rPr>
              <a:t>2</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r>
              <a:rPr kumimoji="1" lang="en-US" altLang="zh-CN" sz="2400" dirty="0">
                <a:latin typeface="Arial" panose="020B0604020202020204" pitchFamily="34" charset="0"/>
                <a:ea typeface="幼圆" panose="02010509060101010101" pitchFamily="49" charset="-122"/>
                <a:cs typeface="Arial" panose="020B0604020202020204" pitchFamily="34" charset="0"/>
              </a:rPr>
              <a:t>(0,0,1,1)</a:t>
            </a:r>
          </a:p>
        </p:txBody>
      </p:sp>
      <p:cxnSp>
        <p:nvCxnSpPr>
          <p:cNvPr id="10" name="直接连接符 9"/>
          <p:cNvCxnSpPr/>
          <p:nvPr/>
        </p:nvCxnSpPr>
        <p:spPr>
          <a:xfrm>
            <a:off x="859160" y="4239320"/>
            <a:ext cx="9773344"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199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内容占位符 2"/>
          <p:cNvSpPr txBox="1">
            <a:spLocks/>
          </p:cNvSpPr>
          <p:nvPr/>
        </p:nvSpPr>
        <p:spPr>
          <a:xfrm>
            <a:off x="469646" y="582133"/>
            <a:ext cx="6182294" cy="169966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kumimoji="1" lang="zh-CN" altLang="en-US" sz="2400" dirty="0"/>
              <a:t>子集和问题的</a:t>
            </a:r>
            <a:r>
              <a:rPr kumimoji="1" lang="en-US" altLang="zh-CN" sz="2400" dirty="0"/>
              <a:t>4-</a:t>
            </a:r>
            <a:r>
              <a:rPr kumimoji="1" lang="zh-CN" altLang="en-US" sz="2400" dirty="0"/>
              <a:t>元组表达的解空间树</a:t>
            </a:r>
            <a:r>
              <a:rPr kumimoji="1" lang="en-US" altLang="zh-CN" sz="2400" dirty="0"/>
              <a:t> </a:t>
            </a:r>
          </a:p>
          <a:p>
            <a:pPr lvl="1">
              <a:spcBef>
                <a:spcPts val="0"/>
              </a:spcBef>
            </a:pPr>
            <a:r>
              <a:rPr kumimoji="1" lang="zh-CN" altLang="en-US" dirty="0"/>
              <a:t>问题状态：全部结点</a:t>
            </a:r>
            <a:r>
              <a:rPr kumimoji="1" lang="en-US" altLang="zh-CN" dirty="0"/>
              <a:t>31</a:t>
            </a:r>
            <a:r>
              <a:rPr kumimoji="1" lang="zh-CN" altLang="en-US" dirty="0"/>
              <a:t>个</a:t>
            </a:r>
            <a:endParaRPr kumimoji="1" lang="en-US" altLang="zh-CN" dirty="0"/>
          </a:p>
          <a:p>
            <a:pPr lvl="1">
              <a:spcBef>
                <a:spcPts val="0"/>
              </a:spcBef>
            </a:pPr>
            <a:r>
              <a:rPr kumimoji="1" lang="zh-CN" altLang="en-US" dirty="0"/>
              <a:t>解状态：叶结点</a:t>
            </a:r>
            <a:r>
              <a:rPr kumimoji="1" lang="en-US" altLang="zh-CN" dirty="0"/>
              <a:t>16</a:t>
            </a:r>
            <a:r>
              <a:rPr kumimoji="1" lang="zh-CN" altLang="en-US" dirty="0"/>
              <a:t>个</a:t>
            </a:r>
            <a:endParaRPr kumimoji="1" lang="en-US" altLang="zh-CN" dirty="0"/>
          </a:p>
          <a:p>
            <a:pPr lvl="1">
              <a:spcBef>
                <a:spcPts val="0"/>
              </a:spcBef>
            </a:pPr>
            <a:r>
              <a:rPr kumimoji="1" lang="zh-CN" altLang="en-US" dirty="0"/>
              <a:t>答案状态：当前实例</a:t>
            </a:r>
            <a:r>
              <a:rPr kumimoji="1" lang="en-US" altLang="zh-CN" dirty="0"/>
              <a:t>2</a:t>
            </a:r>
            <a:r>
              <a:rPr kumimoji="1" lang="zh-CN" altLang="en-US" dirty="0"/>
              <a:t>个</a:t>
            </a:r>
            <a:endParaRPr kumimoji="1" lang="en-US" altLang="zh-CN" dirty="0"/>
          </a:p>
          <a:p>
            <a:pPr marL="0" indent="0">
              <a:spcBef>
                <a:spcPts val="0"/>
              </a:spcBef>
              <a:buNone/>
            </a:pPr>
            <a:endParaRPr lang="en-US" altLang="zh-CN" sz="3200" dirty="0"/>
          </a:p>
          <a:p>
            <a:pPr marL="0" indent="0">
              <a:spcBef>
                <a:spcPts val="0"/>
              </a:spcBef>
              <a:buNone/>
            </a:pPr>
            <a:endParaRPr lang="en-US" altLang="zh-CN" sz="3200" dirty="0"/>
          </a:p>
          <a:p>
            <a:endParaRPr lang="zh-CN" altLang="en-US" dirty="0"/>
          </a:p>
        </p:txBody>
      </p:sp>
      <p:sp>
        <p:nvSpPr>
          <p:cNvPr id="128" name="Rectangle 104"/>
          <p:cNvSpPr>
            <a:spLocks noChangeArrowheads="1"/>
          </p:cNvSpPr>
          <p:nvPr/>
        </p:nvSpPr>
        <p:spPr bwMode="auto">
          <a:xfrm>
            <a:off x="983433" y="4752253"/>
            <a:ext cx="9649072" cy="533400"/>
          </a:xfrm>
          <a:prstGeom prst="rect">
            <a:avLst/>
          </a:prstGeom>
          <a:solidFill>
            <a:schemeClr val="accent1">
              <a:lumMod val="20000"/>
              <a:lumOff val="80000"/>
            </a:schemeClr>
          </a:solidFill>
          <a:ln w="9525">
            <a:noFill/>
            <a:miter lim="800000"/>
            <a:headEnd/>
            <a:tailEnd/>
          </a:ln>
          <a:effectLst/>
        </p:spPr>
        <p:txBody>
          <a:bodyPr wrap="none" anchor="ctr"/>
          <a:lstStyle/>
          <a:p>
            <a:endParaRPr lang="zh-CN" altLang="en-US"/>
          </a:p>
        </p:txBody>
      </p:sp>
      <p:grpSp>
        <p:nvGrpSpPr>
          <p:cNvPr id="5" name="组合 4"/>
          <p:cNvGrpSpPr/>
          <p:nvPr/>
        </p:nvGrpSpPr>
        <p:grpSpPr>
          <a:xfrm>
            <a:off x="1055440" y="2363440"/>
            <a:ext cx="9452185" cy="2839416"/>
            <a:chOff x="1518031" y="1784350"/>
            <a:chExt cx="9596201" cy="2839416"/>
          </a:xfrm>
        </p:grpSpPr>
        <p:sp>
          <p:nvSpPr>
            <p:cNvPr id="130" name="Oval 5"/>
            <p:cNvSpPr>
              <a:spLocks noChangeArrowheads="1"/>
            </p:cNvSpPr>
            <p:nvPr/>
          </p:nvSpPr>
          <p:spPr bwMode="auto">
            <a:xfrm>
              <a:off x="6848180" y="4272473"/>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21</a:t>
              </a:r>
            </a:p>
          </p:txBody>
        </p:sp>
        <p:sp>
          <p:nvSpPr>
            <p:cNvPr id="131" name="Oval 6"/>
            <p:cNvSpPr>
              <a:spLocks noChangeArrowheads="1"/>
            </p:cNvSpPr>
            <p:nvPr/>
          </p:nvSpPr>
          <p:spPr bwMode="auto">
            <a:xfrm>
              <a:off x="5914805" y="178435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a:t>
              </a:r>
            </a:p>
          </p:txBody>
        </p:sp>
        <p:sp>
          <p:nvSpPr>
            <p:cNvPr id="132" name="Oval 7"/>
            <p:cNvSpPr>
              <a:spLocks noChangeArrowheads="1"/>
            </p:cNvSpPr>
            <p:nvPr/>
          </p:nvSpPr>
          <p:spPr bwMode="auto">
            <a:xfrm>
              <a:off x="3843969" y="252951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a:t>
              </a:r>
            </a:p>
          </p:txBody>
        </p:sp>
        <p:sp>
          <p:nvSpPr>
            <p:cNvPr id="133" name="Oval 8"/>
            <p:cNvSpPr>
              <a:spLocks noChangeArrowheads="1"/>
            </p:cNvSpPr>
            <p:nvPr/>
          </p:nvSpPr>
          <p:spPr bwMode="auto">
            <a:xfrm>
              <a:off x="8021654" y="2522621"/>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17</a:t>
              </a:r>
            </a:p>
          </p:txBody>
        </p:sp>
        <p:sp>
          <p:nvSpPr>
            <p:cNvPr id="134" name="Oval 9"/>
            <p:cNvSpPr>
              <a:spLocks noChangeArrowheads="1"/>
            </p:cNvSpPr>
            <p:nvPr/>
          </p:nvSpPr>
          <p:spPr bwMode="auto">
            <a:xfrm>
              <a:off x="6957725" y="3078334"/>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18</a:t>
              </a:r>
            </a:p>
          </p:txBody>
        </p:sp>
        <p:sp>
          <p:nvSpPr>
            <p:cNvPr id="135" name="Oval 10"/>
            <p:cNvSpPr>
              <a:spLocks noChangeArrowheads="1"/>
            </p:cNvSpPr>
            <p:nvPr/>
          </p:nvSpPr>
          <p:spPr bwMode="auto">
            <a:xfrm>
              <a:off x="9270157" y="3086019"/>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25</a:t>
              </a:r>
            </a:p>
          </p:txBody>
        </p:sp>
        <p:sp>
          <p:nvSpPr>
            <p:cNvPr id="136" name="Oval 11"/>
            <p:cNvSpPr>
              <a:spLocks noChangeArrowheads="1"/>
            </p:cNvSpPr>
            <p:nvPr/>
          </p:nvSpPr>
          <p:spPr bwMode="auto">
            <a:xfrm>
              <a:off x="8734661" y="3603829"/>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26</a:t>
              </a:r>
            </a:p>
          </p:txBody>
        </p:sp>
        <p:sp>
          <p:nvSpPr>
            <p:cNvPr id="137" name="Oval 12"/>
            <p:cNvSpPr>
              <a:spLocks noChangeArrowheads="1"/>
            </p:cNvSpPr>
            <p:nvPr/>
          </p:nvSpPr>
          <p:spPr bwMode="auto">
            <a:xfrm>
              <a:off x="10119288" y="3611801"/>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29</a:t>
              </a:r>
            </a:p>
          </p:txBody>
        </p:sp>
        <p:sp>
          <p:nvSpPr>
            <p:cNvPr id="138" name="Oval 13"/>
            <p:cNvSpPr>
              <a:spLocks noChangeArrowheads="1"/>
            </p:cNvSpPr>
            <p:nvPr/>
          </p:nvSpPr>
          <p:spPr bwMode="auto">
            <a:xfrm>
              <a:off x="9691583" y="4273117"/>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30</a:t>
              </a:r>
            </a:p>
          </p:txBody>
        </p:sp>
        <p:sp>
          <p:nvSpPr>
            <p:cNvPr id="139" name="Oval 14"/>
            <p:cNvSpPr>
              <a:spLocks noChangeArrowheads="1"/>
            </p:cNvSpPr>
            <p:nvPr/>
          </p:nvSpPr>
          <p:spPr bwMode="auto">
            <a:xfrm>
              <a:off x="10679056" y="426439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31</a:t>
              </a:r>
            </a:p>
          </p:txBody>
        </p:sp>
        <p:sp>
          <p:nvSpPr>
            <p:cNvPr id="140" name="Oval 15"/>
            <p:cNvSpPr>
              <a:spLocks noChangeArrowheads="1"/>
            </p:cNvSpPr>
            <p:nvPr/>
          </p:nvSpPr>
          <p:spPr bwMode="auto">
            <a:xfrm>
              <a:off x="8504514" y="4264921"/>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27</a:t>
              </a:r>
            </a:p>
          </p:txBody>
        </p:sp>
        <p:sp>
          <p:nvSpPr>
            <p:cNvPr id="141" name="Oval 16"/>
            <p:cNvSpPr>
              <a:spLocks noChangeArrowheads="1"/>
            </p:cNvSpPr>
            <p:nvPr/>
          </p:nvSpPr>
          <p:spPr bwMode="auto">
            <a:xfrm>
              <a:off x="9116248" y="4274616"/>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28</a:t>
              </a:r>
            </a:p>
          </p:txBody>
        </p:sp>
        <p:sp>
          <p:nvSpPr>
            <p:cNvPr id="142" name="Oval 17"/>
            <p:cNvSpPr>
              <a:spLocks noChangeArrowheads="1"/>
            </p:cNvSpPr>
            <p:nvPr/>
          </p:nvSpPr>
          <p:spPr bwMode="auto">
            <a:xfrm>
              <a:off x="6453753" y="3626024"/>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19</a:t>
              </a:r>
            </a:p>
          </p:txBody>
        </p:sp>
        <p:sp>
          <p:nvSpPr>
            <p:cNvPr id="143" name="Oval 18"/>
            <p:cNvSpPr>
              <a:spLocks noChangeArrowheads="1"/>
            </p:cNvSpPr>
            <p:nvPr/>
          </p:nvSpPr>
          <p:spPr bwMode="auto">
            <a:xfrm>
              <a:off x="7684170" y="3621615"/>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22</a:t>
              </a:r>
            </a:p>
          </p:txBody>
        </p:sp>
        <p:sp>
          <p:nvSpPr>
            <p:cNvPr id="144" name="Oval 19"/>
            <p:cNvSpPr>
              <a:spLocks noChangeArrowheads="1"/>
            </p:cNvSpPr>
            <p:nvPr/>
          </p:nvSpPr>
          <p:spPr bwMode="auto">
            <a:xfrm>
              <a:off x="7326862" y="4272686"/>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23</a:t>
              </a:r>
            </a:p>
          </p:txBody>
        </p:sp>
        <p:sp>
          <p:nvSpPr>
            <p:cNvPr id="145" name="Oval 20"/>
            <p:cNvSpPr>
              <a:spLocks noChangeArrowheads="1"/>
            </p:cNvSpPr>
            <p:nvPr/>
          </p:nvSpPr>
          <p:spPr bwMode="auto">
            <a:xfrm>
              <a:off x="8026838" y="426439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24</a:t>
              </a:r>
            </a:p>
          </p:txBody>
        </p:sp>
        <p:sp>
          <p:nvSpPr>
            <p:cNvPr id="146" name="Oval 21"/>
            <p:cNvSpPr>
              <a:spLocks noChangeArrowheads="1"/>
            </p:cNvSpPr>
            <p:nvPr/>
          </p:nvSpPr>
          <p:spPr bwMode="auto">
            <a:xfrm>
              <a:off x="6360875" y="426439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20</a:t>
              </a:r>
            </a:p>
          </p:txBody>
        </p:sp>
        <p:sp>
          <p:nvSpPr>
            <p:cNvPr id="147" name="Oval 22"/>
            <p:cNvSpPr>
              <a:spLocks noChangeArrowheads="1"/>
            </p:cNvSpPr>
            <p:nvPr/>
          </p:nvSpPr>
          <p:spPr bwMode="auto">
            <a:xfrm>
              <a:off x="2699007" y="3084075"/>
              <a:ext cx="382654" cy="316894"/>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3</a:t>
              </a:r>
            </a:p>
          </p:txBody>
        </p:sp>
        <p:sp>
          <p:nvSpPr>
            <p:cNvPr id="148" name="Oval 23"/>
            <p:cNvSpPr>
              <a:spLocks noChangeArrowheads="1"/>
            </p:cNvSpPr>
            <p:nvPr/>
          </p:nvSpPr>
          <p:spPr bwMode="auto">
            <a:xfrm>
              <a:off x="4429417" y="3630602"/>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11</a:t>
              </a:r>
            </a:p>
          </p:txBody>
        </p:sp>
        <p:sp>
          <p:nvSpPr>
            <p:cNvPr id="149" name="Oval 24"/>
            <p:cNvSpPr>
              <a:spLocks noChangeArrowheads="1"/>
            </p:cNvSpPr>
            <p:nvPr/>
          </p:nvSpPr>
          <p:spPr bwMode="auto">
            <a:xfrm>
              <a:off x="5903012" y="426439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16</a:t>
              </a:r>
            </a:p>
          </p:txBody>
        </p:sp>
        <p:sp>
          <p:nvSpPr>
            <p:cNvPr id="150" name="Oval 25"/>
            <p:cNvSpPr>
              <a:spLocks noChangeArrowheads="1"/>
            </p:cNvSpPr>
            <p:nvPr/>
          </p:nvSpPr>
          <p:spPr bwMode="auto">
            <a:xfrm>
              <a:off x="4193822" y="426439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12</a:t>
              </a:r>
            </a:p>
          </p:txBody>
        </p:sp>
        <p:sp>
          <p:nvSpPr>
            <p:cNvPr id="151" name="Oval 26"/>
            <p:cNvSpPr>
              <a:spLocks noChangeArrowheads="1"/>
            </p:cNvSpPr>
            <p:nvPr/>
          </p:nvSpPr>
          <p:spPr bwMode="auto">
            <a:xfrm>
              <a:off x="4824076" y="426439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13</a:t>
              </a:r>
            </a:p>
          </p:txBody>
        </p:sp>
        <p:sp>
          <p:nvSpPr>
            <p:cNvPr id="152" name="Oval 27"/>
            <p:cNvSpPr>
              <a:spLocks noChangeArrowheads="1"/>
            </p:cNvSpPr>
            <p:nvPr/>
          </p:nvSpPr>
          <p:spPr bwMode="auto">
            <a:xfrm>
              <a:off x="4863092" y="3050778"/>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10</a:t>
              </a:r>
            </a:p>
          </p:txBody>
        </p:sp>
        <p:sp>
          <p:nvSpPr>
            <p:cNvPr id="153" name="Oval 28"/>
            <p:cNvSpPr>
              <a:spLocks noChangeArrowheads="1"/>
            </p:cNvSpPr>
            <p:nvPr/>
          </p:nvSpPr>
          <p:spPr bwMode="auto">
            <a:xfrm>
              <a:off x="5554871" y="3621417"/>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14</a:t>
              </a:r>
            </a:p>
          </p:txBody>
        </p:sp>
        <p:sp>
          <p:nvSpPr>
            <p:cNvPr id="154" name="Oval 29"/>
            <p:cNvSpPr>
              <a:spLocks noChangeArrowheads="1"/>
            </p:cNvSpPr>
            <p:nvPr/>
          </p:nvSpPr>
          <p:spPr bwMode="auto">
            <a:xfrm>
              <a:off x="5284762" y="4264390"/>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15</a:t>
              </a:r>
            </a:p>
          </p:txBody>
        </p:sp>
        <p:sp>
          <p:nvSpPr>
            <p:cNvPr id="155" name="Oval 30"/>
            <p:cNvSpPr>
              <a:spLocks noChangeArrowheads="1"/>
            </p:cNvSpPr>
            <p:nvPr/>
          </p:nvSpPr>
          <p:spPr bwMode="auto">
            <a:xfrm>
              <a:off x="2058249" y="3632898"/>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4</a:t>
              </a:r>
            </a:p>
          </p:txBody>
        </p:sp>
        <p:sp>
          <p:nvSpPr>
            <p:cNvPr id="156" name="Oval 31"/>
            <p:cNvSpPr>
              <a:spLocks noChangeArrowheads="1"/>
            </p:cNvSpPr>
            <p:nvPr/>
          </p:nvSpPr>
          <p:spPr bwMode="auto">
            <a:xfrm>
              <a:off x="3287688" y="3637491"/>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7</a:t>
              </a:r>
            </a:p>
          </p:txBody>
        </p:sp>
        <p:sp>
          <p:nvSpPr>
            <p:cNvPr id="157" name="Oval 32"/>
            <p:cNvSpPr>
              <a:spLocks noChangeArrowheads="1"/>
            </p:cNvSpPr>
            <p:nvPr/>
          </p:nvSpPr>
          <p:spPr bwMode="auto">
            <a:xfrm>
              <a:off x="2910593" y="4287354"/>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8</a:t>
              </a:r>
            </a:p>
          </p:txBody>
        </p:sp>
        <p:sp>
          <p:nvSpPr>
            <p:cNvPr id="158" name="Oval 33"/>
            <p:cNvSpPr>
              <a:spLocks noChangeArrowheads="1"/>
            </p:cNvSpPr>
            <p:nvPr/>
          </p:nvSpPr>
          <p:spPr bwMode="auto">
            <a:xfrm>
              <a:off x="3696910" y="4290798"/>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9</a:t>
              </a:r>
            </a:p>
          </p:txBody>
        </p:sp>
        <p:sp>
          <p:nvSpPr>
            <p:cNvPr id="159" name="Oval 34"/>
            <p:cNvSpPr>
              <a:spLocks noChangeArrowheads="1"/>
            </p:cNvSpPr>
            <p:nvPr/>
          </p:nvSpPr>
          <p:spPr bwMode="auto">
            <a:xfrm>
              <a:off x="1518031" y="4272427"/>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5</a:t>
              </a:r>
            </a:p>
          </p:txBody>
        </p:sp>
        <p:sp>
          <p:nvSpPr>
            <p:cNvPr id="160" name="Oval 35"/>
            <p:cNvSpPr>
              <a:spLocks noChangeArrowheads="1"/>
            </p:cNvSpPr>
            <p:nvPr/>
          </p:nvSpPr>
          <p:spPr bwMode="auto">
            <a:xfrm>
              <a:off x="2428898" y="4273576"/>
              <a:ext cx="435176" cy="332968"/>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dirty="0">
                  <a:latin typeface="Arial" panose="020B0604020202020204" pitchFamily="34" charset="0"/>
                  <a:cs typeface="Arial" panose="020B0604020202020204" pitchFamily="34" charset="0"/>
                </a:rPr>
                <a:t>6</a:t>
              </a:r>
            </a:p>
          </p:txBody>
        </p:sp>
        <p:sp>
          <p:nvSpPr>
            <p:cNvPr id="161" name="Line 36"/>
            <p:cNvSpPr>
              <a:spLocks noChangeShapeType="1"/>
            </p:cNvSpPr>
            <p:nvPr/>
          </p:nvSpPr>
          <p:spPr bwMode="auto">
            <a:xfrm flipH="1">
              <a:off x="4078064" y="2088614"/>
              <a:ext cx="1944784" cy="440896"/>
            </a:xfrm>
            <a:prstGeom prst="line">
              <a:avLst/>
            </a:prstGeom>
            <a:noFill/>
            <a:ln w="127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62" name="Line 37"/>
            <p:cNvSpPr>
              <a:spLocks noChangeShapeType="1"/>
            </p:cNvSpPr>
            <p:nvPr/>
          </p:nvSpPr>
          <p:spPr bwMode="auto">
            <a:xfrm flipH="1">
              <a:off x="2940603" y="2873961"/>
              <a:ext cx="1097385" cy="202078"/>
            </a:xfrm>
            <a:prstGeom prst="line">
              <a:avLst/>
            </a:prstGeom>
            <a:noFill/>
            <a:ln w="127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63" name="Line 38"/>
            <p:cNvSpPr>
              <a:spLocks noChangeShapeType="1"/>
            </p:cNvSpPr>
            <p:nvPr/>
          </p:nvSpPr>
          <p:spPr bwMode="auto">
            <a:xfrm flipH="1">
              <a:off x="2254828" y="3411302"/>
              <a:ext cx="600242" cy="215855"/>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64" name="Line 39"/>
            <p:cNvSpPr>
              <a:spLocks noChangeShapeType="1"/>
            </p:cNvSpPr>
            <p:nvPr/>
          </p:nvSpPr>
          <p:spPr bwMode="auto">
            <a:xfrm flipH="1">
              <a:off x="1764130" y="3976200"/>
              <a:ext cx="453183" cy="290486"/>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65" name="Line 40"/>
            <p:cNvSpPr>
              <a:spLocks noChangeShapeType="1"/>
            </p:cNvSpPr>
            <p:nvPr/>
          </p:nvSpPr>
          <p:spPr bwMode="auto">
            <a:xfrm>
              <a:off x="2278838" y="3976200"/>
              <a:ext cx="345139" cy="290486"/>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66" name="Line 41"/>
            <p:cNvSpPr>
              <a:spLocks noChangeShapeType="1"/>
            </p:cNvSpPr>
            <p:nvPr/>
          </p:nvSpPr>
          <p:spPr bwMode="auto">
            <a:xfrm>
              <a:off x="2954110" y="3400969"/>
              <a:ext cx="519209" cy="231929"/>
            </a:xfrm>
            <a:prstGeom prst="line">
              <a:avLst/>
            </a:prstGeom>
            <a:noFill/>
            <a:ln w="127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67" name="Line 42"/>
            <p:cNvSpPr>
              <a:spLocks noChangeShapeType="1"/>
            </p:cNvSpPr>
            <p:nvPr/>
          </p:nvSpPr>
          <p:spPr bwMode="auto">
            <a:xfrm flipH="1">
              <a:off x="3120677" y="3988831"/>
              <a:ext cx="352642" cy="291634"/>
            </a:xfrm>
            <a:prstGeom prst="line">
              <a:avLst/>
            </a:prstGeom>
            <a:noFill/>
            <a:ln w="127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68" name="Line 43"/>
            <p:cNvSpPr>
              <a:spLocks noChangeShapeType="1"/>
            </p:cNvSpPr>
            <p:nvPr/>
          </p:nvSpPr>
          <p:spPr bwMode="auto">
            <a:xfrm>
              <a:off x="3531845" y="3963570"/>
              <a:ext cx="390156" cy="330673"/>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69" name="Line 44"/>
            <p:cNvSpPr>
              <a:spLocks noChangeShapeType="1"/>
            </p:cNvSpPr>
            <p:nvPr/>
          </p:nvSpPr>
          <p:spPr bwMode="auto">
            <a:xfrm flipH="1">
              <a:off x="4355888" y="3956681"/>
              <a:ext cx="252102" cy="316894"/>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0" name="Line 45"/>
            <p:cNvSpPr>
              <a:spLocks noChangeShapeType="1"/>
            </p:cNvSpPr>
            <p:nvPr/>
          </p:nvSpPr>
          <p:spPr bwMode="auto">
            <a:xfrm>
              <a:off x="4708530" y="3947496"/>
              <a:ext cx="351142" cy="31919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1" name="Line 46"/>
            <p:cNvSpPr>
              <a:spLocks noChangeShapeType="1"/>
            </p:cNvSpPr>
            <p:nvPr/>
          </p:nvSpPr>
          <p:spPr bwMode="auto">
            <a:xfrm flipH="1">
              <a:off x="5493346" y="3947496"/>
              <a:ext cx="274611" cy="323783"/>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2" name="Line 47"/>
            <p:cNvSpPr>
              <a:spLocks noChangeShapeType="1"/>
            </p:cNvSpPr>
            <p:nvPr/>
          </p:nvSpPr>
          <p:spPr bwMode="auto">
            <a:xfrm>
              <a:off x="5808667" y="3961544"/>
              <a:ext cx="307432" cy="30284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3" name="Line 48"/>
            <p:cNvSpPr>
              <a:spLocks noChangeShapeType="1"/>
            </p:cNvSpPr>
            <p:nvPr/>
          </p:nvSpPr>
          <p:spPr bwMode="auto">
            <a:xfrm flipH="1">
              <a:off x="6514847" y="3963569"/>
              <a:ext cx="165478" cy="298753"/>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4" name="Line 49"/>
            <p:cNvSpPr>
              <a:spLocks noChangeShapeType="1"/>
            </p:cNvSpPr>
            <p:nvPr/>
          </p:nvSpPr>
          <p:spPr bwMode="auto">
            <a:xfrm>
              <a:off x="6734346" y="3947799"/>
              <a:ext cx="308555" cy="316592"/>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5" name="Line 50"/>
            <p:cNvSpPr>
              <a:spLocks noChangeShapeType="1"/>
            </p:cNvSpPr>
            <p:nvPr/>
          </p:nvSpPr>
          <p:spPr bwMode="auto">
            <a:xfrm flipH="1">
              <a:off x="7497991" y="3946150"/>
              <a:ext cx="400576" cy="325129"/>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6" name="Line 51"/>
            <p:cNvSpPr>
              <a:spLocks noChangeShapeType="1"/>
            </p:cNvSpPr>
            <p:nvPr/>
          </p:nvSpPr>
          <p:spPr bwMode="auto">
            <a:xfrm>
              <a:off x="7910625" y="3955827"/>
              <a:ext cx="392539" cy="307628"/>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7" name="Line 52"/>
            <p:cNvSpPr>
              <a:spLocks noChangeShapeType="1"/>
            </p:cNvSpPr>
            <p:nvPr/>
          </p:nvSpPr>
          <p:spPr bwMode="auto">
            <a:xfrm flipH="1">
              <a:off x="8693808" y="3948644"/>
              <a:ext cx="241640" cy="328376"/>
            </a:xfrm>
            <a:prstGeom prst="line">
              <a:avLst/>
            </a:prstGeom>
            <a:noFill/>
            <a:ln w="127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8" name="Line 53"/>
            <p:cNvSpPr>
              <a:spLocks noChangeShapeType="1"/>
            </p:cNvSpPr>
            <p:nvPr/>
          </p:nvSpPr>
          <p:spPr bwMode="auto">
            <a:xfrm>
              <a:off x="9025028" y="3929932"/>
              <a:ext cx="301997" cy="331583"/>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79" name="Line 54"/>
            <p:cNvSpPr>
              <a:spLocks noChangeShapeType="1"/>
            </p:cNvSpPr>
            <p:nvPr/>
          </p:nvSpPr>
          <p:spPr bwMode="auto">
            <a:xfrm flipH="1">
              <a:off x="9879322" y="3943974"/>
              <a:ext cx="406966" cy="33262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0" name="Line 55"/>
            <p:cNvSpPr>
              <a:spLocks noChangeShapeType="1"/>
            </p:cNvSpPr>
            <p:nvPr/>
          </p:nvSpPr>
          <p:spPr bwMode="auto">
            <a:xfrm>
              <a:off x="10328400" y="3958501"/>
              <a:ext cx="592136" cy="303013"/>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1" name="Line 56"/>
            <p:cNvSpPr>
              <a:spLocks noChangeShapeType="1"/>
            </p:cNvSpPr>
            <p:nvPr/>
          </p:nvSpPr>
          <p:spPr bwMode="auto">
            <a:xfrm>
              <a:off x="6211924" y="2115022"/>
              <a:ext cx="2015313" cy="414488"/>
            </a:xfrm>
            <a:prstGeom prst="line">
              <a:avLst/>
            </a:prstGeom>
            <a:noFill/>
            <a:ln w="127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2" name="Line 57"/>
            <p:cNvSpPr>
              <a:spLocks noChangeShapeType="1"/>
            </p:cNvSpPr>
            <p:nvPr/>
          </p:nvSpPr>
          <p:spPr bwMode="auto">
            <a:xfrm>
              <a:off x="4070561" y="2873960"/>
              <a:ext cx="962100" cy="17567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3" name="Line 58"/>
            <p:cNvSpPr>
              <a:spLocks noChangeShapeType="1"/>
            </p:cNvSpPr>
            <p:nvPr/>
          </p:nvSpPr>
          <p:spPr bwMode="auto">
            <a:xfrm flipH="1">
              <a:off x="7175524" y="2846404"/>
              <a:ext cx="1026202" cy="233289"/>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4" name="Line 59"/>
            <p:cNvSpPr>
              <a:spLocks noChangeShapeType="1"/>
            </p:cNvSpPr>
            <p:nvPr/>
          </p:nvSpPr>
          <p:spPr bwMode="auto">
            <a:xfrm>
              <a:off x="8345785" y="2846404"/>
              <a:ext cx="1098443" cy="237319"/>
            </a:xfrm>
            <a:prstGeom prst="line">
              <a:avLst/>
            </a:prstGeom>
            <a:noFill/>
            <a:ln w="127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5" name="Line 60"/>
            <p:cNvSpPr>
              <a:spLocks noChangeShapeType="1"/>
            </p:cNvSpPr>
            <p:nvPr/>
          </p:nvSpPr>
          <p:spPr bwMode="auto">
            <a:xfrm flipH="1">
              <a:off x="4644004" y="3384894"/>
              <a:ext cx="388657" cy="25259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6" name="Line 61"/>
            <p:cNvSpPr>
              <a:spLocks noChangeShapeType="1"/>
            </p:cNvSpPr>
            <p:nvPr/>
          </p:nvSpPr>
          <p:spPr bwMode="auto">
            <a:xfrm>
              <a:off x="5158711" y="3383746"/>
              <a:ext cx="613748" cy="243411"/>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7" name="Line 62"/>
            <p:cNvSpPr>
              <a:spLocks noChangeShapeType="1"/>
            </p:cNvSpPr>
            <p:nvPr/>
          </p:nvSpPr>
          <p:spPr bwMode="auto">
            <a:xfrm flipH="1">
              <a:off x="6684615" y="3406710"/>
              <a:ext cx="430674" cy="220448"/>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8" name="Line 63"/>
            <p:cNvSpPr>
              <a:spLocks noChangeShapeType="1"/>
            </p:cNvSpPr>
            <p:nvPr/>
          </p:nvSpPr>
          <p:spPr bwMode="auto">
            <a:xfrm>
              <a:off x="7258077" y="3397182"/>
              <a:ext cx="563997" cy="224235"/>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89" name="Line 64"/>
            <p:cNvSpPr>
              <a:spLocks noChangeShapeType="1"/>
            </p:cNvSpPr>
            <p:nvPr/>
          </p:nvSpPr>
          <p:spPr bwMode="auto">
            <a:xfrm flipH="1">
              <a:off x="8945871" y="3420257"/>
              <a:ext cx="524187" cy="186680"/>
            </a:xfrm>
            <a:prstGeom prst="line">
              <a:avLst/>
            </a:prstGeom>
            <a:noFill/>
            <a:ln w="127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90" name="Line 65"/>
            <p:cNvSpPr>
              <a:spLocks noChangeShapeType="1"/>
            </p:cNvSpPr>
            <p:nvPr/>
          </p:nvSpPr>
          <p:spPr bwMode="auto">
            <a:xfrm>
              <a:off x="9550763" y="3418191"/>
              <a:ext cx="782399" cy="19361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91" name="Text Box 66"/>
            <p:cNvSpPr txBox="1">
              <a:spLocks noChangeArrowheads="1"/>
            </p:cNvSpPr>
            <p:nvPr/>
          </p:nvSpPr>
          <p:spPr bwMode="auto">
            <a:xfrm>
              <a:off x="4555256" y="1973798"/>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1</a:t>
              </a:r>
              <a:r>
                <a:rPr kumimoji="1" lang="en-US" altLang="zh-CN" sz="2000" dirty="0">
                  <a:cs typeface="Arial" panose="020B0604020202020204" pitchFamily="34" charset="0"/>
                </a:rPr>
                <a:t>=1</a:t>
              </a:r>
            </a:p>
          </p:txBody>
        </p:sp>
        <p:sp>
          <p:nvSpPr>
            <p:cNvPr id="192" name="Text Box 67"/>
            <p:cNvSpPr txBox="1">
              <a:spLocks noChangeArrowheads="1"/>
            </p:cNvSpPr>
            <p:nvPr/>
          </p:nvSpPr>
          <p:spPr bwMode="auto">
            <a:xfrm>
              <a:off x="6957725" y="1989872"/>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1</a:t>
              </a:r>
              <a:r>
                <a:rPr kumimoji="1" lang="en-US" altLang="zh-CN" sz="2000" dirty="0">
                  <a:cs typeface="Arial" panose="020B0604020202020204" pitchFamily="34" charset="0"/>
                </a:rPr>
                <a:t>=0</a:t>
              </a:r>
            </a:p>
          </p:txBody>
        </p:sp>
        <p:sp>
          <p:nvSpPr>
            <p:cNvPr id="193" name="Text Box 68"/>
            <p:cNvSpPr txBox="1">
              <a:spLocks noChangeArrowheads="1"/>
            </p:cNvSpPr>
            <p:nvPr/>
          </p:nvSpPr>
          <p:spPr bwMode="auto">
            <a:xfrm>
              <a:off x="3008132" y="2660401"/>
              <a:ext cx="771529" cy="402291"/>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2</a:t>
              </a:r>
              <a:r>
                <a:rPr kumimoji="1" lang="en-US" altLang="zh-CN" sz="2000" dirty="0">
                  <a:cs typeface="Arial" panose="020B0604020202020204" pitchFamily="34" charset="0"/>
                </a:rPr>
                <a:t>=1</a:t>
              </a:r>
            </a:p>
          </p:txBody>
        </p:sp>
        <p:sp>
          <p:nvSpPr>
            <p:cNvPr id="194" name="Text Box 69"/>
            <p:cNvSpPr txBox="1">
              <a:spLocks noChangeArrowheads="1"/>
            </p:cNvSpPr>
            <p:nvPr/>
          </p:nvSpPr>
          <p:spPr bwMode="auto">
            <a:xfrm>
              <a:off x="1963711" y="3177076"/>
              <a:ext cx="882356"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3</a:t>
              </a:r>
              <a:r>
                <a:rPr kumimoji="1" lang="en-US" altLang="zh-CN" sz="2000" dirty="0">
                  <a:cs typeface="Arial" panose="020B0604020202020204" pitchFamily="34" charset="0"/>
                </a:rPr>
                <a:t>=1</a:t>
              </a:r>
            </a:p>
          </p:txBody>
        </p:sp>
        <p:sp>
          <p:nvSpPr>
            <p:cNvPr id="195" name="Text Box 70"/>
            <p:cNvSpPr txBox="1">
              <a:spLocks noChangeArrowheads="1"/>
            </p:cNvSpPr>
            <p:nvPr/>
          </p:nvSpPr>
          <p:spPr bwMode="auto">
            <a:xfrm>
              <a:off x="1706185" y="3857640"/>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1</a:t>
              </a:r>
            </a:p>
          </p:txBody>
        </p:sp>
        <p:sp>
          <p:nvSpPr>
            <p:cNvPr id="196" name="Text Box 71"/>
            <p:cNvSpPr txBox="1">
              <a:spLocks noChangeArrowheads="1"/>
            </p:cNvSpPr>
            <p:nvPr/>
          </p:nvSpPr>
          <p:spPr bwMode="auto">
            <a:xfrm>
              <a:off x="2533941" y="3862532"/>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0</a:t>
              </a:r>
            </a:p>
          </p:txBody>
        </p:sp>
        <p:sp>
          <p:nvSpPr>
            <p:cNvPr id="197" name="Text Box 72"/>
            <p:cNvSpPr txBox="1">
              <a:spLocks noChangeArrowheads="1"/>
            </p:cNvSpPr>
            <p:nvPr/>
          </p:nvSpPr>
          <p:spPr bwMode="auto">
            <a:xfrm>
              <a:off x="3038489" y="3876310"/>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1</a:t>
              </a:r>
            </a:p>
          </p:txBody>
        </p:sp>
        <p:sp>
          <p:nvSpPr>
            <p:cNvPr id="198" name="Text Box 73"/>
            <p:cNvSpPr txBox="1">
              <a:spLocks noChangeArrowheads="1"/>
            </p:cNvSpPr>
            <p:nvPr/>
          </p:nvSpPr>
          <p:spPr bwMode="auto">
            <a:xfrm>
              <a:off x="3659836" y="3884815"/>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0</a:t>
              </a:r>
            </a:p>
          </p:txBody>
        </p:sp>
        <p:sp>
          <p:nvSpPr>
            <p:cNvPr id="199" name="Text Box 74"/>
            <p:cNvSpPr txBox="1">
              <a:spLocks noChangeArrowheads="1"/>
            </p:cNvSpPr>
            <p:nvPr/>
          </p:nvSpPr>
          <p:spPr bwMode="auto">
            <a:xfrm>
              <a:off x="4144555" y="3875608"/>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1</a:t>
              </a:r>
            </a:p>
          </p:txBody>
        </p:sp>
        <p:sp>
          <p:nvSpPr>
            <p:cNvPr id="200" name="Text Box 75"/>
            <p:cNvSpPr txBox="1">
              <a:spLocks noChangeArrowheads="1"/>
            </p:cNvSpPr>
            <p:nvPr/>
          </p:nvSpPr>
          <p:spPr bwMode="auto">
            <a:xfrm>
              <a:off x="4869095" y="3875162"/>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0</a:t>
              </a:r>
            </a:p>
          </p:txBody>
        </p:sp>
        <p:sp>
          <p:nvSpPr>
            <p:cNvPr id="201" name="Text Box 76"/>
            <p:cNvSpPr txBox="1">
              <a:spLocks noChangeArrowheads="1"/>
            </p:cNvSpPr>
            <p:nvPr/>
          </p:nvSpPr>
          <p:spPr bwMode="auto">
            <a:xfrm>
              <a:off x="4417200" y="2609882"/>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=0</a:t>
              </a:r>
            </a:p>
          </p:txBody>
        </p:sp>
        <p:sp>
          <p:nvSpPr>
            <p:cNvPr id="202" name="Text Box 77"/>
            <p:cNvSpPr txBox="1">
              <a:spLocks noChangeArrowheads="1"/>
            </p:cNvSpPr>
            <p:nvPr/>
          </p:nvSpPr>
          <p:spPr bwMode="auto">
            <a:xfrm>
              <a:off x="3176200" y="3185113"/>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=0</a:t>
              </a:r>
            </a:p>
          </p:txBody>
        </p:sp>
        <p:sp>
          <p:nvSpPr>
            <p:cNvPr id="203" name="Text Box 78"/>
            <p:cNvSpPr txBox="1">
              <a:spLocks noChangeArrowheads="1"/>
            </p:cNvSpPr>
            <p:nvPr/>
          </p:nvSpPr>
          <p:spPr bwMode="auto">
            <a:xfrm>
              <a:off x="4079776" y="3217262"/>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=1</a:t>
              </a:r>
            </a:p>
          </p:txBody>
        </p:sp>
        <p:sp>
          <p:nvSpPr>
            <p:cNvPr id="204" name="Text Box 79"/>
            <p:cNvSpPr txBox="1">
              <a:spLocks noChangeArrowheads="1"/>
            </p:cNvSpPr>
            <p:nvPr/>
          </p:nvSpPr>
          <p:spPr bwMode="auto">
            <a:xfrm>
              <a:off x="5347788" y="3169039"/>
              <a:ext cx="8658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=0</a:t>
              </a:r>
            </a:p>
          </p:txBody>
        </p:sp>
        <p:sp>
          <p:nvSpPr>
            <p:cNvPr id="205" name="Text Box 80"/>
            <p:cNvSpPr txBox="1">
              <a:spLocks noChangeArrowheads="1"/>
            </p:cNvSpPr>
            <p:nvPr/>
          </p:nvSpPr>
          <p:spPr bwMode="auto">
            <a:xfrm>
              <a:off x="6810666" y="2604141"/>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2</a:t>
              </a:r>
              <a:r>
                <a:rPr kumimoji="1" lang="en-US" altLang="zh-CN" sz="2000" dirty="0">
                  <a:cs typeface="Arial" panose="020B0604020202020204" pitchFamily="34" charset="0"/>
                </a:rPr>
                <a:t>=1</a:t>
              </a:r>
            </a:p>
          </p:txBody>
        </p:sp>
        <p:sp>
          <p:nvSpPr>
            <p:cNvPr id="206" name="Text Box 81"/>
            <p:cNvSpPr txBox="1">
              <a:spLocks noChangeArrowheads="1"/>
            </p:cNvSpPr>
            <p:nvPr/>
          </p:nvSpPr>
          <p:spPr bwMode="auto">
            <a:xfrm>
              <a:off x="8723937" y="2599762"/>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=0</a:t>
              </a:r>
            </a:p>
          </p:txBody>
        </p:sp>
        <p:sp>
          <p:nvSpPr>
            <p:cNvPr id="207" name="Text Box 82"/>
            <p:cNvSpPr txBox="1">
              <a:spLocks noChangeArrowheads="1"/>
            </p:cNvSpPr>
            <p:nvPr/>
          </p:nvSpPr>
          <p:spPr bwMode="auto">
            <a:xfrm>
              <a:off x="6219083" y="3226341"/>
              <a:ext cx="8658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3</a:t>
              </a:r>
              <a:r>
                <a:rPr kumimoji="1" lang="en-US" altLang="zh-CN" sz="2000" dirty="0">
                  <a:cs typeface="Arial" panose="020B0604020202020204" pitchFamily="34" charset="0"/>
                </a:rPr>
                <a:t>=1</a:t>
              </a:r>
            </a:p>
          </p:txBody>
        </p:sp>
        <p:sp>
          <p:nvSpPr>
            <p:cNvPr id="208" name="Text Box 83"/>
            <p:cNvSpPr txBox="1">
              <a:spLocks noChangeArrowheads="1"/>
            </p:cNvSpPr>
            <p:nvPr/>
          </p:nvSpPr>
          <p:spPr bwMode="auto">
            <a:xfrm>
              <a:off x="7536963" y="3188899"/>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3</a:t>
              </a:r>
              <a:r>
                <a:rPr lang="en-US" altLang="zh-CN" sz="2000">
                  <a:cs typeface="Arial" panose="020B0604020202020204" pitchFamily="34" charset="0"/>
                </a:rPr>
                <a:t>=0</a:t>
              </a:r>
            </a:p>
          </p:txBody>
        </p:sp>
        <p:sp>
          <p:nvSpPr>
            <p:cNvPr id="209" name="Text Box 84"/>
            <p:cNvSpPr txBox="1">
              <a:spLocks noChangeArrowheads="1"/>
            </p:cNvSpPr>
            <p:nvPr/>
          </p:nvSpPr>
          <p:spPr bwMode="auto">
            <a:xfrm>
              <a:off x="8520321" y="3226722"/>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3</a:t>
              </a:r>
              <a:r>
                <a:rPr kumimoji="1" lang="en-US" altLang="zh-CN" sz="2000" dirty="0">
                  <a:cs typeface="Arial" panose="020B0604020202020204" pitchFamily="34" charset="0"/>
                </a:rPr>
                <a:t>=1</a:t>
              </a:r>
            </a:p>
          </p:txBody>
        </p:sp>
        <p:sp>
          <p:nvSpPr>
            <p:cNvPr id="210" name="Text Box 85"/>
            <p:cNvSpPr txBox="1">
              <a:spLocks noChangeArrowheads="1"/>
            </p:cNvSpPr>
            <p:nvPr/>
          </p:nvSpPr>
          <p:spPr bwMode="auto">
            <a:xfrm>
              <a:off x="9894364" y="3172901"/>
              <a:ext cx="864349"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=0</a:t>
              </a:r>
            </a:p>
          </p:txBody>
        </p:sp>
        <p:sp>
          <p:nvSpPr>
            <p:cNvPr id="211" name="Text Box 86"/>
            <p:cNvSpPr txBox="1">
              <a:spLocks noChangeArrowheads="1"/>
            </p:cNvSpPr>
            <p:nvPr/>
          </p:nvSpPr>
          <p:spPr bwMode="auto">
            <a:xfrm>
              <a:off x="5206731" y="3876310"/>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1</a:t>
              </a:r>
            </a:p>
          </p:txBody>
        </p:sp>
        <p:sp>
          <p:nvSpPr>
            <p:cNvPr id="212" name="Text Box 87"/>
            <p:cNvSpPr txBox="1">
              <a:spLocks noChangeArrowheads="1"/>
            </p:cNvSpPr>
            <p:nvPr/>
          </p:nvSpPr>
          <p:spPr bwMode="auto">
            <a:xfrm>
              <a:off x="5947865" y="3869421"/>
              <a:ext cx="3796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0</a:t>
              </a:r>
            </a:p>
          </p:txBody>
        </p:sp>
        <p:sp>
          <p:nvSpPr>
            <p:cNvPr id="213" name="Text Box 88"/>
            <p:cNvSpPr txBox="1">
              <a:spLocks noChangeArrowheads="1"/>
            </p:cNvSpPr>
            <p:nvPr/>
          </p:nvSpPr>
          <p:spPr bwMode="auto">
            <a:xfrm>
              <a:off x="9798088" y="3884476"/>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1</a:t>
              </a:r>
            </a:p>
          </p:txBody>
        </p:sp>
        <p:sp>
          <p:nvSpPr>
            <p:cNvPr id="214" name="Text Box 89"/>
            <p:cNvSpPr txBox="1">
              <a:spLocks noChangeArrowheads="1"/>
            </p:cNvSpPr>
            <p:nvPr/>
          </p:nvSpPr>
          <p:spPr bwMode="auto">
            <a:xfrm>
              <a:off x="10707567" y="3839810"/>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0</a:t>
              </a:r>
            </a:p>
          </p:txBody>
        </p:sp>
        <p:sp>
          <p:nvSpPr>
            <p:cNvPr id="215" name="Text Box 90"/>
            <p:cNvSpPr txBox="1">
              <a:spLocks noChangeArrowheads="1"/>
            </p:cNvSpPr>
            <p:nvPr/>
          </p:nvSpPr>
          <p:spPr bwMode="auto">
            <a:xfrm>
              <a:off x="8434281" y="3892444"/>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1</a:t>
              </a:r>
            </a:p>
          </p:txBody>
        </p:sp>
        <p:sp>
          <p:nvSpPr>
            <p:cNvPr id="216" name="Text Box 91"/>
            <p:cNvSpPr txBox="1">
              <a:spLocks noChangeArrowheads="1"/>
            </p:cNvSpPr>
            <p:nvPr/>
          </p:nvSpPr>
          <p:spPr bwMode="auto">
            <a:xfrm>
              <a:off x="9185192" y="3882229"/>
              <a:ext cx="399161" cy="402291"/>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0</a:t>
              </a:r>
            </a:p>
          </p:txBody>
        </p:sp>
        <p:sp>
          <p:nvSpPr>
            <p:cNvPr id="217" name="Text Box 92"/>
            <p:cNvSpPr txBox="1">
              <a:spLocks noChangeArrowheads="1"/>
            </p:cNvSpPr>
            <p:nvPr/>
          </p:nvSpPr>
          <p:spPr bwMode="auto">
            <a:xfrm>
              <a:off x="7268377" y="3876310"/>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1</a:t>
              </a:r>
            </a:p>
          </p:txBody>
        </p:sp>
        <p:sp>
          <p:nvSpPr>
            <p:cNvPr id="218" name="Text Box 93"/>
            <p:cNvSpPr txBox="1">
              <a:spLocks noChangeArrowheads="1"/>
            </p:cNvSpPr>
            <p:nvPr/>
          </p:nvSpPr>
          <p:spPr bwMode="auto">
            <a:xfrm>
              <a:off x="8109660" y="3884815"/>
              <a:ext cx="3796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0</a:t>
              </a:r>
            </a:p>
          </p:txBody>
        </p:sp>
        <p:sp>
          <p:nvSpPr>
            <p:cNvPr id="219" name="Text Box 94"/>
            <p:cNvSpPr txBox="1">
              <a:spLocks noChangeArrowheads="1"/>
            </p:cNvSpPr>
            <p:nvPr/>
          </p:nvSpPr>
          <p:spPr bwMode="auto">
            <a:xfrm>
              <a:off x="6318349" y="3903292"/>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1</a:t>
              </a:r>
            </a:p>
          </p:txBody>
        </p:sp>
        <p:sp>
          <p:nvSpPr>
            <p:cNvPr id="220" name="Text Box 95"/>
            <p:cNvSpPr txBox="1">
              <a:spLocks noChangeArrowheads="1"/>
            </p:cNvSpPr>
            <p:nvPr/>
          </p:nvSpPr>
          <p:spPr bwMode="auto">
            <a:xfrm>
              <a:off x="6901420" y="3899598"/>
              <a:ext cx="378153" cy="401858"/>
            </a:xfrm>
            <a:prstGeom prst="rect">
              <a:avLst/>
            </a:prstGeom>
            <a:noFill/>
            <a:ln w="12700">
              <a:no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0</a:t>
              </a:r>
            </a:p>
          </p:txBody>
        </p:sp>
      </p:grpSp>
      <p:sp>
        <p:nvSpPr>
          <p:cNvPr id="231" name="圆角矩形标注 230"/>
          <p:cNvSpPr/>
          <p:nvPr/>
        </p:nvSpPr>
        <p:spPr>
          <a:xfrm>
            <a:off x="2381282" y="5469985"/>
            <a:ext cx="3472704" cy="839335"/>
          </a:xfrm>
          <a:prstGeom prst="wedgeRoundRectCallout">
            <a:avLst>
              <a:gd name="adj1" fmla="val -41007"/>
              <a:gd name="adj2" fmla="val -73511"/>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50000"/>
              </a:spcBef>
            </a:pPr>
            <a:r>
              <a:rPr kumimoji="1" lang="zh-CN" altLang="en-US" sz="2000" dirty="0">
                <a:solidFill>
                  <a:schemeClr val="tx1"/>
                </a:solidFill>
                <a:latin typeface="幼圆" panose="02010509060101010101" pitchFamily="49" charset="-122"/>
                <a:ea typeface="幼圆" panose="02010509060101010101" pitchFamily="49" charset="-122"/>
              </a:rPr>
              <a:t>从根结点到</a:t>
            </a:r>
            <a:r>
              <a:rPr kumimoji="1" lang="zh-CN" altLang="en-US" sz="2000" dirty="0">
                <a:solidFill>
                  <a:srgbClr val="FF0000"/>
                </a:solidFill>
                <a:latin typeface="幼圆" panose="02010509060101010101" pitchFamily="49" charset="-122"/>
                <a:ea typeface="幼圆" panose="02010509060101010101" pitchFamily="49" charset="-122"/>
              </a:rPr>
              <a:t>叶结点</a:t>
            </a:r>
            <a:r>
              <a:rPr kumimoji="1" lang="zh-CN" altLang="en-US" sz="2000" dirty="0">
                <a:solidFill>
                  <a:schemeClr val="tx1"/>
                </a:solidFill>
                <a:latin typeface="幼圆" panose="02010509060101010101" pitchFamily="49" charset="-122"/>
                <a:ea typeface="幼圆" panose="02010509060101010101" pitchFamily="49" charset="-122"/>
              </a:rPr>
              <a:t>的一条路径确定解空间中的一个元组 </a:t>
            </a:r>
          </a:p>
        </p:txBody>
      </p:sp>
      <p:sp>
        <p:nvSpPr>
          <p:cNvPr id="99"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12</a:t>
            </a:fld>
            <a:endParaRPr lang="en-US" altLang="zh-CN"/>
          </a:p>
        </p:txBody>
      </p:sp>
    </p:spTree>
    <p:extLst>
      <p:ext uri="{BB962C8B-B14F-4D97-AF65-F5344CB8AC3E}">
        <p14:creationId xmlns:p14="http://schemas.microsoft.com/office/powerpoint/2010/main" val="1684732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animBg="1"/>
      <p:bldP spid="2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9688" y="260648"/>
            <a:ext cx="10515600" cy="1325563"/>
          </a:xfrm>
        </p:spPr>
        <p:txBody>
          <a:bodyPr/>
          <a:lstStyle/>
          <a:p>
            <a:r>
              <a:rPr lang="zh-CN" altLang="en-US" dirty="0"/>
              <a:t>不定长元组表达</a:t>
            </a:r>
          </a:p>
        </p:txBody>
      </p:sp>
      <p:sp>
        <p:nvSpPr>
          <p:cNvPr id="3" name="内容占位符 2"/>
          <p:cNvSpPr>
            <a:spLocks noGrp="1"/>
          </p:cNvSpPr>
          <p:nvPr>
            <p:ph idx="1"/>
          </p:nvPr>
        </p:nvSpPr>
        <p:spPr>
          <a:xfrm>
            <a:off x="714400" y="1700809"/>
            <a:ext cx="10566176" cy="2448272"/>
          </a:xfrm>
        </p:spPr>
        <p:txBody>
          <a:bodyPr>
            <a:normAutofit/>
          </a:bodyPr>
          <a:lstStyle/>
          <a:p>
            <a:pPr>
              <a:lnSpc>
                <a:spcPct val="120000"/>
              </a:lnSpc>
              <a:spcBef>
                <a:spcPts val="0"/>
              </a:spcBef>
            </a:pPr>
            <a:r>
              <a:rPr kumimoji="1" lang="en-US" altLang="zh-CN" sz="2400" dirty="0"/>
              <a:t>k-</a:t>
            </a:r>
            <a:r>
              <a:rPr kumimoji="1" lang="zh-CN" altLang="en-US" sz="2400" dirty="0"/>
              <a:t>元组</a:t>
            </a:r>
            <a:r>
              <a:rPr kumimoji="1" lang="en-US" altLang="zh-CN" sz="2400" dirty="0"/>
              <a:t>(x</a:t>
            </a:r>
            <a:r>
              <a:rPr kumimoji="1" lang="en-US" altLang="zh-CN" sz="2400" baseline="-25000" dirty="0"/>
              <a:t>1</a:t>
            </a:r>
            <a:r>
              <a:rPr kumimoji="1" lang="en-US" altLang="zh-CN" sz="2400" dirty="0"/>
              <a:t>, … , </a:t>
            </a:r>
            <a:r>
              <a:rPr kumimoji="1" lang="en-US" altLang="zh-CN" sz="2400" dirty="0" err="1"/>
              <a:t>x</a:t>
            </a:r>
            <a:r>
              <a:rPr kumimoji="1" lang="en-US" altLang="zh-CN" sz="2400" baseline="-25000" dirty="0" err="1"/>
              <a:t>k</a:t>
            </a:r>
            <a:r>
              <a:rPr kumimoji="1" lang="en-US" altLang="zh-CN" sz="2400" dirty="0"/>
              <a:t>), </a:t>
            </a:r>
            <a:r>
              <a:rPr kumimoji="1" lang="en-US" altLang="zh-CN" sz="2400" dirty="0" err="1"/>
              <a:t>k≤n</a:t>
            </a:r>
            <a:endParaRPr kumimoji="1" lang="en-US" altLang="zh-CN" sz="2400" dirty="0"/>
          </a:p>
          <a:p>
            <a:pPr>
              <a:lnSpc>
                <a:spcPct val="120000"/>
              </a:lnSpc>
              <a:spcBef>
                <a:spcPts val="0"/>
              </a:spcBef>
            </a:pPr>
            <a:r>
              <a:rPr kumimoji="1" lang="zh-CN" altLang="en-US" sz="2400" dirty="0"/>
              <a:t>显式约束：</a:t>
            </a:r>
            <a:r>
              <a:rPr kumimoji="1" lang="en-US" altLang="zh-CN" sz="2400" dirty="0"/>
              <a:t>x</a:t>
            </a:r>
            <a:r>
              <a:rPr kumimoji="1" lang="en-US" altLang="zh-CN" sz="2400" baseline="-25000" dirty="0"/>
              <a:t>i</a:t>
            </a:r>
            <a:r>
              <a:rPr kumimoji="1" lang="en-US" altLang="zh-CN" sz="2400" dirty="0"/>
              <a:t>∈{ j | j</a:t>
            </a:r>
            <a:r>
              <a:rPr kumimoji="1" lang="zh-CN" altLang="en-US" sz="2400" dirty="0"/>
              <a:t>是</a:t>
            </a:r>
            <a:r>
              <a:rPr kumimoji="1" lang="en-US" altLang="zh-CN" sz="2400" dirty="0" err="1"/>
              <a:t>w</a:t>
            </a:r>
            <a:r>
              <a:rPr kumimoji="1" lang="en-US" altLang="zh-CN" sz="2400" baseline="-25000" dirty="0" err="1"/>
              <a:t>j</a:t>
            </a:r>
            <a:r>
              <a:rPr kumimoji="1" lang="zh-CN" altLang="en-US" sz="2400" dirty="0"/>
              <a:t>的下标，</a:t>
            </a:r>
            <a:r>
              <a:rPr kumimoji="1" lang="en-US" altLang="zh-CN" sz="2400" dirty="0"/>
              <a:t>1≤j≤n },1≤i≤k</a:t>
            </a:r>
            <a:r>
              <a:rPr kumimoji="1" lang="zh-CN" altLang="en-US" sz="2400" dirty="0"/>
              <a:t>。</a:t>
            </a:r>
            <a:r>
              <a:rPr kumimoji="1" lang="en-US" altLang="zh-CN" sz="2400" dirty="0"/>
              <a:t> x</a:t>
            </a:r>
            <a:r>
              <a:rPr kumimoji="1" lang="en-US" altLang="zh-CN" sz="2400" baseline="-25000" dirty="0"/>
              <a:t>i</a:t>
            </a:r>
            <a:r>
              <a:rPr kumimoji="1" lang="en-US" altLang="zh-CN" sz="2400" dirty="0"/>
              <a:t>&lt;x</a:t>
            </a:r>
            <a:r>
              <a:rPr kumimoji="1" lang="en-US" altLang="zh-CN" sz="2400" baseline="-25000" dirty="0"/>
              <a:t>i+1</a:t>
            </a:r>
            <a:r>
              <a:rPr kumimoji="1" lang="en-US" altLang="zh-CN" sz="2400" dirty="0"/>
              <a:t>,1≤i&lt;k</a:t>
            </a:r>
          </a:p>
          <a:p>
            <a:pPr>
              <a:lnSpc>
                <a:spcPct val="120000"/>
              </a:lnSpc>
              <a:spcBef>
                <a:spcPts val="0"/>
              </a:spcBef>
            </a:pPr>
            <a:r>
              <a:rPr kumimoji="1" lang="zh-CN" altLang="en-US" sz="2400" dirty="0"/>
              <a:t>隐式约束：相应的</a:t>
            </a:r>
            <a:r>
              <a:rPr kumimoji="1" lang="en-US" altLang="zh-CN" sz="2400" dirty="0" err="1"/>
              <a:t>w</a:t>
            </a:r>
            <a:r>
              <a:rPr kumimoji="1" lang="en-US" altLang="zh-CN" sz="2400" baseline="-25000" dirty="0" err="1"/>
              <a:t>i</a:t>
            </a:r>
            <a:r>
              <a:rPr kumimoji="1" lang="zh-CN" altLang="en-US" sz="2400" dirty="0"/>
              <a:t>的和等于</a:t>
            </a:r>
            <a:r>
              <a:rPr kumimoji="1" lang="en-US" altLang="zh-CN" sz="2400" dirty="0"/>
              <a:t>M</a:t>
            </a:r>
          </a:p>
          <a:p>
            <a:pPr>
              <a:lnSpc>
                <a:spcPct val="120000"/>
              </a:lnSpc>
              <a:spcBef>
                <a:spcPts val="0"/>
              </a:spcBef>
            </a:pPr>
            <a:r>
              <a:rPr kumimoji="1" lang="zh-CN" altLang="en-US" sz="2400" dirty="0"/>
              <a:t>多米诺性质：如果部分解向量大于</a:t>
            </a:r>
            <a:r>
              <a:rPr kumimoji="1" lang="en-US" altLang="zh-CN" sz="2400" dirty="0"/>
              <a:t>M</a:t>
            </a:r>
            <a:r>
              <a:rPr kumimoji="1" lang="zh-CN" altLang="en-US" sz="2400" dirty="0"/>
              <a:t>，则包含它的解向量也大于</a:t>
            </a:r>
            <a:r>
              <a:rPr kumimoji="1" lang="en-US" altLang="zh-CN" sz="2400" dirty="0"/>
              <a:t>M</a:t>
            </a:r>
          </a:p>
          <a:p>
            <a:pPr>
              <a:lnSpc>
                <a:spcPct val="120000"/>
              </a:lnSpc>
              <a:spcBef>
                <a:spcPts val="0"/>
              </a:spcBef>
            </a:pPr>
            <a:r>
              <a:rPr kumimoji="1" lang="zh-CN" altLang="en-US" sz="2400" dirty="0"/>
              <a:t>解空间共计</a:t>
            </a:r>
            <a:r>
              <a:rPr kumimoji="1" lang="en-US" altLang="zh-CN" sz="2400" dirty="0">
                <a:solidFill>
                  <a:srgbClr val="FF0000"/>
                </a:solidFill>
              </a:rPr>
              <a:t>2</a:t>
            </a:r>
            <a:r>
              <a:rPr kumimoji="1" lang="en-US" altLang="zh-CN" sz="2400" baseline="30000" dirty="0">
                <a:solidFill>
                  <a:srgbClr val="FF0000"/>
                </a:solidFill>
              </a:rPr>
              <a:t>n</a:t>
            </a:r>
            <a:r>
              <a:rPr kumimoji="1" lang="zh-CN" altLang="en-US" sz="2400" dirty="0"/>
              <a:t>个元组</a:t>
            </a:r>
            <a:endParaRPr lang="zh-CN" altLang="en-US" sz="2400" dirty="0"/>
          </a:p>
          <a:p>
            <a:pPr lvl="1">
              <a:spcBef>
                <a:spcPts val="0"/>
              </a:spcBef>
            </a:pPr>
            <a:endParaRPr kumimoji="1" lang="en-US" altLang="zh-CN" dirty="0"/>
          </a:p>
          <a:p>
            <a:pPr lvl="1"/>
            <a:endParaRPr kumimoji="1" lang="en-US" altLang="zh-CN" dirty="0"/>
          </a:p>
          <a:p>
            <a:pPr marL="0" indent="0">
              <a:buNone/>
            </a:pPr>
            <a:endParaRPr kumimoji="1" lang="en-US" altLang="zh-CN" sz="2400" dirty="0"/>
          </a:p>
          <a:p>
            <a:endParaRPr lang="zh-CN" altLang="en-US" sz="2400"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13</a:t>
            </a:fld>
            <a:endParaRPr lang="en-US" altLang="zh-CN" dirty="0"/>
          </a:p>
        </p:txBody>
      </p:sp>
      <p:sp>
        <p:nvSpPr>
          <p:cNvPr id="5" name="圆角矩形标注 4"/>
          <p:cNvSpPr/>
          <p:nvPr/>
        </p:nvSpPr>
        <p:spPr>
          <a:xfrm>
            <a:off x="7966021" y="1196752"/>
            <a:ext cx="2666483" cy="841462"/>
          </a:xfrm>
          <a:prstGeom prst="wedgeRoundRectCallout">
            <a:avLst>
              <a:gd name="adj1" fmla="val -38730"/>
              <a:gd name="adj2" fmla="val 67656"/>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避免重复情况，如</a:t>
            </a:r>
            <a:r>
              <a:rPr kumimoji="1"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(1,2,4)</a:t>
            </a:r>
            <a:r>
              <a:rPr kumimoji="1"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和</a:t>
            </a:r>
            <a:r>
              <a:rPr kumimoji="1"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(1,4,2)</a:t>
            </a:r>
            <a:endParaRPr kumimoji="1"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endParaRPr>
          </a:p>
        </p:txBody>
      </p:sp>
      <p:sp>
        <p:nvSpPr>
          <p:cNvPr id="6" name="矩形 5"/>
          <p:cNvSpPr/>
          <p:nvPr/>
        </p:nvSpPr>
        <p:spPr>
          <a:xfrm>
            <a:off x="889821" y="4239320"/>
            <a:ext cx="6048672" cy="1421928"/>
          </a:xfrm>
          <a:prstGeom prst="rect">
            <a:avLst/>
          </a:prstGeom>
        </p:spPr>
        <p:txBody>
          <a:bodyPr wrap="square">
            <a:spAutoFit/>
          </a:bodyPr>
          <a:lstStyle/>
          <a:p>
            <a:pPr>
              <a:lnSpc>
                <a:spcPct val="120000"/>
              </a:lnSpc>
            </a:pPr>
            <a:r>
              <a:rPr kumimoji="1" lang="en-US" altLang="zh-CN" sz="2400" dirty="0">
                <a:latin typeface="Arial" panose="020B0604020202020204" pitchFamily="34" charset="0"/>
                <a:ea typeface="幼圆" panose="02010509060101010101" pitchFamily="49" charset="-122"/>
                <a:cs typeface="Arial" panose="020B0604020202020204" pitchFamily="34" charset="0"/>
              </a:rPr>
              <a:t>n=4 , (w</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1</a:t>
            </a:r>
            <a:r>
              <a:rPr kumimoji="1" lang="en-US" altLang="zh-CN" sz="2400" dirty="0">
                <a:latin typeface="Arial" panose="020B0604020202020204" pitchFamily="34" charset="0"/>
                <a:ea typeface="幼圆" panose="02010509060101010101" pitchFamily="49" charset="-122"/>
                <a:cs typeface="Arial" panose="020B0604020202020204" pitchFamily="34" charset="0"/>
              </a:rPr>
              <a:t>, w</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2</a:t>
            </a:r>
            <a:r>
              <a:rPr kumimoji="1" lang="en-US" altLang="zh-CN" sz="2400" dirty="0">
                <a:latin typeface="Arial" panose="020B0604020202020204" pitchFamily="34" charset="0"/>
                <a:ea typeface="幼圆" panose="02010509060101010101" pitchFamily="49" charset="-122"/>
                <a:cs typeface="Arial" panose="020B0604020202020204" pitchFamily="34" charset="0"/>
              </a:rPr>
              <a:t>, w</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3</a:t>
            </a:r>
            <a:r>
              <a:rPr kumimoji="1" lang="en-US" altLang="zh-CN" sz="2400" dirty="0">
                <a:latin typeface="Arial" panose="020B0604020202020204" pitchFamily="34" charset="0"/>
                <a:ea typeface="幼圆" panose="02010509060101010101" pitchFamily="49" charset="-122"/>
                <a:cs typeface="Arial" panose="020B0604020202020204" pitchFamily="34" charset="0"/>
              </a:rPr>
              <a:t>, w</a:t>
            </a:r>
            <a:r>
              <a:rPr kumimoji="1" lang="en-US" altLang="zh-CN" sz="2400" baseline="-25000" dirty="0">
                <a:latin typeface="Arial" panose="020B0604020202020204" pitchFamily="34" charset="0"/>
                <a:ea typeface="幼圆" panose="02010509060101010101" pitchFamily="49" charset="-122"/>
                <a:cs typeface="Arial" panose="020B0604020202020204" pitchFamily="34" charset="0"/>
              </a:rPr>
              <a:t>4</a:t>
            </a:r>
            <a:r>
              <a:rPr kumimoji="1" lang="en-US" altLang="zh-CN" sz="2400" dirty="0">
                <a:latin typeface="Arial" panose="020B0604020202020204" pitchFamily="34" charset="0"/>
                <a:ea typeface="幼圆" panose="02010509060101010101" pitchFamily="49" charset="-122"/>
                <a:cs typeface="Arial" panose="020B0604020202020204" pitchFamily="34" charset="0"/>
              </a:rPr>
              <a:t> )= (11,13,24,7), M=31</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endParaRPr kumimoji="1" lang="en-US" altLang="zh-CN" sz="2400" dirty="0">
              <a:latin typeface="Arial" panose="020B0604020202020204" pitchFamily="34" charset="0"/>
              <a:ea typeface="幼圆" panose="02010509060101010101" pitchFamily="49" charset="-122"/>
              <a:cs typeface="Arial" panose="020B0604020202020204" pitchFamily="34" charset="0"/>
            </a:endParaRPr>
          </a:p>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可行解</a:t>
            </a:r>
            <a:r>
              <a:rPr kumimoji="1" lang="en-US" altLang="zh-CN" sz="2400" dirty="0">
                <a:latin typeface="Arial" panose="020B0604020202020204" pitchFamily="34" charset="0"/>
                <a:ea typeface="幼圆" panose="02010509060101010101" pitchFamily="49" charset="-122"/>
                <a:cs typeface="Arial" panose="020B0604020202020204" pitchFamily="34" charset="0"/>
              </a:rPr>
              <a:t>1</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r>
              <a:rPr kumimoji="1" lang="en-US" altLang="zh-CN" sz="2400" dirty="0">
                <a:latin typeface="Arial" panose="020B0604020202020204" pitchFamily="34" charset="0"/>
                <a:ea typeface="幼圆" panose="02010509060101010101" pitchFamily="49" charset="-122"/>
                <a:cs typeface="Arial" panose="020B0604020202020204" pitchFamily="34" charset="0"/>
              </a:rPr>
              <a:t>11,13,7</a:t>
            </a:r>
          </a:p>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可行解</a:t>
            </a:r>
            <a:r>
              <a:rPr kumimoji="1" lang="en-US" altLang="zh-CN" sz="2400" dirty="0">
                <a:latin typeface="Arial" panose="020B0604020202020204" pitchFamily="34" charset="0"/>
                <a:ea typeface="幼圆" panose="02010509060101010101" pitchFamily="49" charset="-122"/>
                <a:cs typeface="Arial" panose="020B0604020202020204" pitchFamily="34" charset="0"/>
              </a:rPr>
              <a:t>2</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r>
              <a:rPr kumimoji="1" lang="en-US" altLang="zh-CN" sz="2400" dirty="0">
                <a:latin typeface="Arial" panose="020B0604020202020204" pitchFamily="34" charset="0"/>
                <a:ea typeface="幼圆" panose="02010509060101010101" pitchFamily="49" charset="-122"/>
                <a:cs typeface="Arial" panose="020B0604020202020204" pitchFamily="34" charset="0"/>
              </a:rPr>
              <a:t>24, 7</a:t>
            </a:r>
            <a:endParaRPr kumimoji="1" lang="en-US" altLang="zh-CN" sz="2800" dirty="0">
              <a:latin typeface="Arial" panose="020B0604020202020204" pitchFamily="34" charset="0"/>
              <a:ea typeface="幼圆" panose="02010509060101010101" pitchFamily="49" charset="-122"/>
              <a:cs typeface="Arial" panose="020B0604020202020204" pitchFamily="34" charset="0"/>
            </a:endParaRPr>
          </a:p>
        </p:txBody>
      </p:sp>
      <p:sp>
        <p:nvSpPr>
          <p:cNvPr id="7" name="矩形 6"/>
          <p:cNvSpPr/>
          <p:nvPr/>
        </p:nvSpPr>
        <p:spPr>
          <a:xfrm>
            <a:off x="7176120" y="4239320"/>
            <a:ext cx="3291008" cy="1421928"/>
          </a:xfrm>
          <a:prstGeom prst="rect">
            <a:avLst/>
          </a:prstGeom>
        </p:spPr>
        <p:txBody>
          <a:bodyPr wrap="square">
            <a:spAutoFit/>
          </a:bodyPr>
          <a:lstStyle/>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解空间：</a:t>
            </a:r>
            <a:r>
              <a:rPr kumimoji="1" lang="en-US" altLang="zh-CN" sz="2400" dirty="0">
                <a:latin typeface="Arial" panose="020B0604020202020204" pitchFamily="34" charset="0"/>
                <a:ea typeface="幼圆" panose="02010509060101010101" pitchFamily="49" charset="-122"/>
                <a:cs typeface="Arial" panose="020B0604020202020204" pitchFamily="34" charset="0"/>
              </a:rPr>
              <a:t>2</a:t>
            </a:r>
            <a:r>
              <a:rPr kumimoji="1" lang="en-US" altLang="zh-CN" sz="2400" baseline="30000" dirty="0">
                <a:latin typeface="Arial" panose="020B0604020202020204" pitchFamily="34" charset="0"/>
                <a:ea typeface="幼圆" panose="02010509060101010101" pitchFamily="49" charset="-122"/>
                <a:cs typeface="Arial" panose="020B0604020202020204" pitchFamily="34" charset="0"/>
              </a:rPr>
              <a:t>4</a:t>
            </a:r>
            <a:r>
              <a:rPr kumimoji="1" lang="en-US" altLang="zh-CN" sz="2400" dirty="0">
                <a:latin typeface="Arial" panose="020B0604020202020204" pitchFamily="34" charset="0"/>
                <a:ea typeface="幼圆" panose="02010509060101010101" pitchFamily="49" charset="-122"/>
                <a:cs typeface="Arial" panose="020B0604020202020204" pitchFamily="34" charset="0"/>
              </a:rPr>
              <a:t>=16</a:t>
            </a:r>
            <a:r>
              <a:rPr kumimoji="1" lang="zh-CN" altLang="en-US" sz="2400" dirty="0">
                <a:latin typeface="Arial" panose="020B0604020202020204" pitchFamily="34" charset="0"/>
                <a:ea typeface="幼圆" panose="02010509060101010101" pitchFamily="49" charset="-122"/>
                <a:cs typeface="Arial" panose="020B0604020202020204" pitchFamily="34" charset="0"/>
              </a:rPr>
              <a:t>个元组</a:t>
            </a:r>
            <a:endParaRPr kumimoji="1" lang="en-US" altLang="zh-CN" sz="2400" dirty="0">
              <a:latin typeface="Arial" panose="020B0604020202020204" pitchFamily="34" charset="0"/>
              <a:ea typeface="幼圆" panose="02010509060101010101" pitchFamily="49" charset="-122"/>
              <a:cs typeface="Arial" panose="020B0604020202020204" pitchFamily="34" charset="0"/>
            </a:endParaRPr>
          </a:p>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可行解</a:t>
            </a:r>
            <a:r>
              <a:rPr kumimoji="1" lang="en-US" altLang="zh-CN" sz="2400" dirty="0">
                <a:latin typeface="Arial" panose="020B0604020202020204" pitchFamily="34" charset="0"/>
                <a:ea typeface="幼圆" panose="02010509060101010101" pitchFamily="49" charset="-122"/>
                <a:cs typeface="Arial" panose="020B0604020202020204" pitchFamily="34" charset="0"/>
              </a:rPr>
              <a:t>1</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r>
              <a:rPr kumimoji="1" lang="en-US" altLang="zh-CN" sz="2400" dirty="0">
                <a:latin typeface="Arial" panose="020B0604020202020204" pitchFamily="34" charset="0"/>
                <a:ea typeface="幼圆" panose="02010509060101010101" pitchFamily="49" charset="-122"/>
                <a:cs typeface="Arial" panose="020B0604020202020204" pitchFamily="34" charset="0"/>
              </a:rPr>
              <a:t>(1,2,4)</a:t>
            </a:r>
          </a:p>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可行解</a:t>
            </a:r>
            <a:r>
              <a:rPr kumimoji="1" lang="en-US" altLang="zh-CN" sz="2400" dirty="0">
                <a:latin typeface="Arial" panose="020B0604020202020204" pitchFamily="34" charset="0"/>
                <a:ea typeface="幼圆" panose="02010509060101010101" pitchFamily="49" charset="-122"/>
                <a:cs typeface="Arial" panose="020B0604020202020204" pitchFamily="34" charset="0"/>
              </a:rPr>
              <a:t>2</a:t>
            </a:r>
            <a:r>
              <a:rPr kumimoji="1" lang="zh-CN" altLang="en-US" sz="2400" dirty="0">
                <a:latin typeface="Arial" panose="020B0604020202020204" pitchFamily="34" charset="0"/>
                <a:ea typeface="幼圆" panose="02010509060101010101" pitchFamily="49" charset="-122"/>
                <a:cs typeface="Arial" panose="020B0604020202020204" pitchFamily="34" charset="0"/>
              </a:rPr>
              <a:t>：</a:t>
            </a:r>
            <a:r>
              <a:rPr kumimoji="1" lang="en-US" altLang="zh-CN" sz="2400" dirty="0">
                <a:latin typeface="Arial" panose="020B0604020202020204" pitchFamily="34" charset="0"/>
                <a:ea typeface="幼圆" panose="02010509060101010101" pitchFamily="49" charset="-122"/>
                <a:cs typeface="Arial" panose="020B0604020202020204" pitchFamily="34" charset="0"/>
              </a:rPr>
              <a:t>(3,4)</a:t>
            </a:r>
          </a:p>
        </p:txBody>
      </p:sp>
      <p:cxnSp>
        <p:nvCxnSpPr>
          <p:cNvPr id="8" name="直接连接符 7"/>
          <p:cNvCxnSpPr/>
          <p:nvPr/>
        </p:nvCxnSpPr>
        <p:spPr>
          <a:xfrm>
            <a:off x="859160" y="4239320"/>
            <a:ext cx="9773344"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051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14</a:t>
            </a:fld>
            <a:endParaRPr lang="en-US" altLang="zh-CN"/>
          </a:p>
        </p:txBody>
      </p:sp>
      <p:sp>
        <p:nvSpPr>
          <p:cNvPr id="5" name="内容占位符 2"/>
          <p:cNvSpPr txBox="1">
            <a:spLocks/>
          </p:cNvSpPr>
          <p:nvPr/>
        </p:nvSpPr>
        <p:spPr>
          <a:xfrm>
            <a:off x="470750" y="714994"/>
            <a:ext cx="7428678" cy="213920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kumimoji="1" lang="zh-CN" altLang="en-US" sz="2400" dirty="0"/>
              <a:t>子集和问题的</a:t>
            </a:r>
            <a:r>
              <a:rPr kumimoji="1" lang="en-US" altLang="zh-CN" sz="2400" dirty="0"/>
              <a:t>n=4</a:t>
            </a:r>
            <a:r>
              <a:rPr kumimoji="1" lang="zh-CN" altLang="en-US" sz="2400" dirty="0"/>
              <a:t>时，</a:t>
            </a:r>
            <a:r>
              <a:rPr kumimoji="1" lang="en-US" altLang="zh-CN" sz="2400" dirty="0"/>
              <a:t>k-</a:t>
            </a:r>
            <a:r>
              <a:rPr kumimoji="1" lang="zh-CN" altLang="en-US" sz="2400" dirty="0"/>
              <a:t>元组表达的解空间树</a:t>
            </a:r>
            <a:r>
              <a:rPr kumimoji="1" lang="en-US" altLang="zh-CN" sz="2400" dirty="0"/>
              <a:t> </a:t>
            </a:r>
          </a:p>
          <a:p>
            <a:pPr lvl="1">
              <a:spcBef>
                <a:spcPts val="0"/>
              </a:spcBef>
            </a:pPr>
            <a:r>
              <a:rPr kumimoji="1" lang="zh-CN" altLang="en-US" dirty="0"/>
              <a:t>问题状态：全部结点</a:t>
            </a:r>
            <a:r>
              <a:rPr kumimoji="1" lang="en-US" altLang="zh-CN" dirty="0"/>
              <a:t>16</a:t>
            </a:r>
            <a:r>
              <a:rPr kumimoji="1" lang="zh-CN" altLang="en-US" dirty="0"/>
              <a:t>个</a:t>
            </a:r>
            <a:endParaRPr kumimoji="1" lang="en-US" altLang="zh-CN" dirty="0"/>
          </a:p>
          <a:p>
            <a:pPr lvl="1">
              <a:spcBef>
                <a:spcPts val="0"/>
              </a:spcBef>
            </a:pPr>
            <a:r>
              <a:rPr kumimoji="1" lang="zh-CN" altLang="en-US" dirty="0"/>
              <a:t>解状态：全部结点</a:t>
            </a:r>
            <a:r>
              <a:rPr kumimoji="1" lang="en-US" altLang="zh-CN" dirty="0"/>
              <a:t>16</a:t>
            </a:r>
            <a:r>
              <a:rPr kumimoji="1" lang="zh-CN" altLang="en-US" dirty="0"/>
              <a:t>个</a:t>
            </a:r>
            <a:endParaRPr kumimoji="1" lang="en-US" altLang="zh-CN" dirty="0"/>
          </a:p>
          <a:p>
            <a:pPr lvl="1">
              <a:spcBef>
                <a:spcPts val="0"/>
              </a:spcBef>
            </a:pPr>
            <a:r>
              <a:rPr kumimoji="1" lang="zh-CN" altLang="en-US" dirty="0"/>
              <a:t>答案状态：当前实例</a:t>
            </a:r>
            <a:r>
              <a:rPr kumimoji="1" lang="en-US" altLang="zh-CN" dirty="0"/>
              <a:t>2</a:t>
            </a:r>
            <a:r>
              <a:rPr kumimoji="1" lang="zh-CN" altLang="en-US" dirty="0"/>
              <a:t>个</a:t>
            </a:r>
            <a:endParaRPr lang="en-US" altLang="zh-CN" sz="3200" dirty="0"/>
          </a:p>
          <a:p>
            <a:endParaRPr lang="zh-CN" altLang="en-US" dirty="0"/>
          </a:p>
        </p:txBody>
      </p:sp>
      <p:grpSp>
        <p:nvGrpSpPr>
          <p:cNvPr id="6" name="Group 4"/>
          <p:cNvGrpSpPr>
            <a:grpSpLocks/>
          </p:cNvGrpSpPr>
          <p:nvPr/>
        </p:nvGrpSpPr>
        <p:grpSpPr bwMode="auto">
          <a:xfrm>
            <a:off x="3601225" y="1401951"/>
            <a:ext cx="5924550" cy="5045055"/>
            <a:chOff x="1224" y="465"/>
            <a:chExt cx="4428" cy="3758"/>
          </a:xfrm>
          <a:noFill/>
        </p:grpSpPr>
        <p:sp>
          <p:nvSpPr>
            <p:cNvPr id="7" name="Oval 5"/>
            <p:cNvSpPr>
              <a:spLocks noChangeArrowheads="1"/>
            </p:cNvSpPr>
            <p:nvPr/>
          </p:nvSpPr>
          <p:spPr bwMode="auto">
            <a:xfrm>
              <a:off x="3416" y="465"/>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1</a:t>
              </a:r>
            </a:p>
          </p:txBody>
        </p:sp>
        <p:sp>
          <p:nvSpPr>
            <p:cNvPr id="8" name="Oval 6"/>
            <p:cNvSpPr>
              <a:spLocks noChangeArrowheads="1"/>
            </p:cNvSpPr>
            <p:nvPr/>
          </p:nvSpPr>
          <p:spPr bwMode="auto">
            <a:xfrm>
              <a:off x="2580" y="1269"/>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2</a:t>
              </a:r>
            </a:p>
          </p:txBody>
        </p:sp>
        <p:sp>
          <p:nvSpPr>
            <p:cNvPr id="9" name="Oval 7"/>
            <p:cNvSpPr>
              <a:spLocks noChangeArrowheads="1"/>
            </p:cNvSpPr>
            <p:nvPr/>
          </p:nvSpPr>
          <p:spPr bwMode="auto">
            <a:xfrm>
              <a:off x="3960" y="1269"/>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3</a:t>
              </a:r>
            </a:p>
          </p:txBody>
        </p:sp>
        <p:sp>
          <p:nvSpPr>
            <p:cNvPr id="10" name="Oval 8"/>
            <p:cNvSpPr>
              <a:spLocks noChangeArrowheads="1"/>
            </p:cNvSpPr>
            <p:nvPr/>
          </p:nvSpPr>
          <p:spPr bwMode="auto">
            <a:xfrm>
              <a:off x="4800" y="1269"/>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4</a:t>
              </a:r>
            </a:p>
          </p:txBody>
        </p:sp>
        <p:sp>
          <p:nvSpPr>
            <p:cNvPr id="11" name="Oval 9"/>
            <p:cNvSpPr>
              <a:spLocks noChangeArrowheads="1"/>
            </p:cNvSpPr>
            <p:nvPr/>
          </p:nvSpPr>
          <p:spPr bwMode="auto">
            <a:xfrm>
              <a:off x="5316" y="1269"/>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5</a:t>
              </a:r>
            </a:p>
          </p:txBody>
        </p:sp>
        <p:sp>
          <p:nvSpPr>
            <p:cNvPr id="12" name="Oval 10"/>
            <p:cNvSpPr>
              <a:spLocks noChangeArrowheads="1"/>
            </p:cNvSpPr>
            <p:nvPr/>
          </p:nvSpPr>
          <p:spPr bwMode="auto">
            <a:xfrm>
              <a:off x="1848" y="2153"/>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6</a:t>
              </a:r>
            </a:p>
          </p:txBody>
        </p:sp>
        <p:sp>
          <p:nvSpPr>
            <p:cNvPr id="13" name="Oval 11"/>
            <p:cNvSpPr>
              <a:spLocks noChangeArrowheads="1"/>
            </p:cNvSpPr>
            <p:nvPr/>
          </p:nvSpPr>
          <p:spPr bwMode="auto">
            <a:xfrm>
              <a:off x="2580" y="2153"/>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7</a:t>
              </a:r>
            </a:p>
          </p:txBody>
        </p:sp>
        <p:sp>
          <p:nvSpPr>
            <p:cNvPr id="14" name="Oval 12"/>
            <p:cNvSpPr>
              <a:spLocks noChangeArrowheads="1"/>
            </p:cNvSpPr>
            <p:nvPr/>
          </p:nvSpPr>
          <p:spPr bwMode="auto">
            <a:xfrm>
              <a:off x="3252" y="2153"/>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8</a:t>
              </a:r>
            </a:p>
          </p:txBody>
        </p:sp>
        <p:sp>
          <p:nvSpPr>
            <p:cNvPr id="15" name="Oval 13"/>
            <p:cNvSpPr>
              <a:spLocks noChangeArrowheads="1"/>
            </p:cNvSpPr>
            <p:nvPr/>
          </p:nvSpPr>
          <p:spPr bwMode="auto">
            <a:xfrm>
              <a:off x="3684" y="2153"/>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9</a:t>
              </a:r>
            </a:p>
          </p:txBody>
        </p:sp>
        <p:sp>
          <p:nvSpPr>
            <p:cNvPr id="16" name="Oval 14"/>
            <p:cNvSpPr>
              <a:spLocks noChangeArrowheads="1"/>
            </p:cNvSpPr>
            <p:nvPr/>
          </p:nvSpPr>
          <p:spPr bwMode="auto">
            <a:xfrm>
              <a:off x="4236" y="2153"/>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10</a:t>
              </a:r>
            </a:p>
          </p:txBody>
        </p:sp>
        <p:sp>
          <p:nvSpPr>
            <p:cNvPr id="17" name="Oval 15"/>
            <p:cNvSpPr>
              <a:spLocks noChangeArrowheads="1"/>
            </p:cNvSpPr>
            <p:nvPr/>
          </p:nvSpPr>
          <p:spPr bwMode="auto">
            <a:xfrm>
              <a:off x="4800" y="2153"/>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11</a:t>
              </a:r>
            </a:p>
          </p:txBody>
        </p:sp>
        <p:sp>
          <p:nvSpPr>
            <p:cNvPr id="18" name="Oval 16"/>
            <p:cNvSpPr>
              <a:spLocks noChangeArrowheads="1"/>
            </p:cNvSpPr>
            <p:nvPr/>
          </p:nvSpPr>
          <p:spPr bwMode="auto">
            <a:xfrm>
              <a:off x="1536" y="3065"/>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12</a:t>
              </a:r>
            </a:p>
          </p:txBody>
        </p:sp>
        <p:sp>
          <p:nvSpPr>
            <p:cNvPr id="19" name="Oval 17"/>
            <p:cNvSpPr>
              <a:spLocks noChangeArrowheads="1"/>
            </p:cNvSpPr>
            <p:nvPr/>
          </p:nvSpPr>
          <p:spPr bwMode="auto">
            <a:xfrm>
              <a:off x="2148" y="3065"/>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13</a:t>
              </a:r>
            </a:p>
          </p:txBody>
        </p:sp>
        <p:sp>
          <p:nvSpPr>
            <p:cNvPr id="20" name="Oval 18"/>
            <p:cNvSpPr>
              <a:spLocks noChangeArrowheads="1"/>
            </p:cNvSpPr>
            <p:nvPr/>
          </p:nvSpPr>
          <p:spPr bwMode="auto">
            <a:xfrm>
              <a:off x="2592" y="3065"/>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14</a:t>
              </a:r>
            </a:p>
          </p:txBody>
        </p:sp>
        <p:sp>
          <p:nvSpPr>
            <p:cNvPr id="21" name="Oval 19"/>
            <p:cNvSpPr>
              <a:spLocks noChangeArrowheads="1"/>
            </p:cNvSpPr>
            <p:nvPr/>
          </p:nvSpPr>
          <p:spPr bwMode="auto">
            <a:xfrm>
              <a:off x="3684" y="3065"/>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15</a:t>
              </a:r>
            </a:p>
          </p:txBody>
        </p:sp>
        <p:sp>
          <p:nvSpPr>
            <p:cNvPr id="22" name="Oval 20"/>
            <p:cNvSpPr>
              <a:spLocks noChangeArrowheads="1"/>
            </p:cNvSpPr>
            <p:nvPr/>
          </p:nvSpPr>
          <p:spPr bwMode="auto">
            <a:xfrm>
              <a:off x="1536" y="3911"/>
              <a:ext cx="336" cy="31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eaLnBrk="0" hangingPunct="0"/>
              <a:r>
                <a:rPr lang="en-US" altLang="zh-CN" sz="2000">
                  <a:latin typeface="Arial" panose="020B0604020202020204" pitchFamily="34" charset="0"/>
                  <a:cs typeface="Arial" panose="020B0604020202020204" pitchFamily="34" charset="0"/>
                </a:rPr>
                <a:t>16</a:t>
              </a:r>
            </a:p>
          </p:txBody>
        </p:sp>
        <p:sp>
          <p:nvSpPr>
            <p:cNvPr id="23" name="Line 21"/>
            <p:cNvSpPr>
              <a:spLocks noChangeShapeType="1"/>
            </p:cNvSpPr>
            <p:nvPr/>
          </p:nvSpPr>
          <p:spPr bwMode="auto">
            <a:xfrm flipH="1">
              <a:off x="2772" y="782"/>
              <a:ext cx="767" cy="490"/>
            </a:xfrm>
            <a:prstGeom prst="line">
              <a:avLst/>
            </a:prstGeom>
            <a:grp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4" name="Line 22"/>
            <p:cNvSpPr>
              <a:spLocks noChangeShapeType="1"/>
            </p:cNvSpPr>
            <p:nvPr/>
          </p:nvSpPr>
          <p:spPr bwMode="auto">
            <a:xfrm>
              <a:off x="3576" y="777"/>
              <a:ext cx="560" cy="483"/>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5" name="Line 23"/>
            <p:cNvSpPr>
              <a:spLocks noChangeShapeType="1"/>
            </p:cNvSpPr>
            <p:nvPr/>
          </p:nvSpPr>
          <p:spPr bwMode="auto">
            <a:xfrm>
              <a:off x="3569" y="777"/>
              <a:ext cx="1371" cy="498"/>
            </a:xfrm>
            <a:prstGeom prst="line">
              <a:avLst/>
            </a:prstGeom>
            <a:grp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6" name="Line 24"/>
            <p:cNvSpPr>
              <a:spLocks noChangeShapeType="1"/>
            </p:cNvSpPr>
            <p:nvPr/>
          </p:nvSpPr>
          <p:spPr bwMode="auto">
            <a:xfrm>
              <a:off x="3612" y="777"/>
              <a:ext cx="1872" cy="495"/>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7" name="Line 25"/>
            <p:cNvSpPr>
              <a:spLocks noChangeShapeType="1"/>
            </p:cNvSpPr>
            <p:nvPr/>
          </p:nvSpPr>
          <p:spPr bwMode="auto">
            <a:xfrm flipH="1">
              <a:off x="2016" y="1577"/>
              <a:ext cx="720" cy="571"/>
            </a:xfrm>
            <a:prstGeom prst="line">
              <a:avLst/>
            </a:prstGeom>
            <a:grp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8" name="Line 26"/>
            <p:cNvSpPr>
              <a:spLocks noChangeShapeType="1"/>
            </p:cNvSpPr>
            <p:nvPr/>
          </p:nvSpPr>
          <p:spPr bwMode="auto">
            <a:xfrm>
              <a:off x="2748" y="1584"/>
              <a:ext cx="0" cy="57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9" name="Line 27"/>
            <p:cNvSpPr>
              <a:spLocks noChangeShapeType="1"/>
            </p:cNvSpPr>
            <p:nvPr/>
          </p:nvSpPr>
          <p:spPr bwMode="auto">
            <a:xfrm>
              <a:off x="2748" y="2460"/>
              <a:ext cx="0" cy="600"/>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0" name="Line 28"/>
            <p:cNvSpPr>
              <a:spLocks noChangeShapeType="1"/>
            </p:cNvSpPr>
            <p:nvPr/>
          </p:nvSpPr>
          <p:spPr bwMode="auto">
            <a:xfrm>
              <a:off x="2760" y="1577"/>
              <a:ext cx="636" cy="583"/>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1" name="Line 29"/>
            <p:cNvSpPr>
              <a:spLocks noChangeShapeType="1"/>
            </p:cNvSpPr>
            <p:nvPr/>
          </p:nvSpPr>
          <p:spPr bwMode="auto">
            <a:xfrm flipH="1">
              <a:off x="3876" y="1572"/>
              <a:ext cx="216" cy="588"/>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2" name="Line 30"/>
            <p:cNvSpPr>
              <a:spLocks noChangeShapeType="1"/>
            </p:cNvSpPr>
            <p:nvPr/>
          </p:nvSpPr>
          <p:spPr bwMode="auto">
            <a:xfrm>
              <a:off x="4152" y="1584"/>
              <a:ext cx="240" cy="564"/>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3" name="Line 31"/>
            <p:cNvSpPr>
              <a:spLocks noChangeShapeType="1"/>
            </p:cNvSpPr>
            <p:nvPr/>
          </p:nvSpPr>
          <p:spPr bwMode="auto">
            <a:xfrm>
              <a:off x="4980" y="1584"/>
              <a:ext cx="0" cy="564"/>
            </a:xfrm>
            <a:prstGeom prst="line">
              <a:avLst/>
            </a:prstGeom>
            <a:grp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4" name="Line 32"/>
            <p:cNvSpPr>
              <a:spLocks noChangeShapeType="1"/>
            </p:cNvSpPr>
            <p:nvPr/>
          </p:nvSpPr>
          <p:spPr bwMode="auto">
            <a:xfrm>
              <a:off x="3852" y="2460"/>
              <a:ext cx="0" cy="600"/>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5" name="Line 33"/>
            <p:cNvSpPr>
              <a:spLocks noChangeShapeType="1"/>
            </p:cNvSpPr>
            <p:nvPr/>
          </p:nvSpPr>
          <p:spPr bwMode="auto">
            <a:xfrm flipH="1">
              <a:off x="1692" y="2460"/>
              <a:ext cx="300" cy="612"/>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6" name="Line 34"/>
            <p:cNvSpPr>
              <a:spLocks noChangeShapeType="1"/>
            </p:cNvSpPr>
            <p:nvPr/>
          </p:nvSpPr>
          <p:spPr bwMode="auto">
            <a:xfrm>
              <a:off x="2028" y="2460"/>
              <a:ext cx="300" cy="600"/>
            </a:xfrm>
            <a:prstGeom prst="line">
              <a:avLst/>
            </a:prstGeom>
            <a:grp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7" name="Line 35"/>
            <p:cNvSpPr>
              <a:spLocks noChangeShapeType="1"/>
            </p:cNvSpPr>
            <p:nvPr/>
          </p:nvSpPr>
          <p:spPr bwMode="auto">
            <a:xfrm>
              <a:off x="1704" y="3372"/>
              <a:ext cx="0" cy="540"/>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8" name="Text Box 36"/>
            <p:cNvSpPr txBox="1">
              <a:spLocks noChangeArrowheads="1"/>
            </p:cNvSpPr>
            <p:nvPr/>
          </p:nvSpPr>
          <p:spPr bwMode="auto">
            <a:xfrm>
              <a:off x="1956" y="1584"/>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2</a:t>
              </a:r>
              <a:r>
                <a:rPr lang="en-US" altLang="zh-CN" sz="2000">
                  <a:cs typeface="Arial" panose="020B0604020202020204" pitchFamily="34" charset="0"/>
                </a:rPr>
                <a:t>=2</a:t>
              </a:r>
            </a:p>
          </p:txBody>
        </p:sp>
        <p:sp>
          <p:nvSpPr>
            <p:cNvPr id="39" name="Text Box 37"/>
            <p:cNvSpPr txBox="1">
              <a:spLocks noChangeArrowheads="1"/>
            </p:cNvSpPr>
            <p:nvPr/>
          </p:nvSpPr>
          <p:spPr bwMode="auto">
            <a:xfrm>
              <a:off x="2280" y="1872"/>
              <a:ext cx="575"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2</a:t>
              </a:r>
              <a:r>
                <a:rPr lang="en-US" altLang="zh-CN" sz="2000">
                  <a:cs typeface="Arial" panose="020B0604020202020204" pitchFamily="34" charset="0"/>
                </a:rPr>
                <a:t>=3</a:t>
              </a:r>
            </a:p>
          </p:txBody>
        </p:sp>
        <p:sp>
          <p:nvSpPr>
            <p:cNvPr id="40" name="Text Box 38"/>
            <p:cNvSpPr txBox="1">
              <a:spLocks noChangeArrowheads="1"/>
            </p:cNvSpPr>
            <p:nvPr/>
          </p:nvSpPr>
          <p:spPr bwMode="auto">
            <a:xfrm>
              <a:off x="3000" y="1560"/>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2</a:t>
              </a:r>
              <a:r>
                <a:rPr lang="en-US" altLang="zh-CN" sz="2000">
                  <a:cs typeface="Arial" panose="020B0604020202020204" pitchFamily="34" charset="0"/>
                </a:rPr>
                <a:t>=4</a:t>
              </a:r>
            </a:p>
          </p:txBody>
        </p:sp>
        <p:sp>
          <p:nvSpPr>
            <p:cNvPr id="41" name="Text Box 39"/>
            <p:cNvSpPr txBox="1">
              <a:spLocks noChangeArrowheads="1"/>
            </p:cNvSpPr>
            <p:nvPr/>
          </p:nvSpPr>
          <p:spPr bwMode="auto">
            <a:xfrm>
              <a:off x="3480" y="1812"/>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2</a:t>
              </a:r>
              <a:r>
                <a:rPr lang="en-US" altLang="zh-CN" sz="2000">
                  <a:cs typeface="Arial" panose="020B0604020202020204" pitchFamily="34" charset="0"/>
                </a:rPr>
                <a:t>=3</a:t>
              </a:r>
            </a:p>
          </p:txBody>
        </p:sp>
        <p:sp>
          <p:nvSpPr>
            <p:cNvPr id="42" name="Text Box 40"/>
            <p:cNvSpPr txBox="1">
              <a:spLocks noChangeArrowheads="1"/>
            </p:cNvSpPr>
            <p:nvPr/>
          </p:nvSpPr>
          <p:spPr bwMode="auto">
            <a:xfrm>
              <a:off x="4308" y="1788"/>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2</a:t>
              </a:r>
              <a:r>
                <a:rPr lang="en-US" altLang="zh-CN" sz="2000">
                  <a:cs typeface="Arial" panose="020B0604020202020204" pitchFamily="34" charset="0"/>
                </a:rPr>
                <a:t>=4</a:t>
              </a:r>
            </a:p>
          </p:txBody>
        </p:sp>
        <p:sp>
          <p:nvSpPr>
            <p:cNvPr id="43" name="Text Box 41"/>
            <p:cNvSpPr txBox="1">
              <a:spLocks noChangeArrowheads="1"/>
            </p:cNvSpPr>
            <p:nvPr/>
          </p:nvSpPr>
          <p:spPr bwMode="auto">
            <a:xfrm>
              <a:off x="4944" y="1679"/>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2</a:t>
              </a:r>
              <a:r>
                <a:rPr lang="en-US" altLang="zh-CN" sz="2000">
                  <a:cs typeface="Arial" panose="020B0604020202020204" pitchFamily="34" charset="0"/>
                </a:rPr>
                <a:t>=4</a:t>
              </a:r>
            </a:p>
          </p:txBody>
        </p:sp>
        <p:sp>
          <p:nvSpPr>
            <p:cNvPr id="44" name="Text Box 42"/>
            <p:cNvSpPr txBox="1">
              <a:spLocks noChangeArrowheads="1"/>
            </p:cNvSpPr>
            <p:nvPr/>
          </p:nvSpPr>
          <p:spPr bwMode="auto">
            <a:xfrm>
              <a:off x="2490" y="868"/>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1</a:t>
              </a:r>
              <a:r>
                <a:rPr kumimoji="1" lang="en-US" altLang="zh-CN" sz="2000" dirty="0">
                  <a:cs typeface="Arial" panose="020B0604020202020204" pitchFamily="34" charset="0"/>
                </a:rPr>
                <a:t>=1</a:t>
              </a:r>
            </a:p>
          </p:txBody>
        </p:sp>
        <p:sp>
          <p:nvSpPr>
            <p:cNvPr id="45" name="Text Box 43"/>
            <p:cNvSpPr txBox="1">
              <a:spLocks noChangeArrowheads="1"/>
            </p:cNvSpPr>
            <p:nvPr/>
          </p:nvSpPr>
          <p:spPr bwMode="auto">
            <a:xfrm>
              <a:off x="3251" y="958"/>
              <a:ext cx="577"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1</a:t>
              </a:r>
              <a:r>
                <a:rPr kumimoji="1" lang="en-US" altLang="zh-CN" sz="2000" dirty="0">
                  <a:cs typeface="Arial" panose="020B0604020202020204" pitchFamily="34" charset="0"/>
                </a:rPr>
                <a:t>=2</a:t>
              </a:r>
            </a:p>
          </p:txBody>
        </p:sp>
        <p:sp>
          <p:nvSpPr>
            <p:cNvPr id="46" name="Text Box 44"/>
            <p:cNvSpPr txBox="1">
              <a:spLocks noChangeArrowheads="1"/>
            </p:cNvSpPr>
            <p:nvPr/>
          </p:nvSpPr>
          <p:spPr bwMode="auto">
            <a:xfrm>
              <a:off x="4068" y="972"/>
              <a:ext cx="575"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x</a:t>
              </a:r>
              <a:r>
                <a:rPr kumimoji="1" lang="en-US" altLang="zh-CN" sz="2000" baseline="-25000">
                  <a:cs typeface="Arial" panose="020B0604020202020204" pitchFamily="34" charset="0"/>
                </a:rPr>
                <a:t>1</a:t>
              </a:r>
              <a:r>
                <a:rPr kumimoji="1" lang="en-US" altLang="zh-CN" sz="2000">
                  <a:cs typeface="Arial" panose="020B0604020202020204" pitchFamily="34" charset="0"/>
                </a:rPr>
                <a:t>=3</a:t>
              </a:r>
            </a:p>
          </p:txBody>
        </p:sp>
        <p:sp>
          <p:nvSpPr>
            <p:cNvPr id="47" name="Text Box 45"/>
            <p:cNvSpPr txBox="1">
              <a:spLocks noChangeArrowheads="1"/>
            </p:cNvSpPr>
            <p:nvPr/>
          </p:nvSpPr>
          <p:spPr bwMode="auto">
            <a:xfrm>
              <a:off x="4836" y="874"/>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1</a:t>
              </a:r>
              <a:r>
                <a:rPr kumimoji="1" lang="en-US" altLang="zh-CN" sz="2000" dirty="0">
                  <a:cs typeface="Arial" panose="020B0604020202020204" pitchFamily="34" charset="0"/>
                </a:rPr>
                <a:t>=4</a:t>
              </a:r>
            </a:p>
          </p:txBody>
        </p:sp>
        <p:sp>
          <p:nvSpPr>
            <p:cNvPr id="48" name="Text Box 46"/>
            <p:cNvSpPr txBox="1">
              <a:spLocks noChangeArrowheads="1"/>
            </p:cNvSpPr>
            <p:nvPr/>
          </p:nvSpPr>
          <p:spPr bwMode="auto">
            <a:xfrm>
              <a:off x="1416" y="2508"/>
              <a:ext cx="588"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x</a:t>
              </a:r>
              <a:r>
                <a:rPr kumimoji="1" lang="en-US" altLang="zh-CN" sz="2000" baseline="-25000">
                  <a:cs typeface="Arial" panose="020B0604020202020204" pitchFamily="34" charset="0"/>
                </a:rPr>
                <a:t>3</a:t>
              </a:r>
              <a:r>
                <a:rPr kumimoji="1" lang="en-US" altLang="zh-CN" sz="2000">
                  <a:cs typeface="Arial" panose="020B0604020202020204" pitchFamily="34" charset="0"/>
                </a:rPr>
                <a:t>=3</a:t>
              </a:r>
            </a:p>
          </p:txBody>
        </p:sp>
        <p:sp>
          <p:nvSpPr>
            <p:cNvPr id="49" name="Text Box 47"/>
            <p:cNvSpPr txBox="1">
              <a:spLocks noChangeArrowheads="1"/>
            </p:cNvSpPr>
            <p:nvPr/>
          </p:nvSpPr>
          <p:spPr bwMode="auto">
            <a:xfrm>
              <a:off x="2111" y="2484"/>
              <a:ext cx="577"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3</a:t>
              </a:r>
              <a:r>
                <a:rPr lang="en-US" altLang="zh-CN" sz="2000">
                  <a:cs typeface="Arial" panose="020B0604020202020204" pitchFamily="34" charset="0"/>
                </a:rPr>
                <a:t>=4</a:t>
              </a:r>
            </a:p>
          </p:txBody>
        </p:sp>
        <p:sp>
          <p:nvSpPr>
            <p:cNvPr id="50" name="Text Box 48"/>
            <p:cNvSpPr txBox="1">
              <a:spLocks noChangeArrowheads="1"/>
            </p:cNvSpPr>
            <p:nvPr/>
          </p:nvSpPr>
          <p:spPr bwMode="auto">
            <a:xfrm>
              <a:off x="2724" y="2580"/>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3</a:t>
              </a:r>
              <a:r>
                <a:rPr lang="en-US" altLang="zh-CN" sz="2000">
                  <a:cs typeface="Arial" panose="020B0604020202020204" pitchFamily="34" charset="0"/>
                </a:rPr>
                <a:t>=4</a:t>
              </a:r>
            </a:p>
          </p:txBody>
        </p:sp>
        <p:sp>
          <p:nvSpPr>
            <p:cNvPr id="51" name="Text Box 49"/>
            <p:cNvSpPr txBox="1">
              <a:spLocks noChangeArrowheads="1"/>
            </p:cNvSpPr>
            <p:nvPr/>
          </p:nvSpPr>
          <p:spPr bwMode="auto">
            <a:xfrm>
              <a:off x="3329" y="2583"/>
              <a:ext cx="576"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=4</a:t>
              </a:r>
            </a:p>
          </p:txBody>
        </p:sp>
        <p:sp>
          <p:nvSpPr>
            <p:cNvPr id="52" name="Text Box 50"/>
            <p:cNvSpPr txBox="1">
              <a:spLocks noChangeArrowheads="1"/>
            </p:cNvSpPr>
            <p:nvPr/>
          </p:nvSpPr>
          <p:spPr bwMode="auto">
            <a:xfrm>
              <a:off x="1224" y="3504"/>
              <a:ext cx="575" cy="300"/>
            </a:xfrm>
            <a:prstGeom prst="rect">
              <a:avLst/>
            </a:prstGeom>
            <a:grpFill/>
            <a:ln>
              <a:noFill/>
            </a:ln>
            <a:effectLst/>
            <a:extLs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4</a:t>
              </a:r>
              <a:r>
                <a:rPr lang="en-US" altLang="zh-CN" sz="2000">
                  <a:cs typeface="Arial" panose="020B0604020202020204" pitchFamily="34" charset="0"/>
                </a:rPr>
                <a:t>=4</a:t>
              </a:r>
            </a:p>
          </p:txBody>
        </p:sp>
      </p:grpSp>
      <p:sp>
        <p:nvSpPr>
          <p:cNvPr id="55" name="Line 58"/>
          <p:cNvSpPr>
            <a:spLocks noChangeShapeType="1"/>
          </p:cNvSpPr>
          <p:nvPr/>
        </p:nvSpPr>
        <p:spPr bwMode="auto">
          <a:xfrm flipH="1">
            <a:off x="5672409" y="1827334"/>
            <a:ext cx="1026984" cy="663555"/>
          </a:xfrm>
          <a:prstGeom prst="line">
            <a:avLst/>
          </a:prstGeom>
          <a:noFill/>
          <a:ln w="285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56" name="Line 59"/>
          <p:cNvSpPr>
            <a:spLocks noChangeShapeType="1"/>
          </p:cNvSpPr>
          <p:nvPr/>
        </p:nvSpPr>
        <p:spPr bwMode="auto">
          <a:xfrm flipH="1">
            <a:off x="4662623" y="2894794"/>
            <a:ext cx="977672" cy="764678"/>
          </a:xfrm>
          <a:prstGeom prst="line">
            <a:avLst/>
          </a:prstGeom>
          <a:noFill/>
          <a:ln w="285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57" name="Line 60"/>
          <p:cNvSpPr>
            <a:spLocks noChangeShapeType="1"/>
          </p:cNvSpPr>
          <p:nvPr/>
        </p:nvSpPr>
        <p:spPr bwMode="auto">
          <a:xfrm flipH="1">
            <a:off x="4234173" y="4080207"/>
            <a:ext cx="403030" cy="828313"/>
          </a:xfrm>
          <a:prstGeom prst="line">
            <a:avLst/>
          </a:prstGeom>
          <a:noFill/>
          <a:ln w="285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58" name="Line 63"/>
          <p:cNvSpPr>
            <a:spLocks noChangeShapeType="1"/>
          </p:cNvSpPr>
          <p:nvPr/>
        </p:nvSpPr>
        <p:spPr bwMode="auto">
          <a:xfrm flipH="1">
            <a:off x="4234173" y="5311264"/>
            <a:ext cx="0" cy="716887"/>
          </a:xfrm>
          <a:prstGeom prst="line">
            <a:avLst/>
          </a:prstGeom>
          <a:noFill/>
          <a:ln w="285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64" name="圆角矩形标注 63"/>
          <p:cNvSpPr/>
          <p:nvPr/>
        </p:nvSpPr>
        <p:spPr>
          <a:xfrm>
            <a:off x="7516332" y="4476600"/>
            <a:ext cx="3628576" cy="839335"/>
          </a:xfrm>
          <a:prstGeom prst="wedgeRoundRectCallout">
            <a:avLst>
              <a:gd name="adj1" fmla="val -39522"/>
              <a:gd name="adj2" fmla="val -75606"/>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50000"/>
              </a:spcBef>
            </a:pPr>
            <a:r>
              <a:rPr kumimoji="1" lang="zh-CN" altLang="en-US" sz="2000" dirty="0">
                <a:solidFill>
                  <a:schemeClr val="tx1"/>
                </a:solidFill>
                <a:latin typeface="幼圆" panose="02010509060101010101" pitchFamily="49" charset="-122"/>
                <a:ea typeface="幼圆" panose="02010509060101010101" pitchFamily="49" charset="-122"/>
              </a:rPr>
              <a:t>从根结点到</a:t>
            </a:r>
            <a:r>
              <a:rPr kumimoji="1" lang="zh-CN" altLang="en-US" sz="2000" dirty="0">
                <a:solidFill>
                  <a:srgbClr val="FF0000"/>
                </a:solidFill>
                <a:latin typeface="幼圆" panose="02010509060101010101" pitchFamily="49" charset="-122"/>
                <a:ea typeface="幼圆" panose="02010509060101010101" pitchFamily="49" charset="-122"/>
              </a:rPr>
              <a:t>任何结点</a:t>
            </a:r>
            <a:r>
              <a:rPr kumimoji="1" lang="zh-CN" altLang="en-US" sz="2000" dirty="0">
                <a:solidFill>
                  <a:schemeClr val="tx1"/>
                </a:solidFill>
                <a:latin typeface="幼圆" panose="02010509060101010101" pitchFamily="49" charset="-122"/>
                <a:ea typeface="幼圆" panose="02010509060101010101" pitchFamily="49" charset="-122"/>
              </a:rPr>
              <a:t>的一条路径确定解空间中的一个元组 </a:t>
            </a:r>
          </a:p>
        </p:txBody>
      </p:sp>
      <p:sp>
        <p:nvSpPr>
          <p:cNvPr id="65" name="圆角矩形标注 64"/>
          <p:cNvSpPr/>
          <p:nvPr/>
        </p:nvSpPr>
        <p:spPr>
          <a:xfrm>
            <a:off x="2356874" y="3547240"/>
            <a:ext cx="1188156" cy="1887533"/>
          </a:xfrm>
          <a:prstGeom prst="wedgeRoundRectCallout">
            <a:avLst>
              <a:gd name="adj1" fmla="val 80733"/>
              <a:gd name="adj2" fmla="val 41344"/>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000" dirty="0">
                <a:solidFill>
                  <a:schemeClr val="tx1"/>
                </a:solidFill>
                <a:latin typeface="Arial" panose="020B0604020202020204" pitchFamily="34" charset="0"/>
                <a:ea typeface="幼圆" panose="02010509060101010101" pitchFamily="49" charset="-122"/>
                <a:cs typeface="Arial" panose="020B0604020202020204" pitchFamily="34" charset="0"/>
              </a:rPr>
              <a:t>空向量</a:t>
            </a:r>
            <a:endParaRPr kumimoji="1" lang="en-US" altLang="zh-CN" sz="2000" dirty="0">
              <a:solidFill>
                <a:schemeClr val="tx1"/>
              </a:solidFill>
              <a:latin typeface="Arial" panose="020B0604020202020204" pitchFamily="34" charset="0"/>
              <a:ea typeface="幼圆" panose="02010509060101010101" pitchFamily="49" charset="-122"/>
              <a:cs typeface="Arial" panose="020B0604020202020204" pitchFamily="34" charset="0"/>
            </a:endParaRPr>
          </a:p>
          <a:p>
            <a:r>
              <a:rPr kumimoji="1" lang="en-US" altLang="zh-CN" sz="2000" dirty="0">
                <a:solidFill>
                  <a:schemeClr val="tx1"/>
                </a:solidFill>
                <a:latin typeface="Arial" panose="020B0604020202020204" pitchFamily="34" charset="0"/>
                <a:ea typeface="幼圆" panose="02010509060101010101" pitchFamily="49" charset="-122"/>
                <a:cs typeface="Arial" panose="020B0604020202020204" pitchFamily="34" charset="0"/>
              </a:rPr>
              <a:t>(1)</a:t>
            </a:r>
          </a:p>
          <a:p>
            <a:r>
              <a:rPr kumimoji="1" lang="en-US" altLang="zh-CN" sz="2000" dirty="0">
                <a:solidFill>
                  <a:schemeClr val="tx1"/>
                </a:solidFill>
                <a:latin typeface="Arial" panose="020B0604020202020204" pitchFamily="34" charset="0"/>
                <a:ea typeface="幼圆" panose="02010509060101010101" pitchFamily="49" charset="-122"/>
                <a:cs typeface="Arial" panose="020B0604020202020204" pitchFamily="34" charset="0"/>
              </a:rPr>
              <a:t>(1,2)</a:t>
            </a:r>
          </a:p>
          <a:p>
            <a:r>
              <a:rPr kumimoji="1" lang="en-US" altLang="zh-CN" sz="2000" dirty="0">
                <a:solidFill>
                  <a:schemeClr val="tx1"/>
                </a:solidFill>
                <a:latin typeface="Arial" panose="020B0604020202020204" pitchFamily="34" charset="0"/>
                <a:ea typeface="幼圆" panose="02010509060101010101" pitchFamily="49" charset="-122"/>
                <a:cs typeface="Arial" panose="020B0604020202020204" pitchFamily="34" charset="0"/>
              </a:rPr>
              <a:t>(1,2,3)</a:t>
            </a:r>
          </a:p>
          <a:p>
            <a:r>
              <a:rPr kumimoji="1" lang="en-US" altLang="zh-CN" sz="2000" dirty="0">
                <a:solidFill>
                  <a:schemeClr val="tx1"/>
                </a:solidFill>
                <a:latin typeface="Arial" panose="020B0604020202020204" pitchFamily="34" charset="0"/>
                <a:ea typeface="幼圆" panose="02010509060101010101" pitchFamily="49" charset="-122"/>
                <a:cs typeface="Arial" panose="020B0604020202020204" pitchFamily="34" charset="0"/>
              </a:rPr>
              <a:t>(1,2,3,4)</a:t>
            </a:r>
          </a:p>
        </p:txBody>
      </p:sp>
      <p:sp>
        <p:nvSpPr>
          <p:cNvPr id="59" name="内容占位符 2"/>
          <p:cNvSpPr txBox="1">
            <a:spLocks/>
          </p:cNvSpPr>
          <p:nvPr/>
        </p:nvSpPr>
        <p:spPr>
          <a:xfrm>
            <a:off x="5101180" y="5589031"/>
            <a:ext cx="6094898" cy="1005154"/>
          </a:xfrm>
          <a:prstGeom prst="rect">
            <a:avLst/>
          </a:prstGeom>
        </p:spPr>
        <p:txBody>
          <a:bodyPr vert="horz" lIns="91440" tIns="45720" rIns="91440" bIns="45720" rtlCol="0">
            <a:noAutofit/>
          </a:bodyPr>
          <a:lstStyle>
            <a:lvl1pPr marL="171450" indent="-171450" algn="l" defTabSz="685800" rtl="0" eaLnBrk="1" latinLnBrk="0" hangingPunct="1">
              <a:lnSpc>
                <a:spcPct val="110000"/>
              </a:lnSpc>
              <a:spcBef>
                <a:spcPts val="750"/>
              </a:spcBef>
              <a:buClr>
                <a:srgbClr val="1E5293"/>
              </a:buClr>
              <a:buSzPct val="70000"/>
              <a:buFont typeface="Wingdings" panose="05000000000000000000" pitchFamily="2" charset="2"/>
              <a:buChar char="l"/>
              <a:defRPr sz="21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5143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8572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2001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15430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kumimoji="1" lang="zh-CN" altLang="en-US" sz="2400" dirty="0">
                <a:solidFill>
                  <a:srgbClr val="FF0000"/>
                </a:solidFill>
              </a:rPr>
              <a:t>思考：比较两种元组表达形式下的解空间树，请基于</a:t>
            </a:r>
            <a:r>
              <a:rPr kumimoji="1" lang="en-US" altLang="zh-CN" sz="2400" dirty="0">
                <a:solidFill>
                  <a:srgbClr val="FF0000"/>
                </a:solidFill>
              </a:rPr>
              <a:t>n</a:t>
            </a:r>
            <a:r>
              <a:rPr kumimoji="1" lang="zh-CN" altLang="en-US" sz="2400" dirty="0">
                <a:solidFill>
                  <a:srgbClr val="FF0000"/>
                </a:solidFill>
              </a:rPr>
              <a:t>的渐进表示来描述结点个数。</a:t>
            </a:r>
            <a:endParaRPr kumimoji="1" lang="en-US" altLang="zh-CN" sz="2400" dirty="0">
              <a:solidFill>
                <a:srgbClr val="FF0000"/>
              </a:solidFill>
            </a:endParaRPr>
          </a:p>
        </p:txBody>
      </p:sp>
    </p:spTree>
    <p:extLst>
      <p:ext uri="{BB962C8B-B14F-4D97-AF65-F5344CB8AC3E}">
        <p14:creationId xmlns:p14="http://schemas.microsoft.com/office/powerpoint/2010/main" val="374409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64" grpId="0" animBg="1"/>
      <p:bldP spid="65" grpId="0" animBg="1"/>
      <p:bldP spid="5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1"/>
          </p:nvPr>
        </p:nvSpPr>
        <p:spPr>
          <a:xfrm>
            <a:off x="713348" y="1844824"/>
            <a:ext cx="10657184" cy="4104456"/>
          </a:xfrm>
        </p:spPr>
        <p:txBody>
          <a:bodyPr>
            <a:normAutofit/>
          </a:bodyPr>
          <a:lstStyle/>
          <a:p>
            <a:pPr>
              <a:lnSpc>
                <a:spcPct val="120000"/>
              </a:lnSpc>
              <a:spcBef>
                <a:spcPts val="0"/>
              </a:spcBef>
            </a:pPr>
            <a:r>
              <a:rPr kumimoji="1" lang="zh-CN" altLang="en-US" dirty="0"/>
              <a:t>静态树</a:t>
            </a:r>
            <a:r>
              <a:rPr kumimoji="1" lang="en-US" altLang="zh-CN" dirty="0"/>
              <a:t>: </a:t>
            </a:r>
            <a:r>
              <a:rPr kumimoji="1" lang="zh-CN" altLang="en-US" dirty="0"/>
              <a:t>即解空间树，树结构与所要解决的问题实例无关。</a:t>
            </a:r>
          </a:p>
          <a:p>
            <a:pPr>
              <a:lnSpc>
                <a:spcPct val="120000"/>
              </a:lnSpc>
              <a:spcBef>
                <a:spcPts val="0"/>
              </a:spcBef>
            </a:pPr>
            <a:r>
              <a:rPr kumimoji="1" lang="zh-CN" altLang="en-US" dirty="0"/>
              <a:t>动态树</a:t>
            </a:r>
            <a:r>
              <a:rPr kumimoji="1" lang="en-US" altLang="zh-CN" dirty="0"/>
              <a:t>: </a:t>
            </a:r>
            <a:r>
              <a:rPr kumimoji="1" lang="zh-CN" altLang="en-US" dirty="0"/>
              <a:t>树结构与实例相关</a:t>
            </a:r>
            <a:r>
              <a:rPr kumimoji="1" lang="en-US" altLang="zh-CN" dirty="0"/>
              <a:t>, </a:t>
            </a:r>
            <a:r>
              <a:rPr kumimoji="1" lang="zh-CN" altLang="en-US" dirty="0"/>
              <a:t>在求解过程中生成结点。</a:t>
            </a:r>
            <a:endParaRPr kumimoji="1" lang="en-US" altLang="zh-CN" sz="3200" dirty="0"/>
          </a:p>
          <a:p>
            <a:pPr lvl="1">
              <a:lnSpc>
                <a:spcPct val="120000"/>
              </a:lnSpc>
              <a:spcBef>
                <a:spcPts val="0"/>
              </a:spcBef>
            </a:pPr>
            <a:r>
              <a:rPr kumimoji="1" lang="zh-CN" altLang="en-US" sz="2800" dirty="0"/>
              <a:t>活结点</a:t>
            </a:r>
            <a:r>
              <a:rPr kumimoji="1" lang="en-US" altLang="zh-CN" sz="2800" dirty="0"/>
              <a:t>: </a:t>
            </a:r>
            <a:r>
              <a:rPr kumimoji="1" lang="zh-CN" altLang="en-US" sz="2800" dirty="0"/>
              <a:t>自己已经生成而其儿子结点还没有全部生成的结点。</a:t>
            </a:r>
            <a:endParaRPr kumimoji="1" lang="en-US" altLang="zh-CN" sz="2800" dirty="0"/>
          </a:p>
          <a:p>
            <a:pPr lvl="1">
              <a:lnSpc>
                <a:spcPct val="120000"/>
              </a:lnSpc>
              <a:spcBef>
                <a:spcPts val="0"/>
              </a:spcBef>
            </a:pPr>
            <a:r>
              <a:rPr kumimoji="1" lang="en-US" altLang="zh-CN" sz="2800" dirty="0"/>
              <a:t>E-</a:t>
            </a:r>
            <a:r>
              <a:rPr kumimoji="1" lang="zh-CN" altLang="en-US" sz="2800" dirty="0"/>
              <a:t>结点</a:t>
            </a:r>
            <a:r>
              <a:rPr kumimoji="1" lang="en-US" altLang="zh-CN" sz="2800" dirty="0"/>
              <a:t>(</a:t>
            </a:r>
            <a:r>
              <a:rPr kumimoji="1" lang="zh-CN" altLang="en-US" sz="2800" dirty="0"/>
              <a:t>正在扩展的结点</a:t>
            </a:r>
            <a:r>
              <a:rPr kumimoji="1" lang="en-US" altLang="zh-CN" sz="2800" dirty="0"/>
              <a:t>): </a:t>
            </a:r>
            <a:r>
              <a:rPr kumimoji="1" lang="zh-CN" altLang="en-US" sz="2800" dirty="0"/>
              <a:t>当前正在生成其儿子结点的活结点。</a:t>
            </a:r>
            <a:endParaRPr kumimoji="1" lang="en-US" altLang="zh-CN" sz="2800" dirty="0"/>
          </a:p>
          <a:p>
            <a:pPr lvl="1">
              <a:lnSpc>
                <a:spcPct val="120000"/>
              </a:lnSpc>
              <a:spcBef>
                <a:spcPts val="0"/>
              </a:spcBef>
            </a:pPr>
            <a:r>
              <a:rPr kumimoji="1" lang="zh-CN" altLang="en-US" sz="2800" dirty="0"/>
              <a:t>死结点</a:t>
            </a:r>
            <a:r>
              <a:rPr kumimoji="1" lang="en-US" altLang="zh-CN" sz="2800" dirty="0"/>
              <a:t>: </a:t>
            </a:r>
            <a:r>
              <a:rPr kumimoji="1" lang="zh-CN" altLang="en-US" sz="2800" dirty="0"/>
              <a:t>不再进一步扩展或者其儿子结点已全部生成的结点。</a:t>
            </a:r>
            <a:endParaRPr kumimoji="1" lang="zh-CN" altLang="en-US" dirty="0"/>
          </a:p>
        </p:txBody>
      </p:sp>
      <p:sp>
        <p:nvSpPr>
          <p:cNvPr id="5" name="Rectangle 2"/>
          <p:cNvSpPr>
            <a:spLocks noGrp="1" noChangeArrowheads="1"/>
          </p:cNvSpPr>
          <p:nvPr>
            <p:ph type="title"/>
          </p:nvPr>
        </p:nvSpPr>
        <p:spPr>
          <a:xfrm>
            <a:off x="748081" y="502133"/>
            <a:ext cx="8229600" cy="990600"/>
          </a:xfrm>
        </p:spPr>
        <p:txBody>
          <a:bodyPr/>
          <a:lstStyle/>
          <a:p>
            <a:pPr eaLnBrk="1" hangingPunct="1"/>
            <a:r>
              <a:rPr lang="zh-CN" altLang="en-US" dirty="0"/>
              <a:t>动态树中的结点类型</a:t>
            </a:r>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15</a:t>
            </a:fld>
            <a:endParaRPr lang="en-US" altLang="zh-CN" dirty="0"/>
          </a:p>
        </p:txBody>
      </p:sp>
    </p:spTree>
    <p:extLst>
      <p:ext uri="{BB962C8B-B14F-4D97-AF65-F5344CB8AC3E}">
        <p14:creationId xmlns:p14="http://schemas.microsoft.com/office/powerpoint/2010/main" val="201717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39416" y="361518"/>
            <a:ext cx="9299376" cy="1143000"/>
          </a:xfrm>
        </p:spPr>
        <p:txBody>
          <a:bodyPr/>
          <a:lstStyle/>
          <a:p>
            <a:pPr eaLnBrk="1" hangingPunct="1"/>
            <a:r>
              <a:rPr kumimoji="1" lang="zh-CN" altLang="en-US" dirty="0"/>
              <a:t>动态树结点生成方式</a:t>
            </a:r>
          </a:p>
        </p:txBody>
      </p:sp>
      <p:sp>
        <p:nvSpPr>
          <p:cNvPr id="26628" name="Text Box 4"/>
          <p:cNvSpPr>
            <a:spLocks noGrp="1" noChangeArrowheads="1"/>
          </p:cNvSpPr>
          <p:nvPr>
            <p:ph type="body" idx="1"/>
          </p:nvPr>
        </p:nvSpPr>
        <p:spPr>
          <a:xfrm>
            <a:off x="912640" y="1735350"/>
            <a:ext cx="10441160" cy="3794075"/>
          </a:xfrm>
          <a:noFill/>
        </p:spPr>
        <p:txBody>
          <a:bodyPr>
            <a:normAutofit/>
          </a:bodyPr>
          <a:lstStyle/>
          <a:p>
            <a:pPr eaLnBrk="1" hangingPunct="1">
              <a:spcBef>
                <a:spcPts val="0"/>
              </a:spcBef>
            </a:pPr>
            <a:r>
              <a:rPr kumimoji="1" lang="zh-CN" altLang="en-US" sz="2400" dirty="0"/>
              <a:t>第一种方式</a:t>
            </a:r>
            <a:endParaRPr kumimoji="1" lang="en-US" altLang="zh-CN" sz="2400" dirty="0"/>
          </a:p>
          <a:p>
            <a:pPr lvl="1">
              <a:spcBef>
                <a:spcPts val="0"/>
              </a:spcBef>
            </a:pPr>
            <a:r>
              <a:rPr kumimoji="1" lang="zh-CN" altLang="en-US" dirty="0"/>
              <a:t>当前的</a:t>
            </a:r>
            <a:r>
              <a:rPr kumimoji="1" lang="en-US" altLang="zh-CN" dirty="0"/>
              <a:t>E-</a:t>
            </a:r>
            <a:r>
              <a:rPr kumimoji="1" lang="zh-CN" altLang="en-US" dirty="0"/>
              <a:t>结点</a:t>
            </a:r>
            <a:r>
              <a:rPr kumimoji="1" lang="en-US" altLang="zh-CN" dirty="0"/>
              <a:t>R</a:t>
            </a:r>
            <a:r>
              <a:rPr kumimoji="1" lang="zh-CN" altLang="en-US" dirty="0"/>
              <a:t>一旦生成一个新的儿子结点</a:t>
            </a:r>
            <a:r>
              <a:rPr kumimoji="1" lang="en-US" altLang="zh-CN" dirty="0"/>
              <a:t>C, </a:t>
            </a:r>
            <a:r>
              <a:rPr kumimoji="1" lang="zh-CN" altLang="en-US" dirty="0"/>
              <a:t>这个</a:t>
            </a:r>
            <a:r>
              <a:rPr kumimoji="1" lang="en-US" altLang="zh-CN" dirty="0"/>
              <a:t>C</a:t>
            </a:r>
            <a:r>
              <a:rPr kumimoji="1" lang="zh-CN" altLang="en-US" dirty="0"/>
              <a:t>结点就变成一个新的</a:t>
            </a:r>
            <a:r>
              <a:rPr kumimoji="1" lang="en-US" altLang="zh-CN" dirty="0"/>
              <a:t>E-</a:t>
            </a:r>
            <a:r>
              <a:rPr kumimoji="1" lang="zh-CN" altLang="en-US" dirty="0"/>
              <a:t>结点</a:t>
            </a:r>
            <a:r>
              <a:rPr kumimoji="1" lang="en-US" altLang="zh-CN" dirty="0"/>
              <a:t>, </a:t>
            </a:r>
            <a:r>
              <a:rPr kumimoji="1" lang="zh-CN" altLang="en-US" dirty="0"/>
              <a:t>当检测完了子树</a:t>
            </a:r>
            <a:r>
              <a:rPr kumimoji="1" lang="en-US" altLang="zh-CN" dirty="0"/>
              <a:t>C</a:t>
            </a:r>
            <a:r>
              <a:rPr kumimoji="1" lang="zh-CN" altLang="en-US" dirty="0"/>
              <a:t>后</a:t>
            </a:r>
            <a:r>
              <a:rPr kumimoji="1" lang="en-US" altLang="zh-CN" dirty="0"/>
              <a:t>, R</a:t>
            </a:r>
            <a:r>
              <a:rPr kumimoji="1" lang="zh-CN" altLang="en-US" dirty="0"/>
              <a:t>结点就再次成为</a:t>
            </a:r>
            <a:r>
              <a:rPr kumimoji="1" lang="en-US" altLang="zh-CN" dirty="0"/>
              <a:t>E-</a:t>
            </a:r>
            <a:r>
              <a:rPr kumimoji="1" lang="zh-CN" altLang="en-US" dirty="0"/>
              <a:t>结点</a:t>
            </a:r>
            <a:r>
              <a:rPr kumimoji="1" lang="en-US" altLang="zh-CN" dirty="0"/>
              <a:t>, </a:t>
            </a:r>
            <a:r>
              <a:rPr kumimoji="1" lang="zh-CN" altLang="en-US" dirty="0"/>
              <a:t>生成下一个儿子结点。</a:t>
            </a:r>
            <a:endParaRPr kumimoji="1" lang="en-US" altLang="zh-CN" dirty="0"/>
          </a:p>
          <a:p>
            <a:pPr lvl="1">
              <a:spcBef>
                <a:spcPts val="0"/>
              </a:spcBef>
            </a:pPr>
            <a:endParaRPr kumimoji="1" lang="en-US" altLang="zh-CN" dirty="0"/>
          </a:p>
          <a:p>
            <a:pPr eaLnBrk="1" hangingPunct="1">
              <a:spcBef>
                <a:spcPts val="0"/>
              </a:spcBef>
            </a:pPr>
            <a:r>
              <a:rPr kumimoji="1" lang="zh-CN" altLang="en-US" sz="2400" dirty="0"/>
              <a:t>第二种方式</a:t>
            </a:r>
            <a:r>
              <a:rPr kumimoji="1" lang="en-US" altLang="zh-CN" sz="2400" dirty="0"/>
              <a:t>:</a:t>
            </a:r>
          </a:p>
          <a:p>
            <a:pPr lvl="1">
              <a:spcBef>
                <a:spcPts val="0"/>
              </a:spcBef>
            </a:pPr>
            <a:r>
              <a:rPr kumimoji="1" lang="zh-CN" altLang="en-US" dirty="0"/>
              <a:t>当前结点一旦成为</a:t>
            </a:r>
            <a:r>
              <a:rPr kumimoji="1" lang="en-US" altLang="zh-CN" dirty="0"/>
              <a:t>E-</a:t>
            </a:r>
            <a:r>
              <a:rPr kumimoji="1" lang="zh-CN" altLang="en-US" dirty="0"/>
              <a:t>结点，就一直处理到变成死结点为止。其生成的儿子结点加入到活结点表中，然后再从活结点表中选择下一个新的</a:t>
            </a:r>
            <a:r>
              <a:rPr kumimoji="1" lang="en-US" altLang="zh-CN" dirty="0"/>
              <a:t>E-</a:t>
            </a:r>
            <a:r>
              <a:rPr kumimoji="1" lang="zh-CN" altLang="en-US" dirty="0"/>
              <a:t>结点。</a:t>
            </a:r>
            <a:endParaRPr kumimoji="1" lang="en-US" altLang="zh-CN" dirty="0"/>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16</a:t>
            </a:fld>
            <a:endParaRPr lang="en-US" altLang="zh-CN" dirty="0"/>
          </a:p>
        </p:txBody>
      </p:sp>
      <p:sp>
        <p:nvSpPr>
          <p:cNvPr id="2" name="矩形 1"/>
          <p:cNvSpPr/>
          <p:nvPr/>
        </p:nvSpPr>
        <p:spPr>
          <a:xfrm>
            <a:off x="7711153" y="5128259"/>
            <a:ext cx="3457600" cy="535531"/>
          </a:xfrm>
          <a:prstGeom prst="rect">
            <a:avLst/>
          </a:prstGeom>
          <a:solidFill>
            <a:schemeClr val="accent1">
              <a:lumMod val="20000"/>
              <a:lumOff val="80000"/>
            </a:schemeClr>
          </a:solidFill>
        </p:spPr>
        <p:txBody>
          <a:bodyPr wrap="square">
            <a:spAutoFit/>
          </a:bodyPr>
          <a:lstStyle/>
          <a:p>
            <a:pPr>
              <a:lnSpc>
                <a:spcPct val="120000"/>
              </a:lnSpc>
            </a:pPr>
            <a:r>
              <a:rPr kumimoji="1" lang="zh-CN" altLang="en-US" sz="2400" dirty="0">
                <a:latin typeface="Arial" panose="020B0604020202020204" pitchFamily="34" charset="0"/>
                <a:ea typeface="幼圆" panose="02010509060101010101" pitchFamily="49" charset="-122"/>
                <a:cs typeface="Arial" panose="020B0604020202020204" pitchFamily="34" charset="0"/>
              </a:rPr>
              <a:t>该方法称为</a:t>
            </a:r>
            <a:r>
              <a:rPr kumimoji="1"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分支限界</a:t>
            </a:r>
            <a:r>
              <a:rPr kumimoji="1" lang="zh-CN" altLang="en-US" sz="2400" dirty="0">
                <a:latin typeface="Arial" panose="020B0604020202020204" pitchFamily="34" charset="0"/>
                <a:ea typeface="幼圆" panose="02010509060101010101" pitchFamily="49" charset="-122"/>
                <a:cs typeface="Arial" panose="020B0604020202020204" pitchFamily="34" charset="0"/>
              </a:rPr>
              <a:t>法。</a:t>
            </a:r>
            <a:endParaRPr kumimoji="1" lang="en-US" altLang="zh-CN" sz="2400" dirty="0">
              <a:latin typeface="Arial" panose="020B0604020202020204" pitchFamily="34" charset="0"/>
              <a:ea typeface="幼圆" panose="02010509060101010101" pitchFamily="49" charset="-122"/>
              <a:cs typeface="Arial" panose="020B0604020202020204" pitchFamily="34" charset="0"/>
            </a:endParaRPr>
          </a:p>
        </p:txBody>
      </p:sp>
      <p:sp>
        <p:nvSpPr>
          <p:cNvPr id="3" name="矩形 2"/>
          <p:cNvSpPr/>
          <p:nvPr/>
        </p:nvSpPr>
        <p:spPr>
          <a:xfrm>
            <a:off x="6240016" y="3194126"/>
            <a:ext cx="4969768" cy="461665"/>
          </a:xfrm>
          <a:prstGeom prst="rect">
            <a:avLst/>
          </a:prstGeom>
          <a:solidFill>
            <a:schemeClr val="accent1">
              <a:lumMod val="20000"/>
              <a:lumOff val="80000"/>
            </a:schemeClr>
          </a:solidFill>
        </p:spPr>
        <p:txBody>
          <a:bodyPr wrap="square">
            <a:spAutoFit/>
          </a:bodyPr>
          <a:lstStyle/>
          <a:p>
            <a:pPr>
              <a:spcBef>
                <a:spcPts val="600"/>
              </a:spcBef>
              <a:spcAft>
                <a:spcPts val="600"/>
              </a:spcAft>
            </a:pPr>
            <a:r>
              <a:rPr kumimoji="1" lang="zh-CN" altLang="en-US" sz="2400" dirty="0">
                <a:latin typeface="幼圆" panose="02010509060101010101" pitchFamily="49" charset="-122"/>
                <a:ea typeface="幼圆" panose="02010509060101010101" pitchFamily="49" charset="-122"/>
              </a:rPr>
              <a:t>该方法基于</a:t>
            </a:r>
            <a:r>
              <a:rPr kumimoji="1" lang="zh-CN" altLang="en-US" sz="2400" dirty="0">
                <a:solidFill>
                  <a:srgbClr val="FF0000"/>
                </a:solidFill>
                <a:latin typeface="幼圆" panose="02010509060101010101" pitchFamily="49" charset="-122"/>
                <a:ea typeface="幼圆" panose="02010509060101010101" pitchFamily="49" charset="-122"/>
              </a:rPr>
              <a:t>深度优先</a:t>
            </a:r>
            <a:r>
              <a:rPr kumimoji="1" lang="zh-CN" altLang="en-US" sz="2400" dirty="0">
                <a:latin typeface="幼圆" panose="02010509060101010101" pitchFamily="49" charset="-122"/>
                <a:ea typeface="幼圆" panose="02010509060101010101" pitchFamily="49" charset="-122"/>
              </a:rPr>
              <a:t>，称为</a:t>
            </a:r>
            <a:r>
              <a:rPr kumimoji="1" lang="zh-CN" altLang="en-US" sz="2400" dirty="0">
                <a:solidFill>
                  <a:srgbClr val="FF0000"/>
                </a:solidFill>
                <a:latin typeface="幼圆" panose="02010509060101010101" pitchFamily="49" charset="-122"/>
                <a:ea typeface="幼圆" panose="02010509060101010101" pitchFamily="49" charset="-122"/>
              </a:rPr>
              <a:t>回溯</a:t>
            </a:r>
            <a:r>
              <a:rPr kumimoji="1" lang="zh-CN" altLang="en-US" sz="2400" dirty="0">
                <a:latin typeface="幼圆" panose="02010509060101010101" pitchFamily="49" charset="-122"/>
                <a:ea typeface="幼圆" panose="02010509060101010101" pitchFamily="49" charset="-122"/>
              </a:rPr>
              <a:t>法。</a:t>
            </a:r>
          </a:p>
        </p:txBody>
      </p:sp>
    </p:spTree>
    <p:extLst>
      <p:ext uri="{BB962C8B-B14F-4D97-AF65-F5344CB8AC3E}">
        <p14:creationId xmlns:p14="http://schemas.microsoft.com/office/powerpoint/2010/main" val="27773601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6628">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662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uiExpand="1" build="p" autoUpdateAnimBg="0"/>
      <p:bldP spid="2" grpId="0" animBg="1"/>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11424" y="457200"/>
            <a:ext cx="8229600" cy="1143000"/>
          </a:xfrm>
        </p:spPr>
        <p:txBody>
          <a:bodyPr/>
          <a:lstStyle/>
          <a:p>
            <a:pPr eaLnBrk="1" hangingPunct="1"/>
            <a:r>
              <a:rPr kumimoji="1" lang="zh-CN" altLang="en-US" dirty="0"/>
              <a:t>回溯法的设计思想</a:t>
            </a:r>
          </a:p>
        </p:txBody>
      </p:sp>
      <p:sp>
        <p:nvSpPr>
          <p:cNvPr id="32771" name="Rectangle 3"/>
          <p:cNvSpPr>
            <a:spLocks noGrp="1" noChangeArrowheads="1"/>
          </p:cNvSpPr>
          <p:nvPr>
            <p:ph type="body" idx="1"/>
          </p:nvPr>
        </p:nvSpPr>
        <p:spPr>
          <a:xfrm>
            <a:off x="911424" y="1612885"/>
            <a:ext cx="10427214" cy="4660776"/>
          </a:xfrm>
        </p:spPr>
        <p:txBody>
          <a:bodyPr>
            <a:normAutofit/>
          </a:bodyPr>
          <a:lstStyle/>
          <a:p>
            <a:pPr eaLnBrk="1" hangingPunct="1">
              <a:lnSpc>
                <a:spcPct val="120000"/>
              </a:lnSpc>
            </a:pPr>
            <a:r>
              <a:rPr kumimoji="1" lang="zh-CN" altLang="en-US" sz="2400" dirty="0"/>
              <a:t>针对问题定义解空间树结构：元组、显式约束条件、隐式约束条件。 </a:t>
            </a:r>
          </a:p>
          <a:p>
            <a:pPr eaLnBrk="1" hangingPunct="1">
              <a:lnSpc>
                <a:spcPct val="120000"/>
              </a:lnSpc>
            </a:pPr>
            <a:r>
              <a:rPr kumimoji="1" lang="zh-CN" altLang="en-US" sz="2400" dirty="0"/>
              <a:t>检验问题满足多米诺性质。</a:t>
            </a:r>
          </a:p>
          <a:p>
            <a:pPr eaLnBrk="1" hangingPunct="1">
              <a:lnSpc>
                <a:spcPct val="120000"/>
              </a:lnSpc>
            </a:pPr>
            <a:r>
              <a:rPr kumimoji="1" lang="zh-CN" altLang="en-US" sz="2400" dirty="0"/>
              <a:t>以深度优先方式搜索解空间树</a:t>
            </a:r>
            <a:r>
              <a:rPr kumimoji="1" lang="en-US" altLang="zh-CN" sz="2400" dirty="0"/>
              <a:t>, </a:t>
            </a:r>
            <a:r>
              <a:rPr kumimoji="1" lang="zh-CN" altLang="en-US" sz="2400" dirty="0"/>
              <a:t>在搜索过程中使用</a:t>
            </a:r>
            <a:r>
              <a:rPr kumimoji="1" lang="zh-CN" altLang="en-US" sz="2400" dirty="0">
                <a:solidFill>
                  <a:srgbClr val="FF0000"/>
                </a:solidFill>
              </a:rPr>
              <a:t>约束函数</a:t>
            </a:r>
            <a:r>
              <a:rPr kumimoji="1" lang="en-US" altLang="zh-CN" sz="2400" dirty="0">
                <a:solidFill>
                  <a:srgbClr val="FF0000"/>
                </a:solidFill>
              </a:rPr>
              <a:t>B</a:t>
            </a:r>
            <a:r>
              <a:rPr kumimoji="1" lang="zh-CN" altLang="en-US" sz="2400" dirty="0"/>
              <a:t>避免无效搜索。</a:t>
            </a:r>
          </a:p>
          <a:p>
            <a:pPr lvl="1" eaLnBrk="1" hangingPunct="1">
              <a:lnSpc>
                <a:spcPct val="120000"/>
              </a:lnSpc>
            </a:pPr>
            <a:r>
              <a:rPr kumimoji="1" lang="zh-CN" altLang="en-US" dirty="0"/>
              <a:t>对当前</a:t>
            </a:r>
            <a:r>
              <a:rPr kumimoji="1" lang="en-US" altLang="zh-CN" dirty="0"/>
              <a:t>E-</a:t>
            </a:r>
            <a:r>
              <a:rPr kumimoji="1" lang="zh-CN" altLang="en-US" dirty="0"/>
              <a:t>结点</a:t>
            </a:r>
            <a:r>
              <a:rPr kumimoji="1" lang="en-US" altLang="zh-CN" dirty="0"/>
              <a:t>R</a:t>
            </a:r>
            <a:r>
              <a:rPr kumimoji="1" lang="zh-CN" altLang="en-US" dirty="0"/>
              <a:t>，一旦生成一个新的儿子结点</a:t>
            </a:r>
            <a:r>
              <a:rPr kumimoji="1" lang="en-US" altLang="zh-CN" dirty="0"/>
              <a:t>C</a:t>
            </a:r>
            <a:r>
              <a:rPr kumimoji="1" lang="zh-CN" altLang="en-US" dirty="0"/>
              <a:t>，</a:t>
            </a:r>
            <a:r>
              <a:rPr kumimoji="1" lang="en-US" altLang="zh-CN" dirty="0"/>
              <a:t>C</a:t>
            </a:r>
            <a:r>
              <a:rPr kumimoji="1" lang="zh-CN" altLang="en-US" dirty="0"/>
              <a:t>就成为新的</a:t>
            </a:r>
            <a:r>
              <a:rPr kumimoji="1" lang="en-US" altLang="zh-CN" dirty="0"/>
              <a:t>E-</a:t>
            </a:r>
            <a:r>
              <a:rPr kumimoji="1" lang="zh-CN" altLang="en-US" dirty="0"/>
              <a:t>结点，搜索向纵深方向移动。</a:t>
            </a:r>
          </a:p>
          <a:p>
            <a:pPr lvl="1">
              <a:lnSpc>
                <a:spcPct val="120000"/>
              </a:lnSpc>
            </a:pPr>
            <a:r>
              <a:rPr kumimoji="1" lang="zh-CN" altLang="en-US" dirty="0"/>
              <a:t>如果当前</a:t>
            </a:r>
            <a:r>
              <a:rPr kumimoji="1" lang="en-US" altLang="zh-CN" dirty="0"/>
              <a:t>E-</a:t>
            </a:r>
            <a:r>
              <a:rPr kumimoji="1" lang="zh-CN" altLang="en-US" dirty="0"/>
              <a:t>结点不能满足约束函数</a:t>
            </a:r>
            <a:r>
              <a:rPr kumimoji="1" lang="en-US" altLang="zh-CN" dirty="0"/>
              <a:t>B</a:t>
            </a:r>
            <a:r>
              <a:rPr kumimoji="1" lang="zh-CN" altLang="en-US" dirty="0"/>
              <a:t>，或者再没有儿子节点，则其成为死结点，搜索不再向纵深方向移动，转而向上回溯至最近的一个活结点，该活结点成为新的</a:t>
            </a:r>
            <a:r>
              <a:rPr kumimoji="1" lang="en-US" altLang="zh-CN" dirty="0"/>
              <a:t>E-</a:t>
            </a:r>
            <a:r>
              <a:rPr kumimoji="1" lang="zh-CN" altLang="en-US" dirty="0"/>
              <a:t>结点。</a:t>
            </a:r>
            <a:endParaRPr kumimoji="1" lang="en-US" altLang="zh-CN" dirty="0"/>
          </a:p>
          <a:p>
            <a:pPr lvl="1">
              <a:lnSpc>
                <a:spcPct val="120000"/>
              </a:lnSpc>
            </a:pPr>
            <a:r>
              <a:rPr kumimoji="1" lang="zh-CN" altLang="en-US" dirty="0"/>
              <a:t>搜索过程直至找到所要求的解或解空间树中已没有活结点时为止。</a:t>
            </a:r>
          </a:p>
          <a:p>
            <a:pPr marL="0" indent="0">
              <a:lnSpc>
                <a:spcPct val="100000"/>
              </a:lnSpc>
              <a:buNone/>
            </a:pPr>
            <a:endParaRPr kumimoji="1" lang="zh-CN" altLang="en-US" dirty="0"/>
          </a:p>
        </p:txBody>
      </p:sp>
      <p:sp>
        <p:nvSpPr>
          <p:cNvPr id="5" name="圆角矩形标注 4"/>
          <p:cNvSpPr/>
          <p:nvPr/>
        </p:nvSpPr>
        <p:spPr>
          <a:xfrm>
            <a:off x="8204920" y="1621343"/>
            <a:ext cx="1872208" cy="521641"/>
          </a:xfrm>
          <a:prstGeom prst="wedgeRoundRectCallout">
            <a:avLst>
              <a:gd name="adj1" fmla="val -40800"/>
              <a:gd name="adj2" fmla="val 168357"/>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dirty="0">
              <a:solidFill>
                <a:schemeClr val="tx1"/>
              </a:solidFill>
              <a:latin typeface="Arial" panose="020B0604020202020204" pitchFamily="34" charset="0"/>
              <a:ea typeface="幼圆" panose="02010509060101010101" pitchFamily="49" charset="-122"/>
              <a:cs typeface="Arial" panose="020B0604020202020204" pitchFamily="34" charset="0"/>
            </a:endParaRPr>
          </a:p>
        </p:txBody>
      </p:sp>
      <p:sp>
        <p:nvSpPr>
          <p:cNvPr id="6"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17</a:t>
            </a:fld>
            <a:endParaRPr lang="en-US" altLang="zh-CN" dirty="0"/>
          </a:p>
        </p:txBody>
      </p:sp>
    </p:spTree>
    <p:extLst>
      <p:ext uri="{BB962C8B-B14F-4D97-AF65-F5344CB8AC3E}">
        <p14:creationId xmlns:p14="http://schemas.microsoft.com/office/powerpoint/2010/main" val="11921249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a:xfrm>
            <a:off x="767408" y="609600"/>
            <a:ext cx="9367192" cy="838200"/>
          </a:xfrm>
        </p:spPr>
        <p:txBody>
          <a:bodyPr/>
          <a:lstStyle/>
          <a:p>
            <a:pPr eaLnBrk="1" hangingPunct="1"/>
            <a:r>
              <a:rPr kumimoji="1" lang="zh-CN" altLang="en-US" dirty="0"/>
              <a:t>回溯法的形式化描述</a:t>
            </a:r>
          </a:p>
        </p:txBody>
      </p:sp>
      <p:sp>
        <p:nvSpPr>
          <p:cNvPr id="34819" name="Rectangle 3"/>
          <p:cNvSpPr>
            <a:spLocks noGrp="1" noChangeArrowheads="1"/>
          </p:cNvSpPr>
          <p:nvPr>
            <p:ph type="body" idx="1"/>
          </p:nvPr>
        </p:nvSpPr>
        <p:spPr>
          <a:xfrm>
            <a:off x="767407" y="1787624"/>
            <a:ext cx="8111415" cy="4362450"/>
          </a:xfrm>
        </p:spPr>
        <p:txBody>
          <a:bodyPr/>
          <a:lstStyle/>
          <a:p>
            <a:pPr eaLnBrk="1" hangingPunct="1">
              <a:lnSpc>
                <a:spcPct val="100000"/>
              </a:lnSpc>
              <a:spcBef>
                <a:spcPts val="600"/>
              </a:spcBef>
            </a:pPr>
            <a:r>
              <a:rPr kumimoji="1" lang="zh-CN" altLang="en-US" sz="2400" dirty="0"/>
              <a:t>假设要找出</a:t>
            </a:r>
            <a:r>
              <a:rPr kumimoji="1" lang="zh-CN" altLang="en-US" sz="2400" dirty="0">
                <a:solidFill>
                  <a:srgbClr val="FF0000"/>
                </a:solidFill>
              </a:rPr>
              <a:t>所有</a:t>
            </a:r>
            <a:r>
              <a:rPr kumimoji="1" lang="zh-CN" altLang="en-US" sz="2400" dirty="0"/>
              <a:t>的答案结点</a:t>
            </a:r>
            <a:endParaRPr kumimoji="1" lang="en-US" altLang="zh-CN" sz="2400" dirty="0"/>
          </a:p>
          <a:p>
            <a:pPr eaLnBrk="1" hangingPunct="1">
              <a:lnSpc>
                <a:spcPct val="100000"/>
              </a:lnSpc>
              <a:spcBef>
                <a:spcPts val="600"/>
              </a:spcBef>
            </a:pPr>
            <a:r>
              <a:rPr kumimoji="1" lang="en-US" altLang="zh-CN" sz="2400" dirty="0"/>
              <a:t>(x</a:t>
            </a:r>
            <a:r>
              <a:rPr kumimoji="1" lang="en-US" altLang="zh-CN" sz="2400" baseline="-25000" dirty="0"/>
              <a:t>1</a:t>
            </a:r>
            <a:r>
              <a:rPr kumimoji="1" lang="en-US" altLang="zh-CN" sz="2400" dirty="0"/>
              <a:t>,x</a:t>
            </a:r>
            <a:r>
              <a:rPr kumimoji="1" lang="en-US" altLang="zh-CN" sz="2400" baseline="-25000" dirty="0"/>
              <a:t>2</a:t>
            </a:r>
            <a:r>
              <a:rPr kumimoji="1" lang="en-US" altLang="zh-CN" sz="2400" dirty="0"/>
              <a:t>,…,x</a:t>
            </a:r>
            <a:r>
              <a:rPr kumimoji="1" lang="en-US" altLang="zh-CN" sz="2400" baseline="-25000" dirty="0"/>
              <a:t>i-1</a:t>
            </a:r>
            <a:r>
              <a:rPr kumimoji="1" lang="en-US" altLang="zh-CN" sz="2400" dirty="0"/>
              <a:t>)</a:t>
            </a:r>
            <a:r>
              <a:rPr kumimoji="1" lang="zh-CN" altLang="en-US" sz="2400" dirty="0"/>
              <a:t>是状态空间树中由根出发的一条路径，到达结点</a:t>
            </a:r>
            <a:r>
              <a:rPr kumimoji="1" lang="en-US" altLang="zh-CN" sz="2400" dirty="0"/>
              <a:t>Y</a:t>
            </a:r>
          </a:p>
          <a:p>
            <a:pPr>
              <a:lnSpc>
                <a:spcPct val="100000"/>
              </a:lnSpc>
              <a:spcBef>
                <a:spcPts val="600"/>
              </a:spcBef>
            </a:pPr>
            <a:r>
              <a:rPr kumimoji="1" lang="en-US" altLang="zh-CN" sz="2400" dirty="0"/>
              <a:t>T(x</a:t>
            </a:r>
            <a:r>
              <a:rPr kumimoji="1" lang="en-US" altLang="zh-CN" sz="2400" baseline="-25000" dirty="0"/>
              <a:t>1</a:t>
            </a:r>
            <a:r>
              <a:rPr kumimoji="1" lang="en-US" altLang="zh-CN" sz="2400" dirty="0"/>
              <a:t>,…x</a:t>
            </a:r>
            <a:r>
              <a:rPr kumimoji="1" lang="en-US" altLang="zh-CN" sz="2400" baseline="-25000" dirty="0"/>
              <a:t>i-1</a:t>
            </a:r>
            <a:r>
              <a:rPr kumimoji="1" lang="en-US" altLang="zh-CN" sz="2400" dirty="0"/>
              <a:t>)</a:t>
            </a:r>
            <a:r>
              <a:rPr kumimoji="1" lang="zh-CN" altLang="en-US" sz="2400" dirty="0"/>
              <a:t>是元素</a:t>
            </a:r>
            <a:r>
              <a:rPr kumimoji="1" lang="en-US" altLang="zh-CN" sz="2400" dirty="0"/>
              <a:t>x</a:t>
            </a:r>
            <a:r>
              <a:rPr kumimoji="1" lang="en-US" altLang="zh-CN" sz="2400" baseline="-25000" dirty="0"/>
              <a:t>i</a:t>
            </a:r>
            <a:r>
              <a:rPr kumimoji="1" lang="zh-CN" altLang="en-US" sz="2400" dirty="0"/>
              <a:t>的集合，对于每一个</a:t>
            </a:r>
            <a:r>
              <a:rPr kumimoji="1" lang="en-US" altLang="zh-CN" sz="2400" dirty="0"/>
              <a:t>x</a:t>
            </a:r>
            <a:r>
              <a:rPr kumimoji="1" lang="en-US" altLang="zh-CN" sz="2400" baseline="-25000" dirty="0"/>
              <a:t>i</a:t>
            </a:r>
            <a:r>
              <a:rPr kumimoji="1" lang="zh-CN" altLang="en-US" sz="2400" dirty="0"/>
              <a:t>，</a:t>
            </a:r>
            <a:r>
              <a:rPr kumimoji="1" lang="en-US" altLang="zh-CN" sz="2400" dirty="0"/>
              <a:t>(x</a:t>
            </a:r>
            <a:r>
              <a:rPr kumimoji="1" lang="en-US" altLang="zh-CN" sz="2400" baseline="-25000" dirty="0"/>
              <a:t>1</a:t>
            </a:r>
            <a:r>
              <a:rPr kumimoji="1" lang="en-US" altLang="zh-CN" sz="2400" dirty="0"/>
              <a:t>,x</a:t>
            </a:r>
            <a:r>
              <a:rPr kumimoji="1" lang="en-US" altLang="zh-CN" sz="2400" baseline="-25000" dirty="0"/>
              <a:t>2</a:t>
            </a:r>
            <a:r>
              <a:rPr kumimoji="1" lang="en-US" altLang="zh-CN" sz="2400" dirty="0"/>
              <a:t>,…,x</a:t>
            </a:r>
            <a:r>
              <a:rPr kumimoji="1" lang="en-US" altLang="zh-CN" sz="2400" baseline="-25000" dirty="0"/>
              <a:t>i-1</a:t>
            </a:r>
            <a:r>
              <a:rPr kumimoji="1" lang="en-US" altLang="zh-CN" sz="2400" dirty="0"/>
              <a:t>,x</a:t>
            </a:r>
            <a:r>
              <a:rPr kumimoji="1" lang="en-US" altLang="zh-CN" sz="2400" baseline="-25000" dirty="0"/>
              <a:t>i</a:t>
            </a:r>
            <a:r>
              <a:rPr kumimoji="1" lang="en-US" altLang="zh-CN" sz="2400" dirty="0"/>
              <a:t>)</a:t>
            </a:r>
            <a:r>
              <a:rPr kumimoji="1" lang="zh-CN" altLang="en-US" sz="2400" dirty="0"/>
              <a:t>是一条由根到结点</a:t>
            </a:r>
            <a:r>
              <a:rPr kumimoji="1" lang="en-US" altLang="zh-CN" sz="2400" dirty="0"/>
              <a:t>Y</a:t>
            </a:r>
            <a:r>
              <a:rPr kumimoji="1" lang="zh-CN" altLang="en-US" sz="2400" dirty="0"/>
              <a:t>的一个儿子结点的路径</a:t>
            </a:r>
            <a:endParaRPr kumimoji="1" lang="en-US" altLang="zh-CN" sz="2400" dirty="0"/>
          </a:p>
          <a:p>
            <a:pPr>
              <a:lnSpc>
                <a:spcPct val="100000"/>
              </a:lnSpc>
              <a:spcBef>
                <a:spcPts val="600"/>
              </a:spcBef>
            </a:pPr>
            <a:r>
              <a:rPr kumimoji="1" lang="zh-CN" altLang="en-US" sz="2400" dirty="0"/>
              <a:t>对于约束函数</a:t>
            </a:r>
            <a:r>
              <a:rPr kumimoji="1" lang="en-US" altLang="zh-CN" sz="2400" dirty="0"/>
              <a:t>B</a:t>
            </a:r>
            <a:r>
              <a:rPr kumimoji="1" lang="en-US" altLang="zh-CN" sz="2400" baseline="-25000" dirty="0"/>
              <a:t>i</a:t>
            </a:r>
            <a:r>
              <a:rPr kumimoji="1" lang="zh-CN" altLang="en-US" sz="2400" dirty="0"/>
              <a:t>，如果路径</a:t>
            </a:r>
            <a:r>
              <a:rPr kumimoji="1" lang="en-US" altLang="zh-CN" sz="2400" dirty="0"/>
              <a:t>(x</a:t>
            </a:r>
            <a:r>
              <a:rPr kumimoji="1" lang="en-US" altLang="zh-CN" sz="2400" baseline="-25000" dirty="0"/>
              <a:t>1</a:t>
            </a:r>
            <a:r>
              <a:rPr kumimoji="1" lang="en-US" altLang="zh-CN" sz="2400" dirty="0"/>
              <a:t>,x</a:t>
            </a:r>
            <a:r>
              <a:rPr kumimoji="1" lang="en-US" altLang="zh-CN" sz="2400" baseline="-25000" dirty="0"/>
              <a:t>2</a:t>
            </a:r>
            <a:r>
              <a:rPr kumimoji="1" lang="en-US" altLang="zh-CN" sz="2400" dirty="0"/>
              <a:t>,…,x</a:t>
            </a:r>
            <a:r>
              <a:rPr kumimoji="1" lang="en-US" altLang="zh-CN" sz="2400" baseline="-25000" dirty="0"/>
              <a:t>i-1</a:t>
            </a:r>
            <a:r>
              <a:rPr kumimoji="1" lang="en-US" altLang="zh-CN" sz="2400" dirty="0"/>
              <a:t>,x</a:t>
            </a:r>
            <a:r>
              <a:rPr kumimoji="1" lang="en-US" altLang="zh-CN" sz="2400" baseline="-25000" dirty="0"/>
              <a:t>i</a:t>
            </a:r>
            <a:r>
              <a:rPr kumimoji="1" lang="en-US" altLang="zh-CN" sz="2400" dirty="0"/>
              <a:t>)</a:t>
            </a:r>
            <a:r>
              <a:rPr kumimoji="1" lang="zh-CN" altLang="en-US" sz="2400" dirty="0"/>
              <a:t>不可能延伸到一个答案结点，则</a:t>
            </a:r>
            <a:r>
              <a:rPr kumimoji="1" lang="en-US" altLang="zh-CN" sz="2400" dirty="0"/>
              <a:t>B</a:t>
            </a:r>
            <a:r>
              <a:rPr kumimoji="1" lang="en-US" altLang="zh-CN" sz="2400" baseline="-25000" dirty="0"/>
              <a:t>i</a:t>
            </a:r>
            <a:r>
              <a:rPr kumimoji="1" lang="en-US" altLang="zh-CN" sz="2400" dirty="0"/>
              <a:t>(x</a:t>
            </a:r>
            <a:r>
              <a:rPr kumimoji="1" lang="en-US" altLang="zh-CN" sz="2400" baseline="-25000" dirty="0"/>
              <a:t>1</a:t>
            </a:r>
            <a:r>
              <a:rPr kumimoji="1" lang="en-US" altLang="zh-CN" sz="2400" dirty="0"/>
              <a:t>,x</a:t>
            </a:r>
            <a:r>
              <a:rPr kumimoji="1" lang="en-US" altLang="zh-CN" sz="2400" baseline="-25000" dirty="0"/>
              <a:t>2</a:t>
            </a:r>
            <a:r>
              <a:rPr kumimoji="1" lang="en-US" altLang="zh-CN" sz="2400" dirty="0"/>
              <a:t>,…,x</a:t>
            </a:r>
            <a:r>
              <a:rPr kumimoji="1" lang="en-US" altLang="zh-CN" sz="2400" baseline="-25000" dirty="0"/>
              <a:t>i</a:t>
            </a:r>
            <a:r>
              <a:rPr kumimoji="1" lang="en-US" altLang="zh-CN" sz="2400" dirty="0"/>
              <a:t>)</a:t>
            </a:r>
            <a:r>
              <a:rPr kumimoji="1" lang="zh-CN" altLang="en-US" sz="2400" dirty="0"/>
              <a:t>取假值</a:t>
            </a:r>
            <a:r>
              <a:rPr kumimoji="1" lang="en-US" altLang="zh-CN" sz="2400" dirty="0"/>
              <a:t>,</a:t>
            </a:r>
            <a:r>
              <a:rPr kumimoji="1" lang="zh-CN" altLang="en-US" sz="2400" dirty="0"/>
              <a:t>否则取真值</a:t>
            </a:r>
            <a:endParaRPr kumimoji="1" lang="en-US" altLang="zh-CN" sz="2400" dirty="0"/>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18</a:t>
            </a:fld>
            <a:endParaRPr lang="en-US" altLang="zh-CN" dirty="0"/>
          </a:p>
        </p:txBody>
      </p:sp>
      <p:grpSp>
        <p:nvGrpSpPr>
          <p:cNvPr id="49" name="组合 48"/>
          <p:cNvGrpSpPr/>
          <p:nvPr/>
        </p:nvGrpSpPr>
        <p:grpSpPr>
          <a:xfrm>
            <a:off x="9299124" y="1781390"/>
            <a:ext cx="1170785" cy="3240360"/>
            <a:chOff x="8969677" y="1820230"/>
            <a:chExt cx="1170785" cy="3240360"/>
          </a:xfrm>
        </p:grpSpPr>
        <p:sp>
          <p:nvSpPr>
            <p:cNvPr id="22" name="椭圆 21"/>
            <p:cNvSpPr/>
            <p:nvPr/>
          </p:nvSpPr>
          <p:spPr>
            <a:xfrm>
              <a:off x="9844369" y="1895057"/>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3" name="椭圆 22"/>
            <p:cNvSpPr/>
            <p:nvPr/>
          </p:nvSpPr>
          <p:spPr>
            <a:xfrm>
              <a:off x="9414553" y="2471121"/>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9735241" y="3047185"/>
              <a:ext cx="218256" cy="21320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9330916" y="3775070"/>
              <a:ext cx="452368" cy="43422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FF0000"/>
                  </a:solidFill>
                  <a:latin typeface="Arial" panose="020B0604020202020204" pitchFamily="34" charset="0"/>
                  <a:cs typeface="Arial" panose="020B0604020202020204" pitchFamily="34" charset="0"/>
                </a:rPr>
                <a:t>Y</a:t>
              </a:r>
              <a:endParaRPr lang="zh-CN" altLang="en-US" sz="2400" dirty="0">
                <a:solidFill>
                  <a:srgbClr val="FF0000"/>
                </a:solidFill>
                <a:latin typeface="Arial" panose="020B0604020202020204" pitchFamily="34" charset="0"/>
                <a:cs typeface="Arial" panose="020B0604020202020204" pitchFamily="34" charset="0"/>
              </a:endParaRPr>
            </a:p>
          </p:txBody>
        </p:sp>
        <p:sp>
          <p:nvSpPr>
            <p:cNvPr id="27" name="椭圆 26"/>
            <p:cNvSpPr/>
            <p:nvPr/>
          </p:nvSpPr>
          <p:spPr>
            <a:xfrm>
              <a:off x="9060342" y="4844566"/>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p:cNvCxnSpPr>
              <a:stCxn id="22" idx="3"/>
              <a:endCxn id="23" idx="0"/>
            </p:cNvCxnSpPr>
            <p:nvPr/>
          </p:nvCxnSpPr>
          <p:spPr>
            <a:xfrm flipH="1">
              <a:off x="9523681" y="2077039"/>
              <a:ext cx="352651" cy="3940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3" idx="4"/>
              <a:endCxn id="24" idx="0"/>
            </p:cNvCxnSpPr>
            <p:nvPr/>
          </p:nvCxnSpPr>
          <p:spPr>
            <a:xfrm>
              <a:off x="9523681" y="2684326"/>
              <a:ext cx="320688" cy="3628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4" idx="4"/>
              <a:endCxn id="25" idx="0"/>
            </p:cNvCxnSpPr>
            <p:nvPr/>
          </p:nvCxnSpPr>
          <p:spPr>
            <a:xfrm flipH="1">
              <a:off x="9557100" y="3260390"/>
              <a:ext cx="287269" cy="5146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9023610" y="2587658"/>
              <a:ext cx="492443" cy="461665"/>
            </a:xfrm>
            <a:prstGeom prst="rect">
              <a:avLst/>
            </a:prstGeom>
          </p:spPr>
          <p:txBody>
            <a:bodyPr wrap="none">
              <a:spAutoFit/>
            </a:bodyPr>
            <a:lstStyle/>
            <a:p>
              <a:r>
                <a:rPr lang="en-US" altLang="zh-CN" sz="2400" dirty="0">
                  <a:latin typeface="Arial" panose="020B0604020202020204" pitchFamily="34" charset="0"/>
                  <a:cs typeface="Arial" panose="020B0604020202020204" pitchFamily="34" charset="0"/>
                </a:rPr>
                <a:t>…</a:t>
              </a:r>
              <a:endParaRPr lang="zh-CN" altLang="en-US" sz="2400" dirty="0">
                <a:latin typeface="Arial" panose="020B0604020202020204" pitchFamily="34" charset="0"/>
                <a:cs typeface="Arial" panose="020B0604020202020204" pitchFamily="34" charset="0"/>
              </a:endParaRPr>
            </a:p>
          </p:txBody>
        </p:sp>
        <p:sp>
          <p:nvSpPr>
            <p:cNvPr id="34" name="矩形 33"/>
            <p:cNvSpPr/>
            <p:nvPr/>
          </p:nvSpPr>
          <p:spPr>
            <a:xfrm>
              <a:off x="9178209" y="1820230"/>
              <a:ext cx="452368" cy="461665"/>
            </a:xfrm>
            <a:prstGeom prst="rect">
              <a:avLst/>
            </a:prstGeom>
          </p:spPr>
          <p:txBody>
            <a:bodyPr wrap="none">
              <a:spAutoFit/>
            </a:bodyPr>
            <a:lstStyle/>
            <a:p>
              <a:r>
                <a:rPr lang="en-US" altLang="zh-CN" sz="2400" dirty="0">
                  <a:latin typeface="Arial" panose="020B0604020202020204" pitchFamily="34" charset="0"/>
                  <a:cs typeface="Arial" panose="020B0604020202020204" pitchFamily="34" charset="0"/>
                </a:rPr>
                <a:t>x</a:t>
              </a:r>
              <a:r>
                <a:rPr lang="en-US" altLang="zh-CN" sz="2400" baseline="-25000" dirty="0">
                  <a:latin typeface="Arial" panose="020B0604020202020204" pitchFamily="34" charset="0"/>
                  <a:cs typeface="Arial" panose="020B0604020202020204" pitchFamily="34" charset="0"/>
                </a:rPr>
                <a:t>1</a:t>
              </a:r>
              <a:endParaRPr lang="zh-CN" altLang="en-US" sz="2400" dirty="0">
                <a:latin typeface="Arial" panose="020B0604020202020204" pitchFamily="34" charset="0"/>
                <a:cs typeface="Arial" panose="020B0604020202020204" pitchFamily="34" charset="0"/>
              </a:endParaRPr>
            </a:p>
          </p:txBody>
        </p:sp>
        <p:cxnSp>
          <p:nvCxnSpPr>
            <p:cNvPr id="36" name="直接箭头连接符 35"/>
            <p:cNvCxnSpPr>
              <a:stCxn id="25" idx="4"/>
              <a:endCxn id="27" idx="0"/>
            </p:cNvCxnSpPr>
            <p:nvPr/>
          </p:nvCxnSpPr>
          <p:spPr>
            <a:xfrm flipH="1">
              <a:off x="9169470" y="4209292"/>
              <a:ext cx="387630" cy="63527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8969677" y="4181849"/>
              <a:ext cx="383438" cy="461665"/>
            </a:xfrm>
            <a:prstGeom prst="rect">
              <a:avLst/>
            </a:prstGeom>
          </p:spPr>
          <p:txBody>
            <a:bodyPr wrap="none">
              <a:spAutoFit/>
            </a:bodyPr>
            <a:lstStyle/>
            <a:p>
              <a:r>
                <a:rPr lang="en-US" altLang="zh-CN" sz="2400" dirty="0">
                  <a:solidFill>
                    <a:srgbClr val="FF0000"/>
                  </a:solidFill>
                  <a:latin typeface="Arial" panose="020B0604020202020204" pitchFamily="34" charset="0"/>
                  <a:cs typeface="Arial" panose="020B0604020202020204" pitchFamily="34" charset="0"/>
                </a:rPr>
                <a:t>x</a:t>
              </a:r>
              <a:r>
                <a:rPr lang="en-US" altLang="zh-CN" sz="2400" baseline="-25000" dirty="0">
                  <a:solidFill>
                    <a:srgbClr val="FF0000"/>
                  </a:solidFill>
                  <a:latin typeface="Arial" panose="020B0604020202020204" pitchFamily="34" charset="0"/>
                  <a:cs typeface="Arial" panose="020B0604020202020204" pitchFamily="34" charset="0"/>
                </a:rPr>
                <a:t>i</a:t>
              </a:r>
              <a:endParaRPr lang="zh-CN" altLang="en-US" sz="2400" dirty="0">
                <a:solidFill>
                  <a:srgbClr val="FF0000"/>
                </a:solidFill>
                <a:latin typeface="Arial" panose="020B0604020202020204" pitchFamily="34" charset="0"/>
                <a:cs typeface="Arial" panose="020B0604020202020204" pitchFamily="34" charset="0"/>
              </a:endParaRPr>
            </a:p>
          </p:txBody>
        </p:sp>
        <p:sp>
          <p:nvSpPr>
            <p:cNvPr id="19" name="矩形 18"/>
            <p:cNvSpPr/>
            <p:nvPr/>
          </p:nvSpPr>
          <p:spPr>
            <a:xfrm>
              <a:off x="9090215" y="3143579"/>
              <a:ext cx="577402" cy="461665"/>
            </a:xfrm>
            <a:prstGeom prst="rect">
              <a:avLst/>
            </a:prstGeom>
          </p:spPr>
          <p:txBody>
            <a:bodyPr wrap="none">
              <a:spAutoFit/>
            </a:bodyPr>
            <a:lstStyle/>
            <a:p>
              <a:r>
                <a:rPr kumimoji="1" lang="en-US" altLang="zh-CN" sz="2400" dirty="0">
                  <a:latin typeface="Arial" panose="020B0604020202020204" pitchFamily="34" charset="0"/>
                  <a:cs typeface="Arial" panose="020B0604020202020204" pitchFamily="34" charset="0"/>
                </a:rPr>
                <a:t>x</a:t>
              </a:r>
              <a:r>
                <a:rPr kumimoji="1" lang="en-US" altLang="zh-CN" sz="2400" baseline="-25000" dirty="0">
                  <a:latin typeface="Arial" panose="020B0604020202020204" pitchFamily="34" charset="0"/>
                  <a:cs typeface="Arial" panose="020B0604020202020204" pitchFamily="34" charset="0"/>
                </a:rPr>
                <a:t>i-1</a:t>
              </a:r>
              <a:endParaRPr lang="zh-CN" altLang="en-US" sz="2400" dirty="0">
                <a:latin typeface="Arial" panose="020B0604020202020204" pitchFamily="34" charset="0"/>
                <a:cs typeface="Arial" panose="020B0604020202020204" pitchFamily="34" charset="0"/>
              </a:endParaRPr>
            </a:p>
          </p:txBody>
        </p:sp>
        <p:sp>
          <p:nvSpPr>
            <p:cNvPr id="46" name="椭圆 45"/>
            <p:cNvSpPr/>
            <p:nvPr/>
          </p:nvSpPr>
          <p:spPr>
            <a:xfrm>
              <a:off x="9922206" y="4847385"/>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箭头连接符 46"/>
            <p:cNvCxnSpPr>
              <a:stCxn id="25" idx="4"/>
              <a:endCxn id="46" idx="0"/>
            </p:cNvCxnSpPr>
            <p:nvPr/>
          </p:nvCxnSpPr>
          <p:spPr>
            <a:xfrm>
              <a:off x="9557100" y="4209292"/>
              <a:ext cx="474234" cy="6380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9334906" y="4418034"/>
              <a:ext cx="492443" cy="461665"/>
            </a:xfrm>
            <a:prstGeom prst="rect">
              <a:avLst/>
            </a:prstGeom>
          </p:spPr>
          <p:txBody>
            <a:bodyPr wrap="none">
              <a:spAutoFit/>
            </a:bodyPr>
            <a:lstStyle/>
            <a:p>
              <a:r>
                <a:rPr lang="en-US" altLang="zh-CN" sz="2400" dirty="0">
                  <a:latin typeface="Arial" panose="020B0604020202020204" pitchFamily="34" charset="0"/>
                  <a:cs typeface="Arial" panose="020B0604020202020204" pitchFamily="34" charset="0"/>
                </a:rPr>
                <a:t>…</a:t>
              </a:r>
              <a:endParaRPr lang="zh-CN" altLang="en-US" sz="24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348355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400" y="44624"/>
            <a:ext cx="10515600" cy="1325563"/>
          </a:xfrm>
        </p:spPr>
        <p:txBody>
          <a:bodyPr/>
          <a:lstStyle/>
          <a:p>
            <a:r>
              <a:rPr lang="zh-CN" altLang="en-US" dirty="0"/>
              <a:t>算法</a:t>
            </a:r>
            <a:r>
              <a:rPr lang="en-US" altLang="zh-CN" dirty="0"/>
              <a:t>7.1 </a:t>
            </a:r>
            <a:r>
              <a:rPr lang="zh-CN" altLang="en-US" dirty="0"/>
              <a:t>回溯法的非递归算法</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19</a:t>
            </a:fld>
            <a:endParaRPr lang="en-US" altLang="zh-CN"/>
          </a:p>
        </p:txBody>
      </p:sp>
      <p:sp>
        <p:nvSpPr>
          <p:cNvPr id="5" name="Text Box 4"/>
          <p:cNvSpPr txBox="1">
            <a:spLocks noChangeArrowheads="1"/>
          </p:cNvSpPr>
          <p:nvPr/>
        </p:nvSpPr>
        <p:spPr bwMode="auto">
          <a:xfrm>
            <a:off x="839416" y="1370187"/>
            <a:ext cx="8382000" cy="5135894"/>
          </a:xfrm>
          <a:prstGeom prst="rect">
            <a:avLst/>
          </a:prstGeom>
          <a:noFill/>
          <a:ln w="12700">
            <a:solidFill>
              <a:schemeClr val="tx2"/>
            </a:solidFill>
            <a:miter lim="800000"/>
            <a:headEnd/>
            <a:tailEnd/>
          </a:ln>
          <a:effec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5000"/>
              </a:lnSpc>
              <a:spcBef>
                <a:spcPct val="5000"/>
              </a:spcBef>
            </a:pPr>
            <a:r>
              <a:rPr kumimoji="1" lang="en-US" altLang="zh-CN" sz="2400" dirty="0">
                <a:cs typeface="Arial" panose="020B0604020202020204" pitchFamily="34" charset="0"/>
              </a:rPr>
              <a:t>procedure  BACKTRACK(n)</a:t>
            </a:r>
          </a:p>
          <a:p>
            <a:pPr eaLnBrk="1" hangingPunct="1">
              <a:lnSpc>
                <a:spcPct val="85000"/>
              </a:lnSpc>
              <a:spcBef>
                <a:spcPct val="5000"/>
              </a:spcBef>
            </a:pPr>
            <a:r>
              <a:rPr kumimoji="1" lang="en-US" altLang="zh-CN" sz="2400" dirty="0">
                <a:cs typeface="Arial" panose="020B0604020202020204" pitchFamily="34" charset="0"/>
              </a:rPr>
              <a:t>    </a:t>
            </a:r>
            <a:r>
              <a:rPr kumimoji="1" lang="en-US" altLang="zh-CN" sz="2400" dirty="0" err="1">
                <a:cs typeface="Arial" panose="020B0604020202020204" pitchFamily="34" charset="0"/>
              </a:rPr>
              <a:t>int</a:t>
            </a:r>
            <a:r>
              <a:rPr kumimoji="1" lang="en-US" altLang="zh-CN" sz="2400" dirty="0">
                <a:cs typeface="Arial" panose="020B0604020202020204" pitchFamily="34" charset="0"/>
              </a:rPr>
              <a:t>  k, n     </a:t>
            </a:r>
          </a:p>
          <a:p>
            <a:pPr eaLnBrk="1" hangingPunct="1">
              <a:lnSpc>
                <a:spcPct val="85000"/>
              </a:lnSpc>
              <a:spcBef>
                <a:spcPct val="5000"/>
              </a:spcBef>
            </a:pPr>
            <a:r>
              <a:rPr kumimoji="1" lang="en-US" altLang="zh-CN" sz="2400" dirty="0">
                <a:cs typeface="Arial" panose="020B0604020202020204" pitchFamily="34" charset="0"/>
              </a:rPr>
              <a:t>    local  X(1: n)</a:t>
            </a:r>
          </a:p>
          <a:p>
            <a:pPr eaLnBrk="1" hangingPunct="1">
              <a:lnSpc>
                <a:spcPct val="85000"/>
              </a:lnSpc>
              <a:spcBef>
                <a:spcPct val="5000"/>
              </a:spcBef>
            </a:pPr>
            <a:r>
              <a:rPr kumimoji="1" lang="en-US" altLang="zh-CN" sz="2400" dirty="0">
                <a:cs typeface="Arial" panose="020B0604020202020204" pitchFamily="34" charset="0"/>
              </a:rPr>
              <a:t>    k </a:t>
            </a:r>
            <a:r>
              <a:rPr kumimoji="1" lang="en-US" altLang="zh-CN" sz="2400" dirty="0">
                <a:cs typeface="Arial" panose="020B0604020202020204" pitchFamily="34" charset="0"/>
                <a:sym typeface="Wingdings" pitchFamily="2" charset="2"/>
              </a:rPr>
              <a:t>←</a:t>
            </a:r>
            <a:r>
              <a:rPr kumimoji="1" lang="en-US" altLang="zh-CN" sz="2400" dirty="0">
                <a:cs typeface="Arial" panose="020B0604020202020204" pitchFamily="34" charset="0"/>
              </a:rPr>
              <a:t> 1</a:t>
            </a:r>
          </a:p>
          <a:p>
            <a:pPr eaLnBrk="1" hangingPunct="1">
              <a:lnSpc>
                <a:spcPct val="85000"/>
              </a:lnSpc>
              <a:spcBef>
                <a:spcPct val="5000"/>
              </a:spcBef>
            </a:pPr>
            <a:r>
              <a:rPr kumimoji="1" lang="en-US" altLang="zh-CN" sz="2400" dirty="0">
                <a:cs typeface="Arial" panose="020B0604020202020204" pitchFamily="34" charset="0"/>
              </a:rPr>
              <a:t>    while (k&gt;0) do</a:t>
            </a:r>
          </a:p>
          <a:p>
            <a:pPr eaLnBrk="1" hangingPunct="1">
              <a:lnSpc>
                <a:spcPct val="85000"/>
              </a:lnSpc>
              <a:spcBef>
                <a:spcPct val="15000"/>
              </a:spcBef>
            </a:pPr>
            <a:r>
              <a:rPr kumimoji="1" lang="en-US" altLang="zh-CN" sz="2400" dirty="0">
                <a:cs typeface="Arial" panose="020B0604020202020204" pitchFamily="34" charset="0"/>
              </a:rPr>
              <a:t>        if  </a:t>
            </a:r>
            <a:r>
              <a:rPr kumimoji="1" lang="en-US" altLang="zh-CN" sz="2400" dirty="0">
                <a:ea typeface="幼圆" panose="02010509060101010101" pitchFamily="49" charset="-122"/>
                <a:cs typeface="Arial" panose="020B0604020202020204" pitchFamily="34" charset="0"/>
              </a:rPr>
              <a:t>(</a:t>
            </a:r>
            <a:r>
              <a:rPr kumimoji="1" lang="zh-CN" altLang="en-US" sz="2400" dirty="0">
                <a:ea typeface="幼圆" panose="02010509060101010101" pitchFamily="49" charset="-122"/>
                <a:cs typeface="Arial" panose="020B0604020202020204" pitchFamily="34" charset="0"/>
              </a:rPr>
              <a:t>还剩有没检验的</a:t>
            </a:r>
            <a:r>
              <a:rPr kumimoji="1" lang="en-US" altLang="zh-CN" sz="2400" dirty="0">
                <a:ea typeface="幼圆" panose="02010509060101010101" pitchFamily="49" charset="-122"/>
                <a:cs typeface="Arial" panose="020B0604020202020204" pitchFamily="34" charset="0"/>
              </a:rPr>
              <a:t>X(k)</a:t>
            </a:r>
            <a:r>
              <a:rPr kumimoji="1" lang="zh-CN" altLang="en-US" sz="2400" dirty="0">
                <a:ea typeface="幼圆" panose="02010509060101010101" pitchFamily="49" charset="-122"/>
                <a:cs typeface="Arial" panose="020B0604020202020204" pitchFamily="34" charset="0"/>
              </a:rPr>
              <a:t>使得</a:t>
            </a:r>
            <a:r>
              <a:rPr kumimoji="1" lang="en-US" altLang="zh-CN" sz="2400" dirty="0">
                <a:ea typeface="幼圆" panose="02010509060101010101" pitchFamily="49" charset="-122"/>
                <a:cs typeface="Arial" panose="020B0604020202020204" pitchFamily="34" charset="0"/>
              </a:rPr>
              <a:t>X(k)∈T(X(1)…X(k-1)) </a:t>
            </a:r>
          </a:p>
          <a:p>
            <a:pPr eaLnBrk="1" hangingPunct="1">
              <a:lnSpc>
                <a:spcPct val="85000"/>
              </a:lnSpc>
              <a:spcBef>
                <a:spcPct val="15000"/>
              </a:spcBef>
            </a:pPr>
            <a:r>
              <a:rPr kumimoji="1" lang="en-US" altLang="zh-CN" sz="2400" dirty="0">
                <a:ea typeface="幼圆" panose="02010509060101010101" pitchFamily="49" charset="-122"/>
                <a:cs typeface="Arial" panose="020B0604020202020204" pitchFamily="34" charset="0"/>
              </a:rPr>
              <a:t>               and B(X(1)…X(k))=TRUE)  </a:t>
            </a:r>
          </a:p>
          <a:p>
            <a:pPr eaLnBrk="1" hangingPunct="1">
              <a:lnSpc>
                <a:spcPct val="85000"/>
              </a:lnSpc>
              <a:spcBef>
                <a:spcPct val="5000"/>
              </a:spcBef>
            </a:pPr>
            <a:r>
              <a:rPr kumimoji="1" lang="en-US" altLang="zh-CN" sz="2400" dirty="0">
                <a:cs typeface="Arial" panose="020B0604020202020204" pitchFamily="34" charset="0"/>
              </a:rPr>
              <a:t>        </a:t>
            </a:r>
            <a:r>
              <a:rPr kumimoji="1" lang="en-US" altLang="zh-CN" sz="2400" dirty="0">
                <a:ea typeface="幼圆" panose="02010509060101010101" pitchFamily="49" charset="-122"/>
                <a:cs typeface="Arial" panose="020B0604020202020204" pitchFamily="34" charset="0"/>
              </a:rPr>
              <a:t>then if (X(1) …X(k))</a:t>
            </a:r>
            <a:r>
              <a:rPr kumimoji="1" lang="zh-CN" altLang="en-US" sz="2400" dirty="0">
                <a:ea typeface="幼圆" panose="02010509060101010101" pitchFamily="49" charset="-122"/>
                <a:cs typeface="Arial" panose="020B0604020202020204" pitchFamily="34" charset="0"/>
              </a:rPr>
              <a:t>是一条抵达答案结点的路径</a:t>
            </a:r>
            <a:r>
              <a:rPr kumimoji="1" lang="en-US" altLang="zh-CN" sz="2400" dirty="0">
                <a:ea typeface="幼圆" panose="02010509060101010101" pitchFamily="49" charset="-122"/>
                <a:cs typeface="Arial" panose="020B0604020202020204" pitchFamily="34" charset="0"/>
              </a:rPr>
              <a:t>) </a:t>
            </a:r>
          </a:p>
          <a:p>
            <a:pPr eaLnBrk="1" hangingPunct="1">
              <a:lnSpc>
                <a:spcPct val="85000"/>
              </a:lnSpc>
              <a:spcBef>
                <a:spcPct val="5000"/>
              </a:spcBef>
            </a:pPr>
            <a:r>
              <a:rPr kumimoji="1" lang="en-US" altLang="zh-CN" sz="2400" dirty="0">
                <a:ea typeface="幼圆" panose="02010509060101010101" pitchFamily="49" charset="-122"/>
                <a:cs typeface="Arial" panose="020B0604020202020204" pitchFamily="34" charset="0"/>
              </a:rPr>
              <a:t>                 then print ( X(1)…X(k))</a:t>
            </a:r>
          </a:p>
          <a:p>
            <a:pPr eaLnBrk="1" hangingPunct="1">
              <a:lnSpc>
                <a:spcPct val="85000"/>
              </a:lnSpc>
              <a:spcBef>
                <a:spcPct val="5000"/>
              </a:spcBef>
            </a:pPr>
            <a:r>
              <a:rPr kumimoji="1" lang="en-US" altLang="zh-CN" sz="2400" dirty="0">
                <a:ea typeface="幼圆" panose="02010509060101010101" pitchFamily="49" charset="-122"/>
                <a:cs typeface="Arial" panose="020B0604020202020204" pitchFamily="34" charset="0"/>
              </a:rPr>
              <a:t>                 endif</a:t>
            </a:r>
          </a:p>
          <a:p>
            <a:pPr eaLnBrk="1" hangingPunct="1">
              <a:lnSpc>
                <a:spcPct val="85000"/>
              </a:lnSpc>
              <a:spcBef>
                <a:spcPct val="5000"/>
              </a:spcBef>
            </a:pPr>
            <a:r>
              <a:rPr kumimoji="1" lang="en-US" altLang="zh-CN" sz="2400" dirty="0">
                <a:solidFill>
                  <a:srgbClr val="FF0000"/>
                </a:solidFill>
                <a:cs typeface="Arial" panose="020B0604020202020204" pitchFamily="34" charset="0"/>
              </a:rPr>
              <a:t>                 k </a:t>
            </a:r>
            <a:r>
              <a:rPr kumimoji="1" lang="en-US" altLang="zh-CN" sz="2400" dirty="0">
                <a:solidFill>
                  <a:srgbClr val="FF0000"/>
                </a:solidFill>
                <a:cs typeface="Arial" panose="020B0604020202020204" pitchFamily="34" charset="0"/>
                <a:sym typeface="Wingdings" pitchFamily="2" charset="2"/>
              </a:rPr>
              <a:t>←</a:t>
            </a:r>
            <a:r>
              <a:rPr kumimoji="1" lang="en-US" altLang="zh-CN" sz="2400" dirty="0">
                <a:solidFill>
                  <a:srgbClr val="FF0000"/>
                </a:solidFill>
                <a:cs typeface="Arial" panose="020B0604020202020204" pitchFamily="34" charset="0"/>
              </a:rPr>
              <a:t> k+1</a:t>
            </a:r>
          </a:p>
          <a:p>
            <a:pPr eaLnBrk="1" hangingPunct="1">
              <a:lnSpc>
                <a:spcPct val="85000"/>
              </a:lnSpc>
              <a:spcBef>
                <a:spcPct val="5000"/>
              </a:spcBef>
            </a:pPr>
            <a:r>
              <a:rPr kumimoji="1" lang="en-US" altLang="zh-CN" sz="2400" dirty="0">
                <a:cs typeface="Arial" panose="020B0604020202020204" pitchFamily="34" charset="0"/>
              </a:rPr>
              <a:t>        else   </a:t>
            </a:r>
            <a:r>
              <a:rPr kumimoji="1" lang="en-US" altLang="zh-CN" sz="2400" dirty="0">
                <a:solidFill>
                  <a:srgbClr val="FF0000"/>
                </a:solidFill>
                <a:cs typeface="Arial" panose="020B0604020202020204" pitchFamily="34" charset="0"/>
              </a:rPr>
              <a:t>k </a:t>
            </a:r>
            <a:r>
              <a:rPr kumimoji="1" lang="en-US" altLang="zh-CN" sz="2400" dirty="0">
                <a:solidFill>
                  <a:srgbClr val="FF0000"/>
                </a:solidFill>
                <a:cs typeface="Arial" panose="020B0604020202020204" pitchFamily="34" charset="0"/>
                <a:sym typeface="Wingdings" pitchFamily="2" charset="2"/>
              </a:rPr>
              <a:t>←</a:t>
            </a:r>
            <a:r>
              <a:rPr kumimoji="1" lang="en-US" altLang="zh-CN" sz="2400" dirty="0">
                <a:solidFill>
                  <a:srgbClr val="FF0000"/>
                </a:solidFill>
                <a:cs typeface="Arial" panose="020B0604020202020204" pitchFamily="34" charset="0"/>
              </a:rPr>
              <a:t> k-1</a:t>
            </a:r>
          </a:p>
          <a:p>
            <a:pPr eaLnBrk="1" hangingPunct="1">
              <a:lnSpc>
                <a:spcPct val="85000"/>
              </a:lnSpc>
              <a:spcBef>
                <a:spcPct val="5000"/>
              </a:spcBef>
            </a:pPr>
            <a:r>
              <a:rPr kumimoji="1" lang="en-US" altLang="zh-CN" sz="2400" dirty="0">
                <a:cs typeface="Arial" panose="020B0604020202020204" pitchFamily="34" charset="0"/>
              </a:rPr>
              <a:t>        </a:t>
            </a:r>
            <a:r>
              <a:rPr kumimoji="1" lang="en-US" altLang="zh-CN" sz="2400" dirty="0" err="1">
                <a:cs typeface="Arial" panose="020B0604020202020204" pitchFamily="34" charset="0"/>
              </a:rPr>
              <a:t>endif</a:t>
            </a:r>
            <a:endParaRPr kumimoji="1" lang="en-US" altLang="zh-CN" sz="2400" dirty="0">
              <a:cs typeface="Arial" panose="020B0604020202020204" pitchFamily="34" charset="0"/>
            </a:endParaRPr>
          </a:p>
          <a:p>
            <a:pPr eaLnBrk="1" hangingPunct="1">
              <a:lnSpc>
                <a:spcPct val="85000"/>
              </a:lnSpc>
              <a:spcBef>
                <a:spcPct val="5000"/>
              </a:spcBef>
            </a:pPr>
            <a:r>
              <a:rPr kumimoji="1" lang="en-US" altLang="zh-CN" sz="2400" dirty="0">
                <a:cs typeface="Arial" panose="020B0604020202020204" pitchFamily="34" charset="0"/>
              </a:rPr>
              <a:t>    repeat</a:t>
            </a:r>
          </a:p>
          <a:p>
            <a:pPr eaLnBrk="1" hangingPunct="1">
              <a:lnSpc>
                <a:spcPct val="85000"/>
              </a:lnSpc>
              <a:spcBef>
                <a:spcPct val="5000"/>
              </a:spcBef>
            </a:pPr>
            <a:r>
              <a:rPr kumimoji="1" lang="en-US" altLang="zh-CN" sz="2400" dirty="0">
                <a:cs typeface="Arial" panose="020B0604020202020204" pitchFamily="34" charset="0"/>
              </a:rPr>
              <a:t>end  BACKTRACK</a:t>
            </a:r>
          </a:p>
        </p:txBody>
      </p:sp>
    </p:spTree>
    <p:extLst>
      <p:ext uri="{BB962C8B-B14F-4D97-AF65-F5344CB8AC3E}">
        <p14:creationId xmlns:p14="http://schemas.microsoft.com/office/powerpoint/2010/main" val="2141793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a:t>
            </a:r>
            <a:r>
              <a:rPr lang="en-US" altLang="zh-CN" dirty="0"/>
              <a:t>7.2 </a:t>
            </a:r>
            <a:r>
              <a:rPr lang="zh-CN" altLang="en-US" dirty="0"/>
              <a:t>回溯法的递归算法</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20</a:t>
            </a:fld>
            <a:endParaRPr lang="en-US" altLang="zh-CN"/>
          </a:p>
        </p:txBody>
      </p:sp>
      <p:sp>
        <p:nvSpPr>
          <p:cNvPr id="6" name="Rectangle 4"/>
          <p:cNvSpPr>
            <a:spLocks noChangeArrowheads="1"/>
          </p:cNvSpPr>
          <p:nvPr/>
        </p:nvSpPr>
        <p:spPr bwMode="auto">
          <a:xfrm>
            <a:off x="838200" y="1863725"/>
            <a:ext cx="9650288" cy="48577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lstStyle/>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procedure  RBACKTRACK(k)</a:t>
            </a:r>
          </a:p>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global   X(1:n);  </a:t>
            </a:r>
          </a:p>
          <a:p>
            <a:pPr marL="342900" indent="-342900">
              <a:lnSpc>
                <a:spcPct val="90000"/>
              </a:lnSpc>
              <a:spcBef>
                <a:spcPct val="20000"/>
              </a:spcBef>
              <a:buClr>
                <a:srgbClr val="A50021"/>
              </a:buClr>
              <a:buSzPct val="75000"/>
            </a:pPr>
            <a:r>
              <a:rPr kumimoji="1" lang="en-US" altLang="zh-CN" sz="2400" dirty="0" err="1">
                <a:latin typeface="Arial" panose="020B0604020202020204" pitchFamily="34" charset="0"/>
                <a:ea typeface="幼圆" panose="02010509060101010101" pitchFamily="49" charset="-122"/>
                <a:cs typeface="Arial" panose="020B0604020202020204" pitchFamily="34" charset="0"/>
              </a:rPr>
              <a:t>int</a:t>
            </a:r>
            <a:r>
              <a:rPr kumimoji="1" lang="en-US" altLang="zh-CN" sz="2400" dirty="0">
                <a:latin typeface="Arial" panose="020B0604020202020204" pitchFamily="34" charset="0"/>
                <a:ea typeface="幼圆" panose="02010509060101010101" pitchFamily="49" charset="-122"/>
                <a:cs typeface="Arial" panose="020B0604020202020204" pitchFamily="34" charset="0"/>
              </a:rPr>
              <a:t>  k, n;</a:t>
            </a:r>
          </a:p>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for  ( </a:t>
            </a:r>
            <a:r>
              <a:rPr kumimoji="1" lang="zh-CN" altLang="en-US" sz="2400" dirty="0">
                <a:latin typeface="Arial" panose="020B0604020202020204" pitchFamily="34" charset="0"/>
                <a:ea typeface="幼圆" panose="02010509060101010101" pitchFamily="49" charset="-122"/>
                <a:cs typeface="Arial" panose="020B0604020202020204" pitchFamily="34" charset="0"/>
              </a:rPr>
              <a:t>满足下式的每个</a:t>
            </a:r>
            <a:r>
              <a:rPr kumimoji="1" lang="en-US" altLang="zh-CN" sz="2400" dirty="0">
                <a:latin typeface="Arial" panose="020B0604020202020204" pitchFamily="34" charset="0"/>
                <a:ea typeface="幼圆" panose="02010509060101010101" pitchFamily="49" charset="-122"/>
                <a:cs typeface="Arial" panose="020B0604020202020204" pitchFamily="34" charset="0"/>
              </a:rPr>
              <a:t>X(k), X(k) ∈T(X(1)…X(k-1))   </a:t>
            </a:r>
          </a:p>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         and  B(X(1),…X(k))=true)  do</a:t>
            </a:r>
          </a:p>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    if (X(1),…,X(k))</a:t>
            </a:r>
            <a:r>
              <a:rPr kumimoji="1" lang="zh-CN" altLang="en-US" sz="2400" dirty="0">
                <a:latin typeface="Arial" panose="020B0604020202020204" pitchFamily="34" charset="0"/>
                <a:ea typeface="幼圆" panose="02010509060101010101" pitchFamily="49" charset="-122"/>
                <a:cs typeface="Arial" panose="020B0604020202020204" pitchFamily="34" charset="0"/>
              </a:rPr>
              <a:t>是一条抵达答案结点的路径  </a:t>
            </a:r>
            <a:r>
              <a:rPr kumimoji="1" lang="en-US" altLang="zh-CN" sz="2400" dirty="0">
                <a:latin typeface="Arial" panose="020B0604020202020204" pitchFamily="34" charset="0"/>
                <a:ea typeface="幼圆" panose="02010509060101010101" pitchFamily="49" charset="-122"/>
                <a:cs typeface="Arial" panose="020B0604020202020204" pitchFamily="34" charset="0"/>
              </a:rPr>
              <a:t>then    </a:t>
            </a:r>
          </a:p>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             print (X(1)…X(k)) endif</a:t>
            </a:r>
          </a:p>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	  call  RBACKTRACK(k+1) </a:t>
            </a:r>
            <a:r>
              <a:rPr kumimoji="1" lang="en-US" altLang="zh-CN" sz="2400" u="sng" dirty="0">
                <a:latin typeface="Arial" panose="020B0604020202020204" pitchFamily="34" charset="0"/>
                <a:ea typeface="幼圆" panose="02010509060101010101" pitchFamily="49" charset="-122"/>
                <a:cs typeface="Arial" panose="020B0604020202020204" pitchFamily="34" charset="0"/>
              </a:rPr>
              <a:t> </a:t>
            </a:r>
          </a:p>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   repeat</a:t>
            </a:r>
          </a:p>
          <a:p>
            <a:pPr marL="342900" indent="-342900">
              <a:lnSpc>
                <a:spcPct val="90000"/>
              </a:lnSpc>
              <a:spcBef>
                <a:spcPct val="20000"/>
              </a:spcBef>
              <a:buClr>
                <a:srgbClr val="A50021"/>
              </a:buClr>
              <a:buSzPct val="75000"/>
            </a:pPr>
            <a:r>
              <a:rPr kumimoji="1" lang="en-US" altLang="zh-CN" sz="2400" dirty="0">
                <a:latin typeface="Arial" panose="020B0604020202020204" pitchFamily="34" charset="0"/>
                <a:ea typeface="幼圆" panose="02010509060101010101" pitchFamily="49" charset="-122"/>
                <a:cs typeface="Arial" panose="020B0604020202020204" pitchFamily="34" charset="0"/>
              </a:rPr>
              <a:t>end  RBACKTRACK </a:t>
            </a:r>
          </a:p>
        </p:txBody>
      </p:sp>
      <p:sp>
        <p:nvSpPr>
          <p:cNvPr id="7" name="圆角矩形标注 6"/>
          <p:cNvSpPr/>
          <p:nvPr/>
        </p:nvSpPr>
        <p:spPr>
          <a:xfrm>
            <a:off x="5591944" y="1988840"/>
            <a:ext cx="4608512" cy="866650"/>
          </a:xfrm>
          <a:prstGeom prst="wedgeRoundRectCallout">
            <a:avLst>
              <a:gd name="adj1" fmla="val -43449"/>
              <a:gd name="adj2" fmla="val 63881"/>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进入算法时</a:t>
            </a:r>
            <a:r>
              <a:rPr kumimoji="1"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 </a:t>
            </a:r>
            <a:r>
              <a:rPr kumimoji="1"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解向量</a:t>
            </a:r>
            <a:r>
              <a:rPr kumimoji="1"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X</a:t>
            </a:r>
            <a:r>
              <a:rPr kumimoji="1"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中的前</a:t>
            </a:r>
            <a:r>
              <a:rPr kumimoji="1"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k-1</a:t>
            </a:r>
            <a:r>
              <a:rPr kumimoji="1"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个分量</a:t>
            </a:r>
            <a:r>
              <a:rPr kumimoji="1"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X(1) …X(k-1)</a:t>
            </a:r>
            <a:r>
              <a:rPr kumimoji="1"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已经被赋值</a:t>
            </a:r>
          </a:p>
        </p:txBody>
      </p:sp>
    </p:spTree>
    <p:extLst>
      <p:ext uri="{BB962C8B-B14F-4D97-AF65-F5344CB8AC3E}">
        <p14:creationId xmlns:p14="http://schemas.microsoft.com/office/powerpoint/2010/main" val="267540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a:t>
            </a:r>
            <a:r>
              <a:rPr lang="zh-CN" altLang="en-US" dirty="0"/>
              <a:t>回溯法的效率分析</a:t>
            </a:r>
          </a:p>
        </p:txBody>
      </p:sp>
      <p:sp>
        <p:nvSpPr>
          <p:cNvPr id="3" name="内容占位符 2"/>
          <p:cNvSpPr>
            <a:spLocks noGrp="1"/>
          </p:cNvSpPr>
          <p:nvPr>
            <p:ph idx="1"/>
          </p:nvPr>
        </p:nvSpPr>
        <p:spPr/>
        <p:txBody>
          <a:bodyPr/>
          <a:lstStyle/>
          <a:p>
            <a:pPr>
              <a:spcBef>
                <a:spcPts val="600"/>
              </a:spcBef>
            </a:pPr>
            <a:r>
              <a:rPr kumimoji="1" lang="zh-CN" altLang="en-US" dirty="0"/>
              <a:t>决定回溯法效率的因素</a:t>
            </a:r>
            <a:endParaRPr kumimoji="1" lang="en-US" altLang="zh-CN" dirty="0"/>
          </a:p>
          <a:p>
            <a:pPr>
              <a:spcBef>
                <a:spcPts val="600"/>
              </a:spcBef>
            </a:pPr>
            <a:r>
              <a:rPr kumimoji="1" lang="zh-CN" altLang="en-US" dirty="0"/>
              <a:t>回溯法的效率估计</a:t>
            </a:r>
            <a:endParaRPr kumimoji="1" lang="en-US" altLang="zh-CN" dirty="0"/>
          </a:p>
          <a:p>
            <a:pPr>
              <a:spcBef>
                <a:spcPts val="600"/>
              </a:spcBef>
            </a:pPr>
            <a:r>
              <a:rPr lang="zh-CN" altLang="en-US" dirty="0"/>
              <a:t>蒙特卡罗方法的一般思想</a:t>
            </a:r>
            <a:endParaRPr lang="en-US" altLang="zh-CN" dirty="0"/>
          </a:p>
          <a:p>
            <a:pPr>
              <a:spcBef>
                <a:spcPts val="600"/>
              </a:spcBef>
            </a:pPr>
            <a:r>
              <a:rPr lang="zh-CN" altLang="en-US" dirty="0"/>
              <a:t>算法</a:t>
            </a:r>
            <a:r>
              <a:rPr lang="en-US" altLang="zh-CN" dirty="0"/>
              <a:t>7.3 </a:t>
            </a:r>
            <a:r>
              <a:rPr lang="zh-CN" altLang="en-US" dirty="0"/>
              <a:t>效率估计算法</a:t>
            </a:r>
            <a:endParaRPr lang="en-US" altLang="zh-CN" dirty="0"/>
          </a:p>
          <a:p>
            <a:pPr>
              <a:spcBef>
                <a:spcPts val="600"/>
              </a:spcBef>
            </a:pPr>
            <a:r>
              <a:rPr lang="zh-CN" altLang="en-US" dirty="0"/>
              <a:t>蒙特卡罗方法的特点</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21</a:t>
            </a:fld>
            <a:endParaRPr lang="en-US" altLang="zh-CN"/>
          </a:p>
        </p:txBody>
      </p:sp>
    </p:spTree>
    <p:extLst>
      <p:ext uri="{BB962C8B-B14F-4D97-AF65-F5344CB8AC3E}">
        <p14:creationId xmlns:p14="http://schemas.microsoft.com/office/powerpoint/2010/main" val="2492146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决定回溯法效率的因素</a:t>
            </a:r>
            <a:endParaRPr lang="zh-CN" altLang="en-US" dirty="0"/>
          </a:p>
        </p:txBody>
      </p:sp>
      <p:sp>
        <p:nvSpPr>
          <p:cNvPr id="3" name="内容占位符 2"/>
          <p:cNvSpPr>
            <a:spLocks noGrp="1"/>
          </p:cNvSpPr>
          <p:nvPr>
            <p:ph idx="1"/>
          </p:nvPr>
        </p:nvSpPr>
        <p:spPr>
          <a:xfrm>
            <a:off x="838200" y="1690688"/>
            <a:ext cx="10515600" cy="3410213"/>
          </a:xfrm>
        </p:spPr>
        <p:txBody>
          <a:bodyPr/>
          <a:lstStyle/>
          <a:p>
            <a:pPr>
              <a:spcBef>
                <a:spcPts val="0"/>
              </a:spcBef>
            </a:pPr>
            <a:r>
              <a:rPr kumimoji="1" lang="zh-CN" altLang="en-US" sz="2400" dirty="0"/>
              <a:t>生成下一个</a:t>
            </a:r>
            <a:r>
              <a:rPr kumimoji="1" lang="en-US" altLang="zh-CN" sz="2400" dirty="0"/>
              <a:t>X(k)</a:t>
            </a:r>
            <a:r>
              <a:rPr kumimoji="1" lang="zh-CN" altLang="en-US" sz="2400" dirty="0"/>
              <a:t>的时间</a:t>
            </a:r>
            <a:endParaRPr kumimoji="1" lang="en-US" altLang="zh-CN" sz="2400" dirty="0"/>
          </a:p>
          <a:p>
            <a:pPr lvl="1">
              <a:spcBef>
                <a:spcPts val="0"/>
              </a:spcBef>
            </a:pPr>
            <a:r>
              <a:rPr lang="zh-CN" altLang="en-US" dirty="0"/>
              <a:t>生成一个结点的时间</a:t>
            </a:r>
            <a:endParaRPr kumimoji="1" lang="zh-CN" altLang="en-US" dirty="0"/>
          </a:p>
          <a:p>
            <a:pPr>
              <a:spcBef>
                <a:spcPts val="0"/>
              </a:spcBef>
            </a:pPr>
            <a:r>
              <a:rPr kumimoji="1" lang="zh-CN" altLang="en-US" sz="2400" dirty="0"/>
              <a:t>满足显式约束条件的</a:t>
            </a:r>
            <a:r>
              <a:rPr kumimoji="1" lang="en-US" altLang="zh-CN" sz="2400" dirty="0"/>
              <a:t>X(k)</a:t>
            </a:r>
            <a:r>
              <a:rPr kumimoji="1" lang="zh-CN" altLang="en-US" sz="2400" dirty="0"/>
              <a:t>的数目</a:t>
            </a:r>
            <a:endParaRPr kumimoji="1" lang="en-US" altLang="zh-CN" sz="2400" dirty="0"/>
          </a:p>
          <a:p>
            <a:pPr lvl="1">
              <a:spcBef>
                <a:spcPts val="0"/>
              </a:spcBef>
            </a:pPr>
            <a:r>
              <a:rPr lang="zh-CN" altLang="en-US" dirty="0"/>
              <a:t>子结点的数量</a:t>
            </a:r>
            <a:endParaRPr kumimoji="1" lang="zh-CN" altLang="en-US" dirty="0"/>
          </a:p>
          <a:p>
            <a:pPr>
              <a:spcBef>
                <a:spcPts val="0"/>
              </a:spcBef>
            </a:pPr>
            <a:r>
              <a:rPr kumimoji="1" lang="zh-CN" altLang="en-US" sz="2400" dirty="0"/>
              <a:t>约束函数</a:t>
            </a:r>
            <a:r>
              <a:rPr kumimoji="1" lang="en-US" altLang="zh-CN" sz="2400" dirty="0"/>
              <a:t>B</a:t>
            </a:r>
            <a:r>
              <a:rPr kumimoji="1" lang="en-US" altLang="zh-CN" sz="2400" baseline="-25000" dirty="0"/>
              <a:t>i</a:t>
            </a:r>
            <a:r>
              <a:rPr kumimoji="1" lang="zh-CN" altLang="en-US" sz="2400" dirty="0"/>
              <a:t>的计算时间</a:t>
            </a:r>
            <a:endParaRPr kumimoji="1" lang="en-US" altLang="zh-CN" sz="2400" dirty="0"/>
          </a:p>
          <a:p>
            <a:pPr lvl="1">
              <a:spcBef>
                <a:spcPts val="0"/>
              </a:spcBef>
            </a:pPr>
            <a:r>
              <a:rPr lang="zh-CN" altLang="en-US" dirty="0"/>
              <a:t>检验结点的时间</a:t>
            </a:r>
            <a:endParaRPr kumimoji="1" lang="zh-CN" altLang="en-US" dirty="0"/>
          </a:p>
          <a:p>
            <a:pPr>
              <a:spcBef>
                <a:spcPts val="0"/>
              </a:spcBef>
            </a:pPr>
            <a:r>
              <a:rPr kumimoji="1" lang="zh-CN" altLang="en-US" sz="2400" dirty="0"/>
              <a:t>对于所有的</a:t>
            </a:r>
            <a:r>
              <a:rPr kumimoji="1" lang="en-US" altLang="zh-CN" sz="2400" dirty="0" err="1"/>
              <a:t>i</a:t>
            </a:r>
            <a:r>
              <a:rPr kumimoji="1" lang="zh-CN" altLang="en-US" sz="2400" dirty="0"/>
              <a:t>，满足</a:t>
            </a:r>
            <a:r>
              <a:rPr kumimoji="1" lang="en-US" altLang="zh-CN" sz="2400" dirty="0"/>
              <a:t>B</a:t>
            </a:r>
            <a:r>
              <a:rPr kumimoji="1" lang="en-US" altLang="zh-CN" sz="2400" baseline="-25000" dirty="0"/>
              <a:t>i</a:t>
            </a:r>
            <a:r>
              <a:rPr kumimoji="1" lang="zh-CN" altLang="en-US" sz="2400" dirty="0"/>
              <a:t>的</a:t>
            </a:r>
            <a:r>
              <a:rPr kumimoji="1" lang="en-US" altLang="zh-CN" sz="2400" dirty="0"/>
              <a:t>X(k)</a:t>
            </a:r>
            <a:r>
              <a:rPr kumimoji="1" lang="zh-CN" altLang="en-US" sz="2400" dirty="0"/>
              <a:t>的数目</a:t>
            </a:r>
            <a:endParaRPr kumimoji="1" lang="en-US" altLang="zh-CN" sz="2400" dirty="0"/>
          </a:p>
          <a:p>
            <a:pPr lvl="1">
              <a:spcBef>
                <a:spcPts val="0"/>
              </a:spcBef>
            </a:pPr>
            <a:r>
              <a:rPr lang="zh-CN" altLang="en-US" dirty="0"/>
              <a:t>通过检验的结点数量</a:t>
            </a:r>
            <a:endParaRPr kumimoji="1"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22</a:t>
            </a:fld>
            <a:endParaRPr lang="en-US" altLang="zh-CN"/>
          </a:p>
        </p:txBody>
      </p:sp>
      <p:sp>
        <p:nvSpPr>
          <p:cNvPr id="5" name="圆角矩形标注 4"/>
          <p:cNvSpPr/>
          <p:nvPr/>
        </p:nvSpPr>
        <p:spPr>
          <a:xfrm>
            <a:off x="9805628" y="5690723"/>
            <a:ext cx="1042900" cy="432252"/>
          </a:xfrm>
          <a:prstGeom prst="wedgeRoundRectCallout">
            <a:avLst>
              <a:gd name="adj1" fmla="val -63619"/>
              <a:gd name="adj2" fmla="val -722"/>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zh-CN" altLang="en-US" sz="2000" dirty="0">
                <a:solidFill>
                  <a:schemeClr val="tx1"/>
                </a:solidFill>
                <a:latin typeface="Arial" panose="020B0604020202020204" pitchFamily="34" charset="0"/>
                <a:ea typeface="幼圆" panose="02010509060101010101" pitchFamily="49" charset="-122"/>
                <a:cs typeface="Arial" panose="020B0604020202020204" pitchFamily="34" charset="0"/>
              </a:rPr>
              <a:t>第四个</a:t>
            </a:r>
          </a:p>
        </p:txBody>
      </p:sp>
      <p:sp>
        <p:nvSpPr>
          <p:cNvPr id="7" name="圆角矩形标注 6"/>
          <p:cNvSpPr/>
          <p:nvPr/>
        </p:nvSpPr>
        <p:spPr>
          <a:xfrm>
            <a:off x="5071456" y="3073952"/>
            <a:ext cx="4392488" cy="908842"/>
          </a:xfrm>
          <a:prstGeom prst="wedgeRoundRectCallout">
            <a:avLst>
              <a:gd name="adj1" fmla="val -59261"/>
              <a:gd name="adj2" fmla="val 25761"/>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en-US" altLang="zh-CN" sz="2000" dirty="0">
                <a:solidFill>
                  <a:schemeClr val="tx1"/>
                </a:solidFill>
                <a:latin typeface="Arial" panose="020B0604020202020204" pitchFamily="34" charset="0"/>
                <a:ea typeface="幼圆" panose="02010509060101010101" pitchFamily="49" charset="-122"/>
                <a:cs typeface="Arial" panose="020B0604020202020204" pitchFamily="34" charset="0"/>
              </a:rPr>
              <a:t>B</a:t>
            </a:r>
            <a:r>
              <a:rPr kumimoji="1" lang="en-US" altLang="zh-CN" sz="2000" baseline="-25000" dirty="0">
                <a:solidFill>
                  <a:schemeClr val="tx1"/>
                </a:solidFill>
                <a:latin typeface="Arial" panose="020B0604020202020204" pitchFamily="34" charset="0"/>
                <a:ea typeface="幼圆" panose="02010509060101010101" pitchFamily="49" charset="-122"/>
                <a:cs typeface="Arial" panose="020B0604020202020204" pitchFamily="34" charset="0"/>
              </a:rPr>
              <a:t>i</a:t>
            </a:r>
            <a:r>
              <a:rPr kumimoji="1" lang="zh-CN" altLang="en-US" sz="2000" dirty="0">
                <a:solidFill>
                  <a:schemeClr val="tx1"/>
                </a:solidFill>
                <a:latin typeface="Arial" panose="020B0604020202020204" pitchFamily="34" charset="0"/>
                <a:ea typeface="幼圆" panose="02010509060101010101" pitchFamily="49" charset="-122"/>
                <a:cs typeface="Arial" panose="020B0604020202020204" pitchFamily="34" charset="0"/>
              </a:rPr>
              <a:t>能够大大减少生成的结点数，但在计算时间和减少程度上要进行折中</a:t>
            </a:r>
          </a:p>
        </p:txBody>
      </p:sp>
      <p:sp>
        <p:nvSpPr>
          <p:cNvPr id="8" name="内容占位符 2"/>
          <p:cNvSpPr txBox="1">
            <a:spLocks/>
          </p:cNvSpPr>
          <p:nvPr/>
        </p:nvSpPr>
        <p:spPr>
          <a:xfrm>
            <a:off x="2279576" y="5628149"/>
            <a:ext cx="7776864" cy="576064"/>
          </a:xfrm>
          <a:prstGeom prst="rect">
            <a:avLst/>
          </a:prstGeom>
        </p:spPr>
        <p:txBody>
          <a:bodyPr vert="horz" lIns="91440" tIns="45720" rIns="91440" bIns="45720" rtlCol="0">
            <a:noAutofit/>
          </a:bodyPr>
          <a:lstStyle>
            <a:lvl1pPr marL="171450" indent="-171450" algn="l" defTabSz="685800" rtl="0" eaLnBrk="1" latinLnBrk="0" hangingPunct="1">
              <a:lnSpc>
                <a:spcPct val="110000"/>
              </a:lnSpc>
              <a:spcBef>
                <a:spcPts val="750"/>
              </a:spcBef>
              <a:buClr>
                <a:srgbClr val="1E5293"/>
              </a:buClr>
              <a:buSzPct val="70000"/>
              <a:buFont typeface="Wingdings" panose="05000000000000000000" pitchFamily="2" charset="2"/>
              <a:buChar char="l"/>
              <a:defRPr sz="21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5143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8572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2001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15430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kumimoji="1" lang="zh-CN" altLang="en-US" sz="2400" dirty="0">
                <a:solidFill>
                  <a:srgbClr val="FF0000"/>
                </a:solidFill>
              </a:rPr>
              <a:t>思考：哪一个因素体现出不同实例产生的结点数不同？</a:t>
            </a:r>
            <a:endParaRPr kumimoji="1" lang="en-US" altLang="zh-CN" sz="2400" dirty="0">
              <a:solidFill>
                <a:srgbClr val="FF0000"/>
              </a:solidFill>
            </a:endParaRPr>
          </a:p>
        </p:txBody>
      </p:sp>
      <p:sp>
        <p:nvSpPr>
          <p:cNvPr id="9" name="内容占位符 2"/>
          <p:cNvSpPr txBox="1">
            <a:spLocks/>
          </p:cNvSpPr>
          <p:nvPr/>
        </p:nvSpPr>
        <p:spPr>
          <a:xfrm>
            <a:off x="1127448" y="5126732"/>
            <a:ext cx="10081120" cy="462508"/>
          </a:xfrm>
          <a:prstGeom prst="rect">
            <a:avLst/>
          </a:prstGeom>
          <a:solidFill>
            <a:schemeClr val="accent1">
              <a:lumMod val="20000"/>
              <a:lumOff val="80000"/>
            </a:schemeClr>
          </a:solidFill>
        </p:spPr>
        <p:txBody>
          <a:bodyPr vert="horz" lIns="91440" tIns="45720" rIns="91440" bIns="45720" rtlCol="0">
            <a:noAutofit/>
          </a:bodyPr>
          <a:lstStyle>
            <a:lvl1pPr marL="171450" indent="-171450" algn="l" defTabSz="685800" rtl="0" eaLnBrk="1" latinLnBrk="0" hangingPunct="1">
              <a:lnSpc>
                <a:spcPct val="110000"/>
              </a:lnSpc>
              <a:spcBef>
                <a:spcPts val="750"/>
              </a:spcBef>
              <a:buClr>
                <a:srgbClr val="1E5293"/>
              </a:buClr>
              <a:buSzPct val="70000"/>
              <a:buFont typeface="Wingdings" panose="05000000000000000000" pitchFamily="2" charset="2"/>
              <a:buChar char="l"/>
              <a:defRPr sz="21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5143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8572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2001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1543050" indent="-171450" algn="l" defTabSz="685800" rtl="0" eaLnBrk="1" latinLnBrk="0" hangingPunct="1">
              <a:lnSpc>
                <a:spcPct val="110000"/>
              </a:lnSpc>
              <a:spcBef>
                <a:spcPts val="375"/>
              </a:spcBef>
              <a:buClr>
                <a:schemeClr val="accent1">
                  <a:lumMod val="60000"/>
                  <a:lumOff val="40000"/>
                </a:schemeClr>
              </a:buClr>
              <a:buSzPct val="70000"/>
              <a:buFont typeface="Wingdings" panose="05000000000000000000" pitchFamily="2" charset="2"/>
              <a:buChar char="l"/>
              <a:defRPr sz="18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spcBef>
                <a:spcPts val="0"/>
              </a:spcBef>
              <a:buNone/>
            </a:pPr>
            <a:r>
              <a:rPr kumimoji="1" lang="zh-CN" altLang="en-US" sz="2400" dirty="0">
                <a:solidFill>
                  <a:srgbClr val="FF0000"/>
                </a:solidFill>
              </a:rPr>
              <a:t>约束函数</a:t>
            </a:r>
            <a:r>
              <a:rPr kumimoji="1" lang="en-US" altLang="zh-CN" sz="2400" dirty="0">
                <a:solidFill>
                  <a:srgbClr val="FF0000"/>
                </a:solidFill>
              </a:rPr>
              <a:t>B</a:t>
            </a:r>
            <a:r>
              <a:rPr kumimoji="1" lang="en-US" altLang="zh-CN" sz="2400" baseline="-25000" dirty="0">
                <a:solidFill>
                  <a:srgbClr val="FF0000"/>
                </a:solidFill>
              </a:rPr>
              <a:t>i</a:t>
            </a:r>
            <a:r>
              <a:rPr kumimoji="1" lang="zh-CN" altLang="en-US" sz="2400" dirty="0">
                <a:solidFill>
                  <a:srgbClr val="FF0000"/>
                </a:solidFill>
              </a:rPr>
              <a:t>剪枝作用：避免生成那些不包含可行解的子树。</a:t>
            </a:r>
            <a:endParaRPr kumimoji="1" lang="en-US" altLang="zh-CN" sz="2400" dirty="0">
              <a:solidFill>
                <a:srgbClr val="FF0000"/>
              </a:solidFill>
            </a:endParaRPr>
          </a:p>
        </p:txBody>
      </p:sp>
    </p:spTree>
    <p:extLst>
      <p:ext uri="{BB962C8B-B14F-4D97-AF65-F5344CB8AC3E}">
        <p14:creationId xmlns:p14="http://schemas.microsoft.com/office/powerpoint/2010/main" val="67082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body" idx="1"/>
          </p:nvPr>
        </p:nvSpPr>
        <p:spPr>
          <a:xfrm>
            <a:off x="767408" y="1772816"/>
            <a:ext cx="10297144" cy="4525962"/>
          </a:xfrm>
        </p:spPr>
        <p:txBody>
          <a:bodyPr>
            <a:normAutofit/>
          </a:bodyPr>
          <a:lstStyle/>
          <a:p>
            <a:pPr eaLnBrk="1" hangingPunct="1">
              <a:lnSpc>
                <a:spcPct val="110000"/>
              </a:lnSpc>
            </a:pPr>
            <a:r>
              <a:rPr lang="zh-CN" altLang="en-US" sz="2400" dirty="0"/>
              <a:t>如果解空间的结点数是</a:t>
            </a:r>
            <a:r>
              <a:rPr lang="en-US" altLang="zh-CN" sz="2400" dirty="0"/>
              <a:t>2</a:t>
            </a:r>
            <a:r>
              <a:rPr lang="en-US" altLang="zh-CN" sz="2400" baseline="30000" dirty="0"/>
              <a:t>n</a:t>
            </a:r>
            <a:r>
              <a:rPr lang="zh-CN" altLang="en-US" sz="2400" dirty="0"/>
              <a:t>或</a:t>
            </a:r>
            <a:r>
              <a:rPr lang="en-US" altLang="zh-CN" sz="2400" dirty="0"/>
              <a:t>n!</a:t>
            </a:r>
            <a:r>
              <a:rPr lang="zh-CN" altLang="en-US" sz="2400" dirty="0"/>
              <a:t>，易知，回溯算法最坏情况下的时间复杂度为</a:t>
            </a:r>
            <a:r>
              <a:rPr lang="en-US" altLang="zh-CN" sz="2400" dirty="0">
                <a:solidFill>
                  <a:srgbClr val="FF0000"/>
                </a:solidFill>
              </a:rPr>
              <a:t>O(p(n)2</a:t>
            </a:r>
            <a:r>
              <a:rPr lang="en-US" altLang="zh-CN" sz="2400" baseline="30000" dirty="0">
                <a:solidFill>
                  <a:srgbClr val="FF0000"/>
                </a:solidFill>
              </a:rPr>
              <a:t>n</a:t>
            </a:r>
            <a:r>
              <a:rPr lang="en-US" altLang="zh-CN" sz="2400" dirty="0">
                <a:solidFill>
                  <a:srgbClr val="FF0000"/>
                </a:solidFill>
              </a:rPr>
              <a:t>)</a:t>
            </a:r>
            <a:r>
              <a:rPr lang="zh-CN" altLang="en-US" sz="2400" dirty="0"/>
              <a:t>或</a:t>
            </a:r>
            <a:r>
              <a:rPr lang="en-US" altLang="zh-CN" sz="2400" dirty="0">
                <a:solidFill>
                  <a:srgbClr val="FF0000"/>
                </a:solidFill>
              </a:rPr>
              <a:t>O(q(n)n!)</a:t>
            </a:r>
            <a:r>
              <a:rPr lang="zh-CN" altLang="en-US" sz="2400" dirty="0"/>
              <a:t>，其中</a:t>
            </a:r>
            <a:r>
              <a:rPr lang="en-US" altLang="zh-CN" sz="2400" dirty="0"/>
              <a:t>p(n)</a:t>
            </a:r>
            <a:r>
              <a:rPr lang="zh-CN" altLang="en-US" sz="2400" dirty="0"/>
              <a:t>和</a:t>
            </a:r>
            <a:r>
              <a:rPr lang="en-US" altLang="zh-CN" sz="2400" dirty="0"/>
              <a:t>q(n)</a:t>
            </a:r>
            <a:r>
              <a:rPr lang="zh-CN" altLang="en-US" sz="2400" dirty="0"/>
              <a:t>为</a:t>
            </a:r>
            <a:r>
              <a:rPr lang="en-US" altLang="zh-CN" sz="2400" dirty="0"/>
              <a:t>n</a:t>
            </a:r>
            <a:r>
              <a:rPr lang="zh-CN" altLang="en-US" sz="2400" dirty="0"/>
              <a:t>的多项式</a:t>
            </a:r>
            <a:endParaRPr lang="en-US" altLang="zh-CN" sz="2400" dirty="0"/>
          </a:p>
          <a:p>
            <a:pPr eaLnBrk="1" hangingPunct="1">
              <a:lnSpc>
                <a:spcPct val="110000"/>
              </a:lnSpc>
            </a:pPr>
            <a:endParaRPr lang="en-US" altLang="zh-CN" sz="2400" dirty="0"/>
          </a:p>
          <a:p>
            <a:pPr eaLnBrk="1" hangingPunct="1">
              <a:lnSpc>
                <a:spcPct val="110000"/>
              </a:lnSpc>
            </a:pPr>
            <a:r>
              <a:rPr lang="zh-CN" altLang="en-US" sz="2400" dirty="0"/>
              <a:t>由于回溯法对同一问题不同实例的巨大差异，在</a:t>
            </a:r>
            <a:r>
              <a:rPr lang="en-US" altLang="zh-CN" sz="2400" dirty="0"/>
              <a:t>n</a:t>
            </a:r>
            <a:r>
              <a:rPr lang="zh-CN" altLang="en-US" sz="2400" dirty="0"/>
              <a:t>很大时，对某些实例是十分有效的。因此，在采用回溯法计算某个实例之前，应估算其工作能效</a:t>
            </a:r>
          </a:p>
          <a:p>
            <a:pPr eaLnBrk="1" hangingPunct="1">
              <a:lnSpc>
                <a:spcPct val="110000"/>
              </a:lnSpc>
            </a:pPr>
            <a:r>
              <a:rPr lang="zh-CN" altLang="en-US" sz="2400" dirty="0"/>
              <a:t>用回溯算法处理一棵树所要生成的结点数，可以用蒙特卡罗方法估算出来</a:t>
            </a:r>
          </a:p>
        </p:txBody>
      </p:sp>
      <p:sp>
        <p:nvSpPr>
          <p:cNvPr id="29699" name="Rectangle 4"/>
          <p:cNvSpPr>
            <a:spLocks noGrp="1" noChangeArrowheads="1"/>
          </p:cNvSpPr>
          <p:nvPr>
            <p:ph type="title"/>
          </p:nvPr>
        </p:nvSpPr>
        <p:spPr>
          <a:xfrm>
            <a:off x="767408" y="548680"/>
            <a:ext cx="8229600" cy="990600"/>
          </a:xfrm>
          <a:noFill/>
        </p:spPr>
        <p:txBody>
          <a:bodyPr/>
          <a:lstStyle/>
          <a:p>
            <a:pPr eaLnBrk="1" hangingPunct="1">
              <a:lnSpc>
                <a:spcPct val="110000"/>
              </a:lnSpc>
            </a:pPr>
            <a:r>
              <a:rPr kumimoji="1" lang="zh-CN" altLang="en-US" dirty="0"/>
              <a:t>回溯法的效率估计</a:t>
            </a:r>
          </a:p>
        </p:txBody>
      </p:sp>
      <p:sp>
        <p:nvSpPr>
          <p:cNvPr id="4" name="圆角矩形标注 3"/>
          <p:cNvSpPr/>
          <p:nvPr/>
        </p:nvSpPr>
        <p:spPr>
          <a:xfrm>
            <a:off x="7677954" y="2708920"/>
            <a:ext cx="2448088" cy="504056"/>
          </a:xfrm>
          <a:prstGeom prst="wedgeRoundRectCallout">
            <a:avLst>
              <a:gd name="adj1" fmla="val -46795"/>
              <a:gd name="adj2" fmla="val -74575"/>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B</a:t>
            </a:r>
            <a:r>
              <a:rPr kumimoji="1"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i</a:t>
            </a:r>
            <a:r>
              <a:rPr kumimoji="1"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花费的时间等</a:t>
            </a:r>
          </a:p>
        </p:txBody>
      </p:sp>
      <p:sp>
        <p:nvSpPr>
          <p:cNvPr id="5" name="圆角矩形标注 4"/>
          <p:cNvSpPr/>
          <p:nvPr/>
        </p:nvSpPr>
        <p:spPr>
          <a:xfrm>
            <a:off x="7176119" y="4869160"/>
            <a:ext cx="2952328" cy="864096"/>
          </a:xfrm>
          <a:prstGeom prst="wedgeRoundRectCallout">
            <a:avLst>
              <a:gd name="adj1" fmla="val -46795"/>
              <a:gd name="adj2" fmla="val -74575"/>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估计活结点的个数，即动态树结点个数</a:t>
            </a:r>
          </a:p>
        </p:txBody>
      </p:sp>
      <p:sp>
        <p:nvSpPr>
          <p:cNvPr id="6"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23</a:t>
            </a:fld>
            <a:endParaRPr lang="en-US" altLang="zh-CN" dirty="0"/>
          </a:p>
        </p:txBody>
      </p:sp>
    </p:spTree>
    <p:extLst>
      <p:ext uri="{BB962C8B-B14F-4D97-AF65-F5344CB8AC3E}">
        <p14:creationId xmlns:p14="http://schemas.microsoft.com/office/powerpoint/2010/main" val="235211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055440" y="403225"/>
            <a:ext cx="8229600" cy="914400"/>
          </a:xfrm>
        </p:spPr>
        <p:txBody>
          <a:bodyPr/>
          <a:lstStyle/>
          <a:p>
            <a:pPr eaLnBrk="1" hangingPunct="1"/>
            <a:r>
              <a:rPr lang="zh-CN" altLang="en-US" dirty="0"/>
              <a:t>蒙特卡罗方法的一般思想</a:t>
            </a:r>
          </a:p>
        </p:txBody>
      </p:sp>
      <p:sp>
        <p:nvSpPr>
          <p:cNvPr id="31747" name="Rectangle 3"/>
          <p:cNvSpPr>
            <a:spLocks noGrp="1" noChangeArrowheads="1"/>
          </p:cNvSpPr>
          <p:nvPr>
            <p:ph type="body" idx="1"/>
          </p:nvPr>
        </p:nvSpPr>
        <p:spPr>
          <a:xfrm>
            <a:off x="1055440" y="1600200"/>
            <a:ext cx="9937104" cy="2764904"/>
          </a:xfrm>
        </p:spPr>
        <p:txBody>
          <a:bodyPr>
            <a:normAutofit/>
          </a:bodyPr>
          <a:lstStyle/>
          <a:p>
            <a:pPr>
              <a:lnSpc>
                <a:spcPct val="120000"/>
              </a:lnSpc>
              <a:spcBef>
                <a:spcPts val="0"/>
              </a:spcBef>
            </a:pPr>
            <a:r>
              <a:rPr lang="zh-CN" altLang="en-US" sz="2400" dirty="0"/>
              <a:t>假定约束函数是</a:t>
            </a:r>
            <a:r>
              <a:rPr lang="zh-CN" altLang="en-US" sz="2400" dirty="0">
                <a:solidFill>
                  <a:srgbClr val="FF0000"/>
                </a:solidFill>
              </a:rPr>
              <a:t>固定</a:t>
            </a:r>
            <a:r>
              <a:rPr lang="zh-CN" altLang="en-US" sz="2400" dirty="0"/>
              <a:t>的</a:t>
            </a:r>
            <a:endParaRPr lang="en-US" altLang="zh-CN" sz="2400" dirty="0"/>
          </a:p>
          <a:p>
            <a:pPr lvl="1">
              <a:lnSpc>
                <a:spcPct val="120000"/>
              </a:lnSpc>
              <a:spcBef>
                <a:spcPts val="0"/>
              </a:spcBef>
            </a:pPr>
            <a:r>
              <a:rPr lang="zh-CN" altLang="en-US" dirty="0"/>
              <a:t>在状态空间中生成一条随机路径。</a:t>
            </a:r>
          </a:p>
          <a:p>
            <a:pPr lvl="1">
              <a:lnSpc>
                <a:spcPct val="120000"/>
              </a:lnSpc>
              <a:spcBef>
                <a:spcPts val="0"/>
              </a:spcBef>
            </a:pPr>
            <a:r>
              <a:rPr lang="zh-CN" altLang="en-US" dirty="0"/>
              <a:t>设</a:t>
            </a:r>
            <a:r>
              <a:rPr lang="en-US" altLang="zh-CN" dirty="0"/>
              <a:t>x</a:t>
            </a:r>
            <a:r>
              <a:rPr lang="zh-CN" altLang="en-US" dirty="0"/>
              <a:t>是这条路径上的位于第</a:t>
            </a:r>
            <a:r>
              <a:rPr lang="en-US" altLang="zh-CN" dirty="0" err="1"/>
              <a:t>i</a:t>
            </a:r>
            <a:r>
              <a:rPr lang="zh-CN" altLang="en-US" dirty="0"/>
              <a:t>级的一个结点。</a:t>
            </a:r>
          </a:p>
          <a:p>
            <a:pPr lvl="1">
              <a:lnSpc>
                <a:spcPct val="120000"/>
              </a:lnSpc>
              <a:spcBef>
                <a:spcPts val="0"/>
              </a:spcBef>
            </a:pPr>
            <a:r>
              <a:rPr lang="zh-CN" altLang="en-US" dirty="0"/>
              <a:t>设约束函数确定</a:t>
            </a:r>
            <a:r>
              <a:rPr lang="en-US" altLang="zh-CN" dirty="0"/>
              <a:t>x</a:t>
            </a:r>
            <a:r>
              <a:rPr lang="zh-CN" altLang="en-US" dirty="0"/>
              <a:t>的可用儿子结点的数目为</a:t>
            </a:r>
            <a:r>
              <a:rPr lang="en-US" altLang="zh-CN" dirty="0"/>
              <a:t>m</a:t>
            </a:r>
            <a:r>
              <a:rPr lang="en-US" altLang="zh-CN" baseline="-25000" dirty="0"/>
              <a:t>i</a:t>
            </a:r>
            <a:r>
              <a:rPr lang="zh-CN" altLang="en-US" dirty="0"/>
              <a:t>。</a:t>
            </a:r>
          </a:p>
          <a:p>
            <a:pPr lvl="1">
              <a:lnSpc>
                <a:spcPct val="120000"/>
              </a:lnSpc>
              <a:spcBef>
                <a:spcPts val="0"/>
              </a:spcBef>
            </a:pPr>
            <a:r>
              <a:rPr lang="zh-CN" altLang="en-US" dirty="0"/>
              <a:t>从这</a:t>
            </a:r>
            <a:r>
              <a:rPr lang="en-US" altLang="zh-CN" dirty="0"/>
              <a:t>m</a:t>
            </a:r>
            <a:r>
              <a:rPr lang="en-US" altLang="zh-CN" baseline="-25000" dirty="0"/>
              <a:t>i</a:t>
            </a:r>
            <a:r>
              <a:rPr lang="zh-CN" altLang="en-US" dirty="0"/>
              <a:t>个儿子结点中随机选中一个，重复上述过程，直到当前结点是叶结点或者儿子结点都被限界为止。</a:t>
            </a:r>
          </a:p>
        </p:txBody>
      </p:sp>
      <p:sp>
        <p:nvSpPr>
          <p:cNvPr id="40965" name="Rectangle 5"/>
          <p:cNvSpPr>
            <a:spLocks noChangeArrowheads="1"/>
          </p:cNvSpPr>
          <p:nvPr/>
        </p:nvSpPr>
        <p:spPr bwMode="auto">
          <a:xfrm>
            <a:off x="1631504" y="4509120"/>
            <a:ext cx="9001000" cy="1012785"/>
          </a:xfrm>
          <a:prstGeom prst="rect">
            <a:avLst/>
          </a:prstGeom>
          <a:solidFill>
            <a:schemeClr val="accent1">
              <a:lumMod val="20000"/>
              <a:lumOff val="80000"/>
            </a:schemeClr>
          </a:solidFill>
          <a:ln w="9525">
            <a:solidFill>
              <a:schemeClr val="bg1"/>
            </a:solidFill>
            <a:miter lim="800000"/>
            <a:headEnd/>
            <a:tailEnd/>
          </a:ln>
          <a:effectLst/>
        </p:spPr>
        <p:txBody>
          <a:bodyPr wrap="none" anchor="ctr"/>
          <a:lstStyle/>
          <a:p>
            <a:r>
              <a:rPr lang="zh-CN" altLang="en-US" sz="2400" dirty="0">
                <a:latin typeface="Arial" panose="020B0604020202020204" pitchFamily="34" charset="0"/>
                <a:ea typeface="幼圆" panose="02010509060101010101" pitchFamily="49" charset="-122"/>
                <a:cs typeface="Arial" panose="020B0604020202020204" pitchFamily="34" charset="0"/>
              </a:rPr>
              <a:t>不受限界的结点的估计数</a:t>
            </a:r>
            <a:r>
              <a:rPr lang="en-US" altLang="zh-CN" sz="2400" dirty="0">
                <a:latin typeface="Arial" panose="020B0604020202020204" pitchFamily="34" charset="0"/>
                <a:ea typeface="幼圆" panose="02010509060101010101" pitchFamily="49" charset="-122"/>
                <a:cs typeface="Arial" panose="020B0604020202020204" pitchFamily="34" charset="0"/>
              </a:rPr>
              <a:t>: </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m=1+m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2</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2</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3</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a:t>
            </a:r>
          </a:p>
          <a:p>
            <a:r>
              <a:rPr lang="en-US" altLang="zh-CN" sz="2400" dirty="0">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latin typeface="Arial" panose="020B0604020202020204" pitchFamily="34" charset="0"/>
                <a:ea typeface="幼圆" panose="02010509060101010101" pitchFamily="49" charset="-122"/>
                <a:cs typeface="Arial" panose="020B0604020202020204" pitchFamily="34" charset="0"/>
              </a:rPr>
              <a:t>i</a:t>
            </a:r>
            <a:r>
              <a:rPr lang="zh-CN" altLang="en-US" sz="2400" dirty="0">
                <a:latin typeface="Arial" panose="020B0604020202020204" pitchFamily="34" charset="0"/>
                <a:ea typeface="幼圆" panose="02010509060101010101" pitchFamily="49" charset="-122"/>
                <a:cs typeface="Arial" panose="020B0604020202020204" pitchFamily="34" charset="0"/>
              </a:rPr>
              <a:t>表示第</a:t>
            </a:r>
            <a:r>
              <a:rPr lang="en-US" altLang="zh-CN" sz="2400" dirty="0" err="1">
                <a:latin typeface="Arial" panose="020B0604020202020204" pitchFamily="34" charset="0"/>
                <a:ea typeface="幼圆" panose="02010509060101010101" pitchFamily="49" charset="-122"/>
                <a:cs typeface="Arial" panose="020B0604020202020204" pitchFamily="34" charset="0"/>
              </a:rPr>
              <a:t>i</a:t>
            </a:r>
            <a:r>
              <a:rPr lang="zh-CN" altLang="en-US" sz="2400" dirty="0">
                <a:latin typeface="Arial" panose="020B0604020202020204" pitchFamily="34" charset="0"/>
                <a:ea typeface="幼圆" panose="02010509060101010101" pitchFamily="49" charset="-122"/>
                <a:cs typeface="Arial" panose="020B0604020202020204" pitchFamily="34" charset="0"/>
              </a:rPr>
              <a:t>级结点平均没受限界的儿子结点数。</a:t>
            </a:r>
          </a:p>
        </p:txBody>
      </p:sp>
      <p:sp>
        <p:nvSpPr>
          <p:cNvPr id="5"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24</a:t>
            </a:fld>
            <a:endParaRPr lang="en-US" altLang="zh-CN" dirty="0"/>
          </a:p>
        </p:txBody>
      </p:sp>
    </p:spTree>
    <p:extLst>
      <p:ext uri="{BB962C8B-B14F-4D97-AF65-F5344CB8AC3E}">
        <p14:creationId xmlns:p14="http://schemas.microsoft.com/office/powerpoint/2010/main" val="13263601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25</a:t>
            </a:fld>
            <a:endParaRPr lang="en-US" altLang="zh-CN"/>
          </a:p>
        </p:txBody>
      </p:sp>
      <p:sp>
        <p:nvSpPr>
          <p:cNvPr id="19" name="矩形 18"/>
          <p:cNvSpPr/>
          <p:nvPr/>
        </p:nvSpPr>
        <p:spPr bwMode="auto">
          <a:xfrm>
            <a:off x="605422" y="3917378"/>
            <a:ext cx="6413783" cy="4616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fontAlgn="base">
              <a:spcBef>
                <a:spcPct val="0"/>
              </a:spcBef>
              <a:spcAft>
                <a:spcPct val="0"/>
              </a:spcAft>
            </a:pPr>
            <a:r>
              <a:rPr lang="zh-CN" altLang="en-US" sz="2400" dirty="0">
                <a:latin typeface="Arial" panose="020B0604020202020204" pitchFamily="34" charset="0"/>
                <a:ea typeface="幼圆" panose="02010509060101010101" pitchFamily="49" charset="-122"/>
                <a:cs typeface="Arial" panose="020B0604020202020204" pitchFamily="34" charset="0"/>
              </a:rPr>
              <a:t>第一级通过</a:t>
            </a:r>
            <a:r>
              <a:rPr lang="en-US" altLang="zh-CN" sz="2400" dirty="0">
                <a:latin typeface="Arial" panose="020B0604020202020204" pitchFamily="34" charset="0"/>
                <a:ea typeface="幼圆" panose="02010509060101010101" pitchFamily="49" charset="-122"/>
                <a:cs typeface="Arial" panose="020B0604020202020204" pitchFamily="34" charset="0"/>
              </a:rPr>
              <a:t>B</a:t>
            </a:r>
            <a:r>
              <a:rPr lang="zh-CN" altLang="en-US" sz="2400" dirty="0">
                <a:latin typeface="Arial" panose="020B0604020202020204" pitchFamily="34" charset="0"/>
                <a:ea typeface="幼圆" panose="02010509060101010101" pitchFamily="49" charset="-122"/>
                <a:cs typeface="Arial" panose="020B0604020202020204" pitchFamily="34" charset="0"/>
              </a:rPr>
              <a:t>函数检验的结点个数有多少个？</a:t>
            </a:r>
          </a:p>
        </p:txBody>
      </p:sp>
      <p:sp>
        <p:nvSpPr>
          <p:cNvPr id="21" name="矩形 20"/>
          <p:cNvSpPr/>
          <p:nvPr/>
        </p:nvSpPr>
        <p:spPr bwMode="auto">
          <a:xfrm>
            <a:off x="610570" y="4429738"/>
            <a:ext cx="6913014" cy="4616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fontAlgn="base">
              <a:spcBef>
                <a:spcPct val="0"/>
              </a:spcBef>
              <a:spcAft>
                <a:spcPct val="0"/>
              </a:spcAft>
            </a:pPr>
            <a:r>
              <a:rPr lang="zh-CN" altLang="en-US" sz="2400" dirty="0">
                <a:latin typeface="Arial" panose="020B0604020202020204" pitchFamily="34" charset="0"/>
                <a:ea typeface="幼圆" panose="02010509060101010101" pitchFamily="49" charset="-122"/>
                <a:cs typeface="Arial" panose="020B0604020202020204" pitchFamily="34" charset="0"/>
              </a:rPr>
              <a:t>第二级通过</a:t>
            </a:r>
            <a:r>
              <a:rPr lang="en-US" altLang="zh-CN" sz="2400" dirty="0">
                <a:latin typeface="Arial" panose="020B0604020202020204" pitchFamily="34" charset="0"/>
                <a:ea typeface="幼圆" panose="02010509060101010101" pitchFamily="49" charset="-122"/>
                <a:cs typeface="Arial" panose="020B0604020202020204" pitchFamily="34" charset="0"/>
              </a:rPr>
              <a:t>B</a:t>
            </a:r>
            <a:r>
              <a:rPr lang="zh-CN" altLang="en-US" sz="2400" dirty="0">
                <a:latin typeface="Arial" panose="020B0604020202020204" pitchFamily="34" charset="0"/>
                <a:ea typeface="幼圆" panose="02010509060101010101" pitchFamily="49" charset="-122"/>
                <a:cs typeface="Arial" panose="020B0604020202020204" pitchFamily="34" charset="0"/>
              </a:rPr>
              <a:t>函数检验的结点个数有多少个？</a:t>
            </a:r>
          </a:p>
        </p:txBody>
      </p:sp>
      <p:sp>
        <p:nvSpPr>
          <p:cNvPr id="25" name="矩形 24"/>
          <p:cNvSpPr/>
          <p:nvPr/>
        </p:nvSpPr>
        <p:spPr bwMode="auto">
          <a:xfrm>
            <a:off x="588084" y="4947500"/>
            <a:ext cx="10751924" cy="83099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fontAlgn="base">
              <a:spcBef>
                <a:spcPct val="0"/>
              </a:spcBef>
              <a:spcAft>
                <a:spcPct val="0"/>
              </a:spcAft>
            </a:pPr>
            <a:r>
              <a:rPr lang="zh-CN" altLang="en-US" sz="2400" dirty="0">
                <a:latin typeface="Arial" panose="020B0604020202020204" pitchFamily="34" charset="0"/>
                <a:ea typeface="幼圆" panose="02010509060101010101" pitchFamily="49" charset="-122"/>
                <a:cs typeface="Arial" panose="020B0604020202020204" pitchFamily="34" charset="0"/>
              </a:rPr>
              <a:t>从第二级中随机选中一个结点，它的子结点共有</a:t>
            </a:r>
            <a:r>
              <a:rPr lang="en-US" altLang="zh-CN" sz="2400" dirty="0">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latin typeface="Arial" panose="020B0604020202020204" pitchFamily="34" charset="0"/>
                <a:ea typeface="幼圆" panose="02010509060101010101" pitchFamily="49" charset="-122"/>
                <a:cs typeface="Arial" panose="020B0604020202020204" pitchFamily="34" charset="0"/>
              </a:rPr>
              <a:t>2</a:t>
            </a:r>
            <a:r>
              <a:rPr lang="zh-CN" altLang="en-US" sz="2400" dirty="0">
                <a:latin typeface="Arial" panose="020B0604020202020204" pitchFamily="34" charset="0"/>
                <a:ea typeface="幼圆" panose="02010509060101010101" pitchFamily="49" charset="-122"/>
                <a:cs typeface="Arial" panose="020B0604020202020204" pitchFamily="34" charset="0"/>
              </a:rPr>
              <a:t>个满足</a:t>
            </a:r>
            <a:r>
              <a:rPr lang="en-US" altLang="zh-CN" sz="2400" dirty="0">
                <a:latin typeface="Arial" panose="020B0604020202020204" pitchFamily="34" charset="0"/>
                <a:ea typeface="幼圆" panose="02010509060101010101" pitchFamily="49" charset="-122"/>
                <a:cs typeface="Arial" panose="020B0604020202020204" pitchFamily="34" charset="0"/>
              </a:rPr>
              <a:t>B</a:t>
            </a:r>
            <a:r>
              <a:rPr lang="zh-CN" altLang="en-US" sz="2400" dirty="0">
                <a:latin typeface="Arial" panose="020B0604020202020204" pitchFamily="34" charset="0"/>
                <a:ea typeface="幼圆" panose="02010509060101010101" pitchFamily="49" charset="-122"/>
                <a:cs typeface="Arial" panose="020B0604020202020204" pitchFamily="34" charset="0"/>
              </a:rPr>
              <a:t>函数检验，推断第三级通过</a:t>
            </a:r>
            <a:r>
              <a:rPr lang="en-US" altLang="zh-CN" sz="2400" dirty="0">
                <a:latin typeface="Arial" panose="020B0604020202020204" pitchFamily="34" charset="0"/>
                <a:ea typeface="幼圆" panose="02010509060101010101" pitchFamily="49" charset="-122"/>
                <a:cs typeface="Arial" panose="020B0604020202020204" pitchFamily="34" charset="0"/>
              </a:rPr>
              <a:t>B</a:t>
            </a:r>
            <a:r>
              <a:rPr lang="zh-CN" altLang="en-US" sz="2400" dirty="0">
                <a:latin typeface="Arial" panose="020B0604020202020204" pitchFamily="34" charset="0"/>
                <a:ea typeface="幼圆" panose="02010509060101010101" pitchFamily="49" charset="-122"/>
                <a:cs typeface="Arial" panose="020B0604020202020204" pitchFamily="34" charset="0"/>
              </a:rPr>
              <a:t>函数检验的结点个数一共有多少个？</a:t>
            </a:r>
          </a:p>
        </p:txBody>
      </p:sp>
      <p:grpSp>
        <p:nvGrpSpPr>
          <p:cNvPr id="28" name="组合 27"/>
          <p:cNvGrpSpPr/>
          <p:nvPr/>
        </p:nvGrpSpPr>
        <p:grpSpPr>
          <a:xfrm>
            <a:off x="767408" y="795220"/>
            <a:ext cx="5405189" cy="2837929"/>
            <a:chOff x="4939120" y="428624"/>
            <a:chExt cx="5405189" cy="2837929"/>
          </a:xfrm>
        </p:grpSpPr>
        <p:sp>
          <p:nvSpPr>
            <p:cNvPr id="5" name="Oval 4"/>
            <p:cNvSpPr>
              <a:spLocks noChangeArrowheads="1"/>
            </p:cNvSpPr>
            <p:nvPr/>
          </p:nvSpPr>
          <p:spPr bwMode="auto">
            <a:xfrm>
              <a:off x="7765792" y="592250"/>
              <a:ext cx="186141" cy="214291"/>
            </a:xfrm>
            <a:prstGeom prst="ellipse">
              <a:avLst/>
            </a:prstGeom>
            <a:solidFill>
              <a:schemeClr val="accent1">
                <a:lumMod val="20000"/>
                <a:lumOff val="80000"/>
              </a:schemeClr>
            </a:solidFill>
            <a:ln w="12700">
              <a:solidFill>
                <a:schemeClr val="tx1"/>
              </a:solidFill>
              <a:miter lim="800000"/>
            </a:ln>
          </p:spPr>
          <p:txBody>
            <a:bodyPr wrap="none" lIns="90000" tIns="46800" rIns="90000" bIns="46800" anchor="ctr"/>
            <a:lstStyle/>
            <a:p>
              <a:pPr algn="ctr"/>
              <a:endParaRPr kumimoji="1" lang="en-US" altLang="zh-CN" sz="2400" dirty="0">
                <a:latin typeface="Arial" panose="020B0604020202020204" pitchFamily="34" charset="0"/>
                <a:cs typeface="Arial" panose="020B0604020202020204" pitchFamily="34" charset="0"/>
              </a:endParaRPr>
            </a:p>
          </p:txBody>
        </p:sp>
        <p:sp>
          <p:nvSpPr>
            <p:cNvPr id="10" name="Line 98"/>
            <p:cNvSpPr>
              <a:spLocks noChangeShapeType="1"/>
            </p:cNvSpPr>
            <p:nvPr/>
          </p:nvSpPr>
          <p:spPr bwMode="auto">
            <a:xfrm flipH="1">
              <a:off x="6645129" y="820762"/>
              <a:ext cx="1227526" cy="549469"/>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400"/>
            </a:p>
          </p:txBody>
        </p:sp>
        <p:sp>
          <p:nvSpPr>
            <p:cNvPr id="16" name="TextBox 104"/>
            <p:cNvSpPr txBox="1"/>
            <p:nvPr/>
          </p:nvSpPr>
          <p:spPr>
            <a:xfrm>
              <a:off x="4979359" y="1900014"/>
              <a:ext cx="1474475" cy="400110"/>
            </a:xfrm>
            <a:prstGeom prst="rect">
              <a:avLst/>
            </a:prstGeom>
            <a:noFill/>
          </p:spPr>
          <p:txBody>
            <a:bodyPr wrap="square" rtlCol="0">
              <a:spAutoFit/>
            </a:bodyPr>
            <a:lstStyle/>
            <a:p>
              <a:r>
                <a:rPr lang="zh-CN" altLang="en-US" sz="2000" dirty="0">
                  <a:latin typeface="幼圆" panose="02010509060101010101" pitchFamily="49" charset="-122"/>
                  <a:ea typeface="幼圆" panose="02010509060101010101" pitchFamily="49" charset="-122"/>
                </a:rPr>
                <a:t>第三级</a:t>
              </a:r>
            </a:p>
          </p:txBody>
        </p:sp>
        <p:sp>
          <p:nvSpPr>
            <p:cNvPr id="17" name="TextBox 105"/>
            <p:cNvSpPr txBox="1"/>
            <p:nvPr/>
          </p:nvSpPr>
          <p:spPr>
            <a:xfrm>
              <a:off x="4939120" y="477737"/>
              <a:ext cx="1365661" cy="400110"/>
            </a:xfrm>
            <a:prstGeom prst="rect">
              <a:avLst/>
            </a:prstGeom>
            <a:noFill/>
          </p:spPr>
          <p:txBody>
            <a:bodyPr wrap="square" rtlCol="0">
              <a:spAutoFit/>
            </a:bodyPr>
            <a:lstStyle/>
            <a:p>
              <a:r>
                <a:rPr lang="zh-CN" altLang="en-US" sz="2000" dirty="0">
                  <a:latin typeface="幼圆" panose="02010509060101010101" pitchFamily="49" charset="-122"/>
                  <a:ea typeface="幼圆" panose="02010509060101010101" pitchFamily="49" charset="-122"/>
                </a:rPr>
                <a:t>第一级</a:t>
              </a:r>
            </a:p>
          </p:txBody>
        </p:sp>
        <p:sp>
          <p:nvSpPr>
            <p:cNvPr id="20" name="圆角矩形 19"/>
            <p:cNvSpPr/>
            <p:nvPr/>
          </p:nvSpPr>
          <p:spPr bwMode="auto">
            <a:xfrm>
              <a:off x="9488922" y="428624"/>
              <a:ext cx="806523"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fontAlgn="base">
                <a:spcBef>
                  <a:spcPct val="0"/>
                </a:spcBef>
                <a:spcAft>
                  <a:spcPct val="0"/>
                </a:spcAft>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个</a:t>
              </a:r>
            </a:p>
          </p:txBody>
        </p:sp>
        <p:sp>
          <p:nvSpPr>
            <p:cNvPr id="22" name="圆角矩形 21"/>
            <p:cNvSpPr/>
            <p:nvPr/>
          </p:nvSpPr>
          <p:spPr bwMode="auto">
            <a:xfrm>
              <a:off x="6430098" y="538086"/>
              <a:ext cx="1521835"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fontAlgn="base">
                <a:spcBef>
                  <a:spcPct val="0"/>
                </a:spcBef>
                <a:spcAft>
                  <a:spcPct val="0"/>
                </a:spcAft>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个</a:t>
              </a:r>
            </a:p>
          </p:txBody>
        </p:sp>
        <p:sp>
          <p:nvSpPr>
            <p:cNvPr id="31" name="圆角矩形 30"/>
            <p:cNvSpPr/>
            <p:nvPr/>
          </p:nvSpPr>
          <p:spPr bwMode="auto">
            <a:xfrm>
              <a:off x="6516552" y="2537511"/>
              <a:ext cx="93686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fontAlgn="base">
                <a:spcBef>
                  <a:spcPct val="0"/>
                </a:spcBef>
                <a:spcAft>
                  <a:spcPct val="0"/>
                </a:spcAft>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2</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个</a:t>
              </a:r>
            </a:p>
          </p:txBody>
        </p:sp>
        <p:sp>
          <p:nvSpPr>
            <p:cNvPr id="34" name="文本框 33"/>
            <p:cNvSpPr txBox="1"/>
            <p:nvPr/>
          </p:nvSpPr>
          <p:spPr>
            <a:xfrm>
              <a:off x="7509421" y="2775271"/>
              <a:ext cx="104933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a:t>
              </a:r>
              <a:endParaRPr lang="zh-CN" altLang="en-US" sz="2400" dirty="0">
                <a:latin typeface="Arial" panose="020B0604020202020204" pitchFamily="34" charset="0"/>
                <a:cs typeface="Arial" panose="020B0604020202020204" pitchFamily="34" charset="0"/>
              </a:endParaRPr>
            </a:p>
          </p:txBody>
        </p:sp>
        <p:sp>
          <p:nvSpPr>
            <p:cNvPr id="37" name="Line 98"/>
            <p:cNvSpPr>
              <a:spLocks noChangeShapeType="1"/>
            </p:cNvSpPr>
            <p:nvPr/>
          </p:nvSpPr>
          <p:spPr bwMode="auto">
            <a:xfrm>
              <a:off x="7866317" y="820474"/>
              <a:ext cx="1207940" cy="549757"/>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400"/>
            </a:p>
          </p:txBody>
        </p:sp>
        <p:sp>
          <p:nvSpPr>
            <p:cNvPr id="2" name="矩形 1"/>
            <p:cNvSpPr/>
            <p:nvPr/>
          </p:nvSpPr>
          <p:spPr>
            <a:xfrm>
              <a:off x="6528048" y="1258464"/>
              <a:ext cx="2759218" cy="3042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8" name="Oval 4"/>
            <p:cNvSpPr>
              <a:spLocks noChangeArrowheads="1"/>
            </p:cNvSpPr>
            <p:nvPr/>
          </p:nvSpPr>
          <p:spPr bwMode="auto">
            <a:xfrm>
              <a:off x="6594981" y="1303448"/>
              <a:ext cx="186141" cy="214291"/>
            </a:xfrm>
            <a:prstGeom prst="ellipse">
              <a:avLst/>
            </a:prstGeom>
            <a:solidFill>
              <a:schemeClr val="accent1">
                <a:lumMod val="20000"/>
                <a:lumOff val="80000"/>
              </a:schemeClr>
            </a:solidFill>
            <a:ln w="12700">
              <a:solidFill>
                <a:schemeClr val="tx1"/>
              </a:solidFill>
              <a:miter lim="800000"/>
            </a:ln>
          </p:spPr>
          <p:txBody>
            <a:bodyPr wrap="none" lIns="90000" tIns="46800" rIns="90000" bIns="46800" anchor="ctr"/>
            <a:lstStyle/>
            <a:p>
              <a:pPr algn="ctr"/>
              <a:endParaRPr kumimoji="1" lang="en-US" altLang="zh-CN" sz="2400" dirty="0">
                <a:latin typeface="Arial" panose="020B0604020202020204" pitchFamily="34" charset="0"/>
                <a:cs typeface="Arial" panose="020B0604020202020204" pitchFamily="34" charset="0"/>
              </a:endParaRPr>
            </a:p>
          </p:txBody>
        </p:sp>
        <p:sp>
          <p:nvSpPr>
            <p:cNvPr id="39" name="Oval 4"/>
            <p:cNvSpPr>
              <a:spLocks noChangeArrowheads="1"/>
            </p:cNvSpPr>
            <p:nvPr/>
          </p:nvSpPr>
          <p:spPr bwMode="auto">
            <a:xfrm>
              <a:off x="9023918" y="1314079"/>
              <a:ext cx="186141" cy="214291"/>
            </a:xfrm>
            <a:prstGeom prst="ellipse">
              <a:avLst/>
            </a:prstGeom>
            <a:solidFill>
              <a:schemeClr val="accent1">
                <a:lumMod val="20000"/>
                <a:lumOff val="80000"/>
              </a:schemeClr>
            </a:solidFill>
            <a:ln w="12700">
              <a:solidFill>
                <a:schemeClr val="tx1"/>
              </a:solidFill>
              <a:miter lim="800000"/>
            </a:ln>
          </p:spPr>
          <p:txBody>
            <a:bodyPr wrap="none" lIns="90000" tIns="46800" rIns="90000" bIns="46800" anchor="ctr"/>
            <a:lstStyle/>
            <a:p>
              <a:pPr algn="ctr"/>
              <a:endParaRPr kumimoji="1" lang="en-US" altLang="zh-CN" sz="2400" dirty="0">
                <a:latin typeface="Arial" panose="020B0604020202020204" pitchFamily="34" charset="0"/>
                <a:cs typeface="Arial" panose="020B0604020202020204" pitchFamily="34" charset="0"/>
              </a:endParaRPr>
            </a:p>
          </p:txBody>
        </p:sp>
        <p:sp>
          <p:nvSpPr>
            <p:cNvPr id="40" name="圆角矩形 39"/>
            <p:cNvSpPr/>
            <p:nvPr/>
          </p:nvSpPr>
          <p:spPr bwMode="auto">
            <a:xfrm>
              <a:off x="9389968" y="1133925"/>
              <a:ext cx="936868"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fontAlgn="base">
                <a:spcBef>
                  <a:spcPct val="0"/>
                </a:spcBef>
                <a:spcAft>
                  <a:spcPct val="0"/>
                </a:spcAft>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n</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个</a:t>
              </a:r>
            </a:p>
          </p:txBody>
        </p:sp>
        <p:cxnSp>
          <p:nvCxnSpPr>
            <p:cNvPr id="24" name="直接连接符 23"/>
            <p:cNvCxnSpPr/>
            <p:nvPr/>
          </p:nvCxnSpPr>
          <p:spPr>
            <a:xfrm>
              <a:off x="7765792" y="939836"/>
              <a:ext cx="0" cy="96017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6" name="左大括号 25"/>
            <p:cNvSpPr/>
            <p:nvPr/>
          </p:nvSpPr>
          <p:spPr>
            <a:xfrm rot="16200000" flipH="1">
              <a:off x="7034074" y="474702"/>
              <a:ext cx="216297" cy="1228349"/>
            </a:xfrm>
            <a:prstGeom prst="leftBrace">
              <a:avLst>
                <a:gd name="adj1" fmla="val 3974"/>
                <a:gd name="adj2" fmla="val 54120"/>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41" name="Oval 4"/>
            <p:cNvSpPr>
              <a:spLocks noChangeArrowheads="1"/>
            </p:cNvSpPr>
            <p:nvPr/>
          </p:nvSpPr>
          <p:spPr bwMode="auto">
            <a:xfrm>
              <a:off x="7354746" y="1298838"/>
              <a:ext cx="186141" cy="214291"/>
            </a:xfrm>
            <a:prstGeom prst="ellipse">
              <a:avLst/>
            </a:prstGeom>
            <a:solidFill>
              <a:schemeClr val="accent1">
                <a:lumMod val="20000"/>
                <a:lumOff val="80000"/>
              </a:schemeClr>
            </a:solidFill>
            <a:ln w="12700">
              <a:solidFill>
                <a:schemeClr val="tx1"/>
              </a:solidFill>
              <a:miter lim="800000"/>
            </a:ln>
          </p:spPr>
          <p:txBody>
            <a:bodyPr wrap="none" lIns="90000" tIns="46800" rIns="90000" bIns="46800" anchor="ctr"/>
            <a:lstStyle/>
            <a:p>
              <a:pPr algn="ctr"/>
              <a:endParaRPr kumimoji="1" lang="en-US" altLang="zh-CN" sz="2400" dirty="0">
                <a:latin typeface="Arial" panose="020B0604020202020204" pitchFamily="34" charset="0"/>
                <a:cs typeface="Arial" panose="020B0604020202020204" pitchFamily="34" charset="0"/>
              </a:endParaRPr>
            </a:p>
          </p:txBody>
        </p:sp>
        <p:sp>
          <p:nvSpPr>
            <p:cNvPr id="42" name="Line 98"/>
            <p:cNvSpPr>
              <a:spLocks noChangeShapeType="1"/>
            </p:cNvSpPr>
            <p:nvPr/>
          </p:nvSpPr>
          <p:spPr bwMode="auto">
            <a:xfrm flipH="1">
              <a:off x="6208931" y="1535337"/>
              <a:ext cx="1227526" cy="549469"/>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400"/>
            </a:p>
          </p:txBody>
        </p:sp>
        <p:sp>
          <p:nvSpPr>
            <p:cNvPr id="43" name="Line 98"/>
            <p:cNvSpPr>
              <a:spLocks noChangeShapeType="1"/>
            </p:cNvSpPr>
            <p:nvPr/>
          </p:nvSpPr>
          <p:spPr bwMode="auto">
            <a:xfrm>
              <a:off x="7430119" y="1535049"/>
              <a:ext cx="1207940" cy="549757"/>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400"/>
            </a:p>
          </p:txBody>
        </p:sp>
        <p:sp>
          <p:nvSpPr>
            <p:cNvPr id="44" name="矩形 43"/>
            <p:cNvSpPr/>
            <p:nvPr/>
          </p:nvSpPr>
          <p:spPr>
            <a:xfrm>
              <a:off x="6091850" y="1973039"/>
              <a:ext cx="2759218" cy="3042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5" name="Oval 4"/>
            <p:cNvSpPr>
              <a:spLocks noChangeArrowheads="1"/>
            </p:cNvSpPr>
            <p:nvPr/>
          </p:nvSpPr>
          <p:spPr bwMode="auto">
            <a:xfrm>
              <a:off x="6158783" y="2018023"/>
              <a:ext cx="186141" cy="214291"/>
            </a:xfrm>
            <a:prstGeom prst="ellipse">
              <a:avLst/>
            </a:prstGeom>
            <a:solidFill>
              <a:schemeClr val="accent1">
                <a:lumMod val="20000"/>
                <a:lumOff val="80000"/>
              </a:schemeClr>
            </a:solidFill>
            <a:ln w="12700">
              <a:solidFill>
                <a:schemeClr val="tx1"/>
              </a:solidFill>
              <a:miter lim="800000"/>
            </a:ln>
          </p:spPr>
          <p:txBody>
            <a:bodyPr wrap="none" lIns="90000" tIns="46800" rIns="90000" bIns="46800" anchor="ctr"/>
            <a:lstStyle/>
            <a:p>
              <a:pPr algn="ctr"/>
              <a:endParaRPr kumimoji="1" lang="en-US" altLang="zh-CN" sz="2400" dirty="0">
                <a:latin typeface="Arial" panose="020B0604020202020204" pitchFamily="34" charset="0"/>
                <a:cs typeface="Arial" panose="020B0604020202020204" pitchFamily="34" charset="0"/>
              </a:endParaRPr>
            </a:p>
          </p:txBody>
        </p:sp>
        <p:sp>
          <p:nvSpPr>
            <p:cNvPr id="46" name="Oval 4"/>
            <p:cNvSpPr>
              <a:spLocks noChangeArrowheads="1"/>
            </p:cNvSpPr>
            <p:nvPr/>
          </p:nvSpPr>
          <p:spPr bwMode="auto">
            <a:xfrm>
              <a:off x="8587720" y="2028654"/>
              <a:ext cx="186141" cy="214291"/>
            </a:xfrm>
            <a:prstGeom prst="ellipse">
              <a:avLst/>
            </a:prstGeom>
            <a:solidFill>
              <a:schemeClr val="accent1">
                <a:lumMod val="20000"/>
                <a:lumOff val="80000"/>
              </a:schemeClr>
            </a:solidFill>
            <a:ln w="12700">
              <a:solidFill>
                <a:schemeClr val="tx1"/>
              </a:solidFill>
              <a:miter lim="800000"/>
            </a:ln>
          </p:spPr>
          <p:txBody>
            <a:bodyPr wrap="none" lIns="90000" tIns="46800" rIns="90000" bIns="46800" anchor="ctr"/>
            <a:lstStyle/>
            <a:p>
              <a:pPr algn="ctr"/>
              <a:endParaRPr kumimoji="1" lang="en-US" altLang="zh-CN" sz="2400" dirty="0">
                <a:latin typeface="Arial" panose="020B0604020202020204" pitchFamily="34" charset="0"/>
                <a:cs typeface="Arial" panose="020B0604020202020204" pitchFamily="34" charset="0"/>
              </a:endParaRPr>
            </a:p>
          </p:txBody>
        </p:sp>
        <p:sp>
          <p:nvSpPr>
            <p:cNvPr id="47" name="圆角矩形 46"/>
            <p:cNvSpPr/>
            <p:nvPr/>
          </p:nvSpPr>
          <p:spPr bwMode="auto">
            <a:xfrm>
              <a:off x="9407441" y="1816578"/>
              <a:ext cx="936868"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fontAlgn="base">
                <a:spcBef>
                  <a:spcPct val="0"/>
                </a:spcBef>
                <a:spcAft>
                  <a:spcPct val="0"/>
                </a:spcAft>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n</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2</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个</a:t>
              </a:r>
            </a:p>
          </p:txBody>
        </p:sp>
        <p:sp>
          <p:nvSpPr>
            <p:cNvPr id="48" name="左大括号 47"/>
            <p:cNvSpPr/>
            <p:nvPr/>
          </p:nvSpPr>
          <p:spPr>
            <a:xfrm rot="16200000">
              <a:off x="6849359" y="1607380"/>
              <a:ext cx="280966" cy="1752955"/>
            </a:xfrm>
            <a:prstGeom prst="leftBrace">
              <a:avLst>
                <a:gd name="adj1" fmla="val 8333"/>
                <a:gd name="adj2" fmla="val 48554"/>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49" name="Oval 4"/>
            <p:cNvSpPr>
              <a:spLocks noChangeArrowheads="1"/>
            </p:cNvSpPr>
            <p:nvPr/>
          </p:nvSpPr>
          <p:spPr bwMode="auto">
            <a:xfrm>
              <a:off x="6918548" y="2013413"/>
              <a:ext cx="186141" cy="214291"/>
            </a:xfrm>
            <a:prstGeom prst="ellipse">
              <a:avLst/>
            </a:prstGeom>
            <a:solidFill>
              <a:schemeClr val="accent1">
                <a:lumMod val="20000"/>
                <a:lumOff val="80000"/>
              </a:schemeClr>
            </a:solidFill>
            <a:ln w="12700">
              <a:solidFill>
                <a:schemeClr val="tx1"/>
              </a:solidFill>
              <a:miter lim="800000"/>
            </a:ln>
          </p:spPr>
          <p:txBody>
            <a:bodyPr wrap="none" lIns="90000" tIns="46800" rIns="90000" bIns="46800" anchor="ctr"/>
            <a:lstStyle/>
            <a:p>
              <a:pPr algn="ctr"/>
              <a:endParaRPr kumimoji="1" lang="en-US" altLang="zh-CN" sz="2400" dirty="0">
                <a:latin typeface="Arial" panose="020B0604020202020204" pitchFamily="34" charset="0"/>
                <a:cs typeface="Arial" panose="020B0604020202020204" pitchFamily="34" charset="0"/>
              </a:endParaRPr>
            </a:p>
          </p:txBody>
        </p:sp>
        <p:cxnSp>
          <p:nvCxnSpPr>
            <p:cNvPr id="50" name="直接连接符 49"/>
            <p:cNvCxnSpPr/>
            <p:nvPr/>
          </p:nvCxnSpPr>
          <p:spPr>
            <a:xfrm>
              <a:off x="7866317" y="1737332"/>
              <a:ext cx="0" cy="113213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1" name="TextBox 105"/>
            <p:cNvSpPr txBox="1"/>
            <p:nvPr/>
          </p:nvSpPr>
          <p:spPr>
            <a:xfrm>
              <a:off x="4942756" y="1190391"/>
              <a:ext cx="1365661" cy="400110"/>
            </a:xfrm>
            <a:prstGeom prst="rect">
              <a:avLst/>
            </a:prstGeom>
            <a:noFill/>
          </p:spPr>
          <p:txBody>
            <a:bodyPr wrap="square" rtlCol="0">
              <a:spAutoFit/>
            </a:bodyPr>
            <a:lstStyle/>
            <a:p>
              <a:r>
                <a:rPr lang="zh-CN" altLang="en-US" sz="2000" dirty="0">
                  <a:latin typeface="幼圆" panose="02010509060101010101" pitchFamily="49" charset="-122"/>
                  <a:ea typeface="幼圆" panose="02010509060101010101" pitchFamily="49" charset="-122"/>
                </a:rPr>
                <a:t>第二级</a:t>
              </a:r>
            </a:p>
          </p:txBody>
        </p:sp>
        <p:sp>
          <p:nvSpPr>
            <p:cNvPr id="52" name="文本框 51"/>
            <p:cNvSpPr txBox="1"/>
            <p:nvPr/>
          </p:nvSpPr>
          <p:spPr>
            <a:xfrm>
              <a:off x="5159595" y="2804888"/>
              <a:ext cx="104933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a:t>
              </a:r>
              <a:endParaRPr lang="zh-CN" altLang="en-US" sz="2400" dirty="0">
                <a:latin typeface="Arial" panose="020B0604020202020204" pitchFamily="34" charset="0"/>
                <a:cs typeface="Arial" panose="020B0604020202020204" pitchFamily="34" charset="0"/>
              </a:endParaRPr>
            </a:p>
          </p:txBody>
        </p:sp>
      </p:grpSp>
      <p:sp>
        <p:nvSpPr>
          <p:cNvPr id="53" name="圆角矩形 52"/>
          <p:cNvSpPr/>
          <p:nvPr/>
        </p:nvSpPr>
        <p:spPr bwMode="auto">
          <a:xfrm>
            <a:off x="7645964" y="3929492"/>
            <a:ext cx="806523"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fontAlgn="base">
              <a:spcBef>
                <a:spcPct val="0"/>
              </a:spcBef>
              <a:spcAft>
                <a:spcPct val="0"/>
              </a:spcAft>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个</a:t>
            </a:r>
          </a:p>
        </p:txBody>
      </p:sp>
      <p:sp>
        <p:nvSpPr>
          <p:cNvPr id="55" name="圆角矩形 54"/>
          <p:cNvSpPr/>
          <p:nvPr/>
        </p:nvSpPr>
        <p:spPr bwMode="auto">
          <a:xfrm>
            <a:off x="7392144" y="4473980"/>
            <a:ext cx="1157808"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fontAlgn="base">
              <a:spcBef>
                <a:spcPct val="0"/>
              </a:spcBef>
              <a:spcAft>
                <a:spcPct val="0"/>
              </a:spcAft>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个</a:t>
            </a:r>
          </a:p>
        </p:txBody>
      </p:sp>
      <p:sp>
        <p:nvSpPr>
          <p:cNvPr id="56" name="圆角矩形 55"/>
          <p:cNvSpPr/>
          <p:nvPr/>
        </p:nvSpPr>
        <p:spPr bwMode="auto">
          <a:xfrm>
            <a:off x="6828674" y="5323816"/>
            <a:ext cx="1859614"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fontAlgn="base">
              <a:spcBef>
                <a:spcPct val="0"/>
              </a:spcBef>
              <a:spcAft>
                <a:spcPct val="0"/>
              </a:spcAft>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 m</a:t>
            </a:r>
            <a:r>
              <a:rPr lang="en-US" altLang="zh-CN" sz="2400" baseline="-25000" dirty="0">
                <a:solidFill>
                  <a:srgbClr val="FF0000"/>
                </a:solidFill>
                <a:latin typeface="Arial" panose="020B0604020202020204" pitchFamily="34" charset="0"/>
                <a:ea typeface="幼圆" panose="02010509060101010101" pitchFamily="49" charset="-122"/>
                <a:cs typeface="Arial" panose="020B0604020202020204" pitchFamily="34" charset="0"/>
              </a:rPr>
              <a:t>2</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个</a:t>
            </a:r>
          </a:p>
        </p:txBody>
      </p:sp>
      <p:sp>
        <p:nvSpPr>
          <p:cNvPr id="59" name="Line 98"/>
          <p:cNvSpPr>
            <a:spLocks noChangeShapeType="1"/>
          </p:cNvSpPr>
          <p:nvPr/>
        </p:nvSpPr>
        <p:spPr bwMode="auto">
          <a:xfrm flipH="1">
            <a:off x="1588860" y="2608404"/>
            <a:ext cx="1227526" cy="549469"/>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400"/>
          </a:p>
        </p:txBody>
      </p:sp>
      <p:sp>
        <p:nvSpPr>
          <p:cNvPr id="60" name="Line 98"/>
          <p:cNvSpPr>
            <a:spLocks noChangeShapeType="1"/>
          </p:cNvSpPr>
          <p:nvPr/>
        </p:nvSpPr>
        <p:spPr bwMode="auto">
          <a:xfrm>
            <a:off x="2852868" y="2599279"/>
            <a:ext cx="1207940" cy="549757"/>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400"/>
          </a:p>
        </p:txBody>
      </p:sp>
    </p:spTree>
    <p:extLst>
      <p:ext uri="{BB962C8B-B14F-4D97-AF65-F5344CB8AC3E}">
        <p14:creationId xmlns:p14="http://schemas.microsoft.com/office/powerpoint/2010/main" val="306765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p:bldP spid="21" grpId="0" bldLvl="0"/>
      <p:bldP spid="25" grpId="0" bldLvl="0"/>
      <p:bldP spid="53" grpId="0"/>
      <p:bldP spid="55" grpId="0"/>
      <p:bldP spid="5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83432" y="275431"/>
            <a:ext cx="8229600" cy="846138"/>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zh-CN" altLang="en-US" sz="3600" dirty="0"/>
              <a:t>算法</a:t>
            </a:r>
            <a:r>
              <a:rPr lang="en-US" altLang="zh-CN" sz="3600" dirty="0"/>
              <a:t>7.3 </a:t>
            </a:r>
            <a:r>
              <a:rPr lang="zh-CN" altLang="en-US" sz="3600" dirty="0"/>
              <a:t>效率估计算法</a:t>
            </a:r>
          </a:p>
        </p:txBody>
      </p:sp>
      <p:sp>
        <p:nvSpPr>
          <p:cNvPr id="32771" name="Rectangle 3"/>
          <p:cNvSpPr>
            <a:spLocks noGrp="1" noChangeArrowheads="1"/>
          </p:cNvSpPr>
          <p:nvPr>
            <p:ph type="body" idx="1"/>
          </p:nvPr>
        </p:nvSpPr>
        <p:spPr>
          <a:xfrm>
            <a:off x="983432" y="1121569"/>
            <a:ext cx="9222169" cy="5547791"/>
          </a:xfrm>
          <a:ln>
            <a:solidFill>
              <a:schemeClr val="tx2"/>
            </a:solidFill>
          </a:ln>
        </p:spPr>
        <p:txBody>
          <a:bodyPr>
            <a:normAutofit/>
          </a:bodyPr>
          <a:lstStyle/>
          <a:p>
            <a:pPr eaLnBrk="1" hangingPunct="1">
              <a:lnSpc>
                <a:spcPct val="80000"/>
              </a:lnSpc>
              <a:buFont typeface="Wingdings" pitchFamily="2" charset="2"/>
              <a:buNone/>
            </a:pPr>
            <a:r>
              <a:rPr lang="en-US" altLang="zh-CN" sz="2400" dirty="0"/>
              <a:t>Procedure ESTIMATE( ) //</a:t>
            </a:r>
            <a:r>
              <a:rPr lang="zh-CN" altLang="en-US" sz="2400" dirty="0"/>
              <a:t>程序沿着状态空间树中一条随机路径产生这棵树中不受限界结点的估计数</a:t>
            </a:r>
            <a:r>
              <a:rPr lang="en-US" altLang="zh-CN" sz="2400" dirty="0"/>
              <a:t>//</a:t>
            </a:r>
          </a:p>
          <a:p>
            <a:pPr eaLnBrk="1" hangingPunct="1">
              <a:lnSpc>
                <a:spcPct val="80000"/>
              </a:lnSpc>
              <a:buFont typeface="Wingdings" pitchFamily="2" charset="2"/>
              <a:buNone/>
            </a:pPr>
            <a:r>
              <a:rPr lang="en-US" altLang="zh-CN" sz="2400" dirty="0"/>
              <a:t>   m </a:t>
            </a:r>
            <a:r>
              <a:rPr lang="en-US" altLang="zh-CN" sz="2400" dirty="0">
                <a:sym typeface="Symbol" pitchFamily="18" charset="2"/>
              </a:rPr>
              <a:t>1;  r 1;  k 1</a:t>
            </a:r>
            <a:endParaRPr lang="en-US" altLang="zh-CN" sz="2400" dirty="0"/>
          </a:p>
          <a:p>
            <a:pPr eaLnBrk="1" hangingPunct="1">
              <a:lnSpc>
                <a:spcPct val="80000"/>
              </a:lnSpc>
              <a:buFont typeface="Wingdings" pitchFamily="2" charset="2"/>
              <a:buNone/>
            </a:pPr>
            <a:r>
              <a:rPr lang="en-US" altLang="zh-CN" sz="2400" dirty="0"/>
              <a:t>   loop</a:t>
            </a:r>
          </a:p>
          <a:p>
            <a:pPr eaLnBrk="1" hangingPunct="1">
              <a:lnSpc>
                <a:spcPct val="80000"/>
              </a:lnSpc>
              <a:buFont typeface="Wingdings" pitchFamily="2" charset="2"/>
              <a:buNone/>
            </a:pPr>
            <a:r>
              <a:rPr lang="en-US" altLang="zh-CN" sz="2400" dirty="0"/>
              <a:t>       </a:t>
            </a:r>
            <a:r>
              <a:rPr lang="en-US" altLang="zh-CN" sz="2400" dirty="0" err="1"/>
              <a:t>T</a:t>
            </a:r>
            <a:r>
              <a:rPr lang="en-US" altLang="zh-CN" sz="2400" baseline="-25000" dirty="0" err="1"/>
              <a:t>k</a:t>
            </a:r>
            <a:r>
              <a:rPr lang="en-US" altLang="zh-CN" sz="2400" baseline="-25000" dirty="0"/>
              <a:t> </a:t>
            </a:r>
            <a:r>
              <a:rPr lang="en-US" altLang="zh-CN" sz="2400" dirty="0">
                <a:sym typeface="Symbol" pitchFamily="18" charset="2"/>
              </a:rPr>
              <a:t>{X(k):X(k)T(X(1), …,X(k-1)) and B</a:t>
            </a:r>
            <a:r>
              <a:rPr lang="en-US" altLang="zh-CN" sz="2400" baseline="-25000" dirty="0">
                <a:sym typeface="Symbol" pitchFamily="18" charset="2"/>
              </a:rPr>
              <a:t>k</a:t>
            </a:r>
            <a:r>
              <a:rPr lang="en-US" altLang="zh-CN" sz="2400" dirty="0">
                <a:sym typeface="Symbol" pitchFamily="18" charset="2"/>
              </a:rPr>
              <a:t> (X(1), …,X(k))}</a:t>
            </a:r>
          </a:p>
          <a:p>
            <a:pPr eaLnBrk="1" hangingPunct="1">
              <a:lnSpc>
                <a:spcPct val="80000"/>
              </a:lnSpc>
              <a:buFont typeface="Wingdings" pitchFamily="2" charset="2"/>
              <a:buNone/>
            </a:pPr>
            <a:r>
              <a:rPr lang="en-US" altLang="zh-CN" sz="2400" dirty="0">
                <a:sym typeface="Symbol" pitchFamily="18" charset="2"/>
              </a:rPr>
              <a:t>       if  SIZE(</a:t>
            </a:r>
            <a:r>
              <a:rPr lang="en-US" altLang="zh-CN" sz="2400" dirty="0" err="1"/>
              <a:t>T</a:t>
            </a:r>
            <a:r>
              <a:rPr lang="en-US" altLang="zh-CN" sz="2400" baseline="-25000" dirty="0" err="1"/>
              <a:t>k</a:t>
            </a:r>
            <a:r>
              <a:rPr lang="en-US" altLang="zh-CN" sz="2400" dirty="0">
                <a:sym typeface="Symbol" pitchFamily="18" charset="2"/>
              </a:rPr>
              <a:t>)=0 then exit endif</a:t>
            </a:r>
          </a:p>
          <a:p>
            <a:pPr eaLnBrk="1" hangingPunct="1">
              <a:lnSpc>
                <a:spcPct val="80000"/>
              </a:lnSpc>
              <a:buFont typeface="Wingdings" pitchFamily="2" charset="2"/>
              <a:buNone/>
            </a:pPr>
            <a:r>
              <a:rPr lang="en-US" altLang="zh-CN" sz="2400" dirty="0">
                <a:sym typeface="Symbol" pitchFamily="18" charset="2"/>
              </a:rPr>
              <a:t>       r </a:t>
            </a:r>
            <a:r>
              <a:rPr lang="en-US" altLang="zh-CN" sz="2400" dirty="0" err="1">
                <a:sym typeface="Symbol" pitchFamily="18" charset="2"/>
              </a:rPr>
              <a:t>rSIZE</a:t>
            </a:r>
            <a:r>
              <a:rPr lang="en-US" altLang="zh-CN" sz="2400" dirty="0">
                <a:sym typeface="Symbol" pitchFamily="18" charset="2"/>
              </a:rPr>
              <a:t>(</a:t>
            </a:r>
            <a:r>
              <a:rPr lang="en-US" altLang="zh-CN" sz="2400" dirty="0" err="1"/>
              <a:t>T</a:t>
            </a:r>
            <a:r>
              <a:rPr lang="en-US" altLang="zh-CN" sz="2400" baseline="-25000" dirty="0" err="1"/>
              <a:t>k</a:t>
            </a:r>
            <a:r>
              <a:rPr lang="en-US" altLang="zh-CN" sz="2400" dirty="0">
                <a:sym typeface="Symbol" pitchFamily="18" charset="2"/>
              </a:rPr>
              <a:t>) </a:t>
            </a:r>
          </a:p>
          <a:p>
            <a:pPr eaLnBrk="1" hangingPunct="1">
              <a:lnSpc>
                <a:spcPct val="80000"/>
              </a:lnSpc>
              <a:buFont typeface="Wingdings" pitchFamily="2" charset="2"/>
              <a:buNone/>
            </a:pPr>
            <a:r>
              <a:rPr lang="en-US" altLang="zh-CN" sz="2400" dirty="0">
                <a:sym typeface="Symbol" pitchFamily="18" charset="2"/>
              </a:rPr>
              <a:t>       m </a:t>
            </a:r>
            <a:r>
              <a:rPr lang="en-US" altLang="zh-CN" sz="2400" dirty="0" err="1">
                <a:sym typeface="Symbol" pitchFamily="18" charset="2"/>
              </a:rPr>
              <a:t>m+r</a:t>
            </a:r>
            <a:endParaRPr lang="en-US" altLang="zh-CN" sz="2400" dirty="0">
              <a:sym typeface="Symbol" pitchFamily="18" charset="2"/>
            </a:endParaRPr>
          </a:p>
          <a:p>
            <a:pPr eaLnBrk="1" hangingPunct="1">
              <a:lnSpc>
                <a:spcPct val="80000"/>
              </a:lnSpc>
              <a:buFont typeface="Wingdings" pitchFamily="2" charset="2"/>
              <a:buNone/>
            </a:pPr>
            <a:r>
              <a:rPr lang="en-US" altLang="zh-CN" sz="2400" dirty="0">
                <a:sym typeface="Symbol" pitchFamily="18" charset="2"/>
              </a:rPr>
              <a:t>       X(k) CHOOSE(</a:t>
            </a:r>
            <a:r>
              <a:rPr lang="en-US" altLang="zh-CN" sz="2400" dirty="0" err="1">
                <a:sym typeface="Symbol" pitchFamily="18" charset="2"/>
              </a:rPr>
              <a:t>T</a:t>
            </a:r>
            <a:r>
              <a:rPr lang="en-US" altLang="zh-CN" sz="2400" baseline="-25000" dirty="0" err="1">
                <a:sym typeface="Symbol" pitchFamily="18" charset="2"/>
              </a:rPr>
              <a:t>k</a:t>
            </a:r>
            <a:r>
              <a:rPr lang="en-US" altLang="zh-CN" sz="2400" dirty="0">
                <a:sym typeface="Symbol" pitchFamily="18" charset="2"/>
              </a:rPr>
              <a:t>)</a:t>
            </a:r>
          </a:p>
          <a:p>
            <a:pPr eaLnBrk="1" hangingPunct="1">
              <a:lnSpc>
                <a:spcPct val="80000"/>
              </a:lnSpc>
              <a:buFont typeface="Wingdings" pitchFamily="2" charset="2"/>
              <a:buNone/>
            </a:pPr>
            <a:r>
              <a:rPr lang="en-US" altLang="zh-CN" sz="2400" dirty="0">
                <a:sym typeface="Symbol" pitchFamily="18" charset="2"/>
              </a:rPr>
              <a:t>      k k+1</a:t>
            </a:r>
          </a:p>
          <a:p>
            <a:pPr eaLnBrk="1" hangingPunct="1">
              <a:lnSpc>
                <a:spcPct val="80000"/>
              </a:lnSpc>
              <a:buFont typeface="Wingdings" pitchFamily="2" charset="2"/>
              <a:buNone/>
            </a:pPr>
            <a:r>
              <a:rPr lang="en-US" altLang="zh-CN" sz="2400" dirty="0">
                <a:sym typeface="Symbol" pitchFamily="18" charset="2"/>
              </a:rPr>
              <a:t>   repeat</a:t>
            </a:r>
          </a:p>
          <a:p>
            <a:pPr eaLnBrk="1" hangingPunct="1">
              <a:lnSpc>
                <a:spcPct val="80000"/>
              </a:lnSpc>
              <a:buFont typeface="Wingdings" pitchFamily="2" charset="2"/>
              <a:buNone/>
            </a:pPr>
            <a:r>
              <a:rPr lang="en-US" altLang="zh-CN" sz="2400" dirty="0">
                <a:sym typeface="Symbol" pitchFamily="18" charset="2"/>
              </a:rPr>
              <a:t>   return m</a:t>
            </a:r>
          </a:p>
          <a:p>
            <a:pPr eaLnBrk="1" hangingPunct="1">
              <a:lnSpc>
                <a:spcPct val="80000"/>
              </a:lnSpc>
              <a:buFont typeface="Wingdings" pitchFamily="2" charset="2"/>
              <a:buNone/>
            </a:pPr>
            <a:r>
              <a:rPr lang="en-US" altLang="zh-CN" sz="2400" dirty="0">
                <a:sym typeface="Symbol" pitchFamily="18" charset="2"/>
              </a:rPr>
              <a:t>end ESTIMATE</a:t>
            </a:r>
          </a:p>
        </p:txBody>
      </p:sp>
      <p:sp>
        <p:nvSpPr>
          <p:cNvPr id="62468" name="Text Box 4"/>
          <p:cNvSpPr txBox="1">
            <a:spLocks noChangeArrowheads="1"/>
          </p:cNvSpPr>
          <p:nvPr/>
        </p:nvSpPr>
        <p:spPr bwMode="auto">
          <a:xfrm>
            <a:off x="3647728" y="3560478"/>
            <a:ext cx="3456384"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20000"/>
              </a:spcBef>
              <a:buClr>
                <a:schemeClr val="bg2"/>
              </a:buClr>
              <a:buSzPct val="75000"/>
              <a:buFont typeface="Wingdings" pitchFamily="2" charset="2"/>
              <a:buNone/>
            </a:pPr>
            <a:r>
              <a:rPr lang="en-US" altLang="zh-CN" sz="2400" dirty="0">
                <a:ea typeface="幼圆" panose="02010509060101010101" pitchFamily="49" charset="-122"/>
                <a:cs typeface="Arial" panose="020B0604020202020204" pitchFamily="34" charset="0"/>
                <a:sym typeface="Symbol" pitchFamily="18" charset="2"/>
              </a:rPr>
              <a:t>//</a:t>
            </a:r>
            <a:r>
              <a:rPr lang="zh-CN" altLang="en-US" sz="2400" dirty="0">
                <a:solidFill>
                  <a:srgbClr val="FF0000"/>
                </a:solidFill>
                <a:ea typeface="幼圆" panose="02010509060101010101" pitchFamily="49" charset="-122"/>
                <a:cs typeface="Arial" panose="020B0604020202020204" pitchFamily="34" charset="0"/>
                <a:sym typeface="Symbol" pitchFamily="18" charset="2"/>
              </a:rPr>
              <a:t>第</a:t>
            </a:r>
            <a:r>
              <a:rPr lang="en-US" altLang="zh-CN" sz="2400" dirty="0">
                <a:solidFill>
                  <a:srgbClr val="FF0000"/>
                </a:solidFill>
                <a:ea typeface="幼圆" panose="02010509060101010101" pitchFamily="49" charset="-122"/>
                <a:cs typeface="Arial" panose="020B0604020202020204" pitchFamily="34" charset="0"/>
                <a:sym typeface="Symbol" pitchFamily="18" charset="2"/>
              </a:rPr>
              <a:t>k</a:t>
            </a:r>
            <a:r>
              <a:rPr lang="zh-CN" altLang="en-US" sz="2400" dirty="0">
                <a:solidFill>
                  <a:srgbClr val="FF0000"/>
                </a:solidFill>
                <a:ea typeface="幼圆" panose="02010509060101010101" pitchFamily="49" charset="-122"/>
                <a:cs typeface="Arial" panose="020B0604020202020204" pitchFamily="34" charset="0"/>
                <a:sym typeface="Symbol" pitchFamily="18" charset="2"/>
              </a:rPr>
              <a:t>级</a:t>
            </a:r>
            <a:r>
              <a:rPr lang="zh-CN" altLang="en-US" sz="2400" dirty="0">
                <a:ea typeface="幼圆" panose="02010509060101010101" pitchFamily="49" charset="-122"/>
                <a:cs typeface="Arial" panose="020B0604020202020204" pitchFamily="34" charset="0"/>
                <a:sym typeface="Symbol" pitchFamily="18" charset="2"/>
              </a:rPr>
              <a:t>的结点总数</a:t>
            </a:r>
            <a:endParaRPr lang="zh-CN" altLang="en-US" sz="2400" dirty="0">
              <a:ea typeface="幼圆" panose="02010509060101010101" pitchFamily="49" charset="-122"/>
              <a:cs typeface="Arial" panose="020B0604020202020204" pitchFamily="34" charset="0"/>
            </a:endParaRPr>
          </a:p>
        </p:txBody>
      </p:sp>
      <p:sp>
        <p:nvSpPr>
          <p:cNvPr id="62469" name="Text Box 5"/>
          <p:cNvSpPr txBox="1">
            <a:spLocks noChangeArrowheads="1"/>
          </p:cNvSpPr>
          <p:nvPr/>
        </p:nvSpPr>
        <p:spPr bwMode="auto">
          <a:xfrm>
            <a:off x="4439816" y="4415931"/>
            <a:ext cx="4105275"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20000"/>
              </a:spcBef>
              <a:buClr>
                <a:schemeClr val="bg2"/>
              </a:buClr>
              <a:buSzPct val="75000"/>
              <a:buFont typeface="Wingdings" pitchFamily="2" charset="2"/>
              <a:buNone/>
            </a:pPr>
            <a:r>
              <a:rPr lang="en-US" altLang="zh-CN" sz="2400" dirty="0">
                <a:ea typeface="幼圆" panose="02010509060101010101" pitchFamily="49" charset="-122"/>
                <a:cs typeface="Arial" panose="020B0604020202020204" pitchFamily="34" charset="0"/>
                <a:sym typeface="Symbol" pitchFamily="18" charset="2"/>
              </a:rPr>
              <a:t>//</a:t>
            </a:r>
            <a:r>
              <a:rPr lang="zh-CN" altLang="en-US" sz="2400" dirty="0">
                <a:solidFill>
                  <a:srgbClr val="FF0000"/>
                </a:solidFill>
                <a:ea typeface="幼圆" panose="02010509060101010101" pitchFamily="49" charset="-122"/>
                <a:cs typeface="Arial" panose="020B0604020202020204" pitchFamily="34" charset="0"/>
                <a:sym typeface="Symbol" pitchFamily="18" charset="2"/>
              </a:rPr>
              <a:t>从</a:t>
            </a:r>
            <a:r>
              <a:rPr lang="en-US" altLang="zh-CN" sz="2400" dirty="0" err="1">
                <a:solidFill>
                  <a:srgbClr val="FF0000"/>
                </a:solidFill>
                <a:ea typeface="幼圆" panose="02010509060101010101" pitchFamily="49" charset="-122"/>
                <a:cs typeface="Arial" panose="020B0604020202020204" pitchFamily="34" charset="0"/>
                <a:sym typeface="Symbol" pitchFamily="18" charset="2"/>
              </a:rPr>
              <a:t>T</a:t>
            </a:r>
            <a:r>
              <a:rPr lang="en-US" altLang="zh-CN" sz="2400" baseline="-25000" dirty="0" err="1">
                <a:solidFill>
                  <a:srgbClr val="FF0000"/>
                </a:solidFill>
                <a:ea typeface="幼圆" panose="02010509060101010101" pitchFamily="49" charset="-122"/>
                <a:cs typeface="Arial" panose="020B0604020202020204" pitchFamily="34" charset="0"/>
                <a:sym typeface="Symbol" pitchFamily="18" charset="2"/>
              </a:rPr>
              <a:t>k</a:t>
            </a:r>
            <a:r>
              <a:rPr lang="zh-CN" altLang="en-US" sz="2400" dirty="0">
                <a:solidFill>
                  <a:srgbClr val="FF0000"/>
                </a:solidFill>
                <a:ea typeface="幼圆" panose="02010509060101010101" pitchFamily="49" charset="-122"/>
                <a:cs typeface="Arial" panose="020B0604020202020204" pitchFamily="34" charset="0"/>
                <a:sym typeface="Symbol" pitchFamily="18" charset="2"/>
              </a:rPr>
              <a:t>中</a:t>
            </a:r>
            <a:r>
              <a:rPr lang="zh-CN" altLang="en-US" sz="2400" dirty="0">
                <a:ea typeface="幼圆" panose="02010509060101010101" pitchFamily="49" charset="-122"/>
                <a:cs typeface="Arial" panose="020B0604020202020204" pitchFamily="34" charset="0"/>
                <a:sym typeface="Symbol" pitchFamily="18" charset="2"/>
              </a:rPr>
              <a:t>随机地挑选一个元素</a:t>
            </a:r>
            <a:endParaRPr lang="zh-CN" altLang="en-US" sz="2400" dirty="0">
              <a:ea typeface="幼圆" panose="02010509060101010101" pitchFamily="49" charset="-122"/>
              <a:cs typeface="Arial" panose="020B0604020202020204" pitchFamily="34" charset="0"/>
            </a:endParaRPr>
          </a:p>
        </p:txBody>
      </p:sp>
      <p:sp>
        <p:nvSpPr>
          <p:cNvPr id="62470" name="Text Box 6"/>
          <p:cNvSpPr txBox="1">
            <a:spLocks noChangeArrowheads="1"/>
          </p:cNvSpPr>
          <p:nvPr/>
        </p:nvSpPr>
        <p:spPr bwMode="auto">
          <a:xfrm>
            <a:off x="3647728" y="3913460"/>
            <a:ext cx="3168650"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20000"/>
              </a:spcBef>
              <a:buClr>
                <a:schemeClr val="bg2"/>
              </a:buClr>
              <a:buSzPct val="75000"/>
              <a:buFont typeface="Wingdings" pitchFamily="2" charset="2"/>
              <a:buNone/>
            </a:pPr>
            <a:r>
              <a:rPr lang="en-US" altLang="zh-CN" sz="2400" dirty="0">
                <a:ea typeface="幼圆" panose="02010509060101010101" pitchFamily="49" charset="-122"/>
                <a:cs typeface="Arial" panose="020B0604020202020204" pitchFamily="34" charset="0"/>
                <a:sym typeface="Symbol" pitchFamily="18" charset="2"/>
              </a:rPr>
              <a:t>//</a:t>
            </a:r>
            <a:r>
              <a:rPr lang="zh-CN" altLang="en-US" sz="2400" dirty="0">
                <a:solidFill>
                  <a:srgbClr val="FF0000"/>
                </a:solidFill>
                <a:ea typeface="幼圆" panose="02010509060101010101" pitchFamily="49" charset="-122"/>
                <a:cs typeface="Arial" panose="020B0604020202020204" pitchFamily="34" charset="0"/>
                <a:sym typeface="Symbol" pitchFamily="18" charset="2"/>
              </a:rPr>
              <a:t>前</a:t>
            </a:r>
            <a:r>
              <a:rPr lang="en-US" altLang="zh-CN" sz="2400" dirty="0">
                <a:solidFill>
                  <a:srgbClr val="FF0000"/>
                </a:solidFill>
                <a:ea typeface="幼圆" panose="02010509060101010101" pitchFamily="49" charset="-122"/>
                <a:cs typeface="Arial" panose="020B0604020202020204" pitchFamily="34" charset="0"/>
                <a:sym typeface="Symbol" pitchFamily="18" charset="2"/>
              </a:rPr>
              <a:t>k</a:t>
            </a:r>
            <a:r>
              <a:rPr lang="zh-CN" altLang="en-US" sz="2400" dirty="0">
                <a:solidFill>
                  <a:srgbClr val="FF0000"/>
                </a:solidFill>
                <a:ea typeface="幼圆" panose="02010509060101010101" pitchFamily="49" charset="-122"/>
                <a:cs typeface="Arial" panose="020B0604020202020204" pitchFamily="34" charset="0"/>
                <a:sym typeface="Symbol" pitchFamily="18" charset="2"/>
              </a:rPr>
              <a:t>级</a:t>
            </a:r>
            <a:r>
              <a:rPr lang="zh-CN" altLang="en-US" sz="2400" dirty="0">
                <a:ea typeface="幼圆" panose="02010509060101010101" pitchFamily="49" charset="-122"/>
                <a:cs typeface="Arial" panose="020B0604020202020204" pitchFamily="34" charset="0"/>
                <a:sym typeface="Symbol" pitchFamily="18" charset="2"/>
              </a:rPr>
              <a:t>的结点总数</a:t>
            </a:r>
            <a:endParaRPr lang="zh-CN" altLang="en-US" sz="2400" dirty="0">
              <a:ea typeface="幼圆" panose="02010509060101010101" pitchFamily="49" charset="-122"/>
              <a:cs typeface="Arial" panose="020B0604020202020204" pitchFamily="34" charset="0"/>
            </a:endParaRPr>
          </a:p>
        </p:txBody>
      </p:sp>
      <p:sp>
        <p:nvSpPr>
          <p:cNvPr id="7"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26</a:t>
            </a:fld>
            <a:endParaRPr lang="en-US" altLang="zh-CN" dirty="0"/>
          </a:p>
        </p:txBody>
      </p:sp>
    </p:spTree>
    <p:extLst>
      <p:ext uri="{BB962C8B-B14F-4D97-AF65-F5344CB8AC3E}">
        <p14:creationId xmlns:p14="http://schemas.microsoft.com/office/powerpoint/2010/main" val="4210247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dirty="0"/>
              <a:t>蒙特卡罗方法的特点</a:t>
            </a:r>
          </a:p>
        </p:txBody>
      </p:sp>
      <p:sp>
        <p:nvSpPr>
          <p:cNvPr id="33795" name="Rectangle 3"/>
          <p:cNvSpPr>
            <a:spLocks noGrp="1" noChangeArrowheads="1"/>
          </p:cNvSpPr>
          <p:nvPr>
            <p:ph type="body" idx="1"/>
          </p:nvPr>
        </p:nvSpPr>
        <p:spPr>
          <a:xfrm>
            <a:off x="838200" y="1772816"/>
            <a:ext cx="10515600" cy="4351338"/>
          </a:xfrm>
        </p:spPr>
        <p:txBody>
          <a:bodyPr/>
          <a:lstStyle/>
          <a:p>
            <a:pPr eaLnBrk="1" hangingPunct="1">
              <a:lnSpc>
                <a:spcPct val="90000"/>
              </a:lnSpc>
            </a:pPr>
            <a:r>
              <a:rPr lang="zh-CN" altLang="en-US" dirty="0"/>
              <a:t>优点</a:t>
            </a:r>
            <a:endParaRPr lang="en-US" altLang="zh-CN" dirty="0"/>
          </a:p>
          <a:p>
            <a:pPr lvl="1">
              <a:lnSpc>
                <a:spcPct val="90000"/>
              </a:lnSpc>
            </a:pPr>
            <a:r>
              <a:rPr lang="zh-CN" altLang="en-US" sz="2800" dirty="0"/>
              <a:t>适用于找到</a:t>
            </a:r>
            <a:r>
              <a:rPr lang="zh-CN" altLang="en-US" sz="2800" dirty="0">
                <a:solidFill>
                  <a:srgbClr val="FF0000"/>
                </a:solidFill>
              </a:rPr>
              <a:t>所有</a:t>
            </a:r>
            <a:r>
              <a:rPr lang="zh-CN" altLang="en-US" sz="2800" dirty="0"/>
              <a:t>答案结点的情况</a:t>
            </a:r>
            <a:endParaRPr lang="en-US" altLang="zh-CN" sz="2800" dirty="0"/>
          </a:p>
          <a:p>
            <a:pPr lvl="1">
              <a:lnSpc>
                <a:spcPct val="90000"/>
              </a:lnSpc>
            </a:pPr>
            <a:r>
              <a:rPr lang="zh-CN" altLang="en-US" sz="2800" dirty="0"/>
              <a:t>约束函数固定不变，计算方便，对树中同一级结点均适用</a:t>
            </a:r>
          </a:p>
          <a:p>
            <a:pPr eaLnBrk="1" hangingPunct="1">
              <a:lnSpc>
                <a:spcPct val="90000"/>
              </a:lnSpc>
            </a:pPr>
            <a:r>
              <a:rPr lang="zh-CN" altLang="en-US" dirty="0"/>
              <a:t>缺点</a:t>
            </a:r>
            <a:endParaRPr lang="en-US" altLang="zh-CN" dirty="0"/>
          </a:p>
          <a:p>
            <a:pPr lvl="1">
              <a:lnSpc>
                <a:spcPct val="90000"/>
              </a:lnSpc>
            </a:pPr>
            <a:r>
              <a:rPr lang="zh-CN" altLang="en-US" sz="2800" dirty="0"/>
              <a:t>只求</a:t>
            </a:r>
            <a:r>
              <a:rPr lang="zh-CN" altLang="en-US" sz="2800" dirty="0">
                <a:solidFill>
                  <a:srgbClr val="FF0000"/>
                </a:solidFill>
              </a:rPr>
              <a:t>一个</a:t>
            </a:r>
            <a:r>
              <a:rPr lang="zh-CN" altLang="en-US" sz="2800" dirty="0"/>
              <a:t>解时，生成的结点数远小于</a:t>
            </a:r>
            <a:r>
              <a:rPr lang="en-US" altLang="zh-CN" sz="2800" dirty="0"/>
              <a:t>m</a:t>
            </a:r>
          </a:p>
          <a:p>
            <a:pPr lvl="1">
              <a:lnSpc>
                <a:spcPct val="90000"/>
              </a:lnSpc>
            </a:pPr>
            <a:r>
              <a:rPr lang="zh-CN" altLang="en-US" sz="2800" dirty="0"/>
              <a:t>随着检索的进行，约束函数应该更强，使得</a:t>
            </a:r>
            <a:r>
              <a:rPr lang="en-US" altLang="zh-CN" sz="2800" dirty="0"/>
              <a:t>m</a:t>
            </a:r>
            <a:r>
              <a:rPr lang="zh-CN" altLang="en-US" sz="2800" dirty="0"/>
              <a:t>的值更小</a:t>
            </a:r>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27</a:t>
            </a:fld>
            <a:endParaRPr lang="en-US" altLang="zh-CN" dirty="0"/>
          </a:p>
        </p:txBody>
      </p:sp>
    </p:spTree>
    <p:extLst>
      <p:ext uri="{BB962C8B-B14F-4D97-AF65-F5344CB8AC3E}">
        <p14:creationId xmlns:p14="http://schemas.microsoft.com/office/powerpoint/2010/main" val="1381069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7.3  n-</a:t>
            </a:r>
            <a:r>
              <a:rPr kumimoji="1" lang="zh-CN" altLang="en-US" dirty="0"/>
              <a:t>皇后问题</a:t>
            </a:r>
            <a:endParaRPr lang="zh-CN" altLang="en-US" dirty="0"/>
          </a:p>
        </p:txBody>
      </p:sp>
      <p:sp>
        <p:nvSpPr>
          <p:cNvPr id="3" name="内容占位符 2"/>
          <p:cNvSpPr>
            <a:spLocks noGrp="1"/>
          </p:cNvSpPr>
          <p:nvPr>
            <p:ph idx="1"/>
          </p:nvPr>
        </p:nvSpPr>
        <p:spPr/>
        <p:txBody>
          <a:bodyPr/>
          <a:lstStyle/>
          <a:p>
            <a:pPr>
              <a:spcBef>
                <a:spcPts val="0"/>
              </a:spcBef>
            </a:pPr>
            <a:r>
              <a:rPr lang="zh-CN" altLang="en-US" dirty="0"/>
              <a:t>问题描述</a:t>
            </a:r>
            <a:endParaRPr lang="en-US" altLang="zh-CN" dirty="0"/>
          </a:p>
          <a:p>
            <a:pPr>
              <a:spcBef>
                <a:spcPts val="0"/>
              </a:spcBef>
            </a:pPr>
            <a:r>
              <a:rPr lang="zh-CN" altLang="en-US" dirty="0"/>
              <a:t>解空间树</a:t>
            </a:r>
            <a:endParaRPr lang="en-US" altLang="zh-CN" dirty="0"/>
          </a:p>
          <a:p>
            <a:pPr>
              <a:spcBef>
                <a:spcPts val="0"/>
              </a:spcBef>
            </a:pPr>
            <a:r>
              <a:rPr lang="zh-CN" altLang="en-US" dirty="0"/>
              <a:t>问题分析</a:t>
            </a:r>
          </a:p>
          <a:p>
            <a:pPr>
              <a:spcBef>
                <a:spcPts val="0"/>
              </a:spcBef>
            </a:pPr>
            <a:r>
              <a:rPr lang="zh-CN" altLang="en-US" dirty="0"/>
              <a:t>算法</a:t>
            </a:r>
            <a:r>
              <a:rPr lang="en-US" altLang="zh-CN" dirty="0"/>
              <a:t>7.4 </a:t>
            </a:r>
            <a:r>
              <a:rPr lang="zh-CN" altLang="en-US" dirty="0"/>
              <a:t>约束函数</a:t>
            </a:r>
          </a:p>
          <a:p>
            <a:pPr>
              <a:spcBef>
                <a:spcPts val="0"/>
              </a:spcBef>
            </a:pPr>
            <a:r>
              <a:rPr lang="zh-CN" altLang="en-US" dirty="0"/>
              <a:t>算法</a:t>
            </a:r>
            <a:r>
              <a:rPr lang="en-US" altLang="zh-CN" dirty="0"/>
              <a:t>7.5 n-</a:t>
            </a:r>
            <a:r>
              <a:rPr lang="zh-CN" altLang="en-US" dirty="0"/>
              <a:t>皇后问题的回溯算法</a:t>
            </a:r>
          </a:p>
          <a:p>
            <a:pPr>
              <a:spcBef>
                <a:spcPts val="0"/>
              </a:spcBef>
            </a:pPr>
            <a:r>
              <a:rPr lang="zh-CN" altLang="en-US" dirty="0"/>
              <a:t>效率估计</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28</a:t>
            </a:fld>
            <a:endParaRPr lang="en-US" altLang="zh-CN"/>
          </a:p>
        </p:txBody>
      </p:sp>
    </p:spTree>
    <p:extLst>
      <p:ext uri="{BB962C8B-B14F-4D97-AF65-F5344CB8AC3E}">
        <p14:creationId xmlns:p14="http://schemas.microsoft.com/office/powerpoint/2010/main" val="2639791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767408" y="1476375"/>
            <a:ext cx="10873208" cy="464820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15000"/>
              </a:spcBef>
            </a:pPr>
            <a:r>
              <a:rPr kumimoji="1" lang="en-US" altLang="zh-CN" sz="2400" dirty="0"/>
              <a:t>n-</a:t>
            </a:r>
            <a:r>
              <a:rPr kumimoji="1" lang="zh-CN" altLang="en-US" sz="2400" dirty="0"/>
              <a:t>皇后问题：</a:t>
            </a:r>
            <a:endParaRPr kumimoji="1" lang="en-US" altLang="zh-CN" sz="2400" dirty="0"/>
          </a:p>
          <a:p>
            <a:pPr lvl="1">
              <a:lnSpc>
                <a:spcPct val="100000"/>
              </a:lnSpc>
              <a:spcBef>
                <a:spcPct val="15000"/>
              </a:spcBef>
            </a:pPr>
            <a:r>
              <a:rPr kumimoji="1" lang="zh-CN" altLang="en-US" dirty="0"/>
              <a:t>在一个</a:t>
            </a:r>
            <a:r>
              <a:rPr kumimoji="1" lang="en-US" altLang="zh-CN" dirty="0"/>
              <a:t>n*n</a:t>
            </a:r>
            <a:r>
              <a:rPr kumimoji="1" lang="zh-CN" altLang="en-US" dirty="0"/>
              <a:t>棋盘上放</a:t>
            </a:r>
            <a:r>
              <a:rPr kumimoji="1" lang="en-US" altLang="zh-CN" dirty="0"/>
              <a:t>n</a:t>
            </a:r>
            <a:r>
              <a:rPr kumimoji="1" lang="zh-CN" altLang="en-US" dirty="0"/>
              <a:t>个皇后</a:t>
            </a:r>
            <a:r>
              <a:rPr kumimoji="1" lang="en-US" altLang="zh-CN" dirty="0"/>
              <a:t>, </a:t>
            </a:r>
            <a:r>
              <a:rPr kumimoji="1" lang="zh-CN" altLang="en-US" dirty="0"/>
              <a:t>使每两个皇后之间都不能互相“攻击”</a:t>
            </a:r>
            <a:r>
              <a:rPr kumimoji="1" lang="en-US" altLang="zh-CN" dirty="0"/>
              <a:t>, </a:t>
            </a:r>
            <a:r>
              <a:rPr kumimoji="1" lang="zh-CN" altLang="en-US" dirty="0"/>
              <a:t>即使得每两个皇后都不能在</a:t>
            </a:r>
            <a:r>
              <a:rPr kumimoji="1" lang="zh-CN" altLang="en-US" dirty="0">
                <a:solidFill>
                  <a:srgbClr val="FF0000"/>
                </a:solidFill>
              </a:rPr>
              <a:t>同一行、同一列及同一条斜角线上</a:t>
            </a:r>
            <a:r>
              <a:rPr kumimoji="1" lang="zh-CN" altLang="en-US" dirty="0"/>
              <a:t>。</a:t>
            </a:r>
            <a:endParaRPr kumimoji="1" lang="en-US" altLang="zh-CN" dirty="0"/>
          </a:p>
          <a:p>
            <a:pPr>
              <a:lnSpc>
                <a:spcPct val="100000"/>
              </a:lnSpc>
              <a:spcBef>
                <a:spcPct val="15000"/>
              </a:spcBef>
            </a:pPr>
            <a:r>
              <a:rPr lang="zh-CN" altLang="en-US" sz="2400" dirty="0"/>
              <a:t>基于回溯法求解：</a:t>
            </a:r>
            <a:endParaRPr lang="en-US" altLang="zh-CN" sz="2400" dirty="0"/>
          </a:p>
          <a:p>
            <a:pPr lvl="1">
              <a:lnSpc>
                <a:spcPct val="100000"/>
              </a:lnSpc>
            </a:pPr>
            <a:r>
              <a:rPr kumimoji="1" lang="en-US" altLang="zh-CN" dirty="0"/>
              <a:t>n-</a:t>
            </a:r>
            <a:r>
              <a:rPr kumimoji="1" lang="zh-CN" altLang="en-US" dirty="0"/>
              <a:t>元组</a:t>
            </a:r>
            <a:r>
              <a:rPr kumimoji="1" lang="en-US" altLang="zh-CN" dirty="0"/>
              <a:t>(x</a:t>
            </a:r>
            <a:r>
              <a:rPr kumimoji="1" lang="en-US" altLang="zh-CN" baseline="-25000" dirty="0"/>
              <a:t>1</a:t>
            </a:r>
            <a:r>
              <a:rPr kumimoji="1" lang="en-US" altLang="zh-CN" dirty="0"/>
              <a:t>,…</a:t>
            </a:r>
            <a:r>
              <a:rPr kumimoji="1" lang="en-US" altLang="zh-CN" dirty="0" err="1"/>
              <a:t>x</a:t>
            </a:r>
            <a:r>
              <a:rPr kumimoji="1" lang="en-US" altLang="zh-CN" baseline="-25000" dirty="0" err="1"/>
              <a:t>n</a:t>
            </a:r>
            <a:r>
              <a:rPr kumimoji="1" lang="en-US" altLang="zh-CN" dirty="0"/>
              <a:t>)</a:t>
            </a:r>
            <a:r>
              <a:rPr kumimoji="1" lang="zh-CN" altLang="en-US" dirty="0"/>
              <a:t>：表示皇后</a:t>
            </a:r>
            <a:r>
              <a:rPr kumimoji="1" lang="en-US" altLang="zh-CN" dirty="0" err="1"/>
              <a:t>i</a:t>
            </a:r>
            <a:r>
              <a:rPr kumimoji="1" lang="zh-CN" altLang="en-US" dirty="0"/>
              <a:t>放在</a:t>
            </a:r>
            <a:r>
              <a:rPr kumimoji="1" lang="en-US" altLang="zh-CN" dirty="0" err="1"/>
              <a:t>i</a:t>
            </a:r>
            <a:r>
              <a:rPr kumimoji="1" lang="zh-CN" altLang="en-US" dirty="0"/>
              <a:t>行</a:t>
            </a:r>
            <a:r>
              <a:rPr kumimoji="1" lang="en-US" altLang="zh-CN" dirty="0"/>
              <a:t>x</a:t>
            </a:r>
            <a:r>
              <a:rPr kumimoji="1" lang="en-US" altLang="zh-CN" baseline="-25000" dirty="0"/>
              <a:t>i</a:t>
            </a:r>
            <a:r>
              <a:rPr kumimoji="1" lang="zh-CN" altLang="en-US" dirty="0"/>
              <a:t>列上。</a:t>
            </a:r>
          </a:p>
          <a:p>
            <a:pPr lvl="1">
              <a:lnSpc>
                <a:spcPct val="100000"/>
              </a:lnSpc>
            </a:pPr>
            <a:r>
              <a:rPr kumimoji="1" lang="zh-CN" altLang="en-US" dirty="0"/>
              <a:t>显式约束条件：</a:t>
            </a:r>
            <a:r>
              <a:rPr kumimoji="1" lang="en-US" altLang="zh-CN" dirty="0"/>
              <a:t>x</a:t>
            </a:r>
            <a:r>
              <a:rPr kumimoji="1" lang="en-US" altLang="zh-CN" baseline="-25000" dirty="0"/>
              <a:t>i</a:t>
            </a:r>
            <a:r>
              <a:rPr kumimoji="1" lang="en-US" altLang="zh-CN" dirty="0"/>
              <a:t>∈{1, 2, …, n}, 1≤i≤n</a:t>
            </a:r>
            <a:r>
              <a:rPr kumimoji="1" lang="zh-CN" altLang="en-US" dirty="0"/>
              <a:t>，且没有两个</a:t>
            </a:r>
            <a:r>
              <a:rPr kumimoji="1" lang="en-US" altLang="zh-CN" dirty="0"/>
              <a:t>x</a:t>
            </a:r>
            <a:r>
              <a:rPr kumimoji="1" lang="en-US" altLang="zh-CN" baseline="-25000" dirty="0"/>
              <a:t>i</a:t>
            </a:r>
            <a:r>
              <a:rPr kumimoji="1" lang="zh-CN" altLang="en-US" dirty="0"/>
              <a:t>可以相同</a:t>
            </a:r>
            <a:endParaRPr kumimoji="1" lang="en-US" altLang="zh-CN" dirty="0"/>
          </a:p>
          <a:p>
            <a:pPr lvl="1">
              <a:lnSpc>
                <a:spcPct val="100000"/>
              </a:lnSpc>
            </a:pPr>
            <a:r>
              <a:rPr kumimoji="1" lang="zh-CN" altLang="en-US" dirty="0"/>
              <a:t>隐式约束条件：没有两个皇后可以在同一条斜角线上。</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29</a:t>
            </a:fld>
            <a:endParaRPr lang="en-US" altLang="zh-CN"/>
          </a:p>
        </p:txBody>
      </p:sp>
      <p:sp>
        <p:nvSpPr>
          <p:cNvPr id="10" name="Rectangle 2"/>
          <p:cNvSpPr>
            <a:spLocks noGrp="1" noChangeArrowheads="1"/>
          </p:cNvSpPr>
          <p:nvPr>
            <p:ph type="title"/>
          </p:nvPr>
        </p:nvSpPr>
        <p:spPr>
          <a:xfrm>
            <a:off x="839416" y="95799"/>
            <a:ext cx="8229600" cy="1371600"/>
          </a:xfrm>
        </p:spPr>
        <p:txBody>
          <a:bodyPr/>
          <a:lstStyle/>
          <a:p>
            <a:pPr eaLnBrk="1" hangingPunct="1"/>
            <a:r>
              <a:rPr lang="zh-CN" altLang="en-US" dirty="0"/>
              <a:t>问题描述</a:t>
            </a:r>
          </a:p>
        </p:txBody>
      </p:sp>
      <p:sp>
        <p:nvSpPr>
          <p:cNvPr id="14" name="圆角矩形标注 13"/>
          <p:cNvSpPr/>
          <p:nvPr/>
        </p:nvSpPr>
        <p:spPr>
          <a:xfrm>
            <a:off x="7245597" y="2924944"/>
            <a:ext cx="1800200" cy="432048"/>
          </a:xfrm>
          <a:prstGeom prst="wedgeRoundRectCallout">
            <a:avLst>
              <a:gd name="adj1" fmla="val -49107"/>
              <a:gd name="adj2" fmla="val 89534"/>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解空间：</a:t>
            </a:r>
            <a:r>
              <a:rPr lang="en-US" altLang="zh-CN" sz="2400" dirty="0">
                <a:solidFill>
                  <a:schemeClr val="tx1"/>
                </a:solidFill>
                <a:latin typeface="Arial" panose="020B0604020202020204" pitchFamily="34" charset="0"/>
                <a:cs typeface="Arial" panose="020B0604020202020204" pitchFamily="34" charset="0"/>
              </a:rPr>
              <a:t>n!</a:t>
            </a:r>
            <a:endParaRPr lang="en-US" altLang="zh-CN" sz="2400" baseline="30000" dirty="0">
              <a:solidFill>
                <a:schemeClr val="tx1"/>
              </a:solidFill>
              <a:latin typeface="Arial" panose="020B0604020202020204" pitchFamily="34" charset="0"/>
              <a:ea typeface="幼圆" panose="02010509060101010101" pitchFamily="49" charset="-122"/>
              <a:cs typeface="Arial" panose="020B0604020202020204" pitchFamily="34" charset="0"/>
            </a:endParaRPr>
          </a:p>
        </p:txBody>
      </p:sp>
    </p:spTree>
    <p:extLst>
      <p:ext uri="{BB962C8B-B14F-4D97-AF65-F5344CB8AC3E}">
        <p14:creationId xmlns:p14="http://schemas.microsoft.com/office/powerpoint/2010/main" val="187930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5578" y="1075631"/>
            <a:ext cx="10486292" cy="868649"/>
          </a:xfrm>
        </p:spPr>
        <p:txBody>
          <a:bodyPr/>
          <a:lstStyle/>
          <a:p>
            <a:pPr>
              <a:lnSpc>
                <a:spcPct val="90000"/>
              </a:lnSpc>
            </a:pPr>
            <a:r>
              <a:rPr kumimoji="1" lang="en-US" altLang="zh-CN" sz="2400" dirty="0"/>
              <a:t>n=4</a:t>
            </a:r>
            <a:r>
              <a:rPr kumimoji="1" lang="zh-CN" altLang="en-US" sz="2400" dirty="0"/>
              <a:t>时，叶结点个数</a:t>
            </a:r>
            <a:r>
              <a:rPr kumimoji="1" lang="en-US" altLang="zh-CN" sz="2400" dirty="0"/>
              <a:t>=4</a:t>
            </a:r>
            <a:r>
              <a:rPr kumimoji="1" lang="zh-CN" altLang="en-US" sz="2400" dirty="0"/>
              <a:t>！</a:t>
            </a:r>
            <a:r>
              <a:rPr kumimoji="1" lang="en-US" altLang="zh-CN" sz="2400" dirty="0"/>
              <a:t>=24</a:t>
            </a:r>
            <a:r>
              <a:rPr kumimoji="1" lang="zh-CN" altLang="en-US" sz="2400" dirty="0"/>
              <a:t>，解空间是从根结点到叶结点的所有路径。</a:t>
            </a:r>
          </a:p>
          <a:p>
            <a:pPr>
              <a:spcBef>
                <a:spcPts val="0"/>
              </a:spcBef>
            </a:pPr>
            <a:endParaRPr lang="en-US" altLang="zh-CN" sz="3200" dirty="0"/>
          </a:p>
          <a:p>
            <a:pPr>
              <a:spcBef>
                <a:spcPts val="0"/>
              </a:spcBef>
            </a:pPr>
            <a:endParaRPr lang="en-US" altLang="zh-CN" sz="3200"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30</a:t>
            </a:fld>
            <a:endParaRPr lang="en-US" altLang="zh-CN"/>
          </a:p>
        </p:txBody>
      </p:sp>
      <p:sp>
        <p:nvSpPr>
          <p:cNvPr id="8" name="Rectangle 177"/>
          <p:cNvSpPr>
            <a:spLocks noChangeArrowheads="1"/>
          </p:cNvSpPr>
          <p:nvPr/>
        </p:nvSpPr>
        <p:spPr bwMode="auto">
          <a:xfrm>
            <a:off x="1398533" y="5445407"/>
            <a:ext cx="8153400" cy="533400"/>
          </a:xfrm>
          <a:prstGeom prst="rect">
            <a:avLst/>
          </a:prstGeom>
          <a:solidFill>
            <a:schemeClr val="accent1">
              <a:lumMod val="20000"/>
              <a:lumOff val="80000"/>
            </a:schemeClr>
          </a:solidFill>
          <a:ln w="9525">
            <a:noFill/>
            <a:miter lim="800000"/>
            <a:headEnd/>
            <a:tailEnd/>
          </a:ln>
          <a:effectLst/>
        </p:spPr>
        <p:txBody>
          <a:bodyPr wrap="none" anchor="ctr"/>
          <a:lstStyle/>
          <a:p>
            <a:endParaRPr lang="zh-CN" altLang="en-US">
              <a:latin typeface="Arial" panose="020B0604020202020204" pitchFamily="34" charset="0"/>
              <a:cs typeface="Arial" panose="020B0604020202020204" pitchFamily="34" charset="0"/>
            </a:endParaRPr>
          </a:p>
        </p:txBody>
      </p:sp>
      <p:grpSp>
        <p:nvGrpSpPr>
          <p:cNvPr id="9" name="Group 176"/>
          <p:cNvGrpSpPr>
            <a:grpSpLocks/>
          </p:cNvGrpSpPr>
          <p:nvPr/>
        </p:nvGrpSpPr>
        <p:grpSpPr bwMode="auto">
          <a:xfrm>
            <a:off x="1487488" y="1716575"/>
            <a:ext cx="7924800" cy="4188503"/>
            <a:chOff x="0" y="1101"/>
            <a:chExt cx="5628" cy="2979"/>
          </a:xfrm>
          <a:noFill/>
        </p:grpSpPr>
        <p:sp>
          <p:nvSpPr>
            <p:cNvPr id="10" name="Oval 4"/>
            <p:cNvSpPr>
              <a:spLocks noChangeArrowheads="1"/>
            </p:cNvSpPr>
            <p:nvPr/>
          </p:nvSpPr>
          <p:spPr bwMode="auto">
            <a:xfrm>
              <a:off x="2892" y="1101"/>
              <a:ext cx="288" cy="259"/>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a:t>
              </a:r>
            </a:p>
          </p:txBody>
        </p:sp>
        <p:grpSp>
          <p:nvGrpSpPr>
            <p:cNvPr id="11" name="Group 123"/>
            <p:cNvGrpSpPr>
              <a:grpSpLocks/>
            </p:cNvGrpSpPr>
            <p:nvPr/>
          </p:nvGrpSpPr>
          <p:grpSpPr bwMode="auto">
            <a:xfrm>
              <a:off x="2676" y="2769"/>
              <a:ext cx="756" cy="1309"/>
              <a:chOff x="2724" y="2627"/>
              <a:chExt cx="756" cy="1309"/>
            </a:xfrm>
            <a:grpFill/>
          </p:grpSpPr>
          <p:sp>
            <p:nvSpPr>
              <p:cNvPr id="115" name="Oval 45"/>
              <p:cNvSpPr>
                <a:spLocks noChangeArrowheads="1"/>
              </p:cNvSpPr>
              <p:nvPr/>
            </p:nvSpPr>
            <p:spPr bwMode="auto">
              <a:xfrm>
                <a:off x="2772" y="3024"/>
                <a:ext cx="288" cy="299"/>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20</a:t>
                </a:r>
              </a:p>
            </p:txBody>
          </p:sp>
          <p:sp>
            <p:nvSpPr>
              <p:cNvPr id="116" name="Oval 46"/>
              <p:cNvSpPr>
                <a:spLocks noChangeArrowheads="1"/>
              </p:cNvSpPr>
              <p:nvPr/>
            </p:nvSpPr>
            <p:spPr bwMode="auto">
              <a:xfrm>
                <a:off x="2772" y="3648"/>
                <a:ext cx="288" cy="288"/>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21</a:t>
                </a:r>
              </a:p>
            </p:txBody>
          </p:sp>
          <p:sp>
            <p:nvSpPr>
              <p:cNvPr id="117" name="Oval 47"/>
              <p:cNvSpPr>
                <a:spLocks noChangeArrowheads="1"/>
              </p:cNvSpPr>
              <p:nvPr/>
            </p:nvSpPr>
            <p:spPr bwMode="auto">
              <a:xfrm>
                <a:off x="3192" y="3024"/>
                <a:ext cx="288" cy="299"/>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22</a:t>
                </a:r>
              </a:p>
            </p:txBody>
          </p:sp>
          <p:sp>
            <p:nvSpPr>
              <p:cNvPr id="118" name="Oval 48"/>
              <p:cNvSpPr>
                <a:spLocks noChangeArrowheads="1"/>
              </p:cNvSpPr>
              <p:nvPr/>
            </p:nvSpPr>
            <p:spPr bwMode="auto">
              <a:xfrm>
                <a:off x="3192" y="3648"/>
                <a:ext cx="288" cy="267"/>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23</a:t>
                </a:r>
              </a:p>
            </p:txBody>
          </p:sp>
          <p:sp>
            <p:nvSpPr>
              <p:cNvPr id="119" name="Line 49"/>
              <p:cNvSpPr>
                <a:spLocks noChangeShapeType="1"/>
              </p:cNvSpPr>
              <p:nvPr/>
            </p:nvSpPr>
            <p:spPr bwMode="auto">
              <a:xfrm>
                <a:off x="2928" y="3312"/>
                <a:ext cx="0" cy="33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20" name="Line 50"/>
              <p:cNvSpPr>
                <a:spLocks noChangeShapeType="1"/>
              </p:cNvSpPr>
              <p:nvPr/>
            </p:nvSpPr>
            <p:spPr bwMode="auto">
              <a:xfrm flipH="1">
                <a:off x="3335" y="3312"/>
                <a:ext cx="1" cy="330"/>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21" name="Text Box 51"/>
              <p:cNvSpPr txBox="1">
                <a:spLocks noChangeArrowheads="1"/>
              </p:cNvSpPr>
              <p:nvPr/>
            </p:nvSpPr>
            <p:spPr bwMode="auto">
              <a:xfrm>
                <a:off x="2724" y="3456"/>
                <a:ext cx="168"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4</a:t>
                </a:r>
              </a:p>
            </p:txBody>
          </p:sp>
          <p:sp>
            <p:nvSpPr>
              <p:cNvPr id="122" name="Text Box 52"/>
              <p:cNvSpPr txBox="1">
                <a:spLocks noChangeArrowheads="1"/>
              </p:cNvSpPr>
              <p:nvPr/>
            </p:nvSpPr>
            <p:spPr bwMode="auto">
              <a:xfrm>
                <a:off x="3144" y="3478"/>
                <a:ext cx="168" cy="219"/>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3</a:t>
                </a:r>
              </a:p>
            </p:txBody>
          </p:sp>
          <p:sp>
            <p:nvSpPr>
              <p:cNvPr id="123" name="Line 53"/>
              <p:cNvSpPr>
                <a:spLocks noChangeShapeType="1"/>
              </p:cNvSpPr>
              <p:nvPr/>
            </p:nvSpPr>
            <p:spPr bwMode="auto">
              <a:xfrm flipH="1">
                <a:off x="2976" y="2642"/>
                <a:ext cx="156" cy="382"/>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24" name="Line 54"/>
              <p:cNvSpPr>
                <a:spLocks noChangeShapeType="1"/>
              </p:cNvSpPr>
              <p:nvPr/>
            </p:nvSpPr>
            <p:spPr bwMode="auto">
              <a:xfrm>
                <a:off x="3144" y="2627"/>
                <a:ext cx="216" cy="397"/>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25" name="Text Box 55"/>
              <p:cNvSpPr txBox="1">
                <a:spLocks noChangeArrowheads="1"/>
              </p:cNvSpPr>
              <p:nvPr/>
            </p:nvSpPr>
            <p:spPr bwMode="auto">
              <a:xfrm>
                <a:off x="3264" y="2736"/>
                <a:ext cx="167"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4</a:t>
                </a:r>
              </a:p>
            </p:txBody>
          </p:sp>
          <p:sp>
            <p:nvSpPr>
              <p:cNvPr id="126" name="Text Box 56"/>
              <p:cNvSpPr txBox="1">
                <a:spLocks noChangeArrowheads="1"/>
              </p:cNvSpPr>
              <p:nvPr/>
            </p:nvSpPr>
            <p:spPr bwMode="auto">
              <a:xfrm>
                <a:off x="2796" y="2736"/>
                <a:ext cx="168"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3</a:t>
                </a:r>
              </a:p>
            </p:txBody>
          </p:sp>
        </p:grpSp>
        <p:sp>
          <p:nvSpPr>
            <p:cNvPr id="12" name="Line 79"/>
            <p:cNvSpPr>
              <a:spLocks noChangeShapeType="1"/>
            </p:cNvSpPr>
            <p:nvPr/>
          </p:nvSpPr>
          <p:spPr bwMode="auto">
            <a:xfrm flipH="1">
              <a:off x="4512" y="2789"/>
              <a:ext cx="228" cy="377"/>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grpSp>
          <p:nvGrpSpPr>
            <p:cNvPr id="13" name="Group 83"/>
            <p:cNvGrpSpPr>
              <a:grpSpLocks/>
            </p:cNvGrpSpPr>
            <p:nvPr/>
          </p:nvGrpSpPr>
          <p:grpSpPr bwMode="auto">
            <a:xfrm>
              <a:off x="288" y="2026"/>
              <a:ext cx="1968" cy="773"/>
              <a:chOff x="324" y="1140"/>
              <a:chExt cx="1968" cy="933"/>
            </a:xfrm>
            <a:grpFill/>
          </p:grpSpPr>
          <p:sp>
            <p:nvSpPr>
              <p:cNvPr id="106" name="Oval 84"/>
              <p:cNvSpPr>
                <a:spLocks noChangeArrowheads="1"/>
              </p:cNvSpPr>
              <p:nvPr/>
            </p:nvSpPr>
            <p:spPr bwMode="auto">
              <a:xfrm>
                <a:off x="324" y="1728"/>
                <a:ext cx="288" cy="303"/>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a:t>
                </a:r>
              </a:p>
            </p:txBody>
          </p:sp>
          <p:sp>
            <p:nvSpPr>
              <p:cNvPr id="107" name="Oval 85"/>
              <p:cNvSpPr>
                <a:spLocks noChangeArrowheads="1"/>
              </p:cNvSpPr>
              <p:nvPr/>
            </p:nvSpPr>
            <p:spPr bwMode="auto">
              <a:xfrm>
                <a:off x="1164" y="1728"/>
                <a:ext cx="288" cy="345"/>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8</a:t>
                </a:r>
              </a:p>
            </p:txBody>
          </p:sp>
          <p:sp>
            <p:nvSpPr>
              <p:cNvPr id="108" name="Oval 86"/>
              <p:cNvSpPr>
                <a:spLocks noChangeArrowheads="1"/>
              </p:cNvSpPr>
              <p:nvPr/>
            </p:nvSpPr>
            <p:spPr bwMode="auto">
              <a:xfrm>
                <a:off x="2004" y="1728"/>
                <a:ext cx="288" cy="324"/>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13</a:t>
                </a:r>
              </a:p>
            </p:txBody>
          </p:sp>
          <p:sp>
            <p:nvSpPr>
              <p:cNvPr id="109" name="Line 87"/>
              <p:cNvSpPr>
                <a:spLocks noChangeShapeType="1"/>
              </p:cNvSpPr>
              <p:nvPr/>
            </p:nvSpPr>
            <p:spPr bwMode="auto">
              <a:xfrm flipH="1">
                <a:off x="456" y="1140"/>
                <a:ext cx="840" cy="588"/>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10" name="Line 88"/>
              <p:cNvSpPr>
                <a:spLocks noChangeShapeType="1"/>
              </p:cNvSpPr>
              <p:nvPr/>
            </p:nvSpPr>
            <p:spPr bwMode="auto">
              <a:xfrm>
                <a:off x="1308" y="1140"/>
                <a:ext cx="0" cy="588"/>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11" name="Line 89"/>
              <p:cNvSpPr>
                <a:spLocks noChangeShapeType="1"/>
              </p:cNvSpPr>
              <p:nvPr/>
            </p:nvSpPr>
            <p:spPr bwMode="auto">
              <a:xfrm>
                <a:off x="1320" y="1140"/>
                <a:ext cx="828" cy="588"/>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12" name="Text Box 90"/>
              <p:cNvSpPr txBox="1">
                <a:spLocks noChangeArrowheads="1"/>
              </p:cNvSpPr>
              <p:nvPr/>
            </p:nvSpPr>
            <p:spPr bwMode="auto">
              <a:xfrm>
                <a:off x="613" y="1272"/>
                <a:ext cx="167" cy="341"/>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endParaRPr lang="zh-CN" altLang="zh-CN" sz="2000">
                  <a:cs typeface="Arial" panose="020B0604020202020204" pitchFamily="34" charset="0"/>
                </a:endParaRPr>
              </a:p>
            </p:txBody>
          </p:sp>
          <p:sp>
            <p:nvSpPr>
              <p:cNvPr id="113" name="Text Box 91"/>
              <p:cNvSpPr txBox="1">
                <a:spLocks noChangeArrowheads="1"/>
              </p:cNvSpPr>
              <p:nvPr/>
            </p:nvSpPr>
            <p:spPr bwMode="auto">
              <a:xfrm>
                <a:off x="1128" y="1259"/>
                <a:ext cx="168" cy="343"/>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3</a:t>
                </a:r>
              </a:p>
            </p:txBody>
          </p:sp>
          <p:sp>
            <p:nvSpPr>
              <p:cNvPr id="114" name="Text Box 92"/>
              <p:cNvSpPr txBox="1">
                <a:spLocks noChangeArrowheads="1"/>
              </p:cNvSpPr>
              <p:nvPr/>
            </p:nvSpPr>
            <p:spPr bwMode="auto">
              <a:xfrm>
                <a:off x="1728" y="1246"/>
                <a:ext cx="168" cy="341"/>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4</a:t>
                </a:r>
              </a:p>
            </p:txBody>
          </p:sp>
        </p:grpSp>
        <p:grpSp>
          <p:nvGrpSpPr>
            <p:cNvPr id="14" name="Group 122"/>
            <p:cNvGrpSpPr>
              <a:grpSpLocks/>
            </p:cNvGrpSpPr>
            <p:nvPr/>
          </p:nvGrpSpPr>
          <p:grpSpPr bwMode="auto">
            <a:xfrm>
              <a:off x="2952" y="2016"/>
              <a:ext cx="2136" cy="2041"/>
              <a:chOff x="3000" y="1874"/>
              <a:chExt cx="2136" cy="2041"/>
            </a:xfrm>
            <a:grpFill/>
          </p:grpSpPr>
          <p:sp>
            <p:nvSpPr>
              <p:cNvPr id="85" name="Oval 71"/>
              <p:cNvSpPr>
                <a:spLocks noChangeArrowheads="1"/>
              </p:cNvSpPr>
              <p:nvPr/>
            </p:nvSpPr>
            <p:spPr bwMode="auto">
              <a:xfrm>
                <a:off x="4416" y="3024"/>
                <a:ext cx="288" cy="299"/>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30</a:t>
                </a:r>
              </a:p>
            </p:txBody>
          </p:sp>
          <p:sp>
            <p:nvSpPr>
              <p:cNvPr id="86" name="Oval 72"/>
              <p:cNvSpPr>
                <a:spLocks noChangeArrowheads="1"/>
              </p:cNvSpPr>
              <p:nvPr/>
            </p:nvSpPr>
            <p:spPr bwMode="auto">
              <a:xfrm>
                <a:off x="4416" y="3648"/>
                <a:ext cx="288" cy="267"/>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31</a:t>
                </a:r>
              </a:p>
            </p:txBody>
          </p:sp>
          <p:sp>
            <p:nvSpPr>
              <p:cNvPr id="87" name="Oval 73"/>
              <p:cNvSpPr>
                <a:spLocks noChangeArrowheads="1"/>
              </p:cNvSpPr>
              <p:nvPr/>
            </p:nvSpPr>
            <p:spPr bwMode="auto">
              <a:xfrm>
                <a:off x="4848" y="3024"/>
                <a:ext cx="288" cy="299"/>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32</a:t>
                </a:r>
              </a:p>
            </p:txBody>
          </p:sp>
          <p:sp>
            <p:nvSpPr>
              <p:cNvPr id="88" name="Oval 74"/>
              <p:cNvSpPr>
                <a:spLocks noChangeArrowheads="1"/>
              </p:cNvSpPr>
              <p:nvPr/>
            </p:nvSpPr>
            <p:spPr bwMode="auto">
              <a:xfrm>
                <a:off x="4848" y="3648"/>
                <a:ext cx="288" cy="267"/>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33</a:t>
                </a:r>
              </a:p>
            </p:txBody>
          </p:sp>
          <p:sp>
            <p:nvSpPr>
              <p:cNvPr id="89" name="Line 75"/>
              <p:cNvSpPr>
                <a:spLocks noChangeShapeType="1"/>
              </p:cNvSpPr>
              <p:nvPr/>
            </p:nvSpPr>
            <p:spPr bwMode="auto">
              <a:xfrm>
                <a:off x="4560" y="3312"/>
                <a:ext cx="0" cy="33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90" name="Line 76"/>
              <p:cNvSpPr>
                <a:spLocks noChangeShapeType="1"/>
              </p:cNvSpPr>
              <p:nvPr/>
            </p:nvSpPr>
            <p:spPr bwMode="auto">
              <a:xfrm>
                <a:off x="4992" y="3312"/>
                <a:ext cx="0" cy="33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91" name="Text Box 77"/>
              <p:cNvSpPr txBox="1">
                <a:spLocks noChangeArrowheads="1"/>
              </p:cNvSpPr>
              <p:nvPr/>
            </p:nvSpPr>
            <p:spPr bwMode="auto">
              <a:xfrm>
                <a:off x="4368" y="3360"/>
                <a:ext cx="169"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3</a:t>
                </a:r>
              </a:p>
            </p:txBody>
          </p:sp>
          <p:sp>
            <p:nvSpPr>
              <p:cNvPr id="92" name="Text Box 78"/>
              <p:cNvSpPr txBox="1">
                <a:spLocks noChangeArrowheads="1"/>
              </p:cNvSpPr>
              <p:nvPr/>
            </p:nvSpPr>
            <p:spPr bwMode="auto">
              <a:xfrm>
                <a:off x="4813" y="3360"/>
                <a:ext cx="167"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1</a:t>
                </a:r>
              </a:p>
            </p:txBody>
          </p:sp>
          <p:sp>
            <p:nvSpPr>
              <p:cNvPr id="93" name="Line 80"/>
              <p:cNvSpPr>
                <a:spLocks noChangeShapeType="1"/>
              </p:cNvSpPr>
              <p:nvPr/>
            </p:nvSpPr>
            <p:spPr bwMode="auto">
              <a:xfrm>
                <a:off x="4800" y="2642"/>
                <a:ext cx="192" cy="382"/>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94" name="Text Box 81"/>
              <p:cNvSpPr txBox="1">
                <a:spLocks noChangeArrowheads="1"/>
              </p:cNvSpPr>
              <p:nvPr/>
            </p:nvSpPr>
            <p:spPr bwMode="auto">
              <a:xfrm>
                <a:off x="4464" y="2640"/>
                <a:ext cx="168" cy="283"/>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1</a:t>
                </a:r>
              </a:p>
            </p:txBody>
          </p:sp>
          <p:sp>
            <p:nvSpPr>
              <p:cNvPr id="95" name="Text Box 82"/>
              <p:cNvSpPr txBox="1">
                <a:spLocks noChangeArrowheads="1"/>
              </p:cNvSpPr>
              <p:nvPr/>
            </p:nvSpPr>
            <p:spPr bwMode="auto">
              <a:xfrm>
                <a:off x="4896" y="2640"/>
                <a:ext cx="168" cy="283"/>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3</a:t>
                </a:r>
              </a:p>
            </p:txBody>
          </p:sp>
          <p:grpSp>
            <p:nvGrpSpPr>
              <p:cNvPr id="96" name="Group 93"/>
              <p:cNvGrpSpPr>
                <a:grpSpLocks/>
              </p:cNvGrpSpPr>
              <p:nvPr/>
            </p:nvGrpSpPr>
            <p:grpSpPr bwMode="auto">
              <a:xfrm>
                <a:off x="3000" y="1874"/>
                <a:ext cx="1956" cy="773"/>
                <a:chOff x="2988" y="1128"/>
                <a:chExt cx="1956" cy="933"/>
              </a:xfrm>
              <a:grpFill/>
            </p:grpSpPr>
            <p:sp>
              <p:nvSpPr>
                <p:cNvPr id="97" name="Oval 94"/>
                <p:cNvSpPr>
                  <a:spLocks noChangeArrowheads="1"/>
                </p:cNvSpPr>
                <p:nvPr/>
              </p:nvSpPr>
              <p:spPr bwMode="auto">
                <a:xfrm>
                  <a:off x="2988" y="1728"/>
                  <a:ext cx="288" cy="320"/>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19</a:t>
                  </a:r>
                </a:p>
              </p:txBody>
            </p:sp>
            <p:sp>
              <p:nvSpPr>
                <p:cNvPr id="98" name="Oval 95"/>
                <p:cNvSpPr>
                  <a:spLocks noChangeArrowheads="1"/>
                </p:cNvSpPr>
                <p:nvPr/>
              </p:nvSpPr>
              <p:spPr bwMode="auto">
                <a:xfrm>
                  <a:off x="3822" y="1722"/>
                  <a:ext cx="288" cy="339"/>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24</a:t>
                  </a:r>
                </a:p>
              </p:txBody>
            </p:sp>
            <p:sp>
              <p:nvSpPr>
                <p:cNvPr id="99" name="Oval 96"/>
                <p:cNvSpPr>
                  <a:spLocks noChangeArrowheads="1"/>
                </p:cNvSpPr>
                <p:nvPr/>
              </p:nvSpPr>
              <p:spPr bwMode="auto">
                <a:xfrm>
                  <a:off x="4656" y="1728"/>
                  <a:ext cx="288" cy="324"/>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29</a:t>
                  </a:r>
                </a:p>
              </p:txBody>
            </p:sp>
            <p:sp>
              <p:nvSpPr>
                <p:cNvPr id="100" name="Line 97"/>
                <p:cNvSpPr>
                  <a:spLocks noChangeShapeType="1"/>
                </p:cNvSpPr>
                <p:nvPr/>
              </p:nvSpPr>
              <p:spPr bwMode="auto">
                <a:xfrm flipH="1">
                  <a:off x="3132" y="1128"/>
                  <a:ext cx="799" cy="600"/>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01" name="Line 98"/>
                <p:cNvSpPr>
                  <a:spLocks noChangeShapeType="1"/>
                </p:cNvSpPr>
                <p:nvPr/>
              </p:nvSpPr>
              <p:spPr bwMode="auto">
                <a:xfrm>
                  <a:off x="3931" y="1147"/>
                  <a:ext cx="41" cy="581"/>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02" name="Line 99"/>
                <p:cNvSpPr>
                  <a:spLocks noChangeShapeType="1"/>
                </p:cNvSpPr>
                <p:nvPr/>
              </p:nvSpPr>
              <p:spPr bwMode="auto">
                <a:xfrm>
                  <a:off x="3931" y="1129"/>
                  <a:ext cx="881" cy="599"/>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103" name="Text Box 100"/>
                <p:cNvSpPr txBox="1">
                  <a:spLocks noChangeArrowheads="1"/>
                </p:cNvSpPr>
                <p:nvPr/>
              </p:nvSpPr>
              <p:spPr bwMode="auto">
                <a:xfrm>
                  <a:off x="3336" y="1246"/>
                  <a:ext cx="204" cy="341"/>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1</a:t>
                  </a:r>
                </a:p>
              </p:txBody>
            </p:sp>
            <p:sp>
              <p:nvSpPr>
                <p:cNvPr id="104" name="Text Box 101"/>
                <p:cNvSpPr txBox="1">
                  <a:spLocks noChangeArrowheads="1"/>
                </p:cNvSpPr>
                <p:nvPr/>
              </p:nvSpPr>
              <p:spPr bwMode="auto">
                <a:xfrm>
                  <a:off x="3792" y="1246"/>
                  <a:ext cx="168" cy="341"/>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3</a:t>
                  </a:r>
                </a:p>
              </p:txBody>
            </p:sp>
            <p:sp>
              <p:nvSpPr>
                <p:cNvPr id="105" name="Text Box 102"/>
                <p:cNvSpPr txBox="1">
                  <a:spLocks noChangeArrowheads="1"/>
                </p:cNvSpPr>
                <p:nvPr/>
              </p:nvSpPr>
              <p:spPr bwMode="auto">
                <a:xfrm>
                  <a:off x="4356" y="1237"/>
                  <a:ext cx="180" cy="341"/>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4</a:t>
                  </a:r>
                </a:p>
              </p:txBody>
            </p:sp>
          </p:grpSp>
        </p:grpSp>
        <p:grpSp>
          <p:nvGrpSpPr>
            <p:cNvPr id="15" name="Group 103"/>
            <p:cNvGrpSpPr>
              <a:grpSpLocks/>
            </p:cNvGrpSpPr>
            <p:nvPr/>
          </p:nvGrpSpPr>
          <p:grpSpPr bwMode="auto">
            <a:xfrm>
              <a:off x="1140" y="1320"/>
              <a:ext cx="4476" cy="716"/>
              <a:chOff x="1176" y="288"/>
              <a:chExt cx="4476" cy="864"/>
            </a:xfrm>
            <a:grpFill/>
          </p:grpSpPr>
          <p:sp>
            <p:nvSpPr>
              <p:cNvPr id="73" name="Oval 104"/>
              <p:cNvSpPr>
                <a:spLocks noChangeArrowheads="1"/>
              </p:cNvSpPr>
              <p:nvPr/>
            </p:nvSpPr>
            <p:spPr bwMode="auto">
              <a:xfrm>
                <a:off x="1176" y="833"/>
                <a:ext cx="288" cy="307"/>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2</a:t>
                </a:r>
              </a:p>
            </p:txBody>
          </p:sp>
          <p:sp>
            <p:nvSpPr>
              <p:cNvPr id="74" name="Oval 105"/>
              <p:cNvSpPr>
                <a:spLocks noChangeArrowheads="1"/>
              </p:cNvSpPr>
              <p:nvPr/>
            </p:nvSpPr>
            <p:spPr bwMode="auto">
              <a:xfrm>
                <a:off x="3777" y="819"/>
                <a:ext cx="288" cy="321"/>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18</a:t>
                </a:r>
              </a:p>
            </p:txBody>
          </p:sp>
          <p:sp>
            <p:nvSpPr>
              <p:cNvPr id="75" name="Oval 106"/>
              <p:cNvSpPr>
                <a:spLocks noChangeArrowheads="1"/>
              </p:cNvSpPr>
              <p:nvPr/>
            </p:nvSpPr>
            <p:spPr bwMode="auto">
              <a:xfrm>
                <a:off x="4764" y="818"/>
                <a:ext cx="288" cy="322"/>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34</a:t>
                </a:r>
              </a:p>
            </p:txBody>
          </p:sp>
          <p:sp>
            <p:nvSpPr>
              <p:cNvPr id="76" name="Oval 107"/>
              <p:cNvSpPr>
                <a:spLocks noChangeArrowheads="1"/>
              </p:cNvSpPr>
              <p:nvPr/>
            </p:nvSpPr>
            <p:spPr bwMode="auto">
              <a:xfrm>
                <a:off x="5364" y="818"/>
                <a:ext cx="288" cy="334"/>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50</a:t>
                </a:r>
              </a:p>
            </p:txBody>
          </p:sp>
          <p:sp>
            <p:nvSpPr>
              <p:cNvPr id="77" name="Line 108"/>
              <p:cNvSpPr>
                <a:spLocks noChangeShapeType="1"/>
              </p:cNvSpPr>
              <p:nvPr/>
            </p:nvSpPr>
            <p:spPr bwMode="auto">
              <a:xfrm flipH="1">
                <a:off x="1320" y="324"/>
                <a:ext cx="1692" cy="507"/>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78" name="Line 109"/>
              <p:cNvSpPr>
                <a:spLocks noChangeShapeType="1"/>
              </p:cNvSpPr>
              <p:nvPr/>
            </p:nvSpPr>
            <p:spPr bwMode="auto">
              <a:xfrm>
                <a:off x="3096" y="336"/>
                <a:ext cx="792" cy="482"/>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79" name="Line 110"/>
              <p:cNvSpPr>
                <a:spLocks noChangeShapeType="1"/>
              </p:cNvSpPr>
              <p:nvPr/>
            </p:nvSpPr>
            <p:spPr bwMode="auto">
              <a:xfrm>
                <a:off x="3156" y="312"/>
                <a:ext cx="1728" cy="504"/>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80" name="Line 111"/>
              <p:cNvSpPr>
                <a:spLocks noChangeShapeType="1"/>
              </p:cNvSpPr>
              <p:nvPr/>
            </p:nvSpPr>
            <p:spPr bwMode="auto">
              <a:xfrm>
                <a:off x="3192" y="288"/>
                <a:ext cx="2316" cy="534"/>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81" name="Text Box 112"/>
              <p:cNvSpPr txBox="1">
                <a:spLocks noChangeArrowheads="1"/>
              </p:cNvSpPr>
              <p:nvPr/>
            </p:nvSpPr>
            <p:spPr bwMode="auto">
              <a:xfrm>
                <a:off x="1680" y="492"/>
                <a:ext cx="168" cy="341"/>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endParaRPr lang="zh-CN" altLang="zh-CN" sz="2000">
                  <a:cs typeface="Arial" panose="020B0604020202020204" pitchFamily="34" charset="0"/>
                </a:endParaRPr>
              </a:p>
            </p:txBody>
          </p:sp>
          <p:sp>
            <p:nvSpPr>
              <p:cNvPr id="82" name="Text Box 113"/>
              <p:cNvSpPr txBox="1">
                <a:spLocks noChangeArrowheads="1"/>
              </p:cNvSpPr>
              <p:nvPr/>
            </p:nvSpPr>
            <p:spPr bwMode="auto">
              <a:xfrm>
                <a:off x="4104" y="601"/>
                <a:ext cx="168" cy="341"/>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3</a:t>
                </a:r>
              </a:p>
            </p:txBody>
          </p:sp>
          <p:sp>
            <p:nvSpPr>
              <p:cNvPr id="83" name="Text Box 114"/>
              <p:cNvSpPr txBox="1">
                <a:spLocks noChangeArrowheads="1"/>
              </p:cNvSpPr>
              <p:nvPr/>
            </p:nvSpPr>
            <p:spPr bwMode="auto">
              <a:xfrm>
                <a:off x="5029" y="516"/>
                <a:ext cx="168" cy="343"/>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4</a:t>
                </a:r>
              </a:p>
            </p:txBody>
          </p:sp>
          <p:sp>
            <p:nvSpPr>
              <p:cNvPr id="84" name="Text Box 115"/>
              <p:cNvSpPr txBox="1">
                <a:spLocks noChangeArrowheads="1"/>
              </p:cNvSpPr>
              <p:nvPr/>
            </p:nvSpPr>
            <p:spPr bwMode="auto">
              <a:xfrm>
                <a:off x="3432" y="588"/>
                <a:ext cx="168" cy="341"/>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2</a:t>
                </a:r>
              </a:p>
            </p:txBody>
          </p:sp>
        </p:grpSp>
        <p:sp>
          <p:nvSpPr>
            <p:cNvPr id="16" name="Text Box 116"/>
            <p:cNvSpPr txBox="1">
              <a:spLocks noChangeArrowheads="1"/>
            </p:cNvSpPr>
            <p:nvPr/>
          </p:nvSpPr>
          <p:spPr bwMode="auto">
            <a:xfrm>
              <a:off x="5232" y="2436"/>
              <a:ext cx="396" cy="282"/>
            </a:xfrm>
            <a:prstGeom prst="rect">
              <a:avLst/>
            </a:prstGeom>
            <a:grpFill/>
            <a:ln>
              <a:noFill/>
            </a:ln>
            <a:effectLst/>
            <a:extLst>
              <a:ext uri="{91240B29-F687-4F45-9708-019B960494DF}">
                <a14:hiddenLine xmlns:a14="http://schemas.microsoft.com/office/drawing/2010/main" w="127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a:t>
              </a:r>
            </a:p>
          </p:txBody>
        </p:sp>
        <p:sp>
          <p:nvSpPr>
            <p:cNvPr id="17" name="Text Box 117"/>
            <p:cNvSpPr txBox="1">
              <a:spLocks noChangeArrowheads="1"/>
            </p:cNvSpPr>
            <p:nvPr/>
          </p:nvSpPr>
          <p:spPr bwMode="auto">
            <a:xfrm>
              <a:off x="5232" y="3069"/>
              <a:ext cx="396" cy="283"/>
            </a:xfrm>
            <a:prstGeom prst="rect">
              <a:avLst/>
            </a:prstGeom>
            <a:grpFill/>
            <a:ln>
              <a:noFill/>
            </a:ln>
            <a:effectLst/>
            <a:extLst>
              <a:ext uri="{91240B29-F687-4F45-9708-019B960494DF}">
                <a14:hiddenLine xmlns:a14="http://schemas.microsoft.com/office/drawing/2010/main" w="127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a:t>
              </a:r>
            </a:p>
          </p:txBody>
        </p:sp>
        <p:sp>
          <p:nvSpPr>
            <p:cNvPr id="18" name="Text Box 118"/>
            <p:cNvSpPr txBox="1">
              <a:spLocks noChangeArrowheads="1"/>
            </p:cNvSpPr>
            <p:nvPr/>
          </p:nvSpPr>
          <p:spPr bwMode="auto">
            <a:xfrm>
              <a:off x="5232" y="3694"/>
              <a:ext cx="396" cy="282"/>
            </a:xfrm>
            <a:prstGeom prst="rect">
              <a:avLst/>
            </a:prstGeom>
            <a:grpFill/>
            <a:ln>
              <a:noFill/>
            </a:ln>
            <a:effectLst/>
            <a:extLst>
              <a:ext uri="{91240B29-F687-4F45-9708-019B960494DF}">
                <a14:hiddenLine xmlns:a14="http://schemas.microsoft.com/office/drawing/2010/main" w="127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cs typeface="Arial" panose="020B0604020202020204" pitchFamily="34" charset="0"/>
                </a:rPr>
                <a:t>…</a:t>
              </a:r>
            </a:p>
          </p:txBody>
        </p:sp>
        <p:sp>
          <p:nvSpPr>
            <p:cNvPr id="19" name="Text Box 119"/>
            <p:cNvSpPr txBox="1">
              <a:spLocks noChangeArrowheads="1"/>
            </p:cNvSpPr>
            <p:nvPr/>
          </p:nvSpPr>
          <p:spPr bwMode="auto">
            <a:xfrm>
              <a:off x="1572" y="1419"/>
              <a:ext cx="576" cy="286"/>
            </a:xfrm>
            <a:prstGeom prst="rect">
              <a:avLst/>
            </a:prstGeom>
            <a:grpFill/>
            <a:ln>
              <a:noFill/>
            </a:ln>
            <a:effectLst/>
            <a:extLst>
              <a:ext uri="{91240B29-F687-4F45-9708-019B960494DF}">
                <a14:hiddenLine xmlns:a14="http://schemas.microsoft.com/office/drawing/2010/main" w="127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1</a:t>
              </a:r>
              <a:r>
                <a:rPr lang="en-US" altLang="zh-CN" sz="2000">
                  <a:cs typeface="Arial" panose="020B0604020202020204" pitchFamily="34" charset="0"/>
                </a:rPr>
                <a:t>=1</a:t>
              </a:r>
            </a:p>
          </p:txBody>
        </p:sp>
        <p:sp>
          <p:nvSpPr>
            <p:cNvPr id="20" name="Text Box 120"/>
            <p:cNvSpPr txBox="1">
              <a:spLocks noChangeArrowheads="1"/>
            </p:cNvSpPr>
            <p:nvPr/>
          </p:nvSpPr>
          <p:spPr bwMode="auto">
            <a:xfrm>
              <a:off x="304" y="2143"/>
              <a:ext cx="575" cy="286"/>
            </a:xfrm>
            <a:prstGeom prst="rect">
              <a:avLst/>
            </a:prstGeom>
            <a:grpFill/>
            <a:ln>
              <a:noFill/>
            </a:ln>
            <a:effectLst/>
            <a:extLst>
              <a:ext uri="{91240B29-F687-4F45-9708-019B960494DF}">
                <a14:hiddenLine xmlns:a14="http://schemas.microsoft.com/office/drawing/2010/main" w="127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=2</a:t>
              </a:r>
            </a:p>
          </p:txBody>
        </p:sp>
        <p:grpSp>
          <p:nvGrpSpPr>
            <p:cNvPr id="21" name="Group 124"/>
            <p:cNvGrpSpPr>
              <a:grpSpLocks/>
            </p:cNvGrpSpPr>
            <p:nvPr/>
          </p:nvGrpSpPr>
          <p:grpSpPr bwMode="auto">
            <a:xfrm>
              <a:off x="3516" y="2789"/>
              <a:ext cx="756" cy="1289"/>
              <a:chOff x="2724" y="2647"/>
              <a:chExt cx="756" cy="1289"/>
            </a:xfrm>
            <a:grpFill/>
          </p:grpSpPr>
          <p:sp>
            <p:nvSpPr>
              <p:cNvPr id="61" name="Oval 125"/>
              <p:cNvSpPr>
                <a:spLocks noChangeArrowheads="1"/>
              </p:cNvSpPr>
              <p:nvPr/>
            </p:nvSpPr>
            <p:spPr bwMode="auto">
              <a:xfrm>
                <a:off x="2772" y="3024"/>
                <a:ext cx="288" cy="299"/>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25</a:t>
                </a:r>
              </a:p>
            </p:txBody>
          </p:sp>
          <p:sp>
            <p:nvSpPr>
              <p:cNvPr id="62" name="Oval 126"/>
              <p:cNvSpPr>
                <a:spLocks noChangeArrowheads="1"/>
              </p:cNvSpPr>
              <p:nvPr/>
            </p:nvSpPr>
            <p:spPr bwMode="auto">
              <a:xfrm>
                <a:off x="2772" y="3648"/>
                <a:ext cx="288" cy="288"/>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26</a:t>
                </a:r>
              </a:p>
            </p:txBody>
          </p:sp>
          <p:sp>
            <p:nvSpPr>
              <p:cNvPr id="63" name="Oval 127"/>
              <p:cNvSpPr>
                <a:spLocks noChangeArrowheads="1"/>
              </p:cNvSpPr>
              <p:nvPr/>
            </p:nvSpPr>
            <p:spPr bwMode="auto">
              <a:xfrm>
                <a:off x="3192" y="3024"/>
                <a:ext cx="288" cy="299"/>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27</a:t>
                </a:r>
              </a:p>
            </p:txBody>
          </p:sp>
          <p:sp>
            <p:nvSpPr>
              <p:cNvPr id="64" name="Oval 128"/>
              <p:cNvSpPr>
                <a:spLocks noChangeArrowheads="1"/>
              </p:cNvSpPr>
              <p:nvPr/>
            </p:nvSpPr>
            <p:spPr bwMode="auto">
              <a:xfrm>
                <a:off x="3192" y="3648"/>
                <a:ext cx="288" cy="267"/>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28</a:t>
                </a:r>
              </a:p>
            </p:txBody>
          </p:sp>
          <p:sp>
            <p:nvSpPr>
              <p:cNvPr id="65" name="Line 129"/>
              <p:cNvSpPr>
                <a:spLocks noChangeShapeType="1"/>
              </p:cNvSpPr>
              <p:nvPr/>
            </p:nvSpPr>
            <p:spPr bwMode="auto">
              <a:xfrm>
                <a:off x="2928" y="3312"/>
                <a:ext cx="0" cy="33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66" name="Line 130"/>
              <p:cNvSpPr>
                <a:spLocks noChangeShapeType="1"/>
              </p:cNvSpPr>
              <p:nvPr/>
            </p:nvSpPr>
            <p:spPr bwMode="auto">
              <a:xfrm flipH="1">
                <a:off x="3335" y="3312"/>
                <a:ext cx="1" cy="33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67" name="Text Box 131"/>
              <p:cNvSpPr txBox="1">
                <a:spLocks noChangeArrowheads="1"/>
              </p:cNvSpPr>
              <p:nvPr/>
            </p:nvSpPr>
            <p:spPr bwMode="auto">
              <a:xfrm>
                <a:off x="2724" y="3456"/>
                <a:ext cx="168"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4</a:t>
                </a:r>
              </a:p>
            </p:txBody>
          </p:sp>
          <p:sp>
            <p:nvSpPr>
              <p:cNvPr id="68" name="Text Box 132"/>
              <p:cNvSpPr txBox="1">
                <a:spLocks noChangeArrowheads="1"/>
              </p:cNvSpPr>
              <p:nvPr/>
            </p:nvSpPr>
            <p:spPr bwMode="auto">
              <a:xfrm>
                <a:off x="3144" y="3478"/>
                <a:ext cx="168" cy="219"/>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3</a:t>
                </a:r>
              </a:p>
            </p:txBody>
          </p:sp>
          <p:sp>
            <p:nvSpPr>
              <p:cNvPr id="69" name="Line 133"/>
              <p:cNvSpPr>
                <a:spLocks noChangeShapeType="1"/>
              </p:cNvSpPr>
              <p:nvPr/>
            </p:nvSpPr>
            <p:spPr bwMode="auto">
              <a:xfrm flipH="1">
                <a:off x="2976" y="2647"/>
                <a:ext cx="156" cy="377"/>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70" name="Line 134"/>
              <p:cNvSpPr>
                <a:spLocks noChangeShapeType="1"/>
              </p:cNvSpPr>
              <p:nvPr/>
            </p:nvSpPr>
            <p:spPr bwMode="auto">
              <a:xfrm>
                <a:off x="3132" y="2647"/>
                <a:ext cx="228" cy="377"/>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71" name="Text Box 135"/>
              <p:cNvSpPr txBox="1">
                <a:spLocks noChangeArrowheads="1"/>
              </p:cNvSpPr>
              <p:nvPr/>
            </p:nvSpPr>
            <p:spPr bwMode="auto">
              <a:xfrm>
                <a:off x="3264" y="2736"/>
                <a:ext cx="167"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4</a:t>
                </a:r>
              </a:p>
            </p:txBody>
          </p:sp>
          <p:sp>
            <p:nvSpPr>
              <p:cNvPr id="72" name="Text Box 136"/>
              <p:cNvSpPr txBox="1">
                <a:spLocks noChangeArrowheads="1"/>
              </p:cNvSpPr>
              <p:nvPr/>
            </p:nvSpPr>
            <p:spPr bwMode="auto">
              <a:xfrm>
                <a:off x="2796" y="2736"/>
                <a:ext cx="168"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1</a:t>
                </a:r>
              </a:p>
            </p:txBody>
          </p:sp>
        </p:grpSp>
        <p:grpSp>
          <p:nvGrpSpPr>
            <p:cNvPr id="22" name="Group 137"/>
            <p:cNvGrpSpPr>
              <a:grpSpLocks/>
            </p:cNvGrpSpPr>
            <p:nvPr/>
          </p:nvGrpSpPr>
          <p:grpSpPr bwMode="auto">
            <a:xfrm>
              <a:off x="1728" y="2782"/>
              <a:ext cx="756" cy="1298"/>
              <a:chOff x="2724" y="2638"/>
              <a:chExt cx="756" cy="1298"/>
            </a:xfrm>
            <a:grpFill/>
          </p:grpSpPr>
          <p:sp>
            <p:nvSpPr>
              <p:cNvPr id="49" name="Oval 138"/>
              <p:cNvSpPr>
                <a:spLocks noChangeArrowheads="1"/>
              </p:cNvSpPr>
              <p:nvPr/>
            </p:nvSpPr>
            <p:spPr bwMode="auto">
              <a:xfrm>
                <a:off x="2772" y="3024"/>
                <a:ext cx="288" cy="291"/>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14</a:t>
                </a:r>
              </a:p>
            </p:txBody>
          </p:sp>
          <p:sp>
            <p:nvSpPr>
              <p:cNvPr id="50" name="Oval 139"/>
              <p:cNvSpPr>
                <a:spLocks noChangeArrowheads="1"/>
              </p:cNvSpPr>
              <p:nvPr/>
            </p:nvSpPr>
            <p:spPr bwMode="auto">
              <a:xfrm>
                <a:off x="2772" y="3648"/>
                <a:ext cx="288" cy="288"/>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15</a:t>
                </a:r>
              </a:p>
            </p:txBody>
          </p:sp>
          <p:sp>
            <p:nvSpPr>
              <p:cNvPr id="51" name="Oval 140"/>
              <p:cNvSpPr>
                <a:spLocks noChangeArrowheads="1"/>
              </p:cNvSpPr>
              <p:nvPr/>
            </p:nvSpPr>
            <p:spPr bwMode="auto">
              <a:xfrm>
                <a:off x="3192" y="3024"/>
                <a:ext cx="288" cy="275"/>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16</a:t>
                </a:r>
              </a:p>
            </p:txBody>
          </p:sp>
          <p:sp>
            <p:nvSpPr>
              <p:cNvPr id="52" name="Oval 141"/>
              <p:cNvSpPr>
                <a:spLocks noChangeArrowheads="1"/>
              </p:cNvSpPr>
              <p:nvPr/>
            </p:nvSpPr>
            <p:spPr bwMode="auto">
              <a:xfrm>
                <a:off x="3192" y="3648"/>
                <a:ext cx="288" cy="267"/>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17</a:t>
                </a:r>
              </a:p>
            </p:txBody>
          </p:sp>
          <p:sp>
            <p:nvSpPr>
              <p:cNvPr id="53" name="Line 142"/>
              <p:cNvSpPr>
                <a:spLocks noChangeShapeType="1"/>
              </p:cNvSpPr>
              <p:nvPr/>
            </p:nvSpPr>
            <p:spPr bwMode="auto">
              <a:xfrm>
                <a:off x="2928" y="3312"/>
                <a:ext cx="0" cy="33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54" name="Line 143"/>
              <p:cNvSpPr>
                <a:spLocks noChangeShapeType="1"/>
              </p:cNvSpPr>
              <p:nvPr/>
            </p:nvSpPr>
            <p:spPr bwMode="auto">
              <a:xfrm flipH="1">
                <a:off x="3335" y="3312"/>
                <a:ext cx="1" cy="334"/>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55" name="Text Box 144"/>
              <p:cNvSpPr txBox="1">
                <a:spLocks noChangeArrowheads="1"/>
              </p:cNvSpPr>
              <p:nvPr/>
            </p:nvSpPr>
            <p:spPr bwMode="auto">
              <a:xfrm>
                <a:off x="2724" y="3456"/>
                <a:ext cx="168"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3</a:t>
                </a:r>
              </a:p>
            </p:txBody>
          </p:sp>
          <p:sp>
            <p:nvSpPr>
              <p:cNvPr id="56" name="Text Box 145"/>
              <p:cNvSpPr txBox="1">
                <a:spLocks noChangeArrowheads="1"/>
              </p:cNvSpPr>
              <p:nvPr/>
            </p:nvSpPr>
            <p:spPr bwMode="auto">
              <a:xfrm>
                <a:off x="3144" y="3478"/>
                <a:ext cx="168" cy="219"/>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2</a:t>
                </a:r>
              </a:p>
            </p:txBody>
          </p:sp>
          <p:sp>
            <p:nvSpPr>
              <p:cNvPr id="57" name="Line 146"/>
              <p:cNvSpPr>
                <a:spLocks noChangeShapeType="1"/>
              </p:cNvSpPr>
              <p:nvPr/>
            </p:nvSpPr>
            <p:spPr bwMode="auto">
              <a:xfrm flipH="1">
                <a:off x="2976" y="2638"/>
                <a:ext cx="144" cy="38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58" name="Line 147"/>
              <p:cNvSpPr>
                <a:spLocks noChangeShapeType="1"/>
              </p:cNvSpPr>
              <p:nvPr/>
            </p:nvSpPr>
            <p:spPr bwMode="auto">
              <a:xfrm>
                <a:off x="3132" y="2638"/>
                <a:ext cx="228" cy="38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59" name="Text Box 148"/>
              <p:cNvSpPr txBox="1">
                <a:spLocks noChangeArrowheads="1"/>
              </p:cNvSpPr>
              <p:nvPr/>
            </p:nvSpPr>
            <p:spPr bwMode="auto">
              <a:xfrm>
                <a:off x="3264" y="2736"/>
                <a:ext cx="167"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3</a:t>
                </a:r>
              </a:p>
            </p:txBody>
          </p:sp>
          <p:sp>
            <p:nvSpPr>
              <p:cNvPr id="60" name="Text Box 149"/>
              <p:cNvSpPr txBox="1">
                <a:spLocks noChangeArrowheads="1"/>
              </p:cNvSpPr>
              <p:nvPr/>
            </p:nvSpPr>
            <p:spPr bwMode="auto">
              <a:xfrm>
                <a:off x="2796" y="2736"/>
                <a:ext cx="168"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2</a:t>
                </a:r>
              </a:p>
            </p:txBody>
          </p:sp>
        </p:grpSp>
        <p:grpSp>
          <p:nvGrpSpPr>
            <p:cNvPr id="23" name="Group 150"/>
            <p:cNvGrpSpPr>
              <a:grpSpLocks/>
            </p:cNvGrpSpPr>
            <p:nvPr/>
          </p:nvGrpSpPr>
          <p:grpSpPr bwMode="auto">
            <a:xfrm>
              <a:off x="864" y="2799"/>
              <a:ext cx="756" cy="1281"/>
              <a:chOff x="2724" y="2655"/>
              <a:chExt cx="756" cy="1281"/>
            </a:xfrm>
            <a:grpFill/>
          </p:grpSpPr>
          <p:sp>
            <p:nvSpPr>
              <p:cNvPr id="37" name="Oval 151"/>
              <p:cNvSpPr>
                <a:spLocks noChangeArrowheads="1"/>
              </p:cNvSpPr>
              <p:nvPr/>
            </p:nvSpPr>
            <p:spPr bwMode="auto">
              <a:xfrm>
                <a:off x="2772" y="3024"/>
                <a:ext cx="288" cy="291"/>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9</a:t>
                </a:r>
              </a:p>
            </p:txBody>
          </p:sp>
          <p:sp>
            <p:nvSpPr>
              <p:cNvPr id="38" name="Oval 152"/>
              <p:cNvSpPr>
                <a:spLocks noChangeArrowheads="1"/>
              </p:cNvSpPr>
              <p:nvPr/>
            </p:nvSpPr>
            <p:spPr bwMode="auto">
              <a:xfrm>
                <a:off x="2772" y="3648"/>
                <a:ext cx="288" cy="288"/>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10</a:t>
                </a:r>
              </a:p>
            </p:txBody>
          </p:sp>
          <p:sp>
            <p:nvSpPr>
              <p:cNvPr id="39" name="Oval 153"/>
              <p:cNvSpPr>
                <a:spLocks noChangeArrowheads="1"/>
              </p:cNvSpPr>
              <p:nvPr/>
            </p:nvSpPr>
            <p:spPr bwMode="auto">
              <a:xfrm>
                <a:off x="3192" y="3024"/>
                <a:ext cx="288" cy="280"/>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11</a:t>
                </a:r>
              </a:p>
            </p:txBody>
          </p:sp>
          <p:sp>
            <p:nvSpPr>
              <p:cNvPr id="40" name="Oval 154"/>
              <p:cNvSpPr>
                <a:spLocks noChangeArrowheads="1"/>
              </p:cNvSpPr>
              <p:nvPr/>
            </p:nvSpPr>
            <p:spPr bwMode="auto">
              <a:xfrm>
                <a:off x="3192" y="3648"/>
                <a:ext cx="288" cy="267"/>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12</a:t>
                </a:r>
              </a:p>
            </p:txBody>
          </p:sp>
          <p:sp>
            <p:nvSpPr>
              <p:cNvPr id="41" name="Line 155"/>
              <p:cNvSpPr>
                <a:spLocks noChangeShapeType="1"/>
              </p:cNvSpPr>
              <p:nvPr/>
            </p:nvSpPr>
            <p:spPr bwMode="auto">
              <a:xfrm>
                <a:off x="2928" y="3312"/>
                <a:ext cx="0" cy="33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42" name="Line 156"/>
              <p:cNvSpPr>
                <a:spLocks noChangeShapeType="1"/>
              </p:cNvSpPr>
              <p:nvPr/>
            </p:nvSpPr>
            <p:spPr bwMode="auto">
              <a:xfrm>
                <a:off x="3360" y="3328"/>
                <a:ext cx="0" cy="320"/>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43" name="Text Box 157"/>
              <p:cNvSpPr txBox="1">
                <a:spLocks noChangeArrowheads="1"/>
              </p:cNvSpPr>
              <p:nvPr/>
            </p:nvSpPr>
            <p:spPr bwMode="auto">
              <a:xfrm>
                <a:off x="2724" y="3456"/>
                <a:ext cx="168"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4</a:t>
                </a:r>
              </a:p>
            </p:txBody>
          </p:sp>
          <p:sp>
            <p:nvSpPr>
              <p:cNvPr id="44" name="Text Box 158"/>
              <p:cNvSpPr txBox="1">
                <a:spLocks noChangeArrowheads="1"/>
              </p:cNvSpPr>
              <p:nvPr/>
            </p:nvSpPr>
            <p:spPr bwMode="auto">
              <a:xfrm>
                <a:off x="3144" y="3478"/>
                <a:ext cx="168" cy="219"/>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2</a:t>
                </a:r>
              </a:p>
            </p:txBody>
          </p:sp>
          <p:sp>
            <p:nvSpPr>
              <p:cNvPr id="45" name="Line 159"/>
              <p:cNvSpPr>
                <a:spLocks noChangeShapeType="1"/>
              </p:cNvSpPr>
              <p:nvPr/>
            </p:nvSpPr>
            <p:spPr bwMode="auto">
              <a:xfrm flipH="1">
                <a:off x="2976" y="2655"/>
                <a:ext cx="132" cy="369"/>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46" name="Line 160"/>
              <p:cNvSpPr>
                <a:spLocks noChangeShapeType="1"/>
              </p:cNvSpPr>
              <p:nvPr/>
            </p:nvSpPr>
            <p:spPr bwMode="auto">
              <a:xfrm>
                <a:off x="3132" y="2655"/>
                <a:ext cx="228" cy="369"/>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47" name="Text Box 161"/>
              <p:cNvSpPr txBox="1">
                <a:spLocks noChangeArrowheads="1"/>
              </p:cNvSpPr>
              <p:nvPr/>
            </p:nvSpPr>
            <p:spPr bwMode="auto">
              <a:xfrm>
                <a:off x="3264" y="2736"/>
                <a:ext cx="168"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4</a:t>
                </a:r>
              </a:p>
            </p:txBody>
          </p:sp>
          <p:sp>
            <p:nvSpPr>
              <p:cNvPr id="48" name="Text Box 162"/>
              <p:cNvSpPr txBox="1">
                <a:spLocks noChangeArrowheads="1"/>
              </p:cNvSpPr>
              <p:nvPr/>
            </p:nvSpPr>
            <p:spPr bwMode="auto">
              <a:xfrm>
                <a:off x="2796" y="2736"/>
                <a:ext cx="168"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2</a:t>
                </a:r>
              </a:p>
            </p:txBody>
          </p:sp>
        </p:grpSp>
        <p:grpSp>
          <p:nvGrpSpPr>
            <p:cNvPr id="24" name="Group 163"/>
            <p:cNvGrpSpPr>
              <a:grpSpLocks/>
            </p:cNvGrpSpPr>
            <p:nvPr/>
          </p:nvGrpSpPr>
          <p:grpSpPr bwMode="auto">
            <a:xfrm>
              <a:off x="0" y="2764"/>
              <a:ext cx="756" cy="1316"/>
              <a:chOff x="2724" y="2620"/>
              <a:chExt cx="756" cy="1316"/>
            </a:xfrm>
            <a:grpFill/>
          </p:grpSpPr>
          <p:sp>
            <p:nvSpPr>
              <p:cNvPr id="25" name="Oval 164"/>
              <p:cNvSpPr>
                <a:spLocks noChangeArrowheads="1"/>
              </p:cNvSpPr>
              <p:nvPr/>
            </p:nvSpPr>
            <p:spPr bwMode="auto">
              <a:xfrm>
                <a:off x="2772" y="3024"/>
                <a:ext cx="288" cy="275"/>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4</a:t>
                </a:r>
              </a:p>
            </p:txBody>
          </p:sp>
          <p:sp>
            <p:nvSpPr>
              <p:cNvPr id="26" name="Oval 165"/>
              <p:cNvSpPr>
                <a:spLocks noChangeArrowheads="1"/>
              </p:cNvSpPr>
              <p:nvPr/>
            </p:nvSpPr>
            <p:spPr bwMode="auto">
              <a:xfrm>
                <a:off x="2772" y="3648"/>
                <a:ext cx="288" cy="288"/>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5</a:t>
                </a:r>
              </a:p>
            </p:txBody>
          </p:sp>
          <p:sp>
            <p:nvSpPr>
              <p:cNvPr id="27" name="Oval 166"/>
              <p:cNvSpPr>
                <a:spLocks noChangeArrowheads="1"/>
              </p:cNvSpPr>
              <p:nvPr/>
            </p:nvSpPr>
            <p:spPr bwMode="auto">
              <a:xfrm>
                <a:off x="3192" y="3024"/>
                <a:ext cx="288" cy="291"/>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6</a:t>
                </a:r>
              </a:p>
            </p:txBody>
          </p:sp>
          <p:sp>
            <p:nvSpPr>
              <p:cNvPr id="28" name="Oval 167"/>
              <p:cNvSpPr>
                <a:spLocks noChangeArrowheads="1"/>
              </p:cNvSpPr>
              <p:nvPr/>
            </p:nvSpPr>
            <p:spPr bwMode="auto">
              <a:xfrm>
                <a:off x="3192" y="3648"/>
                <a:ext cx="288" cy="267"/>
              </a:xfrm>
              <a:prstGeom prst="ellips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7</a:t>
                </a:r>
              </a:p>
            </p:txBody>
          </p:sp>
          <p:sp>
            <p:nvSpPr>
              <p:cNvPr id="29" name="Line 168"/>
              <p:cNvSpPr>
                <a:spLocks noChangeShapeType="1"/>
              </p:cNvSpPr>
              <p:nvPr/>
            </p:nvSpPr>
            <p:spPr bwMode="auto">
              <a:xfrm>
                <a:off x="2928" y="3312"/>
                <a:ext cx="0" cy="336"/>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30" name="Line 169"/>
              <p:cNvSpPr>
                <a:spLocks noChangeShapeType="1"/>
              </p:cNvSpPr>
              <p:nvPr/>
            </p:nvSpPr>
            <p:spPr bwMode="auto">
              <a:xfrm flipH="1">
                <a:off x="3335" y="3312"/>
                <a:ext cx="1" cy="334"/>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31" name="Text Box 170"/>
              <p:cNvSpPr txBox="1">
                <a:spLocks noChangeArrowheads="1"/>
              </p:cNvSpPr>
              <p:nvPr/>
            </p:nvSpPr>
            <p:spPr bwMode="auto">
              <a:xfrm>
                <a:off x="2724" y="3456"/>
                <a:ext cx="168" cy="21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4</a:t>
                </a:r>
              </a:p>
            </p:txBody>
          </p:sp>
          <p:sp>
            <p:nvSpPr>
              <p:cNvPr id="32" name="Text Box 171"/>
              <p:cNvSpPr txBox="1">
                <a:spLocks noChangeArrowheads="1"/>
              </p:cNvSpPr>
              <p:nvPr/>
            </p:nvSpPr>
            <p:spPr bwMode="auto">
              <a:xfrm>
                <a:off x="3144" y="3478"/>
                <a:ext cx="168" cy="219"/>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a:cs typeface="Arial" panose="020B0604020202020204" pitchFamily="34" charset="0"/>
                  </a:rPr>
                  <a:t>3</a:t>
                </a:r>
              </a:p>
            </p:txBody>
          </p:sp>
          <p:sp>
            <p:nvSpPr>
              <p:cNvPr id="33" name="Line 172"/>
              <p:cNvSpPr>
                <a:spLocks noChangeShapeType="1"/>
              </p:cNvSpPr>
              <p:nvPr/>
            </p:nvSpPr>
            <p:spPr bwMode="auto">
              <a:xfrm flipH="1">
                <a:off x="2976" y="2620"/>
                <a:ext cx="168" cy="404"/>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34" name="Line 173"/>
              <p:cNvSpPr>
                <a:spLocks noChangeShapeType="1"/>
              </p:cNvSpPr>
              <p:nvPr/>
            </p:nvSpPr>
            <p:spPr bwMode="auto">
              <a:xfrm>
                <a:off x="3156" y="2620"/>
                <a:ext cx="204" cy="404"/>
              </a:xfrm>
              <a:prstGeom prst="line">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35" name="Text Box 174"/>
              <p:cNvSpPr txBox="1">
                <a:spLocks noChangeArrowheads="1"/>
              </p:cNvSpPr>
              <p:nvPr/>
            </p:nvSpPr>
            <p:spPr bwMode="auto">
              <a:xfrm>
                <a:off x="3264" y="2736"/>
                <a:ext cx="168"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4</a:t>
                </a:r>
              </a:p>
            </p:txBody>
          </p:sp>
          <p:sp>
            <p:nvSpPr>
              <p:cNvPr id="36" name="Text Box 175"/>
              <p:cNvSpPr txBox="1">
                <a:spLocks noChangeArrowheads="1"/>
              </p:cNvSpPr>
              <p:nvPr/>
            </p:nvSpPr>
            <p:spPr bwMode="auto">
              <a:xfrm>
                <a:off x="2796" y="2736"/>
                <a:ext cx="168" cy="282"/>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3</a:t>
                </a:r>
              </a:p>
            </p:txBody>
          </p:sp>
        </p:grpSp>
      </p:grpSp>
      <p:sp>
        <p:nvSpPr>
          <p:cNvPr id="127" name="Rectangle 2"/>
          <p:cNvSpPr>
            <a:spLocks noGrp="1" noChangeArrowheads="1"/>
          </p:cNvSpPr>
          <p:nvPr>
            <p:ph type="title"/>
          </p:nvPr>
        </p:nvSpPr>
        <p:spPr>
          <a:xfrm>
            <a:off x="790068" y="222599"/>
            <a:ext cx="8229600" cy="838200"/>
          </a:xfrm>
        </p:spPr>
        <p:txBody>
          <a:bodyPr/>
          <a:lstStyle/>
          <a:p>
            <a:pPr eaLnBrk="1" hangingPunct="1"/>
            <a:r>
              <a:rPr lang="zh-CN" altLang="en-US" sz="3600" dirty="0"/>
              <a:t>解空间树</a:t>
            </a:r>
          </a:p>
        </p:txBody>
      </p:sp>
    </p:spTree>
    <p:extLst>
      <p:ext uri="{BB962C8B-B14F-4D97-AF65-F5344CB8AC3E}">
        <p14:creationId xmlns:p14="http://schemas.microsoft.com/office/powerpoint/2010/main" val="143674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11424" y="323850"/>
            <a:ext cx="8229600" cy="914400"/>
          </a:xfrm>
        </p:spPr>
        <p:txBody>
          <a:bodyPr/>
          <a:lstStyle/>
          <a:p>
            <a:pPr eaLnBrk="1" hangingPunct="1"/>
            <a:r>
              <a:rPr lang="zh-CN" altLang="en-US" dirty="0"/>
              <a:t>问题分析</a:t>
            </a:r>
          </a:p>
        </p:txBody>
      </p:sp>
      <p:sp>
        <p:nvSpPr>
          <p:cNvPr id="18435" name="Text Box 5"/>
          <p:cNvSpPr>
            <a:spLocks noGrp="1" noChangeArrowheads="1"/>
          </p:cNvSpPr>
          <p:nvPr>
            <p:ph type="body" idx="1"/>
          </p:nvPr>
        </p:nvSpPr>
        <p:spPr>
          <a:xfrm>
            <a:off x="839416" y="1409700"/>
            <a:ext cx="10585176" cy="1047750"/>
          </a:xfrm>
          <a:noFill/>
        </p:spPr>
        <p:txBody>
          <a:bodyPr>
            <a:normAutofit/>
          </a:bodyPr>
          <a:lstStyle/>
          <a:p>
            <a:pPr eaLnBrk="1" hangingPunct="1">
              <a:spcBef>
                <a:spcPct val="50000"/>
              </a:spcBef>
            </a:pPr>
            <a:r>
              <a:rPr kumimoji="1" lang="zh-CN" altLang="en-US" sz="2400" dirty="0"/>
              <a:t>开始把根结点作为唯一的活结点</a:t>
            </a:r>
            <a:r>
              <a:rPr kumimoji="1" lang="en-US" altLang="zh-CN" sz="2400" dirty="0"/>
              <a:t>, </a:t>
            </a:r>
            <a:r>
              <a:rPr kumimoji="1" lang="zh-CN" altLang="en-US" sz="2400" dirty="0"/>
              <a:t>根结点就成为</a:t>
            </a:r>
            <a:r>
              <a:rPr kumimoji="1" lang="en-US" altLang="zh-CN" sz="2400" dirty="0"/>
              <a:t>E-</a:t>
            </a:r>
            <a:r>
              <a:rPr kumimoji="1" lang="zh-CN" altLang="en-US" sz="2400" dirty="0"/>
              <a:t>结点而且路径为</a:t>
            </a:r>
            <a:r>
              <a:rPr kumimoji="1" lang="en-US" altLang="zh-CN" sz="2400" dirty="0"/>
              <a:t>( ); </a:t>
            </a:r>
            <a:r>
              <a:rPr kumimoji="1" lang="zh-CN" altLang="en-US" sz="2400" dirty="0"/>
              <a:t>接着生成儿子结点，那么结点</a:t>
            </a:r>
            <a:r>
              <a:rPr kumimoji="1" lang="en-US" altLang="zh-CN" sz="2400" dirty="0"/>
              <a:t>2</a:t>
            </a:r>
            <a:r>
              <a:rPr kumimoji="1" lang="zh-CN" altLang="en-US" sz="2400" dirty="0"/>
              <a:t>被生成</a:t>
            </a:r>
            <a:r>
              <a:rPr kumimoji="1" lang="en-US" altLang="zh-CN" sz="2400" dirty="0"/>
              <a:t>, </a:t>
            </a:r>
            <a:r>
              <a:rPr kumimoji="1" lang="zh-CN" altLang="en-US" sz="2400" dirty="0"/>
              <a:t>这条路径为</a:t>
            </a:r>
            <a:r>
              <a:rPr kumimoji="1" lang="en-US" altLang="zh-CN" sz="2400" dirty="0"/>
              <a:t>(1), </a:t>
            </a:r>
            <a:r>
              <a:rPr kumimoji="1" lang="zh-CN" altLang="en-US" sz="2400" dirty="0"/>
              <a:t>即把皇后</a:t>
            </a:r>
            <a:r>
              <a:rPr kumimoji="1" lang="en-US" altLang="zh-CN" sz="2400" dirty="0"/>
              <a:t>1</a:t>
            </a:r>
            <a:r>
              <a:rPr kumimoji="1" lang="zh-CN" altLang="en-US" sz="2400" dirty="0"/>
              <a:t>放在第</a:t>
            </a:r>
            <a:r>
              <a:rPr kumimoji="1" lang="en-US" altLang="zh-CN" sz="2400" dirty="0"/>
              <a:t>1</a:t>
            </a:r>
            <a:r>
              <a:rPr kumimoji="1" lang="zh-CN" altLang="en-US" sz="2400" dirty="0"/>
              <a:t>列上。</a:t>
            </a:r>
          </a:p>
        </p:txBody>
      </p:sp>
      <p:sp>
        <p:nvSpPr>
          <p:cNvPr id="27654" name="Line 6"/>
          <p:cNvSpPr>
            <a:spLocks noChangeShapeType="1"/>
          </p:cNvSpPr>
          <p:nvPr/>
        </p:nvSpPr>
        <p:spPr bwMode="auto">
          <a:xfrm>
            <a:off x="2630274" y="4509120"/>
            <a:ext cx="113382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sp>
        <p:nvSpPr>
          <p:cNvPr id="27656" name="Oval 8"/>
          <p:cNvSpPr>
            <a:spLocks noChangeArrowheads="1"/>
          </p:cNvSpPr>
          <p:nvPr/>
        </p:nvSpPr>
        <p:spPr bwMode="auto">
          <a:xfrm>
            <a:off x="8912424" y="3009900"/>
            <a:ext cx="457200" cy="419100"/>
          </a:xfrm>
          <a:prstGeom prst="ellipse">
            <a:avLst/>
          </a:prstGeom>
          <a:noFill/>
          <a:ln w="19050">
            <a:solidFill>
              <a:schemeClr val="tx1"/>
            </a:solidFill>
            <a:miter lim="800000"/>
            <a:headEnd/>
            <a:tailEnd/>
          </a:ln>
          <a:effectLst/>
        </p:spPr>
        <p:txBody>
          <a:bodyPr wrap="none" anchor="ctr"/>
          <a:lstStyle/>
          <a:p>
            <a:pPr algn="ctr"/>
            <a:r>
              <a:rPr kumimoji="1" lang="en-US" altLang="zh-CN" sz="2000">
                <a:latin typeface="Arial" panose="020B0604020202020204" pitchFamily="34" charset="0"/>
                <a:cs typeface="Arial" panose="020B0604020202020204" pitchFamily="34" charset="0"/>
              </a:rPr>
              <a:t>1</a:t>
            </a:r>
          </a:p>
        </p:txBody>
      </p:sp>
      <p:grpSp>
        <p:nvGrpSpPr>
          <p:cNvPr id="27657" name="Group 9"/>
          <p:cNvGrpSpPr>
            <a:grpSpLocks/>
          </p:cNvGrpSpPr>
          <p:nvPr/>
        </p:nvGrpSpPr>
        <p:grpSpPr bwMode="auto">
          <a:xfrm>
            <a:off x="6664524" y="4438650"/>
            <a:ext cx="1352550" cy="1104900"/>
            <a:chOff x="3876" y="1428"/>
            <a:chExt cx="852" cy="696"/>
          </a:xfrm>
          <a:noFill/>
        </p:grpSpPr>
        <p:sp>
          <p:nvSpPr>
            <p:cNvPr id="18499" name="Oval 10"/>
            <p:cNvSpPr>
              <a:spLocks noChangeArrowheads="1"/>
            </p:cNvSpPr>
            <p:nvPr/>
          </p:nvSpPr>
          <p:spPr bwMode="auto">
            <a:xfrm>
              <a:off x="3876" y="1860"/>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a:t>
              </a:r>
            </a:p>
          </p:txBody>
        </p:sp>
        <p:sp>
          <p:nvSpPr>
            <p:cNvPr id="18500" name="Line 11"/>
            <p:cNvSpPr>
              <a:spLocks noChangeShapeType="1"/>
            </p:cNvSpPr>
            <p:nvPr/>
          </p:nvSpPr>
          <p:spPr bwMode="auto">
            <a:xfrm flipH="1">
              <a:off x="4044" y="1428"/>
              <a:ext cx="684" cy="432"/>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8501" name="Text Box 12"/>
            <p:cNvSpPr txBox="1">
              <a:spLocks noChangeArrowheads="1"/>
            </p:cNvSpPr>
            <p:nvPr/>
          </p:nvSpPr>
          <p:spPr bwMode="auto">
            <a:xfrm>
              <a:off x="3876" y="1437"/>
              <a:ext cx="804"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2</a:t>
              </a:r>
            </a:p>
          </p:txBody>
        </p:sp>
      </p:grpSp>
      <p:grpSp>
        <p:nvGrpSpPr>
          <p:cNvPr id="27661" name="Group 13"/>
          <p:cNvGrpSpPr>
            <a:grpSpLocks/>
          </p:cNvGrpSpPr>
          <p:nvPr/>
        </p:nvGrpSpPr>
        <p:grpSpPr bwMode="auto">
          <a:xfrm>
            <a:off x="7826574" y="3333750"/>
            <a:ext cx="1314450" cy="1104900"/>
            <a:chOff x="4608" y="732"/>
            <a:chExt cx="828" cy="696"/>
          </a:xfrm>
          <a:noFill/>
        </p:grpSpPr>
        <p:sp>
          <p:nvSpPr>
            <p:cNvPr id="18496" name="Oval 14"/>
            <p:cNvSpPr>
              <a:spLocks noChangeArrowheads="1"/>
            </p:cNvSpPr>
            <p:nvPr/>
          </p:nvSpPr>
          <p:spPr bwMode="auto">
            <a:xfrm>
              <a:off x="4608" y="116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a:t>
              </a:r>
            </a:p>
          </p:txBody>
        </p:sp>
        <p:sp>
          <p:nvSpPr>
            <p:cNvPr id="18497" name="Line 15"/>
            <p:cNvSpPr>
              <a:spLocks noChangeShapeType="1"/>
            </p:cNvSpPr>
            <p:nvPr/>
          </p:nvSpPr>
          <p:spPr bwMode="auto">
            <a:xfrm flipH="1">
              <a:off x="4810" y="792"/>
              <a:ext cx="626" cy="372"/>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8498" name="Text Box 16"/>
            <p:cNvSpPr txBox="1">
              <a:spLocks noChangeArrowheads="1"/>
            </p:cNvSpPr>
            <p:nvPr/>
          </p:nvSpPr>
          <p:spPr bwMode="auto">
            <a:xfrm>
              <a:off x="4722" y="732"/>
              <a:ext cx="504"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1</a:t>
              </a:r>
              <a:r>
                <a:rPr lang="en-US" altLang="zh-CN" sz="2000" dirty="0">
                  <a:cs typeface="Arial" panose="020B0604020202020204" pitchFamily="34" charset="0"/>
                </a:rPr>
                <a:t>=1</a:t>
              </a:r>
            </a:p>
          </p:txBody>
        </p:sp>
      </p:grpSp>
      <p:sp>
        <p:nvSpPr>
          <p:cNvPr id="27665" name="Text Box 17"/>
          <p:cNvSpPr txBox="1">
            <a:spLocks noChangeArrowheads="1"/>
          </p:cNvSpPr>
          <p:nvPr/>
        </p:nvSpPr>
        <p:spPr bwMode="auto">
          <a:xfrm>
            <a:off x="6714096" y="5577721"/>
            <a:ext cx="434255"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b="1" dirty="0">
                <a:solidFill>
                  <a:srgbClr val="FF0000"/>
                </a:solidFill>
                <a:latin typeface="Times New Roman" pitchFamily="18" charset="0"/>
              </a:rPr>
              <a:t>B</a:t>
            </a:r>
          </a:p>
        </p:txBody>
      </p:sp>
      <p:graphicFrame>
        <p:nvGraphicFramePr>
          <p:cNvPr id="27666" name="Group 18"/>
          <p:cNvGraphicFramePr>
            <a:graphicFrameLocks noGrp="1"/>
          </p:cNvGraphicFramePr>
          <p:nvPr>
            <p:extLst>
              <p:ext uri="{D42A27DB-BD31-4B8C-83A1-F6EECF244321}">
                <p14:modId xmlns:p14="http://schemas.microsoft.com/office/powerpoint/2010/main" val="1501972513"/>
              </p:ext>
            </p:extLst>
          </p:nvPr>
        </p:nvGraphicFramePr>
        <p:xfrm>
          <a:off x="1234646" y="3789040"/>
          <a:ext cx="1395628" cy="1462968"/>
        </p:xfrm>
        <a:graphic>
          <a:graphicData uri="http://schemas.openxmlformats.org/drawingml/2006/table">
            <a:tbl>
              <a:tblPr/>
              <a:tblGrid>
                <a:gridCol w="348907">
                  <a:extLst>
                    <a:ext uri="{9D8B030D-6E8A-4147-A177-3AD203B41FA5}">
                      <a16:colId xmlns:a16="http://schemas.microsoft.com/office/drawing/2014/main" val="20000"/>
                    </a:ext>
                  </a:extLst>
                </a:gridCol>
                <a:gridCol w="348907">
                  <a:extLst>
                    <a:ext uri="{9D8B030D-6E8A-4147-A177-3AD203B41FA5}">
                      <a16:colId xmlns:a16="http://schemas.microsoft.com/office/drawing/2014/main" val="20001"/>
                    </a:ext>
                  </a:extLst>
                </a:gridCol>
                <a:gridCol w="348907">
                  <a:extLst>
                    <a:ext uri="{9D8B030D-6E8A-4147-A177-3AD203B41FA5}">
                      <a16:colId xmlns:a16="http://schemas.microsoft.com/office/drawing/2014/main" val="20002"/>
                    </a:ext>
                  </a:extLst>
                </a:gridCol>
                <a:gridCol w="348907">
                  <a:extLst>
                    <a:ext uri="{9D8B030D-6E8A-4147-A177-3AD203B41FA5}">
                      <a16:colId xmlns:a16="http://schemas.microsoft.com/office/drawing/2014/main" val="20003"/>
                    </a:ext>
                  </a:extLst>
                </a:gridCol>
              </a:tblGrid>
              <a:tr h="333853">
                <a:tc>
                  <a:txBody>
                    <a:bodyPr/>
                    <a:lstStyle/>
                    <a:p>
                      <a:pPr marL="0" marR="0" lvl="0" indent="0" algn="ctr"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3853">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3853">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3853">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27720" name="Text Box 72"/>
          <p:cNvSpPr txBox="1">
            <a:spLocks noChangeArrowheads="1"/>
          </p:cNvSpPr>
          <p:nvPr/>
        </p:nvSpPr>
        <p:spPr bwMode="auto">
          <a:xfrm>
            <a:off x="909118" y="2590800"/>
            <a:ext cx="7301431"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228600" indent="-228600" eaLnBrk="1" hangingPunct="1">
              <a:lnSpc>
                <a:spcPct val="110000"/>
              </a:lnSpc>
              <a:spcBef>
                <a:spcPct val="50000"/>
              </a:spcBef>
              <a:buClr>
                <a:srgbClr val="1E5293"/>
              </a:buClr>
              <a:buSzPct val="70000"/>
              <a:buFont typeface="Wingdings" panose="05000000000000000000" pitchFamily="2" charset="2"/>
              <a:buChar char="l"/>
            </a:pP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2</a:t>
            </a:r>
            <a:r>
              <a:rPr kumimoji="1" lang="zh-CN" altLang="en-US" sz="2400" dirty="0">
                <a:ea typeface="幼圆" panose="02010509060101010101" pitchFamily="49" charset="-122"/>
                <a:cs typeface="Arial" panose="020B0604020202020204" pitchFamily="34" charset="0"/>
              </a:rPr>
              <a:t>变成</a:t>
            </a:r>
            <a:r>
              <a:rPr kumimoji="1" lang="en-US" altLang="zh-CN" sz="2400" dirty="0">
                <a:ea typeface="幼圆" panose="02010509060101010101" pitchFamily="49" charset="-122"/>
                <a:cs typeface="Arial" panose="020B0604020202020204" pitchFamily="34" charset="0"/>
              </a:rPr>
              <a:t>E-</a:t>
            </a: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它再生成结点</a:t>
            </a:r>
            <a:r>
              <a:rPr kumimoji="1" lang="en-US" altLang="zh-CN" sz="2400" dirty="0">
                <a:ea typeface="幼圆" panose="02010509060101010101" pitchFamily="49" charset="-122"/>
                <a:cs typeface="Arial" panose="020B0604020202020204" pitchFamily="34" charset="0"/>
              </a:rPr>
              <a:t>3, </a:t>
            </a:r>
            <a:r>
              <a:rPr kumimoji="1" lang="zh-CN" altLang="en-US" sz="2400" dirty="0">
                <a:ea typeface="幼圆" panose="02010509060101010101" pitchFamily="49" charset="-122"/>
                <a:cs typeface="Arial" panose="020B0604020202020204" pitchFamily="34" charset="0"/>
              </a:rPr>
              <a:t>路径变为</a:t>
            </a:r>
            <a:r>
              <a:rPr kumimoji="1" lang="en-US" altLang="zh-CN" sz="2400" dirty="0">
                <a:ea typeface="幼圆" panose="02010509060101010101" pitchFamily="49" charset="-122"/>
                <a:cs typeface="Arial" panose="020B0604020202020204" pitchFamily="34" charset="0"/>
              </a:rPr>
              <a:t>(1, 2), </a:t>
            </a: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3</a:t>
            </a:r>
            <a:r>
              <a:rPr kumimoji="1" lang="zh-CN" altLang="en-US" sz="2400" dirty="0">
                <a:ea typeface="幼圆" panose="02010509060101010101" pitchFamily="49" charset="-122"/>
                <a:cs typeface="Arial" panose="020B0604020202020204" pitchFamily="34" charset="0"/>
              </a:rPr>
              <a:t>被杀死</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此时回溯。</a:t>
            </a:r>
          </a:p>
        </p:txBody>
      </p:sp>
      <p:graphicFrame>
        <p:nvGraphicFramePr>
          <p:cNvPr id="18" name="Group 18"/>
          <p:cNvGraphicFramePr>
            <a:graphicFrameLocks noGrp="1"/>
          </p:cNvGraphicFramePr>
          <p:nvPr>
            <p:extLst>
              <p:ext uri="{D42A27DB-BD31-4B8C-83A1-F6EECF244321}">
                <p14:modId xmlns:p14="http://schemas.microsoft.com/office/powerpoint/2010/main" val="840788492"/>
              </p:ext>
            </p:extLst>
          </p:nvPr>
        </p:nvGraphicFramePr>
        <p:xfrm>
          <a:off x="3778042" y="3789040"/>
          <a:ext cx="1381684" cy="1462968"/>
        </p:xfrm>
        <a:graphic>
          <a:graphicData uri="http://schemas.openxmlformats.org/drawingml/2006/table">
            <a:tbl>
              <a:tblPr/>
              <a:tblGrid>
                <a:gridCol w="345421">
                  <a:extLst>
                    <a:ext uri="{9D8B030D-6E8A-4147-A177-3AD203B41FA5}">
                      <a16:colId xmlns:a16="http://schemas.microsoft.com/office/drawing/2014/main" val="20000"/>
                    </a:ext>
                  </a:extLst>
                </a:gridCol>
                <a:gridCol w="345421">
                  <a:extLst>
                    <a:ext uri="{9D8B030D-6E8A-4147-A177-3AD203B41FA5}">
                      <a16:colId xmlns:a16="http://schemas.microsoft.com/office/drawing/2014/main" val="20001"/>
                    </a:ext>
                  </a:extLst>
                </a:gridCol>
                <a:gridCol w="345421">
                  <a:extLst>
                    <a:ext uri="{9D8B030D-6E8A-4147-A177-3AD203B41FA5}">
                      <a16:colId xmlns:a16="http://schemas.microsoft.com/office/drawing/2014/main" val="20002"/>
                    </a:ext>
                  </a:extLst>
                </a:gridCol>
                <a:gridCol w="345421">
                  <a:extLst>
                    <a:ext uri="{9D8B030D-6E8A-4147-A177-3AD203B41FA5}">
                      <a16:colId xmlns:a16="http://schemas.microsoft.com/office/drawing/2014/main" val="20003"/>
                    </a:ext>
                  </a:extLst>
                </a:gridCol>
              </a:tblGrid>
              <a:tr h="333486">
                <a:tc>
                  <a:txBody>
                    <a:bodyPr/>
                    <a:lstStyle/>
                    <a:p>
                      <a:pPr marL="0" marR="0" lvl="0" indent="0" algn="ctr"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3486">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rPr>
                        <a:t>2</a:t>
                      </a:r>
                      <a:endParaRPr kumimoji="0" lang="zh-CN" altLang="zh-CN" sz="20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3486">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3486">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19"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31</a:t>
            </a:fld>
            <a:endParaRPr lang="en-US" altLang="zh-CN"/>
          </a:p>
        </p:txBody>
      </p:sp>
    </p:spTree>
    <p:extLst>
      <p:ext uri="{BB962C8B-B14F-4D97-AF65-F5344CB8AC3E}">
        <p14:creationId xmlns:p14="http://schemas.microsoft.com/office/powerpoint/2010/main" val="2383456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6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27661"/>
                                        </p:tgtEl>
                                        <p:attrNameLst>
                                          <p:attrName>style.visibility</p:attrName>
                                        </p:attrNameLst>
                                      </p:cBhvr>
                                      <p:to>
                                        <p:strVal val="visible"/>
                                      </p:to>
                                    </p:set>
                                    <p:animEffect transition="in" filter="wipe(up)">
                                      <p:cBhvr>
                                        <p:cTn id="11" dur="500"/>
                                        <p:tgtEl>
                                          <p:spTgt spid="2766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2766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7720"/>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27657"/>
                                        </p:tgtEl>
                                        <p:attrNameLst>
                                          <p:attrName>style.visibility</p:attrName>
                                        </p:attrNameLst>
                                      </p:cBhvr>
                                      <p:to>
                                        <p:strVal val="visible"/>
                                      </p:to>
                                    </p:set>
                                    <p:animEffect transition="in" filter="wipe(up)">
                                      <p:cBhvr>
                                        <p:cTn id="24" dur="500"/>
                                        <p:tgtEl>
                                          <p:spTgt spid="2765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7654"/>
                                        </p:tgtEl>
                                        <p:attrNameLst>
                                          <p:attrName>style.visibility</p:attrName>
                                        </p:attrNameLst>
                                      </p:cBhvr>
                                      <p:to>
                                        <p:strVal val="visible"/>
                                      </p:to>
                                    </p:set>
                                    <p:animEffect transition="in" filter="wipe(left)">
                                      <p:cBhvr>
                                        <p:cTn id="29" dur="500"/>
                                        <p:tgtEl>
                                          <p:spTgt spid="2765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2766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animBg="1"/>
      <p:bldP spid="27656" grpId="0" animBg="1" autoUpdateAnimBg="0"/>
      <p:bldP spid="27665" grpId="0" autoUpdateAnimBg="0"/>
      <p:bldP spid="277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6" name="Group 4"/>
          <p:cNvGrpSpPr>
            <a:grpSpLocks/>
          </p:cNvGrpSpPr>
          <p:nvPr/>
        </p:nvGrpSpPr>
        <p:grpSpPr bwMode="auto">
          <a:xfrm>
            <a:off x="7653898" y="2965640"/>
            <a:ext cx="1001537" cy="1062608"/>
            <a:chOff x="4584" y="1386"/>
            <a:chExt cx="699" cy="726"/>
          </a:xfrm>
          <a:noFill/>
        </p:grpSpPr>
        <p:sp>
          <p:nvSpPr>
            <p:cNvPr id="19595" name="Oval 5"/>
            <p:cNvSpPr>
              <a:spLocks noChangeArrowheads="1"/>
            </p:cNvSpPr>
            <p:nvPr/>
          </p:nvSpPr>
          <p:spPr bwMode="auto">
            <a:xfrm>
              <a:off x="4584" y="1848"/>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8</a:t>
              </a:r>
            </a:p>
          </p:txBody>
        </p:sp>
        <p:sp>
          <p:nvSpPr>
            <p:cNvPr id="19596" name="Line 6"/>
            <p:cNvSpPr>
              <a:spLocks noChangeShapeType="1"/>
            </p:cNvSpPr>
            <p:nvPr/>
          </p:nvSpPr>
          <p:spPr bwMode="auto">
            <a:xfrm>
              <a:off x="4740" y="1440"/>
              <a:ext cx="0" cy="406"/>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9597" name="Text Box 7"/>
            <p:cNvSpPr txBox="1">
              <a:spLocks noChangeArrowheads="1"/>
            </p:cNvSpPr>
            <p:nvPr/>
          </p:nvSpPr>
          <p:spPr bwMode="auto">
            <a:xfrm>
              <a:off x="4743" y="1386"/>
              <a:ext cx="540" cy="24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3</a:t>
              </a:r>
            </a:p>
          </p:txBody>
        </p:sp>
      </p:grpSp>
      <p:sp>
        <p:nvSpPr>
          <p:cNvPr id="19459" name="Text Box 8"/>
          <p:cNvSpPr txBox="1">
            <a:spLocks noChangeArrowheads="1"/>
          </p:cNvSpPr>
          <p:nvPr/>
        </p:nvSpPr>
        <p:spPr bwMode="auto">
          <a:xfrm>
            <a:off x="623392" y="633432"/>
            <a:ext cx="10441160" cy="904863"/>
          </a:xfrm>
          <a:prstGeom prst="rect">
            <a:avLst/>
          </a:prstGeom>
          <a:solidFill>
            <a:schemeClr val="bg1"/>
          </a:solid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228600" indent="-228600" eaLnBrk="1" hangingPunct="1">
              <a:lnSpc>
                <a:spcPct val="110000"/>
              </a:lnSpc>
              <a:spcBef>
                <a:spcPct val="50000"/>
              </a:spcBef>
              <a:buClr>
                <a:srgbClr val="1E5293"/>
              </a:buClr>
              <a:buSzPct val="70000"/>
              <a:buFont typeface="Wingdings" panose="05000000000000000000" pitchFamily="2" charset="2"/>
              <a:buChar char="l"/>
            </a:pPr>
            <a:r>
              <a:rPr kumimoji="1" lang="zh-CN" altLang="en-US" sz="2400" dirty="0">
                <a:ea typeface="幼圆" panose="02010509060101010101" pitchFamily="49" charset="-122"/>
                <a:cs typeface="Arial" panose="020B0604020202020204" pitchFamily="34" charset="0"/>
              </a:rPr>
              <a:t>回溯到结点</a:t>
            </a:r>
            <a:r>
              <a:rPr kumimoji="1" lang="en-US" altLang="zh-CN" sz="2400" dirty="0">
                <a:ea typeface="幼圆" panose="02010509060101010101" pitchFamily="49" charset="-122"/>
                <a:cs typeface="Arial" panose="020B0604020202020204" pitchFamily="34" charset="0"/>
              </a:rPr>
              <a:t>2</a:t>
            </a:r>
            <a:r>
              <a:rPr kumimoji="1" lang="zh-CN" altLang="en-US" sz="2400" dirty="0">
                <a:ea typeface="幼圆" panose="02010509060101010101" pitchFamily="49" charset="-122"/>
                <a:cs typeface="Arial" panose="020B0604020202020204" pitchFamily="34" charset="0"/>
              </a:rPr>
              <a:t>生成结点</a:t>
            </a:r>
            <a:r>
              <a:rPr kumimoji="1" lang="en-US" altLang="zh-CN" sz="2400" dirty="0">
                <a:ea typeface="幼圆" panose="02010509060101010101" pitchFamily="49" charset="-122"/>
                <a:cs typeface="Arial" panose="020B0604020202020204" pitchFamily="34" charset="0"/>
              </a:rPr>
              <a:t>8, </a:t>
            </a:r>
            <a:r>
              <a:rPr kumimoji="1" lang="zh-CN" altLang="en-US" sz="2400" dirty="0">
                <a:ea typeface="幼圆" panose="02010509060101010101" pitchFamily="49" charset="-122"/>
                <a:cs typeface="Arial" panose="020B0604020202020204" pitchFamily="34" charset="0"/>
              </a:rPr>
              <a:t>路径变为</a:t>
            </a:r>
            <a:r>
              <a:rPr kumimoji="1" lang="en-US" altLang="zh-CN" sz="2400" dirty="0">
                <a:ea typeface="幼圆" panose="02010509060101010101" pitchFamily="49" charset="-122"/>
                <a:cs typeface="Arial" panose="020B0604020202020204" pitchFamily="34" charset="0"/>
              </a:rPr>
              <a:t>(1, 3), </a:t>
            </a:r>
            <a:r>
              <a:rPr kumimoji="1" lang="zh-CN" altLang="en-US" sz="2400" dirty="0">
                <a:ea typeface="幼圆" panose="02010509060101010101" pitchFamily="49" charset="-122"/>
                <a:cs typeface="Arial" panose="020B0604020202020204" pitchFamily="34" charset="0"/>
              </a:rPr>
              <a:t>则结点</a:t>
            </a:r>
            <a:r>
              <a:rPr kumimoji="1" lang="en-US" altLang="zh-CN" sz="2400" dirty="0">
                <a:ea typeface="幼圆" panose="02010509060101010101" pitchFamily="49" charset="-122"/>
                <a:cs typeface="Arial" panose="020B0604020202020204" pitchFamily="34" charset="0"/>
              </a:rPr>
              <a:t>8</a:t>
            </a:r>
            <a:r>
              <a:rPr kumimoji="1" lang="zh-CN" altLang="en-US" sz="2400" dirty="0">
                <a:ea typeface="幼圆" panose="02010509060101010101" pitchFamily="49" charset="-122"/>
                <a:cs typeface="Arial" panose="020B0604020202020204" pitchFamily="34" charset="0"/>
              </a:rPr>
              <a:t>成为</a:t>
            </a:r>
            <a:r>
              <a:rPr kumimoji="1" lang="en-US" altLang="zh-CN" sz="2400" dirty="0">
                <a:ea typeface="幼圆" panose="02010509060101010101" pitchFamily="49" charset="-122"/>
                <a:cs typeface="Arial" panose="020B0604020202020204" pitchFamily="34" charset="0"/>
              </a:rPr>
              <a:t>E-</a:t>
            </a: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它生成结点</a:t>
            </a:r>
            <a:r>
              <a:rPr kumimoji="1" lang="en-US" altLang="zh-CN" sz="2400" dirty="0">
                <a:ea typeface="幼圆" panose="02010509060101010101" pitchFamily="49" charset="-122"/>
                <a:cs typeface="Arial" panose="020B0604020202020204" pitchFamily="34" charset="0"/>
              </a:rPr>
              <a:t>9</a:t>
            </a:r>
            <a:r>
              <a:rPr kumimoji="1" lang="zh-CN" altLang="en-US" sz="2400" dirty="0">
                <a:ea typeface="幼圆" panose="02010509060101010101" pitchFamily="49" charset="-122"/>
                <a:cs typeface="Arial" panose="020B0604020202020204" pitchFamily="34" charset="0"/>
              </a:rPr>
              <a:t>和结点</a:t>
            </a:r>
            <a:r>
              <a:rPr kumimoji="1" lang="en-US" altLang="zh-CN" sz="2400" dirty="0">
                <a:ea typeface="幼圆" panose="02010509060101010101" pitchFamily="49" charset="-122"/>
                <a:cs typeface="Arial" panose="020B0604020202020204" pitchFamily="34" charset="0"/>
              </a:rPr>
              <a:t>11</a:t>
            </a:r>
            <a:r>
              <a:rPr kumimoji="1" lang="zh-CN" altLang="en-US" sz="2400" dirty="0">
                <a:ea typeface="幼圆" panose="02010509060101010101" pitchFamily="49" charset="-122"/>
                <a:cs typeface="Arial" panose="020B0604020202020204" pitchFamily="34" charset="0"/>
              </a:rPr>
              <a:t>都会被杀死</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所以结点</a:t>
            </a:r>
            <a:r>
              <a:rPr kumimoji="1" lang="en-US" altLang="zh-CN" sz="2400" dirty="0">
                <a:ea typeface="幼圆" panose="02010509060101010101" pitchFamily="49" charset="-122"/>
                <a:cs typeface="Arial" panose="020B0604020202020204" pitchFamily="34" charset="0"/>
              </a:rPr>
              <a:t>8</a:t>
            </a:r>
            <a:r>
              <a:rPr kumimoji="1" lang="zh-CN" altLang="en-US" sz="2400" dirty="0">
                <a:ea typeface="幼圆" panose="02010509060101010101" pitchFamily="49" charset="-122"/>
                <a:cs typeface="Arial" panose="020B0604020202020204" pitchFamily="34" charset="0"/>
              </a:rPr>
              <a:t>也被杀死</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应回溯。</a:t>
            </a:r>
          </a:p>
        </p:txBody>
      </p:sp>
      <p:grpSp>
        <p:nvGrpSpPr>
          <p:cNvPr id="19460" name="Group 9"/>
          <p:cNvGrpSpPr>
            <a:grpSpLocks/>
          </p:cNvGrpSpPr>
          <p:nvPr/>
        </p:nvGrpSpPr>
        <p:grpSpPr bwMode="auto">
          <a:xfrm>
            <a:off x="6596823" y="1772816"/>
            <a:ext cx="2467307" cy="2634163"/>
            <a:chOff x="3858" y="528"/>
            <a:chExt cx="1722" cy="1864"/>
          </a:xfrm>
          <a:noFill/>
        </p:grpSpPr>
        <p:sp>
          <p:nvSpPr>
            <p:cNvPr id="19585" name="Oval 10"/>
            <p:cNvSpPr>
              <a:spLocks noChangeArrowheads="1"/>
            </p:cNvSpPr>
            <p:nvPr/>
          </p:nvSpPr>
          <p:spPr bwMode="auto">
            <a:xfrm>
              <a:off x="5292" y="528"/>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a:t>
              </a:r>
            </a:p>
          </p:txBody>
        </p:sp>
        <p:grpSp>
          <p:nvGrpSpPr>
            <p:cNvPr id="19586" name="Group 11"/>
            <p:cNvGrpSpPr>
              <a:grpSpLocks/>
            </p:cNvGrpSpPr>
            <p:nvPr/>
          </p:nvGrpSpPr>
          <p:grpSpPr bwMode="auto">
            <a:xfrm>
              <a:off x="3858" y="1382"/>
              <a:ext cx="870" cy="742"/>
              <a:chOff x="3858" y="1382"/>
              <a:chExt cx="870" cy="742"/>
            </a:xfrm>
            <a:grpFill/>
          </p:grpSpPr>
          <p:sp>
            <p:nvSpPr>
              <p:cNvPr id="19592" name="Oval 12"/>
              <p:cNvSpPr>
                <a:spLocks noChangeArrowheads="1"/>
              </p:cNvSpPr>
              <p:nvPr/>
            </p:nvSpPr>
            <p:spPr bwMode="auto">
              <a:xfrm>
                <a:off x="3876" y="1860"/>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a:t>
                </a:r>
              </a:p>
            </p:txBody>
          </p:sp>
          <p:sp>
            <p:nvSpPr>
              <p:cNvPr id="19593" name="Line 13"/>
              <p:cNvSpPr>
                <a:spLocks noChangeShapeType="1"/>
              </p:cNvSpPr>
              <p:nvPr/>
            </p:nvSpPr>
            <p:spPr bwMode="auto">
              <a:xfrm flipH="1">
                <a:off x="4044" y="1437"/>
                <a:ext cx="684" cy="423"/>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9594" name="Text Box 14"/>
              <p:cNvSpPr txBox="1">
                <a:spLocks noChangeArrowheads="1"/>
              </p:cNvSpPr>
              <p:nvPr/>
            </p:nvSpPr>
            <p:spPr bwMode="auto">
              <a:xfrm>
                <a:off x="3858" y="1382"/>
                <a:ext cx="708" cy="2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2</a:t>
                </a:r>
              </a:p>
            </p:txBody>
          </p:sp>
        </p:grpSp>
        <p:grpSp>
          <p:nvGrpSpPr>
            <p:cNvPr id="19587" name="Group 15"/>
            <p:cNvGrpSpPr>
              <a:grpSpLocks/>
            </p:cNvGrpSpPr>
            <p:nvPr/>
          </p:nvGrpSpPr>
          <p:grpSpPr bwMode="auto">
            <a:xfrm>
              <a:off x="4608" y="732"/>
              <a:ext cx="828" cy="696"/>
              <a:chOff x="4608" y="732"/>
              <a:chExt cx="828" cy="696"/>
            </a:xfrm>
            <a:grpFill/>
          </p:grpSpPr>
          <p:sp>
            <p:nvSpPr>
              <p:cNvPr id="19589" name="Oval 16"/>
              <p:cNvSpPr>
                <a:spLocks noChangeArrowheads="1"/>
              </p:cNvSpPr>
              <p:nvPr/>
            </p:nvSpPr>
            <p:spPr bwMode="auto">
              <a:xfrm>
                <a:off x="4608" y="116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2</a:t>
                </a:r>
              </a:p>
            </p:txBody>
          </p:sp>
          <p:sp>
            <p:nvSpPr>
              <p:cNvPr id="19590" name="Line 17"/>
              <p:cNvSpPr>
                <a:spLocks noChangeShapeType="1"/>
              </p:cNvSpPr>
              <p:nvPr/>
            </p:nvSpPr>
            <p:spPr bwMode="auto">
              <a:xfrm flipH="1">
                <a:off x="4764" y="792"/>
                <a:ext cx="672" cy="372"/>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9591" name="Text Box 18"/>
              <p:cNvSpPr txBox="1">
                <a:spLocks noChangeArrowheads="1"/>
              </p:cNvSpPr>
              <p:nvPr/>
            </p:nvSpPr>
            <p:spPr bwMode="auto">
              <a:xfrm>
                <a:off x="4728" y="732"/>
                <a:ext cx="504" cy="2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1</a:t>
                </a:r>
                <a:r>
                  <a:rPr lang="en-US" altLang="zh-CN" sz="2000" dirty="0">
                    <a:cs typeface="Arial" panose="020B0604020202020204" pitchFamily="34" charset="0"/>
                  </a:rPr>
                  <a:t>=1</a:t>
                </a:r>
              </a:p>
            </p:txBody>
          </p:sp>
        </p:grpSp>
        <p:sp>
          <p:nvSpPr>
            <p:cNvPr id="19588" name="Text Box 19"/>
            <p:cNvSpPr txBox="1">
              <a:spLocks noChangeArrowheads="1"/>
            </p:cNvSpPr>
            <p:nvPr/>
          </p:nvSpPr>
          <p:spPr bwMode="auto">
            <a:xfrm>
              <a:off x="3873" y="2152"/>
              <a:ext cx="275" cy="24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sp>
        <p:nvSpPr>
          <p:cNvPr id="28692" name="Line 20"/>
          <p:cNvSpPr>
            <a:spLocks noChangeShapeType="1"/>
          </p:cNvSpPr>
          <p:nvPr/>
        </p:nvSpPr>
        <p:spPr bwMode="auto">
          <a:xfrm flipV="1">
            <a:off x="6865343" y="3044675"/>
            <a:ext cx="986626" cy="594243"/>
          </a:xfrm>
          <a:prstGeom prst="line">
            <a:avLst/>
          </a:prstGeom>
          <a:noFill/>
          <a:ln w="2857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grpSp>
        <p:nvGrpSpPr>
          <p:cNvPr id="28693" name="Group 21"/>
          <p:cNvGrpSpPr>
            <a:grpSpLocks/>
          </p:cNvGrpSpPr>
          <p:nvPr/>
        </p:nvGrpSpPr>
        <p:grpSpPr bwMode="auto">
          <a:xfrm>
            <a:off x="7870049" y="4014875"/>
            <a:ext cx="928464" cy="1220985"/>
            <a:chOff x="4740" y="2112"/>
            <a:chExt cx="648" cy="864"/>
          </a:xfrm>
          <a:noFill/>
        </p:grpSpPr>
        <p:sp>
          <p:nvSpPr>
            <p:cNvPr id="19582" name="Oval 22"/>
            <p:cNvSpPr>
              <a:spLocks noChangeArrowheads="1"/>
            </p:cNvSpPr>
            <p:nvPr/>
          </p:nvSpPr>
          <p:spPr bwMode="auto">
            <a:xfrm>
              <a:off x="4860" y="2712"/>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11</a:t>
              </a:r>
            </a:p>
          </p:txBody>
        </p:sp>
        <p:sp>
          <p:nvSpPr>
            <p:cNvPr id="19583" name="Line 23"/>
            <p:cNvSpPr>
              <a:spLocks noChangeShapeType="1"/>
            </p:cNvSpPr>
            <p:nvPr/>
          </p:nvSpPr>
          <p:spPr bwMode="auto">
            <a:xfrm>
              <a:off x="4740" y="2112"/>
              <a:ext cx="264" cy="60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9584" name="Text Box 24"/>
            <p:cNvSpPr txBox="1">
              <a:spLocks noChangeArrowheads="1"/>
            </p:cNvSpPr>
            <p:nvPr/>
          </p:nvSpPr>
          <p:spPr bwMode="auto">
            <a:xfrm>
              <a:off x="4848" y="2208"/>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3</a:t>
              </a:r>
              <a:r>
                <a:rPr lang="en-US" altLang="zh-CN" sz="2000">
                  <a:cs typeface="Arial" panose="020B0604020202020204" pitchFamily="34" charset="0"/>
                </a:rPr>
                <a:t>=4</a:t>
              </a:r>
            </a:p>
          </p:txBody>
        </p:sp>
      </p:grpSp>
      <p:grpSp>
        <p:nvGrpSpPr>
          <p:cNvPr id="28697" name="Group 25"/>
          <p:cNvGrpSpPr>
            <a:grpSpLocks/>
          </p:cNvGrpSpPr>
          <p:nvPr/>
        </p:nvGrpSpPr>
        <p:grpSpPr bwMode="auto">
          <a:xfrm>
            <a:off x="7037446" y="4028123"/>
            <a:ext cx="808108" cy="1204027"/>
            <a:chOff x="4164" y="2124"/>
            <a:chExt cx="564" cy="852"/>
          </a:xfrm>
          <a:noFill/>
        </p:grpSpPr>
        <p:sp>
          <p:nvSpPr>
            <p:cNvPr id="19579" name="Oval 26"/>
            <p:cNvSpPr>
              <a:spLocks noChangeArrowheads="1"/>
            </p:cNvSpPr>
            <p:nvPr/>
          </p:nvSpPr>
          <p:spPr bwMode="auto">
            <a:xfrm>
              <a:off x="4320" y="2712"/>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9</a:t>
              </a:r>
            </a:p>
          </p:txBody>
        </p:sp>
        <p:sp>
          <p:nvSpPr>
            <p:cNvPr id="19580" name="Line 27"/>
            <p:cNvSpPr>
              <a:spLocks noChangeShapeType="1"/>
            </p:cNvSpPr>
            <p:nvPr/>
          </p:nvSpPr>
          <p:spPr bwMode="auto">
            <a:xfrm flipH="1">
              <a:off x="4464" y="2124"/>
              <a:ext cx="264" cy="588"/>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9581" name="Text Box 28"/>
            <p:cNvSpPr txBox="1">
              <a:spLocks noChangeArrowheads="1"/>
            </p:cNvSpPr>
            <p:nvPr/>
          </p:nvSpPr>
          <p:spPr bwMode="auto">
            <a:xfrm>
              <a:off x="4164" y="2220"/>
              <a:ext cx="516"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cs typeface="Arial" panose="020B0604020202020204" pitchFamily="34" charset="0"/>
                </a:rPr>
                <a:t>x</a:t>
              </a:r>
              <a:r>
                <a:rPr lang="en-US" altLang="zh-CN" sz="2000" baseline="-25000">
                  <a:cs typeface="Arial" panose="020B0604020202020204" pitchFamily="34" charset="0"/>
                </a:rPr>
                <a:t>3</a:t>
              </a:r>
              <a:r>
                <a:rPr lang="en-US" altLang="zh-CN" sz="2000">
                  <a:cs typeface="Arial" panose="020B0604020202020204" pitchFamily="34" charset="0"/>
                </a:rPr>
                <a:t>=2</a:t>
              </a:r>
            </a:p>
          </p:txBody>
        </p:sp>
      </p:grpSp>
      <p:graphicFrame>
        <p:nvGraphicFramePr>
          <p:cNvPr id="28728" name="Group 56"/>
          <p:cNvGraphicFramePr>
            <a:graphicFrameLocks noGrp="1"/>
          </p:cNvGraphicFramePr>
          <p:nvPr>
            <p:extLst>
              <p:ext uri="{D42A27DB-BD31-4B8C-83A1-F6EECF244321}">
                <p14:modId xmlns:p14="http://schemas.microsoft.com/office/powerpoint/2010/main" val="1344965784"/>
              </p:ext>
            </p:extLst>
          </p:nvPr>
        </p:nvGraphicFramePr>
        <p:xfrm>
          <a:off x="1065711" y="4169321"/>
          <a:ext cx="1390288" cy="1341120"/>
        </p:xfrm>
        <a:graphic>
          <a:graphicData uri="http://schemas.openxmlformats.org/drawingml/2006/table">
            <a:tbl>
              <a:tblPr/>
              <a:tblGrid>
                <a:gridCol w="347572">
                  <a:extLst>
                    <a:ext uri="{9D8B030D-6E8A-4147-A177-3AD203B41FA5}">
                      <a16:colId xmlns:a16="http://schemas.microsoft.com/office/drawing/2014/main" val="20000"/>
                    </a:ext>
                  </a:extLst>
                </a:gridCol>
                <a:gridCol w="347572">
                  <a:extLst>
                    <a:ext uri="{9D8B030D-6E8A-4147-A177-3AD203B41FA5}">
                      <a16:colId xmlns:a16="http://schemas.microsoft.com/office/drawing/2014/main" val="20001"/>
                    </a:ext>
                  </a:extLst>
                </a:gridCol>
                <a:gridCol w="347572">
                  <a:extLst>
                    <a:ext uri="{9D8B030D-6E8A-4147-A177-3AD203B41FA5}">
                      <a16:colId xmlns:a16="http://schemas.microsoft.com/office/drawing/2014/main" val="20002"/>
                    </a:ext>
                  </a:extLst>
                </a:gridCol>
                <a:gridCol w="347572">
                  <a:extLst>
                    <a:ext uri="{9D8B030D-6E8A-4147-A177-3AD203B41FA5}">
                      <a16:colId xmlns:a16="http://schemas.microsoft.com/office/drawing/2014/main" val="20003"/>
                    </a:ext>
                  </a:extLst>
                </a:gridCol>
              </a:tblGrid>
              <a:tr h="322910">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2910">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910">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910">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8755" name="Group 83"/>
          <p:cNvGraphicFramePr>
            <a:graphicFrameLocks noGrp="1"/>
          </p:cNvGraphicFramePr>
          <p:nvPr>
            <p:extLst>
              <p:ext uri="{D42A27DB-BD31-4B8C-83A1-F6EECF244321}">
                <p14:modId xmlns:p14="http://schemas.microsoft.com/office/powerpoint/2010/main" val="3818061342"/>
              </p:ext>
            </p:extLst>
          </p:nvPr>
        </p:nvGraphicFramePr>
        <p:xfrm>
          <a:off x="3338981" y="4163652"/>
          <a:ext cx="1460876" cy="1341120"/>
        </p:xfrm>
        <a:graphic>
          <a:graphicData uri="http://schemas.openxmlformats.org/drawingml/2006/table">
            <a:tbl>
              <a:tblPr/>
              <a:tblGrid>
                <a:gridCol w="365219">
                  <a:extLst>
                    <a:ext uri="{9D8B030D-6E8A-4147-A177-3AD203B41FA5}">
                      <a16:colId xmlns:a16="http://schemas.microsoft.com/office/drawing/2014/main" val="20000"/>
                    </a:ext>
                  </a:extLst>
                </a:gridCol>
                <a:gridCol w="365219">
                  <a:extLst>
                    <a:ext uri="{9D8B030D-6E8A-4147-A177-3AD203B41FA5}">
                      <a16:colId xmlns:a16="http://schemas.microsoft.com/office/drawing/2014/main" val="20001"/>
                    </a:ext>
                  </a:extLst>
                </a:gridCol>
                <a:gridCol w="365219">
                  <a:extLst>
                    <a:ext uri="{9D8B030D-6E8A-4147-A177-3AD203B41FA5}">
                      <a16:colId xmlns:a16="http://schemas.microsoft.com/office/drawing/2014/main" val="20002"/>
                    </a:ext>
                  </a:extLst>
                </a:gridCol>
                <a:gridCol w="365219">
                  <a:extLst>
                    <a:ext uri="{9D8B030D-6E8A-4147-A177-3AD203B41FA5}">
                      <a16:colId xmlns:a16="http://schemas.microsoft.com/office/drawing/2014/main" val="20003"/>
                    </a:ext>
                  </a:extLst>
                </a:gridCol>
              </a:tblGrid>
              <a:tr h="327754">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3185">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3185">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185">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8782" name="Line 110"/>
          <p:cNvSpPr>
            <a:spLocks noChangeShapeType="1"/>
          </p:cNvSpPr>
          <p:nvPr/>
        </p:nvSpPr>
        <p:spPr bwMode="auto">
          <a:xfrm>
            <a:off x="1784228" y="3302519"/>
            <a:ext cx="0" cy="86113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783" name="Line 111"/>
          <p:cNvSpPr>
            <a:spLocks noChangeShapeType="1"/>
          </p:cNvSpPr>
          <p:nvPr/>
        </p:nvSpPr>
        <p:spPr bwMode="auto">
          <a:xfrm>
            <a:off x="2455999" y="4797152"/>
            <a:ext cx="88298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784" name="Text Box 112"/>
          <p:cNvSpPr txBox="1">
            <a:spLocks noChangeArrowheads="1"/>
          </p:cNvSpPr>
          <p:nvPr/>
        </p:nvSpPr>
        <p:spPr bwMode="auto">
          <a:xfrm>
            <a:off x="7260964" y="5299823"/>
            <a:ext cx="468761"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28785" name="Text Box 113"/>
          <p:cNvSpPr txBox="1">
            <a:spLocks noChangeArrowheads="1"/>
          </p:cNvSpPr>
          <p:nvPr/>
        </p:nvSpPr>
        <p:spPr bwMode="auto">
          <a:xfrm>
            <a:off x="8066548" y="5299823"/>
            <a:ext cx="388090"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28786" name="Line 114"/>
          <p:cNvSpPr>
            <a:spLocks noChangeShapeType="1"/>
          </p:cNvSpPr>
          <p:nvPr/>
        </p:nvSpPr>
        <p:spPr bwMode="auto">
          <a:xfrm flipV="1">
            <a:off x="7465110" y="4028123"/>
            <a:ext cx="378846" cy="8107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400">
              <a:latin typeface="Arial" panose="020B0604020202020204" pitchFamily="34" charset="0"/>
              <a:cs typeface="Arial" panose="020B0604020202020204" pitchFamily="34" charset="0"/>
            </a:endParaRPr>
          </a:p>
        </p:txBody>
      </p:sp>
      <p:sp>
        <p:nvSpPr>
          <p:cNvPr id="28787" name="Line 115"/>
          <p:cNvSpPr>
            <a:spLocks noChangeShapeType="1"/>
          </p:cNvSpPr>
          <p:nvPr/>
        </p:nvSpPr>
        <p:spPr bwMode="auto">
          <a:xfrm flipH="1" flipV="1">
            <a:off x="7877417" y="4022926"/>
            <a:ext cx="378263" cy="83094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aphicFrame>
        <p:nvGraphicFramePr>
          <p:cNvPr id="28788" name="Group 116"/>
          <p:cNvGraphicFramePr>
            <a:graphicFrameLocks noGrp="1"/>
          </p:cNvGraphicFramePr>
          <p:nvPr>
            <p:extLst>
              <p:ext uri="{D42A27DB-BD31-4B8C-83A1-F6EECF244321}">
                <p14:modId xmlns:p14="http://schemas.microsoft.com/office/powerpoint/2010/main" val="857311493"/>
              </p:ext>
            </p:extLst>
          </p:nvPr>
        </p:nvGraphicFramePr>
        <p:xfrm>
          <a:off x="3341175" y="1961267"/>
          <a:ext cx="1458680" cy="1341252"/>
        </p:xfrm>
        <a:graphic>
          <a:graphicData uri="http://schemas.openxmlformats.org/drawingml/2006/table">
            <a:tbl>
              <a:tblPr/>
              <a:tblGrid>
                <a:gridCol w="364670">
                  <a:extLst>
                    <a:ext uri="{9D8B030D-6E8A-4147-A177-3AD203B41FA5}">
                      <a16:colId xmlns:a16="http://schemas.microsoft.com/office/drawing/2014/main" val="20000"/>
                    </a:ext>
                  </a:extLst>
                </a:gridCol>
                <a:gridCol w="364670">
                  <a:extLst>
                    <a:ext uri="{9D8B030D-6E8A-4147-A177-3AD203B41FA5}">
                      <a16:colId xmlns:a16="http://schemas.microsoft.com/office/drawing/2014/main" val="20001"/>
                    </a:ext>
                  </a:extLst>
                </a:gridCol>
                <a:gridCol w="364670">
                  <a:extLst>
                    <a:ext uri="{9D8B030D-6E8A-4147-A177-3AD203B41FA5}">
                      <a16:colId xmlns:a16="http://schemas.microsoft.com/office/drawing/2014/main" val="20002"/>
                    </a:ext>
                  </a:extLst>
                </a:gridCol>
                <a:gridCol w="364670">
                  <a:extLst>
                    <a:ext uri="{9D8B030D-6E8A-4147-A177-3AD203B41FA5}">
                      <a16:colId xmlns:a16="http://schemas.microsoft.com/office/drawing/2014/main" val="20003"/>
                    </a:ext>
                  </a:extLst>
                </a:gridCol>
              </a:tblGrid>
              <a:tr h="318967">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24">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24">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24">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8815" name="Line 143"/>
          <p:cNvSpPr>
            <a:spLocks noChangeShapeType="1"/>
          </p:cNvSpPr>
          <p:nvPr/>
        </p:nvSpPr>
        <p:spPr bwMode="auto">
          <a:xfrm flipV="1">
            <a:off x="2460534" y="3302519"/>
            <a:ext cx="1619242" cy="133042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a:p>
        </p:txBody>
      </p:sp>
      <p:sp>
        <p:nvSpPr>
          <p:cNvPr id="40"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32</a:t>
            </a:fld>
            <a:endParaRPr lang="en-US" altLang="zh-CN"/>
          </a:p>
        </p:txBody>
      </p:sp>
      <p:graphicFrame>
        <p:nvGraphicFramePr>
          <p:cNvPr id="42" name="Group 116"/>
          <p:cNvGraphicFramePr>
            <a:graphicFrameLocks noGrp="1"/>
          </p:cNvGraphicFramePr>
          <p:nvPr>
            <p:extLst>
              <p:ext uri="{D42A27DB-BD31-4B8C-83A1-F6EECF244321}">
                <p14:modId xmlns:p14="http://schemas.microsoft.com/office/powerpoint/2010/main" val="1841817945"/>
              </p:ext>
            </p:extLst>
          </p:nvPr>
        </p:nvGraphicFramePr>
        <p:xfrm>
          <a:off x="1048015" y="1937353"/>
          <a:ext cx="1458680" cy="1341252"/>
        </p:xfrm>
        <a:graphic>
          <a:graphicData uri="http://schemas.openxmlformats.org/drawingml/2006/table">
            <a:tbl>
              <a:tblPr/>
              <a:tblGrid>
                <a:gridCol w="364670">
                  <a:extLst>
                    <a:ext uri="{9D8B030D-6E8A-4147-A177-3AD203B41FA5}">
                      <a16:colId xmlns:a16="http://schemas.microsoft.com/office/drawing/2014/main" val="20000"/>
                    </a:ext>
                  </a:extLst>
                </a:gridCol>
                <a:gridCol w="364670">
                  <a:extLst>
                    <a:ext uri="{9D8B030D-6E8A-4147-A177-3AD203B41FA5}">
                      <a16:colId xmlns:a16="http://schemas.microsoft.com/office/drawing/2014/main" val="20001"/>
                    </a:ext>
                  </a:extLst>
                </a:gridCol>
                <a:gridCol w="364670">
                  <a:extLst>
                    <a:ext uri="{9D8B030D-6E8A-4147-A177-3AD203B41FA5}">
                      <a16:colId xmlns:a16="http://schemas.microsoft.com/office/drawing/2014/main" val="20002"/>
                    </a:ext>
                  </a:extLst>
                </a:gridCol>
                <a:gridCol w="364670">
                  <a:extLst>
                    <a:ext uri="{9D8B030D-6E8A-4147-A177-3AD203B41FA5}">
                      <a16:colId xmlns:a16="http://schemas.microsoft.com/office/drawing/2014/main" val="20003"/>
                    </a:ext>
                  </a:extLst>
                </a:gridCol>
              </a:tblGrid>
              <a:tr h="318967">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24">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24">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en-US" altLang="zh-CN" sz="20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24">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555855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8692"/>
                                        </p:tgtEl>
                                        <p:attrNameLst>
                                          <p:attrName>style.visibility</p:attrName>
                                        </p:attrNameLst>
                                      </p:cBhvr>
                                      <p:to>
                                        <p:strVal val="visible"/>
                                      </p:to>
                                    </p:set>
                                    <p:animEffect transition="in" filter="wipe(down)">
                                      <p:cBhvr>
                                        <p:cTn id="7" dur="500"/>
                                        <p:tgtEl>
                                          <p:spTgt spid="286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wipe(up)">
                                      <p:cBhvr>
                                        <p:cTn id="12" dur="500"/>
                                        <p:tgtEl>
                                          <p:spTgt spid="286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782"/>
                                        </p:tgtEl>
                                        <p:attrNameLst>
                                          <p:attrName>style.visibility</p:attrName>
                                        </p:attrNameLst>
                                      </p:cBhvr>
                                      <p:to>
                                        <p:strVal val="visible"/>
                                      </p:to>
                                    </p:set>
                                    <p:animEffect transition="in" filter="wipe(up)">
                                      <p:cBhvr>
                                        <p:cTn id="17" dur="500"/>
                                        <p:tgtEl>
                                          <p:spTgt spid="287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28728"/>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28697"/>
                                        </p:tgtEl>
                                        <p:attrNameLst>
                                          <p:attrName>style.visibility</p:attrName>
                                        </p:attrNameLst>
                                      </p:cBhvr>
                                      <p:to>
                                        <p:strVal val="visible"/>
                                      </p:to>
                                    </p:set>
                                    <p:animEffect transition="in" filter="wipe(up)">
                                      <p:cBhvr>
                                        <p:cTn id="26" dur="500"/>
                                        <p:tgtEl>
                                          <p:spTgt spid="2869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783"/>
                                        </p:tgtEl>
                                        <p:attrNameLst>
                                          <p:attrName>style.visibility</p:attrName>
                                        </p:attrNameLst>
                                      </p:cBhvr>
                                      <p:to>
                                        <p:strVal val="visible"/>
                                      </p:to>
                                    </p:set>
                                    <p:animEffect transition="in" filter="wipe(left)">
                                      <p:cBhvr>
                                        <p:cTn id="31" dur="500"/>
                                        <p:tgtEl>
                                          <p:spTgt spid="2878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28755"/>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28784"/>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8786"/>
                                        </p:tgtEl>
                                        <p:attrNameLst>
                                          <p:attrName>style.visibility</p:attrName>
                                        </p:attrNameLst>
                                      </p:cBhvr>
                                      <p:to>
                                        <p:strVal val="visible"/>
                                      </p:to>
                                    </p:set>
                                    <p:animEffect transition="in" filter="wipe(down)">
                                      <p:cBhvr>
                                        <p:cTn id="44" dur="500"/>
                                        <p:tgtEl>
                                          <p:spTgt spid="2878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28693"/>
                                        </p:tgtEl>
                                        <p:attrNameLst>
                                          <p:attrName>style.visibility</p:attrName>
                                        </p:attrNameLst>
                                      </p:cBhvr>
                                      <p:to>
                                        <p:strVal val="visible"/>
                                      </p:to>
                                    </p:set>
                                    <p:animEffect transition="in" filter="wipe(up)">
                                      <p:cBhvr>
                                        <p:cTn id="49" dur="500"/>
                                        <p:tgtEl>
                                          <p:spTgt spid="2869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8815"/>
                                        </p:tgtEl>
                                        <p:attrNameLst>
                                          <p:attrName>style.visibility</p:attrName>
                                        </p:attrNameLst>
                                      </p:cBhvr>
                                      <p:to>
                                        <p:strVal val="visible"/>
                                      </p:to>
                                    </p:set>
                                    <p:animEffect transition="in" filter="wipe(down)">
                                      <p:cBhvr>
                                        <p:cTn id="54" dur="500"/>
                                        <p:tgtEl>
                                          <p:spTgt spid="2881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2878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28785"/>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8787"/>
                                        </p:tgtEl>
                                        <p:attrNameLst>
                                          <p:attrName>style.visibility</p:attrName>
                                        </p:attrNameLst>
                                      </p:cBhvr>
                                      <p:to>
                                        <p:strVal val="visible"/>
                                      </p:to>
                                    </p:set>
                                    <p:animEffect transition="in" filter="wipe(down)">
                                      <p:cBhvr>
                                        <p:cTn id="67" dur="500"/>
                                        <p:tgtEl>
                                          <p:spTgt spid="2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92" grpId="0" animBg="1"/>
      <p:bldP spid="28782" grpId="0" animBg="1"/>
      <p:bldP spid="28783" grpId="0" animBg="1"/>
      <p:bldP spid="28784" grpId="0" autoUpdateAnimBg="0"/>
      <p:bldP spid="28785" grpId="0" autoUpdateAnimBg="0"/>
      <p:bldP spid="28786" grpId="0" animBg="1"/>
      <p:bldP spid="28787" grpId="0" animBg="1"/>
      <p:bldP spid="288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700" name="Group 4"/>
          <p:cNvGrpSpPr>
            <a:grpSpLocks/>
          </p:cNvGrpSpPr>
          <p:nvPr/>
        </p:nvGrpSpPr>
        <p:grpSpPr bwMode="auto">
          <a:xfrm>
            <a:off x="8230567" y="2542254"/>
            <a:ext cx="1585913" cy="1062038"/>
            <a:chOff x="4248" y="1394"/>
            <a:chExt cx="999" cy="669"/>
          </a:xfrm>
          <a:noFill/>
        </p:grpSpPr>
        <p:sp>
          <p:nvSpPr>
            <p:cNvPr id="20644" name="Oval 5"/>
            <p:cNvSpPr>
              <a:spLocks noChangeArrowheads="1"/>
            </p:cNvSpPr>
            <p:nvPr/>
          </p:nvSpPr>
          <p:spPr bwMode="auto">
            <a:xfrm>
              <a:off x="4959" y="1775"/>
              <a:ext cx="288" cy="288"/>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13</a:t>
              </a:r>
            </a:p>
          </p:txBody>
        </p:sp>
        <p:sp>
          <p:nvSpPr>
            <p:cNvPr id="20645" name="Line 6"/>
            <p:cNvSpPr>
              <a:spLocks noChangeShapeType="1"/>
            </p:cNvSpPr>
            <p:nvPr/>
          </p:nvSpPr>
          <p:spPr bwMode="auto">
            <a:xfrm>
              <a:off x="4248" y="1416"/>
              <a:ext cx="852" cy="3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46" name="Text Box 7"/>
            <p:cNvSpPr txBox="1">
              <a:spLocks noChangeArrowheads="1"/>
            </p:cNvSpPr>
            <p:nvPr/>
          </p:nvSpPr>
          <p:spPr bwMode="auto">
            <a:xfrm>
              <a:off x="4608" y="1394"/>
              <a:ext cx="552"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4</a:t>
              </a:r>
            </a:p>
          </p:txBody>
        </p:sp>
      </p:grpSp>
      <p:grpSp>
        <p:nvGrpSpPr>
          <p:cNvPr id="29704" name="Group 8"/>
          <p:cNvGrpSpPr>
            <a:grpSpLocks/>
          </p:cNvGrpSpPr>
          <p:nvPr/>
        </p:nvGrpSpPr>
        <p:grpSpPr bwMode="auto">
          <a:xfrm>
            <a:off x="8465519" y="4728640"/>
            <a:ext cx="925513" cy="1139825"/>
            <a:chOff x="4358" y="2688"/>
            <a:chExt cx="583" cy="718"/>
          </a:xfrm>
          <a:noFill/>
        </p:grpSpPr>
        <p:sp>
          <p:nvSpPr>
            <p:cNvPr id="20641" name="Oval 9"/>
            <p:cNvSpPr>
              <a:spLocks noChangeArrowheads="1"/>
            </p:cNvSpPr>
            <p:nvPr/>
          </p:nvSpPr>
          <p:spPr bwMode="auto">
            <a:xfrm>
              <a:off x="4653" y="3142"/>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15</a:t>
              </a:r>
            </a:p>
          </p:txBody>
        </p:sp>
        <p:sp>
          <p:nvSpPr>
            <p:cNvPr id="20642" name="Line 10"/>
            <p:cNvSpPr>
              <a:spLocks noChangeShapeType="1"/>
            </p:cNvSpPr>
            <p:nvPr/>
          </p:nvSpPr>
          <p:spPr bwMode="auto">
            <a:xfrm>
              <a:off x="4802" y="2688"/>
              <a:ext cx="4" cy="4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43" name="Text Box 11"/>
            <p:cNvSpPr txBox="1">
              <a:spLocks noChangeArrowheads="1"/>
            </p:cNvSpPr>
            <p:nvPr/>
          </p:nvSpPr>
          <p:spPr bwMode="auto">
            <a:xfrm>
              <a:off x="4358" y="2871"/>
              <a:ext cx="504" cy="19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4</a:t>
              </a:r>
              <a:r>
                <a:rPr kumimoji="1" lang="en-US" altLang="zh-CN" sz="2000" dirty="0">
                  <a:cs typeface="Arial" panose="020B0604020202020204" pitchFamily="34" charset="0"/>
                </a:rPr>
                <a:t>=3</a:t>
              </a:r>
            </a:p>
          </p:txBody>
        </p:sp>
      </p:grpSp>
      <p:sp>
        <p:nvSpPr>
          <p:cNvPr id="20484" name="Text Box 12"/>
          <p:cNvSpPr txBox="1">
            <a:spLocks noChangeArrowheads="1"/>
          </p:cNvSpPr>
          <p:nvPr/>
        </p:nvSpPr>
        <p:spPr bwMode="auto">
          <a:xfrm>
            <a:off x="726976" y="579494"/>
            <a:ext cx="10307115" cy="904863"/>
          </a:xfrm>
          <a:prstGeom prst="rect">
            <a:avLst/>
          </a:prstGeom>
          <a:solidFill>
            <a:schemeClr val="bg1"/>
          </a:solid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228600" indent="-228600" eaLnBrk="1" hangingPunct="1">
              <a:lnSpc>
                <a:spcPct val="110000"/>
              </a:lnSpc>
              <a:spcBef>
                <a:spcPct val="50000"/>
              </a:spcBef>
              <a:buClr>
                <a:srgbClr val="1E5293"/>
              </a:buClr>
              <a:buSzPct val="70000"/>
              <a:buFont typeface="Wingdings" panose="05000000000000000000" pitchFamily="2" charset="2"/>
              <a:buChar char="l"/>
            </a:pPr>
            <a:r>
              <a:rPr kumimoji="1" lang="zh-CN" altLang="en-US" sz="2400" dirty="0">
                <a:ea typeface="幼圆" panose="02010509060101010101" pitchFamily="49" charset="-122"/>
                <a:cs typeface="Arial" panose="020B0604020202020204" pitchFamily="34" charset="0"/>
              </a:rPr>
              <a:t>回溯到结点</a:t>
            </a:r>
            <a:r>
              <a:rPr kumimoji="1" lang="en-US" altLang="zh-CN" sz="2400" dirty="0">
                <a:ea typeface="幼圆" panose="02010509060101010101" pitchFamily="49" charset="-122"/>
                <a:cs typeface="Arial" panose="020B0604020202020204" pitchFamily="34" charset="0"/>
              </a:rPr>
              <a:t>2</a:t>
            </a:r>
            <a:r>
              <a:rPr kumimoji="1" lang="zh-CN" altLang="en-US" sz="2400" dirty="0">
                <a:ea typeface="幼圆" panose="02010509060101010101" pitchFamily="49" charset="-122"/>
                <a:cs typeface="Arial" panose="020B0604020202020204" pitchFamily="34" charset="0"/>
              </a:rPr>
              <a:t>生成结点</a:t>
            </a:r>
            <a:r>
              <a:rPr kumimoji="1" lang="en-US" altLang="zh-CN" sz="2400" dirty="0">
                <a:ea typeface="幼圆" panose="02010509060101010101" pitchFamily="49" charset="-122"/>
                <a:cs typeface="Arial" panose="020B0604020202020204" pitchFamily="34" charset="0"/>
              </a:rPr>
              <a:t>13, </a:t>
            </a:r>
            <a:r>
              <a:rPr kumimoji="1" lang="zh-CN" altLang="en-US" sz="2400" dirty="0">
                <a:ea typeface="幼圆" panose="02010509060101010101" pitchFamily="49" charset="-122"/>
                <a:cs typeface="Arial" panose="020B0604020202020204" pitchFamily="34" charset="0"/>
              </a:rPr>
              <a:t>路径变为</a:t>
            </a:r>
            <a:r>
              <a:rPr kumimoji="1" lang="en-US" altLang="zh-CN" sz="2400" dirty="0">
                <a:ea typeface="幼圆" panose="02010509060101010101" pitchFamily="49" charset="-122"/>
                <a:cs typeface="Arial" panose="020B0604020202020204" pitchFamily="34" charset="0"/>
              </a:rPr>
              <a:t>(1, 4), </a:t>
            </a: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13</a:t>
            </a:r>
            <a:r>
              <a:rPr kumimoji="1" lang="zh-CN" altLang="en-US" sz="2400" dirty="0">
                <a:ea typeface="幼圆" panose="02010509060101010101" pitchFamily="49" charset="-122"/>
                <a:cs typeface="Arial" panose="020B0604020202020204" pitchFamily="34" charset="0"/>
              </a:rPr>
              <a:t>成为</a:t>
            </a:r>
            <a:r>
              <a:rPr kumimoji="1" lang="en-US" altLang="zh-CN" sz="2400" dirty="0">
                <a:ea typeface="幼圆" panose="02010509060101010101" pitchFamily="49" charset="-122"/>
                <a:cs typeface="Arial" panose="020B0604020202020204" pitchFamily="34" charset="0"/>
              </a:rPr>
              <a:t>E-</a:t>
            </a: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它的儿子不可能导致答案结点</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因此结点</a:t>
            </a:r>
            <a:r>
              <a:rPr kumimoji="1" lang="en-US" altLang="zh-CN" sz="2400" dirty="0">
                <a:ea typeface="幼圆" panose="02010509060101010101" pitchFamily="49" charset="-122"/>
                <a:cs typeface="Arial" panose="020B0604020202020204" pitchFamily="34" charset="0"/>
              </a:rPr>
              <a:t>13</a:t>
            </a:r>
            <a:r>
              <a:rPr kumimoji="1" lang="zh-CN" altLang="en-US" sz="2400" dirty="0">
                <a:ea typeface="幼圆" panose="02010509060101010101" pitchFamily="49" charset="-122"/>
                <a:cs typeface="Arial" panose="020B0604020202020204" pitchFamily="34" charset="0"/>
              </a:rPr>
              <a:t>也被杀死</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回溯。</a:t>
            </a:r>
          </a:p>
        </p:txBody>
      </p:sp>
      <p:grpSp>
        <p:nvGrpSpPr>
          <p:cNvPr id="20485" name="Group 13"/>
          <p:cNvGrpSpPr>
            <a:grpSpLocks/>
          </p:cNvGrpSpPr>
          <p:nvPr/>
        </p:nvGrpSpPr>
        <p:grpSpPr bwMode="auto">
          <a:xfrm>
            <a:off x="6757365" y="1299640"/>
            <a:ext cx="2733675" cy="3810000"/>
            <a:chOff x="3282" y="528"/>
            <a:chExt cx="1722" cy="2400"/>
          </a:xfrm>
          <a:noFill/>
        </p:grpSpPr>
        <p:grpSp>
          <p:nvGrpSpPr>
            <p:cNvPr id="20614" name="Group 14"/>
            <p:cNvGrpSpPr>
              <a:grpSpLocks/>
            </p:cNvGrpSpPr>
            <p:nvPr/>
          </p:nvGrpSpPr>
          <p:grpSpPr bwMode="auto">
            <a:xfrm>
              <a:off x="3744" y="1328"/>
              <a:ext cx="586" cy="645"/>
              <a:chOff x="4296" y="1344"/>
              <a:chExt cx="586" cy="623"/>
            </a:xfrm>
            <a:grpFill/>
          </p:grpSpPr>
          <p:sp>
            <p:nvSpPr>
              <p:cNvPr id="20638" name="Oval 15"/>
              <p:cNvSpPr>
                <a:spLocks noChangeArrowheads="1"/>
              </p:cNvSpPr>
              <p:nvPr/>
            </p:nvSpPr>
            <p:spPr bwMode="auto">
              <a:xfrm>
                <a:off x="4594" y="1703"/>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8</a:t>
                </a:r>
              </a:p>
            </p:txBody>
          </p:sp>
          <p:sp>
            <p:nvSpPr>
              <p:cNvPr id="20639" name="Line 16"/>
              <p:cNvSpPr>
                <a:spLocks noChangeShapeType="1"/>
              </p:cNvSpPr>
              <p:nvPr/>
            </p:nvSpPr>
            <p:spPr bwMode="auto">
              <a:xfrm>
                <a:off x="4740" y="1344"/>
                <a:ext cx="0" cy="3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40" name="Text Box 17"/>
              <p:cNvSpPr txBox="1">
                <a:spLocks noChangeArrowheads="1"/>
              </p:cNvSpPr>
              <p:nvPr/>
            </p:nvSpPr>
            <p:spPr bwMode="auto">
              <a:xfrm>
                <a:off x="4296" y="1430"/>
                <a:ext cx="540" cy="24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3</a:t>
                </a:r>
              </a:p>
            </p:txBody>
          </p:sp>
        </p:grpSp>
        <p:grpSp>
          <p:nvGrpSpPr>
            <p:cNvPr id="20615" name="Group 18"/>
            <p:cNvGrpSpPr>
              <a:grpSpLocks/>
            </p:cNvGrpSpPr>
            <p:nvPr/>
          </p:nvGrpSpPr>
          <p:grpSpPr bwMode="auto">
            <a:xfrm>
              <a:off x="3282" y="528"/>
              <a:ext cx="1722" cy="2400"/>
              <a:chOff x="3282" y="528"/>
              <a:chExt cx="1722" cy="2400"/>
            </a:xfrm>
            <a:grpFill/>
          </p:grpSpPr>
          <p:grpSp>
            <p:nvGrpSpPr>
              <p:cNvPr id="20616" name="Group 19"/>
              <p:cNvGrpSpPr>
                <a:grpSpLocks/>
              </p:cNvGrpSpPr>
              <p:nvPr/>
            </p:nvGrpSpPr>
            <p:grpSpPr bwMode="auto">
              <a:xfrm>
                <a:off x="3282" y="528"/>
                <a:ext cx="1722" cy="1679"/>
                <a:chOff x="3858" y="528"/>
                <a:chExt cx="1722" cy="1679"/>
              </a:xfrm>
              <a:grpFill/>
            </p:grpSpPr>
            <p:sp>
              <p:nvSpPr>
                <p:cNvPr id="20628" name="Oval 20"/>
                <p:cNvSpPr>
                  <a:spLocks noChangeArrowheads="1"/>
                </p:cNvSpPr>
                <p:nvPr/>
              </p:nvSpPr>
              <p:spPr bwMode="auto">
                <a:xfrm>
                  <a:off x="5292" y="528"/>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a:t>
                  </a:r>
                </a:p>
              </p:txBody>
            </p:sp>
            <p:grpSp>
              <p:nvGrpSpPr>
                <p:cNvPr id="20629" name="Group 21"/>
                <p:cNvGrpSpPr>
                  <a:grpSpLocks/>
                </p:cNvGrpSpPr>
                <p:nvPr/>
              </p:nvGrpSpPr>
              <p:grpSpPr bwMode="auto">
                <a:xfrm>
                  <a:off x="3858" y="1278"/>
                  <a:ext cx="870" cy="690"/>
                  <a:chOff x="3858" y="1278"/>
                  <a:chExt cx="870" cy="690"/>
                </a:xfrm>
                <a:grpFill/>
              </p:grpSpPr>
              <p:sp>
                <p:nvSpPr>
                  <p:cNvPr id="20635" name="Oval 22"/>
                  <p:cNvSpPr>
                    <a:spLocks noChangeArrowheads="1"/>
                  </p:cNvSpPr>
                  <p:nvPr/>
                </p:nvSpPr>
                <p:spPr bwMode="auto">
                  <a:xfrm>
                    <a:off x="3858" y="170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a:t>
                    </a:r>
                  </a:p>
                </p:txBody>
              </p:sp>
              <p:sp>
                <p:nvSpPr>
                  <p:cNvPr id="20636" name="Line 23"/>
                  <p:cNvSpPr>
                    <a:spLocks noChangeShapeType="1"/>
                  </p:cNvSpPr>
                  <p:nvPr/>
                </p:nvSpPr>
                <p:spPr bwMode="auto">
                  <a:xfrm flipH="1">
                    <a:off x="4020" y="1334"/>
                    <a:ext cx="708" cy="36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37" name="Text Box 24"/>
                  <p:cNvSpPr txBox="1">
                    <a:spLocks noChangeArrowheads="1"/>
                  </p:cNvSpPr>
                  <p:nvPr/>
                </p:nvSpPr>
                <p:spPr bwMode="auto">
                  <a:xfrm>
                    <a:off x="3972" y="1278"/>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00FF"/>
                        </a:solidFill>
                        <a:cs typeface="Arial" panose="020B0604020202020204" pitchFamily="34" charset="0"/>
                      </a:rPr>
                      <a:t>x</a:t>
                    </a:r>
                    <a:r>
                      <a:rPr lang="en-US" altLang="zh-CN" sz="2000" baseline="-25000" dirty="0">
                        <a:solidFill>
                          <a:srgbClr val="0000FF"/>
                        </a:solidFill>
                        <a:cs typeface="Arial" panose="020B0604020202020204" pitchFamily="34" charset="0"/>
                      </a:rPr>
                      <a:t>2</a:t>
                    </a:r>
                    <a:r>
                      <a:rPr lang="en-US" altLang="zh-CN" sz="2000" dirty="0">
                        <a:solidFill>
                          <a:srgbClr val="0000FF"/>
                        </a:solidFill>
                        <a:cs typeface="Arial" panose="020B0604020202020204" pitchFamily="34" charset="0"/>
                      </a:rPr>
                      <a:t>= 2</a:t>
                    </a:r>
                  </a:p>
                </p:txBody>
              </p:sp>
            </p:grpSp>
            <p:grpSp>
              <p:nvGrpSpPr>
                <p:cNvPr id="20630" name="Group 25"/>
                <p:cNvGrpSpPr>
                  <a:grpSpLocks/>
                </p:cNvGrpSpPr>
                <p:nvPr/>
              </p:nvGrpSpPr>
              <p:grpSpPr bwMode="auto">
                <a:xfrm>
                  <a:off x="4618" y="732"/>
                  <a:ext cx="818" cy="602"/>
                  <a:chOff x="4618" y="732"/>
                  <a:chExt cx="818" cy="602"/>
                </a:xfrm>
                <a:grpFill/>
              </p:grpSpPr>
              <p:sp>
                <p:nvSpPr>
                  <p:cNvPr id="20632" name="Oval 26"/>
                  <p:cNvSpPr>
                    <a:spLocks noChangeArrowheads="1"/>
                  </p:cNvSpPr>
                  <p:nvPr/>
                </p:nvSpPr>
                <p:spPr bwMode="auto">
                  <a:xfrm>
                    <a:off x="4618" y="1070"/>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a:t>
                    </a:r>
                  </a:p>
                </p:txBody>
              </p:sp>
              <p:sp>
                <p:nvSpPr>
                  <p:cNvPr id="20633" name="Line 27"/>
                  <p:cNvSpPr>
                    <a:spLocks noChangeShapeType="1"/>
                  </p:cNvSpPr>
                  <p:nvPr/>
                </p:nvSpPr>
                <p:spPr bwMode="auto">
                  <a:xfrm flipH="1">
                    <a:off x="4752" y="792"/>
                    <a:ext cx="684" cy="28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34" name="Text Box 28"/>
                  <p:cNvSpPr txBox="1">
                    <a:spLocks noChangeArrowheads="1"/>
                  </p:cNvSpPr>
                  <p:nvPr/>
                </p:nvSpPr>
                <p:spPr bwMode="auto">
                  <a:xfrm>
                    <a:off x="4728" y="732"/>
                    <a:ext cx="504"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solidFill>
                          <a:srgbClr val="0000FF"/>
                        </a:solidFill>
                        <a:cs typeface="Arial" panose="020B0604020202020204" pitchFamily="34" charset="0"/>
                      </a:rPr>
                      <a:t>x</a:t>
                    </a:r>
                    <a:r>
                      <a:rPr lang="en-US" altLang="zh-CN" sz="2000" baseline="-25000">
                        <a:solidFill>
                          <a:srgbClr val="0000FF"/>
                        </a:solidFill>
                        <a:cs typeface="Arial" panose="020B0604020202020204" pitchFamily="34" charset="0"/>
                      </a:rPr>
                      <a:t>1</a:t>
                    </a:r>
                    <a:r>
                      <a:rPr lang="en-US" altLang="zh-CN" sz="2000">
                        <a:solidFill>
                          <a:srgbClr val="0000FF"/>
                        </a:solidFill>
                        <a:cs typeface="Arial" panose="020B0604020202020204" pitchFamily="34" charset="0"/>
                      </a:rPr>
                      <a:t>=1</a:t>
                    </a:r>
                  </a:p>
                </p:txBody>
              </p:sp>
            </p:grpSp>
            <p:sp>
              <p:nvSpPr>
                <p:cNvPr id="20631" name="Text Box 29"/>
                <p:cNvSpPr txBox="1">
                  <a:spLocks noChangeArrowheads="1"/>
                </p:cNvSpPr>
                <p:nvPr/>
              </p:nvSpPr>
              <p:spPr bwMode="auto">
                <a:xfrm>
                  <a:off x="3897" y="1994"/>
                  <a:ext cx="345"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sp>
            <p:nvSpPr>
              <p:cNvPr id="20617" name="Line 30"/>
              <p:cNvSpPr>
                <a:spLocks noChangeShapeType="1"/>
              </p:cNvSpPr>
              <p:nvPr/>
            </p:nvSpPr>
            <p:spPr bwMode="auto">
              <a:xfrm flipV="1">
                <a:off x="3444" y="1337"/>
                <a:ext cx="708" cy="353"/>
              </a:xfrm>
              <a:prstGeom prst="line">
                <a:avLst/>
              </a:prstGeom>
              <a:grpFill/>
              <a:ln w="38100">
                <a:solidFill>
                  <a:srgbClr val="FF0000"/>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grpSp>
            <p:nvGrpSpPr>
              <p:cNvPr id="20618" name="Group 31"/>
              <p:cNvGrpSpPr>
                <a:grpSpLocks/>
              </p:cNvGrpSpPr>
              <p:nvPr/>
            </p:nvGrpSpPr>
            <p:grpSpPr bwMode="auto">
              <a:xfrm>
                <a:off x="4181" y="1967"/>
                <a:ext cx="628" cy="727"/>
                <a:chOff x="4733" y="1967"/>
                <a:chExt cx="628" cy="727"/>
              </a:xfrm>
              <a:grpFill/>
            </p:grpSpPr>
            <p:sp>
              <p:nvSpPr>
                <p:cNvPr id="20625" name="Oval 32"/>
                <p:cNvSpPr>
                  <a:spLocks noChangeArrowheads="1"/>
                </p:cNvSpPr>
                <p:nvPr/>
              </p:nvSpPr>
              <p:spPr bwMode="auto">
                <a:xfrm>
                  <a:off x="4884" y="2430"/>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11</a:t>
                  </a:r>
                </a:p>
              </p:txBody>
            </p:sp>
            <p:sp>
              <p:nvSpPr>
                <p:cNvPr id="20626" name="Line 33"/>
                <p:cNvSpPr>
                  <a:spLocks noChangeShapeType="1"/>
                </p:cNvSpPr>
                <p:nvPr/>
              </p:nvSpPr>
              <p:spPr bwMode="auto">
                <a:xfrm>
                  <a:off x="4733" y="1967"/>
                  <a:ext cx="293" cy="45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27" name="Text Box 34"/>
                <p:cNvSpPr txBox="1">
                  <a:spLocks noChangeArrowheads="1"/>
                </p:cNvSpPr>
                <p:nvPr/>
              </p:nvSpPr>
              <p:spPr bwMode="auto">
                <a:xfrm>
                  <a:off x="4821" y="2024"/>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=4</a:t>
                  </a:r>
                </a:p>
              </p:txBody>
            </p:sp>
          </p:grpSp>
          <p:grpSp>
            <p:nvGrpSpPr>
              <p:cNvPr id="20619" name="Group 35"/>
              <p:cNvGrpSpPr>
                <a:grpSpLocks/>
              </p:cNvGrpSpPr>
              <p:nvPr/>
            </p:nvGrpSpPr>
            <p:grpSpPr bwMode="auto">
              <a:xfrm>
                <a:off x="3602" y="1980"/>
                <a:ext cx="580" cy="708"/>
                <a:chOff x="4154" y="1980"/>
                <a:chExt cx="580" cy="708"/>
              </a:xfrm>
              <a:grpFill/>
            </p:grpSpPr>
            <p:sp>
              <p:nvSpPr>
                <p:cNvPr id="20622" name="Oval 36"/>
                <p:cNvSpPr>
                  <a:spLocks noChangeArrowheads="1"/>
                </p:cNvSpPr>
                <p:nvPr/>
              </p:nvSpPr>
              <p:spPr bwMode="auto">
                <a:xfrm>
                  <a:off x="4164" y="242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9</a:t>
                  </a:r>
                </a:p>
              </p:txBody>
            </p:sp>
            <p:sp>
              <p:nvSpPr>
                <p:cNvPr id="20623" name="Line 37"/>
                <p:cNvSpPr>
                  <a:spLocks noChangeShapeType="1"/>
                </p:cNvSpPr>
                <p:nvPr/>
              </p:nvSpPr>
              <p:spPr bwMode="auto">
                <a:xfrm flipH="1">
                  <a:off x="4320" y="1980"/>
                  <a:ext cx="414" cy="44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24" name="Text Box 38"/>
                <p:cNvSpPr txBox="1">
                  <a:spLocks noChangeArrowheads="1"/>
                </p:cNvSpPr>
                <p:nvPr/>
              </p:nvSpPr>
              <p:spPr bwMode="auto">
                <a:xfrm>
                  <a:off x="4154" y="2038"/>
                  <a:ext cx="516"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=2</a:t>
                  </a:r>
                </a:p>
              </p:txBody>
            </p:sp>
          </p:grpSp>
          <p:sp>
            <p:nvSpPr>
              <p:cNvPr id="20620" name="Text Box 39"/>
              <p:cNvSpPr txBox="1">
                <a:spLocks noChangeArrowheads="1"/>
              </p:cNvSpPr>
              <p:nvPr/>
            </p:nvSpPr>
            <p:spPr bwMode="auto">
              <a:xfrm>
                <a:off x="3666" y="2715"/>
                <a:ext cx="322"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20621" name="Text Box 40"/>
              <p:cNvSpPr txBox="1">
                <a:spLocks noChangeArrowheads="1"/>
              </p:cNvSpPr>
              <p:nvPr/>
            </p:nvSpPr>
            <p:spPr bwMode="auto">
              <a:xfrm>
                <a:off x="4378" y="2694"/>
                <a:ext cx="256"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grpSp>
      <p:sp>
        <p:nvSpPr>
          <p:cNvPr id="29737" name="Line 41"/>
          <p:cNvSpPr>
            <a:spLocks noChangeShapeType="1"/>
          </p:cNvSpPr>
          <p:nvPr/>
        </p:nvSpPr>
        <p:spPr bwMode="auto">
          <a:xfrm flipV="1">
            <a:off x="8176590" y="2569640"/>
            <a:ext cx="15875" cy="574676"/>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grpSp>
        <p:nvGrpSpPr>
          <p:cNvPr id="29738" name="Group 42"/>
          <p:cNvGrpSpPr>
            <a:grpSpLocks/>
          </p:cNvGrpSpPr>
          <p:nvPr/>
        </p:nvGrpSpPr>
        <p:grpSpPr bwMode="auto">
          <a:xfrm>
            <a:off x="8886203" y="3604690"/>
            <a:ext cx="819150" cy="1123950"/>
            <a:chOff x="4623" y="1980"/>
            <a:chExt cx="516" cy="708"/>
          </a:xfrm>
          <a:noFill/>
        </p:grpSpPr>
        <p:sp>
          <p:nvSpPr>
            <p:cNvPr id="20611" name="Oval 43"/>
            <p:cNvSpPr>
              <a:spLocks noChangeArrowheads="1"/>
            </p:cNvSpPr>
            <p:nvPr/>
          </p:nvSpPr>
          <p:spPr bwMode="auto">
            <a:xfrm>
              <a:off x="4665" y="242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14</a:t>
              </a:r>
            </a:p>
          </p:txBody>
        </p:sp>
        <p:sp>
          <p:nvSpPr>
            <p:cNvPr id="20612" name="Line 44"/>
            <p:cNvSpPr>
              <a:spLocks noChangeShapeType="1"/>
            </p:cNvSpPr>
            <p:nvPr/>
          </p:nvSpPr>
          <p:spPr bwMode="auto">
            <a:xfrm flipH="1">
              <a:off x="4808" y="1980"/>
              <a:ext cx="226" cy="44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13" name="Text Box 45"/>
            <p:cNvSpPr txBox="1">
              <a:spLocks noChangeArrowheads="1"/>
            </p:cNvSpPr>
            <p:nvPr/>
          </p:nvSpPr>
          <p:spPr bwMode="auto">
            <a:xfrm>
              <a:off x="4623" y="2008"/>
              <a:ext cx="516"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=2</a:t>
              </a:r>
            </a:p>
          </p:txBody>
        </p:sp>
      </p:grpSp>
      <p:sp>
        <p:nvSpPr>
          <p:cNvPr id="29742" name="Text Box 46"/>
          <p:cNvSpPr txBox="1">
            <a:spLocks noChangeArrowheads="1"/>
          </p:cNvSpPr>
          <p:nvPr/>
        </p:nvSpPr>
        <p:spPr bwMode="auto">
          <a:xfrm>
            <a:off x="9033840" y="5900058"/>
            <a:ext cx="552450"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aphicFrame>
        <p:nvGraphicFramePr>
          <p:cNvPr id="29743" name="Group 47"/>
          <p:cNvGraphicFramePr>
            <a:graphicFrameLocks noGrp="1"/>
          </p:cNvGraphicFramePr>
          <p:nvPr>
            <p:extLst>
              <p:ext uri="{D42A27DB-BD31-4B8C-83A1-F6EECF244321}">
                <p14:modId xmlns:p14="http://schemas.microsoft.com/office/powerpoint/2010/main" val="3363586821"/>
              </p:ext>
            </p:extLst>
          </p:nvPr>
        </p:nvGraphicFramePr>
        <p:xfrm>
          <a:off x="1198885" y="1944165"/>
          <a:ext cx="1434382" cy="1397392"/>
        </p:xfrm>
        <a:graphic>
          <a:graphicData uri="http://schemas.openxmlformats.org/drawingml/2006/table">
            <a:tbl>
              <a:tblPr/>
              <a:tblGrid>
                <a:gridCol w="358596">
                  <a:extLst>
                    <a:ext uri="{9D8B030D-6E8A-4147-A177-3AD203B41FA5}">
                      <a16:colId xmlns:a16="http://schemas.microsoft.com/office/drawing/2014/main" val="20000"/>
                    </a:ext>
                  </a:extLst>
                </a:gridCol>
                <a:gridCol w="358595">
                  <a:extLst>
                    <a:ext uri="{9D8B030D-6E8A-4147-A177-3AD203B41FA5}">
                      <a16:colId xmlns:a16="http://schemas.microsoft.com/office/drawing/2014/main" val="20001"/>
                    </a:ext>
                  </a:extLst>
                </a:gridCol>
                <a:gridCol w="358596">
                  <a:extLst>
                    <a:ext uri="{9D8B030D-6E8A-4147-A177-3AD203B41FA5}">
                      <a16:colId xmlns:a16="http://schemas.microsoft.com/office/drawing/2014/main" val="20002"/>
                    </a:ext>
                  </a:extLst>
                </a:gridCol>
                <a:gridCol w="358595">
                  <a:extLst>
                    <a:ext uri="{9D8B030D-6E8A-4147-A177-3AD203B41FA5}">
                      <a16:colId xmlns:a16="http://schemas.microsoft.com/office/drawing/2014/main" val="20003"/>
                    </a:ext>
                  </a:extLst>
                </a:gridCol>
              </a:tblGrid>
              <a:tr h="349348">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9348">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9348">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9348">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9770" name="Group 74"/>
          <p:cNvGraphicFramePr>
            <a:graphicFrameLocks noGrp="1"/>
          </p:cNvGraphicFramePr>
          <p:nvPr>
            <p:extLst>
              <p:ext uri="{D42A27DB-BD31-4B8C-83A1-F6EECF244321}">
                <p14:modId xmlns:p14="http://schemas.microsoft.com/office/powerpoint/2010/main" val="2074006773"/>
              </p:ext>
            </p:extLst>
          </p:nvPr>
        </p:nvGraphicFramePr>
        <p:xfrm>
          <a:off x="1174420" y="4149080"/>
          <a:ext cx="1462088" cy="1341120"/>
        </p:xfrm>
        <a:graphic>
          <a:graphicData uri="http://schemas.openxmlformats.org/drawingml/2006/table">
            <a:tbl>
              <a:tblPr/>
              <a:tblGrid>
                <a:gridCol w="365522">
                  <a:extLst>
                    <a:ext uri="{9D8B030D-6E8A-4147-A177-3AD203B41FA5}">
                      <a16:colId xmlns:a16="http://schemas.microsoft.com/office/drawing/2014/main" val="20000"/>
                    </a:ext>
                  </a:extLst>
                </a:gridCol>
                <a:gridCol w="365522">
                  <a:extLst>
                    <a:ext uri="{9D8B030D-6E8A-4147-A177-3AD203B41FA5}">
                      <a16:colId xmlns:a16="http://schemas.microsoft.com/office/drawing/2014/main" val="20001"/>
                    </a:ext>
                  </a:extLst>
                </a:gridCol>
                <a:gridCol w="302104">
                  <a:extLst>
                    <a:ext uri="{9D8B030D-6E8A-4147-A177-3AD203B41FA5}">
                      <a16:colId xmlns:a16="http://schemas.microsoft.com/office/drawing/2014/main" val="20002"/>
                    </a:ext>
                  </a:extLst>
                </a:gridCol>
                <a:gridCol w="428940">
                  <a:extLst>
                    <a:ext uri="{9D8B030D-6E8A-4147-A177-3AD203B41FA5}">
                      <a16:colId xmlns:a16="http://schemas.microsoft.com/office/drawing/2014/main" val="20003"/>
                    </a:ext>
                  </a:extLst>
                </a:gridCol>
              </a:tblGrid>
              <a:tr h="314439">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4439">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4439">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4439">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9797" name="Group 101"/>
          <p:cNvGraphicFramePr>
            <a:graphicFrameLocks noGrp="1"/>
          </p:cNvGraphicFramePr>
          <p:nvPr>
            <p:extLst>
              <p:ext uri="{D42A27DB-BD31-4B8C-83A1-F6EECF244321}">
                <p14:modId xmlns:p14="http://schemas.microsoft.com/office/powerpoint/2010/main" val="1307570892"/>
              </p:ext>
            </p:extLst>
          </p:nvPr>
        </p:nvGraphicFramePr>
        <p:xfrm>
          <a:off x="3684340" y="4104372"/>
          <a:ext cx="1394868" cy="1344993"/>
        </p:xfrm>
        <a:graphic>
          <a:graphicData uri="http://schemas.openxmlformats.org/drawingml/2006/table">
            <a:tbl>
              <a:tblPr/>
              <a:tblGrid>
                <a:gridCol w="348717">
                  <a:extLst>
                    <a:ext uri="{9D8B030D-6E8A-4147-A177-3AD203B41FA5}">
                      <a16:colId xmlns:a16="http://schemas.microsoft.com/office/drawing/2014/main" val="20000"/>
                    </a:ext>
                  </a:extLst>
                </a:gridCol>
                <a:gridCol w="348717">
                  <a:extLst>
                    <a:ext uri="{9D8B030D-6E8A-4147-A177-3AD203B41FA5}">
                      <a16:colId xmlns:a16="http://schemas.microsoft.com/office/drawing/2014/main" val="20001"/>
                    </a:ext>
                  </a:extLst>
                </a:gridCol>
                <a:gridCol w="348717">
                  <a:extLst>
                    <a:ext uri="{9D8B030D-6E8A-4147-A177-3AD203B41FA5}">
                      <a16:colId xmlns:a16="http://schemas.microsoft.com/office/drawing/2014/main" val="20002"/>
                    </a:ext>
                  </a:extLst>
                </a:gridCol>
                <a:gridCol w="348717">
                  <a:extLst>
                    <a:ext uri="{9D8B030D-6E8A-4147-A177-3AD203B41FA5}">
                      <a16:colId xmlns:a16="http://schemas.microsoft.com/office/drawing/2014/main" val="20003"/>
                    </a:ext>
                  </a:extLst>
                </a:gridCol>
              </a:tblGrid>
              <a:tr h="339153">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20377">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20377">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20377">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29824" name="Line 128"/>
          <p:cNvSpPr>
            <a:spLocks noChangeShapeType="1"/>
          </p:cNvSpPr>
          <p:nvPr/>
        </p:nvSpPr>
        <p:spPr bwMode="auto">
          <a:xfrm>
            <a:off x="1926827" y="3356992"/>
            <a:ext cx="1" cy="7868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825" name="Line 129"/>
          <p:cNvSpPr>
            <a:spLocks noChangeShapeType="1"/>
          </p:cNvSpPr>
          <p:nvPr/>
        </p:nvSpPr>
        <p:spPr bwMode="auto">
          <a:xfrm>
            <a:off x="2633267" y="4788979"/>
            <a:ext cx="105367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29826" name="Group 130"/>
          <p:cNvGraphicFramePr>
            <a:graphicFrameLocks noGrp="1"/>
          </p:cNvGraphicFramePr>
          <p:nvPr>
            <p:extLst>
              <p:ext uri="{D42A27DB-BD31-4B8C-83A1-F6EECF244321}">
                <p14:modId xmlns:p14="http://schemas.microsoft.com/office/powerpoint/2010/main" val="2636064675"/>
              </p:ext>
            </p:extLst>
          </p:nvPr>
        </p:nvGraphicFramePr>
        <p:xfrm>
          <a:off x="3686191" y="1954482"/>
          <a:ext cx="1408688" cy="1387076"/>
        </p:xfrm>
        <a:graphic>
          <a:graphicData uri="http://schemas.openxmlformats.org/drawingml/2006/table">
            <a:tbl>
              <a:tblPr/>
              <a:tblGrid>
                <a:gridCol w="352172">
                  <a:extLst>
                    <a:ext uri="{9D8B030D-6E8A-4147-A177-3AD203B41FA5}">
                      <a16:colId xmlns:a16="http://schemas.microsoft.com/office/drawing/2014/main" val="20000"/>
                    </a:ext>
                  </a:extLst>
                </a:gridCol>
                <a:gridCol w="352172">
                  <a:extLst>
                    <a:ext uri="{9D8B030D-6E8A-4147-A177-3AD203B41FA5}">
                      <a16:colId xmlns:a16="http://schemas.microsoft.com/office/drawing/2014/main" val="20001"/>
                    </a:ext>
                  </a:extLst>
                </a:gridCol>
                <a:gridCol w="352172">
                  <a:extLst>
                    <a:ext uri="{9D8B030D-6E8A-4147-A177-3AD203B41FA5}">
                      <a16:colId xmlns:a16="http://schemas.microsoft.com/office/drawing/2014/main" val="20002"/>
                    </a:ext>
                  </a:extLst>
                </a:gridCol>
                <a:gridCol w="352172">
                  <a:extLst>
                    <a:ext uri="{9D8B030D-6E8A-4147-A177-3AD203B41FA5}">
                      <a16:colId xmlns:a16="http://schemas.microsoft.com/office/drawing/2014/main" val="20003"/>
                    </a:ext>
                  </a:extLst>
                </a:gridCol>
              </a:tblGrid>
              <a:tr h="346769">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46769">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46769">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46769">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29853" name="Line 157"/>
          <p:cNvSpPr>
            <a:spLocks noChangeShapeType="1"/>
          </p:cNvSpPr>
          <p:nvPr/>
        </p:nvSpPr>
        <p:spPr bwMode="auto">
          <a:xfrm flipV="1">
            <a:off x="2639660" y="3346777"/>
            <a:ext cx="1745605" cy="1442202"/>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29854" name="Group 158"/>
          <p:cNvGrpSpPr>
            <a:grpSpLocks/>
          </p:cNvGrpSpPr>
          <p:nvPr/>
        </p:nvGrpSpPr>
        <p:grpSpPr bwMode="auto">
          <a:xfrm>
            <a:off x="9591056" y="3604690"/>
            <a:ext cx="1039813" cy="1123950"/>
            <a:chOff x="4707" y="1968"/>
            <a:chExt cx="655" cy="708"/>
          </a:xfrm>
          <a:noFill/>
        </p:grpSpPr>
        <p:sp>
          <p:nvSpPr>
            <p:cNvPr id="20608" name="Oval 159"/>
            <p:cNvSpPr>
              <a:spLocks noChangeArrowheads="1"/>
            </p:cNvSpPr>
            <p:nvPr/>
          </p:nvSpPr>
          <p:spPr bwMode="auto">
            <a:xfrm>
              <a:off x="4881" y="2412"/>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16</a:t>
              </a:r>
            </a:p>
          </p:txBody>
        </p:sp>
        <p:sp>
          <p:nvSpPr>
            <p:cNvPr id="20609" name="Line 160"/>
            <p:cNvSpPr>
              <a:spLocks noChangeShapeType="1"/>
            </p:cNvSpPr>
            <p:nvPr/>
          </p:nvSpPr>
          <p:spPr bwMode="auto">
            <a:xfrm>
              <a:off x="4707" y="1968"/>
              <a:ext cx="286" cy="45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0610" name="Text Box 161"/>
            <p:cNvSpPr txBox="1">
              <a:spLocks noChangeArrowheads="1"/>
            </p:cNvSpPr>
            <p:nvPr/>
          </p:nvSpPr>
          <p:spPr bwMode="auto">
            <a:xfrm>
              <a:off x="4822" y="1993"/>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=3</a:t>
              </a:r>
            </a:p>
          </p:txBody>
        </p:sp>
      </p:grpSp>
      <p:sp>
        <p:nvSpPr>
          <p:cNvPr id="29858" name="Text Box 162"/>
          <p:cNvSpPr txBox="1">
            <a:spLocks noChangeArrowheads="1"/>
          </p:cNvSpPr>
          <p:nvPr/>
        </p:nvSpPr>
        <p:spPr bwMode="auto">
          <a:xfrm>
            <a:off x="9887177" y="4744920"/>
            <a:ext cx="437304"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20602" name="Line 163"/>
          <p:cNvSpPr>
            <a:spLocks noChangeShapeType="1"/>
          </p:cNvSpPr>
          <p:nvPr/>
        </p:nvSpPr>
        <p:spPr bwMode="auto">
          <a:xfrm flipV="1">
            <a:off x="7538415" y="3593576"/>
            <a:ext cx="654050" cy="71596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sp>
        <p:nvSpPr>
          <p:cNvPr id="20603" name="Line 164"/>
          <p:cNvSpPr>
            <a:spLocks noChangeShapeType="1"/>
          </p:cNvSpPr>
          <p:nvPr/>
        </p:nvSpPr>
        <p:spPr bwMode="auto">
          <a:xfrm flipH="1" flipV="1">
            <a:off x="8214690" y="3595165"/>
            <a:ext cx="419100" cy="71437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pSp>
        <p:nvGrpSpPr>
          <p:cNvPr id="29861" name="Group 165"/>
          <p:cNvGrpSpPr>
            <a:grpSpLocks/>
          </p:cNvGrpSpPr>
          <p:nvPr/>
        </p:nvGrpSpPr>
        <p:grpSpPr bwMode="auto">
          <a:xfrm>
            <a:off x="9159039" y="3595167"/>
            <a:ext cx="371701" cy="1854724"/>
            <a:chOff x="4798" y="1974"/>
            <a:chExt cx="231" cy="1194"/>
          </a:xfrm>
          <a:noFill/>
        </p:grpSpPr>
        <p:sp>
          <p:nvSpPr>
            <p:cNvPr id="20606" name="Line 166"/>
            <p:cNvSpPr>
              <a:spLocks noChangeShapeType="1"/>
            </p:cNvSpPr>
            <p:nvPr/>
          </p:nvSpPr>
          <p:spPr bwMode="auto">
            <a:xfrm flipH="1" flipV="1">
              <a:off x="4798" y="2715"/>
              <a:ext cx="7" cy="453"/>
            </a:xfrm>
            <a:prstGeom prst="line">
              <a:avLst/>
            </a:prstGeom>
            <a:grpFill/>
            <a:ln w="28575">
              <a:solidFill>
                <a:srgbClr val="FF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sp>
          <p:nvSpPr>
            <p:cNvPr id="20607" name="Line 167"/>
            <p:cNvSpPr>
              <a:spLocks noChangeShapeType="1"/>
            </p:cNvSpPr>
            <p:nvPr/>
          </p:nvSpPr>
          <p:spPr bwMode="auto">
            <a:xfrm flipV="1">
              <a:off x="4809" y="1974"/>
              <a:ext cx="220" cy="438"/>
            </a:xfrm>
            <a:prstGeom prst="line">
              <a:avLst/>
            </a:prstGeom>
            <a:grpFill/>
            <a:ln w="28575">
              <a:solidFill>
                <a:srgbClr val="FF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pSp>
      <p:sp>
        <p:nvSpPr>
          <p:cNvPr id="29864" name="Line 168"/>
          <p:cNvSpPr>
            <a:spLocks noChangeShapeType="1"/>
          </p:cNvSpPr>
          <p:nvPr/>
        </p:nvSpPr>
        <p:spPr bwMode="auto">
          <a:xfrm flipH="1" flipV="1">
            <a:off x="9599006" y="3620571"/>
            <a:ext cx="446074" cy="69849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sp>
        <p:nvSpPr>
          <p:cNvPr id="63"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33</a:t>
            </a:fld>
            <a:endParaRPr lang="en-US" altLang="zh-CN" dirty="0"/>
          </a:p>
        </p:txBody>
      </p:sp>
      <p:sp>
        <p:nvSpPr>
          <p:cNvPr id="64" name="Line 57"/>
          <p:cNvSpPr>
            <a:spLocks noChangeShapeType="1"/>
          </p:cNvSpPr>
          <p:nvPr/>
        </p:nvSpPr>
        <p:spPr bwMode="auto">
          <a:xfrm flipH="1" flipV="1">
            <a:off x="8243998" y="2574642"/>
            <a:ext cx="1284410" cy="564222"/>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1208909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737"/>
                                        </p:tgtEl>
                                        <p:attrNameLst>
                                          <p:attrName>style.visibility</p:attrName>
                                        </p:attrNameLst>
                                      </p:cBhvr>
                                      <p:to>
                                        <p:strVal val="visible"/>
                                      </p:to>
                                    </p:set>
                                    <p:animEffect transition="in" filter="wipe(down)">
                                      <p:cBhvr>
                                        <p:cTn id="7" dur="500"/>
                                        <p:tgtEl>
                                          <p:spTgt spid="297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2974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9700"/>
                                        </p:tgtEl>
                                        <p:attrNameLst>
                                          <p:attrName>style.visibility</p:attrName>
                                        </p:attrNameLst>
                                      </p:cBhvr>
                                      <p:to>
                                        <p:strVal val="visible"/>
                                      </p:to>
                                    </p:set>
                                    <p:animEffect transition="in" filter="wipe(up)">
                                      <p:cBhvr>
                                        <p:cTn id="16" dur="500"/>
                                        <p:tgtEl>
                                          <p:spTgt spid="2970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9824"/>
                                        </p:tgtEl>
                                        <p:attrNameLst>
                                          <p:attrName>style.visibility</p:attrName>
                                        </p:attrNameLst>
                                      </p:cBhvr>
                                      <p:to>
                                        <p:strVal val="visible"/>
                                      </p:to>
                                    </p:set>
                                    <p:animEffect transition="in" filter="wipe(up)">
                                      <p:cBhvr>
                                        <p:cTn id="21" dur="500"/>
                                        <p:tgtEl>
                                          <p:spTgt spid="298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29770"/>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29738"/>
                                        </p:tgtEl>
                                        <p:attrNameLst>
                                          <p:attrName>style.visibility</p:attrName>
                                        </p:attrNameLst>
                                      </p:cBhvr>
                                      <p:to>
                                        <p:strVal val="visible"/>
                                      </p:to>
                                    </p:set>
                                    <p:animEffect transition="in" filter="wipe(up)">
                                      <p:cBhvr>
                                        <p:cTn id="30" dur="500"/>
                                        <p:tgtEl>
                                          <p:spTgt spid="2973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29704"/>
                                        </p:tgtEl>
                                        <p:attrNameLst>
                                          <p:attrName>style.visibility</p:attrName>
                                        </p:attrNameLst>
                                      </p:cBhvr>
                                      <p:to>
                                        <p:strVal val="visible"/>
                                      </p:to>
                                    </p:set>
                                    <p:animEffect transition="in" filter="wipe(up)">
                                      <p:cBhvr>
                                        <p:cTn id="35" dur="500"/>
                                        <p:tgtEl>
                                          <p:spTgt spid="2970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9825"/>
                                        </p:tgtEl>
                                        <p:attrNameLst>
                                          <p:attrName>style.visibility</p:attrName>
                                        </p:attrNameLst>
                                      </p:cBhvr>
                                      <p:to>
                                        <p:strVal val="visible"/>
                                      </p:to>
                                    </p:set>
                                    <p:animEffect transition="in" filter="wipe(left)">
                                      <p:cBhvr>
                                        <p:cTn id="40" dur="500"/>
                                        <p:tgtEl>
                                          <p:spTgt spid="2982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29797"/>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29742"/>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29861"/>
                                        </p:tgtEl>
                                        <p:attrNameLst>
                                          <p:attrName>style.visibility</p:attrName>
                                        </p:attrNameLst>
                                      </p:cBhvr>
                                      <p:to>
                                        <p:strVal val="visible"/>
                                      </p:to>
                                    </p:set>
                                    <p:animEffect transition="in" filter="wipe(down)">
                                      <p:cBhvr>
                                        <p:cTn id="53" dur="500"/>
                                        <p:tgtEl>
                                          <p:spTgt spid="2986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nodeType="clickEffect">
                                  <p:stCondLst>
                                    <p:cond delay="0"/>
                                  </p:stCondLst>
                                  <p:childTnLst>
                                    <p:set>
                                      <p:cBhvr>
                                        <p:cTn id="57" dur="1" fill="hold">
                                          <p:stCondLst>
                                            <p:cond delay="0"/>
                                          </p:stCondLst>
                                        </p:cTn>
                                        <p:tgtEl>
                                          <p:spTgt spid="29854"/>
                                        </p:tgtEl>
                                        <p:attrNameLst>
                                          <p:attrName>style.visibility</p:attrName>
                                        </p:attrNameLst>
                                      </p:cBhvr>
                                      <p:to>
                                        <p:strVal val="visible"/>
                                      </p:to>
                                    </p:set>
                                    <p:animEffect transition="in" filter="wipe(up)">
                                      <p:cBhvr>
                                        <p:cTn id="58" dur="500"/>
                                        <p:tgtEl>
                                          <p:spTgt spid="2985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9853"/>
                                        </p:tgtEl>
                                        <p:attrNameLst>
                                          <p:attrName>style.visibility</p:attrName>
                                        </p:attrNameLst>
                                      </p:cBhvr>
                                      <p:to>
                                        <p:strVal val="visible"/>
                                      </p:to>
                                    </p:set>
                                    <p:animEffect transition="in" filter="wipe(down)">
                                      <p:cBhvr>
                                        <p:cTn id="63" dur="500"/>
                                        <p:tgtEl>
                                          <p:spTgt spid="2985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499"/>
                                          </p:stCondLst>
                                        </p:cTn>
                                        <p:tgtEl>
                                          <p:spTgt spid="29826"/>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29858"/>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29864"/>
                                        </p:tgtEl>
                                        <p:attrNameLst>
                                          <p:attrName>style.visibility</p:attrName>
                                        </p:attrNameLst>
                                      </p:cBhvr>
                                      <p:to>
                                        <p:strVal val="visible"/>
                                      </p:to>
                                    </p:set>
                                    <p:animEffect transition="in" filter="wipe(down)">
                                      <p:cBhvr>
                                        <p:cTn id="76" dur="500"/>
                                        <p:tgtEl>
                                          <p:spTgt spid="29864"/>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64"/>
                                        </p:tgtEl>
                                        <p:attrNameLst>
                                          <p:attrName>style.visibility</p:attrName>
                                        </p:attrNameLst>
                                      </p:cBhvr>
                                      <p:to>
                                        <p:strVal val="visible"/>
                                      </p:to>
                                    </p:set>
                                    <p:animEffect transition="in" filter="wipe(down)">
                                      <p:cBhvr>
                                        <p:cTn id="81"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37" grpId="0" animBg="1"/>
      <p:bldP spid="29742" grpId="0" autoUpdateAnimBg="0"/>
      <p:bldP spid="29824" grpId="0" animBg="1"/>
      <p:bldP spid="29825" grpId="0" animBg="1"/>
      <p:bldP spid="29853" grpId="0" animBg="1"/>
      <p:bldP spid="29858" grpId="0" autoUpdateAnimBg="0"/>
      <p:bldP spid="29864" grpId="0" animBg="1"/>
      <p:bldP spid="6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5360" y="404664"/>
            <a:ext cx="10729192" cy="1210673"/>
          </a:xfrm>
        </p:spPr>
        <p:txBody>
          <a:bodyPr>
            <a:normAutofit/>
          </a:bodyPr>
          <a:lstStyle/>
          <a:p>
            <a:r>
              <a:rPr kumimoji="1" lang="zh-CN" altLang="en-US" sz="2400" dirty="0"/>
              <a:t>结点</a:t>
            </a:r>
            <a:r>
              <a:rPr kumimoji="1" lang="en-US" altLang="zh-CN" sz="2400" dirty="0"/>
              <a:t>2</a:t>
            </a:r>
            <a:r>
              <a:rPr kumimoji="1" lang="zh-CN" altLang="en-US" sz="2400" dirty="0"/>
              <a:t>的所有儿子都不能导致答案棋盘格局</a:t>
            </a:r>
            <a:r>
              <a:rPr kumimoji="1" lang="en-US" altLang="zh-CN" sz="2400" dirty="0"/>
              <a:t>, </a:t>
            </a:r>
            <a:r>
              <a:rPr kumimoji="1" lang="zh-CN" altLang="en-US" sz="2400" dirty="0"/>
              <a:t>因此结点</a:t>
            </a:r>
            <a:r>
              <a:rPr kumimoji="1" lang="en-US" altLang="zh-CN" sz="2400" dirty="0"/>
              <a:t>2</a:t>
            </a:r>
            <a:r>
              <a:rPr kumimoji="1" lang="zh-CN" altLang="en-US" sz="2400" dirty="0"/>
              <a:t>也被杀死</a:t>
            </a:r>
            <a:r>
              <a:rPr kumimoji="1" lang="en-US" altLang="zh-CN" sz="2400" dirty="0"/>
              <a:t>; </a:t>
            </a:r>
            <a:r>
              <a:rPr kumimoji="1" lang="zh-CN" altLang="en-US" sz="2400" dirty="0"/>
              <a:t>再回溯到结点</a:t>
            </a:r>
            <a:r>
              <a:rPr kumimoji="1" lang="en-US" altLang="zh-CN" sz="2400" dirty="0"/>
              <a:t>1</a:t>
            </a:r>
            <a:r>
              <a:rPr kumimoji="1" lang="zh-CN" altLang="en-US" sz="2400" dirty="0"/>
              <a:t>生成结点</a:t>
            </a:r>
            <a:r>
              <a:rPr kumimoji="1" lang="en-US" altLang="zh-CN" sz="2400" dirty="0"/>
              <a:t>18, </a:t>
            </a:r>
            <a:r>
              <a:rPr kumimoji="1" lang="zh-CN" altLang="en-US" sz="2400" dirty="0"/>
              <a:t>路径变为</a:t>
            </a:r>
            <a:r>
              <a:rPr kumimoji="1" lang="en-US" altLang="zh-CN" sz="2400" dirty="0"/>
              <a:t>(2)</a:t>
            </a:r>
            <a:r>
              <a:rPr kumimoji="1" lang="zh-CN" altLang="en-US" sz="2400" dirty="0"/>
              <a:t>。</a:t>
            </a:r>
          </a:p>
          <a:p>
            <a:endParaRPr lang="zh-CN" altLang="en-US" sz="2400"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34</a:t>
            </a:fld>
            <a:endParaRPr lang="en-US" altLang="zh-CN"/>
          </a:p>
        </p:txBody>
      </p:sp>
      <p:grpSp>
        <p:nvGrpSpPr>
          <p:cNvPr id="5" name="Group 4"/>
          <p:cNvGrpSpPr>
            <a:grpSpLocks/>
          </p:cNvGrpSpPr>
          <p:nvPr/>
        </p:nvGrpSpPr>
        <p:grpSpPr bwMode="auto">
          <a:xfrm>
            <a:off x="7350127" y="2990946"/>
            <a:ext cx="1585913" cy="1062038"/>
            <a:chOff x="4248" y="1394"/>
            <a:chExt cx="999" cy="669"/>
          </a:xfrm>
          <a:noFill/>
        </p:grpSpPr>
        <p:sp>
          <p:nvSpPr>
            <p:cNvPr id="6" name="Oval 5"/>
            <p:cNvSpPr>
              <a:spLocks noChangeArrowheads="1"/>
            </p:cNvSpPr>
            <p:nvPr/>
          </p:nvSpPr>
          <p:spPr bwMode="auto">
            <a:xfrm>
              <a:off x="4959" y="1775"/>
              <a:ext cx="288" cy="288"/>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13</a:t>
              </a:r>
            </a:p>
          </p:txBody>
        </p:sp>
        <p:sp>
          <p:nvSpPr>
            <p:cNvPr id="7" name="Line 6"/>
            <p:cNvSpPr>
              <a:spLocks noChangeShapeType="1"/>
            </p:cNvSpPr>
            <p:nvPr/>
          </p:nvSpPr>
          <p:spPr bwMode="auto">
            <a:xfrm>
              <a:off x="4248" y="1416"/>
              <a:ext cx="852" cy="3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8" name="Text Box 7"/>
            <p:cNvSpPr txBox="1">
              <a:spLocks noChangeArrowheads="1"/>
            </p:cNvSpPr>
            <p:nvPr/>
          </p:nvSpPr>
          <p:spPr bwMode="auto">
            <a:xfrm>
              <a:off x="4608" y="1394"/>
              <a:ext cx="552"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4</a:t>
              </a:r>
            </a:p>
          </p:txBody>
        </p:sp>
      </p:grpSp>
      <p:grpSp>
        <p:nvGrpSpPr>
          <p:cNvPr id="9" name="Group 8"/>
          <p:cNvGrpSpPr>
            <a:grpSpLocks/>
          </p:cNvGrpSpPr>
          <p:nvPr/>
        </p:nvGrpSpPr>
        <p:grpSpPr bwMode="auto">
          <a:xfrm>
            <a:off x="7585079" y="5177332"/>
            <a:ext cx="925513" cy="1139825"/>
            <a:chOff x="4358" y="2688"/>
            <a:chExt cx="583" cy="718"/>
          </a:xfrm>
          <a:noFill/>
        </p:grpSpPr>
        <p:sp>
          <p:nvSpPr>
            <p:cNvPr id="10" name="Oval 9"/>
            <p:cNvSpPr>
              <a:spLocks noChangeArrowheads="1"/>
            </p:cNvSpPr>
            <p:nvPr/>
          </p:nvSpPr>
          <p:spPr bwMode="auto">
            <a:xfrm>
              <a:off x="4653" y="3142"/>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15</a:t>
              </a:r>
            </a:p>
          </p:txBody>
        </p:sp>
        <p:sp>
          <p:nvSpPr>
            <p:cNvPr id="11" name="Line 10"/>
            <p:cNvSpPr>
              <a:spLocks noChangeShapeType="1"/>
            </p:cNvSpPr>
            <p:nvPr/>
          </p:nvSpPr>
          <p:spPr bwMode="auto">
            <a:xfrm>
              <a:off x="4802" y="2688"/>
              <a:ext cx="4" cy="4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2" name="Text Box 11"/>
            <p:cNvSpPr txBox="1">
              <a:spLocks noChangeArrowheads="1"/>
            </p:cNvSpPr>
            <p:nvPr/>
          </p:nvSpPr>
          <p:spPr bwMode="auto">
            <a:xfrm>
              <a:off x="4358" y="2871"/>
              <a:ext cx="504" cy="19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4</a:t>
              </a:r>
              <a:r>
                <a:rPr kumimoji="1" lang="en-US" altLang="zh-CN" sz="2000" dirty="0">
                  <a:cs typeface="Arial" panose="020B0604020202020204" pitchFamily="34" charset="0"/>
                </a:rPr>
                <a:t>=3</a:t>
              </a:r>
            </a:p>
          </p:txBody>
        </p:sp>
      </p:grpSp>
      <p:grpSp>
        <p:nvGrpSpPr>
          <p:cNvPr id="13" name="Group 13"/>
          <p:cNvGrpSpPr>
            <a:grpSpLocks/>
          </p:cNvGrpSpPr>
          <p:nvPr/>
        </p:nvGrpSpPr>
        <p:grpSpPr bwMode="auto">
          <a:xfrm>
            <a:off x="5876925" y="1748332"/>
            <a:ext cx="2733675" cy="3810000"/>
            <a:chOff x="3282" y="528"/>
            <a:chExt cx="1722" cy="2400"/>
          </a:xfrm>
          <a:noFill/>
        </p:grpSpPr>
        <p:grpSp>
          <p:nvGrpSpPr>
            <p:cNvPr id="14" name="Group 14"/>
            <p:cNvGrpSpPr>
              <a:grpSpLocks/>
            </p:cNvGrpSpPr>
            <p:nvPr/>
          </p:nvGrpSpPr>
          <p:grpSpPr bwMode="auto">
            <a:xfrm>
              <a:off x="3744" y="1328"/>
              <a:ext cx="586" cy="645"/>
              <a:chOff x="4296" y="1344"/>
              <a:chExt cx="586" cy="623"/>
            </a:xfrm>
            <a:grpFill/>
          </p:grpSpPr>
          <p:sp>
            <p:nvSpPr>
              <p:cNvPr id="38" name="Oval 15"/>
              <p:cNvSpPr>
                <a:spLocks noChangeArrowheads="1"/>
              </p:cNvSpPr>
              <p:nvPr/>
            </p:nvSpPr>
            <p:spPr bwMode="auto">
              <a:xfrm>
                <a:off x="4594" y="1703"/>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8</a:t>
                </a:r>
              </a:p>
            </p:txBody>
          </p:sp>
          <p:sp>
            <p:nvSpPr>
              <p:cNvPr id="39" name="Line 16"/>
              <p:cNvSpPr>
                <a:spLocks noChangeShapeType="1"/>
              </p:cNvSpPr>
              <p:nvPr/>
            </p:nvSpPr>
            <p:spPr bwMode="auto">
              <a:xfrm>
                <a:off x="4740" y="1344"/>
                <a:ext cx="0" cy="3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40" name="Text Box 17"/>
              <p:cNvSpPr txBox="1">
                <a:spLocks noChangeArrowheads="1"/>
              </p:cNvSpPr>
              <p:nvPr/>
            </p:nvSpPr>
            <p:spPr bwMode="auto">
              <a:xfrm>
                <a:off x="4296" y="1430"/>
                <a:ext cx="540" cy="24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3</a:t>
                </a:r>
              </a:p>
            </p:txBody>
          </p:sp>
        </p:grpSp>
        <p:grpSp>
          <p:nvGrpSpPr>
            <p:cNvPr id="15" name="Group 18"/>
            <p:cNvGrpSpPr>
              <a:grpSpLocks/>
            </p:cNvGrpSpPr>
            <p:nvPr/>
          </p:nvGrpSpPr>
          <p:grpSpPr bwMode="auto">
            <a:xfrm>
              <a:off x="3282" y="528"/>
              <a:ext cx="1722" cy="2400"/>
              <a:chOff x="3282" y="528"/>
              <a:chExt cx="1722" cy="2400"/>
            </a:xfrm>
            <a:grpFill/>
          </p:grpSpPr>
          <p:grpSp>
            <p:nvGrpSpPr>
              <p:cNvPr id="16" name="Group 19"/>
              <p:cNvGrpSpPr>
                <a:grpSpLocks/>
              </p:cNvGrpSpPr>
              <p:nvPr/>
            </p:nvGrpSpPr>
            <p:grpSpPr bwMode="auto">
              <a:xfrm>
                <a:off x="3282" y="528"/>
                <a:ext cx="1722" cy="1679"/>
                <a:chOff x="3858" y="528"/>
                <a:chExt cx="1722" cy="1679"/>
              </a:xfrm>
              <a:grpFill/>
            </p:grpSpPr>
            <p:sp>
              <p:nvSpPr>
                <p:cNvPr id="28" name="Oval 20"/>
                <p:cNvSpPr>
                  <a:spLocks noChangeArrowheads="1"/>
                </p:cNvSpPr>
                <p:nvPr/>
              </p:nvSpPr>
              <p:spPr bwMode="auto">
                <a:xfrm>
                  <a:off x="5292" y="528"/>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a:t>
                  </a:r>
                </a:p>
              </p:txBody>
            </p:sp>
            <p:grpSp>
              <p:nvGrpSpPr>
                <p:cNvPr id="29" name="Group 21"/>
                <p:cNvGrpSpPr>
                  <a:grpSpLocks/>
                </p:cNvGrpSpPr>
                <p:nvPr/>
              </p:nvGrpSpPr>
              <p:grpSpPr bwMode="auto">
                <a:xfrm>
                  <a:off x="3858" y="1278"/>
                  <a:ext cx="870" cy="690"/>
                  <a:chOff x="3858" y="1278"/>
                  <a:chExt cx="870" cy="690"/>
                </a:xfrm>
                <a:grpFill/>
              </p:grpSpPr>
              <p:sp>
                <p:nvSpPr>
                  <p:cNvPr id="35" name="Oval 22"/>
                  <p:cNvSpPr>
                    <a:spLocks noChangeArrowheads="1"/>
                  </p:cNvSpPr>
                  <p:nvPr/>
                </p:nvSpPr>
                <p:spPr bwMode="auto">
                  <a:xfrm>
                    <a:off x="3858" y="170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a:t>
                    </a:r>
                  </a:p>
                </p:txBody>
              </p:sp>
              <p:sp>
                <p:nvSpPr>
                  <p:cNvPr id="36" name="Line 23"/>
                  <p:cNvSpPr>
                    <a:spLocks noChangeShapeType="1"/>
                  </p:cNvSpPr>
                  <p:nvPr/>
                </p:nvSpPr>
                <p:spPr bwMode="auto">
                  <a:xfrm flipH="1">
                    <a:off x="4020" y="1334"/>
                    <a:ext cx="708" cy="36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37" name="Text Box 24"/>
                  <p:cNvSpPr txBox="1">
                    <a:spLocks noChangeArrowheads="1"/>
                  </p:cNvSpPr>
                  <p:nvPr/>
                </p:nvSpPr>
                <p:spPr bwMode="auto">
                  <a:xfrm>
                    <a:off x="3972" y="1278"/>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00FF"/>
                        </a:solidFill>
                        <a:cs typeface="Arial" panose="020B0604020202020204" pitchFamily="34" charset="0"/>
                      </a:rPr>
                      <a:t>x</a:t>
                    </a:r>
                    <a:r>
                      <a:rPr lang="en-US" altLang="zh-CN" sz="2000" baseline="-25000" dirty="0">
                        <a:solidFill>
                          <a:srgbClr val="0000FF"/>
                        </a:solidFill>
                        <a:cs typeface="Arial" panose="020B0604020202020204" pitchFamily="34" charset="0"/>
                      </a:rPr>
                      <a:t>2</a:t>
                    </a:r>
                    <a:r>
                      <a:rPr lang="en-US" altLang="zh-CN" sz="2000" dirty="0">
                        <a:solidFill>
                          <a:srgbClr val="0000FF"/>
                        </a:solidFill>
                        <a:cs typeface="Arial" panose="020B0604020202020204" pitchFamily="34" charset="0"/>
                      </a:rPr>
                      <a:t>= 2</a:t>
                    </a:r>
                  </a:p>
                </p:txBody>
              </p:sp>
            </p:grpSp>
            <p:grpSp>
              <p:nvGrpSpPr>
                <p:cNvPr id="30" name="Group 25"/>
                <p:cNvGrpSpPr>
                  <a:grpSpLocks/>
                </p:cNvGrpSpPr>
                <p:nvPr/>
              </p:nvGrpSpPr>
              <p:grpSpPr bwMode="auto">
                <a:xfrm>
                  <a:off x="4618" y="732"/>
                  <a:ext cx="818" cy="602"/>
                  <a:chOff x="4618" y="732"/>
                  <a:chExt cx="818" cy="602"/>
                </a:xfrm>
                <a:grpFill/>
              </p:grpSpPr>
              <p:sp>
                <p:nvSpPr>
                  <p:cNvPr id="32" name="Oval 26"/>
                  <p:cNvSpPr>
                    <a:spLocks noChangeArrowheads="1"/>
                  </p:cNvSpPr>
                  <p:nvPr/>
                </p:nvSpPr>
                <p:spPr bwMode="auto">
                  <a:xfrm>
                    <a:off x="4618" y="1070"/>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a:t>
                    </a:r>
                  </a:p>
                </p:txBody>
              </p:sp>
              <p:sp>
                <p:nvSpPr>
                  <p:cNvPr id="33" name="Line 27"/>
                  <p:cNvSpPr>
                    <a:spLocks noChangeShapeType="1"/>
                  </p:cNvSpPr>
                  <p:nvPr/>
                </p:nvSpPr>
                <p:spPr bwMode="auto">
                  <a:xfrm flipH="1">
                    <a:off x="4752" y="792"/>
                    <a:ext cx="684" cy="28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34" name="Text Box 28"/>
                  <p:cNvSpPr txBox="1">
                    <a:spLocks noChangeArrowheads="1"/>
                  </p:cNvSpPr>
                  <p:nvPr/>
                </p:nvSpPr>
                <p:spPr bwMode="auto">
                  <a:xfrm>
                    <a:off x="4728" y="732"/>
                    <a:ext cx="504"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solidFill>
                          <a:srgbClr val="0000FF"/>
                        </a:solidFill>
                        <a:cs typeface="Arial" panose="020B0604020202020204" pitchFamily="34" charset="0"/>
                      </a:rPr>
                      <a:t>x</a:t>
                    </a:r>
                    <a:r>
                      <a:rPr lang="en-US" altLang="zh-CN" sz="2000" baseline="-25000">
                        <a:solidFill>
                          <a:srgbClr val="0000FF"/>
                        </a:solidFill>
                        <a:cs typeface="Arial" panose="020B0604020202020204" pitchFamily="34" charset="0"/>
                      </a:rPr>
                      <a:t>1</a:t>
                    </a:r>
                    <a:r>
                      <a:rPr lang="en-US" altLang="zh-CN" sz="2000">
                        <a:solidFill>
                          <a:srgbClr val="0000FF"/>
                        </a:solidFill>
                        <a:cs typeface="Arial" panose="020B0604020202020204" pitchFamily="34" charset="0"/>
                      </a:rPr>
                      <a:t>=1</a:t>
                    </a:r>
                  </a:p>
                </p:txBody>
              </p:sp>
            </p:grpSp>
            <p:sp>
              <p:nvSpPr>
                <p:cNvPr id="31" name="Text Box 29"/>
                <p:cNvSpPr txBox="1">
                  <a:spLocks noChangeArrowheads="1"/>
                </p:cNvSpPr>
                <p:nvPr/>
              </p:nvSpPr>
              <p:spPr bwMode="auto">
                <a:xfrm>
                  <a:off x="3892" y="1994"/>
                  <a:ext cx="350"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sp>
            <p:nvSpPr>
              <p:cNvPr id="17" name="Line 30"/>
              <p:cNvSpPr>
                <a:spLocks noChangeShapeType="1"/>
              </p:cNvSpPr>
              <p:nvPr/>
            </p:nvSpPr>
            <p:spPr bwMode="auto">
              <a:xfrm flipV="1">
                <a:off x="3444" y="1337"/>
                <a:ext cx="708" cy="353"/>
              </a:xfrm>
              <a:prstGeom prst="line">
                <a:avLst/>
              </a:prstGeom>
              <a:grpFill/>
              <a:ln w="38100">
                <a:solidFill>
                  <a:srgbClr val="FF0000"/>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grpSp>
            <p:nvGrpSpPr>
              <p:cNvPr id="18" name="Group 31"/>
              <p:cNvGrpSpPr>
                <a:grpSpLocks/>
              </p:cNvGrpSpPr>
              <p:nvPr/>
            </p:nvGrpSpPr>
            <p:grpSpPr bwMode="auto">
              <a:xfrm>
                <a:off x="4181" y="1967"/>
                <a:ext cx="628" cy="727"/>
                <a:chOff x="4733" y="1967"/>
                <a:chExt cx="628" cy="727"/>
              </a:xfrm>
              <a:grpFill/>
            </p:grpSpPr>
            <p:sp>
              <p:nvSpPr>
                <p:cNvPr id="25" name="Oval 32"/>
                <p:cNvSpPr>
                  <a:spLocks noChangeArrowheads="1"/>
                </p:cNvSpPr>
                <p:nvPr/>
              </p:nvSpPr>
              <p:spPr bwMode="auto">
                <a:xfrm>
                  <a:off x="4884" y="2430"/>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11</a:t>
                  </a:r>
                </a:p>
              </p:txBody>
            </p:sp>
            <p:sp>
              <p:nvSpPr>
                <p:cNvPr id="26" name="Line 33"/>
                <p:cNvSpPr>
                  <a:spLocks noChangeShapeType="1"/>
                </p:cNvSpPr>
                <p:nvPr/>
              </p:nvSpPr>
              <p:spPr bwMode="auto">
                <a:xfrm>
                  <a:off x="4733" y="1967"/>
                  <a:ext cx="293" cy="45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7" name="Text Box 34"/>
                <p:cNvSpPr txBox="1">
                  <a:spLocks noChangeArrowheads="1"/>
                </p:cNvSpPr>
                <p:nvPr/>
              </p:nvSpPr>
              <p:spPr bwMode="auto">
                <a:xfrm>
                  <a:off x="4821" y="2024"/>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=4</a:t>
                  </a:r>
                </a:p>
              </p:txBody>
            </p:sp>
          </p:grpSp>
          <p:grpSp>
            <p:nvGrpSpPr>
              <p:cNvPr id="19" name="Group 35"/>
              <p:cNvGrpSpPr>
                <a:grpSpLocks/>
              </p:cNvGrpSpPr>
              <p:nvPr/>
            </p:nvGrpSpPr>
            <p:grpSpPr bwMode="auto">
              <a:xfrm>
                <a:off x="3602" y="1980"/>
                <a:ext cx="580" cy="708"/>
                <a:chOff x="4154" y="1980"/>
                <a:chExt cx="580" cy="708"/>
              </a:xfrm>
              <a:grpFill/>
            </p:grpSpPr>
            <p:sp>
              <p:nvSpPr>
                <p:cNvPr id="22" name="Oval 36"/>
                <p:cNvSpPr>
                  <a:spLocks noChangeArrowheads="1"/>
                </p:cNvSpPr>
                <p:nvPr/>
              </p:nvSpPr>
              <p:spPr bwMode="auto">
                <a:xfrm>
                  <a:off x="4164" y="242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9</a:t>
                  </a:r>
                </a:p>
              </p:txBody>
            </p:sp>
            <p:sp>
              <p:nvSpPr>
                <p:cNvPr id="23" name="Line 37"/>
                <p:cNvSpPr>
                  <a:spLocks noChangeShapeType="1"/>
                </p:cNvSpPr>
                <p:nvPr/>
              </p:nvSpPr>
              <p:spPr bwMode="auto">
                <a:xfrm flipH="1">
                  <a:off x="4320" y="1980"/>
                  <a:ext cx="414" cy="44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4" name="Text Box 38"/>
                <p:cNvSpPr txBox="1">
                  <a:spLocks noChangeArrowheads="1"/>
                </p:cNvSpPr>
                <p:nvPr/>
              </p:nvSpPr>
              <p:spPr bwMode="auto">
                <a:xfrm>
                  <a:off x="4154" y="2038"/>
                  <a:ext cx="516"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=2</a:t>
                  </a:r>
                </a:p>
              </p:txBody>
            </p:sp>
          </p:grpSp>
          <p:sp>
            <p:nvSpPr>
              <p:cNvPr id="20" name="Text Box 39"/>
              <p:cNvSpPr txBox="1">
                <a:spLocks noChangeArrowheads="1"/>
              </p:cNvSpPr>
              <p:nvPr/>
            </p:nvSpPr>
            <p:spPr bwMode="auto">
              <a:xfrm>
                <a:off x="3666" y="2715"/>
                <a:ext cx="322"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21" name="Text Box 40"/>
              <p:cNvSpPr txBox="1">
                <a:spLocks noChangeArrowheads="1"/>
              </p:cNvSpPr>
              <p:nvPr/>
            </p:nvSpPr>
            <p:spPr bwMode="auto">
              <a:xfrm>
                <a:off x="4380" y="2694"/>
                <a:ext cx="342"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grpSp>
      <p:sp>
        <p:nvSpPr>
          <p:cNvPr id="41" name="Line 41"/>
          <p:cNvSpPr>
            <a:spLocks noChangeShapeType="1"/>
          </p:cNvSpPr>
          <p:nvPr/>
        </p:nvSpPr>
        <p:spPr bwMode="auto">
          <a:xfrm flipV="1">
            <a:off x="7296150" y="3018332"/>
            <a:ext cx="15875" cy="574676"/>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grpSp>
        <p:nvGrpSpPr>
          <p:cNvPr id="42" name="Group 42"/>
          <p:cNvGrpSpPr>
            <a:grpSpLocks/>
          </p:cNvGrpSpPr>
          <p:nvPr/>
        </p:nvGrpSpPr>
        <p:grpSpPr bwMode="auto">
          <a:xfrm>
            <a:off x="7775576" y="4053382"/>
            <a:ext cx="882650" cy="1123950"/>
            <a:chOff x="4478" y="1980"/>
            <a:chExt cx="556" cy="708"/>
          </a:xfrm>
          <a:noFill/>
        </p:grpSpPr>
        <p:sp>
          <p:nvSpPr>
            <p:cNvPr id="43" name="Oval 43"/>
            <p:cNvSpPr>
              <a:spLocks noChangeArrowheads="1"/>
            </p:cNvSpPr>
            <p:nvPr/>
          </p:nvSpPr>
          <p:spPr bwMode="auto">
            <a:xfrm>
              <a:off x="4665" y="242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14</a:t>
              </a:r>
            </a:p>
          </p:txBody>
        </p:sp>
        <p:sp>
          <p:nvSpPr>
            <p:cNvPr id="44" name="Line 44"/>
            <p:cNvSpPr>
              <a:spLocks noChangeShapeType="1"/>
            </p:cNvSpPr>
            <p:nvPr/>
          </p:nvSpPr>
          <p:spPr bwMode="auto">
            <a:xfrm flipH="1">
              <a:off x="4808" y="1980"/>
              <a:ext cx="226" cy="44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45" name="Text Box 45"/>
            <p:cNvSpPr txBox="1">
              <a:spLocks noChangeArrowheads="1"/>
            </p:cNvSpPr>
            <p:nvPr/>
          </p:nvSpPr>
          <p:spPr bwMode="auto">
            <a:xfrm>
              <a:off x="4478" y="2140"/>
              <a:ext cx="516"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=2</a:t>
              </a:r>
            </a:p>
          </p:txBody>
        </p:sp>
      </p:grpSp>
      <p:sp>
        <p:nvSpPr>
          <p:cNvPr id="46" name="Text Box 46"/>
          <p:cNvSpPr txBox="1">
            <a:spLocks noChangeArrowheads="1"/>
          </p:cNvSpPr>
          <p:nvPr/>
        </p:nvSpPr>
        <p:spPr bwMode="auto">
          <a:xfrm>
            <a:off x="8058150" y="6348750"/>
            <a:ext cx="647700" cy="338554"/>
          </a:xfrm>
          <a:prstGeom prst="rect">
            <a:avLst/>
          </a:prstGeom>
          <a:noFill/>
          <a:ln>
            <a:noFill/>
          </a:ln>
          <a:effec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nvGrpSpPr>
          <p:cNvPr id="47" name="Group 158"/>
          <p:cNvGrpSpPr>
            <a:grpSpLocks/>
          </p:cNvGrpSpPr>
          <p:nvPr/>
        </p:nvGrpSpPr>
        <p:grpSpPr bwMode="auto">
          <a:xfrm>
            <a:off x="8710616" y="4053382"/>
            <a:ext cx="1093788" cy="1123950"/>
            <a:chOff x="4707" y="1968"/>
            <a:chExt cx="689" cy="708"/>
          </a:xfrm>
          <a:noFill/>
        </p:grpSpPr>
        <p:sp>
          <p:nvSpPr>
            <p:cNvPr id="48" name="Oval 159"/>
            <p:cNvSpPr>
              <a:spLocks noChangeArrowheads="1"/>
            </p:cNvSpPr>
            <p:nvPr/>
          </p:nvSpPr>
          <p:spPr bwMode="auto">
            <a:xfrm>
              <a:off x="4881" y="2412"/>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16</a:t>
              </a:r>
            </a:p>
          </p:txBody>
        </p:sp>
        <p:sp>
          <p:nvSpPr>
            <p:cNvPr id="49" name="Line 160"/>
            <p:cNvSpPr>
              <a:spLocks noChangeShapeType="1"/>
            </p:cNvSpPr>
            <p:nvPr/>
          </p:nvSpPr>
          <p:spPr bwMode="auto">
            <a:xfrm>
              <a:off x="4707" y="1968"/>
              <a:ext cx="286" cy="45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50" name="Text Box 161"/>
            <p:cNvSpPr txBox="1">
              <a:spLocks noChangeArrowheads="1"/>
            </p:cNvSpPr>
            <p:nvPr/>
          </p:nvSpPr>
          <p:spPr bwMode="auto">
            <a:xfrm>
              <a:off x="4856" y="2103"/>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=3</a:t>
              </a:r>
            </a:p>
          </p:txBody>
        </p:sp>
      </p:grpSp>
      <p:sp>
        <p:nvSpPr>
          <p:cNvPr id="51" name="Text Box 162"/>
          <p:cNvSpPr txBox="1">
            <a:spLocks noChangeArrowheads="1"/>
          </p:cNvSpPr>
          <p:nvPr/>
        </p:nvSpPr>
        <p:spPr bwMode="auto">
          <a:xfrm>
            <a:off x="9006737" y="5193612"/>
            <a:ext cx="647700" cy="338554"/>
          </a:xfrm>
          <a:prstGeom prst="rect">
            <a:avLst/>
          </a:prstGeom>
          <a:noFill/>
          <a:ln>
            <a:noFill/>
          </a:ln>
          <a:effec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52" name="Line 163"/>
          <p:cNvSpPr>
            <a:spLocks noChangeShapeType="1"/>
          </p:cNvSpPr>
          <p:nvPr/>
        </p:nvSpPr>
        <p:spPr bwMode="auto">
          <a:xfrm flipV="1">
            <a:off x="6657975" y="4042268"/>
            <a:ext cx="654050" cy="71596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sp>
        <p:nvSpPr>
          <p:cNvPr id="53" name="Line 164"/>
          <p:cNvSpPr>
            <a:spLocks noChangeShapeType="1"/>
          </p:cNvSpPr>
          <p:nvPr/>
        </p:nvSpPr>
        <p:spPr bwMode="auto">
          <a:xfrm flipH="1" flipV="1">
            <a:off x="7334250" y="4043857"/>
            <a:ext cx="419100" cy="71437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pSp>
        <p:nvGrpSpPr>
          <p:cNvPr id="54" name="Group 165"/>
          <p:cNvGrpSpPr>
            <a:grpSpLocks/>
          </p:cNvGrpSpPr>
          <p:nvPr/>
        </p:nvGrpSpPr>
        <p:grpSpPr bwMode="auto">
          <a:xfrm>
            <a:off x="8278599" y="4043859"/>
            <a:ext cx="371701" cy="1854724"/>
            <a:chOff x="4798" y="1974"/>
            <a:chExt cx="231" cy="1194"/>
          </a:xfrm>
          <a:noFill/>
        </p:grpSpPr>
        <p:sp>
          <p:nvSpPr>
            <p:cNvPr id="55" name="Line 166"/>
            <p:cNvSpPr>
              <a:spLocks noChangeShapeType="1"/>
            </p:cNvSpPr>
            <p:nvPr/>
          </p:nvSpPr>
          <p:spPr bwMode="auto">
            <a:xfrm flipH="1" flipV="1">
              <a:off x="4798" y="2715"/>
              <a:ext cx="7" cy="453"/>
            </a:xfrm>
            <a:prstGeom prst="line">
              <a:avLst/>
            </a:prstGeom>
            <a:grpFill/>
            <a:ln w="28575">
              <a:solidFill>
                <a:srgbClr val="FF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sp>
          <p:nvSpPr>
            <p:cNvPr id="56" name="Line 167"/>
            <p:cNvSpPr>
              <a:spLocks noChangeShapeType="1"/>
            </p:cNvSpPr>
            <p:nvPr/>
          </p:nvSpPr>
          <p:spPr bwMode="auto">
            <a:xfrm flipV="1">
              <a:off x="4809" y="1974"/>
              <a:ext cx="220" cy="438"/>
            </a:xfrm>
            <a:prstGeom prst="line">
              <a:avLst/>
            </a:prstGeom>
            <a:grpFill/>
            <a:ln w="28575">
              <a:solidFill>
                <a:srgbClr val="FF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pSp>
      <p:sp>
        <p:nvSpPr>
          <p:cNvPr id="57" name="Line 168"/>
          <p:cNvSpPr>
            <a:spLocks noChangeShapeType="1"/>
          </p:cNvSpPr>
          <p:nvPr/>
        </p:nvSpPr>
        <p:spPr bwMode="auto">
          <a:xfrm flipH="1" flipV="1">
            <a:off x="8718566" y="4069263"/>
            <a:ext cx="446074" cy="69849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pSp>
        <p:nvGrpSpPr>
          <p:cNvPr id="111" name="Group 4"/>
          <p:cNvGrpSpPr>
            <a:grpSpLocks/>
          </p:cNvGrpSpPr>
          <p:nvPr/>
        </p:nvGrpSpPr>
        <p:grpSpPr bwMode="auto">
          <a:xfrm>
            <a:off x="8430364" y="2018562"/>
            <a:ext cx="2127250" cy="954088"/>
            <a:chOff x="4308" y="692"/>
            <a:chExt cx="1340" cy="601"/>
          </a:xfrm>
          <a:noFill/>
        </p:grpSpPr>
        <p:sp>
          <p:nvSpPr>
            <p:cNvPr id="112" name="Oval 5"/>
            <p:cNvSpPr>
              <a:spLocks noChangeArrowheads="1"/>
            </p:cNvSpPr>
            <p:nvPr/>
          </p:nvSpPr>
          <p:spPr bwMode="auto">
            <a:xfrm>
              <a:off x="5360" y="1017"/>
              <a:ext cx="288" cy="276"/>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18</a:t>
              </a:r>
            </a:p>
          </p:txBody>
        </p:sp>
        <p:sp>
          <p:nvSpPr>
            <p:cNvPr id="113" name="Line 6"/>
            <p:cNvSpPr>
              <a:spLocks noChangeShapeType="1"/>
            </p:cNvSpPr>
            <p:nvPr/>
          </p:nvSpPr>
          <p:spPr bwMode="auto">
            <a:xfrm>
              <a:off x="4308" y="788"/>
              <a:ext cx="1196" cy="22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14" name="Text Box 7"/>
            <p:cNvSpPr txBox="1">
              <a:spLocks noChangeArrowheads="1"/>
            </p:cNvSpPr>
            <p:nvPr/>
          </p:nvSpPr>
          <p:spPr bwMode="auto">
            <a:xfrm>
              <a:off x="4892" y="692"/>
              <a:ext cx="552"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6600"/>
                  </a:solidFill>
                  <a:cs typeface="Arial" panose="020B0604020202020204" pitchFamily="34" charset="0"/>
                </a:rPr>
                <a:t>x</a:t>
              </a:r>
              <a:r>
                <a:rPr lang="en-US" altLang="zh-CN" sz="2000" baseline="-25000" dirty="0">
                  <a:solidFill>
                    <a:srgbClr val="006600"/>
                  </a:solidFill>
                  <a:cs typeface="Arial" panose="020B0604020202020204" pitchFamily="34" charset="0"/>
                </a:rPr>
                <a:t>1</a:t>
              </a:r>
              <a:r>
                <a:rPr lang="en-US" altLang="zh-CN" sz="2000" dirty="0">
                  <a:solidFill>
                    <a:srgbClr val="006600"/>
                  </a:solidFill>
                  <a:cs typeface="Arial" panose="020B0604020202020204" pitchFamily="34" charset="0"/>
                </a:rPr>
                <a:t>= 2</a:t>
              </a:r>
            </a:p>
          </p:txBody>
        </p:sp>
      </p:grpSp>
      <p:sp>
        <p:nvSpPr>
          <p:cNvPr id="115" name="Line 57"/>
          <p:cNvSpPr>
            <a:spLocks noChangeShapeType="1"/>
          </p:cNvSpPr>
          <p:nvPr/>
        </p:nvSpPr>
        <p:spPr bwMode="auto">
          <a:xfrm flipV="1">
            <a:off x="7343775" y="2174276"/>
            <a:ext cx="1038225" cy="440037"/>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16" name="Group 58"/>
          <p:cNvGrpSpPr>
            <a:grpSpLocks/>
          </p:cNvGrpSpPr>
          <p:nvPr/>
        </p:nvGrpSpPr>
        <p:grpSpPr bwMode="auto">
          <a:xfrm>
            <a:off x="9128126" y="2956224"/>
            <a:ext cx="1181100" cy="1084263"/>
            <a:chOff x="4440" y="1380"/>
            <a:chExt cx="744" cy="683"/>
          </a:xfrm>
          <a:noFill/>
        </p:grpSpPr>
        <p:sp>
          <p:nvSpPr>
            <p:cNvPr id="117" name="Oval 59"/>
            <p:cNvSpPr>
              <a:spLocks noChangeArrowheads="1"/>
            </p:cNvSpPr>
            <p:nvPr/>
          </p:nvSpPr>
          <p:spPr bwMode="auto">
            <a:xfrm>
              <a:off x="4470" y="1778"/>
              <a:ext cx="288" cy="285"/>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19</a:t>
              </a:r>
            </a:p>
          </p:txBody>
        </p:sp>
        <p:sp>
          <p:nvSpPr>
            <p:cNvPr id="118" name="Line 60"/>
            <p:cNvSpPr>
              <a:spLocks noChangeShapeType="1"/>
            </p:cNvSpPr>
            <p:nvPr/>
          </p:nvSpPr>
          <p:spPr bwMode="auto">
            <a:xfrm flipH="1">
              <a:off x="4676" y="1380"/>
              <a:ext cx="508" cy="401"/>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19" name="Text Box 61"/>
            <p:cNvSpPr txBox="1">
              <a:spLocks noChangeArrowheads="1"/>
            </p:cNvSpPr>
            <p:nvPr/>
          </p:nvSpPr>
          <p:spPr bwMode="auto">
            <a:xfrm>
              <a:off x="4440" y="1380"/>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solidFill>
                    <a:srgbClr val="006600"/>
                  </a:solidFill>
                  <a:cs typeface="Arial" panose="020B0604020202020204" pitchFamily="34" charset="0"/>
                </a:rPr>
                <a:t>x</a:t>
              </a:r>
              <a:r>
                <a:rPr lang="en-US" altLang="zh-CN" sz="2000" baseline="-25000">
                  <a:solidFill>
                    <a:srgbClr val="006600"/>
                  </a:solidFill>
                  <a:cs typeface="Arial" panose="020B0604020202020204" pitchFamily="34" charset="0"/>
                </a:rPr>
                <a:t>2</a:t>
              </a:r>
              <a:r>
                <a:rPr lang="en-US" altLang="zh-CN" sz="2000">
                  <a:solidFill>
                    <a:srgbClr val="006600"/>
                  </a:solidFill>
                  <a:cs typeface="Arial" panose="020B0604020202020204" pitchFamily="34" charset="0"/>
                </a:rPr>
                <a:t>= 1</a:t>
              </a:r>
            </a:p>
          </p:txBody>
        </p:sp>
      </p:grpSp>
      <p:grpSp>
        <p:nvGrpSpPr>
          <p:cNvPr id="120" name="Group 62"/>
          <p:cNvGrpSpPr>
            <a:grpSpLocks/>
          </p:cNvGrpSpPr>
          <p:nvPr/>
        </p:nvGrpSpPr>
        <p:grpSpPr bwMode="auto">
          <a:xfrm>
            <a:off x="10165502" y="2973268"/>
            <a:ext cx="1117600" cy="1049338"/>
            <a:chOff x="5092" y="1401"/>
            <a:chExt cx="704" cy="661"/>
          </a:xfrm>
          <a:noFill/>
        </p:grpSpPr>
        <p:sp>
          <p:nvSpPr>
            <p:cNvPr id="121" name="Oval 63"/>
            <p:cNvSpPr>
              <a:spLocks noChangeArrowheads="1"/>
            </p:cNvSpPr>
            <p:nvPr/>
          </p:nvSpPr>
          <p:spPr bwMode="auto">
            <a:xfrm>
              <a:off x="5092" y="1789"/>
              <a:ext cx="288" cy="273"/>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24</a:t>
              </a:r>
            </a:p>
          </p:txBody>
        </p:sp>
        <p:sp>
          <p:nvSpPr>
            <p:cNvPr id="122" name="Line 64"/>
            <p:cNvSpPr>
              <a:spLocks noChangeShapeType="1"/>
            </p:cNvSpPr>
            <p:nvPr/>
          </p:nvSpPr>
          <p:spPr bwMode="auto">
            <a:xfrm>
              <a:off x="5232" y="1416"/>
              <a:ext cx="4" cy="375"/>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23" name="Text Box 65"/>
            <p:cNvSpPr txBox="1">
              <a:spLocks noChangeArrowheads="1"/>
            </p:cNvSpPr>
            <p:nvPr/>
          </p:nvSpPr>
          <p:spPr bwMode="auto">
            <a:xfrm>
              <a:off x="5256" y="1401"/>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6600"/>
                  </a:solidFill>
                  <a:cs typeface="Arial" panose="020B0604020202020204" pitchFamily="34" charset="0"/>
                </a:rPr>
                <a:t>x</a:t>
              </a:r>
              <a:r>
                <a:rPr lang="en-US" altLang="zh-CN" sz="2000" baseline="-25000" dirty="0">
                  <a:solidFill>
                    <a:srgbClr val="006600"/>
                  </a:solidFill>
                  <a:cs typeface="Arial" panose="020B0604020202020204" pitchFamily="34" charset="0"/>
                </a:rPr>
                <a:t>2</a:t>
              </a:r>
              <a:r>
                <a:rPr lang="en-US" altLang="zh-CN" sz="2000" dirty="0">
                  <a:solidFill>
                    <a:srgbClr val="006600"/>
                  </a:solidFill>
                  <a:cs typeface="Arial" panose="020B0604020202020204" pitchFamily="34" charset="0"/>
                </a:rPr>
                <a:t>= 3</a:t>
              </a:r>
            </a:p>
          </p:txBody>
        </p:sp>
      </p:grpSp>
      <p:sp>
        <p:nvSpPr>
          <p:cNvPr id="124" name="Line 66"/>
          <p:cNvSpPr>
            <a:spLocks noChangeShapeType="1"/>
          </p:cNvSpPr>
          <p:nvPr/>
        </p:nvSpPr>
        <p:spPr bwMode="auto">
          <a:xfrm flipH="1" flipV="1">
            <a:off x="10385426" y="2975273"/>
            <a:ext cx="6350" cy="630238"/>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25" name="Line 67"/>
          <p:cNvSpPr>
            <a:spLocks noChangeShapeType="1"/>
          </p:cNvSpPr>
          <p:nvPr/>
        </p:nvSpPr>
        <p:spPr bwMode="auto">
          <a:xfrm flipV="1">
            <a:off x="9509126" y="2958850"/>
            <a:ext cx="808886" cy="633960"/>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26" name="Text Box 68"/>
          <p:cNvSpPr txBox="1">
            <a:spLocks noChangeArrowheads="1"/>
          </p:cNvSpPr>
          <p:nvPr/>
        </p:nvSpPr>
        <p:spPr bwMode="auto">
          <a:xfrm>
            <a:off x="9258299" y="4060762"/>
            <a:ext cx="557493"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127" name="Text Box 69"/>
          <p:cNvSpPr txBox="1">
            <a:spLocks noChangeArrowheads="1"/>
          </p:cNvSpPr>
          <p:nvPr/>
        </p:nvSpPr>
        <p:spPr bwMode="auto">
          <a:xfrm>
            <a:off x="10233764" y="4051598"/>
            <a:ext cx="577112"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132" name="Line 8"/>
          <p:cNvSpPr>
            <a:spLocks noChangeShapeType="1"/>
          </p:cNvSpPr>
          <p:nvPr/>
        </p:nvSpPr>
        <p:spPr bwMode="auto">
          <a:xfrm>
            <a:off x="2126514" y="3158224"/>
            <a:ext cx="76199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33" name="Text Box 70"/>
          <p:cNvSpPr txBox="1">
            <a:spLocks noChangeArrowheads="1"/>
          </p:cNvSpPr>
          <p:nvPr/>
        </p:nvSpPr>
        <p:spPr bwMode="auto">
          <a:xfrm>
            <a:off x="382943" y="1459523"/>
            <a:ext cx="6700482"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228600" indent="-228600" eaLnBrk="1" hangingPunct="1">
              <a:lnSpc>
                <a:spcPct val="110000"/>
              </a:lnSpc>
              <a:spcBef>
                <a:spcPts val="1000"/>
              </a:spcBef>
              <a:buClr>
                <a:srgbClr val="1E5293"/>
              </a:buClr>
              <a:buSzPct val="70000"/>
              <a:buFont typeface="Wingdings" panose="05000000000000000000" pitchFamily="2" charset="2"/>
              <a:buChar char="l"/>
            </a:pP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18</a:t>
            </a:r>
            <a:r>
              <a:rPr kumimoji="1" lang="zh-CN" altLang="en-US" sz="2400" dirty="0">
                <a:ea typeface="幼圆" panose="02010509060101010101" pitchFamily="49" charset="-122"/>
                <a:cs typeface="Arial" panose="020B0604020202020204" pitchFamily="34" charset="0"/>
              </a:rPr>
              <a:t>的儿子结点</a:t>
            </a:r>
            <a:r>
              <a:rPr kumimoji="1" lang="en-US" altLang="zh-CN" sz="2400" dirty="0">
                <a:ea typeface="幼圆" panose="02010509060101010101" pitchFamily="49" charset="-122"/>
                <a:cs typeface="Arial" panose="020B0604020202020204" pitchFamily="34" charset="0"/>
              </a:rPr>
              <a:t>19</a:t>
            </a: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24</a:t>
            </a:r>
            <a:r>
              <a:rPr kumimoji="1" lang="zh-CN" altLang="en-US" sz="2400" dirty="0">
                <a:ea typeface="幼圆" panose="02010509060101010101" pitchFamily="49" charset="-122"/>
                <a:cs typeface="Arial" panose="020B0604020202020204" pitchFamily="34" charset="0"/>
              </a:rPr>
              <a:t>被杀死</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回溯。</a:t>
            </a:r>
          </a:p>
        </p:txBody>
      </p:sp>
      <p:graphicFrame>
        <p:nvGraphicFramePr>
          <p:cNvPr id="134" name="Group 76"/>
          <p:cNvGraphicFramePr>
            <a:graphicFrameLocks noGrp="1"/>
          </p:cNvGraphicFramePr>
          <p:nvPr>
            <p:extLst>
              <p:ext uri="{D42A27DB-BD31-4B8C-83A1-F6EECF244321}">
                <p14:modId xmlns:p14="http://schemas.microsoft.com/office/powerpoint/2010/main" val="2731893487"/>
              </p:ext>
            </p:extLst>
          </p:nvPr>
        </p:nvGraphicFramePr>
        <p:xfrm>
          <a:off x="833438" y="2506688"/>
          <a:ext cx="1293076" cy="1305980"/>
        </p:xfrm>
        <a:graphic>
          <a:graphicData uri="http://schemas.openxmlformats.org/drawingml/2006/table">
            <a:tbl>
              <a:tblPr/>
              <a:tblGrid>
                <a:gridCol w="323269">
                  <a:extLst>
                    <a:ext uri="{9D8B030D-6E8A-4147-A177-3AD203B41FA5}">
                      <a16:colId xmlns:a16="http://schemas.microsoft.com/office/drawing/2014/main" val="20000"/>
                    </a:ext>
                  </a:extLst>
                </a:gridCol>
                <a:gridCol w="323269">
                  <a:extLst>
                    <a:ext uri="{9D8B030D-6E8A-4147-A177-3AD203B41FA5}">
                      <a16:colId xmlns:a16="http://schemas.microsoft.com/office/drawing/2014/main" val="20001"/>
                    </a:ext>
                  </a:extLst>
                </a:gridCol>
                <a:gridCol w="323269">
                  <a:extLst>
                    <a:ext uri="{9D8B030D-6E8A-4147-A177-3AD203B41FA5}">
                      <a16:colId xmlns:a16="http://schemas.microsoft.com/office/drawing/2014/main" val="20002"/>
                    </a:ext>
                  </a:extLst>
                </a:gridCol>
                <a:gridCol w="323269">
                  <a:extLst>
                    <a:ext uri="{9D8B030D-6E8A-4147-A177-3AD203B41FA5}">
                      <a16:colId xmlns:a16="http://schemas.microsoft.com/office/drawing/2014/main" val="20003"/>
                    </a:ext>
                  </a:extLst>
                </a:gridCol>
              </a:tblGrid>
              <a:tr h="326495">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45" marB="4574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6495">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6495">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6495">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35" name="Group 103"/>
          <p:cNvGraphicFramePr>
            <a:graphicFrameLocks noGrp="1"/>
          </p:cNvGraphicFramePr>
          <p:nvPr>
            <p:extLst>
              <p:ext uri="{D42A27DB-BD31-4B8C-83A1-F6EECF244321}">
                <p14:modId xmlns:p14="http://schemas.microsoft.com/office/powerpoint/2010/main" val="3627876863"/>
              </p:ext>
            </p:extLst>
          </p:nvPr>
        </p:nvGraphicFramePr>
        <p:xfrm>
          <a:off x="2890838" y="2523642"/>
          <a:ext cx="1274760" cy="1289027"/>
        </p:xfrm>
        <a:graphic>
          <a:graphicData uri="http://schemas.openxmlformats.org/drawingml/2006/table">
            <a:tbl>
              <a:tblPr/>
              <a:tblGrid>
                <a:gridCol w="318690">
                  <a:extLst>
                    <a:ext uri="{9D8B030D-6E8A-4147-A177-3AD203B41FA5}">
                      <a16:colId xmlns:a16="http://schemas.microsoft.com/office/drawing/2014/main" val="20000"/>
                    </a:ext>
                  </a:extLst>
                </a:gridCol>
                <a:gridCol w="318690">
                  <a:extLst>
                    <a:ext uri="{9D8B030D-6E8A-4147-A177-3AD203B41FA5}">
                      <a16:colId xmlns:a16="http://schemas.microsoft.com/office/drawing/2014/main" val="20001"/>
                    </a:ext>
                  </a:extLst>
                </a:gridCol>
                <a:gridCol w="318690">
                  <a:extLst>
                    <a:ext uri="{9D8B030D-6E8A-4147-A177-3AD203B41FA5}">
                      <a16:colId xmlns:a16="http://schemas.microsoft.com/office/drawing/2014/main" val="20002"/>
                    </a:ext>
                  </a:extLst>
                </a:gridCol>
                <a:gridCol w="318690">
                  <a:extLst>
                    <a:ext uri="{9D8B030D-6E8A-4147-A177-3AD203B41FA5}">
                      <a16:colId xmlns:a16="http://schemas.microsoft.com/office/drawing/2014/main" val="20003"/>
                    </a:ext>
                  </a:extLst>
                </a:gridCol>
              </a:tblGrid>
              <a:tr h="313994">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42" marB="45742"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7045">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rPr>
                        <a:t>2</a:t>
                      </a:r>
                    </a:p>
                  </a:txBody>
                  <a:tcPr marT="45742" marB="457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3994">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3994">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36" name="Group 130"/>
          <p:cNvGraphicFramePr>
            <a:graphicFrameLocks noGrp="1"/>
          </p:cNvGraphicFramePr>
          <p:nvPr>
            <p:extLst>
              <p:ext uri="{D42A27DB-BD31-4B8C-83A1-F6EECF244321}">
                <p14:modId xmlns:p14="http://schemas.microsoft.com/office/powerpoint/2010/main" val="3235837227"/>
              </p:ext>
            </p:extLst>
          </p:nvPr>
        </p:nvGraphicFramePr>
        <p:xfrm>
          <a:off x="2890838" y="4525989"/>
          <a:ext cx="1274760" cy="1263383"/>
        </p:xfrm>
        <a:graphic>
          <a:graphicData uri="http://schemas.openxmlformats.org/drawingml/2006/table">
            <a:tbl>
              <a:tblPr/>
              <a:tblGrid>
                <a:gridCol w="318690">
                  <a:extLst>
                    <a:ext uri="{9D8B030D-6E8A-4147-A177-3AD203B41FA5}">
                      <a16:colId xmlns:a16="http://schemas.microsoft.com/office/drawing/2014/main" val="20000"/>
                    </a:ext>
                  </a:extLst>
                </a:gridCol>
                <a:gridCol w="318690">
                  <a:extLst>
                    <a:ext uri="{9D8B030D-6E8A-4147-A177-3AD203B41FA5}">
                      <a16:colId xmlns:a16="http://schemas.microsoft.com/office/drawing/2014/main" val="20001"/>
                    </a:ext>
                  </a:extLst>
                </a:gridCol>
                <a:gridCol w="318690">
                  <a:extLst>
                    <a:ext uri="{9D8B030D-6E8A-4147-A177-3AD203B41FA5}">
                      <a16:colId xmlns:a16="http://schemas.microsoft.com/office/drawing/2014/main" val="20002"/>
                    </a:ext>
                  </a:extLst>
                </a:gridCol>
                <a:gridCol w="318690">
                  <a:extLst>
                    <a:ext uri="{9D8B030D-6E8A-4147-A177-3AD203B41FA5}">
                      <a16:colId xmlns:a16="http://schemas.microsoft.com/office/drawing/2014/main" val="20003"/>
                    </a:ext>
                  </a:extLst>
                </a:gridCol>
              </a:tblGrid>
              <a:tr h="294078">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42" marB="45742"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25034">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rPr>
                        <a:t>2</a:t>
                      </a: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4078">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4078">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2" marB="457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137" name="Line 157"/>
          <p:cNvSpPr>
            <a:spLocks noChangeShapeType="1"/>
          </p:cNvSpPr>
          <p:nvPr/>
        </p:nvSpPr>
        <p:spPr bwMode="auto">
          <a:xfrm>
            <a:off x="2128838" y="3501008"/>
            <a:ext cx="739774" cy="158417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sp>
        <p:nvSpPr>
          <p:cNvPr id="80" name="Line 57"/>
          <p:cNvSpPr>
            <a:spLocks noChangeShapeType="1"/>
          </p:cNvSpPr>
          <p:nvPr/>
        </p:nvSpPr>
        <p:spPr bwMode="auto">
          <a:xfrm flipH="1" flipV="1">
            <a:off x="7365890" y="3021901"/>
            <a:ext cx="1284410" cy="557079"/>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2586444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down)">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1"/>
                                        </p:tgtEl>
                                        <p:attrNameLst>
                                          <p:attrName>style.visibility</p:attrName>
                                        </p:attrNameLst>
                                      </p:cBhvr>
                                      <p:to>
                                        <p:strVal val="visible"/>
                                      </p:to>
                                    </p:set>
                                    <p:animEffect transition="in" filter="wipe(up)">
                                      <p:cBhvr>
                                        <p:cTn id="12" dur="500"/>
                                        <p:tgtEl>
                                          <p:spTgt spid="1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16"/>
                                        </p:tgtEl>
                                        <p:attrNameLst>
                                          <p:attrName>style.visibility</p:attrName>
                                        </p:attrNameLst>
                                      </p:cBhvr>
                                      <p:to>
                                        <p:strVal val="visible"/>
                                      </p:to>
                                    </p:set>
                                    <p:animEffect transition="in" filter="wipe(up)">
                                      <p:cBhvr>
                                        <p:cTn id="25" dur="500"/>
                                        <p:tgtEl>
                                          <p:spTgt spid="11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2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25"/>
                                        </p:tgtEl>
                                        <p:attrNameLst>
                                          <p:attrName>style.visibility</p:attrName>
                                        </p:attrNameLst>
                                      </p:cBhvr>
                                      <p:to>
                                        <p:strVal val="visible"/>
                                      </p:to>
                                    </p:set>
                                    <p:animEffect transition="in" filter="wipe(down)">
                                      <p:cBhvr>
                                        <p:cTn id="34" dur="500"/>
                                        <p:tgtEl>
                                          <p:spTgt spid="12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32"/>
                                        </p:tgtEl>
                                        <p:attrNameLst>
                                          <p:attrName>style.visibility</p:attrName>
                                        </p:attrNameLst>
                                      </p:cBhvr>
                                      <p:to>
                                        <p:strVal val="visible"/>
                                      </p:to>
                                    </p:set>
                                    <p:animEffect transition="in" filter="wipe(left)">
                                      <p:cBhvr>
                                        <p:cTn id="39" dur="500"/>
                                        <p:tgtEl>
                                          <p:spTgt spid="13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499"/>
                                          </p:stCondLst>
                                        </p:cTn>
                                        <p:tgtEl>
                                          <p:spTgt spid="13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20"/>
                                        </p:tgtEl>
                                        <p:attrNameLst>
                                          <p:attrName>style.visibility</p:attrName>
                                        </p:attrNameLst>
                                      </p:cBhvr>
                                      <p:to>
                                        <p:strVal val="visible"/>
                                      </p:to>
                                    </p:set>
                                    <p:animEffect transition="in" filter="wipe(up)">
                                      <p:cBhvr>
                                        <p:cTn id="48" dur="500"/>
                                        <p:tgtEl>
                                          <p:spTgt spid="120"/>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1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24"/>
                                        </p:tgtEl>
                                        <p:attrNameLst>
                                          <p:attrName>style.visibility</p:attrName>
                                        </p:attrNameLst>
                                      </p:cBhvr>
                                      <p:to>
                                        <p:strVal val="visible"/>
                                      </p:to>
                                    </p:set>
                                    <p:animEffect transition="in" filter="wipe(down)">
                                      <p:cBhvr>
                                        <p:cTn id="57" dur="500"/>
                                        <p:tgtEl>
                                          <p:spTgt spid="1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37"/>
                                        </p:tgtEl>
                                        <p:attrNameLst>
                                          <p:attrName>style.visibility</p:attrName>
                                        </p:attrNameLst>
                                      </p:cBhvr>
                                      <p:to>
                                        <p:strVal val="visible"/>
                                      </p:to>
                                    </p:set>
                                    <p:animEffect transition="in" filter="wipe(up)">
                                      <p:cBhvr>
                                        <p:cTn id="62" dur="500"/>
                                        <p:tgtEl>
                                          <p:spTgt spid="137"/>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24" grpId="0" animBg="1"/>
      <p:bldP spid="125" grpId="0" animBg="1"/>
      <p:bldP spid="126" grpId="0" autoUpdateAnimBg="0"/>
      <p:bldP spid="127" grpId="0" autoUpdateAnimBg="0"/>
      <p:bldP spid="132" grpId="0" animBg="1"/>
      <p:bldP spid="133" grpId="0" autoUpdateAnimBg="0"/>
      <p:bldP spid="13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35</a:t>
            </a:fld>
            <a:endParaRPr lang="en-US" altLang="zh-CN"/>
          </a:p>
        </p:txBody>
      </p:sp>
      <p:sp>
        <p:nvSpPr>
          <p:cNvPr id="5" name="Text Box 12"/>
          <p:cNvSpPr txBox="1">
            <a:spLocks noChangeArrowheads="1"/>
          </p:cNvSpPr>
          <p:nvPr/>
        </p:nvSpPr>
        <p:spPr bwMode="auto">
          <a:xfrm>
            <a:off x="669665" y="332653"/>
            <a:ext cx="10307115" cy="108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228600" indent="-228600" eaLnBrk="1" hangingPunct="1">
              <a:lnSpc>
                <a:spcPct val="110000"/>
              </a:lnSpc>
              <a:spcBef>
                <a:spcPct val="50000"/>
              </a:spcBef>
              <a:buClr>
                <a:srgbClr val="1E5293"/>
              </a:buClr>
              <a:buSzPct val="70000"/>
              <a:buFont typeface="Wingdings" panose="05000000000000000000" pitchFamily="2" charset="2"/>
              <a:buChar char="l"/>
            </a:pPr>
            <a:r>
              <a:rPr kumimoji="1" lang="zh-CN" altLang="en-US" sz="2400" dirty="0">
                <a:ea typeface="幼圆" panose="02010509060101010101" pitchFamily="49" charset="-122"/>
                <a:cs typeface="Arial" panose="020B0604020202020204" pitchFamily="34" charset="0"/>
              </a:rPr>
              <a:t>  结点</a:t>
            </a:r>
            <a:r>
              <a:rPr kumimoji="1" lang="en-US" altLang="zh-CN" sz="2400" dirty="0">
                <a:ea typeface="幼圆" panose="02010509060101010101" pitchFamily="49" charset="-122"/>
                <a:cs typeface="Arial" panose="020B0604020202020204" pitchFamily="34" charset="0"/>
              </a:rPr>
              <a:t>18</a:t>
            </a:r>
            <a:r>
              <a:rPr kumimoji="1" lang="zh-CN" altLang="en-US" sz="2400" dirty="0">
                <a:ea typeface="幼圆" panose="02010509060101010101" pitchFamily="49" charset="-122"/>
                <a:cs typeface="Arial" panose="020B0604020202020204" pitchFamily="34" charset="0"/>
              </a:rPr>
              <a:t>生成结点</a:t>
            </a:r>
            <a:r>
              <a:rPr kumimoji="1" lang="en-US" altLang="zh-CN" sz="2400" dirty="0">
                <a:ea typeface="幼圆" panose="02010509060101010101" pitchFamily="49" charset="-122"/>
                <a:cs typeface="Arial" panose="020B0604020202020204" pitchFamily="34" charset="0"/>
              </a:rPr>
              <a:t>29, </a:t>
            </a: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29</a:t>
            </a:r>
            <a:r>
              <a:rPr kumimoji="1" lang="zh-CN" altLang="en-US" sz="2400" dirty="0">
                <a:ea typeface="幼圆" panose="02010509060101010101" pitchFamily="49" charset="-122"/>
                <a:cs typeface="Arial" panose="020B0604020202020204" pitchFamily="34" charset="0"/>
              </a:rPr>
              <a:t>成为</a:t>
            </a:r>
            <a:r>
              <a:rPr kumimoji="1" lang="en-US" altLang="zh-CN" sz="2400" dirty="0">
                <a:ea typeface="幼圆" panose="02010509060101010101" pitchFamily="49" charset="-122"/>
                <a:cs typeface="Arial" panose="020B0604020202020204" pitchFamily="34" charset="0"/>
              </a:rPr>
              <a:t>E-</a:t>
            </a: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路径变为</a:t>
            </a:r>
            <a:r>
              <a:rPr kumimoji="1" lang="en-US" altLang="zh-CN" sz="2400" dirty="0">
                <a:ea typeface="幼圆" panose="02010509060101010101" pitchFamily="49" charset="-122"/>
                <a:cs typeface="Arial" panose="020B0604020202020204" pitchFamily="34" charset="0"/>
              </a:rPr>
              <a:t>(2,4)</a:t>
            </a:r>
            <a:r>
              <a:rPr kumimoji="1" lang="zh-CN" altLang="en-US" sz="2400" dirty="0">
                <a:ea typeface="幼圆" panose="02010509060101010101" pitchFamily="49" charset="-122"/>
                <a:cs typeface="Arial" panose="020B0604020202020204" pitchFamily="34" charset="0"/>
              </a:rPr>
              <a:t>。</a:t>
            </a:r>
          </a:p>
          <a:p>
            <a:pPr marL="228600" indent="-228600" eaLnBrk="1" hangingPunct="1">
              <a:lnSpc>
                <a:spcPct val="110000"/>
              </a:lnSpc>
              <a:spcBef>
                <a:spcPct val="50000"/>
              </a:spcBef>
              <a:buClr>
                <a:srgbClr val="1E5293"/>
              </a:buClr>
              <a:buSzPct val="70000"/>
              <a:buFont typeface="Wingdings" panose="05000000000000000000" pitchFamily="2" charset="2"/>
              <a:buChar char="l"/>
            </a:pPr>
            <a:endParaRPr kumimoji="1" lang="zh-CN" altLang="en-US" sz="2400" dirty="0">
              <a:ea typeface="幼圆" panose="02010509060101010101" pitchFamily="49" charset="-122"/>
              <a:cs typeface="Arial" panose="020B0604020202020204" pitchFamily="34" charset="0"/>
            </a:endParaRPr>
          </a:p>
        </p:txBody>
      </p:sp>
      <p:grpSp>
        <p:nvGrpSpPr>
          <p:cNvPr id="6" name="Group 4"/>
          <p:cNvGrpSpPr>
            <a:grpSpLocks/>
          </p:cNvGrpSpPr>
          <p:nvPr/>
        </p:nvGrpSpPr>
        <p:grpSpPr bwMode="auto">
          <a:xfrm>
            <a:off x="6494894" y="3036606"/>
            <a:ext cx="1585913" cy="1062038"/>
            <a:chOff x="4248" y="1394"/>
            <a:chExt cx="999" cy="669"/>
          </a:xfrm>
          <a:noFill/>
        </p:grpSpPr>
        <p:sp>
          <p:nvSpPr>
            <p:cNvPr id="7" name="Oval 5"/>
            <p:cNvSpPr>
              <a:spLocks noChangeArrowheads="1"/>
            </p:cNvSpPr>
            <p:nvPr/>
          </p:nvSpPr>
          <p:spPr bwMode="auto">
            <a:xfrm>
              <a:off x="4959" y="1775"/>
              <a:ext cx="288" cy="288"/>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13</a:t>
              </a:r>
            </a:p>
          </p:txBody>
        </p:sp>
        <p:sp>
          <p:nvSpPr>
            <p:cNvPr id="8" name="Line 6"/>
            <p:cNvSpPr>
              <a:spLocks noChangeShapeType="1"/>
            </p:cNvSpPr>
            <p:nvPr/>
          </p:nvSpPr>
          <p:spPr bwMode="auto">
            <a:xfrm>
              <a:off x="4248" y="1416"/>
              <a:ext cx="852" cy="3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9" name="Text Box 7"/>
            <p:cNvSpPr txBox="1">
              <a:spLocks noChangeArrowheads="1"/>
            </p:cNvSpPr>
            <p:nvPr/>
          </p:nvSpPr>
          <p:spPr bwMode="auto">
            <a:xfrm>
              <a:off x="4608" y="1394"/>
              <a:ext cx="552"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4</a:t>
              </a:r>
            </a:p>
          </p:txBody>
        </p:sp>
      </p:grpSp>
      <p:grpSp>
        <p:nvGrpSpPr>
          <p:cNvPr id="10" name="Group 8"/>
          <p:cNvGrpSpPr>
            <a:grpSpLocks/>
          </p:cNvGrpSpPr>
          <p:nvPr/>
        </p:nvGrpSpPr>
        <p:grpSpPr bwMode="auto">
          <a:xfrm>
            <a:off x="6729846" y="5222992"/>
            <a:ext cx="925513" cy="1139825"/>
            <a:chOff x="4358" y="2688"/>
            <a:chExt cx="583" cy="718"/>
          </a:xfrm>
          <a:noFill/>
        </p:grpSpPr>
        <p:sp>
          <p:nvSpPr>
            <p:cNvPr id="11" name="Oval 9"/>
            <p:cNvSpPr>
              <a:spLocks noChangeArrowheads="1"/>
            </p:cNvSpPr>
            <p:nvPr/>
          </p:nvSpPr>
          <p:spPr bwMode="auto">
            <a:xfrm>
              <a:off x="4653" y="3142"/>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15</a:t>
              </a:r>
            </a:p>
          </p:txBody>
        </p:sp>
        <p:sp>
          <p:nvSpPr>
            <p:cNvPr id="12" name="Line 10"/>
            <p:cNvSpPr>
              <a:spLocks noChangeShapeType="1"/>
            </p:cNvSpPr>
            <p:nvPr/>
          </p:nvSpPr>
          <p:spPr bwMode="auto">
            <a:xfrm>
              <a:off x="4802" y="2688"/>
              <a:ext cx="4" cy="4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13" name="Text Box 11"/>
            <p:cNvSpPr txBox="1">
              <a:spLocks noChangeArrowheads="1"/>
            </p:cNvSpPr>
            <p:nvPr/>
          </p:nvSpPr>
          <p:spPr bwMode="auto">
            <a:xfrm>
              <a:off x="4358" y="2871"/>
              <a:ext cx="504" cy="19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70000"/>
                </a:lnSpc>
                <a:spcBef>
                  <a:spcPct val="50000"/>
                </a:spcBef>
              </a:pPr>
              <a:r>
                <a:rPr kumimoji="1" lang="en-US" altLang="zh-CN" sz="2000" dirty="0">
                  <a:cs typeface="Arial" panose="020B0604020202020204" pitchFamily="34" charset="0"/>
                </a:rPr>
                <a:t>x</a:t>
              </a:r>
              <a:r>
                <a:rPr kumimoji="1" lang="en-US" altLang="zh-CN" sz="2000" baseline="-25000" dirty="0">
                  <a:cs typeface="Arial" panose="020B0604020202020204" pitchFamily="34" charset="0"/>
                </a:rPr>
                <a:t>4</a:t>
              </a:r>
              <a:r>
                <a:rPr kumimoji="1" lang="en-US" altLang="zh-CN" sz="2000" dirty="0">
                  <a:cs typeface="Arial" panose="020B0604020202020204" pitchFamily="34" charset="0"/>
                </a:rPr>
                <a:t>=3</a:t>
              </a:r>
            </a:p>
          </p:txBody>
        </p:sp>
      </p:grpSp>
      <p:grpSp>
        <p:nvGrpSpPr>
          <p:cNvPr id="14" name="Group 13"/>
          <p:cNvGrpSpPr>
            <a:grpSpLocks/>
          </p:cNvGrpSpPr>
          <p:nvPr/>
        </p:nvGrpSpPr>
        <p:grpSpPr bwMode="auto">
          <a:xfrm>
            <a:off x="5021692" y="1793992"/>
            <a:ext cx="2733675" cy="3810000"/>
            <a:chOff x="3282" y="528"/>
            <a:chExt cx="1722" cy="2400"/>
          </a:xfrm>
          <a:noFill/>
        </p:grpSpPr>
        <p:grpSp>
          <p:nvGrpSpPr>
            <p:cNvPr id="15" name="Group 14"/>
            <p:cNvGrpSpPr>
              <a:grpSpLocks/>
            </p:cNvGrpSpPr>
            <p:nvPr/>
          </p:nvGrpSpPr>
          <p:grpSpPr bwMode="auto">
            <a:xfrm>
              <a:off x="3744" y="1328"/>
              <a:ext cx="586" cy="645"/>
              <a:chOff x="4296" y="1344"/>
              <a:chExt cx="586" cy="623"/>
            </a:xfrm>
            <a:grpFill/>
          </p:grpSpPr>
          <p:sp>
            <p:nvSpPr>
              <p:cNvPr id="39" name="Oval 15"/>
              <p:cNvSpPr>
                <a:spLocks noChangeArrowheads="1"/>
              </p:cNvSpPr>
              <p:nvPr/>
            </p:nvSpPr>
            <p:spPr bwMode="auto">
              <a:xfrm>
                <a:off x="4594" y="1703"/>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8</a:t>
                </a:r>
              </a:p>
            </p:txBody>
          </p:sp>
          <p:sp>
            <p:nvSpPr>
              <p:cNvPr id="40" name="Line 16"/>
              <p:cNvSpPr>
                <a:spLocks noChangeShapeType="1"/>
              </p:cNvSpPr>
              <p:nvPr/>
            </p:nvSpPr>
            <p:spPr bwMode="auto">
              <a:xfrm>
                <a:off x="4740" y="1344"/>
                <a:ext cx="0" cy="36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41" name="Text Box 17"/>
              <p:cNvSpPr txBox="1">
                <a:spLocks noChangeArrowheads="1"/>
              </p:cNvSpPr>
              <p:nvPr/>
            </p:nvSpPr>
            <p:spPr bwMode="auto">
              <a:xfrm>
                <a:off x="4296" y="1430"/>
                <a:ext cx="540" cy="24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2</a:t>
                </a:r>
                <a:r>
                  <a:rPr lang="en-US" altLang="zh-CN" sz="2000" dirty="0">
                    <a:cs typeface="Arial" panose="020B0604020202020204" pitchFamily="34" charset="0"/>
                  </a:rPr>
                  <a:t>= 3</a:t>
                </a:r>
              </a:p>
            </p:txBody>
          </p:sp>
        </p:grpSp>
        <p:grpSp>
          <p:nvGrpSpPr>
            <p:cNvPr id="16" name="Group 18"/>
            <p:cNvGrpSpPr>
              <a:grpSpLocks/>
            </p:cNvGrpSpPr>
            <p:nvPr/>
          </p:nvGrpSpPr>
          <p:grpSpPr bwMode="auto">
            <a:xfrm>
              <a:off x="3282" y="528"/>
              <a:ext cx="1722" cy="2400"/>
              <a:chOff x="3282" y="528"/>
              <a:chExt cx="1722" cy="2400"/>
            </a:xfrm>
            <a:grpFill/>
          </p:grpSpPr>
          <p:grpSp>
            <p:nvGrpSpPr>
              <p:cNvPr id="17" name="Group 19"/>
              <p:cNvGrpSpPr>
                <a:grpSpLocks/>
              </p:cNvGrpSpPr>
              <p:nvPr/>
            </p:nvGrpSpPr>
            <p:grpSpPr bwMode="auto">
              <a:xfrm>
                <a:off x="3282" y="528"/>
                <a:ext cx="1722" cy="1679"/>
                <a:chOff x="3858" y="528"/>
                <a:chExt cx="1722" cy="1679"/>
              </a:xfrm>
              <a:grpFill/>
            </p:grpSpPr>
            <p:sp>
              <p:nvSpPr>
                <p:cNvPr id="29" name="Oval 20"/>
                <p:cNvSpPr>
                  <a:spLocks noChangeArrowheads="1"/>
                </p:cNvSpPr>
                <p:nvPr/>
              </p:nvSpPr>
              <p:spPr bwMode="auto">
                <a:xfrm>
                  <a:off x="5292" y="528"/>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a:t>
                  </a:r>
                </a:p>
              </p:txBody>
            </p:sp>
            <p:grpSp>
              <p:nvGrpSpPr>
                <p:cNvPr id="30" name="Group 21"/>
                <p:cNvGrpSpPr>
                  <a:grpSpLocks/>
                </p:cNvGrpSpPr>
                <p:nvPr/>
              </p:nvGrpSpPr>
              <p:grpSpPr bwMode="auto">
                <a:xfrm>
                  <a:off x="3858" y="1278"/>
                  <a:ext cx="870" cy="690"/>
                  <a:chOff x="3858" y="1278"/>
                  <a:chExt cx="870" cy="690"/>
                </a:xfrm>
                <a:grpFill/>
              </p:grpSpPr>
              <p:sp>
                <p:nvSpPr>
                  <p:cNvPr id="36" name="Oval 22"/>
                  <p:cNvSpPr>
                    <a:spLocks noChangeArrowheads="1"/>
                  </p:cNvSpPr>
                  <p:nvPr/>
                </p:nvSpPr>
                <p:spPr bwMode="auto">
                  <a:xfrm>
                    <a:off x="3858" y="170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3</a:t>
                    </a:r>
                  </a:p>
                </p:txBody>
              </p:sp>
              <p:sp>
                <p:nvSpPr>
                  <p:cNvPr id="37" name="Line 23"/>
                  <p:cNvSpPr>
                    <a:spLocks noChangeShapeType="1"/>
                  </p:cNvSpPr>
                  <p:nvPr/>
                </p:nvSpPr>
                <p:spPr bwMode="auto">
                  <a:xfrm flipH="1">
                    <a:off x="4020" y="1334"/>
                    <a:ext cx="708" cy="36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38" name="Text Box 24"/>
                  <p:cNvSpPr txBox="1">
                    <a:spLocks noChangeArrowheads="1"/>
                  </p:cNvSpPr>
                  <p:nvPr/>
                </p:nvSpPr>
                <p:spPr bwMode="auto">
                  <a:xfrm>
                    <a:off x="3972" y="1278"/>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00FF"/>
                        </a:solidFill>
                        <a:cs typeface="Arial" panose="020B0604020202020204" pitchFamily="34" charset="0"/>
                      </a:rPr>
                      <a:t>x</a:t>
                    </a:r>
                    <a:r>
                      <a:rPr lang="en-US" altLang="zh-CN" sz="2000" baseline="-25000" dirty="0">
                        <a:solidFill>
                          <a:srgbClr val="0000FF"/>
                        </a:solidFill>
                        <a:cs typeface="Arial" panose="020B0604020202020204" pitchFamily="34" charset="0"/>
                      </a:rPr>
                      <a:t>2</a:t>
                    </a:r>
                    <a:r>
                      <a:rPr lang="en-US" altLang="zh-CN" sz="2000" dirty="0">
                        <a:solidFill>
                          <a:srgbClr val="0000FF"/>
                        </a:solidFill>
                        <a:cs typeface="Arial" panose="020B0604020202020204" pitchFamily="34" charset="0"/>
                      </a:rPr>
                      <a:t>= 2</a:t>
                    </a:r>
                  </a:p>
                </p:txBody>
              </p:sp>
            </p:grpSp>
            <p:grpSp>
              <p:nvGrpSpPr>
                <p:cNvPr id="31" name="Group 25"/>
                <p:cNvGrpSpPr>
                  <a:grpSpLocks/>
                </p:cNvGrpSpPr>
                <p:nvPr/>
              </p:nvGrpSpPr>
              <p:grpSpPr bwMode="auto">
                <a:xfrm>
                  <a:off x="4618" y="732"/>
                  <a:ext cx="818" cy="602"/>
                  <a:chOff x="4618" y="732"/>
                  <a:chExt cx="818" cy="602"/>
                </a:xfrm>
                <a:grpFill/>
              </p:grpSpPr>
              <p:sp>
                <p:nvSpPr>
                  <p:cNvPr id="33" name="Oval 26"/>
                  <p:cNvSpPr>
                    <a:spLocks noChangeArrowheads="1"/>
                  </p:cNvSpPr>
                  <p:nvPr/>
                </p:nvSpPr>
                <p:spPr bwMode="auto">
                  <a:xfrm>
                    <a:off x="4618" y="1070"/>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a:t>
                    </a:r>
                  </a:p>
                </p:txBody>
              </p:sp>
              <p:sp>
                <p:nvSpPr>
                  <p:cNvPr id="34" name="Line 27"/>
                  <p:cNvSpPr>
                    <a:spLocks noChangeShapeType="1"/>
                  </p:cNvSpPr>
                  <p:nvPr/>
                </p:nvSpPr>
                <p:spPr bwMode="auto">
                  <a:xfrm flipH="1">
                    <a:off x="4752" y="792"/>
                    <a:ext cx="684" cy="28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35" name="Text Box 28"/>
                  <p:cNvSpPr txBox="1">
                    <a:spLocks noChangeArrowheads="1"/>
                  </p:cNvSpPr>
                  <p:nvPr/>
                </p:nvSpPr>
                <p:spPr bwMode="auto">
                  <a:xfrm>
                    <a:off x="4728" y="732"/>
                    <a:ext cx="504"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solidFill>
                          <a:srgbClr val="0000FF"/>
                        </a:solidFill>
                        <a:cs typeface="Arial" panose="020B0604020202020204" pitchFamily="34" charset="0"/>
                      </a:rPr>
                      <a:t>x</a:t>
                    </a:r>
                    <a:r>
                      <a:rPr lang="en-US" altLang="zh-CN" sz="2000" baseline="-25000">
                        <a:solidFill>
                          <a:srgbClr val="0000FF"/>
                        </a:solidFill>
                        <a:cs typeface="Arial" panose="020B0604020202020204" pitchFamily="34" charset="0"/>
                      </a:rPr>
                      <a:t>1</a:t>
                    </a:r>
                    <a:r>
                      <a:rPr lang="en-US" altLang="zh-CN" sz="2000">
                        <a:solidFill>
                          <a:srgbClr val="0000FF"/>
                        </a:solidFill>
                        <a:cs typeface="Arial" panose="020B0604020202020204" pitchFamily="34" charset="0"/>
                      </a:rPr>
                      <a:t>=1</a:t>
                    </a:r>
                  </a:p>
                </p:txBody>
              </p:sp>
            </p:grpSp>
            <p:sp>
              <p:nvSpPr>
                <p:cNvPr id="32" name="Text Box 29"/>
                <p:cNvSpPr txBox="1">
                  <a:spLocks noChangeArrowheads="1"/>
                </p:cNvSpPr>
                <p:nvPr/>
              </p:nvSpPr>
              <p:spPr bwMode="auto">
                <a:xfrm>
                  <a:off x="3882" y="1994"/>
                  <a:ext cx="360"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sp>
            <p:nvSpPr>
              <p:cNvPr id="18" name="Line 30"/>
              <p:cNvSpPr>
                <a:spLocks noChangeShapeType="1"/>
              </p:cNvSpPr>
              <p:nvPr/>
            </p:nvSpPr>
            <p:spPr bwMode="auto">
              <a:xfrm flipV="1">
                <a:off x="3451" y="1337"/>
                <a:ext cx="701" cy="360"/>
              </a:xfrm>
              <a:prstGeom prst="line">
                <a:avLst/>
              </a:prstGeom>
              <a:grpFill/>
              <a:ln w="38100">
                <a:solidFill>
                  <a:srgbClr val="FF0000"/>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grpSp>
            <p:nvGrpSpPr>
              <p:cNvPr id="19" name="Group 31"/>
              <p:cNvGrpSpPr>
                <a:grpSpLocks/>
              </p:cNvGrpSpPr>
              <p:nvPr/>
            </p:nvGrpSpPr>
            <p:grpSpPr bwMode="auto">
              <a:xfrm>
                <a:off x="4181" y="1967"/>
                <a:ext cx="628" cy="727"/>
                <a:chOff x="4733" y="1967"/>
                <a:chExt cx="628" cy="727"/>
              </a:xfrm>
              <a:grpFill/>
            </p:grpSpPr>
            <p:sp>
              <p:nvSpPr>
                <p:cNvPr id="26" name="Oval 32"/>
                <p:cNvSpPr>
                  <a:spLocks noChangeArrowheads="1"/>
                </p:cNvSpPr>
                <p:nvPr/>
              </p:nvSpPr>
              <p:spPr bwMode="auto">
                <a:xfrm>
                  <a:off x="4884" y="2430"/>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11</a:t>
                  </a:r>
                </a:p>
              </p:txBody>
            </p:sp>
            <p:sp>
              <p:nvSpPr>
                <p:cNvPr id="27" name="Line 33"/>
                <p:cNvSpPr>
                  <a:spLocks noChangeShapeType="1"/>
                </p:cNvSpPr>
                <p:nvPr/>
              </p:nvSpPr>
              <p:spPr bwMode="auto">
                <a:xfrm>
                  <a:off x="4733" y="1967"/>
                  <a:ext cx="293" cy="45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8" name="Text Box 34"/>
                <p:cNvSpPr txBox="1">
                  <a:spLocks noChangeArrowheads="1"/>
                </p:cNvSpPr>
                <p:nvPr/>
              </p:nvSpPr>
              <p:spPr bwMode="auto">
                <a:xfrm>
                  <a:off x="4821" y="2024"/>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=4</a:t>
                  </a:r>
                </a:p>
              </p:txBody>
            </p:sp>
          </p:grpSp>
          <p:grpSp>
            <p:nvGrpSpPr>
              <p:cNvPr id="20" name="Group 35"/>
              <p:cNvGrpSpPr>
                <a:grpSpLocks/>
              </p:cNvGrpSpPr>
              <p:nvPr/>
            </p:nvGrpSpPr>
            <p:grpSpPr bwMode="auto">
              <a:xfrm>
                <a:off x="3602" y="1980"/>
                <a:ext cx="580" cy="708"/>
                <a:chOff x="4154" y="1980"/>
                <a:chExt cx="580" cy="708"/>
              </a:xfrm>
              <a:grpFill/>
            </p:grpSpPr>
            <p:sp>
              <p:nvSpPr>
                <p:cNvPr id="23" name="Oval 36"/>
                <p:cNvSpPr>
                  <a:spLocks noChangeArrowheads="1"/>
                </p:cNvSpPr>
                <p:nvPr/>
              </p:nvSpPr>
              <p:spPr bwMode="auto">
                <a:xfrm>
                  <a:off x="4164" y="242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9</a:t>
                  </a:r>
                </a:p>
              </p:txBody>
            </p:sp>
            <p:sp>
              <p:nvSpPr>
                <p:cNvPr id="24" name="Line 37"/>
                <p:cNvSpPr>
                  <a:spLocks noChangeShapeType="1"/>
                </p:cNvSpPr>
                <p:nvPr/>
              </p:nvSpPr>
              <p:spPr bwMode="auto">
                <a:xfrm flipH="1">
                  <a:off x="4320" y="1980"/>
                  <a:ext cx="414" cy="44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5" name="Text Box 38"/>
                <p:cNvSpPr txBox="1">
                  <a:spLocks noChangeArrowheads="1"/>
                </p:cNvSpPr>
                <p:nvPr/>
              </p:nvSpPr>
              <p:spPr bwMode="auto">
                <a:xfrm>
                  <a:off x="4154" y="2038"/>
                  <a:ext cx="516"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=2</a:t>
                  </a:r>
                </a:p>
              </p:txBody>
            </p:sp>
          </p:grpSp>
          <p:sp>
            <p:nvSpPr>
              <p:cNvPr id="21" name="Text Box 39"/>
              <p:cNvSpPr txBox="1">
                <a:spLocks noChangeArrowheads="1"/>
              </p:cNvSpPr>
              <p:nvPr/>
            </p:nvSpPr>
            <p:spPr bwMode="auto">
              <a:xfrm>
                <a:off x="3666" y="2715"/>
                <a:ext cx="322"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22" name="Text Box 40"/>
              <p:cNvSpPr txBox="1">
                <a:spLocks noChangeArrowheads="1"/>
              </p:cNvSpPr>
              <p:nvPr/>
            </p:nvSpPr>
            <p:spPr bwMode="auto">
              <a:xfrm>
                <a:off x="4373" y="2694"/>
                <a:ext cx="349" cy="21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grpSp>
      <p:sp>
        <p:nvSpPr>
          <p:cNvPr id="42" name="Line 41"/>
          <p:cNvSpPr>
            <a:spLocks noChangeShapeType="1"/>
          </p:cNvSpPr>
          <p:nvPr/>
        </p:nvSpPr>
        <p:spPr bwMode="auto">
          <a:xfrm flipV="1">
            <a:off x="6458379" y="3066768"/>
            <a:ext cx="15875" cy="574676"/>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grpSp>
        <p:nvGrpSpPr>
          <p:cNvPr id="43" name="Group 42"/>
          <p:cNvGrpSpPr>
            <a:grpSpLocks/>
          </p:cNvGrpSpPr>
          <p:nvPr/>
        </p:nvGrpSpPr>
        <p:grpSpPr bwMode="auto">
          <a:xfrm>
            <a:off x="6920343" y="4099042"/>
            <a:ext cx="882650" cy="1123950"/>
            <a:chOff x="4478" y="1980"/>
            <a:chExt cx="556" cy="708"/>
          </a:xfrm>
          <a:noFill/>
        </p:grpSpPr>
        <p:sp>
          <p:nvSpPr>
            <p:cNvPr id="44" name="Oval 43"/>
            <p:cNvSpPr>
              <a:spLocks noChangeArrowheads="1"/>
            </p:cNvSpPr>
            <p:nvPr/>
          </p:nvSpPr>
          <p:spPr bwMode="auto">
            <a:xfrm>
              <a:off x="4665" y="2424"/>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14</a:t>
              </a:r>
            </a:p>
          </p:txBody>
        </p:sp>
        <p:sp>
          <p:nvSpPr>
            <p:cNvPr id="45" name="Line 44"/>
            <p:cNvSpPr>
              <a:spLocks noChangeShapeType="1"/>
            </p:cNvSpPr>
            <p:nvPr/>
          </p:nvSpPr>
          <p:spPr bwMode="auto">
            <a:xfrm flipH="1">
              <a:off x="4808" y="1980"/>
              <a:ext cx="226" cy="44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46" name="Text Box 45"/>
            <p:cNvSpPr txBox="1">
              <a:spLocks noChangeArrowheads="1"/>
            </p:cNvSpPr>
            <p:nvPr/>
          </p:nvSpPr>
          <p:spPr bwMode="auto">
            <a:xfrm>
              <a:off x="4478" y="2140"/>
              <a:ext cx="516"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=2</a:t>
              </a:r>
            </a:p>
          </p:txBody>
        </p:sp>
      </p:grpSp>
      <p:sp>
        <p:nvSpPr>
          <p:cNvPr id="47" name="Text Box 46"/>
          <p:cNvSpPr txBox="1">
            <a:spLocks noChangeArrowheads="1"/>
          </p:cNvSpPr>
          <p:nvPr/>
        </p:nvSpPr>
        <p:spPr bwMode="auto">
          <a:xfrm>
            <a:off x="7267850" y="6381866"/>
            <a:ext cx="597056"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nvGrpSpPr>
          <p:cNvPr id="48" name="Group 158"/>
          <p:cNvGrpSpPr>
            <a:grpSpLocks/>
          </p:cNvGrpSpPr>
          <p:nvPr/>
        </p:nvGrpSpPr>
        <p:grpSpPr bwMode="auto">
          <a:xfrm>
            <a:off x="7855383" y="4099042"/>
            <a:ext cx="1093788" cy="1123950"/>
            <a:chOff x="4707" y="1968"/>
            <a:chExt cx="689" cy="708"/>
          </a:xfrm>
          <a:noFill/>
        </p:grpSpPr>
        <p:sp>
          <p:nvSpPr>
            <p:cNvPr id="49" name="Oval 159"/>
            <p:cNvSpPr>
              <a:spLocks noChangeArrowheads="1"/>
            </p:cNvSpPr>
            <p:nvPr/>
          </p:nvSpPr>
          <p:spPr bwMode="auto">
            <a:xfrm>
              <a:off x="4881" y="2412"/>
              <a:ext cx="288" cy="264"/>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16</a:t>
              </a:r>
            </a:p>
          </p:txBody>
        </p:sp>
        <p:sp>
          <p:nvSpPr>
            <p:cNvPr id="50" name="Line 160"/>
            <p:cNvSpPr>
              <a:spLocks noChangeShapeType="1"/>
            </p:cNvSpPr>
            <p:nvPr/>
          </p:nvSpPr>
          <p:spPr bwMode="auto">
            <a:xfrm>
              <a:off x="4707" y="1968"/>
              <a:ext cx="286" cy="450"/>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51" name="Text Box 161"/>
            <p:cNvSpPr txBox="1">
              <a:spLocks noChangeArrowheads="1"/>
            </p:cNvSpPr>
            <p:nvPr/>
          </p:nvSpPr>
          <p:spPr bwMode="auto">
            <a:xfrm>
              <a:off x="4856" y="2103"/>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lang="en-US" altLang="zh-CN" sz="2000" baseline="-25000" dirty="0">
                  <a:cs typeface="Arial" panose="020B0604020202020204" pitchFamily="34" charset="0"/>
                </a:rPr>
                <a:t>3</a:t>
              </a:r>
              <a:r>
                <a:rPr lang="en-US" altLang="zh-CN" sz="2000" dirty="0">
                  <a:cs typeface="Arial" panose="020B0604020202020204" pitchFamily="34" charset="0"/>
                </a:rPr>
                <a:t>=3</a:t>
              </a:r>
            </a:p>
          </p:txBody>
        </p:sp>
      </p:grpSp>
      <p:sp>
        <p:nvSpPr>
          <p:cNvPr id="52" name="Text Box 162"/>
          <p:cNvSpPr txBox="1">
            <a:spLocks noChangeArrowheads="1"/>
          </p:cNvSpPr>
          <p:nvPr/>
        </p:nvSpPr>
        <p:spPr bwMode="auto">
          <a:xfrm>
            <a:off x="8223466" y="5239272"/>
            <a:ext cx="575738"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53" name="Line 163"/>
          <p:cNvSpPr>
            <a:spLocks noChangeShapeType="1"/>
          </p:cNvSpPr>
          <p:nvPr/>
        </p:nvSpPr>
        <p:spPr bwMode="auto">
          <a:xfrm flipV="1">
            <a:off x="5802742" y="4087928"/>
            <a:ext cx="654050" cy="71596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sp>
        <p:nvSpPr>
          <p:cNvPr id="54" name="Line 164"/>
          <p:cNvSpPr>
            <a:spLocks noChangeShapeType="1"/>
          </p:cNvSpPr>
          <p:nvPr/>
        </p:nvSpPr>
        <p:spPr bwMode="auto">
          <a:xfrm flipH="1" flipV="1">
            <a:off x="6466317" y="4097257"/>
            <a:ext cx="431800" cy="70663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pSp>
        <p:nvGrpSpPr>
          <p:cNvPr id="55" name="Group 165"/>
          <p:cNvGrpSpPr>
            <a:grpSpLocks/>
          </p:cNvGrpSpPr>
          <p:nvPr/>
        </p:nvGrpSpPr>
        <p:grpSpPr bwMode="auto">
          <a:xfrm>
            <a:off x="7423366" y="4089519"/>
            <a:ext cx="371701" cy="1854724"/>
            <a:chOff x="4798" y="1974"/>
            <a:chExt cx="231" cy="1194"/>
          </a:xfrm>
          <a:noFill/>
        </p:grpSpPr>
        <p:sp>
          <p:nvSpPr>
            <p:cNvPr id="56" name="Line 166"/>
            <p:cNvSpPr>
              <a:spLocks noChangeShapeType="1"/>
            </p:cNvSpPr>
            <p:nvPr/>
          </p:nvSpPr>
          <p:spPr bwMode="auto">
            <a:xfrm flipH="1" flipV="1">
              <a:off x="4798" y="2715"/>
              <a:ext cx="7" cy="453"/>
            </a:xfrm>
            <a:prstGeom prst="line">
              <a:avLst/>
            </a:prstGeom>
            <a:grpFill/>
            <a:ln w="28575">
              <a:solidFill>
                <a:srgbClr val="FF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sp>
          <p:nvSpPr>
            <p:cNvPr id="57" name="Line 167"/>
            <p:cNvSpPr>
              <a:spLocks noChangeShapeType="1"/>
            </p:cNvSpPr>
            <p:nvPr/>
          </p:nvSpPr>
          <p:spPr bwMode="auto">
            <a:xfrm flipV="1">
              <a:off x="4809" y="1974"/>
              <a:ext cx="220" cy="438"/>
            </a:xfrm>
            <a:prstGeom prst="line">
              <a:avLst/>
            </a:prstGeom>
            <a:grpFill/>
            <a:ln w="28575">
              <a:solidFill>
                <a:srgbClr val="FF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pSp>
      <p:sp>
        <p:nvSpPr>
          <p:cNvPr id="58" name="Line 168"/>
          <p:cNvSpPr>
            <a:spLocks noChangeShapeType="1"/>
          </p:cNvSpPr>
          <p:nvPr/>
        </p:nvSpPr>
        <p:spPr bwMode="auto">
          <a:xfrm flipH="1" flipV="1">
            <a:off x="7863333" y="4114923"/>
            <a:ext cx="446074" cy="69849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zh-CN" altLang="en-US" sz="2000">
              <a:latin typeface="Arial" panose="020B0604020202020204" pitchFamily="34" charset="0"/>
              <a:cs typeface="Arial" panose="020B0604020202020204" pitchFamily="34" charset="0"/>
            </a:endParaRPr>
          </a:p>
        </p:txBody>
      </p:sp>
      <p:grpSp>
        <p:nvGrpSpPr>
          <p:cNvPr id="59" name="Group 4"/>
          <p:cNvGrpSpPr>
            <a:grpSpLocks/>
          </p:cNvGrpSpPr>
          <p:nvPr/>
        </p:nvGrpSpPr>
        <p:grpSpPr bwMode="auto">
          <a:xfrm>
            <a:off x="7575131" y="2064222"/>
            <a:ext cx="2127250" cy="954088"/>
            <a:chOff x="4308" y="692"/>
            <a:chExt cx="1340" cy="601"/>
          </a:xfrm>
          <a:noFill/>
        </p:grpSpPr>
        <p:sp>
          <p:nvSpPr>
            <p:cNvPr id="60" name="Oval 5"/>
            <p:cNvSpPr>
              <a:spLocks noChangeArrowheads="1"/>
            </p:cNvSpPr>
            <p:nvPr/>
          </p:nvSpPr>
          <p:spPr bwMode="auto">
            <a:xfrm>
              <a:off x="5360" y="1017"/>
              <a:ext cx="288" cy="276"/>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18</a:t>
              </a:r>
            </a:p>
          </p:txBody>
        </p:sp>
        <p:sp>
          <p:nvSpPr>
            <p:cNvPr id="61" name="Line 6"/>
            <p:cNvSpPr>
              <a:spLocks noChangeShapeType="1"/>
            </p:cNvSpPr>
            <p:nvPr/>
          </p:nvSpPr>
          <p:spPr bwMode="auto">
            <a:xfrm>
              <a:off x="4308" y="788"/>
              <a:ext cx="1196" cy="22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62" name="Text Box 7"/>
            <p:cNvSpPr txBox="1">
              <a:spLocks noChangeArrowheads="1"/>
            </p:cNvSpPr>
            <p:nvPr/>
          </p:nvSpPr>
          <p:spPr bwMode="auto">
            <a:xfrm>
              <a:off x="4892" y="692"/>
              <a:ext cx="552"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6600"/>
                  </a:solidFill>
                  <a:cs typeface="Arial" panose="020B0604020202020204" pitchFamily="34" charset="0"/>
                </a:rPr>
                <a:t>x</a:t>
              </a:r>
              <a:r>
                <a:rPr lang="en-US" altLang="zh-CN" sz="2000" baseline="-25000" dirty="0">
                  <a:solidFill>
                    <a:srgbClr val="006600"/>
                  </a:solidFill>
                  <a:cs typeface="Arial" panose="020B0604020202020204" pitchFamily="34" charset="0"/>
                </a:rPr>
                <a:t>1</a:t>
              </a:r>
              <a:r>
                <a:rPr lang="en-US" altLang="zh-CN" sz="2000" dirty="0">
                  <a:solidFill>
                    <a:srgbClr val="006600"/>
                  </a:solidFill>
                  <a:cs typeface="Arial" panose="020B0604020202020204" pitchFamily="34" charset="0"/>
                </a:rPr>
                <a:t>= 2</a:t>
              </a:r>
            </a:p>
          </p:txBody>
        </p:sp>
      </p:grpSp>
      <p:sp>
        <p:nvSpPr>
          <p:cNvPr id="63" name="Line 57"/>
          <p:cNvSpPr>
            <a:spLocks noChangeShapeType="1"/>
          </p:cNvSpPr>
          <p:nvPr/>
        </p:nvSpPr>
        <p:spPr bwMode="auto">
          <a:xfrm flipV="1">
            <a:off x="6494894" y="2219935"/>
            <a:ext cx="1031873" cy="420193"/>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64" name="Group 58"/>
          <p:cNvGrpSpPr>
            <a:grpSpLocks/>
          </p:cNvGrpSpPr>
          <p:nvPr/>
        </p:nvGrpSpPr>
        <p:grpSpPr bwMode="auto">
          <a:xfrm>
            <a:off x="8272893" y="3001884"/>
            <a:ext cx="1181100" cy="1084263"/>
            <a:chOff x="4440" y="1380"/>
            <a:chExt cx="744" cy="683"/>
          </a:xfrm>
          <a:noFill/>
        </p:grpSpPr>
        <p:sp>
          <p:nvSpPr>
            <p:cNvPr id="65" name="Oval 59"/>
            <p:cNvSpPr>
              <a:spLocks noChangeArrowheads="1"/>
            </p:cNvSpPr>
            <p:nvPr/>
          </p:nvSpPr>
          <p:spPr bwMode="auto">
            <a:xfrm>
              <a:off x="4470" y="1778"/>
              <a:ext cx="288" cy="285"/>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19</a:t>
              </a:r>
            </a:p>
          </p:txBody>
        </p:sp>
        <p:sp>
          <p:nvSpPr>
            <p:cNvPr id="66" name="Line 60"/>
            <p:cNvSpPr>
              <a:spLocks noChangeShapeType="1"/>
            </p:cNvSpPr>
            <p:nvPr/>
          </p:nvSpPr>
          <p:spPr bwMode="auto">
            <a:xfrm flipH="1">
              <a:off x="4676" y="1380"/>
              <a:ext cx="508" cy="401"/>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67" name="Text Box 61"/>
            <p:cNvSpPr txBox="1">
              <a:spLocks noChangeArrowheads="1"/>
            </p:cNvSpPr>
            <p:nvPr/>
          </p:nvSpPr>
          <p:spPr bwMode="auto">
            <a:xfrm>
              <a:off x="4440" y="1380"/>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a:solidFill>
                    <a:srgbClr val="006600"/>
                  </a:solidFill>
                  <a:cs typeface="Arial" panose="020B0604020202020204" pitchFamily="34" charset="0"/>
                </a:rPr>
                <a:t>x</a:t>
              </a:r>
              <a:r>
                <a:rPr lang="en-US" altLang="zh-CN" sz="2000" baseline="-25000">
                  <a:solidFill>
                    <a:srgbClr val="006600"/>
                  </a:solidFill>
                  <a:cs typeface="Arial" panose="020B0604020202020204" pitchFamily="34" charset="0"/>
                </a:rPr>
                <a:t>2</a:t>
              </a:r>
              <a:r>
                <a:rPr lang="en-US" altLang="zh-CN" sz="2000">
                  <a:solidFill>
                    <a:srgbClr val="006600"/>
                  </a:solidFill>
                  <a:cs typeface="Arial" panose="020B0604020202020204" pitchFamily="34" charset="0"/>
                </a:rPr>
                <a:t>= 1</a:t>
              </a:r>
            </a:p>
          </p:txBody>
        </p:sp>
      </p:grpSp>
      <p:grpSp>
        <p:nvGrpSpPr>
          <p:cNvPr id="68" name="Group 62"/>
          <p:cNvGrpSpPr>
            <a:grpSpLocks/>
          </p:cNvGrpSpPr>
          <p:nvPr/>
        </p:nvGrpSpPr>
        <p:grpSpPr bwMode="auto">
          <a:xfrm>
            <a:off x="9310269" y="3042739"/>
            <a:ext cx="1016000" cy="1025525"/>
            <a:chOff x="5092" y="1416"/>
            <a:chExt cx="640" cy="646"/>
          </a:xfrm>
          <a:noFill/>
        </p:grpSpPr>
        <p:sp>
          <p:nvSpPr>
            <p:cNvPr id="69" name="Oval 63"/>
            <p:cNvSpPr>
              <a:spLocks noChangeArrowheads="1"/>
            </p:cNvSpPr>
            <p:nvPr/>
          </p:nvSpPr>
          <p:spPr bwMode="auto">
            <a:xfrm>
              <a:off x="5092" y="1789"/>
              <a:ext cx="288" cy="273"/>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24</a:t>
              </a:r>
            </a:p>
          </p:txBody>
        </p:sp>
        <p:sp>
          <p:nvSpPr>
            <p:cNvPr id="70" name="Line 64"/>
            <p:cNvSpPr>
              <a:spLocks noChangeShapeType="1"/>
            </p:cNvSpPr>
            <p:nvPr/>
          </p:nvSpPr>
          <p:spPr bwMode="auto">
            <a:xfrm>
              <a:off x="5232" y="1416"/>
              <a:ext cx="4" cy="375"/>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71" name="Text Box 65"/>
            <p:cNvSpPr txBox="1">
              <a:spLocks noChangeArrowheads="1"/>
            </p:cNvSpPr>
            <p:nvPr/>
          </p:nvSpPr>
          <p:spPr bwMode="auto">
            <a:xfrm>
              <a:off x="5192" y="1456"/>
              <a:ext cx="540"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6600"/>
                  </a:solidFill>
                  <a:cs typeface="Arial" panose="020B0604020202020204" pitchFamily="34" charset="0"/>
                </a:rPr>
                <a:t>x</a:t>
              </a:r>
              <a:r>
                <a:rPr lang="en-US" altLang="zh-CN" sz="2000" baseline="-25000" dirty="0">
                  <a:solidFill>
                    <a:srgbClr val="006600"/>
                  </a:solidFill>
                  <a:cs typeface="Arial" panose="020B0604020202020204" pitchFamily="34" charset="0"/>
                </a:rPr>
                <a:t>2</a:t>
              </a:r>
              <a:r>
                <a:rPr lang="en-US" altLang="zh-CN" sz="2000" dirty="0">
                  <a:solidFill>
                    <a:srgbClr val="006600"/>
                  </a:solidFill>
                  <a:cs typeface="Arial" panose="020B0604020202020204" pitchFamily="34" charset="0"/>
                </a:rPr>
                <a:t>= 3</a:t>
              </a:r>
            </a:p>
          </p:txBody>
        </p:sp>
      </p:grpSp>
      <p:sp>
        <p:nvSpPr>
          <p:cNvPr id="72" name="Line 66"/>
          <p:cNvSpPr>
            <a:spLocks noChangeShapeType="1"/>
          </p:cNvSpPr>
          <p:nvPr/>
        </p:nvSpPr>
        <p:spPr bwMode="auto">
          <a:xfrm flipH="1" flipV="1">
            <a:off x="9530193" y="3020933"/>
            <a:ext cx="6350" cy="630238"/>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73" name="Line 67"/>
          <p:cNvSpPr>
            <a:spLocks noChangeShapeType="1"/>
          </p:cNvSpPr>
          <p:nvPr/>
        </p:nvSpPr>
        <p:spPr bwMode="auto">
          <a:xfrm flipV="1">
            <a:off x="8653893" y="3004510"/>
            <a:ext cx="808886" cy="633960"/>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74" name="Text Box 68"/>
          <p:cNvSpPr txBox="1">
            <a:spLocks noChangeArrowheads="1"/>
          </p:cNvSpPr>
          <p:nvPr/>
        </p:nvSpPr>
        <p:spPr bwMode="auto">
          <a:xfrm>
            <a:off x="8403066" y="4106422"/>
            <a:ext cx="557493"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sp>
        <p:nvSpPr>
          <p:cNvPr id="75" name="Text Box 69"/>
          <p:cNvSpPr txBox="1">
            <a:spLocks noChangeArrowheads="1"/>
          </p:cNvSpPr>
          <p:nvPr/>
        </p:nvSpPr>
        <p:spPr bwMode="auto">
          <a:xfrm>
            <a:off x="9405945" y="4097258"/>
            <a:ext cx="549697" cy="338554"/>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80000"/>
              </a:lnSpc>
              <a:spcBef>
                <a:spcPct val="50000"/>
              </a:spcBef>
            </a:pPr>
            <a:r>
              <a:rPr kumimoji="1" lang="en-US" altLang="zh-CN" sz="2000" dirty="0">
                <a:solidFill>
                  <a:srgbClr val="FF0000"/>
                </a:solidFill>
                <a:cs typeface="Arial" panose="020B0604020202020204" pitchFamily="34" charset="0"/>
              </a:rPr>
              <a:t>B</a:t>
            </a:r>
          </a:p>
        </p:txBody>
      </p:sp>
      <p:grpSp>
        <p:nvGrpSpPr>
          <p:cNvPr id="76" name="Group 184"/>
          <p:cNvGrpSpPr>
            <a:grpSpLocks/>
          </p:cNvGrpSpPr>
          <p:nvPr/>
        </p:nvGrpSpPr>
        <p:grpSpPr bwMode="auto">
          <a:xfrm>
            <a:off x="9603241" y="3017760"/>
            <a:ext cx="1497013" cy="1068388"/>
            <a:chOff x="4796" y="983"/>
            <a:chExt cx="943" cy="673"/>
          </a:xfrm>
          <a:noFill/>
        </p:grpSpPr>
        <p:sp>
          <p:nvSpPr>
            <p:cNvPr id="77" name="Oval 185"/>
            <p:cNvSpPr>
              <a:spLocks noChangeArrowheads="1"/>
            </p:cNvSpPr>
            <p:nvPr/>
          </p:nvSpPr>
          <p:spPr bwMode="auto">
            <a:xfrm>
              <a:off x="5352" y="1368"/>
              <a:ext cx="288" cy="288"/>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29</a:t>
              </a:r>
            </a:p>
          </p:txBody>
        </p:sp>
        <p:sp>
          <p:nvSpPr>
            <p:cNvPr id="78" name="Line 186"/>
            <p:cNvSpPr>
              <a:spLocks noChangeShapeType="1"/>
            </p:cNvSpPr>
            <p:nvPr/>
          </p:nvSpPr>
          <p:spPr bwMode="auto">
            <a:xfrm>
              <a:off x="4796" y="983"/>
              <a:ext cx="702" cy="384"/>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9" name="Text Box 187"/>
            <p:cNvSpPr txBox="1">
              <a:spLocks noChangeArrowheads="1"/>
            </p:cNvSpPr>
            <p:nvPr/>
          </p:nvSpPr>
          <p:spPr bwMode="auto">
            <a:xfrm>
              <a:off x="5187" y="1039"/>
              <a:ext cx="552"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6600"/>
                  </a:solidFill>
                  <a:cs typeface="Arial" panose="020B0604020202020204" pitchFamily="34" charset="0"/>
                </a:rPr>
                <a:t>x</a:t>
              </a:r>
              <a:r>
                <a:rPr lang="en-US" altLang="zh-CN" sz="2000" baseline="-25000" dirty="0">
                  <a:solidFill>
                    <a:srgbClr val="006600"/>
                  </a:solidFill>
                  <a:cs typeface="Arial" panose="020B0604020202020204" pitchFamily="34" charset="0"/>
                </a:rPr>
                <a:t>2</a:t>
              </a:r>
              <a:r>
                <a:rPr lang="en-US" altLang="zh-CN" sz="2000" dirty="0">
                  <a:solidFill>
                    <a:srgbClr val="006600"/>
                  </a:solidFill>
                  <a:cs typeface="Arial" panose="020B0604020202020204" pitchFamily="34" charset="0"/>
                </a:rPr>
                <a:t>= 4</a:t>
              </a:r>
            </a:p>
          </p:txBody>
        </p:sp>
      </p:grpSp>
      <p:graphicFrame>
        <p:nvGraphicFramePr>
          <p:cNvPr id="80" name="Group 4"/>
          <p:cNvGraphicFramePr>
            <a:graphicFrameLocks noGrp="1"/>
          </p:cNvGraphicFramePr>
          <p:nvPr>
            <p:extLst>
              <p:ext uri="{D42A27DB-BD31-4B8C-83A1-F6EECF244321}">
                <p14:modId xmlns:p14="http://schemas.microsoft.com/office/powerpoint/2010/main" val="1718408440"/>
              </p:ext>
            </p:extLst>
          </p:nvPr>
        </p:nvGraphicFramePr>
        <p:xfrm>
          <a:off x="911312" y="2120738"/>
          <a:ext cx="1295400" cy="1237436"/>
        </p:xfrm>
        <a:graphic>
          <a:graphicData uri="http://schemas.openxmlformats.org/drawingml/2006/table">
            <a:tbl>
              <a:tblPr/>
              <a:tblGrid>
                <a:gridCol w="323850">
                  <a:extLst>
                    <a:ext uri="{9D8B030D-6E8A-4147-A177-3AD203B41FA5}">
                      <a16:colId xmlns:a16="http://schemas.microsoft.com/office/drawing/2014/main" val="20000"/>
                    </a:ext>
                  </a:extLst>
                </a:gridCol>
                <a:gridCol w="323850">
                  <a:extLst>
                    <a:ext uri="{9D8B030D-6E8A-4147-A177-3AD203B41FA5}">
                      <a16:colId xmlns:a16="http://schemas.microsoft.com/office/drawing/2014/main" val="20001"/>
                    </a:ext>
                  </a:extLst>
                </a:gridCol>
                <a:gridCol w="3238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tblGrid>
              <a:tr h="309064">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45" marB="4574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9064">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9064">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9064">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81" name="Group 101"/>
          <p:cNvGraphicFramePr>
            <a:graphicFrameLocks noGrp="1"/>
          </p:cNvGraphicFramePr>
          <p:nvPr>
            <p:extLst>
              <p:ext uri="{D42A27DB-BD31-4B8C-83A1-F6EECF244321}">
                <p14:modId xmlns:p14="http://schemas.microsoft.com/office/powerpoint/2010/main" val="3973115430"/>
              </p:ext>
            </p:extLst>
          </p:nvPr>
        </p:nvGraphicFramePr>
        <p:xfrm>
          <a:off x="923219" y="3829317"/>
          <a:ext cx="1295400" cy="1237436"/>
        </p:xfrm>
        <a:graphic>
          <a:graphicData uri="http://schemas.openxmlformats.org/drawingml/2006/table">
            <a:tbl>
              <a:tblPr/>
              <a:tblGrid>
                <a:gridCol w="323850">
                  <a:extLst>
                    <a:ext uri="{9D8B030D-6E8A-4147-A177-3AD203B41FA5}">
                      <a16:colId xmlns:a16="http://schemas.microsoft.com/office/drawing/2014/main" val="20000"/>
                    </a:ext>
                  </a:extLst>
                </a:gridCol>
                <a:gridCol w="323850">
                  <a:extLst>
                    <a:ext uri="{9D8B030D-6E8A-4147-A177-3AD203B41FA5}">
                      <a16:colId xmlns:a16="http://schemas.microsoft.com/office/drawing/2014/main" val="20001"/>
                    </a:ext>
                  </a:extLst>
                </a:gridCol>
                <a:gridCol w="3238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tblGrid>
              <a:tr h="29797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45" marB="4574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9797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797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797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82" name="Text Box 182"/>
          <p:cNvSpPr txBox="1">
            <a:spLocks noChangeArrowheads="1"/>
          </p:cNvSpPr>
          <p:nvPr/>
        </p:nvSpPr>
        <p:spPr bwMode="auto">
          <a:xfrm>
            <a:off x="694143" y="778752"/>
            <a:ext cx="65737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342900" indent="-342900" eaLnBrk="1" hangingPunct="1">
              <a:spcBef>
                <a:spcPct val="50000"/>
              </a:spcBef>
              <a:buClr>
                <a:schemeClr val="accent1">
                  <a:lumMod val="75000"/>
                </a:schemeClr>
              </a:buClr>
              <a:buSzPct val="75000"/>
              <a:buFont typeface="Wingdings" panose="05000000000000000000" pitchFamily="2" charset="2"/>
              <a:buChar char="l"/>
            </a:pPr>
            <a:r>
              <a:rPr kumimoji="1" lang="zh-CN" altLang="en-US" sz="2400" dirty="0">
                <a:ea typeface="幼圆" panose="02010509060101010101" pitchFamily="49" charset="-122"/>
                <a:cs typeface="Arial" panose="020B0604020202020204" pitchFamily="34" charset="0"/>
              </a:rPr>
              <a:t>结点</a:t>
            </a:r>
            <a:r>
              <a:rPr kumimoji="1" lang="en-US" altLang="zh-CN" sz="2400" dirty="0">
                <a:cs typeface="Arial" panose="020B0604020202020204" pitchFamily="34" charset="0"/>
              </a:rPr>
              <a:t>29</a:t>
            </a:r>
            <a:r>
              <a:rPr kumimoji="1" lang="zh-CN" altLang="en-US" sz="2400" dirty="0">
                <a:cs typeface="Arial" panose="020B0604020202020204" pitchFamily="34" charset="0"/>
              </a:rPr>
              <a:t>生成结点</a:t>
            </a:r>
            <a:r>
              <a:rPr kumimoji="1" lang="en-US" altLang="zh-CN" sz="2400" dirty="0">
                <a:cs typeface="Arial" panose="020B0604020202020204" pitchFamily="34" charset="0"/>
              </a:rPr>
              <a:t>30, </a:t>
            </a:r>
            <a:r>
              <a:rPr kumimoji="1" lang="zh-CN" altLang="en-US" sz="2400" dirty="0">
                <a:cs typeface="Arial" panose="020B0604020202020204" pitchFamily="34" charset="0"/>
              </a:rPr>
              <a:t>路径变为</a:t>
            </a:r>
            <a:r>
              <a:rPr kumimoji="1" lang="en-US" altLang="zh-CN" sz="2400" dirty="0">
                <a:cs typeface="Arial" panose="020B0604020202020204" pitchFamily="34" charset="0"/>
              </a:rPr>
              <a:t>(2,4,1)</a:t>
            </a:r>
            <a:r>
              <a:rPr kumimoji="1" lang="zh-CN" altLang="en-US" sz="2400" dirty="0">
                <a:cs typeface="Arial" panose="020B0604020202020204" pitchFamily="34" charset="0"/>
              </a:rPr>
              <a:t>。</a:t>
            </a:r>
          </a:p>
        </p:txBody>
      </p:sp>
      <p:sp>
        <p:nvSpPr>
          <p:cNvPr id="83" name="Line 192"/>
          <p:cNvSpPr>
            <a:spLocks noChangeShapeType="1"/>
          </p:cNvSpPr>
          <p:nvPr/>
        </p:nvSpPr>
        <p:spPr bwMode="auto">
          <a:xfrm>
            <a:off x="1559496" y="3383787"/>
            <a:ext cx="0" cy="438150"/>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84" name="Group 128"/>
          <p:cNvGraphicFramePr>
            <a:graphicFrameLocks noGrp="1"/>
          </p:cNvGraphicFramePr>
          <p:nvPr>
            <p:extLst>
              <p:ext uri="{D42A27DB-BD31-4B8C-83A1-F6EECF244321}">
                <p14:modId xmlns:p14="http://schemas.microsoft.com/office/powerpoint/2010/main" val="1125937239"/>
              </p:ext>
            </p:extLst>
          </p:nvPr>
        </p:nvGraphicFramePr>
        <p:xfrm>
          <a:off x="2924590" y="3838368"/>
          <a:ext cx="1295400" cy="1237436"/>
        </p:xfrm>
        <a:graphic>
          <a:graphicData uri="http://schemas.openxmlformats.org/drawingml/2006/table">
            <a:tbl>
              <a:tblPr/>
              <a:tblGrid>
                <a:gridCol w="323850">
                  <a:extLst>
                    <a:ext uri="{9D8B030D-6E8A-4147-A177-3AD203B41FA5}">
                      <a16:colId xmlns:a16="http://schemas.microsoft.com/office/drawing/2014/main" val="20000"/>
                    </a:ext>
                  </a:extLst>
                </a:gridCol>
                <a:gridCol w="323850">
                  <a:extLst>
                    <a:ext uri="{9D8B030D-6E8A-4147-A177-3AD203B41FA5}">
                      <a16:colId xmlns:a16="http://schemas.microsoft.com/office/drawing/2014/main" val="20001"/>
                    </a:ext>
                  </a:extLst>
                </a:gridCol>
                <a:gridCol w="3238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tblGrid>
              <a:tr h="30596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45" marB="4574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596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596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3</a:t>
                      </a: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596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85" name="Text Box 183"/>
          <p:cNvSpPr txBox="1">
            <a:spLocks noChangeArrowheads="1"/>
          </p:cNvSpPr>
          <p:nvPr/>
        </p:nvSpPr>
        <p:spPr bwMode="auto">
          <a:xfrm>
            <a:off x="699554" y="1253731"/>
            <a:ext cx="10148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342900" indent="-342900" eaLnBrk="1" hangingPunct="1">
              <a:spcBef>
                <a:spcPct val="50000"/>
              </a:spcBef>
              <a:buClr>
                <a:schemeClr val="accent1">
                  <a:lumMod val="75000"/>
                </a:schemeClr>
              </a:buClr>
              <a:buSzPct val="75000"/>
              <a:buFont typeface="Wingdings" panose="05000000000000000000" pitchFamily="2" charset="2"/>
              <a:buChar char="l"/>
            </a:pPr>
            <a:r>
              <a:rPr kumimoji="1" lang="zh-CN" altLang="en-US" sz="2400" dirty="0">
                <a:ea typeface="幼圆" panose="02010509060101010101" pitchFamily="49" charset="-122"/>
                <a:cs typeface="Arial" panose="020B0604020202020204" pitchFamily="34" charset="0"/>
              </a:rPr>
              <a:t>结点</a:t>
            </a:r>
            <a:r>
              <a:rPr kumimoji="1" lang="en-US" altLang="zh-CN" sz="2400" dirty="0">
                <a:ea typeface="幼圆" panose="02010509060101010101" pitchFamily="49" charset="-122"/>
                <a:cs typeface="Arial" panose="020B0604020202020204" pitchFamily="34" charset="0"/>
              </a:rPr>
              <a:t>30</a:t>
            </a:r>
            <a:r>
              <a:rPr kumimoji="1" lang="zh-CN" altLang="en-US" sz="2400" dirty="0">
                <a:ea typeface="幼圆" panose="02010509060101010101" pitchFamily="49" charset="-122"/>
                <a:cs typeface="Arial" panose="020B0604020202020204" pitchFamily="34" charset="0"/>
              </a:rPr>
              <a:t>生成结点</a:t>
            </a:r>
            <a:r>
              <a:rPr kumimoji="1" lang="en-US" altLang="zh-CN" sz="2400" dirty="0">
                <a:ea typeface="幼圆" panose="02010509060101010101" pitchFamily="49" charset="-122"/>
                <a:cs typeface="Arial" panose="020B0604020202020204" pitchFamily="34" charset="0"/>
              </a:rPr>
              <a:t>31, </a:t>
            </a:r>
            <a:r>
              <a:rPr kumimoji="1" lang="zh-CN" altLang="en-US" sz="2400" dirty="0">
                <a:ea typeface="幼圆" panose="02010509060101010101" pitchFamily="49" charset="-122"/>
                <a:cs typeface="Arial" panose="020B0604020202020204" pitchFamily="34" charset="0"/>
              </a:rPr>
              <a:t>路径变为</a:t>
            </a:r>
            <a:r>
              <a:rPr kumimoji="1" lang="en-US" altLang="zh-CN" sz="2400" dirty="0">
                <a:ea typeface="幼圆" panose="02010509060101010101" pitchFamily="49" charset="-122"/>
                <a:cs typeface="Arial" panose="020B0604020202020204" pitchFamily="34" charset="0"/>
              </a:rPr>
              <a:t>(2,4,1,3), </a:t>
            </a:r>
            <a:r>
              <a:rPr kumimoji="1" lang="zh-CN" altLang="en-US" sz="2400" dirty="0">
                <a:ea typeface="幼圆" panose="02010509060101010101" pitchFamily="49" charset="-122"/>
                <a:cs typeface="Arial" panose="020B0604020202020204" pitchFamily="34" charset="0"/>
              </a:rPr>
              <a:t>找到一个</a:t>
            </a:r>
            <a:r>
              <a:rPr kumimoji="1" lang="en-US" altLang="zh-CN" sz="2400" dirty="0">
                <a:ea typeface="幼圆" panose="02010509060101010101" pitchFamily="49" charset="-122"/>
                <a:cs typeface="Arial" panose="020B0604020202020204" pitchFamily="34" charset="0"/>
              </a:rPr>
              <a:t>4-</a:t>
            </a:r>
            <a:r>
              <a:rPr kumimoji="1" lang="zh-CN" altLang="en-US" sz="2400" dirty="0">
                <a:ea typeface="幼圆" panose="02010509060101010101" pitchFamily="49" charset="-122"/>
                <a:cs typeface="Arial" panose="020B0604020202020204" pitchFamily="34" charset="0"/>
              </a:rPr>
              <a:t>皇后问题的可行解。</a:t>
            </a:r>
          </a:p>
        </p:txBody>
      </p:sp>
      <p:grpSp>
        <p:nvGrpSpPr>
          <p:cNvPr id="86" name="Group 188"/>
          <p:cNvGrpSpPr>
            <a:grpSpLocks/>
          </p:cNvGrpSpPr>
          <p:nvPr/>
        </p:nvGrpSpPr>
        <p:grpSpPr bwMode="auto">
          <a:xfrm>
            <a:off x="9788661" y="4078405"/>
            <a:ext cx="892175" cy="1146175"/>
            <a:chOff x="4922" y="1656"/>
            <a:chExt cx="562" cy="722"/>
          </a:xfrm>
          <a:noFill/>
        </p:grpSpPr>
        <p:sp>
          <p:nvSpPr>
            <p:cNvPr id="87" name="Oval 189"/>
            <p:cNvSpPr>
              <a:spLocks noChangeArrowheads="1"/>
            </p:cNvSpPr>
            <p:nvPr/>
          </p:nvSpPr>
          <p:spPr bwMode="auto">
            <a:xfrm>
              <a:off x="5032" y="2102"/>
              <a:ext cx="288" cy="276"/>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30</a:t>
              </a:r>
            </a:p>
          </p:txBody>
        </p:sp>
        <p:sp>
          <p:nvSpPr>
            <p:cNvPr id="88" name="Line 190"/>
            <p:cNvSpPr>
              <a:spLocks noChangeShapeType="1"/>
            </p:cNvSpPr>
            <p:nvPr/>
          </p:nvSpPr>
          <p:spPr bwMode="auto">
            <a:xfrm flipH="1">
              <a:off x="5187" y="1656"/>
              <a:ext cx="297" cy="447"/>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 name="Text Box 191"/>
            <p:cNvSpPr txBox="1">
              <a:spLocks noChangeArrowheads="1"/>
            </p:cNvSpPr>
            <p:nvPr/>
          </p:nvSpPr>
          <p:spPr bwMode="auto">
            <a:xfrm>
              <a:off x="4922" y="1711"/>
              <a:ext cx="516"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6600"/>
                  </a:solidFill>
                  <a:cs typeface="Arial" panose="020B0604020202020204" pitchFamily="34" charset="0"/>
                </a:rPr>
                <a:t>x</a:t>
              </a:r>
              <a:r>
                <a:rPr lang="en-US" altLang="zh-CN" sz="2000" baseline="-25000" dirty="0">
                  <a:solidFill>
                    <a:srgbClr val="006600"/>
                  </a:solidFill>
                  <a:cs typeface="Arial" panose="020B0604020202020204" pitchFamily="34" charset="0"/>
                </a:rPr>
                <a:t>3</a:t>
              </a:r>
              <a:r>
                <a:rPr lang="en-US" altLang="zh-CN" sz="2000" dirty="0">
                  <a:solidFill>
                    <a:srgbClr val="006600"/>
                  </a:solidFill>
                  <a:cs typeface="Arial" panose="020B0604020202020204" pitchFamily="34" charset="0"/>
                </a:rPr>
                <a:t>=1</a:t>
              </a:r>
            </a:p>
          </p:txBody>
        </p:sp>
      </p:grpSp>
      <p:sp>
        <p:nvSpPr>
          <p:cNvPr id="90" name="Line 193"/>
          <p:cNvSpPr>
            <a:spLocks noChangeShapeType="1"/>
          </p:cNvSpPr>
          <p:nvPr/>
        </p:nvSpPr>
        <p:spPr bwMode="auto">
          <a:xfrm flipV="1">
            <a:off x="2218618" y="4427331"/>
            <a:ext cx="736601" cy="15876"/>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91" name="Group 31"/>
          <p:cNvGrpSpPr>
            <a:grpSpLocks/>
          </p:cNvGrpSpPr>
          <p:nvPr/>
        </p:nvGrpSpPr>
        <p:grpSpPr bwMode="auto">
          <a:xfrm>
            <a:off x="9405946" y="5224888"/>
            <a:ext cx="1020763" cy="1074738"/>
            <a:chOff x="4720" y="2532"/>
            <a:chExt cx="643" cy="677"/>
          </a:xfrm>
          <a:noFill/>
        </p:grpSpPr>
        <p:sp>
          <p:nvSpPr>
            <p:cNvPr id="92" name="Oval 32"/>
            <p:cNvSpPr>
              <a:spLocks noChangeArrowheads="1"/>
            </p:cNvSpPr>
            <p:nvPr/>
          </p:nvSpPr>
          <p:spPr bwMode="auto">
            <a:xfrm>
              <a:off x="5075" y="2933"/>
              <a:ext cx="288" cy="276"/>
            </a:xfrm>
            <a:prstGeom prst="ellips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31</a:t>
              </a:r>
            </a:p>
          </p:txBody>
        </p:sp>
        <p:sp>
          <p:nvSpPr>
            <p:cNvPr id="93" name="Line 33"/>
            <p:cNvSpPr>
              <a:spLocks noChangeShapeType="1"/>
            </p:cNvSpPr>
            <p:nvPr/>
          </p:nvSpPr>
          <p:spPr bwMode="auto">
            <a:xfrm flipH="1">
              <a:off x="5218" y="2532"/>
              <a:ext cx="2" cy="401"/>
            </a:xfrm>
            <a:prstGeom prst="line">
              <a:avLst/>
            </a:prstGeom>
            <a:gr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4" name="Text Box 34"/>
            <p:cNvSpPr txBox="1">
              <a:spLocks noChangeArrowheads="1"/>
            </p:cNvSpPr>
            <p:nvPr/>
          </p:nvSpPr>
          <p:spPr bwMode="auto">
            <a:xfrm>
              <a:off x="4720" y="2621"/>
              <a:ext cx="552" cy="25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solidFill>
                    <a:srgbClr val="006600"/>
                  </a:solidFill>
                  <a:cs typeface="Arial" panose="020B0604020202020204" pitchFamily="34" charset="0"/>
                </a:rPr>
                <a:t>x</a:t>
              </a:r>
              <a:r>
                <a:rPr lang="en-US" altLang="zh-CN" sz="2000" baseline="-25000" dirty="0">
                  <a:solidFill>
                    <a:srgbClr val="006600"/>
                  </a:solidFill>
                  <a:cs typeface="Arial" panose="020B0604020202020204" pitchFamily="34" charset="0"/>
                </a:rPr>
                <a:t>4</a:t>
              </a:r>
              <a:r>
                <a:rPr lang="en-US" altLang="zh-CN" sz="2000" dirty="0">
                  <a:solidFill>
                    <a:srgbClr val="006600"/>
                  </a:solidFill>
                  <a:cs typeface="Arial" panose="020B0604020202020204" pitchFamily="34" charset="0"/>
                </a:rPr>
                <a:t>=3</a:t>
              </a:r>
            </a:p>
          </p:txBody>
        </p:sp>
      </p:grpSp>
      <p:graphicFrame>
        <p:nvGraphicFramePr>
          <p:cNvPr id="95" name="Group 155"/>
          <p:cNvGraphicFramePr>
            <a:graphicFrameLocks noGrp="1"/>
          </p:cNvGraphicFramePr>
          <p:nvPr>
            <p:extLst>
              <p:ext uri="{D42A27DB-BD31-4B8C-83A1-F6EECF244321}">
                <p14:modId xmlns:p14="http://schemas.microsoft.com/office/powerpoint/2010/main" val="4249540750"/>
              </p:ext>
            </p:extLst>
          </p:nvPr>
        </p:nvGraphicFramePr>
        <p:xfrm>
          <a:off x="2923852" y="2126972"/>
          <a:ext cx="1295400" cy="1241196"/>
        </p:xfrm>
        <a:graphic>
          <a:graphicData uri="http://schemas.openxmlformats.org/drawingml/2006/table">
            <a:tbl>
              <a:tblPr/>
              <a:tblGrid>
                <a:gridCol w="323850">
                  <a:extLst>
                    <a:ext uri="{9D8B030D-6E8A-4147-A177-3AD203B41FA5}">
                      <a16:colId xmlns:a16="http://schemas.microsoft.com/office/drawing/2014/main" val="20000"/>
                    </a:ext>
                  </a:extLst>
                </a:gridCol>
                <a:gridCol w="323850">
                  <a:extLst>
                    <a:ext uri="{9D8B030D-6E8A-4147-A177-3AD203B41FA5}">
                      <a16:colId xmlns:a16="http://schemas.microsoft.com/office/drawing/2014/main" val="20001"/>
                    </a:ext>
                  </a:extLst>
                </a:gridCol>
                <a:gridCol w="3238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tblGrid>
              <a:tr h="31029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45" marB="45745"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31029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1029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3</a:t>
                      </a: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10299">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4</a:t>
                      </a:r>
                    </a:p>
                  </a:txBody>
                  <a:tcPr marT="45745" marB="4574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70000"/>
                        </a:lnSpc>
                        <a:spcBef>
                          <a:spcPct val="0"/>
                        </a:spcBef>
                        <a:spcAft>
                          <a:spcPct val="0"/>
                        </a:spcAft>
                        <a:buClr>
                          <a:schemeClr val="bg1"/>
                        </a:buClr>
                        <a:buSzPct val="75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T="45745" marB="4574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96" name="Line 194"/>
          <p:cNvSpPr>
            <a:spLocks noChangeShapeType="1"/>
          </p:cNvSpPr>
          <p:nvPr/>
        </p:nvSpPr>
        <p:spPr bwMode="auto">
          <a:xfrm flipH="1" flipV="1">
            <a:off x="3571552" y="3357584"/>
            <a:ext cx="0" cy="476250"/>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 name="Line 57"/>
          <p:cNvSpPr>
            <a:spLocks noChangeShapeType="1"/>
          </p:cNvSpPr>
          <p:nvPr/>
        </p:nvSpPr>
        <p:spPr bwMode="auto">
          <a:xfrm flipH="1" flipV="1">
            <a:off x="6509047" y="3059357"/>
            <a:ext cx="1284410" cy="564222"/>
          </a:xfrm>
          <a:prstGeom prst="line">
            <a:avLst/>
          </a:prstGeom>
          <a:noFill/>
          <a:ln w="3810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109545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wipe(up)">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wipe(up)">
                                      <p:cBhvr>
                                        <p:cTn id="12" dur="5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8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wipe(up)">
                                      <p:cBhvr>
                                        <p:cTn id="25" dur="500"/>
                                        <p:tgtEl>
                                          <p:spTgt spid="8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0"/>
                                        </p:tgtEl>
                                        <p:attrNameLst>
                                          <p:attrName>style.visibility</p:attrName>
                                        </p:attrNameLst>
                                      </p:cBhvr>
                                      <p:to>
                                        <p:strVal val="visible"/>
                                      </p:to>
                                    </p:set>
                                    <p:animEffect transition="in" filter="wipe(left)">
                                      <p:cBhvr>
                                        <p:cTn id="30" dur="500"/>
                                        <p:tgtEl>
                                          <p:spTgt spid="9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1"/>
                                        </p:tgtEl>
                                        <p:attrNameLst>
                                          <p:attrName>style.visibility</p:attrName>
                                        </p:attrNameLst>
                                      </p:cBhvr>
                                      <p:to>
                                        <p:strVal val="visible"/>
                                      </p:to>
                                    </p:set>
                                    <p:animEffect transition="in" filter="wipe(up)">
                                      <p:cBhvr>
                                        <p:cTn id="43" dur="500"/>
                                        <p:tgtEl>
                                          <p:spTgt spid="9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96"/>
                                        </p:tgtEl>
                                        <p:attrNameLst>
                                          <p:attrName>style.visibility</p:attrName>
                                        </p:attrNameLst>
                                      </p:cBhvr>
                                      <p:to>
                                        <p:strVal val="visible"/>
                                      </p:to>
                                    </p:set>
                                    <p:animEffect transition="in" filter="wipe(down)">
                                      <p:cBhvr>
                                        <p:cTn id="48" dur="500"/>
                                        <p:tgtEl>
                                          <p:spTgt spid="96"/>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utoUpdateAnimBg="0"/>
      <p:bldP spid="83" grpId="0" animBg="1"/>
      <p:bldP spid="85" grpId="0" autoUpdateAnimBg="0"/>
      <p:bldP spid="90" grpId="0" animBg="1"/>
      <p:bldP spid="9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392" y="188640"/>
            <a:ext cx="10515600" cy="1325563"/>
          </a:xfrm>
        </p:spPr>
        <p:txBody>
          <a:bodyPr/>
          <a:lstStyle/>
          <a:p>
            <a:r>
              <a:rPr lang="zh-CN" altLang="en-US" dirty="0"/>
              <a:t>约束函数</a:t>
            </a:r>
          </a:p>
        </p:txBody>
      </p:sp>
      <p:sp>
        <p:nvSpPr>
          <p:cNvPr id="3" name="内容占位符 2"/>
          <p:cNvSpPr>
            <a:spLocks noGrp="1"/>
          </p:cNvSpPr>
          <p:nvPr>
            <p:ph idx="1"/>
          </p:nvPr>
        </p:nvSpPr>
        <p:spPr>
          <a:xfrm>
            <a:off x="623392" y="1500956"/>
            <a:ext cx="10515600" cy="3589010"/>
          </a:xfrm>
        </p:spPr>
        <p:txBody>
          <a:bodyPr/>
          <a:lstStyle/>
          <a:p>
            <a:r>
              <a:rPr lang="zh-CN" altLang="en-US" sz="2400" dirty="0"/>
              <a:t>在</a:t>
            </a:r>
            <a:r>
              <a:rPr lang="en-US" altLang="zh-CN" sz="2400" dirty="0"/>
              <a:t>n-</a:t>
            </a:r>
            <a:r>
              <a:rPr lang="zh-CN" altLang="en-US" sz="2400" dirty="0"/>
              <a:t>皇后问题中，</a:t>
            </a:r>
            <a:r>
              <a:rPr lang="en-US" altLang="zh-CN" sz="2400" dirty="0"/>
              <a:t>(x</a:t>
            </a:r>
            <a:r>
              <a:rPr lang="en-US" altLang="zh-CN" sz="2400" baseline="-25000" dirty="0"/>
              <a:t>1</a:t>
            </a:r>
            <a:r>
              <a:rPr lang="en-US" altLang="zh-CN" sz="2400" dirty="0"/>
              <a:t>,x</a:t>
            </a:r>
            <a:r>
              <a:rPr lang="en-US" altLang="zh-CN" sz="2400" baseline="-25000" dirty="0"/>
              <a:t>2</a:t>
            </a:r>
            <a:r>
              <a:rPr lang="en-US" altLang="zh-CN" sz="2400" dirty="0"/>
              <a:t>,..x</a:t>
            </a:r>
            <a:r>
              <a:rPr lang="en-US" altLang="zh-CN" sz="2400" baseline="-25000" dirty="0"/>
              <a:t>n</a:t>
            </a:r>
            <a:r>
              <a:rPr lang="en-US" altLang="zh-CN" sz="2400" dirty="0"/>
              <a:t>)</a:t>
            </a:r>
            <a:r>
              <a:rPr lang="zh-CN" altLang="en-US" sz="2400" dirty="0"/>
              <a:t>表示一个解，</a:t>
            </a:r>
            <a:r>
              <a:rPr lang="en-US" altLang="zh-CN" sz="2400" dirty="0"/>
              <a:t>x</a:t>
            </a:r>
            <a:r>
              <a:rPr lang="en-US" altLang="zh-CN" sz="2400" baseline="-25000" dirty="0"/>
              <a:t>i</a:t>
            </a:r>
            <a:r>
              <a:rPr lang="zh-CN" altLang="en-US" sz="2400" dirty="0"/>
              <a:t>表示第</a:t>
            </a:r>
            <a:r>
              <a:rPr lang="en-US" altLang="zh-CN" sz="2400" dirty="0" err="1"/>
              <a:t>i</a:t>
            </a:r>
            <a:r>
              <a:rPr lang="zh-CN" altLang="en-US" sz="2400" dirty="0"/>
              <a:t>个皇后放在第</a:t>
            </a:r>
            <a:r>
              <a:rPr lang="en-US" altLang="zh-CN" sz="2400" dirty="0" err="1"/>
              <a:t>i</a:t>
            </a:r>
            <a:r>
              <a:rPr lang="zh-CN" altLang="en-US" sz="2400" dirty="0"/>
              <a:t>行的列号。</a:t>
            </a:r>
            <a:endParaRPr lang="en-US" altLang="zh-CN" sz="2400" dirty="0"/>
          </a:p>
          <a:p>
            <a:endParaRPr lang="en-US" altLang="zh-CN" sz="2400" dirty="0"/>
          </a:p>
          <a:p>
            <a:r>
              <a:rPr lang="zh-CN" altLang="en-US" sz="2400" dirty="0"/>
              <a:t>同一条斜角线上的每个元素</a:t>
            </a:r>
            <a:endParaRPr lang="en-US" altLang="zh-CN" sz="2400" dirty="0"/>
          </a:p>
          <a:p>
            <a:pPr lvl="1"/>
            <a:r>
              <a:rPr lang="zh-CN" altLang="en-US" dirty="0"/>
              <a:t>由左到右具有相同的“</a:t>
            </a:r>
            <a:r>
              <a:rPr lang="zh-CN" altLang="en-US" dirty="0">
                <a:solidFill>
                  <a:srgbClr val="FF0000"/>
                </a:solidFill>
              </a:rPr>
              <a:t>行</a:t>
            </a:r>
            <a:r>
              <a:rPr lang="en-US" altLang="zh-CN" dirty="0">
                <a:solidFill>
                  <a:srgbClr val="FF0000"/>
                </a:solidFill>
              </a:rPr>
              <a:t>-</a:t>
            </a:r>
            <a:r>
              <a:rPr lang="zh-CN" altLang="en-US" dirty="0">
                <a:solidFill>
                  <a:srgbClr val="FF0000"/>
                </a:solidFill>
              </a:rPr>
              <a:t>列</a:t>
            </a:r>
            <a:r>
              <a:rPr lang="zh-CN" altLang="en-US" dirty="0"/>
              <a:t>”值</a:t>
            </a:r>
            <a:r>
              <a:rPr lang="en-US" altLang="zh-CN" dirty="0"/>
              <a:t>;</a:t>
            </a:r>
          </a:p>
          <a:p>
            <a:pPr lvl="1"/>
            <a:r>
              <a:rPr lang="zh-CN" altLang="en-US" dirty="0"/>
              <a:t>由右到左具有相同的“</a:t>
            </a:r>
            <a:r>
              <a:rPr lang="zh-CN" altLang="en-US" dirty="0">
                <a:solidFill>
                  <a:srgbClr val="FF0000"/>
                </a:solidFill>
              </a:rPr>
              <a:t>行</a:t>
            </a:r>
            <a:r>
              <a:rPr lang="en-US" altLang="zh-CN" dirty="0">
                <a:solidFill>
                  <a:srgbClr val="FF0000"/>
                </a:solidFill>
              </a:rPr>
              <a:t>+</a:t>
            </a:r>
            <a:r>
              <a:rPr lang="zh-CN" altLang="en-US" dirty="0">
                <a:solidFill>
                  <a:srgbClr val="FF0000"/>
                </a:solidFill>
              </a:rPr>
              <a:t>列</a:t>
            </a:r>
            <a:r>
              <a:rPr lang="zh-CN" altLang="en-US" dirty="0"/>
              <a:t>”值。</a:t>
            </a:r>
          </a:p>
          <a:p>
            <a:pPr lvl="1"/>
            <a:endParaRPr lang="zh-CN" altLang="en-US" sz="2000" dirty="0"/>
          </a:p>
          <a:p>
            <a:endParaRPr lang="zh-CN" altLang="en-US" sz="2400"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36</a:t>
            </a:fld>
            <a:endParaRPr lang="en-US" altLang="zh-CN" dirty="0"/>
          </a:p>
        </p:txBody>
      </p:sp>
      <p:graphicFrame>
        <p:nvGraphicFramePr>
          <p:cNvPr id="5" name="Group 95"/>
          <p:cNvGraphicFramePr>
            <a:graphicFrameLocks/>
          </p:cNvGraphicFramePr>
          <p:nvPr>
            <p:extLst>
              <p:ext uri="{D42A27DB-BD31-4B8C-83A1-F6EECF244321}">
                <p14:modId xmlns:p14="http://schemas.microsoft.com/office/powerpoint/2010/main" val="3244812878"/>
              </p:ext>
            </p:extLst>
          </p:nvPr>
        </p:nvGraphicFramePr>
        <p:xfrm>
          <a:off x="6240016" y="2132856"/>
          <a:ext cx="4495800" cy="3824287"/>
        </p:xfrm>
        <a:graphic>
          <a:graphicData uri="http://schemas.openxmlformats.org/drawingml/2006/table">
            <a:tbl>
              <a:tblPr/>
              <a:tblGrid>
                <a:gridCol w="5619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1975">
                  <a:extLst>
                    <a:ext uri="{9D8B030D-6E8A-4147-A177-3AD203B41FA5}">
                      <a16:colId xmlns:a16="http://schemas.microsoft.com/office/drawing/2014/main" val="20002"/>
                    </a:ext>
                  </a:extLst>
                </a:gridCol>
                <a:gridCol w="561975">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1975">
                  <a:extLst>
                    <a:ext uri="{9D8B030D-6E8A-4147-A177-3AD203B41FA5}">
                      <a16:colId xmlns:a16="http://schemas.microsoft.com/office/drawing/2014/main" val="20005"/>
                    </a:ext>
                  </a:extLst>
                </a:gridCol>
                <a:gridCol w="561975">
                  <a:extLst>
                    <a:ext uri="{9D8B030D-6E8A-4147-A177-3AD203B41FA5}">
                      <a16:colId xmlns:a16="http://schemas.microsoft.com/office/drawing/2014/main" val="20006"/>
                    </a:ext>
                  </a:extLst>
                </a:gridCol>
                <a:gridCol w="561975">
                  <a:extLst>
                    <a:ext uri="{9D8B030D-6E8A-4147-A177-3AD203B41FA5}">
                      <a16:colId xmlns:a16="http://schemas.microsoft.com/office/drawing/2014/main" val="20007"/>
                    </a:ext>
                  </a:extLst>
                </a:gridCol>
              </a:tblGrid>
              <a:tr h="468225">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11</a:t>
                      </a:r>
                    </a:p>
                  </a:txBody>
                  <a:tcPr marT="45711" marB="4571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12</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13</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14</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15</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16</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17</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18</a:t>
                      </a:r>
                    </a:p>
                  </a:txBody>
                  <a:tcPr marT="45711" marB="4571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469812">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21</a:t>
                      </a:r>
                    </a:p>
                  </a:txBody>
                  <a:tcPr marT="45711" marB="4571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22</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23</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24</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25</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26</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27</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28</a:t>
                      </a:r>
                    </a:p>
                  </a:txBody>
                  <a:tcPr marT="45711" marB="4571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5051">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31</a:t>
                      </a:r>
                    </a:p>
                  </a:txBody>
                  <a:tcPr marT="45711" marB="4571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32</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33</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34</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35</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36</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37</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38</a:t>
                      </a:r>
                    </a:p>
                  </a:txBody>
                  <a:tcPr marT="45711" marB="4571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69812">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41</a:t>
                      </a:r>
                    </a:p>
                  </a:txBody>
                  <a:tcPr marT="45711" marB="4571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42</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43</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44</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45</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46</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47</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48</a:t>
                      </a:r>
                    </a:p>
                  </a:txBody>
                  <a:tcPr marT="45711" marB="4571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68225">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51</a:t>
                      </a:r>
                    </a:p>
                  </a:txBody>
                  <a:tcPr marT="45711" marB="4571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52</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53</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54</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55</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56</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57</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58</a:t>
                      </a:r>
                    </a:p>
                  </a:txBody>
                  <a:tcPr marT="45711" marB="4571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4"/>
                  </a:ext>
                </a:extLst>
              </a:tr>
              <a:tr h="518142">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61</a:t>
                      </a:r>
                    </a:p>
                  </a:txBody>
                  <a:tcPr marT="45711" marB="4571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62</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63</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64</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65</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66</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67</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68</a:t>
                      </a:r>
                    </a:p>
                  </a:txBody>
                  <a:tcPr marT="45711" marB="4571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14254">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71</a:t>
                      </a:r>
                    </a:p>
                  </a:txBody>
                  <a:tcPr marT="45711" marB="4571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72</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73</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74</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75</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76</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77</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78</a:t>
                      </a:r>
                    </a:p>
                  </a:txBody>
                  <a:tcPr marT="45711" marB="4571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50766">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81</a:t>
                      </a:r>
                    </a:p>
                  </a:txBody>
                  <a:tcPr marT="45711" marB="4571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82</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83</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84</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85</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86</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a:ln>
                            <a:noFill/>
                          </a:ln>
                          <a:solidFill>
                            <a:schemeClr val="tx1"/>
                          </a:solidFill>
                          <a:effectLst/>
                          <a:latin typeface="Arial" panose="020B0604020202020204" pitchFamily="34" charset="0"/>
                          <a:ea typeface="宋体" pitchFamily="2" charset="-122"/>
                          <a:cs typeface="Arial" panose="020B0604020202020204" pitchFamily="34" charset="0"/>
                        </a:rPr>
                        <a:t>87</a:t>
                      </a:r>
                    </a:p>
                  </a:txBody>
                  <a:tcPr marT="45711" marB="4571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7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a</a:t>
                      </a:r>
                      <a:r>
                        <a:rPr kumimoji="0" lang="en-US" altLang="zh-CN" sz="2000" b="0" i="0" u="none" strike="noStrike" cap="none" normalizeH="0" baseline="-25000" dirty="0">
                          <a:ln>
                            <a:noFill/>
                          </a:ln>
                          <a:solidFill>
                            <a:schemeClr val="tx1"/>
                          </a:solidFill>
                          <a:effectLst/>
                          <a:latin typeface="Arial" panose="020B0604020202020204" pitchFamily="34" charset="0"/>
                          <a:ea typeface="宋体" pitchFamily="2" charset="-122"/>
                          <a:cs typeface="Arial" panose="020B0604020202020204" pitchFamily="34" charset="0"/>
                        </a:rPr>
                        <a:t>88</a:t>
                      </a:r>
                    </a:p>
                  </a:txBody>
                  <a:tcPr marT="45711" marB="4571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4704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38200" y="235729"/>
            <a:ext cx="10515600" cy="1325563"/>
          </a:xfrm>
        </p:spPr>
        <p:txBody>
          <a:bodyPr/>
          <a:lstStyle/>
          <a:p>
            <a:pPr eaLnBrk="1" hangingPunct="1"/>
            <a:r>
              <a:rPr lang="zh-CN" altLang="en-US" dirty="0"/>
              <a:t>约束函数</a:t>
            </a:r>
            <a:endParaRPr lang="en-US" altLang="zh-CN" dirty="0"/>
          </a:p>
        </p:txBody>
      </p:sp>
      <p:sp>
        <p:nvSpPr>
          <p:cNvPr id="39939" name="Rectangle 3"/>
          <p:cNvSpPr>
            <a:spLocks noGrp="1" noChangeArrowheads="1"/>
          </p:cNvSpPr>
          <p:nvPr>
            <p:ph type="body" idx="1"/>
          </p:nvPr>
        </p:nvSpPr>
        <p:spPr>
          <a:xfrm>
            <a:off x="856928" y="3180912"/>
            <a:ext cx="10817970" cy="2552931"/>
          </a:xfrm>
        </p:spPr>
        <p:txBody>
          <a:bodyPr>
            <a:normAutofit/>
          </a:bodyPr>
          <a:lstStyle/>
          <a:p>
            <a:pPr eaLnBrk="1" hangingPunct="1">
              <a:buFont typeface="Wingdings" panose="05000000000000000000" pitchFamily="2" charset="2"/>
              <a:buNone/>
            </a:pP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前</a:t>
            </a:r>
            <a:r>
              <a:rPr kumimoji="1" lang="en-US" altLang="zh-CN" sz="2400" dirty="0">
                <a:latin typeface="Times New Roman" panose="02020603050405020304" pitchFamily="18" charset="0"/>
              </a:rPr>
              <a:t>k-1</a:t>
            </a:r>
            <a:r>
              <a:rPr kumimoji="1" lang="zh-CN" altLang="en-US" sz="2400" dirty="0">
                <a:latin typeface="Times New Roman" panose="02020603050405020304" pitchFamily="18" charset="0"/>
              </a:rPr>
              <a:t>行的皇后已经放置，现在确定第</a:t>
            </a:r>
            <a:r>
              <a:rPr kumimoji="1" lang="en-US" altLang="zh-CN" sz="2400" dirty="0">
                <a:latin typeface="Times New Roman" panose="02020603050405020304" pitchFamily="18" charset="0"/>
              </a:rPr>
              <a:t>k</a:t>
            </a:r>
            <a:r>
              <a:rPr kumimoji="1" lang="zh-CN" altLang="en-US" sz="2400" dirty="0">
                <a:latin typeface="Times New Roman" panose="02020603050405020304" pitchFamily="18" charset="0"/>
              </a:rPr>
              <a:t>行皇后欲放在</a:t>
            </a:r>
            <a:r>
              <a:rPr kumimoji="1" lang="en-US" altLang="zh-CN" sz="2400" dirty="0">
                <a:latin typeface="Times New Roman" panose="02020603050405020304" pitchFamily="18" charset="0"/>
              </a:rPr>
              <a:t>X(k)</a:t>
            </a:r>
            <a:r>
              <a:rPr kumimoji="1" lang="zh-CN" altLang="en-US" sz="2400" dirty="0">
                <a:latin typeface="Times New Roman" panose="02020603050405020304" pitchFamily="18" charset="0"/>
              </a:rPr>
              <a:t>列上，是否可以？</a:t>
            </a:r>
          </a:p>
          <a:p>
            <a:r>
              <a:rPr lang="zh-CN" altLang="en-US" sz="2400" dirty="0"/>
              <a:t>约束函数</a:t>
            </a:r>
            <a:r>
              <a:rPr lang="en-US" altLang="zh-CN" sz="2400" dirty="0"/>
              <a:t>PLACE(k)</a:t>
            </a:r>
            <a:r>
              <a:rPr lang="zh-CN" altLang="en-US" sz="2400" dirty="0"/>
              <a:t>的设计思想：</a:t>
            </a:r>
            <a:endParaRPr lang="en-US" altLang="zh-CN" sz="2400" dirty="0"/>
          </a:p>
          <a:p>
            <a:pPr lvl="1"/>
            <a:r>
              <a:rPr lang="zh-CN" altLang="en-US" dirty="0"/>
              <a:t>令</a:t>
            </a:r>
            <a:r>
              <a:rPr lang="en-US" altLang="zh-CN" dirty="0"/>
              <a:t>X(k)</a:t>
            </a:r>
            <a:r>
              <a:rPr lang="zh-CN" altLang="en-US" dirty="0"/>
              <a:t>与</a:t>
            </a:r>
            <a:r>
              <a:rPr lang="en-US" altLang="zh-CN" dirty="0"/>
              <a:t>X(</a:t>
            </a:r>
            <a:r>
              <a:rPr lang="en-US" altLang="zh-CN" dirty="0" err="1"/>
              <a:t>i</a:t>
            </a:r>
            <a:r>
              <a:rPr lang="en-US" altLang="zh-CN" dirty="0"/>
              <a:t>)</a:t>
            </a:r>
            <a:r>
              <a:rPr lang="zh-CN" altLang="en-US" dirty="0"/>
              <a:t>逐个比较，</a:t>
            </a:r>
            <a:r>
              <a:rPr lang="en-US" altLang="zh-CN" dirty="0" err="1"/>
              <a:t>i</a:t>
            </a:r>
            <a:r>
              <a:rPr lang="en-US" altLang="zh-CN" dirty="0"/>
              <a:t>=1..k-1</a:t>
            </a:r>
            <a:r>
              <a:rPr lang="zh-CN" altLang="en-US" dirty="0"/>
              <a:t>。</a:t>
            </a:r>
            <a:endParaRPr lang="en-US" altLang="zh-CN" dirty="0"/>
          </a:p>
          <a:p>
            <a:pPr lvl="1"/>
            <a:r>
              <a:rPr lang="zh-CN" altLang="en-US" dirty="0"/>
              <a:t>若存在</a:t>
            </a:r>
            <a:r>
              <a:rPr lang="en-US" altLang="zh-CN" dirty="0"/>
              <a:t>X(k)=X(</a:t>
            </a:r>
            <a:r>
              <a:rPr lang="en-US" altLang="zh-CN" dirty="0" err="1"/>
              <a:t>i</a:t>
            </a:r>
            <a:r>
              <a:rPr lang="en-US" altLang="zh-CN" dirty="0"/>
              <a:t>)</a:t>
            </a:r>
            <a:r>
              <a:rPr lang="zh-CN" altLang="en-US" dirty="0"/>
              <a:t>或者</a:t>
            </a:r>
            <a:r>
              <a:rPr lang="en-US" altLang="zh-CN" dirty="0"/>
              <a:t>|X(</a:t>
            </a:r>
            <a:r>
              <a:rPr lang="en-US" altLang="zh-CN" dirty="0" err="1"/>
              <a:t>i</a:t>
            </a:r>
            <a:r>
              <a:rPr lang="en-US" altLang="zh-CN" dirty="0"/>
              <a:t>)-X(k)|=|</a:t>
            </a:r>
            <a:r>
              <a:rPr lang="en-US" altLang="zh-CN" dirty="0" err="1"/>
              <a:t>i</a:t>
            </a:r>
            <a:r>
              <a:rPr lang="en-US" altLang="zh-CN" dirty="0"/>
              <a:t>-k|</a:t>
            </a:r>
            <a:r>
              <a:rPr lang="zh-CN" altLang="en-US" dirty="0"/>
              <a:t>，则返回</a:t>
            </a:r>
            <a:r>
              <a:rPr lang="en-US" altLang="zh-CN" dirty="0"/>
              <a:t>false</a:t>
            </a:r>
            <a:r>
              <a:rPr lang="zh-CN" altLang="en-US" dirty="0"/>
              <a:t>；否则返回</a:t>
            </a:r>
            <a:r>
              <a:rPr lang="en-US" altLang="zh-CN" dirty="0"/>
              <a:t>true</a:t>
            </a:r>
            <a:r>
              <a:rPr lang="zh-CN" altLang="en-US" dirty="0"/>
              <a:t>。</a:t>
            </a:r>
          </a:p>
        </p:txBody>
      </p:sp>
      <p:sp>
        <p:nvSpPr>
          <p:cNvPr id="5" name="Text Box 5"/>
          <p:cNvSpPr txBox="1">
            <a:spLocks noChangeArrowheads="1"/>
          </p:cNvSpPr>
          <p:nvPr/>
        </p:nvSpPr>
        <p:spPr bwMode="auto">
          <a:xfrm>
            <a:off x="839416" y="1547863"/>
            <a:ext cx="7922096"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marL="342900" indent="-342900">
              <a:lnSpc>
                <a:spcPct val="110000"/>
              </a:lnSpc>
              <a:spcBef>
                <a:spcPct val="50000"/>
              </a:spcBef>
              <a:buClr>
                <a:schemeClr val="accent1">
                  <a:lumMod val="75000"/>
                </a:schemeClr>
              </a:buClr>
              <a:buFont typeface="Wingdings" panose="05000000000000000000" pitchFamily="2" charset="2"/>
              <a:buChar char="l"/>
            </a:pPr>
            <a:r>
              <a:rPr kumimoji="1" lang="zh-CN" altLang="en-US" sz="2400" b="0" dirty="0">
                <a:ea typeface="幼圆" panose="02010509060101010101" pitchFamily="49" charset="-122"/>
                <a:cs typeface="Arial" panose="020B0604020202020204" pitchFamily="34" charset="0"/>
              </a:rPr>
              <a:t>设有两个皇后位于</a:t>
            </a:r>
            <a:r>
              <a:rPr kumimoji="1" lang="en-US" altLang="zh-CN" sz="2400" b="0" dirty="0">
                <a:ea typeface="幼圆" panose="02010509060101010101" pitchFamily="49" charset="-122"/>
                <a:cs typeface="Arial" panose="020B0604020202020204" pitchFamily="34" charset="0"/>
              </a:rPr>
              <a:t>(</a:t>
            </a:r>
            <a:r>
              <a:rPr kumimoji="1" lang="en-US" altLang="zh-CN" sz="2400" b="0" dirty="0" err="1">
                <a:ea typeface="幼圆" panose="02010509060101010101" pitchFamily="49" charset="-122"/>
                <a:cs typeface="Arial" panose="020B0604020202020204" pitchFamily="34" charset="0"/>
              </a:rPr>
              <a:t>i,X</a:t>
            </a:r>
            <a:r>
              <a:rPr kumimoji="1" lang="en-US" altLang="zh-CN" sz="2400" b="0" dirty="0">
                <a:ea typeface="幼圆" panose="02010509060101010101" pitchFamily="49" charset="-122"/>
                <a:cs typeface="Arial" panose="020B0604020202020204" pitchFamily="34" charset="0"/>
              </a:rPr>
              <a:t>(</a:t>
            </a:r>
            <a:r>
              <a:rPr kumimoji="1" lang="en-US" altLang="zh-CN" sz="2400" b="0" dirty="0" err="1">
                <a:ea typeface="幼圆" panose="02010509060101010101" pitchFamily="49" charset="-122"/>
                <a:cs typeface="Arial" panose="020B0604020202020204" pitchFamily="34" charset="0"/>
              </a:rPr>
              <a:t>i</a:t>
            </a:r>
            <a:r>
              <a:rPr kumimoji="1" lang="en-US" altLang="zh-CN" sz="2400" b="0" dirty="0">
                <a:ea typeface="幼圆" panose="02010509060101010101" pitchFamily="49" charset="-122"/>
                <a:cs typeface="Arial" panose="020B0604020202020204" pitchFamily="34" charset="0"/>
              </a:rPr>
              <a:t>))</a:t>
            </a:r>
            <a:r>
              <a:rPr kumimoji="1" lang="zh-CN" altLang="en-US" sz="2400" b="0" dirty="0">
                <a:ea typeface="幼圆" panose="02010509060101010101" pitchFamily="49" charset="-122"/>
                <a:cs typeface="Arial" panose="020B0604020202020204" pitchFamily="34" charset="0"/>
              </a:rPr>
              <a:t>和</a:t>
            </a:r>
            <a:r>
              <a:rPr kumimoji="1" lang="en-US" altLang="zh-CN" sz="2400" b="0" dirty="0">
                <a:ea typeface="幼圆" panose="02010509060101010101" pitchFamily="49" charset="-122"/>
                <a:cs typeface="Arial" panose="020B0604020202020204" pitchFamily="34" charset="0"/>
              </a:rPr>
              <a:t>(</a:t>
            </a:r>
            <a:r>
              <a:rPr kumimoji="1" lang="en-US" altLang="zh-CN" sz="2400" b="0" dirty="0" err="1">
                <a:ea typeface="幼圆" panose="02010509060101010101" pitchFamily="49" charset="-122"/>
                <a:cs typeface="Arial" panose="020B0604020202020204" pitchFamily="34" charset="0"/>
              </a:rPr>
              <a:t>k,X</a:t>
            </a:r>
            <a:r>
              <a:rPr kumimoji="1" lang="en-US" altLang="zh-CN" sz="2400" b="0" dirty="0">
                <a:ea typeface="幼圆" panose="02010509060101010101" pitchFamily="49" charset="-122"/>
                <a:cs typeface="Arial" panose="020B0604020202020204" pitchFamily="34" charset="0"/>
              </a:rPr>
              <a:t>(k))</a:t>
            </a:r>
            <a:r>
              <a:rPr kumimoji="1" lang="zh-CN" altLang="en-US" sz="2400" b="0" dirty="0">
                <a:ea typeface="幼圆" panose="02010509060101010101" pitchFamily="49" charset="-122"/>
                <a:cs typeface="Arial" panose="020B0604020202020204" pitchFamily="34" charset="0"/>
              </a:rPr>
              <a:t>位置上</a:t>
            </a:r>
          </a:p>
        </p:txBody>
      </p:sp>
      <p:grpSp>
        <p:nvGrpSpPr>
          <p:cNvPr id="6" name="组合 5"/>
          <p:cNvGrpSpPr/>
          <p:nvPr/>
        </p:nvGrpSpPr>
        <p:grpSpPr>
          <a:xfrm>
            <a:off x="2697883" y="2148739"/>
            <a:ext cx="5235896" cy="892374"/>
            <a:chOff x="1199456" y="4912890"/>
            <a:chExt cx="5235896" cy="892374"/>
          </a:xfrm>
        </p:grpSpPr>
        <p:sp>
          <p:nvSpPr>
            <p:cNvPr id="7" name="Text Box 6"/>
            <p:cNvSpPr txBox="1">
              <a:spLocks noChangeArrowheads="1"/>
            </p:cNvSpPr>
            <p:nvPr/>
          </p:nvSpPr>
          <p:spPr bwMode="auto">
            <a:xfrm>
              <a:off x="1199456" y="4912890"/>
              <a:ext cx="19442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b="0" dirty="0" err="1">
                  <a:cs typeface="Arial" panose="020B0604020202020204" pitchFamily="34" charset="0"/>
                </a:rPr>
                <a:t>i</a:t>
              </a:r>
              <a:r>
                <a:rPr lang="en-US" altLang="zh-CN" sz="2400" b="0" dirty="0">
                  <a:cs typeface="Arial" panose="020B0604020202020204" pitchFamily="34" charset="0"/>
                </a:rPr>
                <a:t> -X(</a:t>
              </a:r>
              <a:r>
                <a:rPr lang="en-US" altLang="zh-CN" sz="2400" b="0" dirty="0" err="1">
                  <a:cs typeface="Arial" panose="020B0604020202020204" pitchFamily="34" charset="0"/>
                </a:rPr>
                <a:t>i</a:t>
              </a:r>
              <a:r>
                <a:rPr lang="en-US" altLang="zh-CN" sz="2400" b="0" dirty="0">
                  <a:cs typeface="Arial" panose="020B0604020202020204" pitchFamily="34" charset="0"/>
                </a:rPr>
                <a:t>)=k-X(k)</a:t>
              </a:r>
            </a:p>
          </p:txBody>
        </p:sp>
        <p:sp>
          <p:nvSpPr>
            <p:cNvPr id="8" name="Text Box 7"/>
            <p:cNvSpPr txBox="1">
              <a:spLocks noChangeArrowheads="1"/>
            </p:cNvSpPr>
            <p:nvPr/>
          </p:nvSpPr>
          <p:spPr bwMode="auto">
            <a:xfrm>
              <a:off x="1199456" y="5343599"/>
              <a:ext cx="19442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b="0" dirty="0" err="1">
                  <a:cs typeface="Arial" panose="020B0604020202020204" pitchFamily="34" charset="0"/>
                </a:rPr>
                <a:t>i+X</a:t>
              </a:r>
              <a:r>
                <a:rPr lang="en-US" altLang="zh-CN" sz="2400" b="0" dirty="0">
                  <a:cs typeface="Arial" panose="020B0604020202020204" pitchFamily="34" charset="0"/>
                </a:rPr>
                <a:t>(</a:t>
              </a:r>
              <a:r>
                <a:rPr lang="en-US" altLang="zh-CN" sz="2400" b="0" dirty="0" err="1">
                  <a:cs typeface="Arial" panose="020B0604020202020204" pitchFamily="34" charset="0"/>
                </a:rPr>
                <a:t>i</a:t>
              </a:r>
              <a:r>
                <a:rPr lang="en-US" altLang="zh-CN" sz="2400" b="0" dirty="0">
                  <a:cs typeface="Arial" panose="020B0604020202020204" pitchFamily="34" charset="0"/>
                </a:rPr>
                <a:t>)=</a:t>
              </a:r>
              <a:r>
                <a:rPr lang="en-US" altLang="zh-CN" sz="2400" b="0" dirty="0" err="1">
                  <a:cs typeface="Arial" panose="020B0604020202020204" pitchFamily="34" charset="0"/>
                </a:rPr>
                <a:t>k+X</a:t>
              </a:r>
              <a:r>
                <a:rPr lang="en-US" altLang="zh-CN" sz="2400" b="0" dirty="0">
                  <a:cs typeface="Arial" panose="020B0604020202020204" pitchFamily="34" charset="0"/>
                </a:rPr>
                <a:t>(k)</a:t>
              </a:r>
            </a:p>
          </p:txBody>
        </p:sp>
        <p:sp>
          <p:nvSpPr>
            <p:cNvPr id="9" name="AutoShape 13"/>
            <p:cNvSpPr>
              <a:spLocks/>
            </p:cNvSpPr>
            <p:nvPr/>
          </p:nvSpPr>
          <p:spPr bwMode="auto">
            <a:xfrm>
              <a:off x="3181328" y="5095353"/>
              <a:ext cx="216840" cy="545902"/>
            </a:xfrm>
            <a:prstGeom prst="rightBrace">
              <a:avLst>
                <a:gd name="adj1" fmla="val 37500"/>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p>
          </p:txBody>
        </p:sp>
        <p:sp>
          <p:nvSpPr>
            <p:cNvPr id="10" name="Text Box 14"/>
            <p:cNvSpPr txBox="1">
              <a:spLocks noChangeArrowheads="1"/>
            </p:cNvSpPr>
            <p:nvPr/>
          </p:nvSpPr>
          <p:spPr bwMode="auto">
            <a:xfrm>
              <a:off x="4189436" y="5048571"/>
              <a:ext cx="2245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b="0" dirty="0"/>
                <a:t>|X(</a:t>
              </a:r>
              <a:r>
                <a:rPr lang="en-US" altLang="zh-CN" sz="2400" b="0" dirty="0" err="1"/>
                <a:t>i</a:t>
              </a:r>
              <a:r>
                <a:rPr lang="en-US" altLang="zh-CN" sz="2400" b="0" dirty="0"/>
                <a:t>)-X(k)|=|</a:t>
              </a:r>
              <a:r>
                <a:rPr lang="en-US" altLang="zh-CN" sz="2400" b="0" dirty="0" err="1"/>
                <a:t>i</a:t>
              </a:r>
              <a:r>
                <a:rPr lang="en-US" altLang="zh-CN" sz="2400" b="0" dirty="0"/>
                <a:t>-k|</a:t>
              </a:r>
            </a:p>
          </p:txBody>
        </p:sp>
        <p:sp>
          <p:nvSpPr>
            <p:cNvPr id="11" name="AutoShape 15"/>
            <p:cNvSpPr>
              <a:spLocks noChangeArrowheads="1"/>
            </p:cNvSpPr>
            <p:nvPr/>
          </p:nvSpPr>
          <p:spPr bwMode="auto">
            <a:xfrm>
              <a:off x="3542182" y="5283994"/>
              <a:ext cx="609600" cy="152400"/>
            </a:xfrm>
            <a:prstGeom prst="rightArrow">
              <a:avLst>
                <a:gd name="adj1" fmla="val 50000"/>
                <a:gd name="adj2" fmla="val 100000"/>
              </a:avLst>
            </a:prstGeom>
            <a:solidFill>
              <a:schemeClr val="accent1">
                <a:lumMod val="20000"/>
                <a:lumOff val="80000"/>
              </a:scheme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p>
          </p:txBody>
        </p:sp>
      </p:grpSp>
      <p:sp>
        <p:nvSpPr>
          <p:cNvPr id="12"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37</a:t>
            </a:fld>
            <a:endParaRPr lang="en-US" altLang="zh-CN" dirty="0"/>
          </a:p>
        </p:txBody>
      </p:sp>
    </p:spTree>
    <p:extLst>
      <p:ext uri="{BB962C8B-B14F-4D97-AF65-F5344CB8AC3E}">
        <p14:creationId xmlns:p14="http://schemas.microsoft.com/office/powerpoint/2010/main" val="1511498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911424" y="188640"/>
            <a:ext cx="8229600" cy="1143000"/>
          </a:xfrm>
        </p:spPr>
        <p:txBody>
          <a:bodyPr/>
          <a:lstStyle/>
          <a:p>
            <a:pPr eaLnBrk="1" hangingPunct="1"/>
            <a:r>
              <a:rPr lang="zh-CN" altLang="en-US" dirty="0"/>
              <a:t>算法</a:t>
            </a:r>
            <a:r>
              <a:rPr lang="en-US" altLang="zh-CN" dirty="0"/>
              <a:t>7.4 </a:t>
            </a:r>
            <a:r>
              <a:rPr lang="zh-CN" altLang="en-US" dirty="0"/>
              <a:t>能否放置一个新皇后？</a:t>
            </a:r>
          </a:p>
        </p:txBody>
      </p:sp>
      <p:sp>
        <p:nvSpPr>
          <p:cNvPr id="41987" name="Text Box 4"/>
          <p:cNvSpPr txBox="1">
            <a:spLocks noChangeArrowheads="1"/>
          </p:cNvSpPr>
          <p:nvPr/>
        </p:nvSpPr>
        <p:spPr bwMode="auto">
          <a:xfrm>
            <a:off x="1055440" y="1268760"/>
            <a:ext cx="9649072" cy="500444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accent1"/>
              </a:buClr>
              <a:buSzPct val="80000"/>
              <a:buFont typeface="Wingdings" panose="05000000000000000000" pitchFamily="2" charset="2"/>
              <a:buNone/>
            </a:pPr>
            <a:r>
              <a:rPr kumimoji="1" lang="en-US" altLang="zh-CN" sz="2400" b="0" dirty="0">
                <a:cs typeface="Arial" panose="020B0604020202020204" pitchFamily="34" charset="0"/>
              </a:rPr>
              <a:t>procedure  PLACE(k)</a:t>
            </a:r>
          </a:p>
          <a:p>
            <a:pPr>
              <a:lnSpc>
                <a:spcPct val="105000"/>
              </a:lnSpc>
              <a:spcBef>
                <a:spcPct val="15000"/>
              </a:spcBef>
              <a:buClr>
                <a:schemeClr val="accent1"/>
              </a:buClr>
              <a:buSzPct val="80000"/>
              <a:buNone/>
            </a:pPr>
            <a:r>
              <a:rPr kumimoji="1" lang="en-US" altLang="zh-CN" sz="2400" b="0" dirty="0">
                <a:ea typeface="幼圆" panose="02010509060101010101" pitchFamily="49" charset="-122"/>
                <a:cs typeface="Arial" panose="020B0604020202020204" pitchFamily="34" charset="0"/>
              </a:rPr>
              <a:t>//</a:t>
            </a:r>
            <a:r>
              <a:rPr kumimoji="1" lang="zh-CN" altLang="en-US" sz="2400" b="0" dirty="0">
                <a:ea typeface="幼圆" panose="02010509060101010101" pitchFamily="49" charset="-122"/>
                <a:cs typeface="Arial" panose="020B0604020202020204" pitchFamily="34" charset="0"/>
              </a:rPr>
              <a:t>若一个皇后能放在第</a:t>
            </a:r>
            <a:r>
              <a:rPr kumimoji="1" lang="en-US" altLang="zh-CN" sz="2400" b="0" dirty="0">
                <a:ea typeface="幼圆" panose="02010509060101010101" pitchFamily="49" charset="-122"/>
                <a:cs typeface="Arial" panose="020B0604020202020204" pitchFamily="34" charset="0"/>
              </a:rPr>
              <a:t>k</a:t>
            </a:r>
            <a:r>
              <a:rPr kumimoji="1" lang="zh-CN" altLang="en-US" sz="2400" b="0" dirty="0">
                <a:ea typeface="幼圆" panose="02010509060101010101" pitchFamily="49" charset="-122"/>
                <a:cs typeface="Arial" panose="020B0604020202020204" pitchFamily="34" charset="0"/>
              </a:rPr>
              <a:t>行和第</a:t>
            </a:r>
            <a:r>
              <a:rPr kumimoji="1" lang="en-US" altLang="zh-CN" sz="2400" b="0" dirty="0">
                <a:ea typeface="幼圆" panose="02010509060101010101" pitchFamily="49" charset="-122"/>
                <a:cs typeface="Arial" panose="020B0604020202020204" pitchFamily="34" charset="0"/>
              </a:rPr>
              <a:t>X(k)</a:t>
            </a:r>
            <a:r>
              <a:rPr kumimoji="1" lang="zh-CN" altLang="en-US" sz="2400" b="0" dirty="0">
                <a:ea typeface="幼圆" panose="02010509060101010101" pitchFamily="49" charset="-122"/>
                <a:cs typeface="Arial" panose="020B0604020202020204" pitchFamily="34" charset="0"/>
              </a:rPr>
              <a:t>列</a:t>
            </a:r>
            <a:r>
              <a:rPr kumimoji="1" lang="en-US" altLang="zh-CN" sz="2400" b="0" dirty="0">
                <a:ea typeface="幼圆" panose="02010509060101010101" pitchFamily="49" charset="-122"/>
                <a:cs typeface="Arial" panose="020B0604020202020204" pitchFamily="34" charset="0"/>
              </a:rPr>
              <a:t>, </a:t>
            </a:r>
            <a:r>
              <a:rPr kumimoji="1" lang="zh-CN" altLang="en-US" sz="2400" b="0" dirty="0">
                <a:ea typeface="幼圆" panose="02010509060101010101" pitchFamily="49" charset="-122"/>
                <a:cs typeface="Arial" panose="020B0604020202020204" pitchFamily="34" charset="0"/>
              </a:rPr>
              <a:t>则返回</a:t>
            </a:r>
            <a:r>
              <a:rPr kumimoji="1" lang="en-US" altLang="zh-CN" sz="2400" b="0" dirty="0">
                <a:ea typeface="幼圆" panose="02010509060101010101" pitchFamily="49" charset="-122"/>
                <a:cs typeface="Arial" panose="020B0604020202020204" pitchFamily="34" charset="0"/>
              </a:rPr>
              <a:t>true, </a:t>
            </a:r>
            <a:r>
              <a:rPr kumimoji="1" lang="zh-CN" altLang="en-US" sz="2400" b="0" dirty="0">
                <a:ea typeface="幼圆" panose="02010509060101010101" pitchFamily="49" charset="-122"/>
                <a:cs typeface="Arial" panose="020B0604020202020204" pitchFamily="34" charset="0"/>
              </a:rPr>
              <a:t>否则返回</a:t>
            </a:r>
            <a:r>
              <a:rPr kumimoji="1" lang="en-US" altLang="zh-CN" sz="2400" b="0" dirty="0">
                <a:ea typeface="幼圆" panose="02010509060101010101" pitchFamily="49" charset="-122"/>
                <a:cs typeface="Arial" panose="020B0604020202020204" pitchFamily="34" charset="0"/>
              </a:rPr>
              <a:t>false</a:t>
            </a:r>
            <a:r>
              <a:rPr kumimoji="1" lang="zh-CN" altLang="en-US" sz="2400" b="0" dirty="0">
                <a:ea typeface="幼圆" panose="02010509060101010101" pitchFamily="49" charset="-122"/>
                <a:cs typeface="Arial" panose="020B0604020202020204" pitchFamily="34" charset="0"/>
              </a:rPr>
              <a:t>。</a:t>
            </a:r>
          </a:p>
          <a:p>
            <a:pPr>
              <a:lnSpc>
                <a:spcPct val="105000"/>
              </a:lnSpc>
              <a:spcBef>
                <a:spcPct val="15000"/>
              </a:spcBef>
              <a:buClr>
                <a:schemeClr val="accent1"/>
              </a:buClr>
              <a:buSzPct val="80000"/>
              <a:buNone/>
            </a:pPr>
            <a:r>
              <a:rPr kumimoji="1" lang="en-US" altLang="zh-CN" sz="2400" b="0" dirty="0">
                <a:ea typeface="幼圆" panose="02010509060101010101" pitchFamily="49" charset="-122"/>
                <a:cs typeface="Arial" panose="020B0604020202020204" pitchFamily="34" charset="0"/>
              </a:rPr>
              <a:t>//X</a:t>
            </a:r>
            <a:r>
              <a:rPr kumimoji="1" lang="zh-CN" altLang="en-US" sz="2400" b="0" dirty="0">
                <a:ea typeface="幼圆" panose="02010509060101010101" pitchFamily="49" charset="-122"/>
                <a:cs typeface="Arial" panose="020B0604020202020204" pitchFamily="34" charset="0"/>
              </a:rPr>
              <a:t>是全局数组</a:t>
            </a:r>
            <a:r>
              <a:rPr kumimoji="1" lang="en-US" altLang="zh-CN" sz="2400" b="0" dirty="0">
                <a:ea typeface="幼圆" panose="02010509060101010101" pitchFamily="49" charset="-122"/>
                <a:cs typeface="Arial" panose="020B0604020202020204" pitchFamily="34" charset="0"/>
              </a:rPr>
              <a:t>, </a:t>
            </a:r>
            <a:r>
              <a:rPr kumimoji="1" lang="zh-CN" altLang="en-US" sz="2400" b="0" dirty="0">
                <a:ea typeface="幼圆" panose="02010509060101010101" pitchFamily="49" charset="-122"/>
                <a:cs typeface="Arial" panose="020B0604020202020204" pitchFamily="34" charset="0"/>
              </a:rPr>
              <a:t>进入此过程时已置入了前</a:t>
            </a:r>
            <a:r>
              <a:rPr kumimoji="1" lang="en-US" altLang="zh-CN" sz="2400" b="0" dirty="0">
                <a:ea typeface="幼圆" panose="02010509060101010101" pitchFamily="49" charset="-122"/>
                <a:cs typeface="Arial" panose="020B0604020202020204" pitchFamily="34" charset="0"/>
              </a:rPr>
              <a:t>k</a:t>
            </a:r>
            <a:r>
              <a:rPr kumimoji="1" lang="zh-CN" altLang="en-US" sz="2400" b="0" dirty="0">
                <a:ea typeface="幼圆" panose="02010509060101010101" pitchFamily="49" charset="-122"/>
                <a:cs typeface="Arial" panose="020B0604020202020204" pitchFamily="34" charset="0"/>
              </a:rPr>
              <a:t>个值</a:t>
            </a:r>
            <a:r>
              <a:rPr kumimoji="1" lang="en-US" altLang="zh-CN" sz="2400" b="0" dirty="0">
                <a:ea typeface="幼圆" panose="02010509060101010101" pitchFamily="49" charset="-122"/>
                <a:cs typeface="Arial" panose="020B0604020202020204" pitchFamily="34" charset="0"/>
              </a:rPr>
              <a:t>, ABS</a:t>
            </a:r>
            <a:r>
              <a:rPr kumimoji="1" lang="zh-CN" altLang="en-US" sz="2400" b="0" dirty="0">
                <a:ea typeface="幼圆" panose="02010509060101010101" pitchFamily="49" charset="-122"/>
                <a:cs typeface="Arial" panose="020B0604020202020204" pitchFamily="34" charset="0"/>
              </a:rPr>
              <a:t>是绝对值函数。</a:t>
            </a:r>
          </a:p>
          <a:p>
            <a:pPr eaLnBrk="1" hangingPunct="1">
              <a:spcBef>
                <a:spcPts val="0"/>
              </a:spcBef>
              <a:buClr>
                <a:schemeClr val="accent1"/>
              </a:buClr>
              <a:buSzPct val="80000"/>
              <a:buFont typeface="Wingdings" panose="05000000000000000000" pitchFamily="2" charset="2"/>
              <a:buNone/>
            </a:pPr>
            <a:r>
              <a:rPr kumimoji="1" lang="en-US" altLang="zh-CN" sz="2400" b="0" dirty="0" err="1">
                <a:cs typeface="Arial" panose="020B0604020202020204" pitchFamily="34" charset="0"/>
              </a:rPr>
              <a:t>int</a:t>
            </a:r>
            <a:r>
              <a:rPr kumimoji="1" lang="en-US" altLang="zh-CN" sz="2400" b="0" dirty="0">
                <a:cs typeface="Arial" panose="020B0604020202020204" pitchFamily="34" charset="0"/>
              </a:rPr>
              <a:t>  </a:t>
            </a:r>
            <a:r>
              <a:rPr kumimoji="1" lang="en-US" altLang="zh-CN" sz="2400" b="0" dirty="0" err="1">
                <a:cs typeface="Arial" panose="020B0604020202020204" pitchFamily="34" charset="0"/>
              </a:rPr>
              <a:t>i</a:t>
            </a:r>
            <a:r>
              <a:rPr kumimoji="1" lang="en-US" altLang="zh-CN" sz="2400" b="0" dirty="0">
                <a:cs typeface="Arial" panose="020B0604020202020204" pitchFamily="34" charset="0"/>
              </a:rPr>
              <a:t> , k</a:t>
            </a:r>
          </a:p>
          <a:p>
            <a:pPr eaLnBrk="1" hangingPunct="1">
              <a:spcBef>
                <a:spcPts val="0"/>
              </a:spcBef>
              <a:buClr>
                <a:schemeClr val="accent1"/>
              </a:buClr>
              <a:buSzPct val="80000"/>
              <a:buFont typeface="Wingdings" panose="05000000000000000000" pitchFamily="2" charset="2"/>
              <a:buNone/>
            </a:pPr>
            <a:r>
              <a:rPr kumimoji="1" lang="en-US" altLang="zh-CN" sz="2400" b="0" dirty="0">
                <a:cs typeface="Arial" panose="020B0604020202020204" pitchFamily="34" charset="0"/>
              </a:rPr>
              <a:t>i</a:t>
            </a:r>
            <a:r>
              <a:rPr kumimoji="1" lang="en-US" altLang="zh-CN" sz="2400" b="0" dirty="0">
                <a:cs typeface="Arial" panose="020B0604020202020204" pitchFamily="34" charset="0"/>
                <a:sym typeface="Wingdings" panose="05000000000000000000" pitchFamily="2" charset="2"/>
              </a:rPr>
              <a:t>←1</a:t>
            </a:r>
          </a:p>
          <a:p>
            <a:pPr eaLnBrk="1" hangingPunct="1">
              <a:spcBef>
                <a:spcPts val="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while ( </a:t>
            </a:r>
            <a:r>
              <a:rPr kumimoji="1" lang="en-US" altLang="zh-CN" sz="2400" b="0" dirty="0" err="1">
                <a:cs typeface="Arial" panose="020B0604020202020204" pitchFamily="34" charset="0"/>
                <a:sym typeface="Wingdings" panose="05000000000000000000" pitchFamily="2" charset="2"/>
              </a:rPr>
              <a:t>i</a:t>
            </a:r>
            <a:r>
              <a:rPr kumimoji="1" lang="en-US" altLang="zh-CN" sz="2400" b="0" dirty="0">
                <a:cs typeface="Arial" panose="020B0604020202020204" pitchFamily="34" charset="0"/>
                <a:sym typeface="Wingdings" panose="05000000000000000000" pitchFamily="2" charset="2"/>
              </a:rPr>
              <a:t>&lt;k )  do</a:t>
            </a:r>
          </a:p>
          <a:p>
            <a:pPr eaLnBrk="1" hangingPunct="1">
              <a:spcBef>
                <a:spcPts val="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if </a:t>
            </a:r>
            <a:r>
              <a:rPr kumimoji="1" lang="en-US" altLang="zh-CN" sz="2400" b="0" dirty="0">
                <a:solidFill>
                  <a:srgbClr val="FF0000"/>
                </a:solidFill>
                <a:cs typeface="Arial" panose="020B0604020202020204" pitchFamily="34" charset="0"/>
                <a:sym typeface="Wingdings" panose="05000000000000000000" pitchFamily="2" charset="2"/>
              </a:rPr>
              <a:t>(X(</a:t>
            </a:r>
            <a:r>
              <a:rPr kumimoji="1" lang="en-US" altLang="zh-CN" sz="2400" b="0" dirty="0" err="1">
                <a:solidFill>
                  <a:srgbClr val="FF0000"/>
                </a:solidFill>
                <a:cs typeface="Arial" panose="020B0604020202020204" pitchFamily="34" charset="0"/>
                <a:sym typeface="Wingdings" panose="05000000000000000000" pitchFamily="2" charset="2"/>
              </a:rPr>
              <a:t>i</a:t>
            </a:r>
            <a:r>
              <a:rPr kumimoji="1" lang="en-US" altLang="zh-CN" sz="2400" b="0" dirty="0">
                <a:solidFill>
                  <a:srgbClr val="FF0000"/>
                </a:solidFill>
                <a:cs typeface="Arial" panose="020B0604020202020204" pitchFamily="34" charset="0"/>
                <a:sym typeface="Wingdings" panose="05000000000000000000" pitchFamily="2" charset="2"/>
              </a:rPr>
              <a:t>)=X(k) or ABS(X(</a:t>
            </a:r>
            <a:r>
              <a:rPr kumimoji="1" lang="en-US" altLang="zh-CN" sz="2400" b="0" dirty="0" err="1">
                <a:solidFill>
                  <a:srgbClr val="FF0000"/>
                </a:solidFill>
                <a:cs typeface="Arial" panose="020B0604020202020204" pitchFamily="34" charset="0"/>
                <a:sym typeface="Wingdings" panose="05000000000000000000" pitchFamily="2" charset="2"/>
              </a:rPr>
              <a:t>i</a:t>
            </a:r>
            <a:r>
              <a:rPr kumimoji="1" lang="en-US" altLang="zh-CN" sz="2400" b="0" dirty="0">
                <a:solidFill>
                  <a:srgbClr val="FF0000"/>
                </a:solidFill>
                <a:cs typeface="Arial" panose="020B0604020202020204" pitchFamily="34" charset="0"/>
                <a:sym typeface="Wingdings" panose="05000000000000000000" pitchFamily="2" charset="2"/>
              </a:rPr>
              <a:t>)-X(k))=ABS(</a:t>
            </a:r>
            <a:r>
              <a:rPr kumimoji="1" lang="en-US" altLang="zh-CN" sz="2400" b="0" dirty="0" err="1">
                <a:solidFill>
                  <a:srgbClr val="FF0000"/>
                </a:solidFill>
                <a:cs typeface="Arial" panose="020B0604020202020204" pitchFamily="34" charset="0"/>
                <a:sym typeface="Wingdings" panose="05000000000000000000" pitchFamily="2" charset="2"/>
              </a:rPr>
              <a:t>i</a:t>
            </a:r>
            <a:r>
              <a:rPr kumimoji="1" lang="en-US" altLang="zh-CN" sz="2400" b="0" dirty="0">
                <a:solidFill>
                  <a:srgbClr val="FF0000"/>
                </a:solidFill>
                <a:cs typeface="Arial" panose="020B0604020202020204" pitchFamily="34" charset="0"/>
                <a:sym typeface="Wingdings" panose="05000000000000000000" pitchFamily="2" charset="2"/>
              </a:rPr>
              <a:t>-k))</a:t>
            </a:r>
          </a:p>
          <a:p>
            <a:pPr eaLnBrk="1" hangingPunct="1">
              <a:spcBef>
                <a:spcPts val="0"/>
              </a:spcBef>
              <a:buClr>
                <a:schemeClr val="accent1"/>
              </a:buClr>
              <a:buSzPct val="80000"/>
              <a:buFont typeface="Wingdings" panose="05000000000000000000" pitchFamily="2" charset="2"/>
              <a:buNone/>
            </a:pPr>
            <a:r>
              <a:rPr kumimoji="1" lang="en-US" altLang="zh-CN" sz="2400" b="0" dirty="0">
                <a:solidFill>
                  <a:srgbClr val="0000FF"/>
                </a:solidFill>
                <a:cs typeface="Arial" panose="020B0604020202020204" pitchFamily="34" charset="0"/>
                <a:sym typeface="Wingdings" panose="05000000000000000000" pitchFamily="2" charset="2"/>
              </a:rPr>
              <a:t>       </a:t>
            </a:r>
            <a:r>
              <a:rPr kumimoji="1" lang="en-US" altLang="zh-CN" sz="2400" b="0" dirty="0">
                <a:cs typeface="Arial" panose="020B0604020202020204" pitchFamily="34" charset="0"/>
                <a:sym typeface="Wingdings" panose="05000000000000000000" pitchFamily="2" charset="2"/>
              </a:rPr>
              <a:t>then  return </a:t>
            </a:r>
            <a:r>
              <a:rPr kumimoji="1" lang="en-US" altLang="zh-CN" sz="2400" b="0" dirty="0">
                <a:solidFill>
                  <a:srgbClr val="FF0000"/>
                </a:solidFill>
                <a:cs typeface="Arial" panose="020B0604020202020204" pitchFamily="34" charset="0"/>
                <a:sym typeface="Wingdings" panose="05000000000000000000" pitchFamily="2" charset="2"/>
              </a:rPr>
              <a:t>false</a:t>
            </a:r>
          </a:p>
          <a:p>
            <a:pPr eaLnBrk="1" hangingPunct="1">
              <a:spcBef>
                <a:spcPts val="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endif</a:t>
            </a:r>
          </a:p>
          <a:p>
            <a:pPr eaLnBrk="1" hangingPunct="1">
              <a:spcBef>
                <a:spcPts val="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a:t>
            </a:r>
            <a:r>
              <a:rPr kumimoji="1" lang="en-US" altLang="zh-CN" sz="2400" b="0" dirty="0" err="1">
                <a:cs typeface="Arial" panose="020B0604020202020204" pitchFamily="34" charset="0"/>
                <a:sym typeface="Wingdings" panose="05000000000000000000" pitchFamily="2" charset="2"/>
              </a:rPr>
              <a:t>i</a:t>
            </a:r>
            <a:r>
              <a:rPr kumimoji="1" lang="en-US" altLang="zh-CN" sz="2400" b="0" dirty="0">
                <a:cs typeface="Arial" panose="020B0604020202020204" pitchFamily="34" charset="0"/>
                <a:sym typeface="Wingdings" panose="05000000000000000000" pitchFamily="2" charset="2"/>
              </a:rPr>
              <a:t> ← i+1</a:t>
            </a:r>
          </a:p>
          <a:p>
            <a:pPr eaLnBrk="1" hangingPunct="1">
              <a:spcBef>
                <a:spcPts val="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repeat   </a:t>
            </a:r>
          </a:p>
          <a:p>
            <a:pPr eaLnBrk="1" hangingPunct="1">
              <a:spcBef>
                <a:spcPts val="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return </a:t>
            </a:r>
            <a:r>
              <a:rPr kumimoji="1" lang="en-US" altLang="zh-CN" sz="2400" b="0" dirty="0">
                <a:solidFill>
                  <a:srgbClr val="FF0000"/>
                </a:solidFill>
                <a:cs typeface="Arial" panose="020B0604020202020204" pitchFamily="34" charset="0"/>
                <a:sym typeface="Wingdings" panose="05000000000000000000" pitchFamily="2" charset="2"/>
              </a:rPr>
              <a:t>true</a:t>
            </a:r>
          </a:p>
          <a:p>
            <a:pPr eaLnBrk="1" hangingPunct="1">
              <a:spcBef>
                <a:spcPts val="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end  PLACE</a:t>
            </a:r>
          </a:p>
        </p:txBody>
      </p:sp>
      <p:sp>
        <p:nvSpPr>
          <p:cNvPr id="6"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38</a:t>
            </a:fld>
            <a:endParaRPr lang="en-US" altLang="zh-CN" dirty="0"/>
          </a:p>
        </p:txBody>
      </p:sp>
    </p:spTree>
    <p:extLst>
      <p:ext uri="{BB962C8B-B14F-4D97-AF65-F5344CB8AC3E}">
        <p14:creationId xmlns:p14="http://schemas.microsoft.com/office/powerpoint/2010/main" val="20686235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1458" y="346071"/>
            <a:ext cx="11480636" cy="762000"/>
          </a:xfrm>
        </p:spPr>
        <p:txBody>
          <a:bodyPr>
            <a:noAutofit/>
          </a:bodyPr>
          <a:lstStyle/>
          <a:p>
            <a:pPr eaLnBrk="1" hangingPunct="1"/>
            <a:r>
              <a:rPr lang="zh-CN" altLang="en-US" dirty="0"/>
              <a:t>算法</a:t>
            </a:r>
            <a:r>
              <a:rPr lang="en-US" altLang="zh-CN" dirty="0"/>
              <a:t>7.5  </a:t>
            </a:r>
            <a:r>
              <a:rPr kumimoji="1" lang="en-US" altLang="zh-CN" dirty="0"/>
              <a:t>n-</a:t>
            </a:r>
            <a:r>
              <a:rPr kumimoji="1" lang="zh-CN" altLang="en-US" dirty="0"/>
              <a:t>皇后问题的回溯算法</a:t>
            </a:r>
          </a:p>
        </p:txBody>
      </p:sp>
      <p:sp>
        <p:nvSpPr>
          <p:cNvPr id="43011" name="Text Box 4"/>
          <p:cNvSpPr txBox="1">
            <a:spLocks noChangeArrowheads="1"/>
          </p:cNvSpPr>
          <p:nvPr/>
        </p:nvSpPr>
        <p:spPr bwMode="auto">
          <a:xfrm>
            <a:off x="767408" y="1412776"/>
            <a:ext cx="10513168" cy="505984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rPr>
              <a:t>procedure   NQUEENS(n)</a:t>
            </a: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err="1">
                <a:cs typeface="Arial" panose="020B0604020202020204" pitchFamily="34" charset="0"/>
              </a:rPr>
              <a:t>int</a:t>
            </a:r>
            <a:r>
              <a:rPr kumimoji="1" lang="en-US" altLang="zh-CN" sz="2400" b="0" dirty="0">
                <a:cs typeface="Arial" panose="020B0604020202020204" pitchFamily="34" charset="0"/>
              </a:rPr>
              <a:t>   k, n, X(1:n)   </a:t>
            </a: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rPr>
              <a:t>X(1) </a:t>
            </a:r>
            <a:r>
              <a:rPr kumimoji="1" lang="en-US" altLang="zh-CN" sz="2400" b="0" dirty="0">
                <a:cs typeface="Arial" panose="020B0604020202020204" pitchFamily="34" charset="0"/>
                <a:sym typeface="Wingdings" panose="05000000000000000000" pitchFamily="2" charset="2"/>
              </a:rPr>
              <a:t>←</a:t>
            </a:r>
            <a:r>
              <a:rPr kumimoji="1" lang="en-US" altLang="zh-CN" sz="2400" b="0" dirty="0">
                <a:cs typeface="Arial" panose="020B0604020202020204" pitchFamily="34" charset="0"/>
              </a:rPr>
              <a:t> </a:t>
            </a:r>
            <a:r>
              <a:rPr kumimoji="1" lang="en-US" altLang="zh-CN" sz="2400" b="0" dirty="0">
                <a:cs typeface="Arial" panose="020B0604020202020204" pitchFamily="34" charset="0"/>
                <a:sym typeface="Wingdings" panose="05000000000000000000" pitchFamily="2" charset="2"/>
              </a:rPr>
              <a:t>0 ; k ← 1        </a:t>
            </a:r>
            <a:endParaRPr kumimoji="1" lang="en-US" altLang="zh-CN" sz="2400" b="0" dirty="0">
              <a:solidFill>
                <a:srgbClr val="FF0000"/>
              </a:solidFill>
              <a:cs typeface="Arial" panose="020B0604020202020204" pitchFamily="34" charset="0"/>
              <a:sym typeface="Wingdings" panose="05000000000000000000" pitchFamily="2" charset="2"/>
            </a:endParaRP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while (k&gt;0) do         </a:t>
            </a:r>
            <a:endParaRPr kumimoji="1" lang="en-US" altLang="zh-CN" sz="2400" b="0" dirty="0">
              <a:solidFill>
                <a:srgbClr val="FF0000"/>
              </a:solidFill>
              <a:cs typeface="Arial" panose="020B0604020202020204" pitchFamily="34" charset="0"/>
              <a:sym typeface="Wingdings" panose="05000000000000000000" pitchFamily="2" charset="2"/>
            </a:endParaRP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X(k) ← X(k)+1</a:t>
            </a:r>
            <a:endParaRPr kumimoji="1" lang="en-US" altLang="zh-CN" sz="2400" b="0" dirty="0">
              <a:solidFill>
                <a:srgbClr val="FF0000"/>
              </a:solidFill>
              <a:cs typeface="Arial" panose="020B0604020202020204" pitchFamily="34" charset="0"/>
              <a:sym typeface="Wingdings" panose="05000000000000000000" pitchFamily="2" charset="2"/>
            </a:endParaRP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while ( </a:t>
            </a:r>
            <a:r>
              <a:rPr kumimoji="1" lang="en-US" altLang="zh-CN" sz="2400" b="0" dirty="0">
                <a:solidFill>
                  <a:srgbClr val="FF0000"/>
                </a:solidFill>
                <a:cs typeface="Arial" panose="020B0604020202020204" pitchFamily="34" charset="0"/>
                <a:sym typeface="Wingdings" panose="05000000000000000000" pitchFamily="2" charset="2"/>
              </a:rPr>
              <a:t>X(k) ≤</a:t>
            </a:r>
            <a:r>
              <a:rPr kumimoji="1" lang="en-US" altLang="zh-CN" sz="2400" b="0" dirty="0">
                <a:cs typeface="Arial" panose="020B0604020202020204" pitchFamily="34" charset="0"/>
                <a:sym typeface="Wingdings" panose="05000000000000000000" pitchFamily="2" charset="2"/>
              </a:rPr>
              <a:t> </a:t>
            </a:r>
            <a:r>
              <a:rPr kumimoji="1" lang="en-US" altLang="zh-CN" sz="2400" b="0" dirty="0">
                <a:solidFill>
                  <a:srgbClr val="FF0000"/>
                </a:solidFill>
                <a:cs typeface="Arial" panose="020B0604020202020204" pitchFamily="34" charset="0"/>
                <a:sym typeface="Wingdings" panose="05000000000000000000" pitchFamily="2" charset="2"/>
              </a:rPr>
              <a:t>n</a:t>
            </a:r>
            <a:r>
              <a:rPr kumimoji="1" lang="en-US" altLang="zh-CN" sz="2400" b="0" dirty="0">
                <a:solidFill>
                  <a:srgbClr val="6600FF"/>
                </a:solidFill>
                <a:cs typeface="Arial" panose="020B0604020202020204" pitchFamily="34" charset="0"/>
                <a:sym typeface="Wingdings" panose="05000000000000000000" pitchFamily="2" charset="2"/>
              </a:rPr>
              <a:t>  </a:t>
            </a:r>
            <a:r>
              <a:rPr kumimoji="1" lang="en-US" altLang="zh-CN" sz="2400" b="0" dirty="0">
                <a:cs typeface="Arial" panose="020B0604020202020204" pitchFamily="34" charset="0"/>
                <a:sym typeface="Wingdings" panose="05000000000000000000" pitchFamily="2" charset="2"/>
              </a:rPr>
              <a:t>and</a:t>
            </a:r>
            <a:r>
              <a:rPr kumimoji="1" lang="en-US" altLang="zh-CN" sz="2400" b="0" dirty="0">
                <a:solidFill>
                  <a:srgbClr val="6600FF"/>
                </a:solidFill>
                <a:cs typeface="Arial" panose="020B0604020202020204" pitchFamily="34" charset="0"/>
                <a:sym typeface="Wingdings" panose="05000000000000000000" pitchFamily="2" charset="2"/>
              </a:rPr>
              <a:t>  </a:t>
            </a:r>
            <a:r>
              <a:rPr kumimoji="1" lang="en-US" altLang="zh-CN" sz="2400" b="0" dirty="0">
                <a:solidFill>
                  <a:srgbClr val="FF0000"/>
                </a:solidFill>
                <a:cs typeface="Arial" panose="020B0604020202020204" pitchFamily="34" charset="0"/>
                <a:sym typeface="Wingdings" panose="05000000000000000000" pitchFamily="2" charset="2"/>
              </a:rPr>
              <a:t>not  PLACE(k)</a:t>
            </a:r>
            <a:r>
              <a:rPr kumimoji="1" lang="en-US" altLang="zh-CN" sz="2400" b="0" dirty="0">
                <a:solidFill>
                  <a:srgbClr val="6600FF"/>
                </a:solidFill>
                <a:cs typeface="Arial" panose="020B0604020202020204" pitchFamily="34" charset="0"/>
                <a:sym typeface="Wingdings" panose="05000000000000000000" pitchFamily="2" charset="2"/>
              </a:rPr>
              <a:t> </a:t>
            </a:r>
            <a:r>
              <a:rPr kumimoji="1" lang="en-US" altLang="zh-CN" sz="2400" b="0" dirty="0">
                <a:cs typeface="Arial" panose="020B0604020202020204" pitchFamily="34" charset="0"/>
                <a:sym typeface="Wingdings" panose="05000000000000000000" pitchFamily="2" charset="2"/>
              </a:rPr>
              <a:t>)  do </a:t>
            </a:r>
          </a:p>
          <a:p>
            <a:pPr>
              <a:lnSpc>
                <a:spcPct val="70000"/>
              </a:lnSpc>
              <a:spcBef>
                <a:spcPct val="15000"/>
              </a:spcBef>
              <a:buClr>
                <a:schemeClr val="accent1"/>
              </a:buClr>
              <a:buSzPct val="80000"/>
              <a:buNone/>
            </a:pPr>
            <a:r>
              <a:rPr kumimoji="1" lang="en-US" altLang="zh-CN" sz="2400" b="0" dirty="0">
                <a:cs typeface="Arial" panose="020B0604020202020204" pitchFamily="34" charset="0"/>
                <a:sym typeface="Wingdings" panose="05000000000000000000" pitchFamily="2" charset="2"/>
              </a:rPr>
              <a:t>            X(k) ← X(k)+1</a:t>
            </a:r>
            <a:r>
              <a:rPr kumimoji="1" lang="zh-CN" altLang="en-US" sz="2400" b="0" dirty="0">
                <a:cs typeface="Arial" panose="020B0604020202020204" pitchFamily="34" charset="0"/>
                <a:sym typeface="Wingdings" panose="05000000000000000000" pitchFamily="2" charset="2"/>
              </a:rPr>
              <a:t>；</a:t>
            </a:r>
            <a:r>
              <a:rPr kumimoji="1" lang="en-US" altLang="zh-CN" sz="2400" b="0" dirty="0">
                <a:cs typeface="Arial" panose="020B0604020202020204" pitchFamily="34" charset="0"/>
                <a:sym typeface="Wingdings" panose="05000000000000000000" pitchFamily="2" charset="2"/>
              </a:rPr>
              <a:t>repeat </a:t>
            </a:r>
            <a:r>
              <a:rPr kumimoji="1" lang="en-US" altLang="zh-CN" sz="2400" b="0" dirty="0">
                <a:ea typeface="幼圆" panose="02010509060101010101" pitchFamily="49" charset="-122"/>
                <a:cs typeface="Arial" panose="020B0604020202020204" pitchFamily="34" charset="0"/>
                <a:sym typeface="Wingdings" panose="05000000000000000000" pitchFamily="2" charset="2"/>
              </a:rPr>
              <a:t>//</a:t>
            </a:r>
            <a:r>
              <a:rPr kumimoji="1" lang="zh-CN" altLang="en-US" sz="2400" b="0" dirty="0">
                <a:ea typeface="幼圆" panose="02010509060101010101" pitchFamily="49" charset="-122"/>
                <a:cs typeface="Arial" panose="020B0604020202020204" pitchFamily="34" charset="0"/>
                <a:sym typeface="Wingdings" panose="05000000000000000000" pitchFamily="2" charset="2"/>
              </a:rPr>
              <a:t>当前列</a:t>
            </a:r>
            <a:r>
              <a:rPr kumimoji="1" lang="en-US" altLang="zh-CN" sz="2400" b="0" dirty="0">
                <a:ea typeface="幼圆" panose="02010509060101010101" pitchFamily="49" charset="-122"/>
                <a:cs typeface="Arial" panose="020B0604020202020204" pitchFamily="34" charset="0"/>
                <a:sym typeface="Wingdings" panose="05000000000000000000" pitchFamily="2" charset="2"/>
              </a:rPr>
              <a:t>X(k)</a:t>
            </a:r>
            <a:r>
              <a:rPr kumimoji="1" lang="zh-CN" altLang="en-US" sz="2400" b="0" dirty="0">
                <a:ea typeface="幼圆" panose="02010509060101010101" pitchFamily="49" charset="-122"/>
                <a:cs typeface="Arial" panose="020B0604020202020204" pitchFamily="34" charset="0"/>
                <a:sym typeface="Wingdings" panose="05000000000000000000" pitchFamily="2" charset="2"/>
              </a:rPr>
              <a:t>不能放皇后</a:t>
            </a:r>
            <a:r>
              <a:rPr kumimoji="1" lang="en-US" altLang="zh-CN" sz="2400" b="0" dirty="0">
                <a:ea typeface="幼圆" panose="02010509060101010101" pitchFamily="49" charset="-122"/>
                <a:cs typeface="Arial" panose="020B0604020202020204" pitchFamily="34" charset="0"/>
                <a:sym typeface="Wingdings" panose="05000000000000000000" pitchFamily="2" charset="2"/>
              </a:rPr>
              <a:t>k</a:t>
            </a:r>
            <a:r>
              <a:rPr kumimoji="1" lang="zh-CN" altLang="en-US" sz="2400" b="0" dirty="0">
                <a:ea typeface="幼圆" panose="02010509060101010101" pitchFamily="49" charset="-122"/>
                <a:cs typeface="Arial" panose="020B0604020202020204" pitchFamily="34" charset="0"/>
                <a:sym typeface="Wingdings" panose="05000000000000000000" pitchFamily="2" charset="2"/>
              </a:rPr>
              <a:t>时，放到下一列</a:t>
            </a:r>
            <a:endParaRPr kumimoji="1" lang="en-US" altLang="zh-CN" sz="2400" b="0" dirty="0">
              <a:ea typeface="幼圆" panose="02010509060101010101" pitchFamily="49" charset="-122"/>
              <a:cs typeface="Arial" panose="020B0604020202020204" pitchFamily="34" charset="0"/>
              <a:sym typeface="Wingdings" panose="05000000000000000000" pitchFamily="2" charset="2"/>
            </a:endParaRP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if(</a:t>
            </a:r>
            <a:r>
              <a:rPr kumimoji="1" lang="en-US" altLang="zh-CN" sz="2400" b="0" dirty="0">
                <a:solidFill>
                  <a:srgbClr val="FF0000"/>
                </a:solidFill>
                <a:cs typeface="Arial" panose="020B0604020202020204" pitchFamily="34" charset="0"/>
                <a:sym typeface="Wingdings" panose="05000000000000000000" pitchFamily="2" charset="2"/>
              </a:rPr>
              <a:t>X(k)≤n</a:t>
            </a:r>
            <a:r>
              <a:rPr kumimoji="1" lang="en-US" altLang="zh-CN" sz="2400" b="0" dirty="0">
                <a:cs typeface="Arial" panose="020B0604020202020204" pitchFamily="34" charset="0"/>
                <a:sym typeface="Wingdings" panose="05000000000000000000" pitchFamily="2" charset="2"/>
              </a:rPr>
              <a:t>)  </a:t>
            </a: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then  if(k=n)  </a:t>
            </a: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then  print (X)</a:t>
            </a:r>
          </a:p>
          <a:p>
            <a:pPr>
              <a:lnSpc>
                <a:spcPct val="70000"/>
              </a:lnSpc>
              <a:spcBef>
                <a:spcPct val="15000"/>
              </a:spcBef>
              <a:buClr>
                <a:schemeClr val="accent1"/>
              </a:buClr>
              <a:buSzPct val="80000"/>
              <a:buNone/>
            </a:pPr>
            <a:r>
              <a:rPr kumimoji="1" lang="en-US" altLang="zh-CN" sz="2400" b="0" dirty="0">
                <a:cs typeface="Arial" panose="020B0604020202020204" pitchFamily="34" charset="0"/>
                <a:sym typeface="Wingdings" panose="05000000000000000000" pitchFamily="2" charset="2"/>
              </a:rPr>
              <a:t>                          else   k ←k+1;  X(k) ←0 </a:t>
            </a:r>
            <a:r>
              <a:rPr kumimoji="1" lang="en-US" altLang="zh-CN" sz="2400" b="0" dirty="0">
                <a:ea typeface="幼圆" panose="02010509060101010101" pitchFamily="49" charset="-122"/>
                <a:cs typeface="Arial" panose="020B0604020202020204" pitchFamily="34" charset="0"/>
                <a:sym typeface="Wingdings" panose="05000000000000000000" pitchFamily="2" charset="2"/>
              </a:rPr>
              <a:t>//</a:t>
            </a:r>
            <a:r>
              <a:rPr kumimoji="1" lang="zh-CN" altLang="en-US" sz="2400" b="0" dirty="0">
                <a:latin typeface="幼圆" panose="02010509060101010101" pitchFamily="49" charset="-122"/>
                <a:ea typeface="幼圆" panose="02010509060101010101" pitchFamily="49" charset="-122"/>
                <a:sym typeface="Wingdings" panose="05000000000000000000" pitchFamily="2" charset="2"/>
              </a:rPr>
              <a:t>准备求解下一个皇后</a:t>
            </a:r>
            <a:endParaRPr kumimoji="1" lang="en-US" altLang="zh-CN" sz="2400" b="0" dirty="0">
              <a:latin typeface="幼圆" panose="02010509060101010101" pitchFamily="49" charset="-122"/>
              <a:ea typeface="幼圆" panose="02010509060101010101" pitchFamily="49" charset="-122"/>
              <a:cs typeface="Arial" panose="020B0604020202020204" pitchFamily="34" charset="0"/>
              <a:sym typeface="Wingdings" panose="05000000000000000000" pitchFamily="2" charset="2"/>
            </a:endParaRP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sym typeface="Wingdings" panose="05000000000000000000" pitchFamily="2" charset="2"/>
              </a:rPr>
              <a:t>                      endif</a:t>
            </a:r>
          </a:p>
          <a:p>
            <a:pPr>
              <a:lnSpc>
                <a:spcPct val="70000"/>
              </a:lnSpc>
              <a:spcBef>
                <a:spcPct val="15000"/>
              </a:spcBef>
              <a:buClr>
                <a:schemeClr val="accent1"/>
              </a:buClr>
              <a:buSzPct val="80000"/>
              <a:buNone/>
            </a:pPr>
            <a:r>
              <a:rPr kumimoji="1" lang="en-US" altLang="zh-CN" sz="2400" b="0" dirty="0">
                <a:cs typeface="Arial" panose="020B0604020202020204" pitchFamily="34" charset="0"/>
              </a:rPr>
              <a:t>            else   </a:t>
            </a:r>
            <a:r>
              <a:rPr kumimoji="1" lang="en-US" altLang="zh-CN" sz="2400" b="0" dirty="0">
                <a:solidFill>
                  <a:srgbClr val="FF0000"/>
                </a:solidFill>
                <a:cs typeface="Arial" panose="020B0604020202020204" pitchFamily="34" charset="0"/>
              </a:rPr>
              <a:t>k</a:t>
            </a:r>
            <a:r>
              <a:rPr kumimoji="1" lang="en-US" altLang="zh-CN" sz="2400" b="0" dirty="0">
                <a:cs typeface="Arial" panose="020B0604020202020204" pitchFamily="34" charset="0"/>
                <a:sym typeface="Wingdings" panose="05000000000000000000" pitchFamily="2" charset="2"/>
              </a:rPr>
              <a:t> ←</a:t>
            </a:r>
            <a:r>
              <a:rPr kumimoji="1" lang="en-US" altLang="zh-CN" sz="2400" b="0" dirty="0">
                <a:solidFill>
                  <a:srgbClr val="FF0000"/>
                </a:solidFill>
                <a:cs typeface="Arial" panose="020B0604020202020204" pitchFamily="34" charset="0"/>
                <a:sym typeface="Wingdings" panose="05000000000000000000" pitchFamily="2" charset="2"/>
              </a:rPr>
              <a:t>k-1</a:t>
            </a:r>
            <a:r>
              <a:rPr kumimoji="1" lang="en-US" altLang="zh-CN" sz="2400" b="0" dirty="0">
                <a:cs typeface="Arial" panose="020B0604020202020204" pitchFamily="34" charset="0"/>
                <a:sym typeface="Wingdings" panose="05000000000000000000" pitchFamily="2" charset="2"/>
              </a:rPr>
              <a:t>; </a:t>
            </a:r>
            <a:r>
              <a:rPr kumimoji="1" lang="en-US" altLang="zh-CN" sz="2400" b="0" dirty="0">
                <a:ea typeface="幼圆" panose="02010509060101010101" pitchFamily="49" charset="-122"/>
                <a:cs typeface="Arial" panose="020B0604020202020204" pitchFamily="34" charset="0"/>
                <a:sym typeface="Wingdings" panose="05000000000000000000" pitchFamily="2" charset="2"/>
              </a:rPr>
              <a:t>//</a:t>
            </a:r>
            <a:r>
              <a:rPr kumimoji="1" lang="zh-CN" altLang="en-US" sz="2400" b="0" dirty="0">
                <a:latin typeface="幼圆" panose="02010509060101010101" pitchFamily="49" charset="-122"/>
                <a:ea typeface="幼圆" panose="02010509060101010101" pitchFamily="49" charset="-122"/>
                <a:sym typeface="Wingdings" panose="05000000000000000000" pitchFamily="2" charset="2"/>
              </a:rPr>
              <a:t>没有合适的位置</a:t>
            </a:r>
            <a:r>
              <a:rPr kumimoji="1" lang="en-US" altLang="zh-CN" sz="2400" b="0" dirty="0">
                <a:latin typeface="幼圆" panose="02010509060101010101" pitchFamily="49" charset="-122"/>
                <a:ea typeface="幼圆" panose="02010509060101010101" pitchFamily="49" charset="-122"/>
                <a:sym typeface="Wingdings" panose="05000000000000000000" pitchFamily="2" charset="2"/>
              </a:rPr>
              <a:t>, </a:t>
            </a:r>
            <a:r>
              <a:rPr kumimoji="1" lang="zh-CN" altLang="en-US" sz="2400" b="0" dirty="0">
                <a:latin typeface="幼圆" panose="02010509060101010101" pitchFamily="49" charset="-122"/>
                <a:ea typeface="幼圆" panose="02010509060101010101" pitchFamily="49" charset="-122"/>
              </a:rPr>
              <a:t>回溯</a:t>
            </a:r>
            <a:endParaRPr kumimoji="1" lang="en-US" altLang="zh-CN" sz="2400" b="0" dirty="0">
              <a:latin typeface="幼圆" panose="02010509060101010101" pitchFamily="49" charset="-122"/>
              <a:ea typeface="幼圆" panose="02010509060101010101" pitchFamily="49" charset="-122"/>
              <a:cs typeface="Arial" panose="020B0604020202020204" pitchFamily="34" charset="0"/>
              <a:sym typeface="Wingdings" panose="05000000000000000000" pitchFamily="2" charset="2"/>
            </a:endParaRP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rPr>
              <a:t>      endif</a:t>
            </a: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rPr>
              <a:t>repeat</a:t>
            </a:r>
          </a:p>
          <a:p>
            <a:pPr eaLnBrk="1" hangingPunct="1">
              <a:lnSpc>
                <a:spcPct val="70000"/>
              </a:lnSpc>
              <a:spcBef>
                <a:spcPct val="15000"/>
              </a:spcBef>
              <a:buClr>
                <a:schemeClr val="accent1"/>
              </a:buClr>
              <a:buSzPct val="80000"/>
              <a:buFont typeface="Wingdings" panose="05000000000000000000" pitchFamily="2" charset="2"/>
              <a:buNone/>
            </a:pPr>
            <a:r>
              <a:rPr kumimoji="1" lang="en-US" altLang="zh-CN" sz="2400" b="0" dirty="0">
                <a:cs typeface="Arial" panose="020B0604020202020204" pitchFamily="34" charset="0"/>
              </a:rPr>
              <a:t>end NQUEENS</a:t>
            </a:r>
          </a:p>
        </p:txBody>
      </p:sp>
      <p:sp>
        <p:nvSpPr>
          <p:cNvPr id="4" name="Rectangle 6"/>
          <p:cNvSpPr>
            <a:spLocks noChangeArrowheads="1"/>
          </p:cNvSpPr>
          <p:nvPr/>
        </p:nvSpPr>
        <p:spPr bwMode="auto">
          <a:xfrm>
            <a:off x="2495600" y="3861048"/>
            <a:ext cx="3816424" cy="1224136"/>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39</a:t>
            </a:fld>
            <a:endParaRPr lang="en-US" altLang="zh-CN" dirty="0"/>
          </a:p>
        </p:txBody>
      </p:sp>
    </p:spTree>
    <p:extLst>
      <p:ext uri="{BB962C8B-B14F-4D97-AF65-F5344CB8AC3E}">
        <p14:creationId xmlns:p14="http://schemas.microsoft.com/office/powerpoint/2010/main" val="259381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3322"/>
            <a:ext cx="10515600" cy="1325563"/>
          </a:xfrm>
        </p:spPr>
        <p:txBody>
          <a:bodyPr/>
          <a:lstStyle/>
          <a:p>
            <a:r>
              <a:rPr lang="en-US" altLang="zh-CN" dirty="0"/>
              <a:t>4-</a:t>
            </a:r>
            <a:r>
              <a:rPr lang="zh-CN" altLang="en-US" dirty="0"/>
              <a:t>皇后问题实例</a:t>
            </a:r>
          </a:p>
        </p:txBody>
      </p:sp>
      <p:sp>
        <p:nvSpPr>
          <p:cNvPr id="3" name="内容占位符 2"/>
          <p:cNvSpPr>
            <a:spLocks noGrp="1"/>
          </p:cNvSpPr>
          <p:nvPr>
            <p:ph idx="1"/>
          </p:nvPr>
        </p:nvSpPr>
        <p:spPr>
          <a:xfrm>
            <a:off x="1138953" y="1700182"/>
            <a:ext cx="3444879" cy="595263"/>
          </a:xfrm>
        </p:spPr>
        <p:txBody>
          <a:bodyPr>
            <a:normAutofit/>
          </a:bodyPr>
          <a:lstStyle/>
          <a:p>
            <a:r>
              <a:rPr lang="zh-CN" altLang="en-US" sz="2400" dirty="0"/>
              <a:t>当前</a:t>
            </a:r>
            <a:r>
              <a:rPr lang="en-US" altLang="zh-CN" sz="2400" dirty="0"/>
              <a:t>k=3, X(3)=0</a:t>
            </a:r>
            <a:endParaRPr lang="zh-CN" altLang="en-US" sz="2400" dirty="0"/>
          </a:p>
          <a:p>
            <a:endParaRPr lang="zh-CN" altLang="en-US" sz="2400"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40</a:t>
            </a:fld>
            <a:endParaRPr lang="en-US" altLang="zh-CN"/>
          </a:p>
        </p:txBody>
      </p:sp>
      <p:graphicFrame>
        <p:nvGraphicFramePr>
          <p:cNvPr id="5" name="Group 4"/>
          <p:cNvGraphicFramePr>
            <a:graphicFrameLocks noGrp="1"/>
          </p:cNvGraphicFramePr>
          <p:nvPr>
            <p:extLst>
              <p:ext uri="{D42A27DB-BD31-4B8C-83A1-F6EECF244321}">
                <p14:modId xmlns:p14="http://schemas.microsoft.com/office/powerpoint/2010/main" val="2137280592"/>
              </p:ext>
            </p:extLst>
          </p:nvPr>
        </p:nvGraphicFramePr>
        <p:xfrm>
          <a:off x="1127448" y="2349801"/>
          <a:ext cx="3024336" cy="919164"/>
        </p:xfrm>
        <a:graphic>
          <a:graphicData uri="http://schemas.openxmlformats.org/drawingml/2006/table">
            <a:tbl>
              <a:tblPr>
                <a:tableStyleId>{5940675A-B579-460E-94D1-54222C63F5DA}</a:tableStyleId>
              </a:tblPr>
              <a:tblGrid>
                <a:gridCol w="861481">
                  <a:extLst>
                    <a:ext uri="{9D8B030D-6E8A-4147-A177-3AD203B41FA5}">
                      <a16:colId xmlns:a16="http://schemas.microsoft.com/office/drawing/2014/main" val="20000"/>
                    </a:ext>
                  </a:extLst>
                </a:gridCol>
                <a:gridCol w="502532">
                  <a:extLst>
                    <a:ext uri="{9D8B030D-6E8A-4147-A177-3AD203B41FA5}">
                      <a16:colId xmlns:a16="http://schemas.microsoft.com/office/drawing/2014/main" val="20001"/>
                    </a:ext>
                  </a:extLst>
                </a:gridCol>
                <a:gridCol w="574321">
                  <a:extLst>
                    <a:ext uri="{9D8B030D-6E8A-4147-A177-3AD203B41FA5}">
                      <a16:colId xmlns:a16="http://schemas.microsoft.com/office/drawing/2014/main" val="20002"/>
                    </a:ext>
                  </a:extLst>
                </a:gridCol>
                <a:gridCol w="574321">
                  <a:extLst>
                    <a:ext uri="{9D8B030D-6E8A-4147-A177-3AD203B41FA5}">
                      <a16:colId xmlns:a16="http://schemas.microsoft.com/office/drawing/2014/main" val="20003"/>
                    </a:ext>
                  </a:extLst>
                </a:gridCol>
                <a:gridCol w="511681">
                  <a:extLst>
                    <a:ext uri="{9D8B030D-6E8A-4147-A177-3AD203B41FA5}">
                      <a16:colId xmlns:a16="http://schemas.microsoft.com/office/drawing/2014/main" val="20004"/>
                    </a:ext>
                  </a:extLst>
                </a:gridCol>
              </a:tblGrid>
              <a:tr h="459582">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err="1">
                          <a:ln>
                            <a:noFill/>
                          </a:ln>
                          <a:solidFill>
                            <a:srgbClr val="FF0000"/>
                          </a:solidFill>
                          <a:effectLst/>
                          <a:latin typeface="Arial" panose="020B0604020202020204" pitchFamily="34" charset="0"/>
                          <a:ea typeface="宋体" pitchFamily="2" charset="-122"/>
                          <a:cs typeface="Arial" panose="020B0604020202020204" pitchFamily="34" charset="0"/>
                        </a:rPr>
                        <a:t>i</a:t>
                      </a:r>
                      <a:endParaRPr kumimoji="0" lang="zh-CN" altLang="zh-CN" sz="24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solidFill>
                            <a:srgbClr val="FF0000"/>
                          </a:solidFill>
                          <a:effectLst/>
                        </a:rPr>
                        <a:t>1</a:t>
                      </a:r>
                      <a:endParaRPr kumimoji="0" lang="en-US" altLang="zh-CN" sz="24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solidFill>
                            <a:srgbClr val="FF0000"/>
                          </a:solidFill>
                          <a:effectLst/>
                        </a:rPr>
                        <a:t>2</a:t>
                      </a:r>
                      <a:endParaRPr kumimoji="0" lang="en-US" altLang="zh-CN" sz="24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solidFill>
                            <a:srgbClr val="FF0000"/>
                          </a:solidFill>
                          <a:effectLst/>
                        </a:rPr>
                        <a:t>3</a:t>
                      </a:r>
                      <a:endParaRPr kumimoji="0" lang="en-US" altLang="zh-CN" sz="24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solidFill>
                            <a:srgbClr val="FF0000"/>
                          </a:solidFill>
                          <a:effectLst/>
                        </a:rPr>
                        <a:t>4</a:t>
                      </a:r>
                      <a:endParaRPr kumimoji="0" lang="en-US" altLang="zh-CN" sz="24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tc>
                <a:extLst>
                  <a:ext uri="{0D108BD9-81ED-4DB2-BD59-A6C34878D82A}">
                    <a16:rowId xmlns:a16="http://schemas.microsoft.com/office/drawing/2014/main" val="10000"/>
                  </a:ext>
                </a:extLst>
              </a:tr>
              <a:tr h="459582">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effectLst/>
                          <a:latin typeface="Arial" panose="020B0604020202020204" pitchFamily="34" charset="0"/>
                          <a:cs typeface="Arial" panose="020B0604020202020204" pitchFamily="34" charset="0"/>
                        </a:rPr>
                        <a:t>X(</a:t>
                      </a:r>
                      <a:r>
                        <a:rPr kumimoji="0" lang="en-US" altLang="zh-CN" sz="2400" u="none" strike="noStrike" cap="none" normalizeH="0" baseline="0" dirty="0" err="1">
                          <a:ln>
                            <a:noFill/>
                          </a:ln>
                          <a:effectLst/>
                          <a:latin typeface="Arial" panose="020B0604020202020204" pitchFamily="34" charset="0"/>
                          <a:cs typeface="Arial" panose="020B0604020202020204" pitchFamily="34" charset="0"/>
                        </a:rPr>
                        <a:t>i</a:t>
                      </a:r>
                      <a:r>
                        <a:rPr kumimoji="0" lang="en-US" altLang="zh-CN" sz="2400" u="none" strike="noStrike" cap="none" normalizeH="0" baseline="0" dirty="0">
                          <a:ln>
                            <a:noFill/>
                          </a:ln>
                          <a:effectLst/>
                          <a:latin typeface="Arial" panose="020B0604020202020204" pitchFamily="34" charset="0"/>
                          <a:cs typeface="Arial" panose="020B0604020202020204" pitchFamily="34" charset="0"/>
                        </a:rPr>
                        <a:t>)</a:t>
                      </a:r>
                      <a:endParaRPr kumimoji="0" lang="en-US" altLang="zh-CN" sz="24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effectLst/>
                        </a:rPr>
                        <a:t>1</a:t>
                      </a:r>
                      <a:endParaRPr kumimoji="0" lang="en-US" altLang="zh-CN" sz="24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effectLst/>
                        </a:rPr>
                        <a:t>3</a:t>
                      </a:r>
                      <a:endParaRPr kumimoji="0" lang="en-US" altLang="zh-CN" sz="24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a:ln>
                            <a:noFill/>
                          </a:ln>
                          <a:effectLst/>
                        </a:rPr>
                        <a:t>0</a:t>
                      </a:r>
                      <a:endParaRPr kumimoji="0" lang="en-US" altLang="zh-CN" sz="2400" b="0"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4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tc>
                <a:extLst>
                  <a:ext uri="{0D108BD9-81ED-4DB2-BD59-A6C34878D82A}">
                    <a16:rowId xmlns:a16="http://schemas.microsoft.com/office/drawing/2014/main" val="10001"/>
                  </a:ext>
                </a:extLst>
              </a:tr>
            </a:tbl>
          </a:graphicData>
        </a:graphic>
      </p:graphicFrame>
      <p:graphicFrame>
        <p:nvGraphicFramePr>
          <p:cNvPr id="6" name="Group 25"/>
          <p:cNvGraphicFramePr>
            <a:graphicFrameLocks noGrp="1"/>
          </p:cNvGraphicFramePr>
          <p:nvPr>
            <p:extLst>
              <p:ext uri="{D42A27DB-BD31-4B8C-83A1-F6EECF244321}">
                <p14:modId xmlns:p14="http://schemas.microsoft.com/office/powerpoint/2010/main" val="2184563185"/>
              </p:ext>
            </p:extLst>
          </p:nvPr>
        </p:nvGraphicFramePr>
        <p:xfrm>
          <a:off x="7973888" y="2304637"/>
          <a:ext cx="2154560" cy="1847849"/>
        </p:xfrm>
        <a:graphic>
          <a:graphicData uri="http://schemas.openxmlformats.org/drawingml/2006/table">
            <a:tbl>
              <a:tblPr/>
              <a:tblGrid>
                <a:gridCol w="538640">
                  <a:extLst>
                    <a:ext uri="{9D8B030D-6E8A-4147-A177-3AD203B41FA5}">
                      <a16:colId xmlns:a16="http://schemas.microsoft.com/office/drawing/2014/main" val="20000"/>
                    </a:ext>
                  </a:extLst>
                </a:gridCol>
                <a:gridCol w="538640">
                  <a:extLst>
                    <a:ext uri="{9D8B030D-6E8A-4147-A177-3AD203B41FA5}">
                      <a16:colId xmlns:a16="http://schemas.microsoft.com/office/drawing/2014/main" val="20001"/>
                    </a:ext>
                  </a:extLst>
                </a:gridCol>
                <a:gridCol w="538640">
                  <a:extLst>
                    <a:ext uri="{9D8B030D-6E8A-4147-A177-3AD203B41FA5}">
                      <a16:colId xmlns:a16="http://schemas.microsoft.com/office/drawing/2014/main" val="20002"/>
                    </a:ext>
                  </a:extLst>
                </a:gridCol>
                <a:gridCol w="538640">
                  <a:extLst>
                    <a:ext uri="{9D8B030D-6E8A-4147-A177-3AD203B41FA5}">
                      <a16:colId xmlns:a16="http://schemas.microsoft.com/office/drawing/2014/main" val="20003"/>
                    </a:ext>
                  </a:extLst>
                </a:gridCol>
              </a:tblGrid>
              <a:tr h="450151">
                <a:tc>
                  <a:txBody>
                    <a:bodyPr/>
                    <a:lstStyle/>
                    <a:p>
                      <a:pPr marL="0" marR="0" lvl="0" indent="0" algn="ctr"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4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8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461962">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r>
                        <a:rPr kumimoji="0" lang="en-US" altLang="zh-CN" sz="24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73774">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61962">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bg1"/>
                        </a:buClr>
                        <a:buSzPct val="75000"/>
                        <a:buFontTx/>
                        <a:buNone/>
                        <a:tabLst/>
                      </a:pPr>
                      <a:endParaRPr kumimoji="0" lang="zh-CN" altLang="zh-CN" sz="24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7" name="Rectangle 63"/>
          <p:cNvSpPr>
            <a:spLocks noChangeArrowheads="1"/>
          </p:cNvSpPr>
          <p:nvPr/>
        </p:nvSpPr>
        <p:spPr bwMode="auto">
          <a:xfrm>
            <a:off x="3143672" y="2859207"/>
            <a:ext cx="432048" cy="360040"/>
          </a:xfrm>
          <a:prstGeom prst="rect">
            <a:avLst/>
          </a:prstGeom>
          <a:solidFill>
            <a:schemeClr val="bg1"/>
          </a:solidFill>
          <a:ln w="19050">
            <a:noFill/>
            <a:miter lim="800000"/>
            <a:headEnd/>
            <a:tailEnd/>
          </a:ln>
          <a:effectLst/>
        </p:spPr>
        <p:txBody>
          <a:bodyPr wrap="none" lIns="90000" tIns="46800" rIns="90000" bIns="46800" anchor="ctr"/>
          <a:lstStyle/>
          <a:p>
            <a:pPr algn="ctr">
              <a:lnSpc>
                <a:spcPct val="110000"/>
              </a:lnSpc>
            </a:pPr>
            <a:r>
              <a:rPr kumimoji="1" lang="en-US" altLang="zh-CN" sz="2400">
                <a:latin typeface="Arial" panose="020B0604020202020204" pitchFamily="34" charset="0"/>
                <a:cs typeface="Arial" panose="020B0604020202020204" pitchFamily="34" charset="0"/>
              </a:rPr>
              <a:t>1</a:t>
            </a:r>
          </a:p>
        </p:txBody>
      </p:sp>
      <p:sp>
        <p:nvSpPr>
          <p:cNvPr id="8" name="Rectangle 67"/>
          <p:cNvSpPr>
            <a:spLocks noChangeArrowheads="1"/>
          </p:cNvSpPr>
          <p:nvPr/>
        </p:nvSpPr>
        <p:spPr bwMode="auto">
          <a:xfrm>
            <a:off x="3143672" y="2859207"/>
            <a:ext cx="432048" cy="360040"/>
          </a:xfrm>
          <a:prstGeom prst="rect">
            <a:avLst/>
          </a:prstGeom>
          <a:solidFill>
            <a:schemeClr val="bg1"/>
          </a:solidFill>
          <a:ln w="19050">
            <a:noFill/>
            <a:miter lim="800000"/>
            <a:headEnd/>
            <a:tailEnd/>
          </a:ln>
          <a:effectLst/>
        </p:spPr>
        <p:txBody>
          <a:bodyPr wrap="none" lIns="90000" tIns="46800" rIns="90000" bIns="46800" anchor="ctr"/>
          <a:lstStyle/>
          <a:p>
            <a:pPr algn="ctr">
              <a:lnSpc>
                <a:spcPct val="110000"/>
              </a:lnSpc>
            </a:pPr>
            <a:r>
              <a:rPr kumimoji="1" lang="en-US" altLang="zh-CN" sz="2400">
                <a:latin typeface="Arial" panose="020B0604020202020204" pitchFamily="34" charset="0"/>
                <a:cs typeface="Arial" panose="020B0604020202020204" pitchFamily="34" charset="0"/>
              </a:rPr>
              <a:t>2</a:t>
            </a:r>
          </a:p>
        </p:txBody>
      </p:sp>
      <p:sp>
        <p:nvSpPr>
          <p:cNvPr id="9" name="Rectangle 68"/>
          <p:cNvSpPr>
            <a:spLocks noChangeArrowheads="1"/>
          </p:cNvSpPr>
          <p:nvPr/>
        </p:nvSpPr>
        <p:spPr bwMode="auto">
          <a:xfrm>
            <a:off x="3143672" y="2859207"/>
            <a:ext cx="432048" cy="360040"/>
          </a:xfrm>
          <a:prstGeom prst="rect">
            <a:avLst/>
          </a:prstGeom>
          <a:solidFill>
            <a:schemeClr val="bg1"/>
          </a:solidFill>
          <a:ln w="19050">
            <a:noFill/>
            <a:miter lim="800000"/>
            <a:headEnd/>
            <a:tailEnd/>
          </a:ln>
          <a:effectLst/>
        </p:spPr>
        <p:txBody>
          <a:bodyPr wrap="none" lIns="90000" tIns="46800" rIns="90000" bIns="46800" anchor="ctr"/>
          <a:lstStyle/>
          <a:p>
            <a:pPr algn="ctr">
              <a:lnSpc>
                <a:spcPct val="110000"/>
              </a:lnSpc>
            </a:pPr>
            <a:r>
              <a:rPr kumimoji="1" lang="en-US" altLang="zh-CN" sz="2400">
                <a:latin typeface="Arial" panose="020B0604020202020204" pitchFamily="34" charset="0"/>
                <a:cs typeface="Arial" panose="020B0604020202020204" pitchFamily="34" charset="0"/>
              </a:rPr>
              <a:t>3</a:t>
            </a:r>
          </a:p>
        </p:txBody>
      </p:sp>
      <p:sp>
        <p:nvSpPr>
          <p:cNvPr id="10" name="Rectangle 69"/>
          <p:cNvSpPr>
            <a:spLocks noChangeArrowheads="1"/>
          </p:cNvSpPr>
          <p:nvPr/>
        </p:nvSpPr>
        <p:spPr bwMode="auto">
          <a:xfrm>
            <a:off x="3143672" y="2859207"/>
            <a:ext cx="432048" cy="360040"/>
          </a:xfrm>
          <a:prstGeom prst="rect">
            <a:avLst/>
          </a:prstGeom>
          <a:solidFill>
            <a:schemeClr val="bg1"/>
          </a:solidFill>
          <a:ln w="19050">
            <a:noFill/>
            <a:miter lim="800000"/>
            <a:headEnd/>
            <a:tailEnd/>
          </a:ln>
          <a:effectLst/>
        </p:spPr>
        <p:txBody>
          <a:bodyPr wrap="none" lIns="90000" tIns="46800" rIns="90000" bIns="46800" anchor="ctr"/>
          <a:lstStyle/>
          <a:p>
            <a:pPr algn="ctr">
              <a:lnSpc>
                <a:spcPct val="110000"/>
              </a:lnSpc>
            </a:pPr>
            <a:r>
              <a:rPr kumimoji="1" lang="en-US" altLang="zh-CN" sz="2400">
                <a:latin typeface="Arial" panose="020B0604020202020204" pitchFamily="34" charset="0"/>
                <a:cs typeface="Arial" panose="020B0604020202020204" pitchFamily="34" charset="0"/>
              </a:rPr>
              <a:t>4</a:t>
            </a:r>
          </a:p>
        </p:txBody>
      </p:sp>
      <p:sp>
        <p:nvSpPr>
          <p:cNvPr id="11" name="Rectangle 70"/>
          <p:cNvSpPr>
            <a:spLocks noChangeArrowheads="1"/>
          </p:cNvSpPr>
          <p:nvPr/>
        </p:nvSpPr>
        <p:spPr bwMode="auto">
          <a:xfrm>
            <a:off x="3143672" y="2862382"/>
            <a:ext cx="432048" cy="360040"/>
          </a:xfrm>
          <a:prstGeom prst="rect">
            <a:avLst/>
          </a:prstGeom>
          <a:solidFill>
            <a:schemeClr val="bg1"/>
          </a:solidFill>
          <a:ln w="19050">
            <a:noFill/>
            <a:miter lim="800000"/>
            <a:headEnd/>
            <a:tailEnd/>
          </a:ln>
          <a:effectLst/>
        </p:spPr>
        <p:txBody>
          <a:bodyPr wrap="none" lIns="90000" tIns="46800" rIns="90000" bIns="46800" anchor="ctr"/>
          <a:lstStyle/>
          <a:p>
            <a:pPr algn="ctr">
              <a:lnSpc>
                <a:spcPct val="110000"/>
              </a:lnSpc>
            </a:pPr>
            <a:r>
              <a:rPr kumimoji="1" lang="en-US" altLang="zh-CN" sz="2400" dirty="0">
                <a:latin typeface="Arial" panose="020B0604020202020204" pitchFamily="34" charset="0"/>
                <a:cs typeface="Arial" panose="020B0604020202020204" pitchFamily="34" charset="0"/>
              </a:rPr>
              <a:t>5</a:t>
            </a:r>
          </a:p>
        </p:txBody>
      </p:sp>
      <p:sp>
        <p:nvSpPr>
          <p:cNvPr id="12" name="Text Box 74"/>
          <p:cNvSpPr txBox="1">
            <a:spLocks noChangeArrowheads="1"/>
          </p:cNvSpPr>
          <p:nvPr/>
        </p:nvSpPr>
        <p:spPr bwMode="auto">
          <a:xfrm>
            <a:off x="8085539" y="3226399"/>
            <a:ext cx="422175" cy="461665"/>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400" dirty="0">
                <a:solidFill>
                  <a:srgbClr val="FF0000"/>
                </a:solidFill>
                <a:cs typeface="Arial" panose="020B0604020202020204" pitchFamily="34" charset="0"/>
              </a:rPr>
              <a:t>3</a:t>
            </a:r>
          </a:p>
        </p:txBody>
      </p:sp>
      <p:sp>
        <p:nvSpPr>
          <p:cNvPr id="13" name="Text Box 75"/>
          <p:cNvSpPr txBox="1">
            <a:spLocks noChangeArrowheads="1"/>
          </p:cNvSpPr>
          <p:nvPr/>
        </p:nvSpPr>
        <p:spPr bwMode="auto">
          <a:xfrm>
            <a:off x="8619364" y="3226399"/>
            <a:ext cx="388639" cy="461665"/>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400" dirty="0">
                <a:solidFill>
                  <a:srgbClr val="FF0000"/>
                </a:solidFill>
                <a:cs typeface="Arial" panose="020B0604020202020204" pitchFamily="34" charset="0"/>
              </a:rPr>
              <a:t>3</a:t>
            </a:r>
          </a:p>
        </p:txBody>
      </p:sp>
      <p:sp>
        <p:nvSpPr>
          <p:cNvPr id="14" name="Text Box 76"/>
          <p:cNvSpPr txBox="1">
            <a:spLocks noChangeArrowheads="1"/>
          </p:cNvSpPr>
          <p:nvPr/>
        </p:nvSpPr>
        <p:spPr bwMode="auto">
          <a:xfrm>
            <a:off x="9163345" y="3226399"/>
            <a:ext cx="354360" cy="461665"/>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400" dirty="0">
                <a:solidFill>
                  <a:srgbClr val="FF0000"/>
                </a:solidFill>
                <a:cs typeface="Arial" panose="020B0604020202020204" pitchFamily="34" charset="0"/>
              </a:rPr>
              <a:t>3</a:t>
            </a:r>
          </a:p>
        </p:txBody>
      </p:sp>
      <p:sp>
        <p:nvSpPr>
          <p:cNvPr id="15" name="Text Box 77"/>
          <p:cNvSpPr txBox="1">
            <a:spLocks noChangeArrowheads="1"/>
          </p:cNvSpPr>
          <p:nvPr/>
        </p:nvSpPr>
        <p:spPr bwMode="auto">
          <a:xfrm>
            <a:off x="9691026" y="3216382"/>
            <a:ext cx="397768" cy="461665"/>
          </a:xfrm>
          <a:prstGeom prst="rect">
            <a:avLst/>
          </a:prstGeom>
          <a:no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400" dirty="0">
                <a:solidFill>
                  <a:srgbClr val="FF0000"/>
                </a:solidFill>
                <a:cs typeface="Arial" panose="020B0604020202020204" pitchFamily="34" charset="0"/>
              </a:rPr>
              <a:t>3</a:t>
            </a:r>
          </a:p>
        </p:txBody>
      </p:sp>
      <p:graphicFrame>
        <p:nvGraphicFramePr>
          <p:cNvPr id="20" name="Group 9"/>
          <p:cNvGraphicFramePr>
            <a:graphicFrameLocks noGrp="1"/>
          </p:cNvGraphicFramePr>
          <p:nvPr>
            <p:extLst>
              <p:ext uri="{D42A27DB-BD31-4B8C-83A1-F6EECF244321}">
                <p14:modId xmlns:p14="http://schemas.microsoft.com/office/powerpoint/2010/main" val="3975275878"/>
              </p:ext>
            </p:extLst>
          </p:nvPr>
        </p:nvGraphicFramePr>
        <p:xfrm>
          <a:off x="1343471" y="4018231"/>
          <a:ext cx="2808313" cy="919164"/>
        </p:xfrm>
        <a:graphic>
          <a:graphicData uri="http://schemas.openxmlformats.org/drawingml/2006/table">
            <a:tbl>
              <a:tblPr>
                <a:tableStyleId>{5940675A-B579-460E-94D1-54222C63F5DA}</a:tableStyleId>
              </a:tblPr>
              <a:tblGrid>
                <a:gridCol w="648073">
                  <a:extLst>
                    <a:ext uri="{9D8B030D-6E8A-4147-A177-3AD203B41FA5}">
                      <a16:colId xmlns:a16="http://schemas.microsoft.com/office/drawing/2014/main" val="20000"/>
                    </a:ext>
                  </a:extLst>
                </a:gridCol>
                <a:gridCol w="504056">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tblGrid>
              <a:tr h="459582">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err="1">
                          <a:ln>
                            <a:noFill/>
                          </a:ln>
                          <a:solidFill>
                            <a:srgbClr val="FF0000"/>
                          </a:solidFill>
                          <a:effectLst/>
                          <a:latin typeface="Arial" panose="020B0604020202020204" pitchFamily="34" charset="0"/>
                          <a:ea typeface="宋体" pitchFamily="2" charset="-122"/>
                          <a:cs typeface="Arial" panose="020B0604020202020204" pitchFamily="34" charset="0"/>
                        </a:rPr>
                        <a:t>i</a:t>
                      </a:r>
                      <a:endParaRPr kumimoji="0" lang="zh-CN" altLang="zh-CN" sz="2400" b="0" i="0" u="none" strike="noStrike" cap="none" normalizeH="0" baseline="0" dirty="0">
                        <a:ln>
                          <a:noFill/>
                        </a:ln>
                        <a:solidFill>
                          <a:srgbClr val="FF0000"/>
                        </a:solidFill>
                        <a:effectLst/>
                        <a:latin typeface="Arial" panose="020B0604020202020204" pitchFamily="34" charset="0"/>
                        <a:ea typeface="宋体" pitchFamily="2" charset="-122"/>
                        <a:cs typeface="Arial" panose="020B0604020202020204" pitchFamily="34" charset="0"/>
                      </a:endParaRPr>
                    </a:p>
                  </a:txBody>
                  <a:tcPr marL="90000" marR="90000" marT="46823" marB="46823" horzOverflow="overflow">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solidFill>
                            <a:srgbClr val="FF0000"/>
                          </a:solidFill>
                          <a:effectLst/>
                        </a:rPr>
                        <a:t>1</a:t>
                      </a:r>
                      <a:endParaRPr kumimoji="0" lang="en-US" altLang="zh-CN" sz="2400" b="0" i="0" u="none" strike="noStrike" cap="none" normalizeH="0" baseline="0" dirty="0">
                        <a:ln>
                          <a:noFill/>
                        </a:ln>
                        <a:solidFill>
                          <a:srgbClr val="FF0000"/>
                        </a:solidFill>
                        <a:effectLst/>
                        <a:latin typeface="Times New Roman" pitchFamily="18" charset="0"/>
                        <a:ea typeface="宋体" pitchFamily="2" charset="-122"/>
                      </a:endParaRPr>
                    </a:p>
                  </a:txBody>
                  <a:tcPr marL="90000" marR="90000" marT="46823" marB="46823"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solidFill>
                            <a:srgbClr val="FF0000"/>
                          </a:solidFill>
                          <a:effectLst/>
                        </a:rPr>
                        <a:t>2</a:t>
                      </a:r>
                      <a:endParaRPr kumimoji="0" lang="en-US" altLang="zh-CN" sz="2400" b="0" i="0" u="none" strike="noStrike" cap="none" normalizeH="0" baseline="0" dirty="0">
                        <a:ln>
                          <a:noFill/>
                        </a:ln>
                        <a:solidFill>
                          <a:srgbClr val="FF0000"/>
                        </a:solidFill>
                        <a:effectLst/>
                        <a:latin typeface="Times New Roman" pitchFamily="18" charset="0"/>
                        <a:ea typeface="宋体" pitchFamily="2" charset="-122"/>
                      </a:endParaRPr>
                    </a:p>
                  </a:txBody>
                  <a:tcPr marL="90000" marR="90000" marT="46823" marB="46823"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solidFill>
                            <a:srgbClr val="FF0000"/>
                          </a:solidFill>
                          <a:effectLst/>
                        </a:rPr>
                        <a:t>3</a:t>
                      </a:r>
                      <a:endParaRPr kumimoji="0" lang="en-US" altLang="zh-CN" sz="2400" b="0" i="0" u="none" strike="noStrike" cap="none" normalizeH="0" baseline="0" dirty="0">
                        <a:ln>
                          <a:noFill/>
                        </a:ln>
                        <a:solidFill>
                          <a:srgbClr val="FF0000"/>
                        </a:solidFill>
                        <a:effectLst/>
                        <a:latin typeface="Times New Roman" pitchFamily="18" charset="0"/>
                        <a:ea typeface="宋体" pitchFamily="2" charset="-122"/>
                      </a:endParaRPr>
                    </a:p>
                  </a:txBody>
                  <a:tcPr marL="90000" marR="90000" marT="46823" marB="46823"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solidFill>
                            <a:srgbClr val="FF0000"/>
                          </a:solidFill>
                          <a:effectLst/>
                        </a:rPr>
                        <a:t>4</a:t>
                      </a:r>
                      <a:endParaRPr kumimoji="0" lang="en-US" altLang="zh-CN" sz="2400" b="0" i="0" u="none" strike="noStrike" cap="none" normalizeH="0" baseline="0" dirty="0">
                        <a:ln>
                          <a:noFill/>
                        </a:ln>
                        <a:solidFill>
                          <a:srgbClr val="FF0000"/>
                        </a:solidFill>
                        <a:effectLst/>
                        <a:latin typeface="Times New Roman" pitchFamily="18" charset="0"/>
                        <a:ea typeface="宋体" pitchFamily="2" charset="-122"/>
                      </a:endParaRPr>
                    </a:p>
                  </a:txBody>
                  <a:tcPr marL="90000" marR="90000" marT="46823" marB="46823" horzOverflow="overflow"/>
                </a:tc>
                <a:extLst>
                  <a:ext uri="{0D108BD9-81ED-4DB2-BD59-A6C34878D82A}">
                    <a16:rowId xmlns:a16="http://schemas.microsoft.com/office/drawing/2014/main" val="10000"/>
                  </a:ext>
                </a:extLst>
              </a:tr>
              <a:tr h="459582">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X(</a:t>
                      </a:r>
                      <a:r>
                        <a:rPr kumimoji="0" lang="en-US" altLang="zh-CN" sz="2400" u="none" strike="noStrike" kern="1200" cap="none" normalizeH="0" baseline="0" dirty="0" err="1">
                          <a:ln>
                            <a:noFill/>
                          </a:ln>
                          <a:solidFill>
                            <a:schemeClr val="tx1"/>
                          </a:solidFill>
                          <a:effectLst/>
                          <a:latin typeface="Arial" panose="020B0604020202020204" pitchFamily="34" charset="0"/>
                          <a:ea typeface="+mn-ea"/>
                          <a:cs typeface="Arial" panose="020B0604020202020204" pitchFamily="34" charset="0"/>
                        </a:rPr>
                        <a:t>i</a:t>
                      </a:r>
                      <a:r>
                        <a:rPr kumimoji="0" lang="en-US" altLang="zh-CN" sz="2400"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a:t>
                      </a:r>
                    </a:p>
                  </a:txBody>
                  <a:tcPr marL="90000" marR="90000" marT="46823" marB="46823" horzOverflow="overflow">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effectLst/>
                        </a:rPr>
                        <a:t>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823" marB="46823"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a:ln>
                            <a:noFill/>
                          </a:ln>
                          <a:effectLst/>
                        </a:rPr>
                        <a:t>3</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23" marB="46823"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u="none" strike="noStrike" cap="none" normalizeH="0" baseline="0" dirty="0">
                          <a:ln>
                            <a:noFill/>
                          </a:ln>
                          <a:effectLst/>
                        </a:rPr>
                        <a:t>5</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823" marB="46823"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823" marB="46823" horzOverflow="overflow"/>
                </a:tc>
                <a:extLst>
                  <a:ext uri="{0D108BD9-81ED-4DB2-BD59-A6C34878D82A}">
                    <a16:rowId xmlns:a16="http://schemas.microsoft.com/office/drawing/2014/main" val="10001"/>
                  </a:ext>
                </a:extLst>
              </a:tr>
            </a:tbl>
          </a:graphicData>
        </a:graphic>
      </p:graphicFrame>
      <p:sp>
        <p:nvSpPr>
          <p:cNvPr id="22" name="Text Box 57"/>
          <p:cNvSpPr txBox="1">
            <a:spLocks noChangeArrowheads="1"/>
          </p:cNvSpPr>
          <p:nvPr/>
        </p:nvSpPr>
        <p:spPr bwMode="auto">
          <a:xfrm>
            <a:off x="9691026" y="2752536"/>
            <a:ext cx="432048" cy="463846"/>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400" dirty="0">
                <a:solidFill>
                  <a:srgbClr val="FF0000"/>
                </a:solidFill>
                <a:cs typeface="Arial" panose="020B0604020202020204" pitchFamily="34" charset="0"/>
              </a:rPr>
              <a:t>2</a:t>
            </a:r>
          </a:p>
        </p:txBody>
      </p:sp>
      <p:sp>
        <p:nvSpPr>
          <p:cNvPr id="23" name="Text Box 59"/>
          <p:cNvSpPr txBox="1">
            <a:spLocks noChangeArrowheads="1"/>
          </p:cNvSpPr>
          <p:nvPr/>
        </p:nvSpPr>
        <p:spPr bwMode="auto">
          <a:xfrm>
            <a:off x="9110753" y="2801165"/>
            <a:ext cx="440488" cy="359340"/>
          </a:xfrm>
          <a:prstGeom prst="rect">
            <a:avLst/>
          </a:prstGeom>
          <a:solidFill>
            <a:schemeClr val="accent1">
              <a:lumMod val="20000"/>
              <a:lumOff val="80000"/>
            </a:schemeClr>
          </a:solidFill>
          <a:ln>
            <a:noFill/>
          </a:ln>
          <a:effec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90000"/>
              </a:lnSpc>
            </a:pPr>
            <a:endParaRPr lang="zh-CN" altLang="zh-CN" sz="2400" b="1">
              <a:latin typeface="Times New Roman" pitchFamily="18" charset="0"/>
            </a:endParaRPr>
          </a:p>
        </p:txBody>
      </p:sp>
      <p:sp>
        <p:nvSpPr>
          <p:cNvPr id="24" name="Rectangle 64"/>
          <p:cNvSpPr>
            <a:spLocks noChangeArrowheads="1"/>
          </p:cNvSpPr>
          <p:nvPr/>
        </p:nvSpPr>
        <p:spPr bwMode="auto">
          <a:xfrm>
            <a:off x="2549610" y="4496059"/>
            <a:ext cx="450046" cy="425460"/>
          </a:xfrm>
          <a:prstGeom prst="rect">
            <a:avLst/>
          </a:prstGeom>
          <a:solidFill>
            <a:schemeClr val="bg1"/>
          </a:solidFill>
          <a:ln w="19050">
            <a:noFill/>
            <a:miter lim="800000"/>
            <a:headEnd/>
            <a:tailEnd/>
          </a:ln>
          <a:effectLst/>
        </p:spPr>
        <p:txBody>
          <a:bodyPr wrap="none" lIns="90000" tIns="46800" rIns="90000" bIns="46800" anchor="ctr"/>
          <a:lstStyle/>
          <a:p>
            <a:pPr algn="ctr">
              <a:lnSpc>
                <a:spcPct val="110000"/>
              </a:lnSpc>
            </a:pPr>
            <a:r>
              <a:rPr kumimoji="1" lang="en-US" altLang="zh-CN" sz="2400" dirty="0">
                <a:latin typeface="Arial" panose="020B0604020202020204" pitchFamily="34" charset="0"/>
                <a:cs typeface="Arial" panose="020B0604020202020204" pitchFamily="34" charset="0"/>
              </a:rPr>
              <a:t>4</a:t>
            </a:r>
          </a:p>
        </p:txBody>
      </p:sp>
      <p:sp>
        <p:nvSpPr>
          <p:cNvPr id="25" name="Rectangle 66"/>
          <p:cNvSpPr>
            <a:spLocks noChangeArrowheads="1"/>
          </p:cNvSpPr>
          <p:nvPr/>
        </p:nvSpPr>
        <p:spPr bwMode="auto">
          <a:xfrm>
            <a:off x="3091941" y="4488132"/>
            <a:ext cx="495300" cy="433387"/>
          </a:xfrm>
          <a:prstGeom prst="rect">
            <a:avLst/>
          </a:prstGeom>
          <a:solidFill>
            <a:schemeClr val="bg1"/>
          </a:solidFill>
          <a:ln w="19050">
            <a:noFill/>
            <a:miter lim="800000"/>
            <a:headEnd/>
            <a:tailEnd/>
          </a:ln>
          <a:effectLst/>
        </p:spPr>
        <p:txBody>
          <a:bodyPr wrap="none" lIns="90000" tIns="46800" rIns="90000" bIns="46800" anchor="ctr"/>
          <a:lstStyle/>
          <a:p>
            <a:pPr algn="ctr">
              <a:lnSpc>
                <a:spcPct val="110000"/>
              </a:lnSpc>
            </a:pPr>
            <a:r>
              <a:rPr kumimoji="1" lang="en-US" altLang="zh-CN" sz="2400" dirty="0">
                <a:latin typeface="Arial" panose="020B0604020202020204" pitchFamily="34" charset="0"/>
                <a:cs typeface="Arial" panose="020B0604020202020204" pitchFamily="34" charset="0"/>
              </a:rPr>
              <a:t>0</a:t>
            </a:r>
          </a:p>
        </p:txBody>
      </p:sp>
      <p:sp>
        <p:nvSpPr>
          <p:cNvPr id="26" name="内容占位符 2"/>
          <p:cNvSpPr txBox="1">
            <a:spLocks/>
          </p:cNvSpPr>
          <p:nvPr/>
        </p:nvSpPr>
        <p:spPr>
          <a:xfrm>
            <a:off x="1152781" y="3446269"/>
            <a:ext cx="4223139" cy="59526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回溯到</a:t>
            </a:r>
            <a:r>
              <a:rPr lang="en-US" altLang="zh-CN" sz="2400" dirty="0"/>
              <a:t>k=2</a:t>
            </a:r>
            <a:r>
              <a:rPr lang="zh-CN" altLang="en-US" sz="2400" dirty="0"/>
              <a:t>，修改</a:t>
            </a:r>
            <a:r>
              <a:rPr lang="en-US" altLang="zh-CN" sz="2400" dirty="0"/>
              <a:t>X(2)</a:t>
            </a:r>
            <a:endParaRPr lang="zh-CN" altLang="en-US" sz="2400" dirty="0"/>
          </a:p>
        </p:txBody>
      </p:sp>
      <p:sp>
        <p:nvSpPr>
          <p:cNvPr id="27" name="内容占位符 2"/>
          <p:cNvSpPr txBox="1">
            <a:spLocks/>
          </p:cNvSpPr>
          <p:nvPr/>
        </p:nvSpPr>
        <p:spPr>
          <a:xfrm>
            <a:off x="1148253" y="5116631"/>
            <a:ext cx="4889337" cy="59526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令</a:t>
            </a:r>
            <a:r>
              <a:rPr lang="en-US" altLang="zh-CN" sz="2400" dirty="0"/>
              <a:t>k=3</a:t>
            </a:r>
            <a:r>
              <a:rPr lang="zh-CN" altLang="en-US" sz="2400" dirty="0"/>
              <a:t>，重新开始构造</a:t>
            </a:r>
            <a:r>
              <a:rPr lang="en-US" altLang="zh-CN" sz="2400" dirty="0"/>
              <a:t>X(3)</a:t>
            </a:r>
            <a:endParaRPr lang="zh-CN" altLang="en-US" sz="2400" dirty="0"/>
          </a:p>
        </p:txBody>
      </p:sp>
      <p:sp>
        <p:nvSpPr>
          <p:cNvPr id="28" name="Line 6"/>
          <p:cNvSpPr>
            <a:spLocks noChangeShapeType="1"/>
          </p:cNvSpPr>
          <p:nvPr/>
        </p:nvSpPr>
        <p:spPr bwMode="auto">
          <a:xfrm>
            <a:off x="6599920" y="3068960"/>
            <a:ext cx="136859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Arial" panose="020B0604020202020204" pitchFamily="34" charset="0"/>
              <a:cs typeface="Arial" panose="020B0604020202020204" pitchFamily="34" charset="0"/>
            </a:endParaRPr>
          </a:p>
        </p:txBody>
      </p:sp>
      <p:graphicFrame>
        <p:nvGraphicFramePr>
          <p:cNvPr id="29" name="Group 18"/>
          <p:cNvGraphicFramePr>
            <a:graphicFrameLocks noGrp="1"/>
          </p:cNvGraphicFramePr>
          <p:nvPr>
            <p:extLst>
              <p:ext uri="{D42A27DB-BD31-4B8C-83A1-F6EECF244321}">
                <p14:modId xmlns:p14="http://schemas.microsoft.com/office/powerpoint/2010/main" val="1262605445"/>
              </p:ext>
            </p:extLst>
          </p:nvPr>
        </p:nvGraphicFramePr>
        <p:xfrm>
          <a:off x="5204292" y="2349016"/>
          <a:ext cx="1395628" cy="1462968"/>
        </p:xfrm>
        <a:graphic>
          <a:graphicData uri="http://schemas.openxmlformats.org/drawingml/2006/table">
            <a:tbl>
              <a:tblPr/>
              <a:tblGrid>
                <a:gridCol w="348907">
                  <a:extLst>
                    <a:ext uri="{9D8B030D-6E8A-4147-A177-3AD203B41FA5}">
                      <a16:colId xmlns:a16="http://schemas.microsoft.com/office/drawing/2014/main" val="20000"/>
                    </a:ext>
                  </a:extLst>
                </a:gridCol>
                <a:gridCol w="348907">
                  <a:extLst>
                    <a:ext uri="{9D8B030D-6E8A-4147-A177-3AD203B41FA5}">
                      <a16:colId xmlns:a16="http://schemas.microsoft.com/office/drawing/2014/main" val="20001"/>
                    </a:ext>
                  </a:extLst>
                </a:gridCol>
                <a:gridCol w="348907">
                  <a:extLst>
                    <a:ext uri="{9D8B030D-6E8A-4147-A177-3AD203B41FA5}">
                      <a16:colId xmlns:a16="http://schemas.microsoft.com/office/drawing/2014/main" val="20002"/>
                    </a:ext>
                  </a:extLst>
                </a:gridCol>
                <a:gridCol w="348907">
                  <a:extLst>
                    <a:ext uri="{9D8B030D-6E8A-4147-A177-3AD203B41FA5}">
                      <a16:colId xmlns:a16="http://schemas.microsoft.com/office/drawing/2014/main" val="20003"/>
                    </a:ext>
                  </a:extLst>
                </a:gridCol>
              </a:tblGrid>
              <a:tr h="333853">
                <a:tc>
                  <a:txBody>
                    <a:bodyPr/>
                    <a:lstStyle/>
                    <a:p>
                      <a:pPr marL="0" marR="0" lvl="0" indent="0" algn="ctr"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1</a:t>
                      </a: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3853">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3853">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3853">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9186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par>
                          <p:cTn id="16" fill="hold">
                            <p:stCondLst>
                              <p:cond delay="500"/>
                            </p:stCondLst>
                            <p:childTnLst>
                              <p:par>
                                <p:cTn id="17" presetID="1" presetClass="exit" presetSubtype="0" fill="hold" grpId="1" nodeType="afterEffect">
                                  <p:stCondLst>
                                    <p:cond delay="0"/>
                                  </p:stCondLst>
                                  <p:childTnLst>
                                    <p:set>
                                      <p:cBhvr>
                                        <p:cTn id="18" dur="1" fill="hold">
                                          <p:stCondLst>
                                            <p:cond delay="0"/>
                                          </p:stCondLst>
                                        </p:cTn>
                                        <p:tgtEl>
                                          <p:spTgt spid="12"/>
                                        </p:tgtEl>
                                        <p:attrNameLst>
                                          <p:attrName>style.visibility</p:attrName>
                                        </p:attrNameLst>
                                      </p:cBhvr>
                                      <p:to>
                                        <p:strVal val="hidden"/>
                                      </p:to>
                                    </p:se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dissolve">
                                      <p:cBhvr>
                                        <p:cTn id="26" dur="500"/>
                                        <p:tgtEl>
                                          <p:spTgt spid="9"/>
                                        </p:tgtEl>
                                      </p:cBhvr>
                                    </p:animEffect>
                                  </p:childTnLst>
                                </p:cTn>
                              </p:par>
                            </p:childTnLst>
                          </p:cTn>
                        </p:par>
                        <p:par>
                          <p:cTn id="27" fill="hold">
                            <p:stCondLst>
                              <p:cond delay="500"/>
                            </p:stCondLst>
                            <p:childTnLst>
                              <p:par>
                                <p:cTn id="28" presetID="1" presetClass="exit" presetSubtype="0" fill="hold" grpId="1" nodeType="afterEffect">
                                  <p:stCondLst>
                                    <p:cond delay="0"/>
                                  </p:stCondLst>
                                  <p:childTnLst>
                                    <p:set>
                                      <p:cBhvr>
                                        <p:cTn id="29" dur="1" fill="hold">
                                          <p:stCondLst>
                                            <p:cond delay="0"/>
                                          </p:stCondLst>
                                        </p:cTn>
                                        <p:tgtEl>
                                          <p:spTgt spid="13"/>
                                        </p:tgtEl>
                                        <p:attrNameLst>
                                          <p:attrName>style.visibility</p:attrName>
                                        </p:attrNameLst>
                                      </p:cBhvr>
                                      <p:to>
                                        <p:strVal val="hidden"/>
                                      </p:to>
                                    </p:se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dissolve">
                                      <p:cBhvr>
                                        <p:cTn id="37" dur="500"/>
                                        <p:tgtEl>
                                          <p:spTgt spid="10"/>
                                        </p:tgtEl>
                                      </p:cBhvr>
                                    </p:animEffect>
                                  </p:childTnLst>
                                </p:cTn>
                              </p:par>
                            </p:childTnLst>
                          </p:cTn>
                        </p:par>
                        <p:par>
                          <p:cTn id="38" fill="hold">
                            <p:stCondLst>
                              <p:cond delay="500"/>
                            </p:stCondLst>
                            <p:childTnLst>
                              <p:par>
                                <p:cTn id="39" presetID="1" presetClass="exit" presetSubtype="0" fill="hold" grpId="1" nodeType="afterEffect">
                                  <p:stCondLst>
                                    <p:cond delay="0"/>
                                  </p:stCondLst>
                                  <p:childTnLst>
                                    <p:set>
                                      <p:cBhvr>
                                        <p:cTn id="40" dur="1" fill="hold">
                                          <p:stCondLst>
                                            <p:cond delay="0"/>
                                          </p:stCondLst>
                                        </p:cTn>
                                        <p:tgtEl>
                                          <p:spTgt spid="14"/>
                                        </p:tgtEl>
                                        <p:attrNameLst>
                                          <p:attrName>style.visibility</p:attrName>
                                        </p:attrNameLst>
                                      </p:cBhvr>
                                      <p:to>
                                        <p:strVal val="hidden"/>
                                      </p:to>
                                    </p:se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dissolve">
                                      <p:cBhvr>
                                        <p:cTn id="48" dur="500"/>
                                        <p:tgtEl>
                                          <p:spTgt spid="11"/>
                                        </p:tgtEl>
                                      </p:cBhvr>
                                    </p:animEffect>
                                  </p:childTnLst>
                                </p:cTn>
                              </p:par>
                            </p:childTnLst>
                          </p:cTn>
                        </p:par>
                        <p:par>
                          <p:cTn id="49" fill="hold">
                            <p:stCondLst>
                              <p:cond delay="500"/>
                            </p:stCondLst>
                            <p:childTnLst>
                              <p:par>
                                <p:cTn id="50" presetID="1" presetClass="exit" presetSubtype="0" fill="hold" grpId="1" nodeType="afterEffect">
                                  <p:stCondLst>
                                    <p:cond delay="0"/>
                                  </p:stCondLst>
                                  <p:childTnLst>
                                    <p:set>
                                      <p:cBhvr>
                                        <p:cTn id="51" dur="1" fill="hold">
                                          <p:stCondLst>
                                            <p:cond delay="0"/>
                                          </p:stCondLst>
                                        </p:cTn>
                                        <p:tgtEl>
                                          <p:spTgt spid="15"/>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499"/>
                                          </p:stCondLst>
                                        </p:cTn>
                                        <p:tgtEl>
                                          <p:spTgt spid="23"/>
                                        </p:tgtEl>
                                        <p:attrNameLst>
                                          <p:attrName>style.visibility</p:attrName>
                                        </p:attrNameLst>
                                      </p:cBhvr>
                                      <p:to>
                                        <p:strVal val="visible"/>
                                      </p:to>
                                    </p:set>
                                  </p:childTnLst>
                                </p:cTn>
                              </p:par>
                            </p:childTnLst>
                          </p:cTn>
                        </p:par>
                        <p:par>
                          <p:cTn id="64" fill="hold">
                            <p:stCondLst>
                              <p:cond delay="500"/>
                            </p:stCondLst>
                            <p:childTnLst>
                              <p:par>
                                <p:cTn id="65" presetID="1" presetClass="entr" presetSubtype="0" fill="hold" grpId="0" nodeType="afterEffect">
                                  <p:stCondLst>
                                    <p:cond delay="0"/>
                                  </p:stCondLst>
                                  <p:childTnLst>
                                    <p:set>
                                      <p:cBhvr>
                                        <p:cTn id="66" dur="1" fill="hold">
                                          <p:stCondLst>
                                            <p:cond delay="499"/>
                                          </p:stCondLst>
                                        </p:cTn>
                                        <p:tgtEl>
                                          <p:spTgt spid="2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p:bldP spid="12" grpId="1"/>
      <p:bldP spid="13" grpId="0"/>
      <p:bldP spid="13" grpId="1"/>
      <p:bldP spid="14" grpId="0"/>
      <p:bldP spid="14" grpId="1"/>
      <p:bldP spid="15" grpId="0"/>
      <p:bldP spid="15" grpId="1"/>
      <p:bldP spid="22" grpId="0" autoUpdateAnimBg="0"/>
      <p:bldP spid="23" grpId="0" animBg="1" autoUpdateAnimBg="0"/>
      <p:bldP spid="24" grpId="0" animBg="1"/>
      <p:bldP spid="25" grpId="0" animBg="1"/>
      <p:bldP spid="26" grpId="0"/>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4976" y="404664"/>
            <a:ext cx="10515600" cy="1325563"/>
          </a:xfrm>
        </p:spPr>
        <p:txBody>
          <a:bodyPr/>
          <a:lstStyle/>
          <a:p>
            <a:r>
              <a:rPr lang="en-US" altLang="zh-CN" dirty="0"/>
              <a:t>8-</a:t>
            </a:r>
            <a:r>
              <a:rPr lang="zh-CN" altLang="en-US" dirty="0"/>
              <a:t>皇后问题的效率估计</a:t>
            </a:r>
          </a:p>
        </p:txBody>
      </p:sp>
      <p:sp>
        <p:nvSpPr>
          <p:cNvPr id="3" name="内容占位符 2"/>
          <p:cNvSpPr>
            <a:spLocks noGrp="1"/>
          </p:cNvSpPr>
          <p:nvPr>
            <p:ph idx="1"/>
          </p:nvPr>
        </p:nvSpPr>
        <p:spPr>
          <a:xfrm>
            <a:off x="838200" y="1885974"/>
            <a:ext cx="10515600" cy="4351338"/>
          </a:xfrm>
        </p:spPr>
        <p:txBody>
          <a:bodyPr/>
          <a:lstStyle/>
          <a:p>
            <a:r>
              <a:rPr lang="zh-CN" altLang="en-US" sz="2400" dirty="0"/>
              <a:t>在</a:t>
            </a:r>
            <a:r>
              <a:rPr lang="en-US" altLang="zh-CN" sz="2400" dirty="0"/>
              <a:t>8-</a:t>
            </a:r>
            <a:r>
              <a:rPr lang="zh-CN" altLang="en-US" sz="2400" dirty="0"/>
              <a:t>皇后问题中，</a:t>
            </a:r>
            <a:r>
              <a:rPr lang="en-US" altLang="zh-CN" sz="2400" dirty="0"/>
              <a:t>(x</a:t>
            </a:r>
            <a:r>
              <a:rPr lang="en-US" altLang="zh-CN" sz="2400" baseline="-25000" dirty="0"/>
              <a:t>1</a:t>
            </a:r>
            <a:r>
              <a:rPr lang="en-US" altLang="zh-CN" sz="2400" dirty="0"/>
              <a:t>,x</a:t>
            </a:r>
            <a:r>
              <a:rPr lang="en-US" altLang="zh-CN" sz="2400" baseline="-25000" dirty="0"/>
              <a:t>2</a:t>
            </a:r>
            <a:r>
              <a:rPr lang="en-US" altLang="zh-CN" sz="2400" dirty="0"/>
              <a:t>,..x</a:t>
            </a:r>
            <a:r>
              <a:rPr lang="en-US" altLang="zh-CN" sz="2400" baseline="-25000" dirty="0"/>
              <a:t>8</a:t>
            </a:r>
            <a:r>
              <a:rPr lang="en-US" altLang="zh-CN" sz="2400" dirty="0"/>
              <a:t>)</a:t>
            </a:r>
            <a:r>
              <a:rPr lang="zh-CN" altLang="en-US" sz="2400" dirty="0"/>
              <a:t>表示一个解，</a:t>
            </a:r>
            <a:r>
              <a:rPr lang="en-US" altLang="zh-CN" sz="2400" dirty="0"/>
              <a:t>x</a:t>
            </a:r>
            <a:r>
              <a:rPr lang="en-US" altLang="zh-CN" sz="2400" baseline="-25000" dirty="0"/>
              <a:t>i</a:t>
            </a:r>
            <a:r>
              <a:rPr lang="zh-CN" altLang="en-US" sz="2400" dirty="0"/>
              <a:t>表示第</a:t>
            </a:r>
            <a:r>
              <a:rPr lang="en-US" altLang="zh-CN" sz="2400" dirty="0" err="1"/>
              <a:t>i</a:t>
            </a:r>
            <a:r>
              <a:rPr lang="zh-CN" altLang="en-US" sz="2400" dirty="0"/>
              <a:t>个皇后放在第</a:t>
            </a:r>
            <a:r>
              <a:rPr lang="en-US" altLang="zh-CN" sz="2400" dirty="0" err="1"/>
              <a:t>i</a:t>
            </a:r>
            <a:r>
              <a:rPr lang="zh-CN" altLang="en-US" sz="2400" dirty="0"/>
              <a:t>行的列数。</a:t>
            </a:r>
            <a:endParaRPr lang="en-US" altLang="zh-CN" sz="2400" dirty="0"/>
          </a:p>
          <a:p>
            <a:pPr lvl="1"/>
            <a:r>
              <a:rPr kumimoji="1" lang="zh-CN" altLang="en-US" dirty="0"/>
              <a:t>显式</a:t>
            </a:r>
            <a:r>
              <a:rPr kumimoji="1" lang="en-US" altLang="zh-CN" dirty="0"/>
              <a:t>: S</a:t>
            </a:r>
            <a:r>
              <a:rPr kumimoji="1" lang="en-US" altLang="zh-CN" baseline="-25000" dirty="0"/>
              <a:t>i</a:t>
            </a:r>
            <a:r>
              <a:rPr kumimoji="1" lang="en-US" altLang="zh-CN" dirty="0"/>
              <a:t>={1, 2, 3, 4, 5, 6, 7, 8}, 1≤i≤8, </a:t>
            </a:r>
            <a:r>
              <a:rPr kumimoji="1" lang="zh-CN" altLang="en-US" dirty="0"/>
              <a:t>且没有两个</a:t>
            </a:r>
            <a:r>
              <a:rPr kumimoji="1" lang="en-US" altLang="zh-CN" dirty="0"/>
              <a:t>x</a:t>
            </a:r>
            <a:r>
              <a:rPr kumimoji="1" lang="en-US" altLang="zh-CN" baseline="-25000" dirty="0"/>
              <a:t>i</a:t>
            </a:r>
            <a:r>
              <a:rPr kumimoji="1" lang="zh-CN" altLang="en-US" dirty="0"/>
              <a:t>可以相同</a:t>
            </a:r>
            <a:endParaRPr kumimoji="1" lang="en-US" altLang="zh-CN" dirty="0"/>
          </a:p>
          <a:p>
            <a:pPr lvl="1"/>
            <a:r>
              <a:rPr kumimoji="1" lang="zh-CN" altLang="en-US" dirty="0"/>
              <a:t>隐式</a:t>
            </a:r>
            <a:r>
              <a:rPr kumimoji="1" lang="en-US" altLang="zh-CN" dirty="0"/>
              <a:t>: </a:t>
            </a:r>
            <a:r>
              <a:rPr kumimoji="1" lang="zh-CN" altLang="en-US" dirty="0"/>
              <a:t>没有两个皇后可以在同一条斜对角线上</a:t>
            </a:r>
            <a:endParaRPr lang="en-US" altLang="zh-CN" dirty="0"/>
          </a:p>
          <a:p>
            <a:r>
              <a:rPr lang="zh-CN" altLang="en-US" sz="2400" dirty="0"/>
              <a:t>状态空间树结点个数：</a:t>
            </a:r>
            <a:r>
              <a:rPr lang="en-US" altLang="zh-CN" sz="2400" dirty="0"/>
              <a:t>1+8+8*7+8*7*6+…+8*7*6*5*4*3*2*1=109601</a:t>
            </a:r>
            <a:endParaRPr lang="zh-CN" altLang="en-US" sz="2400" kern="0" dirty="0"/>
          </a:p>
          <a:p>
            <a:r>
              <a:rPr lang="zh-CN" altLang="en-US" sz="2400" kern="0" dirty="0"/>
              <a:t>约束函数</a:t>
            </a:r>
            <a:r>
              <a:rPr lang="en-US" altLang="zh-CN" sz="2400" kern="0" dirty="0"/>
              <a:t>PLACE</a:t>
            </a:r>
            <a:r>
              <a:rPr lang="zh-CN" altLang="en-US" sz="2400" kern="0" dirty="0"/>
              <a:t>实现隐式约束条件，会生成多少个结点？</a:t>
            </a:r>
            <a:endParaRPr lang="zh-CN" altLang="en-US" kern="0"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41</a:t>
            </a:fld>
            <a:endParaRPr lang="en-US" altLang="zh-CN"/>
          </a:p>
        </p:txBody>
      </p:sp>
      <p:sp>
        <p:nvSpPr>
          <p:cNvPr id="8" name="圆角矩形标注 7"/>
          <p:cNvSpPr/>
          <p:nvPr/>
        </p:nvSpPr>
        <p:spPr>
          <a:xfrm>
            <a:off x="4583832" y="4653136"/>
            <a:ext cx="3384376" cy="504056"/>
          </a:xfrm>
          <a:prstGeom prst="wedgeRoundRectCallout">
            <a:avLst>
              <a:gd name="adj1" fmla="val -46623"/>
              <a:gd name="adj2" fmla="val -97252"/>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幼圆" panose="02010509060101010101" pitchFamily="49" charset="-122"/>
                <a:ea typeface="幼圆" panose="02010509060101010101" pitchFamily="49" charset="-122"/>
              </a:rPr>
              <a:t>使用蒙特卡罗方法估计</a:t>
            </a:r>
          </a:p>
        </p:txBody>
      </p:sp>
    </p:spTree>
    <p:extLst>
      <p:ext uri="{BB962C8B-B14F-4D97-AF65-F5344CB8AC3E}">
        <p14:creationId xmlns:p14="http://schemas.microsoft.com/office/powerpoint/2010/main" val="53170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405" name="Group 133"/>
          <p:cNvGraphicFramePr>
            <a:graphicFrameLocks noGrp="1"/>
          </p:cNvGraphicFramePr>
          <p:nvPr>
            <p:ph sz="half" idx="1"/>
            <p:extLst>
              <p:ext uri="{D42A27DB-BD31-4B8C-83A1-F6EECF244321}">
                <p14:modId xmlns:p14="http://schemas.microsoft.com/office/powerpoint/2010/main" val="3724254810"/>
              </p:ext>
            </p:extLst>
          </p:nvPr>
        </p:nvGraphicFramePr>
        <p:xfrm>
          <a:off x="1026832" y="1542618"/>
          <a:ext cx="2879725" cy="2720976"/>
        </p:xfrm>
        <a:graphic>
          <a:graphicData uri="http://schemas.openxmlformats.org/drawingml/2006/table">
            <a:tbl>
              <a:tblPr/>
              <a:tblGrid>
                <a:gridCol w="360363">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2">
                  <a:extLst>
                    <a:ext uri="{9D8B030D-6E8A-4147-A177-3AD203B41FA5}">
                      <a16:colId xmlns:a16="http://schemas.microsoft.com/office/drawing/2014/main" val="20002"/>
                    </a:ext>
                  </a:extLst>
                </a:gridCol>
                <a:gridCol w="360363">
                  <a:extLst>
                    <a:ext uri="{9D8B030D-6E8A-4147-A177-3AD203B41FA5}">
                      <a16:colId xmlns:a16="http://schemas.microsoft.com/office/drawing/2014/main" val="20003"/>
                    </a:ext>
                  </a:extLst>
                </a:gridCol>
                <a:gridCol w="360362">
                  <a:extLst>
                    <a:ext uri="{9D8B030D-6E8A-4147-A177-3AD203B41FA5}">
                      <a16:colId xmlns:a16="http://schemas.microsoft.com/office/drawing/2014/main" val="20004"/>
                    </a:ext>
                  </a:extLst>
                </a:gridCol>
                <a:gridCol w="360363">
                  <a:extLst>
                    <a:ext uri="{9D8B030D-6E8A-4147-A177-3AD203B41FA5}">
                      <a16:colId xmlns:a16="http://schemas.microsoft.com/office/drawing/2014/main" val="20005"/>
                    </a:ext>
                  </a:extLst>
                </a:gridCol>
                <a:gridCol w="358775">
                  <a:extLst>
                    <a:ext uri="{9D8B030D-6E8A-4147-A177-3AD203B41FA5}">
                      <a16:colId xmlns:a16="http://schemas.microsoft.com/office/drawing/2014/main" val="20006"/>
                    </a:ext>
                  </a:extLst>
                </a:gridCol>
                <a:gridCol w="360362">
                  <a:extLst>
                    <a:ext uri="{9D8B030D-6E8A-4147-A177-3AD203B41FA5}">
                      <a16:colId xmlns:a16="http://schemas.microsoft.com/office/drawing/2014/main" val="20007"/>
                    </a:ext>
                  </a:extLst>
                </a:gridCol>
              </a:tblGrid>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138">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607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5"/>
                  </a:ext>
                </a:extLst>
              </a:tr>
              <a:tr h="338138">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FF"/>
                    </a:solidFill>
                  </a:tcPr>
                </a:tc>
                <a:extLst>
                  <a:ext uri="{0D108BD9-81ED-4DB2-BD59-A6C34878D82A}">
                    <a16:rowId xmlns:a16="http://schemas.microsoft.com/office/drawing/2014/main" val="10007"/>
                  </a:ext>
                </a:extLst>
              </a:tr>
            </a:tbl>
          </a:graphicData>
        </a:graphic>
      </p:graphicFrame>
      <p:sp>
        <p:nvSpPr>
          <p:cNvPr id="54406" name="Text Box 134"/>
          <p:cNvSpPr txBox="1">
            <a:spLocks noChangeArrowheads="1"/>
          </p:cNvSpPr>
          <p:nvPr/>
        </p:nvSpPr>
        <p:spPr bwMode="auto">
          <a:xfrm>
            <a:off x="3977995" y="1553731"/>
            <a:ext cx="46513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50000"/>
              </a:lnSpc>
              <a:spcBef>
                <a:spcPct val="50000"/>
              </a:spcBef>
            </a:pPr>
            <a:r>
              <a:rPr lang="en-US" altLang="zh-CN" sz="2400" dirty="0">
                <a:solidFill>
                  <a:srgbClr val="FF0000"/>
                </a:solidFill>
              </a:rPr>
              <a:t>8</a:t>
            </a:r>
          </a:p>
          <a:p>
            <a:pPr eaLnBrk="1" hangingPunct="1">
              <a:lnSpc>
                <a:spcPct val="50000"/>
              </a:lnSpc>
              <a:spcBef>
                <a:spcPct val="50000"/>
              </a:spcBef>
            </a:pPr>
            <a:r>
              <a:rPr lang="en-US" altLang="zh-CN" sz="2400" dirty="0">
                <a:solidFill>
                  <a:srgbClr val="FF0000"/>
                </a:solidFill>
              </a:rPr>
              <a:t>5</a:t>
            </a:r>
          </a:p>
          <a:p>
            <a:pPr eaLnBrk="1" hangingPunct="1">
              <a:lnSpc>
                <a:spcPct val="50000"/>
              </a:lnSpc>
              <a:spcBef>
                <a:spcPct val="50000"/>
              </a:spcBef>
            </a:pPr>
            <a:r>
              <a:rPr lang="en-US" altLang="zh-CN" sz="2400" dirty="0">
                <a:solidFill>
                  <a:srgbClr val="FF0000"/>
                </a:solidFill>
              </a:rPr>
              <a:t>4</a:t>
            </a:r>
          </a:p>
          <a:p>
            <a:pPr eaLnBrk="1" hangingPunct="1">
              <a:lnSpc>
                <a:spcPct val="50000"/>
              </a:lnSpc>
              <a:spcBef>
                <a:spcPct val="50000"/>
              </a:spcBef>
            </a:pPr>
            <a:r>
              <a:rPr lang="en-US" altLang="zh-CN" sz="2400" dirty="0">
                <a:solidFill>
                  <a:srgbClr val="FF0000"/>
                </a:solidFill>
              </a:rPr>
              <a:t>3</a:t>
            </a:r>
          </a:p>
          <a:p>
            <a:pPr eaLnBrk="1" hangingPunct="1">
              <a:lnSpc>
                <a:spcPct val="50000"/>
              </a:lnSpc>
              <a:spcBef>
                <a:spcPct val="50000"/>
              </a:spcBef>
            </a:pPr>
            <a:r>
              <a:rPr lang="en-US" altLang="zh-CN" sz="2400" dirty="0">
                <a:solidFill>
                  <a:srgbClr val="FF0000"/>
                </a:solidFill>
              </a:rPr>
              <a:t>2</a:t>
            </a:r>
          </a:p>
        </p:txBody>
      </p:sp>
      <p:sp>
        <p:nvSpPr>
          <p:cNvPr id="54407" name="Text Box 135"/>
          <p:cNvSpPr txBox="1">
            <a:spLocks noChangeArrowheads="1"/>
          </p:cNvSpPr>
          <p:nvPr/>
        </p:nvSpPr>
        <p:spPr bwMode="auto">
          <a:xfrm>
            <a:off x="4406453" y="1541574"/>
            <a:ext cx="1833563" cy="2751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60000"/>
              </a:lnSpc>
              <a:spcBef>
                <a:spcPct val="50000"/>
              </a:spcBef>
            </a:pPr>
            <a:r>
              <a:rPr lang="en-US" altLang="zh-CN" sz="2400" dirty="0"/>
              <a:t>1+</a:t>
            </a:r>
          </a:p>
          <a:p>
            <a:pPr eaLnBrk="1" hangingPunct="1">
              <a:lnSpc>
                <a:spcPct val="60000"/>
              </a:lnSpc>
              <a:spcBef>
                <a:spcPct val="50000"/>
              </a:spcBef>
            </a:pPr>
            <a:r>
              <a:rPr lang="en-US" altLang="zh-CN" sz="2400" dirty="0"/>
              <a:t>8+</a:t>
            </a:r>
          </a:p>
          <a:p>
            <a:pPr eaLnBrk="1" hangingPunct="1">
              <a:lnSpc>
                <a:spcPct val="60000"/>
              </a:lnSpc>
              <a:spcBef>
                <a:spcPct val="50000"/>
              </a:spcBef>
            </a:pPr>
            <a:r>
              <a:rPr lang="en-US" altLang="zh-CN" sz="2400" dirty="0"/>
              <a:t>8*5+</a:t>
            </a:r>
          </a:p>
          <a:p>
            <a:pPr eaLnBrk="1" hangingPunct="1">
              <a:lnSpc>
                <a:spcPct val="60000"/>
              </a:lnSpc>
              <a:spcBef>
                <a:spcPct val="50000"/>
              </a:spcBef>
            </a:pPr>
            <a:r>
              <a:rPr lang="en-US" altLang="zh-CN" sz="2400" dirty="0"/>
              <a:t>8*5*4+</a:t>
            </a:r>
          </a:p>
          <a:p>
            <a:pPr eaLnBrk="1" hangingPunct="1">
              <a:lnSpc>
                <a:spcPct val="60000"/>
              </a:lnSpc>
              <a:spcBef>
                <a:spcPct val="50000"/>
              </a:spcBef>
            </a:pPr>
            <a:r>
              <a:rPr lang="en-US" altLang="zh-CN" sz="2400" dirty="0"/>
              <a:t>8*5*4*3+</a:t>
            </a:r>
          </a:p>
          <a:p>
            <a:pPr eaLnBrk="1" hangingPunct="1">
              <a:lnSpc>
                <a:spcPct val="60000"/>
              </a:lnSpc>
              <a:spcBef>
                <a:spcPct val="50000"/>
              </a:spcBef>
            </a:pPr>
            <a:r>
              <a:rPr lang="en-US" altLang="zh-CN" sz="2400" dirty="0"/>
              <a:t>8*5*4*3*2</a:t>
            </a:r>
          </a:p>
          <a:p>
            <a:pPr eaLnBrk="1" hangingPunct="1">
              <a:lnSpc>
                <a:spcPct val="60000"/>
              </a:lnSpc>
              <a:spcBef>
                <a:spcPct val="50000"/>
              </a:spcBef>
            </a:pPr>
            <a:r>
              <a:rPr lang="en-US" altLang="zh-CN" sz="2400" dirty="0"/>
              <a:t>=1649</a:t>
            </a:r>
          </a:p>
        </p:txBody>
      </p:sp>
      <p:graphicFrame>
        <p:nvGraphicFramePr>
          <p:cNvPr id="54535" name="Group 263"/>
          <p:cNvGraphicFramePr>
            <a:graphicFrameLocks noGrp="1"/>
          </p:cNvGraphicFramePr>
          <p:nvPr>
            <p:ph sz="half" idx="2"/>
            <p:extLst>
              <p:ext uri="{D42A27DB-BD31-4B8C-83A1-F6EECF244321}">
                <p14:modId xmlns:p14="http://schemas.microsoft.com/office/powerpoint/2010/main" val="1591608524"/>
              </p:ext>
            </p:extLst>
          </p:nvPr>
        </p:nvGraphicFramePr>
        <p:xfrm>
          <a:off x="6672064" y="1553731"/>
          <a:ext cx="2879725" cy="2720976"/>
        </p:xfrm>
        <a:graphic>
          <a:graphicData uri="http://schemas.openxmlformats.org/drawingml/2006/table">
            <a:tbl>
              <a:tblPr/>
              <a:tblGrid>
                <a:gridCol w="360362">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3">
                  <a:extLst>
                    <a:ext uri="{9D8B030D-6E8A-4147-A177-3AD203B41FA5}">
                      <a16:colId xmlns:a16="http://schemas.microsoft.com/office/drawing/2014/main" val="20002"/>
                    </a:ext>
                  </a:extLst>
                </a:gridCol>
                <a:gridCol w="360362">
                  <a:extLst>
                    <a:ext uri="{9D8B030D-6E8A-4147-A177-3AD203B41FA5}">
                      <a16:colId xmlns:a16="http://schemas.microsoft.com/office/drawing/2014/main" val="20003"/>
                    </a:ext>
                  </a:extLst>
                </a:gridCol>
                <a:gridCol w="360363">
                  <a:extLst>
                    <a:ext uri="{9D8B030D-6E8A-4147-A177-3AD203B41FA5}">
                      <a16:colId xmlns:a16="http://schemas.microsoft.com/office/drawing/2014/main" val="20004"/>
                    </a:ext>
                  </a:extLst>
                </a:gridCol>
                <a:gridCol w="360362">
                  <a:extLst>
                    <a:ext uri="{9D8B030D-6E8A-4147-A177-3AD203B41FA5}">
                      <a16:colId xmlns:a16="http://schemas.microsoft.com/office/drawing/2014/main" val="20005"/>
                    </a:ext>
                  </a:extLst>
                </a:gridCol>
                <a:gridCol w="358775">
                  <a:extLst>
                    <a:ext uri="{9D8B030D-6E8A-4147-A177-3AD203B41FA5}">
                      <a16:colId xmlns:a16="http://schemas.microsoft.com/office/drawing/2014/main" val="20006"/>
                    </a:ext>
                  </a:extLst>
                </a:gridCol>
                <a:gridCol w="360363">
                  <a:extLst>
                    <a:ext uri="{9D8B030D-6E8A-4147-A177-3AD203B41FA5}">
                      <a16:colId xmlns:a16="http://schemas.microsoft.com/office/drawing/2014/main" val="20007"/>
                    </a:ext>
                  </a:extLst>
                </a:gridCol>
              </a:tblGrid>
              <a:tr h="338138">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2"/>
                  </a:ext>
                </a:extLst>
              </a:tr>
              <a:tr h="34607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3"/>
                  </a:ext>
                </a:extLst>
              </a:tr>
              <a:tr h="338138">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4"/>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extLst>
                  <a:ext uri="{0D108BD9-81ED-4DB2-BD59-A6C34878D82A}">
                    <a16:rowId xmlns:a16="http://schemas.microsoft.com/office/drawing/2014/main" val="10005"/>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6"/>
                  </a:ext>
                </a:extLst>
              </a:tr>
              <a:tr h="339725">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dirty="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bl>
          </a:graphicData>
        </a:graphic>
      </p:graphicFrame>
      <p:sp>
        <p:nvSpPr>
          <p:cNvPr id="54495" name="Text Box 223"/>
          <p:cNvSpPr txBox="1">
            <a:spLocks noChangeArrowheads="1"/>
          </p:cNvSpPr>
          <p:nvPr/>
        </p:nvSpPr>
        <p:spPr bwMode="auto">
          <a:xfrm>
            <a:off x="9651800" y="1537857"/>
            <a:ext cx="1174750" cy="289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60000"/>
              </a:lnSpc>
              <a:spcBef>
                <a:spcPct val="50000"/>
              </a:spcBef>
            </a:pPr>
            <a:r>
              <a:rPr lang="en-US" altLang="zh-CN" sz="2400" dirty="0">
                <a:solidFill>
                  <a:srgbClr val="FF0000"/>
                </a:solidFill>
              </a:rPr>
              <a:t>8</a:t>
            </a:r>
          </a:p>
          <a:p>
            <a:pPr eaLnBrk="1" hangingPunct="1">
              <a:lnSpc>
                <a:spcPct val="50000"/>
              </a:lnSpc>
              <a:spcBef>
                <a:spcPct val="50000"/>
              </a:spcBef>
            </a:pPr>
            <a:r>
              <a:rPr lang="en-US" altLang="zh-CN" sz="2400" dirty="0">
                <a:solidFill>
                  <a:srgbClr val="FF0000"/>
                </a:solidFill>
              </a:rPr>
              <a:t>6</a:t>
            </a:r>
          </a:p>
          <a:p>
            <a:pPr eaLnBrk="1" hangingPunct="1">
              <a:lnSpc>
                <a:spcPct val="50000"/>
              </a:lnSpc>
              <a:spcBef>
                <a:spcPct val="50000"/>
              </a:spcBef>
            </a:pPr>
            <a:r>
              <a:rPr lang="en-US" altLang="zh-CN" sz="2400" dirty="0">
                <a:solidFill>
                  <a:srgbClr val="FF0000"/>
                </a:solidFill>
              </a:rPr>
              <a:t>4</a:t>
            </a:r>
          </a:p>
          <a:p>
            <a:pPr eaLnBrk="1" hangingPunct="1">
              <a:lnSpc>
                <a:spcPct val="50000"/>
              </a:lnSpc>
              <a:spcBef>
                <a:spcPct val="50000"/>
              </a:spcBef>
            </a:pPr>
            <a:r>
              <a:rPr lang="en-US" altLang="zh-CN" sz="2400" dirty="0">
                <a:solidFill>
                  <a:srgbClr val="FF0000"/>
                </a:solidFill>
              </a:rPr>
              <a:t>2</a:t>
            </a:r>
          </a:p>
          <a:p>
            <a:pPr eaLnBrk="1" hangingPunct="1">
              <a:lnSpc>
                <a:spcPct val="50000"/>
              </a:lnSpc>
              <a:spcBef>
                <a:spcPct val="50000"/>
              </a:spcBef>
            </a:pPr>
            <a:r>
              <a:rPr lang="en-US" altLang="zh-CN" sz="2400" dirty="0">
                <a:solidFill>
                  <a:srgbClr val="FF0000"/>
                </a:solidFill>
              </a:rPr>
              <a:t>1</a:t>
            </a:r>
          </a:p>
          <a:p>
            <a:pPr eaLnBrk="1" hangingPunct="1">
              <a:lnSpc>
                <a:spcPct val="50000"/>
              </a:lnSpc>
              <a:spcBef>
                <a:spcPct val="50000"/>
              </a:spcBef>
            </a:pPr>
            <a:r>
              <a:rPr lang="en-US" altLang="zh-CN" sz="2400" dirty="0">
                <a:solidFill>
                  <a:srgbClr val="FF0000"/>
                </a:solidFill>
              </a:rPr>
              <a:t>1</a:t>
            </a:r>
          </a:p>
          <a:p>
            <a:pPr eaLnBrk="1" hangingPunct="1">
              <a:lnSpc>
                <a:spcPct val="50000"/>
              </a:lnSpc>
              <a:spcBef>
                <a:spcPct val="50000"/>
              </a:spcBef>
            </a:pPr>
            <a:r>
              <a:rPr lang="en-US" altLang="zh-CN" sz="2400" dirty="0">
                <a:solidFill>
                  <a:srgbClr val="FF0000"/>
                </a:solidFill>
              </a:rPr>
              <a:t>1</a:t>
            </a:r>
          </a:p>
          <a:p>
            <a:pPr eaLnBrk="1" hangingPunct="1">
              <a:lnSpc>
                <a:spcPct val="50000"/>
              </a:lnSpc>
              <a:spcBef>
                <a:spcPct val="50000"/>
              </a:spcBef>
            </a:pPr>
            <a:r>
              <a:rPr lang="en-US" altLang="zh-CN" sz="2400" dirty="0"/>
              <a:t>=1401</a:t>
            </a:r>
          </a:p>
        </p:txBody>
      </p:sp>
      <p:sp>
        <p:nvSpPr>
          <p:cNvPr id="54623" name="Text Box 351"/>
          <p:cNvSpPr txBox="1">
            <a:spLocks noChangeArrowheads="1"/>
          </p:cNvSpPr>
          <p:nvPr/>
        </p:nvSpPr>
        <p:spPr bwMode="auto">
          <a:xfrm>
            <a:off x="969223" y="4457700"/>
            <a:ext cx="5100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400" dirty="0">
                <a:ea typeface="幼圆" panose="02010509060101010101" pitchFamily="49" charset="-122"/>
                <a:cs typeface="Arial" panose="020B0604020202020204" pitchFamily="34" charset="0"/>
              </a:rPr>
              <a:t>多次实验后取平均值</a:t>
            </a:r>
            <a:r>
              <a:rPr lang="en-US" altLang="zh-CN" sz="2400" dirty="0">
                <a:ea typeface="幼圆" panose="02010509060101010101" pitchFamily="49" charset="-122"/>
                <a:cs typeface="Arial" panose="020B0604020202020204" pitchFamily="34" charset="0"/>
              </a:rPr>
              <a:t>1625</a:t>
            </a:r>
            <a:endParaRPr lang="zh-CN" altLang="en-US" sz="2400" dirty="0">
              <a:ea typeface="幼圆" panose="02010509060101010101" pitchFamily="49" charset="-122"/>
              <a:cs typeface="Arial" panose="020B0604020202020204" pitchFamily="34" charset="0"/>
            </a:endParaRPr>
          </a:p>
        </p:txBody>
      </p:sp>
      <p:sp>
        <p:nvSpPr>
          <p:cNvPr id="54625" name="Text Box 353"/>
          <p:cNvSpPr txBox="1">
            <a:spLocks noChangeArrowheads="1"/>
          </p:cNvSpPr>
          <p:nvPr/>
        </p:nvSpPr>
        <p:spPr bwMode="auto">
          <a:xfrm>
            <a:off x="941182" y="4988760"/>
            <a:ext cx="8611202" cy="94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90000"/>
              </a:lnSpc>
              <a:spcBef>
                <a:spcPct val="50000"/>
              </a:spcBef>
            </a:pPr>
            <a:r>
              <a:rPr lang="zh-CN" altLang="en-US" sz="2400" dirty="0">
                <a:ea typeface="幼圆" panose="02010509060101010101" pitchFamily="49" charset="-122"/>
                <a:cs typeface="Arial" panose="020B0604020202020204" pitchFamily="34" charset="0"/>
              </a:rPr>
              <a:t>不受限结点的估计数大约是</a:t>
            </a:r>
            <a:r>
              <a:rPr lang="en-US" altLang="zh-CN" sz="2400" dirty="0">
                <a:ea typeface="幼圆" panose="02010509060101010101" pitchFamily="49" charset="-122"/>
                <a:cs typeface="Arial" panose="020B0604020202020204" pitchFamily="34" charset="0"/>
              </a:rPr>
              <a:t>8-</a:t>
            </a:r>
            <a:r>
              <a:rPr lang="zh-CN" altLang="en-US" sz="2400" dirty="0">
                <a:ea typeface="幼圆" panose="02010509060101010101" pitchFamily="49" charset="-122"/>
                <a:cs typeface="Arial" panose="020B0604020202020204" pitchFamily="34" charset="0"/>
              </a:rPr>
              <a:t>皇后状态空间树的结点总数的</a:t>
            </a:r>
          </a:p>
          <a:p>
            <a:pPr eaLnBrk="1" hangingPunct="1">
              <a:lnSpc>
                <a:spcPct val="90000"/>
              </a:lnSpc>
              <a:spcBef>
                <a:spcPct val="50000"/>
              </a:spcBef>
            </a:pPr>
            <a:r>
              <a:rPr lang="en-US" altLang="zh-CN" sz="2400" dirty="0">
                <a:solidFill>
                  <a:srgbClr val="FF0000"/>
                </a:solidFill>
                <a:ea typeface="幼圆" panose="02010509060101010101" pitchFamily="49" charset="-122"/>
                <a:cs typeface="Arial" panose="020B0604020202020204" pitchFamily="34" charset="0"/>
              </a:rPr>
              <a:t>1625/109601=1.48%</a:t>
            </a:r>
            <a:endParaRPr lang="zh-CN" altLang="en-US" sz="2400" dirty="0">
              <a:ea typeface="幼圆" panose="02010509060101010101" pitchFamily="49" charset="-122"/>
              <a:cs typeface="Arial" panose="020B0604020202020204" pitchFamily="34" charset="0"/>
            </a:endParaRPr>
          </a:p>
        </p:txBody>
      </p:sp>
      <p:sp>
        <p:nvSpPr>
          <p:cNvPr id="44206" name="Rectangle 355"/>
          <p:cNvSpPr>
            <a:spLocks noGrp="1" noChangeArrowheads="1"/>
          </p:cNvSpPr>
          <p:nvPr>
            <p:ph type="title"/>
          </p:nvPr>
        </p:nvSpPr>
        <p:spPr>
          <a:xfrm>
            <a:off x="878682" y="270670"/>
            <a:ext cx="8229600" cy="841375"/>
          </a:xfrm>
          <a:noFill/>
        </p:spPr>
        <p:txBody>
          <a:bodyPr/>
          <a:lstStyle/>
          <a:p>
            <a:pPr eaLnBrk="1" hangingPunct="1"/>
            <a:r>
              <a:rPr lang="en-US" altLang="zh-CN" sz="3600" dirty="0"/>
              <a:t>8-</a:t>
            </a:r>
            <a:r>
              <a:rPr lang="zh-CN" altLang="en-US" sz="3600" dirty="0"/>
              <a:t>皇后问题的不受限结点的估计值</a:t>
            </a:r>
          </a:p>
        </p:txBody>
      </p:sp>
      <p:sp>
        <p:nvSpPr>
          <p:cNvPr id="11"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42</a:t>
            </a:fld>
            <a:endParaRPr lang="en-US" altLang="zh-CN" dirty="0"/>
          </a:p>
        </p:txBody>
      </p:sp>
    </p:spTree>
    <p:extLst>
      <p:ext uri="{BB962C8B-B14F-4D97-AF65-F5344CB8AC3E}">
        <p14:creationId xmlns:p14="http://schemas.microsoft.com/office/powerpoint/2010/main" val="7327545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4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4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4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453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49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62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6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06" grpId="0"/>
      <p:bldP spid="54407" grpId="0"/>
      <p:bldP spid="54495" grpId="0"/>
      <p:bldP spid="54623" grpId="0"/>
      <p:bldP spid="546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dirty="0"/>
              <a:t>7.4 </a:t>
            </a:r>
            <a:r>
              <a:rPr lang="zh-CN" altLang="en-US" dirty="0"/>
              <a:t>子集和问题</a:t>
            </a:r>
          </a:p>
        </p:txBody>
      </p:sp>
      <p:sp>
        <p:nvSpPr>
          <p:cNvPr id="45059" name="内容占位符 2"/>
          <p:cNvSpPr>
            <a:spLocks noGrp="1"/>
          </p:cNvSpPr>
          <p:nvPr>
            <p:ph idx="1"/>
          </p:nvPr>
        </p:nvSpPr>
        <p:spPr/>
        <p:txBody>
          <a:bodyPr/>
          <a:lstStyle/>
          <a:p>
            <a:pPr>
              <a:lnSpc>
                <a:spcPct val="120000"/>
              </a:lnSpc>
              <a:spcBef>
                <a:spcPts val="0"/>
              </a:spcBef>
            </a:pPr>
            <a:r>
              <a:rPr lang="zh-CN" altLang="en-US" dirty="0"/>
              <a:t>问题描述</a:t>
            </a:r>
            <a:endParaRPr lang="en-US" altLang="zh-CN" dirty="0"/>
          </a:p>
          <a:p>
            <a:pPr>
              <a:lnSpc>
                <a:spcPct val="120000"/>
              </a:lnSpc>
              <a:spcBef>
                <a:spcPts val="0"/>
              </a:spcBef>
            </a:pPr>
            <a:r>
              <a:rPr lang="zh-CN" altLang="en-US" dirty="0"/>
              <a:t>约束函数</a:t>
            </a:r>
            <a:endParaRPr lang="en-US" altLang="zh-CN" dirty="0"/>
          </a:p>
          <a:p>
            <a:pPr>
              <a:lnSpc>
                <a:spcPct val="120000"/>
              </a:lnSpc>
              <a:spcBef>
                <a:spcPts val="0"/>
              </a:spcBef>
            </a:pPr>
            <a:r>
              <a:rPr lang="zh-CN" altLang="en-US" dirty="0"/>
              <a:t>算法</a:t>
            </a:r>
            <a:r>
              <a:rPr lang="en-US" altLang="zh-CN" dirty="0"/>
              <a:t>7.6 </a:t>
            </a:r>
            <a:r>
              <a:rPr lang="zh-CN" altLang="en-US" dirty="0"/>
              <a:t>子集和的回溯递归算法</a:t>
            </a:r>
          </a:p>
          <a:p>
            <a:pPr>
              <a:lnSpc>
                <a:spcPct val="120000"/>
              </a:lnSpc>
              <a:spcBef>
                <a:spcPts val="0"/>
              </a:spcBef>
            </a:pPr>
            <a:r>
              <a:rPr lang="zh-CN" altLang="en-US" dirty="0"/>
              <a:t>实例分析</a:t>
            </a:r>
            <a:endParaRPr lang="en-US" altLang="zh-CN" dirty="0"/>
          </a:p>
          <a:p>
            <a:pPr>
              <a:lnSpc>
                <a:spcPct val="120000"/>
              </a:lnSpc>
              <a:spcBef>
                <a:spcPts val="0"/>
              </a:spcBef>
            </a:pPr>
            <a:r>
              <a:rPr lang="zh-CN" altLang="en-US" dirty="0"/>
              <a:t>效率估计</a:t>
            </a:r>
            <a:endParaRPr lang="en-US" altLang="zh-CN" dirty="0"/>
          </a:p>
          <a:p>
            <a:pPr>
              <a:lnSpc>
                <a:spcPct val="120000"/>
              </a:lnSpc>
              <a:spcBef>
                <a:spcPts val="0"/>
              </a:spcBef>
            </a:pPr>
            <a:endParaRPr lang="zh-CN" altLang="en-US" dirty="0"/>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43</a:t>
            </a:fld>
            <a:endParaRPr lang="en-US" altLang="zh-CN" dirty="0"/>
          </a:p>
        </p:txBody>
      </p:sp>
    </p:spTree>
    <p:extLst>
      <p:ext uri="{BB962C8B-B14F-4D97-AF65-F5344CB8AC3E}">
        <p14:creationId xmlns:p14="http://schemas.microsoft.com/office/powerpoint/2010/main" val="31980090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a:t>问题描述</a:t>
            </a:r>
          </a:p>
        </p:txBody>
      </p:sp>
      <p:sp>
        <p:nvSpPr>
          <p:cNvPr id="3" name="内容占位符 2"/>
          <p:cNvSpPr>
            <a:spLocks noGrp="1"/>
          </p:cNvSpPr>
          <p:nvPr>
            <p:ph idx="1"/>
          </p:nvPr>
        </p:nvSpPr>
        <p:spPr>
          <a:xfrm>
            <a:off x="911424" y="1772816"/>
            <a:ext cx="10153128" cy="4392488"/>
          </a:xfrm>
        </p:spPr>
        <p:txBody>
          <a:bodyPr>
            <a:normAutofit/>
          </a:bodyPr>
          <a:lstStyle/>
          <a:p>
            <a:pPr>
              <a:defRPr/>
            </a:pPr>
            <a:r>
              <a:rPr lang="zh-CN" altLang="en-US" dirty="0"/>
              <a:t>子集和问题：</a:t>
            </a:r>
            <a:endParaRPr lang="en-US" altLang="zh-CN" dirty="0"/>
          </a:p>
          <a:p>
            <a:pPr lvl="1">
              <a:defRPr/>
            </a:pPr>
            <a:r>
              <a:rPr lang="zh-CN" altLang="en-US" dirty="0"/>
              <a:t>假定有</a:t>
            </a:r>
            <a:r>
              <a:rPr lang="en-US" altLang="zh-CN" dirty="0"/>
              <a:t>n</a:t>
            </a:r>
            <a:r>
              <a:rPr lang="zh-CN" altLang="en-US" dirty="0"/>
              <a:t>个不同的正数</a:t>
            </a:r>
            <a:r>
              <a:rPr lang="en-US" altLang="zh-CN" dirty="0"/>
              <a:t>W(1:n)</a:t>
            </a:r>
            <a:r>
              <a:rPr lang="zh-CN" altLang="en-US" dirty="0"/>
              <a:t>，找出这些数中</a:t>
            </a:r>
            <a:r>
              <a:rPr lang="zh-CN" altLang="en-US" dirty="0">
                <a:solidFill>
                  <a:srgbClr val="FF0000"/>
                </a:solidFill>
              </a:rPr>
              <a:t>所有</a:t>
            </a:r>
            <a:r>
              <a:rPr lang="zh-CN" altLang="en-US" dirty="0"/>
              <a:t>使得和为</a:t>
            </a:r>
            <a:r>
              <a:rPr lang="en-US" altLang="zh-CN" dirty="0"/>
              <a:t>M</a:t>
            </a:r>
            <a:r>
              <a:rPr lang="zh-CN" altLang="en-US" dirty="0"/>
              <a:t>的组合。元素</a:t>
            </a:r>
            <a:r>
              <a:rPr lang="en-US" altLang="zh-CN" dirty="0"/>
              <a:t>W(</a:t>
            </a:r>
            <a:r>
              <a:rPr lang="en-US" altLang="zh-CN" dirty="0" err="1"/>
              <a:t>i</a:t>
            </a:r>
            <a:r>
              <a:rPr lang="en-US" altLang="zh-CN" dirty="0"/>
              <a:t>)</a:t>
            </a:r>
            <a:r>
              <a:rPr lang="zh-CN" altLang="en-US" dirty="0"/>
              <a:t>称为权。 </a:t>
            </a:r>
            <a:endParaRPr lang="en-US" altLang="zh-CN" dirty="0"/>
          </a:p>
          <a:p>
            <a:pPr>
              <a:defRPr/>
            </a:pPr>
            <a:r>
              <a:rPr lang="zh-CN" altLang="en-US" dirty="0"/>
              <a:t>回溯法求解：</a:t>
            </a:r>
            <a:endParaRPr lang="en-US" altLang="zh-CN" dirty="0"/>
          </a:p>
          <a:p>
            <a:pPr lvl="1">
              <a:defRPr/>
            </a:pPr>
            <a:r>
              <a:rPr kumimoji="1" lang="en-US" altLang="zh-CN" dirty="0"/>
              <a:t>n-</a:t>
            </a:r>
            <a:r>
              <a:rPr kumimoji="1" lang="zh-CN" altLang="en-US" dirty="0"/>
              <a:t>元组</a:t>
            </a:r>
            <a:r>
              <a:rPr kumimoji="1" lang="en-US" altLang="zh-CN" dirty="0"/>
              <a:t>(x</a:t>
            </a:r>
            <a:r>
              <a:rPr kumimoji="1" lang="en-US" altLang="zh-CN" baseline="-25000" dirty="0"/>
              <a:t>1</a:t>
            </a:r>
            <a:r>
              <a:rPr kumimoji="1" lang="en-US" altLang="zh-CN" dirty="0"/>
              <a:t>,…,</a:t>
            </a:r>
            <a:r>
              <a:rPr kumimoji="1" lang="en-US" altLang="zh-CN" dirty="0" err="1"/>
              <a:t>x</a:t>
            </a:r>
            <a:r>
              <a:rPr kumimoji="1" lang="en-US" altLang="zh-CN" baseline="-25000" dirty="0" err="1"/>
              <a:t>n</a:t>
            </a:r>
            <a:r>
              <a:rPr kumimoji="1" lang="en-US" altLang="zh-CN" dirty="0"/>
              <a:t>)</a:t>
            </a:r>
          </a:p>
          <a:p>
            <a:pPr lvl="1">
              <a:defRPr/>
            </a:pPr>
            <a:r>
              <a:rPr kumimoji="1" lang="zh-CN" altLang="en-US" dirty="0"/>
              <a:t>显示约束条件：</a:t>
            </a:r>
            <a:r>
              <a:rPr kumimoji="1" lang="en-US" altLang="zh-CN" dirty="0"/>
              <a:t>x</a:t>
            </a:r>
            <a:r>
              <a:rPr kumimoji="1" lang="en-US" altLang="zh-CN" baseline="-25000" dirty="0"/>
              <a:t>i</a:t>
            </a:r>
            <a:r>
              <a:rPr kumimoji="1" lang="en-US" altLang="zh-CN" dirty="0"/>
              <a:t>∈{0,1},1≤i≤n</a:t>
            </a:r>
            <a:r>
              <a:rPr kumimoji="1" lang="zh-CN" altLang="en-US" dirty="0"/>
              <a:t>；如果选择</a:t>
            </a:r>
            <a:r>
              <a:rPr kumimoji="1" lang="en-US" altLang="zh-CN" dirty="0" err="1"/>
              <a:t>w</a:t>
            </a:r>
            <a:r>
              <a:rPr kumimoji="1" lang="en-US" altLang="zh-CN" baseline="-25000" dirty="0" err="1"/>
              <a:t>i</a:t>
            </a:r>
            <a:r>
              <a:rPr kumimoji="1" lang="en-US" altLang="zh-CN" dirty="0"/>
              <a:t> , </a:t>
            </a:r>
            <a:r>
              <a:rPr kumimoji="1" lang="zh-CN" altLang="en-US" dirty="0"/>
              <a:t>则</a:t>
            </a:r>
            <a:r>
              <a:rPr kumimoji="1" lang="en-US" altLang="zh-CN" dirty="0"/>
              <a:t>x</a:t>
            </a:r>
            <a:r>
              <a:rPr kumimoji="1" lang="en-US" altLang="zh-CN" baseline="-25000" dirty="0"/>
              <a:t>i</a:t>
            </a:r>
            <a:r>
              <a:rPr kumimoji="1" lang="en-US" altLang="zh-CN" dirty="0"/>
              <a:t>=1</a:t>
            </a:r>
            <a:r>
              <a:rPr kumimoji="1" lang="zh-CN" altLang="en-US" dirty="0"/>
              <a:t>；否则</a:t>
            </a:r>
            <a:r>
              <a:rPr kumimoji="1" lang="en-US" altLang="zh-CN" dirty="0"/>
              <a:t>x</a:t>
            </a:r>
            <a:r>
              <a:rPr kumimoji="1" lang="en-US" altLang="zh-CN" baseline="-25000" dirty="0"/>
              <a:t>i</a:t>
            </a:r>
            <a:r>
              <a:rPr kumimoji="1" lang="en-US" altLang="zh-CN" dirty="0"/>
              <a:t>=0</a:t>
            </a:r>
          </a:p>
          <a:p>
            <a:pPr lvl="1">
              <a:defRPr/>
            </a:pPr>
            <a:r>
              <a:rPr kumimoji="1" lang="zh-CN" altLang="en-US" dirty="0"/>
              <a:t>隐式约束：∑</a:t>
            </a:r>
            <a:r>
              <a:rPr kumimoji="1" lang="en-US" altLang="zh-CN" dirty="0" err="1"/>
              <a:t>w</a:t>
            </a:r>
            <a:r>
              <a:rPr kumimoji="1" lang="en-US" altLang="zh-CN" baseline="-25000" dirty="0" err="1"/>
              <a:t>i</a:t>
            </a:r>
            <a:r>
              <a:rPr kumimoji="1" lang="en-US" altLang="zh-CN" dirty="0" err="1"/>
              <a:t>x</a:t>
            </a:r>
            <a:r>
              <a:rPr kumimoji="1" lang="en-US" altLang="zh-CN" baseline="-25000" dirty="0" err="1"/>
              <a:t>i</a:t>
            </a:r>
            <a:r>
              <a:rPr kumimoji="1" lang="en-US" altLang="zh-CN" dirty="0"/>
              <a:t>=M</a:t>
            </a:r>
            <a:r>
              <a:rPr kumimoji="1" lang="zh-CN" altLang="en-US" dirty="0"/>
              <a:t>，</a:t>
            </a:r>
            <a:r>
              <a:rPr kumimoji="1" lang="en-US" altLang="zh-CN" dirty="0"/>
              <a:t>1≤i≤n</a:t>
            </a:r>
            <a:endParaRPr lang="zh-CN" altLang="en-US" dirty="0"/>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44</a:t>
            </a:fld>
            <a:endParaRPr lang="en-US" altLang="zh-CN" dirty="0"/>
          </a:p>
        </p:txBody>
      </p:sp>
    </p:spTree>
    <p:extLst>
      <p:ext uri="{BB962C8B-B14F-4D97-AF65-F5344CB8AC3E}">
        <p14:creationId xmlns:p14="http://schemas.microsoft.com/office/powerpoint/2010/main" val="9201506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962377" y="318317"/>
            <a:ext cx="8229600" cy="1232176"/>
          </a:xfrm>
        </p:spPr>
        <p:txBody>
          <a:bodyPr/>
          <a:lstStyle/>
          <a:p>
            <a:r>
              <a:rPr lang="zh-CN" altLang="en-US" dirty="0"/>
              <a:t>约束函数</a:t>
            </a:r>
          </a:p>
        </p:txBody>
      </p:sp>
      <p:sp>
        <p:nvSpPr>
          <p:cNvPr id="48131" name="内容占位符 2"/>
          <p:cNvSpPr>
            <a:spLocks noGrp="1"/>
          </p:cNvSpPr>
          <p:nvPr>
            <p:ph idx="1"/>
          </p:nvPr>
        </p:nvSpPr>
        <p:spPr>
          <a:xfrm>
            <a:off x="981036" y="1834838"/>
            <a:ext cx="9721652" cy="2458258"/>
          </a:xfrm>
        </p:spPr>
        <p:txBody>
          <a:bodyPr>
            <a:normAutofit/>
          </a:bodyPr>
          <a:lstStyle/>
          <a:p>
            <a:pPr>
              <a:spcBef>
                <a:spcPts val="1800"/>
              </a:spcBef>
            </a:pPr>
            <a:r>
              <a:rPr lang="zh-CN" altLang="en-US" sz="2400" dirty="0"/>
              <a:t>当满足</a:t>
            </a:r>
            <a:endParaRPr lang="en-US" altLang="zh-CN" sz="2400" dirty="0"/>
          </a:p>
          <a:p>
            <a:pPr lvl="1">
              <a:spcBef>
                <a:spcPts val="1800"/>
              </a:spcBef>
            </a:pPr>
            <a:r>
              <a:rPr lang="en-US" altLang="zh-CN" dirty="0"/>
              <a:t>X(1),..,X(k)</a:t>
            </a:r>
            <a:r>
              <a:rPr lang="zh-CN" altLang="en-US" dirty="0">
                <a:solidFill>
                  <a:srgbClr val="FF0000"/>
                </a:solidFill>
              </a:rPr>
              <a:t>能导致</a:t>
            </a:r>
            <a:r>
              <a:rPr lang="zh-CN" altLang="en-US" dirty="0"/>
              <a:t>一个答案结点</a:t>
            </a:r>
            <a:endParaRPr lang="en-US" altLang="zh-CN" dirty="0"/>
          </a:p>
          <a:p>
            <a:pPr>
              <a:spcBef>
                <a:spcPts val="1800"/>
              </a:spcBef>
            </a:pPr>
            <a:r>
              <a:rPr lang="zh-CN" altLang="en-US" sz="2400" dirty="0"/>
              <a:t>设</a:t>
            </a:r>
            <a:r>
              <a:rPr lang="en-US" altLang="zh-CN" sz="2400" dirty="0"/>
              <a:t>W(</a:t>
            </a:r>
            <a:r>
              <a:rPr lang="en-US" altLang="zh-CN" sz="2400" dirty="0" err="1"/>
              <a:t>i</a:t>
            </a:r>
            <a:r>
              <a:rPr lang="en-US" altLang="zh-CN" sz="2400" dirty="0"/>
              <a:t>)</a:t>
            </a:r>
            <a:r>
              <a:rPr lang="zh-CN" altLang="en-US" sz="2400" dirty="0"/>
              <a:t>按非降次序排列，那么当</a:t>
            </a:r>
            <a:endParaRPr lang="en-US" altLang="zh-CN" sz="2400" dirty="0"/>
          </a:p>
          <a:p>
            <a:pPr lvl="1">
              <a:spcBef>
                <a:spcPts val="1800"/>
              </a:spcBef>
            </a:pPr>
            <a:r>
              <a:rPr lang="en-US" altLang="zh-CN" dirty="0"/>
              <a:t>X(1),..,X(k)</a:t>
            </a:r>
            <a:r>
              <a:rPr lang="zh-CN" altLang="en-US" dirty="0">
                <a:solidFill>
                  <a:srgbClr val="FF0000"/>
                </a:solidFill>
              </a:rPr>
              <a:t>不能导致</a:t>
            </a:r>
            <a:r>
              <a:rPr lang="zh-CN" altLang="en-US" dirty="0"/>
              <a:t>一个答案结点。</a:t>
            </a:r>
          </a:p>
        </p:txBody>
      </p:sp>
      <mc:AlternateContent xmlns:mc="http://schemas.openxmlformats.org/markup-compatibility/2006">
        <mc:Choice xmlns:a14="http://schemas.microsoft.com/office/drawing/2010/main" Requires="a14">
          <p:sp>
            <p:nvSpPr>
              <p:cNvPr id="4" name="对象 3" descr="image17"/>
              <p:cNvSpPr txBox="1"/>
              <p:nvPr/>
            </p:nvSpPr>
            <p:spPr bwMode="auto">
              <a:xfrm>
                <a:off x="2279650" y="1487488"/>
                <a:ext cx="3887788" cy="10096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𝑘</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X</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m:t>
                          </m:r>
                        </m:e>
                      </m:nary>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e>
                      </m:nary>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M</m:t>
                      </m:r>
                    </m:oMath>
                  </m:oMathPara>
                </a14:m>
                <a:endParaRPr lang="zh-CN" altLang="en-US" dirty="0"/>
              </a:p>
            </p:txBody>
          </p:sp>
        </mc:Choice>
        <mc:Fallback>
          <p:sp>
            <p:nvSpPr>
              <p:cNvPr id="4" name="对象 3" descr="image17"/>
              <p:cNvSpPr txBox="1">
                <a:spLocks noRot="1" noChangeAspect="1" noMove="1" noResize="1" noEditPoints="1" noAdjustHandles="1" noChangeArrowheads="1" noChangeShapeType="1" noTextEdit="1"/>
              </p:cNvSpPr>
              <p:nvPr/>
            </p:nvSpPr>
            <p:spPr bwMode="auto">
              <a:xfrm>
                <a:off x="2279650" y="1487488"/>
                <a:ext cx="3887788" cy="1009650"/>
              </a:xfrm>
              <a:prstGeom prst="rect">
                <a:avLst/>
              </a:prstGeom>
              <a:blipFill>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4" descr="image17"/>
              <p:cNvSpPr txBox="1"/>
              <p:nvPr/>
            </p:nvSpPr>
            <p:spPr bwMode="auto">
              <a:xfrm>
                <a:off x="5591175" y="2781300"/>
                <a:ext cx="4127500" cy="1008063"/>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𝑘</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X</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m:t>
                          </m:r>
                        </m:e>
                      </m:nary>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k</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1)&gt;</m:t>
                      </m:r>
                      <m:r>
                        <m:rPr>
                          <m:sty m:val="p"/>
                        </m:rPr>
                        <a:rPr lang="zh-CN" altLang="en-US" i="0">
                          <a:solidFill>
                            <a:srgbClr val="000000"/>
                          </a:solidFill>
                          <a:latin typeface="Cambria Math" panose="02040503050406030204" pitchFamily="18" charset="0"/>
                        </a:rPr>
                        <m:t>M</m:t>
                      </m:r>
                    </m:oMath>
                  </m:oMathPara>
                </a14:m>
                <a:endParaRPr lang="zh-CN" altLang="en-US" dirty="0"/>
              </a:p>
            </p:txBody>
          </p:sp>
        </mc:Choice>
        <mc:Fallback>
          <p:sp>
            <p:nvSpPr>
              <p:cNvPr id="5" name="对象 4" descr="image17"/>
              <p:cNvSpPr txBox="1">
                <a:spLocks noRot="1" noChangeAspect="1" noMove="1" noResize="1" noEditPoints="1" noAdjustHandles="1" noChangeArrowheads="1" noChangeShapeType="1" noTextEdit="1"/>
              </p:cNvSpPr>
              <p:nvPr/>
            </p:nvSpPr>
            <p:spPr bwMode="auto">
              <a:xfrm>
                <a:off x="5591175" y="2781300"/>
                <a:ext cx="4127500" cy="1008063"/>
              </a:xfrm>
              <a:prstGeom prst="rect">
                <a:avLst/>
              </a:prstGeom>
              <a:blipFill>
                <a:blip r:embed="rId3"/>
                <a:stretch>
                  <a:fillRect/>
                </a:stretch>
              </a:blipFill>
              <a:ln>
                <a:noFill/>
              </a:ln>
            </p:spPr>
            <p:txBody>
              <a:bodyPr/>
              <a:lstStyle/>
              <a:p>
                <a:r>
                  <a:rPr lang="zh-CN" altLang="en-US">
                    <a:noFill/>
                  </a:rPr>
                  <a:t> </a:t>
                </a:r>
              </a:p>
            </p:txBody>
          </p:sp>
        </mc:Fallback>
      </mc:AlternateContent>
      <p:sp>
        <p:nvSpPr>
          <p:cNvPr id="6" name="内容占位符 2"/>
          <p:cNvSpPr txBox="1">
            <a:spLocks/>
          </p:cNvSpPr>
          <p:nvPr/>
        </p:nvSpPr>
        <p:spPr>
          <a:xfrm>
            <a:off x="983432" y="4437112"/>
            <a:ext cx="9708368" cy="1558327"/>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sz="2400" dirty="0"/>
              <a:t>综上，约束函数</a:t>
            </a:r>
            <a:r>
              <a:rPr lang="en-US" altLang="zh-CN" sz="2400" dirty="0"/>
              <a:t>B</a:t>
            </a:r>
            <a:r>
              <a:rPr lang="en-US" altLang="zh-CN" sz="2400" baseline="-25000" dirty="0"/>
              <a:t>k</a:t>
            </a:r>
            <a:r>
              <a:rPr lang="en-US" altLang="zh-CN" sz="2400" dirty="0"/>
              <a:t>(X(1),…,X(k))=true</a:t>
            </a:r>
            <a:r>
              <a:rPr lang="zh-CN" altLang="en-US" sz="2400" dirty="0"/>
              <a:t>，当且仅当：</a:t>
            </a:r>
            <a:r>
              <a:rPr lang="en-US" altLang="zh-CN" sz="2400" dirty="0"/>
              <a:t>             </a:t>
            </a:r>
            <a:endParaRPr lang="zh-CN" altLang="en-US" sz="2400" dirty="0"/>
          </a:p>
        </p:txBody>
      </p:sp>
      <mc:AlternateContent xmlns:mc="http://schemas.openxmlformats.org/markup-compatibility/2006">
        <mc:Choice xmlns:a14="http://schemas.microsoft.com/office/drawing/2010/main" Requires="a14">
          <p:sp>
            <p:nvSpPr>
              <p:cNvPr id="7" name="对象 6" descr="image17"/>
              <p:cNvSpPr txBox="1"/>
              <p:nvPr/>
            </p:nvSpPr>
            <p:spPr bwMode="auto">
              <a:xfrm>
                <a:off x="1227138" y="4951413"/>
                <a:ext cx="4108450" cy="9652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𝑘</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X</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m:t>
                          </m:r>
                        </m:e>
                      </m:nary>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e>
                      </m:nary>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M</m:t>
                      </m:r>
                    </m:oMath>
                  </m:oMathPara>
                </a14:m>
                <a:endParaRPr lang="zh-CN" altLang="en-US" dirty="0"/>
              </a:p>
            </p:txBody>
          </p:sp>
        </mc:Choice>
        <mc:Fallback>
          <p:sp>
            <p:nvSpPr>
              <p:cNvPr id="7" name="对象 6" descr="image17"/>
              <p:cNvSpPr txBox="1">
                <a:spLocks noRot="1" noChangeAspect="1" noMove="1" noResize="1" noEditPoints="1" noAdjustHandles="1" noChangeArrowheads="1" noChangeShapeType="1" noTextEdit="1"/>
              </p:cNvSpPr>
              <p:nvPr/>
            </p:nvSpPr>
            <p:spPr bwMode="auto">
              <a:xfrm>
                <a:off x="1227138" y="4951413"/>
                <a:ext cx="4108450" cy="965200"/>
              </a:xfrm>
              <a:prstGeom prst="rect">
                <a:avLst/>
              </a:prstGeom>
              <a:blipFill>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对象 7" descr="image17"/>
              <p:cNvSpPr txBox="1"/>
              <p:nvPr/>
            </p:nvSpPr>
            <p:spPr bwMode="auto">
              <a:xfrm>
                <a:off x="5967413" y="4916488"/>
                <a:ext cx="4092575" cy="97472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𝑘</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X</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m:t>
                          </m:r>
                        </m:e>
                      </m:nary>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k</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1)≤</m:t>
                      </m:r>
                      <m:r>
                        <m:rPr>
                          <m:sty m:val="p"/>
                        </m:rPr>
                        <a:rPr lang="zh-CN" altLang="en-US" i="0">
                          <a:solidFill>
                            <a:srgbClr val="000000"/>
                          </a:solidFill>
                          <a:latin typeface="Cambria Math" panose="02040503050406030204" pitchFamily="18" charset="0"/>
                        </a:rPr>
                        <m:t>M</m:t>
                      </m:r>
                    </m:oMath>
                  </m:oMathPara>
                </a14:m>
                <a:endParaRPr lang="zh-CN" altLang="en-US" dirty="0"/>
              </a:p>
            </p:txBody>
          </p:sp>
        </mc:Choice>
        <mc:Fallback>
          <p:sp>
            <p:nvSpPr>
              <p:cNvPr id="8" name="对象 7" descr="image17"/>
              <p:cNvSpPr txBox="1">
                <a:spLocks noRot="1" noChangeAspect="1" noMove="1" noResize="1" noEditPoints="1" noAdjustHandles="1" noChangeArrowheads="1" noChangeShapeType="1" noTextEdit="1"/>
              </p:cNvSpPr>
              <p:nvPr/>
            </p:nvSpPr>
            <p:spPr bwMode="auto">
              <a:xfrm>
                <a:off x="5967413" y="4916488"/>
                <a:ext cx="4092575" cy="974725"/>
              </a:xfrm>
              <a:prstGeom prst="rect">
                <a:avLst/>
              </a:prstGeom>
              <a:blipFill>
                <a:blip r:embed="rId5"/>
                <a:stretch>
                  <a:fillRect/>
                </a:stretch>
              </a:blipFill>
              <a:ln>
                <a:noFill/>
              </a:ln>
            </p:spPr>
            <p:txBody>
              <a:bodyPr/>
              <a:lstStyle/>
              <a:p>
                <a:r>
                  <a:rPr lang="zh-CN" altLang="en-US">
                    <a:noFill/>
                  </a:rPr>
                  <a:t> </a:t>
                </a:r>
              </a:p>
            </p:txBody>
          </p:sp>
        </mc:Fallback>
      </mc:AlternateContent>
      <p:sp>
        <p:nvSpPr>
          <p:cNvPr id="2" name="文本框 1"/>
          <p:cNvSpPr txBox="1"/>
          <p:nvPr/>
        </p:nvSpPr>
        <p:spPr>
          <a:xfrm>
            <a:off x="5447105" y="5133405"/>
            <a:ext cx="407864" cy="461665"/>
          </a:xfrm>
          <a:prstGeom prst="rect">
            <a:avLst/>
          </a:prstGeom>
          <a:solidFill>
            <a:schemeClr val="accent1">
              <a:lumMod val="20000"/>
              <a:lumOff val="80000"/>
            </a:schemeClr>
          </a:solidFill>
        </p:spPr>
        <p:txBody>
          <a:bodyPr wrap="square" rtlCol="0">
            <a:spAutoFit/>
          </a:bodyPr>
          <a:lstStyle/>
          <a:p>
            <a:r>
              <a:rPr lang="zh-CN" altLang="en-US" sz="2400" dirty="0">
                <a:latin typeface="幼圆" panose="02010509060101010101" pitchFamily="49" charset="-122"/>
                <a:ea typeface="幼圆" panose="02010509060101010101" pitchFamily="49" charset="-122"/>
              </a:rPr>
              <a:t>且</a:t>
            </a:r>
          </a:p>
        </p:txBody>
      </p:sp>
      <p:sp>
        <p:nvSpPr>
          <p:cNvPr id="3" name="矩形 2"/>
          <p:cNvSpPr/>
          <p:nvPr/>
        </p:nvSpPr>
        <p:spPr>
          <a:xfrm>
            <a:off x="1127448" y="4951996"/>
            <a:ext cx="1944216" cy="140435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dirty="0"/>
          </a:p>
          <a:p>
            <a:pPr algn="ctr"/>
            <a:endParaRPr lang="en-US" altLang="zh-CN" sz="2400" dirty="0"/>
          </a:p>
          <a:p>
            <a:pPr algn="ctr"/>
            <a:endParaRPr lang="en-US" altLang="zh-CN" sz="2400" dirty="0">
              <a:solidFill>
                <a:srgbClr val="FF0000"/>
              </a:solidFill>
              <a:latin typeface="Arial" panose="020B0604020202020204" pitchFamily="34" charset="0"/>
              <a:cs typeface="Arial" panose="020B0604020202020204" pitchFamily="34" charset="0"/>
            </a:endParaRPr>
          </a:p>
          <a:p>
            <a:pPr algn="ctr"/>
            <a:r>
              <a:rPr lang="en-US" altLang="zh-CN" sz="2400" dirty="0">
                <a:solidFill>
                  <a:srgbClr val="FF0000"/>
                </a:solidFill>
                <a:latin typeface="Arial" panose="020B0604020202020204" pitchFamily="34" charset="0"/>
                <a:cs typeface="Arial" panose="020B0604020202020204" pitchFamily="34" charset="0"/>
              </a:rPr>
              <a:t>s</a:t>
            </a:r>
            <a:endParaRPr lang="zh-CN" altLang="en-US" sz="2400" dirty="0">
              <a:solidFill>
                <a:srgbClr val="FF0000"/>
              </a:solidFill>
              <a:latin typeface="Arial" panose="020B0604020202020204" pitchFamily="34" charset="0"/>
              <a:cs typeface="Arial" panose="020B0604020202020204" pitchFamily="34" charset="0"/>
            </a:endParaRPr>
          </a:p>
        </p:txBody>
      </p:sp>
      <p:sp>
        <p:nvSpPr>
          <p:cNvPr id="11" name="矩形 10"/>
          <p:cNvSpPr/>
          <p:nvPr/>
        </p:nvSpPr>
        <p:spPr>
          <a:xfrm>
            <a:off x="3311347" y="4956109"/>
            <a:ext cx="1272485" cy="140024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dirty="0"/>
          </a:p>
          <a:p>
            <a:pPr algn="ctr"/>
            <a:endParaRPr lang="en-US" altLang="zh-CN" sz="2400" dirty="0"/>
          </a:p>
          <a:p>
            <a:pPr algn="ctr"/>
            <a:endParaRPr lang="en-US" altLang="zh-CN" sz="2800" dirty="0">
              <a:solidFill>
                <a:srgbClr val="FF0000"/>
              </a:solidFill>
              <a:latin typeface="Arial" panose="020B0604020202020204" pitchFamily="34" charset="0"/>
              <a:cs typeface="Arial" panose="020B0604020202020204" pitchFamily="34" charset="0"/>
            </a:endParaRPr>
          </a:p>
          <a:p>
            <a:pPr algn="ctr"/>
            <a:r>
              <a:rPr lang="en-US" altLang="zh-CN" sz="2800" dirty="0">
                <a:solidFill>
                  <a:srgbClr val="FF0000"/>
                </a:solidFill>
                <a:latin typeface="Arial" panose="020B0604020202020204" pitchFamily="34" charset="0"/>
                <a:cs typeface="Arial" panose="020B0604020202020204" pitchFamily="34" charset="0"/>
              </a:rPr>
              <a:t>r</a:t>
            </a:r>
            <a:endParaRPr lang="zh-CN" altLang="en-US" sz="2800" dirty="0">
              <a:solidFill>
                <a:srgbClr val="FF0000"/>
              </a:solidFill>
              <a:latin typeface="Arial" panose="020B0604020202020204" pitchFamily="34" charset="0"/>
              <a:cs typeface="Arial" panose="020B0604020202020204" pitchFamily="34" charset="0"/>
            </a:endParaRPr>
          </a:p>
        </p:txBody>
      </p:sp>
      <p:sp>
        <p:nvSpPr>
          <p:cNvPr id="12"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45</a:t>
            </a:fld>
            <a:endParaRPr lang="en-US" altLang="zh-CN" dirty="0"/>
          </a:p>
        </p:txBody>
      </p:sp>
      <p:sp>
        <p:nvSpPr>
          <p:cNvPr id="14" name="圆角矩形标注 13"/>
          <p:cNvSpPr/>
          <p:nvPr/>
        </p:nvSpPr>
        <p:spPr>
          <a:xfrm>
            <a:off x="5802594" y="639287"/>
            <a:ext cx="4854542" cy="923111"/>
          </a:xfrm>
          <a:prstGeom prst="wedgeRoundRectCallout">
            <a:avLst>
              <a:gd name="adj1" fmla="val -42079"/>
              <a:gd name="adj2" fmla="val 76872"/>
              <a:gd name="adj3" fmla="val 166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设一维数组</a:t>
            </a:r>
            <a:r>
              <a:rPr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X</a:t>
            </a:r>
            <a:r>
              <a:rPr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和</a:t>
            </a:r>
            <a:r>
              <a:rPr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W</a:t>
            </a:r>
            <a:r>
              <a:rPr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a:t>
            </a:r>
            <a:r>
              <a:rPr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X</a:t>
            </a:r>
            <a:r>
              <a:rPr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表示</a:t>
            </a:r>
            <a:r>
              <a:rPr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n-</a:t>
            </a:r>
            <a:r>
              <a:rPr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元组解向量，</a:t>
            </a:r>
            <a:r>
              <a:rPr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W</a:t>
            </a:r>
            <a:r>
              <a:rPr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记录</a:t>
            </a:r>
            <a:r>
              <a:rPr lang="en-US" altLang="zh-CN" sz="2400" dirty="0">
                <a:solidFill>
                  <a:schemeClr val="tx1"/>
                </a:solidFill>
                <a:latin typeface="Arial" panose="020B0604020202020204" pitchFamily="34" charset="0"/>
                <a:ea typeface="幼圆" panose="02010509060101010101" pitchFamily="49" charset="-122"/>
                <a:cs typeface="Arial" panose="020B0604020202020204" pitchFamily="34" charset="0"/>
              </a:rPr>
              <a:t>n</a:t>
            </a:r>
            <a:r>
              <a:rPr lang="zh-CN" altLang="en-US" sz="2400" dirty="0">
                <a:solidFill>
                  <a:schemeClr val="tx1"/>
                </a:solidFill>
                <a:latin typeface="Arial" panose="020B0604020202020204" pitchFamily="34" charset="0"/>
                <a:ea typeface="幼圆" panose="02010509060101010101" pitchFamily="49" charset="-122"/>
                <a:cs typeface="Arial" panose="020B0604020202020204" pitchFamily="34" charset="0"/>
              </a:rPr>
              <a:t>个正数</a:t>
            </a:r>
            <a:endParaRPr lang="zh-CN" altLang="en-US" sz="2400" dirty="0">
              <a:solidFill>
                <a:schemeClr val="tx1"/>
              </a:solidFill>
              <a:latin typeface="幼圆" panose="02010509060101010101" pitchFamily="49" charset="-122"/>
              <a:ea typeface="幼圆" panose="02010509060101010101" pitchFamily="49" charset="-122"/>
            </a:endParaRPr>
          </a:p>
        </p:txBody>
      </p:sp>
      <p:sp>
        <p:nvSpPr>
          <p:cNvPr id="15" name="圆角矩形标注 14"/>
          <p:cNvSpPr/>
          <p:nvPr/>
        </p:nvSpPr>
        <p:spPr>
          <a:xfrm>
            <a:off x="8229865" y="4305001"/>
            <a:ext cx="2979157" cy="743080"/>
          </a:xfrm>
          <a:prstGeom prst="wedgeRoundRectCallout">
            <a:avLst>
              <a:gd name="adj1" fmla="val -38067"/>
              <a:gd name="adj2" fmla="val 73755"/>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W(</a:t>
            </a:r>
            <a:r>
              <a:rPr lang="en-US" altLang="zh-CN" sz="2400" dirty="0" err="1">
                <a:solidFill>
                  <a:srgbClr val="FF0000"/>
                </a:solidFill>
                <a:latin typeface="Arial" panose="020B0604020202020204" pitchFamily="34" charset="0"/>
                <a:ea typeface="幼圆" panose="02010509060101010101" pitchFamily="49" charset="-122"/>
                <a:cs typeface="Arial" panose="020B0604020202020204" pitchFamily="34" charset="0"/>
              </a:rPr>
              <a:t>i</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按非降次序排列</a:t>
            </a:r>
          </a:p>
        </p:txBody>
      </p:sp>
    </p:spTree>
    <p:extLst>
      <p:ext uri="{BB962C8B-B14F-4D97-AF65-F5344CB8AC3E}">
        <p14:creationId xmlns:p14="http://schemas.microsoft.com/office/powerpoint/2010/main" val="19774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3" grpId="0" animBg="1"/>
      <p:bldP spid="11" grpId="0" animBg="1"/>
      <p:bldP spid="1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893312" y="524432"/>
            <a:ext cx="9379151" cy="811213"/>
          </a:xfrm>
        </p:spPr>
        <p:txBody>
          <a:bodyPr>
            <a:normAutofit/>
          </a:bodyPr>
          <a:lstStyle/>
          <a:p>
            <a:r>
              <a:rPr lang="zh-CN" altLang="en-US" dirty="0"/>
              <a:t>算法</a:t>
            </a:r>
            <a:r>
              <a:rPr lang="en-US" altLang="zh-CN" dirty="0"/>
              <a:t>7.6 </a:t>
            </a:r>
            <a:r>
              <a:rPr lang="zh-CN" altLang="en-US" dirty="0"/>
              <a:t>子集和的回溯递归算法</a:t>
            </a:r>
          </a:p>
        </p:txBody>
      </p:sp>
      <p:sp>
        <p:nvSpPr>
          <p:cNvPr id="50179" name="内容占位符 2"/>
          <p:cNvSpPr>
            <a:spLocks noGrp="1"/>
          </p:cNvSpPr>
          <p:nvPr>
            <p:ph idx="1"/>
          </p:nvPr>
        </p:nvSpPr>
        <p:spPr>
          <a:xfrm>
            <a:off x="911424" y="1565222"/>
            <a:ext cx="10225136" cy="4312050"/>
          </a:xfrm>
        </p:spPr>
        <p:txBody>
          <a:bodyPr>
            <a:normAutofit/>
          </a:bodyPr>
          <a:lstStyle/>
          <a:p>
            <a:pPr marL="0" indent="0">
              <a:buNone/>
            </a:pPr>
            <a:r>
              <a:rPr lang="en-US" altLang="zh-CN" sz="2400" dirty="0"/>
              <a:t>Procedure SUMOFSUB(</a:t>
            </a:r>
            <a:r>
              <a:rPr lang="en-US" altLang="zh-CN" sz="2400" dirty="0" err="1"/>
              <a:t>s,k,r</a:t>
            </a:r>
            <a:r>
              <a:rPr lang="en-US" altLang="zh-CN" sz="2400" dirty="0"/>
              <a:t>)</a:t>
            </a:r>
          </a:p>
          <a:p>
            <a:pPr marL="0" indent="0">
              <a:buNone/>
            </a:pPr>
            <a:r>
              <a:rPr lang="en-US" altLang="zh-CN" sz="2400" dirty="0">
                <a:solidFill>
                  <a:srgbClr val="FF0000"/>
                </a:solidFill>
              </a:rPr>
              <a:t>//</a:t>
            </a:r>
            <a:r>
              <a:rPr lang="zh-CN" altLang="en-US" sz="2400" dirty="0">
                <a:solidFill>
                  <a:srgbClr val="FF0000"/>
                </a:solidFill>
              </a:rPr>
              <a:t>找出</a:t>
            </a:r>
            <a:r>
              <a:rPr lang="en-US" altLang="zh-CN" sz="2400" dirty="0">
                <a:solidFill>
                  <a:srgbClr val="FF0000"/>
                </a:solidFill>
              </a:rPr>
              <a:t>W(1:n)</a:t>
            </a:r>
            <a:r>
              <a:rPr lang="zh-CN" altLang="en-US" sz="2400" dirty="0">
                <a:solidFill>
                  <a:srgbClr val="FF0000"/>
                </a:solidFill>
              </a:rPr>
              <a:t>中和为</a:t>
            </a:r>
            <a:r>
              <a:rPr lang="en-US" altLang="zh-CN" sz="2400" dirty="0">
                <a:solidFill>
                  <a:srgbClr val="FF0000"/>
                </a:solidFill>
              </a:rPr>
              <a:t>M</a:t>
            </a:r>
            <a:r>
              <a:rPr lang="zh-CN" altLang="en-US" sz="2400" dirty="0">
                <a:solidFill>
                  <a:srgbClr val="FF0000"/>
                </a:solidFill>
              </a:rPr>
              <a:t>的所有子集。</a:t>
            </a:r>
            <a:endParaRPr lang="en-US" altLang="zh-CN" sz="2400" dirty="0">
              <a:solidFill>
                <a:srgbClr val="FF0000"/>
              </a:solidFill>
            </a:endParaRPr>
          </a:p>
          <a:p>
            <a:pPr marL="0" indent="0">
              <a:buNone/>
            </a:pPr>
            <a:r>
              <a:rPr lang="en-US" altLang="zh-CN" sz="2400" dirty="0">
                <a:solidFill>
                  <a:srgbClr val="FF0000"/>
                </a:solidFill>
              </a:rPr>
              <a:t>//</a:t>
            </a:r>
            <a:r>
              <a:rPr lang="zh-CN" altLang="en-US" sz="2400" dirty="0">
                <a:solidFill>
                  <a:srgbClr val="FF0000"/>
                </a:solidFill>
              </a:rPr>
              <a:t>进入此过程时</a:t>
            </a:r>
            <a:r>
              <a:rPr lang="en-US" altLang="zh-CN" sz="2400" dirty="0">
                <a:solidFill>
                  <a:srgbClr val="FF0000"/>
                </a:solidFill>
              </a:rPr>
              <a:t>X(1),..X(k-1)</a:t>
            </a:r>
            <a:r>
              <a:rPr lang="zh-CN" altLang="en-US" sz="2400" dirty="0">
                <a:solidFill>
                  <a:srgbClr val="FF0000"/>
                </a:solidFill>
              </a:rPr>
              <a:t>的值已确定。 </a:t>
            </a:r>
            <a:endParaRPr lang="en-US" altLang="zh-CN" sz="2400" dirty="0">
              <a:solidFill>
                <a:srgbClr val="FF0000"/>
              </a:solidFill>
            </a:endParaRPr>
          </a:p>
          <a:p>
            <a:pPr marL="0" indent="0">
              <a:buNone/>
            </a:pPr>
            <a:r>
              <a:rPr lang="en-US" altLang="zh-CN" sz="2400" dirty="0">
                <a:solidFill>
                  <a:srgbClr val="FF0000"/>
                </a:solidFill>
              </a:rPr>
              <a:t>//</a:t>
            </a:r>
            <a:r>
              <a:rPr lang="zh-CN" altLang="en-US" sz="2400" dirty="0">
                <a:solidFill>
                  <a:srgbClr val="FF0000"/>
                </a:solidFill>
              </a:rPr>
              <a:t>这些</a:t>
            </a:r>
            <a:r>
              <a:rPr lang="en-US" altLang="zh-CN" sz="2400" dirty="0">
                <a:solidFill>
                  <a:srgbClr val="FF0000"/>
                </a:solidFill>
              </a:rPr>
              <a:t>W(j)</a:t>
            </a:r>
            <a:r>
              <a:rPr lang="zh-CN" altLang="en-US" sz="2400" dirty="0">
                <a:solidFill>
                  <a:srgbClr val="FF0000"/>
                </a:solidFill>
              </a:rPr>
              <a:t>按非降次序排列。</a:t>
            </a:r>
            <a:endParaRPr lang="en-US" altLang="zh-CN" sz="2400" dirty="0">
              <a:solidFill>
                <a:srgbClr val="FF0000"/>
              </a:solidFill>
            </a:endParaRPr>
          </a:p>
          <a:p>
            <a:pPr marL="0" indent="0">
              <a:buNone/>
            </a:pPr>
            <a:r>
              <a:rPr lang="en-US" altLang="zh-CN" sz="2400" dirty="0"/>
              <a:t>integer W(1:n), M, n; </a:t>
            </a:r>
          </a:p>
          <a:p>
            <a:pPr marL="0" indent="0">
              <a:buNone/>
            </a:pPr>
            <a:r>
              <a:rPr lang="en-US" altLang="zh-CN" sz="2400" dirty="0" err="1"/>
              <a:t>boolean</a:t>
            </a:r>
            <a:r>
              <a:rPr lang="en-US" altLang="zh-CN" sz="2400" dirty="0"/>
              <a:t> X(1:n)</a:t>
            </a:r>
          </a:p>
          <a:p>
            <a:pPr marL="0" indent="0">
              <a:buNone/>
            </a:pPr>
            <a:r>
              <a:rPr lang="en-US" altLang="zh-CN" sz="2400" dirty="0"/>
              <a:t>integer s, k, r</a:t>
            </a:r>
            <a:br>
              <a:rPr lang="en-US" altLang="zh-CN" sz="2400" dirty="0"/>
            </a:br>
            <a:endParaRPr lang="en-US" altLang="zh-CN" sz="2000" dirty="0"/>
          </a:p>
        </p:txBody>
      </p:sp>
      <mc:AlternateContent xmlns:mc="http://schemas.openxmlformats.org/markup-compatibility/2006">
        <mc:Choice xmlns:a14="http://schemas.microsoft.com/office/drawing/2010/main" Requires="a14">
          <p:sp>
            <p:nvSpPr>
              <p:cNvPr id="4" name="对象 3" descr="image17"/>
              <p:cNvSpPr txBox="1"/>
              <p:nvPr/>
            </p:nvSpPr>
            <p:spPr bwMode="auto">
              <a:xfrm>
                <a:off x="6800359" y="1584882"/>
                <a:ext cx="4471988" cy="10795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en-US" altLang="zh-CN" i="1">
                                  <a:solidFill>
                                    <a:srgbClr val="000000"/>
                                  </a:solidFill>
                                  <a:latin typeface="Cambria Math" panose="02040503050406030204" pitchFamily="18" charset="0"/>
                                </a:rPr>
                                <m:t>j</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X</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en-US" altLang="zh-CN" i="1">
                                  <a:solidFill>
                                    <a:srgbClr val="000000"/>
                                  </a:solidFill>
                                  <a:latin typeface="Cambria Math" panose="02040503050406030204" pitchFamily="18" charset="0"/>
                                </a:rPr>
                                <m:t>j</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且</m:t>
                          </m:r>
                        </m:e>
                      </m:nary>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r</m:t>
                      </m:r>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sub>
                        <m:sup>
                          <m:r>
                            <a:rPr lang="zh-CN" altLang="en-US" i="1">
                              <a:solidFill>
                                <a:srgbClr val="000000"/>
                              </a:solidFill>
                              <a:latin typeface="Cambria Math" panose="02040503050406030204" pitchFamily="18" charset="0"/>
                            </a:rPr>
                            <m:t>𝑛</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m:t>
                          </m:r>
                        </m:e>
                      </m:nary>
                    </m:oMath>
                  </m:oMathPara>
                </a14:m>
                <a:endParaRPr lang="zh-CN" altLang="en-US" dirty="0"/>
              </a:p>
            </p:txBody>
          </p:sp>
        </mc:Choice>
        <mc:Fallback>
          <p:sp>
            <p:nvSpPr>
              <p:cNvPr id="4" name="对象 3" descr="image17"/>
              <p:cNvSpPr txBox="1">
                <a:spLocks noRot="1" noChangeAspect="1" noMove="1" noResize="1" noEditPoints="1" noAdjustHandles="1" noChangeArrowheads="1" noChangeShapeType="1" noTextEdit="1"/>
              </p:cNvSpPr>
              <p:nvPr/>
            </p:nvSpPr>
            <p:spPr bwMode="auto">
              <a:xfrm>
                <a:off x="6800359" y="1584882"/>
                <a:ext cx="4471988" cy="1079500"/>
              </a:xfrm>
              <a:prstGeom prst="rect">
                <a:avLst/>
              </a:prstGeom>
              <a:blipFill>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4" descr="image17"/>
              <p:cNvSpPr txBox="1"/>
              <p:nvPr/>
            </p:nvSpPr>
            <p:spPr bwMode="auto">
              <a:xfrm>
                <a:off x="5015880" y="3241119"/>
                <a:ext cx="2917825" cy="9525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i="0">
                          <a:solidFill>
                            <a:srgbClr val="000000"/>
                          </a:solidFill>
                          <a:latin typeface="Cambria Math" panose="02040503050406030204" pitchFamily="18" charset="0"/>
                        </a:rPr>
                        <m:t>W</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M</m:t>
                      </m:r>
                      <m:r>
                        <m:rPr>
                          <m:nor/>
                        </m:rPr>
                        <a:rPr lang="zh-CN" altLang="en-US" i="0">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W</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i</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M</m:t>
                          </m:r>
                        </m:e>
                      </m:nary>
                    </m:oMath>
                  </m:oMathPara>
                </a14:m>
                <a:endParaRPr lang="zh-CN" altLang="en-US" dirty="0"/>
              </a:p>
            </p:txBody>
          </p:sp>
        </mc:Choice>
        <mc:Fallback>
          <p:sp>
            <p:nvSpPr>
              <p:cNvPr id="5" name="对象 4" descr="image17"/>
              <p:cNvSpPr txBox="1">
                <a:spLocks noRot="1" noChangeAspect="1" noMove="1" noResize="1" noEditPoints="1" noAdjustHandles="1" noChangeArrowheads="1" noChangeShapeType="1" noTextEdit="1"/>
              </p:cNvSpPr>
              <p:nvPr/>
            </p:nvSpPr>
            <p:spPr bwMode="auto">
              <a:xfrm>
                <a:off x="5015880" y="3241119"/>
                <a:ext cx="2917825" cy="952500"/>
              </a:xfrm>
              <a:prstGeom prst="rect">
                <a:avLst/>
              </a:prstGeom>
              <a:blipFill>
                <a:blip r:embed="rId3"/>
                <a:stretch>
                  <a:fillRect/>
                </a:stretch>
              </a:blipFill>
              <a:ln>
                <a:noFill/>
              </a:ln>
            </p:spPr>
            <p:txBody>
              <a:bodyPr/>
              <a:lstStyle/>
              <a:p>
                <a:r>
                  <a:rPr lang="zh-CN" altLang="en-US">
                    <a:noFill/>
                  </a:rPr>
                  <a:t> </a:t>
                </a:r>
              </a:p>
            </p:txBody>
          </p:sp>
        </mc:Fallback>
      </mc:AlternateContent>
      <p:sp>
        <p:nvSpPr>
          <p:cNvPr id="6"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46</a:t>
            </a:fld>
            <a:endParaRPr lang="en-US" altLang="zh-CN" dirty="0"/>
          </a:p>
        </p:txBody>
      </p:sp>
    </p:spTree>
    <p:extLst>
      <p:ext uri="{BB962C8B-B14F-4D97-AF65-F5344CB8AC3E}">
        <p14:creationId xmlns:p14="http://schemas.microsoft.com/office/powerpoint/2010/main" val="20566574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33474" y="692696"/>
            <a:ext cx="10219109" cy="5196137"/>
          </a:xfrm>
        </p:spPr>
        <p:txBody>
          <a:bodyPr>
            <a:noAutofit/>
          </a:bodyPr>
          <a:lstStyle/>
          <a:p>
            <a:pPr marL="0" indent="0">
              <a:lnSpc>
                <a:spcPct val="100000"/>
              </a:lnSpc>
              <a:spcBef>
                <a:spcPts val="0"/>
              </a:spcBef>
              <a:buNone/>
              <a:defRPr/>
            </a:pPr>
            <a:r>
              <a:rPr lang="en-US" altLang="zh-CN" sz="2400" dirty="0">
                <a:solidFill>
                  <a:srgbClr val="FF0000"/>
                </a:solidFill>
              </a:rPr>
              <a:t>//</a:t>
            </a:r>
            <a:r>
              <a:rPr lang="zh-CN" altLang="en-US" sz="2400" dirty="0">
                <a:solidFill>
                  <a:srgbClr val="FF0000"/>
                </a:solidFill>
              </a:rPr>
              <a:t>生成左儿子。由于</a:t>
            </a:r>
            <a:r>
              <a:rPr lang="en-US" altLang="zh-CN" sz="2400" dirty="0">
                <a:solidFill>
                  <a:srgbClr val="FF0000"/>
                </a:solidFill>
              </a:rPr>
              <a:t>B</a:t>
            </a:r>
            <a:r>
              <a:rPr lang="en-US" altLang="zh-CN" sz="2400" baseline="-25000" dirty="0">
                <a:solidFill>
                  <a:srgbClr val="FF0000"/>
                </a:solidFill>
              </a:rPr>
              <a:t>k-1</a:t>
            </a:r>
            <a:r>
              <a:rPr lang="en-US" altLang="zh-CN" sz="2400" dirty="0">
                <a:solidFill>
                  <a:srgbClr val="FF0000"/>
                </a:solidFill>
              </a:rPr>
              <a:t>=true</a:t>
            </a:r>
            <a:r>
              <a:rPr lang="zh-CN" altLang="en-US" sz="2400" dirty="0">
                <a:solidFill>
                  <a:srgbClr val="FF0000"/>
                </a:solidFill>
              </a:rPr>
              <a:t>，因此</a:t>
            </a:r>
            <a:r>
              <a:rPr lang="en-US" altLang="zh-CN" sz="2400" dirty="0" err="1">
                <a:solidFill>
                  <a:srgbClr val="FF0000"/>
                </a:solidFill>
              </a:rPr>
              <a:t>s+W</a:t>
            </a:r>
            <a:r>
              <a:rPr lang="en-US" altLang="zh-CN" sz="2400" dirty="0">
                <a:solidFill>
                  <a:srgbClr val="FF0000"/>
                </a:solidFill>
              </a:rPr>
              <a:t>(k)≤M </a:t>
            </a:r>
            <a:r>
              <a:rPr lang="zh-CN" altLang="en-US" sz="2400" dirty="0">
                <a:solidFill>
                  <a:srgbClr val="FF0000"/>
                </a:solidFill>
              </a:rPr>
              <a:t>且</a:t>
            </a:r>
            <a:r>
              <a:rPr lang="en-US" altLang="zh-CN" sz="2400" dirty="0" err="1">
                <a:solidFill>
                  <a:srgbClr val="FF0000"/>
                </a:solidFill>
              </a:rPr>
              <a:t>s+r</a:t>
            </a:r>
            <a:r>
              <a:rPr lang="en-US" altLang="zh-CN" sz="2400" dirty="0"/>
              <a:t> </a:t>
            </a:r>
            <a:r>
              <a:rPr lang="en-US" altLang="zh-CN" sz="2400" dirty="0">
                <a:solidFill>
                  <a:srgbClr val="FF0000"/>
                </a:solidFill>
              </a:rPr>
              <a:t>≥ M</a:t>
            </a:r>
          </a:p>
          <a:p>
            <a:pPr marL="0" indent="0">
              <a:lnSpc>
                <a:spcPct val="100000"/>
              </a:lnSpc>
              <a:spcBef>
                <a:spcPts val="0"/>
              </a:spcBef>
              <a:buNone/>
              <a:defRPr/>
            </a:pPr>
            <a:r>
              <a:rPr lang="en-US" altLang="zh-CN" sz="2400" dirty="0"/>
              <a:t>X(k)</a:t>
            </a:r>
            <a:r>
              <a:rPr lang="en-US" altLang="zh-CN" sz="2400" dirty="0">
                <a:latin typeface="Arial Unicode MS" pitchFamily="34" charset="-122"/>
                <a:ea typeface="Arial Unicode MS" pitchFamily="34" charset="-122"/>
                <a:cs typeface="Arial Unicode MS" pitchFamily="34" charset="-122"/>
              </a:rPr>
              <a:t>←1</a:t>
            </a:r>
          </a:p>
          <a:p>
            <a:pPr marL="0" indent="0">
              <a:lnSpc>
                <a:spcPct val="100000"/>
              </a:lnSpc>
              <a:spcBef>
                <a:spcPts val="0"/>
              </a:spcBef>
              <a:buNone/>
              <a:defRPr/>
            </a:pPr>
            <a:r>
              <a:rPr lang="en-US" altLang="zh-CN" sz="2400" dirty="0"/>
              <a:t>if </a:t>
            </a:r>
            <a:r>
              <a:rPr lang="en-US" altLang="zh-CN" sz="2400" dirty="0" err="1"/>
              <a:t>s+W</a:t>
            </a:r>
            <a:r>
              <a:rPr lang="en-US" altLang="zh-CN" sz="2400" dirty="0"/>
              <a:t>(k) = M </a:t>
            </a:r>
          </a:p>
          <a:p>
            <a:pPr marL="0" indent="0">
              <a:lnSpc>
                <a:spcPct val="100000"/>
              </a:lnSpc>
              <a:spcBef>
                <a:spcPts val="0"/>
              </a:spcBef>
              <a:buNone/>
              <a:defRPr/>
            </a:pPr>
            <a:r>
              <a:rPr lang="en-US" altLang="zh-CN" sz="2400" dirty="0">
                <a:latin typeface="Arial Unicode MS" pitchFamily="34" charset="-122"/>
                <a:ea typeface="Arial Unicode MS" pitchFamily="34" charset="-122"/>
                <a:cs typeface="Arial Unicode MS" pitchFamily="34" charset="-122"/>
              </a:rPr>
              <a:t>     then </a:t>
            </a:r>
            <a:r>
              <a:rPr lang="en-US" altLang="zh-CN" sz="2400" dirty="0"/>
              <a:t>print(X) </a:t>
            </a:r>
            <a:endParaRPr lang="en-US" altLang="zh-CN" sz="2400" dirty="0">
              <a:solidFill>
                <a:srgbClr val="FF0000"/>
              </a:solidFill>
            </a:endParaRPr>
          </a:p>
          <a:p>
            <a:pPr marL="0" indent="0">
              <a:lnSpc>
                <a:spcPct val="100000"/>
              </a:lnSpc>
              <a:spcBef>
                <a:spcPts val="0"/>
              </a:spcBef>
              <a:buNone/>
              <a:defRPr/>
            </a:pPr>
            <a:r>
              <a:rPr lang="en-US" altLang="zh-CN" sz="2400" dirty="0"/>
              <a:t>     else if </a:t>
            </a:r>
            <a:r>
              <a:rPr lang="en-US" altLang="zh-CN" sz="2400" dirty="0" err="1"/>
              <a:t>s+W</a:t>
            </a:r>
            <a:r>
              <a:rPr lang="en-US" altLang="zh-CN" sz="2400" dirty="0"/>
              <a:t>(k)+W(k+1) ≤ M then call SUMOFSUB(</a:t>
            </a:r>
            <a:r>
              <a:rPr lang="en-US" altLang="zh-CN" sz="2400" dirty="0" err="1"/>
              <a:t>s+W</a:t>
            </a:r>
            <a:r>
              <a:rPr lang="en-US" altLang="zh-CN" sz="2400" dirty="0"/>
              <a:t>(k), k+1, r-W(k))</a:t>
            </a:r>
          </a:p>
          <a:p>
            <a:pPr marL="0" indent="0">
              <a:lnSpc>
                <a:spcPct val="100000"/>
              </a:lnSpc>
              <a:spcBef>
                <a:spcPts val="0"/>
              </a:spcBef>
              <a:buNone/>
              <a:defRPr/>
            </a:pPr>
            <a:r>
              <a:rPr lang="en-US" altLang="zh-CN" sz="2400" dirty="0"/>
              <a:t>             endif</a:t>
            </a:r>
            <a:r>
              <a:rPr lang="en-US" altLang="zh-CN" sz="2400" dirty="0">
                <a:solidFill>
                  <a:schemeClr val="bg2">
                    <a:lumMod val="60000"/>
                    <a:lumOff val="40000"/>
                  </a:schemeClr>
                </a:solidFill>
              </a:rPr>
              <a:t> </a:t>
            </a:r>
          </a:p>
          <a:p>
            <a:pPr marL="0" indent="0">
              <a:lnSpc>
                <a:spcPct val="100000"/>
              </a:lnSpc>
              <a:spcBef>
                <a:spcPts val="0"/>
              </a:spcBef>
              <a:buNone/>
              <a:defRPr/>
            </a:pPr>
            <a:r>
              <a:rPr lang="en-US" altLang="zh-CN" sz="2400" dirty="0" err="1"/>
              <a:t>endif</a:t>
            </a:r>
            <a:endParaRPr lang="en-US" altLang="zh-CN" sz="2400" dirty="0"/>
          </a:p>
          <a:p>
            <a:pPr marL="0" indent="0" eaLnBrk="1" fontAlgn="auto" hangingPunct="1">
              <a:lnSpc>
                <a:spcPct val="100000"/>
              </a:lnSpc>
              <a:spcBef>
                <a:spcPts val="0"/>
              </a:spcBef>
              <a:buNone/>
              <a:defRPr/>
            </a:pPr>
            <a:r>
              <a:rPr lang="en-US" altLang="zh-CN" sz="2400" dirty="0">
                <a:solidFill>
                  <a:srgbClr val="FF0000"/>
                </a:solidFill>
              </a:rPr>
              <a:t>//</a:t>
            </a:r>
            <a:r>
              <a:rPr lang="zh-CN" altLang="en-US" sz="2400" dirty="0">
                <a:solidFill>
                  <a:srgbClr val="FF0000"/>
                </a:solidFill>
              </a:rPr>
              <a:t>生成右儿子和计算</a:t>
            </a:r>
            <a:r>
              <a:rPr lang="en-US" altLang="zh-CN" sz="2400" dirty="0">
                <a:solidFill>
                  <a:srgbClr val="FF0000"/>
                </a:solidFill>
              </a:rPr>
              <a:t>B</a:t>
            </a:r>
            <a:r>
              <a:rPr lang="en-US" altLang="zh-CN" sz="2400" baseline="-25000" dirty="0">
                <a:solidFill>
                  <a:srgbClr val="FF0000"/>
                </a:solidFill>
              </a:rPr>
              <a:t>k</a:t>
            </a:r>
            <a:r>
              <a:rPr lang="zh-CN" altLang="en-US" sz="2400" dirty="0">
                <a:solidFill>
                  <a:srgbClr val="FF0000"/>
                </a:solidFill>
              </a:rPr>
              <a:t>的值</a:t>
            </a:r>
            <a:endParaRPr lang="en-US" altLang="zh-CN" sz="2400" dirty="0">
              <a:solidFill>
                <a:srgbClr val="FF0000"/>
              </a:solidFill>
            </a:endParaRPr>
          </a:p>
          <a:p>
            <a:pPr marL="0" indent="0" eaLnBrk="1" fontAlgn="auto" hangingPunct="1">
              <a:lnSpc>
                <a:spcPct val="100000"/>
              </a:lnSpc>
              <a:spcBef>
                <a:spcPts val="0"/>
              </a:spcBef>
              <a:buNone/>
              <a:defRPr/>
            </a:pPr>
            <a:r>
              <a:rPr lang="en-US" altLang="zh-CN" sz="2400" dirty="0"/>
              <a:t>If </a:t>
            </a:r>
            <a:r>
              <a:rPr lang="en-US" altLang="zh-CN" sz="2400" dirty="0" err="1"/>
              <a:t>s+r-W</a:t>
            </a:r>
            <a:r>
              <a:rPr lang="en-US" altLang="zh-CN" sz="2400" dirty="0"/>
              <a:t>(k) ≥ M and </a:t>
            </a:r>
            <a:r>
              <a:rPr lang="en-US" altLang="zh-CN" sz="2400" dirty="0" err="1"/>
              <a:t>s+W</a:t>
            </a:r>
            <a:r>
              <a:rPr lang="en-US" altLang="zh-CN" sz="2400" dirty="0"/>
              <a:t>(k+1) ≤ M </a:t>
            </a:r>
          </a:p>
          <a:p>
            <a:pPr marL="0" indent="0" eaLnBrk="1" fontAlgn="auto" hangingPunct="1">
              <a:lnSpc>
                <a:spcPct val="100000"/>
              </a:lnSpc>
              <a:spcBef>
                <a:spcPts val="0"/>
              </a:spcBef>
              <a:buNone/>
              <a:defRPr/>
            </a:pPr>
            <a:r>
              <a:rPr lang="en-US" altLang="zh-CN" sz="2400" dirty="0"/>
              <a:t>     then X(k)</a:t>
            </a:r>
            <a:r>
              <a:rPr lang="en-US" altLang="zh-CN" sz="2400" dirty="0">
                <a:latin typeface="Arial Unicode MS" pitchFamily="34" charset="-122"/>
                <a:ea typeface="Arial Unicode MS" pitchFamily="34" charset="-122"/>
                <a:cs typeface="Arial Unicode MS" pitchFamily="34" charset="-122"/>
              </a:rPr>
              <a:t>←0; </a:t>
            </a:r>
            <a:r>
              <a:rPr lang="en-US" altLang="zh-CN" sz="2400" dirty="0"/>
              <a:t>call SUMOFSUB( s,k+1,r-W(k))</a:t>
            </a:r>
            <a:r>
              <a:rPr lang="en-US" altLang="zh-CN" sz="2400" dirty="0">
                <a:solidFill>
                  <a:schemeClr val="bg2">
                    <a:lumMod val="60000"/>
                    <a:lumOff val="40000"/>
                  </a:schemeClr>
                </a:solidFill>
              </a:rPr>
              <a:t> </a:t>
            </a:r>
          </a:p>
          <a:p>
            <a:pPr marL="0" indent="0" eaLnBrk="1" fontAlgn="auto" hangingPunct="1">
              <a:lnSpc>
                <a:spcPct val="100000"/>
              </a:lnSpc>
              <a:spcBef>
                <a:spcPts val="0"/>
              </a:spcBef>
              <a:buNone/>
              <a:defRPr/>
            </a:pPr>
            <a:r>
              <a:rPr lang="en-US" altLang="zh-CN" sz="2400" dirty="0">
                <a:latin typeface="Arial Unicode MS" pitchFamily="34" charset="-122"/>
                <a:ea typeface="Arial Unicode MS" pitchFamily="34" charset="-122"/>
                <a:cs typeface="Arial Unicode MS" pitchFamily="34" charset="-122"/>
              </a:rPr>
              <a:t>endif</a:t>
            </a:r>
            <a:endParaRPr lang="en-US" altLang="zh-CN" sz="2400" dirty="0"/>
          </a:p>
          <a:p>
            <a:pPr marL="0" indent="0" eaLnBrk="1" fontAlgn="auto" hangingPunct="1">
              <a:lnSpc>
                <a:spcPct val="100000"/>
              </a:lnSpc>
              <a:spcBef>
                <a:spcPts val="0"/>
              </a:spcBef>
              <a:buNone/>
              <a:defRPr/>
            </a:pPr>
            <a:r>
              <a:rPr lang="en-US" altLang="zh-CN" sz="2400" dirty="0"/>
              <a:t>end  SUMOFSUB</a:t>
            </a:r>
            <a:endParaRPr lang="zh-CN" altLang="en-US" sz="2400" dirty="0"/>
          </a:p>
        </p:txBody>
      </p:sp>
      <p:sp>
        <p:nvSpPr>
          <p:cNvPr id="54" name="TextBox 53"/>
          <p:cNvSpPr txBox="1"/>
          <p:nvPr/>
        </p:nvSpPr>
        <p:spPr>
          <a:xfrm>
            <a:off x="1127448" y="5636104"/>
            <a:ext cx="8928992" cy="830997"/>
          </a:xfrm>
          <a:prstGeom prst="rect">
            <a:avLst/>
          </a:prstGeom>
          <a:noFill/>
        </p:spPr>
        <p:txBody>
          <a:bodyPr wrap="square">
            <a:spAutoFit/>
          </a:bodyPr>
          <a:lstStyle/>
          <a:p>
            <a:pPr>
              <a:defRPr/>
            </a:pP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思考</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：如果不将</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W</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预排序，算法怎样设计？算法效率怎样变化？</a:t>
            </a:r>
            <a:endPar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endParaRPr>
          </a:p>
          <a:p>
            <a:pPr>
              <a:defRPr/>
            </a:pP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思考</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2</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：为什么左子树简化了约束条件的判定？</a:t>
            </a:r>
          </a:p>
        </p:txBody>
      </p:sp>
      <p:sp>
        <p:nvSpPr>
          <p:cNvPr id="6" name="圆角矩形标注 5"/>
          <p:cNvSpPr/>
          <p:nvPr/>
        </p:nvSpPr>
        <p:spPr>
          <a:xfrm>
            <a:off x="7104112" y="3356992"/>
            <a:ext cx="2664112" cy="504056"/>
          </a:xfrm>
          <a:prstGeom prst="wedgeRoundRectCallout">
            <a:avLst>
              <a:gd name="adj1" fmla="val -51745"/>
              <a:gd name="adj2" fmla="val 77180"/>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幼圆" panose="02010509060101010101" pitchFamily="49" charset="-122"/>
                <a:ea typeface="幼圆" panose="02010509060101010101" pitchFamily="49" charset="-122"/>
              </a:rPr>
              <a:t>右子树</a:t>
            </a:r>
            <a:r>
              <a:rPr lang="en-US" altLang="zh-CN" sz="2400" dirty="0">
                <a:solidFill>
                  <a:schemeClr val="tx1"/>
                </a:solidFill>
                <a:latin typeface="幼圆" panose="02010509060101010101" pitchFamily="49" charset="-122"/>
                <a:ea typeface="幼圆" panose="02010509060101010101" pitchFamily="49" charset="-122"/>
              </a:rPr>
              <a:t>-</a:t>
            </a:r>
            <a:r>
              <a:rPr lang="zh-CN" altLang="en-US" sz="2400" dirty="0">
                <a:solidFill>
                  <a:schemeClr val="tx1"/>
                </a:solidFill>
                <a:latin typeface="幼圆" panose="02010509060101010101" pitchFamily="49" charset="-122"/>
                <a:ea typeface="幼圆" panose="02010509060101010101" pitchFamily="49" charset="-122"/>
              </a:rPr>
              <a:t>递归入口</a:t>
            </a:r>
            <a:endParaRPr lang="en-US" altLang="zh-CN" sz="2400" dirty="0">
              <a:solidFill>
                <a:schemeClr val="tx1"/>
              </a:solidFill>
              <a:latin typeface="幼圆" panose="02010509060101010101" pitchFamily="49" charset="-122"/>
              <a:ea typeface="幼圆" panose="02010509060101010101" pitchFamily="49" charset="-122"/>
            </a:endParaRPr>
          </a:p>
        </p:txBody>
      </p:sp>
      <p:sp>
        <p:nvSpPr>
          <p:cNvPr id="7" name="圆角矩形标注 6"/>
          <p:cNvSpPr/>
          <p:nvPr/>
        </p:nvSpPr>
        <p:spPr>
          <a:xfrm>
            <a:off x="7104112" y="1556792"/>
            <a:ext cx="2664112" cy="504056"/>
          </a:xfrm>
          <a:prstGeom prst="wedgeRoundRectCallout">
            <a:avLst>
              <a:gd name="adj1" fmla="val -51745"/>
              <a:gd name="adj2" fmla="val 80668"/>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幼圆" panose="02010509060101010101" pitchFamily="49" charset="-122"/>
                <a:ea typeface="幼圆" panose="02010509060101010101" pitchFamily="49" charset="-122"/>
              </a:rPr>
              <a:t>左子树</a:t>
            </a:r>
            <a:r>
              <a:rPr lang="en-US" altLang="zh-CN" sz="2400" dirty="0">
                <a:solidFill>
                  <a:schemeClr val="tx1"/>
                </a:solidFill>
                <a:latin typeface="幼圆" panose="02010509060101010101" pitchFamily="49" charset="-122"/>
                <a:ea typeface="幼圆" panose="02010509060101010101" pitchFamily="49" charset="-122"/>
              </a:rPr>
              <a:t>-</a:t>
            </a:r>
            <a:r>
              <a:rPr lang="zh-CN" altLang="en-US" sz="2400" dirty="0">
                <a:solidFill>
                  <a:schemeClr val="tx1"/>
                </a:solidFill>
                <a:latin typeface="幼圆" panose="02010509060101010101" pitchFamily="49" charset="-122"/>
                <a:ea typeface="幼圆" panose="02010509060101010101" pitchFamily="49" charset="-122"/>
              </a:rPr>
              <a:t>递归入口</a:t>
            </a:r>
            <a:endParaRPr lang="en-US" altLang="zh-CN" sz="2400" dirty="0">
              <a:solidFill>
                <a:schemeClr val="tx1"/>
              </a:solidFill>
              <a:latin typeface="幼圆" panose="02010509060101010101" pitchFamily="49" charset="-122"/>
              <a:ea typeface="幼圆" panose="02010509060101010101" pitchFamily="49" charset="-122"/>
            </a:endParaRPr>
          </a:p>
        </p:txBody>
      </p:sp>
      <p:sp>
        <p:nvSpPr>
          <p:cNvPr id="8"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47</a:t>
            </a:fld>
            <a:endParaRPr lang="en-US" altLang="zh-CN" dirty="0"/>
          </a:p>
        </p:txBody>
      </p:sp>
      <p:sp>
        <p:nvSpPr>
          <p:cNvPr id="9" name="内容占位符 2"/>
          <p:cNvSpPr txBox="1">
            <a:spLocks/>
          </p:cNvSpPr>
          <p:nvPr/>
        </p:nvSpPr>
        <p:spPr>
          <a:xfrm>
            <a:off x="5159896" y="4740586"/>
            <a:ext cx="5106543" cy="704638"/>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初始调用：</a:t>
            </a:r>
            <a:r>
              <a:rPr lang="en-US" altLang="zh-CN" sz="2400" dirty="0"/>
              <a:t> SUMOFSUB(0,1,</a:t>
            </a:r>
            <a:r>
              <a:rPr kumimoji="1" lang="zh-CN" altLang="en-US" sz="2400" dirty="0"/>
              <a:t> ∑</a:t>
            </a:r>
            <a:r>
              <a:rPr kumimoji="1" lang="en-US" altLang="zh-CN" sz="2400" dirty="0"/>
              <a:t>W(</a:t>
            </a:r>
            <a:r>
              <a:rPr kumimoji="1" lang="en-US" altLang="zh-CN" sz="2400" dirty="0" err="1"/>
              <a:t>i</a:t>
            </a:r>
            <a:r>
              <a:rPr kumimoji="1" lang="en-US" altLang="zh-CN" sz="2400" dirty="0"/>
              <a:t>)</a:t>
            </a:r>
            <a:r>
              <a:rPr lang="en-US" altLang="zh-CN" sz="2400" dirty="0"/>
              <a:t>)</a:t>
            </a:r>
            <a:endParaRPr lang="zh-CN" altLang="en-US" sz="2400" dirty="0"/>
          </a:p>
        </p:txBody>
      </p:sp>
      <p:sp>
        <p:nvSpPr>
          <p:cNvPr id="2" name="矩形 1"/>
          <p:cNvSpPr/>
          <p:nvPr/>
        </p:nvSpPr>
        <p:spPr>
          <a:xfrm>
            <a:off x="9186319" y="5060401"/>
            <a:ext cx="946093" cy="369332"/>
          </a:xfrm>
          <a:prstGeom prst="rect">
            <a:avLst/>
          </a:prstGeom>
        </p:spPr>
        <p:txBody>
          <a:bodyPr wrap="none">
            <a:spAutoFit/>
          </a:bodyPr>
          <a:lstStyle/>
          <a:p>
            <a:r>
              <a:rPr kumimoji="1" lang="en-US" altLang="zh-CN" dirty="0"/>
              <a:t>1≤i≤n</a:t>
            </a:r>
            <a:endParaRPr lang="zh-CN" altLang="en-US" dirty="0"/>
          </a:p>
        </p:txBody>
      </p:sp>
    </p:spTree>
    <p:extLst>
      <p:ext uri="{BB962C8B-B14F-4D97-AF65-F5344CB8AC3E}">
        <p14:creationId xmlns:p14="http://schemas.microsoft.com/office/powerpoint/2010/main" val="399120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6"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084" y="114052"/>
            <a:ext cx="10515600" cy="1008086"/>
          </a:xfrm>
        </p:spPr>
        <p:txBody>
          <a:bodyPr/>
          <a:lstStyle/>
          <a:p>
            <a:r>
              <a:rPr lang="zh-CN" altLang="en-US" dirty="0"/>
              <a:t>实例分析</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48</a:t>
            </a:fld>
            <a:endParaRPr lang="en-US" altLang="zh-CN" dirty="0"/>
          </a:p>
        </p:txBody>
      </p:sp>
      <p:sp>
        <p:nvSpPr>
          <p:cNvPr id="26" name="内容占位符 2"/>
          <p:cNvSpPr>
            <a:spLocks noGrp="1"/>
          </p:cNvSpPr>
          <p:nvPr>
            <p:ph idx="1"/>
          </p:nvPr>
        </p:nvSpPr>
        <p:spPr>
          <a:xfrm>
            <a:off x="423097" y="1126568"/>
            <a:ext cx="2193491" cy="505089"/>
          </a:xfrm>
        </p:spPr>
        <p:txBody>
          <a:bodyPr>
            <a:normAutofit/>
          </a:bodyPr>
          <a:lstStyle/>
          <a:p>
            <a:pPr marL="0" indent="0">
              <a:buNone/>
            </a:pPr>
            <a:r>
              <a:rPr lang="zh-CN" altLang="en-US" sz="2400" dirty="0">
                <a:solidFill>
                  <a:srgbClr val="FF0000"/>
                </a:solidFill>
              </a:rPr>
              <a:t>设当前</a:t>
            </a:r>
            <a:r>
              <a:rPr lang="en-US" altLang="zh-CN" sz="2400" dirty="0">
                <a:solidFill>
                  <a:srgbClr val="FF0000"/>
                </a:solidFill>
              </a:rPr>
              <a:t>n=10</a:t>
            </a:r>
            <a:endParaRPr lang="zh-CN" altLang="en-US" sz="2400" dirty="0">
              <a:solidFill>
                <a:srgbClr val="FF0000"/>
              </a:solidFill>
            </a:endParaRPr>
          </a:p>
        </p:txBody>
      </p:sp>
      <p:grpSp>
        <p:nvGrpSpPr>
          <p:cNvPr id="107" name="组合 106"/>
          <p:cNvGrpSpPr/>
          <p:nvPr/>
        </p:nvGrpSpPr>
        <p:grpSpPr>
          <a:xfrm>
            <a:off x="295416" y="1971330"/>
            <a:ext cx="3152460" cy="3681471"/>
            <a:chOff x="297091" y="2213776"/>
            <a:chExt cx="3152460" cy="3681471"/>
          </a:xfrm>
        </p:grpSpPr>
        <p:cxnSp>
          <p:nvCxnSpPr>
            <p:cNvPr id="28" name="直接连接符 27"/>
            <p:cNvCxnSpPr/>
            <p:nvPr/>
          </p:nvCxnSpPr>
          <p:spPr>
            <a:xfrm>
              <a:off x="463094" y="4841108"/>
              <a:ext cx="2868843" cy="2444"/>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1682043" y="2654887"/>
              <a:ext cx="1468375" cy="3240360"/>
              <a:chOff x="8672087" y="1820230"/>
              <a:chExt cx="1468375" cy="3240360"/>
            </a:xfrm>
          </p:grpSpPr>
          <p:sp>
            <p:nvSpPr>
              <p:cNvPr id="6" name="椭圆 5"/>
              <p:cNvSpPr/>
              <p:nvPr/>
            </p:nvSpPr>
            <p:spPr>
              <a:xfrm>
                <a:off x="9844369" y="1895057"/>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7" name="椭圆 6"/>
              <p:cNvSpPr/>
              <p:nvPr/>
            </p:nvSpPr>
            <p:spPr>
              <a:xfrm>
                <a:off x="9414553" y="2471121"/>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椭圆 7"/>
              <p:cNvSpPr/>
              <p:nvPr/>
            </p:nvSpPr>
            <p:spPr>
              <a:xfrm>
                <a:off x="9735241" y="3047185"/>
                <a:ext cx="218256" cy="21320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 name="椭圆 8"/>
              <p:cNvSpPr/>
              <p:nvPr/>
            </p:nvSpPr>
            <p:spPr>
              <a:xfrm>
                <a:off x="9330916" y="3775070"/>
                <a:ext cx="452368" cy="43422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Arial" panose="020B0604020202020204" pitchFamily="34" charset="0"/>
                    <a:cs typeface="Arial" panose="020B0604020202020204" pitchFamily="34" charset="0"/>
                  </a:rPr>
                  <a:t>Y</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10" name="椭圆 9"/>
              <p:cNvSpPr/>
              <p:nvPr/>
            </p:nvSpPr>
            <p:spPr>
              <a:xfrm>
                <a:off x="9060342" y="4844566"/>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1" name="直接箭头连接符 10"/>
              <p:cNvCxnSpPr>
                <a:stCxn id="6" idx="3"/>
                <a:endCxn id="7" idx="0"/>
              </p:cNvCxnSpPr>
              <p:nvPr/>
            </p:nvCxnSpPr>
            <p:spPr>
              <a:xfrm flipH="1">
                <a:off x="9523681" y="2077039"/>
                <a:ext cx="352651" cy="3940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7" idx="4"/>
                <a:endCxn id="8" idx="0"/>
              </p:cNvCxnSpPr>
              <p:nvPr/>
            </p:nvCxnSpPr>
            <p:spPr>
              <a:xfrm>
                <a:off x="9523681" y="2684326"/>
                <a:ext cx="320688" cy="3628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8" idx="4"/>
                <a:endCxn id="9" idx="0"/>
              </p:cNvCxnSpPr>
              <p:nvPr/>
            </p:nvCxnSpPr>
            <p:spPr>
              <a:xfrm flipH="1">
                <a:off x="9557100" y="3260390"/>
                <a:ext cx="287269" cy="5146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9023610" y="2587658"/>
                <a:ext cx="441146"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sp>
            <p:nvSpPr>
              <p:cNvPr id="15" name="矩形 14"/>
              <p:cNvSpPr/>
              <p:nvPr/>
            </p:nvSpPr>
            <p:spPr>
              <a:xfrm>
                <a:off x="9178209" y="1820230"/>
                <a:ext cx="450764"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X</a:t>
                </a:r>
                <a:r>
                  <a:rPr lang="en-US" altLang="zh-CN" sz="2000" baseline="-25000" dirty="0">
                    <a:latin typeface="Arial" panose="020B0604020202020204" pitchFamily="34" charset="0"/>
                    <a:cs typeface="Arial" panose="020B0604020202020204" pitchFamily="34" charset="0"/>
                  </a:rPr>
                  <a:t>1</a:t>
                </a:r>
                <a:endParaRPr lang="zh-CN" altLang="en-US" sz="2000" dirty="0">
                  <a:latin typeface="Arial" panose="020B0604020202020204" pitchFamily="34" charset="0"/>
                  <a:cs typeface="Arial" panose="020B0604020202020204" pitchFamily="34" charset="0"/>
                </a:endParaRPr>
              </a:p>
            </p:txBody>
          </p:sp>
          <p:cxnSp>
            <p:nvCxnSpPr>
              <p:cNvPr id="16" name="直接箭头连接符 15"/>
              <p:cNvCxnSpPr>
                <a:stCxn id="9" idx="4"/>
                <a:endCxn id="10" idx="0"/>
              </p:cNvCxnSpPr>
              <p:nvPr/>
            </p:nvCxnSpPr>
            <p:spPr>
              <a:xfrm flipH="1">
                <a:off x="9169470" y="4209292"/>
                <a:ext cx="387630" cy="63527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8672087" y="4165362"/>
                <a:ext cx="742511" cy="400110"/>
              </a:xfrm>
              <a:prstGeom prst="rect">
                <a:avLst/>
              </a:prstGeom>
            </p:spPr>
            <p:txBody>
              <a:bodyPr wrap="none">
                <a:spAutoFit/>
              </a:bodyPr>
              <a:lstStyle/>
              <a:p>
                <a:r>
                  <a:rPr lang="en-US" altLang="zh-CN" sz="2000" dirty="0">
                    <a:solidFill>
                      <a:srgbClr val="FF0000"/>
                    </a:solidFill>
                    <a:latin typeface="Arial" panose="020B0604020202020204" pitchFamily="34" charset="0"/>
                    <a:cs typeface="Arial" panose="020B0604020202020204" pitchFamily="34" charset="0"/>
                  </a:rPr>
                  <a:t>X</a:t>
                </a:r>
                <a:r>
                  <a:rPr lang="en-US" altLang="zh-CN" sz="2000" baseline="-25000" dirty="0">
                    <a:solidFill>
                      <a:srgbClr val="FF0000"/>
                    </a:solidFill>
                    <a:latin typeface="Arial" panose="020B0604020202020204" pitchFamily="34" charset="0"/>
                    <a:cs typeface="Arial" panose="020B0604020202020204" pitchFamily="34" charset="0"/>
                  </a:rPr>
                  <a:t>5</a:t>
                </a:r>
                <a:r>
                  <a:rPr lang="en-US" altLang="zh-CN" sz="2000" dirty="0">
                    <a:solidFill>
                      <a:srgbClr val="FF0000"/>
                    </a:solidFill>
                    <a:latin typeface="Arial" panose="020B0604020202020204" pitchFamily="34" charset="0"/>
                    <a:cs typeface="Arial" panose="020B0604020202020204" pitchFamily="34" charset="0"/>
                  </a:rPr>
                  <a:t>=1</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18" name="矩形 17"/>
              <p:cNvSpPr/>
              <p:nvPr/>
            </p:nvSpPr>
            <p:spPr>
              <a:xfrm>
                <a:off x="9090215" y="3143579"/>
                <a:ext cx="450764" cy="400110"/>
              </a:xfrm>
              <a:prstGeom prst="rect">
                <a:avLst/>
              </a:prstGeom>
            </p:spPr>
            <p:txBody>
              <a:bodyPr wrap="none">
                <a:spAutoFit/>
              </a:bodyPr>
              <a:lstStyle/>
              <a:p>
                <a:r>
                  <a:rPr kumimoji="1" lang="en-US" altLang="zh-CN" sz="2000" dirty="0">
                    <a:latin typeface="Arial" panose="020B0604020202020204" pitchFamily="34" charset="0"/>
                    <a:cs typeface="Arial" panose="020B0604020202020204" pitchFamily="34" charset="0"/>
                  </a:rPr>
                  <a:t>X</a:t>
                </a:r>
                <a:r>
                  <a:rPr kumimoji="1" lang="en-US" altLang="zh-CN" sz="2000" baseline="-25000" dirty="0">
                    <a:latin typeface="Arial" panose="020B0604020202020204" pitchFamily="34" charset="0"/>
                    <a:cs typeface="Arial" panose="020B0604020202020204" pitchFamily="34" charset="0"/>
                  </a:rPr>
                  <a:t>4</a:t>
                </a:r>
                <a:endParaRPr lang="zh-CN" altLang="en-US" sz="2000" dirty="0">
                  <a:latin typeface="Arial" panose="020B0604020202020204" pitchFamily="34" charset="0"/>
                  <a:cs typeface="Arial" panose="020B0604020202020204" pitchFamily="34" charset="0"/>
                </a:endParaRPr>
              </a:p>
            </p:txBody>
          </p:sp>
          <p:sp>
            <p:nvSpPr>
              <p:cNvPr id="19" name="椭圆 18"/>
              <p:cNvSpPr/>
              <p:nvPr/>
            </p:nvSpPr>
            <p:spPr>
              <a:xfrm>
                <a:off x="9922206" y="4847385"/>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0" name="直接箭头连接符 19"/>
              <p:cNvCxnSpPr>
                <a:stCxn id="9" idx="4"/>
                <a:endCxn id="19" idx="0"/>
              </p:cNvCxnSpPr>
              <p:nvPr/>
            </p:nvCxnSpPr>
            <p:spPr>
              <a:xfrm>
                <a:off x="9557100" y="4209292"/>
                <a:ext cx="474234" cy="6380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9334906" y="4418034"/>
                <a:ext cx="441146"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grpSp>
        <p:sp>
          <p:nvSpPr>
            <p:cNvPr id="22" name="矩形 21"/>
            <p:cNvSpPr/>
            <p:nvPr/>
          </p:nvSpPr>
          <p:spPr>
            <a:xfrm>
              <a:off x="2707040" y="5011635"/>
              <a:ext cx="742511" cy="400110"/>
            </a:xfrm>
            <a:prstGeom prst="rect">
              <a:avLst/>
            </a:prstGeom>
          </p:spPr>
          <p:txBody>
            <a:bodyPr wrap="none">
              <a:spAutoFit/>
            </a:bodyPr>
            <a:lstStyle/>
            <a:p>
              <a:r>
                <a:rPr lang="en-US" altLang="zh-CN" sz="2000" dirty="0">
                  <a:solidFill>
                    <a:srgbClr val="FF0000"/>
                  </a:solidFill>
                  <a:latin typeface="Arial" panose="020B0604020202020204" pitchFamily="34" charset="0"/>
                  <a:cs typeface="Arial" panose="020B0604020202020204" pitchFamily="34" charset="0"/>
                </a:rPr>
                <a:t>X</a:t>
              </a:r>
              <a:r>
                <a:rPr lang="en-US" altLang="zh-CN" sz="2000" baseline="-25000" dirty="0">
                  <a:solidFill>
                    <a:srgbClr val="FF0000"/>
                  </a:solidFill>
                  <a:latin typeface="Arial" panose="020B0604020202020204" pitchFamily="34" charset="0"/>
                  <a:cs typeface="Arial" panose="020B0604020202020204" pitchFamily="34" charset="0"/>
                </a:rPr>
                <a:t>5</a:t>
              </a:r>
              <a:r>
                <a:rPr lang="en-US" altLang="zh-CN" sz="2000" dirty="0">
                  <a:solidFill>
                    <a:srgbClr val="FF0000"/>
                  </a:solidFill>
                  <a:latin typeface="Arial" panose="020B0604020202020204" pitchFamily="34" charset="0"/>
                  <a:cs typeface="Arial" panose="020B0604020202020204" pitchFamily="34" charset="0"/>
                </a:rPr>
                <a:t>=0</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30" name="内容占位符 2"/>
            <p:cNvSpPr txBox="1">
              <a:spLocks/>
            </p:cNvSpPr>
            <p:nvPr/>
          </p:nvSpPr>
          <p:spPr>
            <a:xfrm>
              <a:off x="357190" y="3116552"/>
              <a:ext cx="1702205" cy="704638"/>
            </a:xfrm>
            <a:prstGeom prst="rect">
              <a:avLst/>
            </a:prstGeom>
            <a:no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s=</a:t>
              </a:r>
              <a:r>
                <a:rPr kumimoji="1" lang="zh-CN" altLang="en-US" sz="2000" dirty="0"/>
                <a:t>∑</a:t>
              </a:r>
              <a:r>
                <a:rPr kumimoji="1" lang="en-US" altLang="zh-CN" sz="2000" dirty="0"/>
                <a:t>W(</a:t>
              </a:r>
              <a:r>
                <a:rPr kumimoji="1" lang="en-US" altLang="zh-CN" sz="2000" dirty="0" err="1"/>
                <a:t>i</a:t>
              </a:r>
              <a:r>
                <a:rPr kumimoji="1" lang="en-US" altLang="zh-CN" sz="2000" dirty="0"/>
                <a:t>)X(</a:t>
              </a:r>
              <a:r>
                <a:rPr kumimoji="1" lang="en-US" altLang="zh-CN" sz="2000" dirty="0" err="1"/>
                <a:t>i</a:t>
              </a:r>
              <a:r>
                <a:rPr lang="en-US" altLang="zh-CN" sz="2000" dirty="0"/>
                <a:t>)</a:t>
              </a:r>
              <a:endParaRPr lang="zh-CN" altLang="en-US" sz="2000" dirty="0"/>
            </a:p>
          </p:txBody>
        </p:sp>
        <p:sp>
          <p:nvSpPr>
            <p:cNvPr id="31" name="矩形 30"/>
            <p:cNvSpPr/>
            <p:nvPr/>
          </p:nvSpPr>
          <p:spPr>
            <a:xfrm>
              <a:off x="407368" y="3378478"/>
              <a:ext cx="856325" cy="338554"/>
            </a:xfrm>
            <a:prstGeom prst="rect">
              <a:avLst/>
            </a:prstGeom>
          </p:spPr>
          <p:txBody>
            <a:bodyPr wrap="none">
              <a:spAutoFit/>
            </a:bodyPr>
            <a:lstStyle/>
            <a:p>
              <a:r>
                <a:rPr kumimoji="1" lang="en-US" altLang="zh-CN" sz="1600" dirty="0"/>
                <a:t>1≤i≤4</a:t>
              </a:r>
              <a:endParaRPr lang="zh-CN" altLang="en-US" sz="1600" dirty="0"/>
            </a:p>
          </p:txBody>
        </p:sp>
        <p:sp>
          <p:nvSpPr>
            <p:cNvPr id="32" name="内容占位符 2"/>
            <p:cNvSpPr txBox="1">
              <a:spLocks/>
            </p:cNvSpPr>
            <p:nvPr/>
          </p:nvSpPr>
          <p:spPr>
            <a:xfrm>
              <a:off x="420399" y="4987085"/>
              <a:ext cx="1550968" cy="704638"/>
            </a:xfrm>
            <a:prstGeom prst="rect">
              <a:avLst/>
            </a:prstGeom>
            <a:no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r=</a:t>
              </a:r>
              <a:r>
                <a:rPr kumimoji="1" lang="zh-CN" altLang="en-US" sz="2000" dirty="0"/>
                <a:t>∑</a:t>
              </a:r>
              <a:r>
                <a:rPr kumimoji="1" lang="en-US" altLang="zh-CN" sz="2000" dirty="0"/>
                <a:t>W(</a:t>
              </a:r>
              <a:r>
                <a:rPr kumimoji="1" lang="en-US" altLang="zh-CN" sz="2000" dirty="0" err="1"/>
                <a:t>i</a:t>
              </a:r>
              <a:r>
                <a:rPr kumimoji="1" lang="en-US" altLang="zh-CN" sz="2000" dirty="0"/>
                <a:t>)</a:t>
              </a:r>
              <a:r>
                <a:rPr lang="en-US" altLang="zh-CN" sz="2000" dirty="0"/>
                <a:t>)</a:t>
              </a:r>
              <a:endParaRPr lang="zh-CN" altLang="en-US" sz="2000" dirty="0"/>
            </a:p>
          </p:txBody>
        </p:sp>
        <p:sp>
          <p:nvSpPr>
            <p:cNvPr id="33" name="矩形 32"/>
            <p:cNvSpPr/>
            <p:nvPr/>
          </p:nvSpPr>
          <p:spPr>
            <a:xfrm>
              <a:off x="431263" y="5250686"/>
              <a:ext cx="963725" cy="338554"/>
            </a:xfrm>
            <a:prstGeom prst="rect">
              <a:avLst/>
            </a:prstGeom>
          </p:spPr>
          <p:txBody>
            <a:bodyPr wrap="none">
              <a:spAutoFit/>
            </a:bodyPr>
            <a:lstStyle/>
            <a:p>
              <a:r>
                <a:rPr kumimoji="1" lang="en-US" altLang="zh-CN" sz="1600" dirty="0"/>
                <a:t>5≤i≤10</a:t>
              </a:r>
              <a:endParaRPr lang="zh-CN" altLang="en-US" sz="1600" dirty="0"/>
            </a:p>
          </p:txBody>
        </p:sp>
        <p:sp>
          <p:nvSpPr>
            <p:cNvPr id="36" name="矩形 35"/>
            <p:cNvSpPr/>
            <p:nvPr/>
          </p:nvSpPr>
          <p:spPr>
            <a:xfrm>
              <a:off x="297091" y="2213776"/>
              <a:ext cx="2448106" cy="400110"/>
            </a:xfrm>
            <a:prstGeom prst="rect">
              <a:avLst/>
            </a:prstGeom>
          </p:spPr>
          <p:txBody>
            <a:bodyPr wrap="none">
              <a:spAutoFit/>
            </a:bodyPr>
            <a:lstStyle/>
            <a:p>
              <a:pPr>
                <a:defRPr/>
              </a:pPr>
              <a:r>
                <a:rPr lang="en-US" altLang="zh-CN" sz="2000" dirty="0">
                  <a:latin typeface="Arial" panose="020B0604020202020204" pitchFamily="34" charset="0"/>
                  <a:cs typeface="Arial" panose="020B0604020202020204" pitchFamily="34" charset="0"/>
                </a:rPr>
                <a:t>SUMOFSUB(s, </a:t>
              </a:r>
              <a:r>
                <a:rPr lang="en-US" altLang="zh-CN" sz="2000" dirty="0">
                  <a:solidFill>
                    <a:srgbClr val="FF0000"/>
                  </a:solidFill>
                  <a:latin typeface="Arial" panose="020B0604020202020204" pitchFamily="34" charset="0"/>
                  <a:cs typeface="Arial" panose="020B0604020202020204" pitchFamily="34" charset="0"/>
                </a:rPr>
                <a:t>5</a:t>
              </a:r>
              <a:r>
                <a:rPr lang="en-US" altLang="zh-CN" sz="2000" dirty="0">
                  <a:latin typeface="Arial" panose="020B0604020202020204" pitchFamily="34" charset="0"/>
                  <a:cs typeface="Arial" panose="020B0604020202020204" pitchFamily="34" charset="0"/>
                </a:rPr>
                <a:t>, r)</a:t>
              </a:r>
            </a:p>
          </p:txBody>
        </p:sp>
      </p:grpSp>
      <p:grpSp>
        <p:nvGrpSpPr>
          <p:cNvPr id="99" name="组合 98"/>
          <p:cNvGrpSpPr/>
          <p:nvPr/>
        </p:nvGrpSpPr>
        <p:grpSpPr>
          <a:xfrm>
            <a:off x="3399755" y="1526055"/>
            <a:ext cx="5034880" cy="4783656"/>
            <a:chOff x="3384853" y="1553934"/>
            <a:chExt cx="5034880" cy="4783656"/>
          </a:xfrm>
        </p:grpSpPr>
        <p:sp>
          <p:nvSpPr>
            <p:cNvPr id="37" name="矩形 36"/>
            <p:cNvSpPr/>
            <p:nvPr/>
          </p:nvSpPr>
          <p:spPr>
            <a:xfrm>
              <a:off x="3384853" y="1553934"/>
              <a:ext cx="5034880" cy="830997"/>
            </a:xfrm>
            <a:prstGeom prst="rect">
              <a:avLst/>
            </a:prstGeom>
          </p:spPr>
          <p:txBody>
            <a:bodyPr wrap="square">
              <a:spAutoFit/>
            </a:bodyPr>
            <a:lstStyle/>
            <a:p>
              <a:pPr>
                <a:lnSpc>
                  <a:spcPct val="120000"/>
                </a:lnSpc>
                <a:defRPr/>
              </a:pPr>
              <a:r>
                <a:rPr lang="zh-CN" altLang="en-US" sz="2000" dirty="0">
                  <a:latin typeface="Arial" panose="020B0604020202020204" pitchFamily="34" charset="0"/>
                  <a:ea typeface="幼圆" panose="02010509060101010101" pitchFamily="49" charset="-122"/>
                  <a:cs typeface="Arial" panose="020B0604020202020204" pitchFamily="34" charset="0"/>
                </a:rPr>
                <a:t>如果</a:t>
              </a:r>
              <a:r>
                <a:rPr lang="en-US" altLang="zh-CN" sz="2000" dirty="0" err="1">
                  <a:latin typeface="Arial" panose="020B0604020202020204" pitchFamily="34" charset="0"/>
                  <a:ea typeface="幼圆" panose="02010509060101010101" pitchFamily="49" charset="-122"/>
                  <a:cs typeface="Arial" panose="020B0604020202020204" pitchFamily="34" charset="0"/>
                </a:rPr>
                <a:t>s+W</a:t>
              </a:r>
              <a:r>
                <a:rPr lang="en-US" altLang="zh-CN" sz="2000" dirty="0">
                  <a:latin typeface="Arial" panose="020B0604020202020204" pitchFamily="34" charset="0"/>
                  <a:ea typeface="幼圆" panose="02010509060101010101" pitchFamily="49" charset="-122"/>
                  <a:cs typeface="Arial" panose="020B0604020202020204" pitchFamily="34" charset="0"/>
                </a:rPr>
                <a:t>(5)+W(6)≤M</a:t>
              </a:r>
              <a:r>
                <a:rPr lang="zh-CN" altLang="en-US" sz="2000" dirty="0">
                  <a:latin typeface="Arial" panose="020B0604020202020204" pitchFamily="34" charset="0"/>
                  <a:ea typeface="幼圆" panose="02010509060101010101" pitchFamily="49" charset="-122"/>
                  <a:cs typeface="Arial" panose="020B0604020202020204" pitchFamily="34" charset="0"/>
                </a:rPr>
                <a:t>，</a:t>
              </a:r>
              <a:endParaRPr lang="en-US" altLang="zh-CN" sz="2000" dirty="0">
                <a:latin typeface="Arial" panose="020B0604020202020204" pitchFamily="34" charset="0"/>
                <a:ea typeface="幼圆" panose="02010509060101010101" pitchFamily="49" charset="-122"/>
                <a:cs typeface="Arial" panose="020B0604020202020204" pitchFamily="34" charset="0"/>
              </a:endParaRPr>
            </a:p>
            <a:p>
              <a:pPr>
                <a:lnSpc>
                  <a:spcPct val="120000"/>
                </a:lnSpc>
                <a:defRPr/>
              </a:pPr>
              <a:r>
                <a:rPr lang="zh-CN" altLang="en-US" sz="2000" dirty="0">
                  <a:latin typeface="Arial" panose="020B0604020202020204" pitchFamily="34" charset="0"/>
                  <a:ea typeface="幼圆" panose="02010509060101010101" pitchFamily="49" charset="-122"/>
                  <a:cs typeface="Arial" panose="020B0604020202020204" pitchFamily="34" charset="0"/>
                </a:rPr>
                <a:t>调用</a:t>
              </a:r>
              <a:r>
                <a:rPr lang="en-US" altLang="zh-CN" sz="2000" dirty="0">
                  <a:latin typeface="Arial" panose="020B0604020202020204" pitchFamily="34" charset="0"/>
                  <a:ea typeface="幼圆" panose="02010509060101010101" pitchFamily="49" charset="-122"/>
                  <a:cs typeface="Arial" panose="020B0604020202020204" pitchFamily="34" charset="0"/>
                </a:rPr>
                <a:t>SUMOFSUB(</a:t>
              </a:r>
              <a:r>
                <a:rPr lang="en-US" altLang="zh-CN" sz="2000" dirty="0" err="1">
                  <a:latin typeface="Arial" panose="020B0604020202020204" pitchFamily="34" charset="0"/>
                  <a:ea typeface="幼圆" panose="02010509060101010101" pitchFamily="49" charset="-122"/>
                  <a:cs typeface="Arial" panose="020B0604020202020204" pitchFamily="34" charset="0"/>
                </a:rPr>
                <a:t>s+W</a:t>
              </a:r>
              <a:r>
                <a:rPr lang="en-US" altLang="zh-CN" sz="2000" dirty="0">
                  <a:latin typeface="Arial" panose="020B0604020202020204" pitchFamily="34" charset="0"/>
                  <a:ea typeface="幼圆" panose="02010509060101010101" pitchFamily="49" charset="-122"/>
                  <a:cs typeface="Arial" panose="020B0604020202020204" pitchFamily="34" charset="0"/>
                </a:rPr>
                <a:t>(5), </a:t>
              </a:r>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6</a:t>
              </a:r>
              <a:r>
                <a:rPr lang="en-US" altLang="zh-CN" sz="2000" dirty="0">
                  <a:latin typeface="Arial" panose="020B0604020202020204" pitchFamily="34" charset="0"/>
                  <a:ea typeface="幼圆" panose="02010509060101010101" pitchFamily="49" charset="-122"/>
                  <a:cs typeface="Arial" panose="020B0604020202020204" pitchFamily="34" charset="0"/>
                </a:rPr>
                <a:t>, r-W(5))</a:t>
              </a:r>
            </a:p>
          </p:txBody>
        </p:sp>
        <p:cxnSp>
          <p:nvCxnSpPr>
            <p:cNvPr id="38" name="直接连接符 37"/>
            <p:cNvCxnSpPr/>
            <p:nvPr/>
          </p:nvCxnSpPr>
          <p:spPr>
            <a:xfrm>
              <a:off x="3928784" y="5576833"/>
              <a:ext cx="3319344" cy="4898"/>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5159782" y="2467133"/>
              <a:ext cx="1432094" cy="3240360"/>
              <a:chOff x="8708368" y="1820230"/>
              <a:chExt cx="1432094" cy="3240360"/>
            </a:xfrm>
          </p:grpSpPr>
          <p:sp>
            <p:nvSpPr>
              <p:cNvPr id="40" name="椭圆 39"/>
              <p:cNvSpPr/>
              <p:nvPr/>
            </p:nvSpPr>
            <p:spPr>
              <a:xfrm>
                <a:off x="9844369" y="1895057"/>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1" name="椭圆 40"/>
              <p:cNvSpPr/>
              <p:nvPr/>
            </p:nvSpPr>
            <p:spPr>
              <a:xfrm>
                <a:off x="9414553" y="2471121"/>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2" name="椭圆 41"/>
              <p:cNvSpPr/>
              <p:nvPr/>
            </p:nvSpPr>
            <p:spPr>
              <a:xfrm>
                <a:off x="9735241" y="3047185"/>
                <a:ext cx="218256" cy="21320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3" name="椭圆 42"/>
              <p:cNvSpPr/>
              <p:nvPr/>
            </p:nvSpPr>
            <p:spPr>
              <a:xfrm>
                <a:off x="9330916" y="3775070"/>
                <a:ext cx="452368" cy="43422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Arial" panose="020B0604020202020204" pitchFamily="34" charset="0"/>
                    <a:cs typeface="Arial" panose="020B0604020202020204" pitchFamily="34" charset="0"/>
                  </a:rPr>
                  <a:t>Y</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44" name="椭圆 43"/>
              <p:cNvSpPr/>
              <p:nvPr/>
            </p:nvSpPr>
            <p:spPr>
              <a:xfrm>
                <a:off x="9060342" y="4844566"/>
                <a:ext cx="218256" cy="213205"/>
              </a:xfrm>
              <a:prstGeom prst="ellipse">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45" name="直接箭头连接符 44"/>
              <p:cNvCxnSpPr>
                <a:stCxn id="40" idx="3"/>
                <a:endCxn id="41" idx="0"/>
              </p:cNvCxnSpPr>
              <p:nvPr/>
            </p:nvCxnSpPr>
            <p:spPr>
              <a:xfrm flipH="1">
                <a:off x="9523681" y="2077039"/>
                <a:ext cx="352651" cy="3940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41" idx="4"/>
                <a:endCxn id="42" idx="0"/>
              </p:cNvCxnSpPr>
              <p:nvPr/>
            </p:nvCxnSpPr>
            <p:spPr>
              <a:xfrm>
                <a:off x="9523681" y="2684326"/>
                <a:ext cx="320688" cy="3628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42" idx="4"/>
                <a:endCxn id="43" idx="0"/>
              </p:cNvCxnSpPr>
              <p:nvPr/>
            </p:nvCxnSpPr>
            <p:spPr>
              <a:xfrm flipH="1">
                <a:off x="9557100" y="3260390"/>
                <a:ext cx="287269" cy="5146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9023610" y="2587658"/>
                <a:ext cx="441146"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sp>
            <p:nvSpPr>
              <p:cNvPr id="49" name="矩形 48"/>
              <p:cNvSpPr/>
              <p:nvPr/>
            </p:nvSpPr>
            <p:spPr>
              <a:xfrm>
                <a:off x="9178209" y="1820230"/>
                <a:ext cx="450764"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X</a:t>
                </a:r>
                <a:r>
                  <a:rPr lang="en-US" altLang="zh-CN" sz="2000" baseline="-25000" dirty="0">
                    <a:latin typeface="Arial" panose="020B0604020202020204" pitchFamily="34" charset="0"/>
                    <a:cs typeface="Arial" panose="020B0604020202020204" pitchFamily="34" charset="0"/>
                  </a:rPr>
                  <a:t>1</a:t>
                </a:r>
                <a:endParaRPr lang="zh-CN" altLang="en-US" sz="2000" dirty="0">
                  <a:latin typeface="Arial" panose="020B0604020202020204" pitchFamily="34" charset="0"/>
                  <a:cs typeface="Arial" panose="020B0604020202020204" pitchFamily="34" charset="0"/>
                </a:endParaRPr>
              </a:p>
            </p:txBody>
          </p:sp>
          <p:cxnSp>
            <p:nvCxnSpPr>
              <p:cNvPr id="50" name="直接箭头连接符 49"/>
              <p:cNvCxnSpPr>
                <a:stCxn id="43" idx="4"/>
                <a:endCxn id="44" idx="0"/>
              </p:cNvCxnSpPr>
              <p:nvPr/>
            </p:nvCxnSpPr>
            <p:spPr>
              <a:xfrm flipH="1">
                <a:off x="9169470" y="4209292"/>
                <a:ext cx="387630" cy="63527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8708368" y="4277989"/>
                <a:ext cx="742511" cy="400110"/>
              </a:xfrm>
              <a:prstGeom prst="rect">
                <a:avLst/>
              </a:prstGeom>
            </p:spPr>
            <p:txBody>
              <a:bodyPr wrap="none">
                <a:spAutoFit/>
              </a:bodyPr>
              <a:lstStyle/>
              <a:p>
                <a:r>
                  <a:rPr lang="en-US" altLang="zh-CN" sz="2000" dirty="0">
                    <a:solidFill>
                      <a:srgbClr val="FF0000"/>
                    </a:solidFill>
                    <a:latin typeface="Arial" panose="020B0604020202020204" pitchFamily="34" charset="0"/>
                    <a:cs typeface="Arial" panose="020B0604020202020204" pitchFamily="34" charset="0"/>
                  </a:rPr>
                  <a:t>X</a:t>
                </a:r>
                <a:r>
                  <a:rPr lang="en-US" altLang="zh-CN" sz="2000" baseline="-25000" dirty="0">
                    <a:solidFill>
                      <a:srgbClr val="FF0000"/>
                    </a:solidFill>
                    <a:latin typeface="Arial" panose="020B0604020202020204" pitchFamily="34" charset="0"/>
                    <a:cs typeface="Arial" panose="020B0604020202020204" pitchFamily="34" charset="0"/>
                  </a:rPr>
                  <a:t>5</a:t>
                </a:r>
                <a:r>
                  <a:rPr lang="en-US" altLang="zh-CN" sz="2000" dirty="0">
                    <a:solidFill>
                      <a:srgbClr val="FF0000"/>
                    </a:solidFill>
                    <a:latin typeface="Arial" panose="020B0604020202020204" pitchFamily="34" charset="0"/>
                    <a:cs typeface="Arial" panose="020B0604020202020204" pitchFamily="34" charset="0"/>
                  </a:rPr>
                  <a:t>=1</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52" name="矩形 51"/>
              <p:cNvSpPr/>
              <p:nvPr/>
            </p:nvSpPr>
            <p:spPr>
              <a:xfrm>
                <a:off x="9090215" y="3143579"/>
                <a:ext cx="450764" cy="400110"/>
              </a:xfrm>
              <a:prstGeom prst="rect">
                <a:avLst/>
              </a:prstGeom>
            </p:spPr>
            <p:txBody>
              <a:bodyPr wrap="none">
                <a:spAutoFit/>
              </a:bodyPr>
              <a:lstStyle/>
              <a:p>
                <a:r>
                  <a:rPr kumimoji="1" lang="en-US" altLang="zh-CN" sz="2000" dirty="0">
                    <a:latin typeface="Arial" panose="020B0604020202020204" pitchFamily="34" charset="0"/>
                    <a:cs typeface="Arial" panose="020B0604020202020204" pitchFamily="34" charset="0"/>
                  </a:rPr>
                  <a:t>X</a:t>
                </a:r>
                <a:r>
                  <a:rPr kumimoji="1" lang="en-US" altLang="zh-CN" sz="2000" baseline="-25000" dirty="0">
                    <a:latin typeface="Arial" panose="020B0604020202020204" pitchFamily="34" charset="0"/>
                    <a:cs typeface="Arial" panose="020B0604020202020204" pitchFamily="34" charset="0"/>
                  </a:rPr>
                  <a:t>4</a:t>
                </a:r>
                <a:endParaRPr lang="zh-CN" altLang="en-US" sz="2000" dirty="0">
                  <a:latin typeface="Arial" panose="020B0604020202020204" pitchFamily="34" charset="0"/>
                  <a:cs typeface="Arial" panose="020B0604020202020204" pitchFamily="34" charset="0"/>
                </a:endParaRPr>
              </a:p>
            </p:txBody>
          </p:sp>
          <p:sp>
            <p:nvSpPr>
              <p:cNvPr id="53" name="椭圆 52"/>
              <p:cNvSpPr/>
              <p:nvPr/>
            </p:nvSpPr>
            <p:spPr>
              <a:xfrm>
                <a:off x="9922206" y="4847385"/>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54" name="直接箭头连接符 53"/>
              <p:cNvCxnSpPr>
                <a:stCxn id="43" idx="4"/>
                <a:endCxn id="53" idx="0"/>
              </p:cNvCxnSpPr>
              <p:nvPr/>
            </p:nvCxnSpPr>
            <p:spPr>
              <a:xfrm>
                <a:off x="9557100" y="4209292"/>
                <a:ext cx="474234" cy="6380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9334906" y="4418034"/>
                <a:ext cx="441146"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grpSp>
        <p:sp>
          <p:nvSpPr>
            <p:cNvPr id="56" name="矩形 55"/>
            <p:cNvSpPr/>
            <p:nvPr/>
          </p:nvSpPr>
          <p:spPr>
            <a:xfrm>
              <a:off x="6214995" y="4949803"/>
              <a:ext cx="742511" cy="400110"/>
            </a:xfrm>
            <a:prstGeom prst="rect">
              <a:avLst/>
            </a:prstGeom>
          </p:spPr>
          <p:txBody>
            <a:bodyPr wrap="none">
              <a:spAutoFit/>
            </a:bodyPr>
            <a:lstStyle/>
            <a:p>
              <a:r>
                <a:rPr lang="en-US" altLang="zh-CN" sz="2000" dirty="0">
                  <a:solidFill>
                    <a:srgbClr val="FF0000"/>
                  </a:solidFill>
                  <a:latin typeface="Arial" panose="020B0604020202020204" pitchFamily="34" charset="0"/>
                  <a:cs typeface="Arial" panose="020B0604020202020204" pitchFamily="34" charset="0"/>
                </a:rPr>
                <a:t>X</a:t>
              </a:r>
              <a:r>
                <a:rPr lang="en-US" altLang="zh-CN" sz="2000" baseline="-25000" dirty="0">
                  <a:solidFill>
                    <a:srgbClr val="FF0000"/>
                  </a:solidFill>
                  <a:latin typeface="Arial" panose="020B0604020202020204" pitchFamily="34" charset="0"/>
                  <a:cs typeface="Arial" panose="020B0604020202020204" pitchFamily="34" charset="0"/>
                </a:rPr>
                <a:t>5</a:t>
              </a:r>
              <a:r>
                <a:rPr lang="en-US" altLang="zh-CN" sz="2000" dirty="0">
                  <a:solidFill>
                    <a:srgbClr val="FF0000"/>
                  </a:solidFill>
                  <a:latin typeface="Arial" panose="020B0604020202020204" pitchFamily="34" charset="0"/>
                  <a:cs typeface="Arial" panose="020B0604020202020204" pitchFamily="34" charset="0"/>
                </a:rPr>
                <a:t>=0</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57" name="内容占位符 2"/>
            <p:cNvSpPr txBox="1">
              <a:spLocks/>
            </p:cNvSpPr>
            <p:nvPr/>
          </p:nvSpPr>
          <p:spPr>
            <a:xfrm>
              <a:off x="3889739" y="2996180"/>
              <a:ext cx="1702205" cy="704638"/>
            </a:xfrm>
            <a:prstGeom prst="rect">
              <a:avLst/>
            </a:prstGeom>
            <a:no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s=</a:t>
              </a:r>
              <a:r>
                <a:rPr kumimoji="1" lang="zh-CN" altLang="en-US" sz="2000" dirty="0"/>
                <a:t>∑</a:t>
              </a:r>
              <a:r>
                <a:rPr kumimoji="1" lang="en-US" altLang="zh-CN" sz="2000" dirty="0"/>
                <a:t>W(</a:t>
              </a:r>
              <a:r>
                <a:rPr kumimoji="1" lang="en-US" altLang="zh-CN" sz="2000" dirty="0" err="1"/>
                <a:t>i</a:t>
              </a:r>
              <a:r>
                <a:rPr kumimoji="1" lang="en-US" altLang="zh-CN" sz="2000" dirty="0"/>
                <a:t>)X(</a:t>
              </a:r>
              <a:r>
                <a:rPr kumimoji="1" lang="en-US" altLang="zh-CN" sz="2000" dirty="0" err="1"/>
                <a:t>i</a:t>
              </a:r>
              <a:r>
                <a:rPr lang="en-US" altLang="zh-CN" sz="2000" dirty="0"/>
                <a:t>)</a:t>
              </a:r>
              <a:endParaRPr lang="zh-CN" altLang="en-US" sz="2000" dirty="0"/>
            </a:p>
          </p:txBody>
        </p:sp>
        <p:sp>
          <p:nvSpPr>
            <p:cNvPr id="58" name="矩形 57"/>
            <p:cNvSpPr/>
            <p:nvPr/>
          </p:nvSpPr>
          <p:spPr>
            <a:xfrm>
              <a:off x="3920262" y="3262732"/>
              <a:ext cx="856325" cy="338554"/>
            </a:xfrm>
            <a:prstGeom prst="rect">
              <a:avLst/>
            </a:prstGeom>
          </p:spPr>
          <p:txBody>
            <a:bodyPr wrap="none">
              <a:spAutoFit/>
            </a:bodyPr>
            <a:lstStyle/>
            <a:p>
              <a:r>
                <a:rPr kumimoji="1" lang="en-US" altLang="zh-CN" sz="1600" dirty="0"/>
                <a:t>1≤i≤5</a:t>
              </a:r>
              <a:endParaRPr lang="zh-CN" altLang="en-US" sz="1600" dirty="0"/>
            </a:p>
          </p:txBody>
        </p:sp>
        <p:sp>
          <p:nvSpPr>
            <p:cNvPr id="59" name="内容占位符 2"/>
            <p:cNvSpPr txBox="1">
              <a:spLocks/>
            </p:cNvSpPr>
            <p:nvPr/>
          </p:nvSpPr>
          <p:spPr>
            <a:xfrm>
              <a:off x="3958786" y="5632952"/>
              <a:ext cx="1550968" cy="704638"/>
            </a:xfrm>
            <a:prstGeom prst="rect">
              <a:avLst/>
            </a:prstGeom>
            <a:no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r=</a:t>
              </a:r>
              <a:r>
                <a:rPr kumimoji="1" lang="zh-CN" altLang="en-US" sz="2000" dirty="0"/>
                <a:t>∑</a:t>
              </a:r>
              <a:r>
                <a:rPr kumimoji="1" lang="en-US" altLang="zh-CN" sz="2000" dirty="0"/>
                <a:t>W(</a:t>
              </a:r>
              <a:r>
                <a:rPr kumimoji="1" lang="en-US" altLang="zh-CN" sz="2000" dirty="0" err="1"/>
                <a:t>i</a:t>
              </a:r>
              <a:r>
                <a:rPr kumimoji="1" lang="en-US" altLang="zh-CN" sz="2000" dirty="0"/>
                <a:t>)</a:t>
              </a:r>
              <a:r>
                <a:rPr lang="en-US" altLang="zh-CN" sz="2000" dirty="0"/>
                <a:t>)</a:t>
              </a:r>
              <a:endParaRPr lang="zh-CN" altLang="en-US" sz="2000" dirty="0"/>
            </a:p>
          </p:txBody>
        </p:sp>
        <p:sp>
          <p:nvSpPr>
            <p:cNvPr id="60" name="矩形 59"/>
            <p:cNvSpPr/>
            <p:nvPr/>
          </p:nvSpPr>
          <p:spPr>
            <a:xfrm>
              <a:off x="3935760" y="5899234"/>
              <a:ext cx="963725" cy="338554"/>
            </a:xfrm>
            <a:prstGeom prst="rect">
              <a:avLst/>
            </a:prstGeom>
          </p:spPr>
          <p:txBody>
            <a:bodyPr wrap="none">
              <a:spAutoFit/>
            </a:bodyPr>
            <a:lstStyle/>
            <a:p>
              <a:r>
                <a:rPr kumimoji="1" lang="en-US" altLang="zh-CN" sz="1600" dirty="0"/>
                <a:t>6≤i≤10</a:t>
              </a:r>
              <a:endParaRPr lang="zh-CN" altLang="en-US" sz="1600" dirty="0"/>
            </a:p>
          </p:txBody>
        </p:sp>
        <p:sp>
          <p:nvSpPr>
            <p:cNvPr id="62" name="矩形 61"/>
            <p:cNvSpPr/>
            <p:nvPr/>
          </p:nvSpPr>
          <p:spPr>
            <a:xfrm>
              <a:off x="3689601" y="4889769"/>
              <a:ext cx="1564332" cy="461665"/>
            </a:xfrm>
            <a:prstGeom prst="rect">
              <a:avLst/>
            </a:prstGeom>
            <a:solidFill>
              <a:schemeClr val="accent1">
                <a:lumMod val="20000"/>
                <a:lumOff val="80000"/>
              </a:schemeClr>
            </a:solidFill>
          </p:spPr>
          <p:txBody>
            <a:bodyPr wrap="square">
              <a:spAutoFit/>
            </a:bodyPr>
            <a:lstStyle/>
            <a:p>
              <a:r>
                <a:rPr lang="en-US" altLang="zh-CN" sz="2400" dirty="0" err="1">
                  <a:latin typeface="Arial" panose="020B0604020202020204" pitchFamily="34" charset="0"/>
                  <a:ea typeface="幼圆" panose="02010509060101010101" pitchFamily="49" charset="-122"/>
                  <a:cs typeface="Arial" panose="020B0604020202020204" pitchFamily="34" charset="0"/>
                </a:rPr>
                <a:t>r+s</a:t>
              </a:r>
              <a:r>
                <a:rPr lang="zh-CN" altLang="en-US" sz="2400" dirty="0">
                  <a:latin typeface="Arial" panose="020B0604020202020204" pitchFamily="34" charset="0"/>
                  <a:ea typeface="幼圆" panose="02010509060101010101" pitchFamily="49" charset="-122"/>
                  <a:cs typeface="Arial" panose="020B0604020202020204" pitchFamily="34" charset="0"/>
                </a:rPr>
                <a:t>值不变</a:t>
              </a:r>
              <a:endParaRPr lang="en-US" altLang="zh-CN" sz="2400" dirty="0">
                <a:latin typeface="Arial" panose="020B0604020202020204" pitchFamily="34" charset="0"/>
                <a:ea typeface="幼圆" panose="02010509060101010101" pitchFamily="49" charset="-122"/>
                <a:cs typeface="Arial" panose="020B0604020202020204" pitchFamily="34" charset="0"/>
              </a:endParaRPr>
            </a:p>
          </p:txBody>
        </p:sp>
      </p:grpSp>
      <p:sp>
        <p:nvSpPr>
          <p:cNvPr id="100" name="矩形 99"/>
          <p:cNvSpPr/>
          <p:nvPr/>
        </p:nvSpPr>
        <p:spPr>
          <a:xfrm>
            <a:off x="3394212" y="1124722"/>
            <a:ext cx="3709900" cy="461665"/>
          </a:xfrm>
          <a:prstGeom prst="rect">
            <a:avLst/>
          </a:prstGeom>
          <a:noFill/>
        </p:spPr>
        <p:txBody>
          <a:bodyPr wrap="square">
            <a:spAutoFit/>
          </a:bodyPr>
          <a:lstStyle/>
          <a:p>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访问</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Y</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的左儿子结点</a:t>
            </a:r>
            <a:endPar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endParaRPr>
          </a:p>
        </p:txBody>
      </p:sp>
      <p:grpSp>
        <p:nvGrpSpPr>
          <p:cNvPr id="103" name="组合 102"/>
          <p:cNvGrpSpPr/>
          <p:nvPr/>
        </p:nvGrpSpPr>
        <p:grpSpPr>
          <a:xfrm>
            <a:off x="7659725" y="1122138"/>
            <a:ext cx="4000561" cy="5258181"/>
            <a:chOff x="7649770" y="1267163"/>
            <a:chExt cx="4000561" cy="5258181"/>
          </a:xfrm>
        </p:grpSpPr>
        <p:grpSp>
          <p:nvGrpSpPr>
            <p:cNvPr id="98" name="组合 97"/>
            <p:cNvGrpSpPr/>
            <p:nvPr/>
          </p:nvGrpSpPr>
          <p:grpSpPr>
            <a:xfrm>
              <a:off x="7670437" y="1663168"/>
              <a:ext cx="3979894" cy="4862176"/>
              <a:chOff x="7670437" y="1475414"/>
              <a:chExt cx="3979894" cy="4862176"/>
            </a:xfrm>
          </p:grpSpPr>
          <p:sp>
            <p:nvSpPr>
              <p:cNvPr id="64" name="矩形 63"/>
              <p:cNvSpPr/>
              <p:nvPr/>
            </p:nvSpPr>
            <p:spPr>
              <a:xfrm>
                <a:off x="7670437" y="1475414"/>
                <a:ext cx="3979894" cy="830997"/>
              </a:xfrm>
              <a:prstGeom prst="rect">
                <a:avLst/>
              </a:prstGeom>
            </p:spPr>
            <p:txBody>
              <a:bodyPr wrap="square">
                <a:spAutoFit/>
              </a:bodyPr>
              <a:lstStyle/>
              <a:p>
                <a:pPr>
                  <a:lnSpc>
                    <a:spcPct val="120000"/>
                  </a:lnSpc>
                  <a:defRPr/>
                </a:pPr>
                <a:r>
                  <a:rPr lang="zh-CN" altLang="en-US" sz="2000" dirty="0">
                    <a:latin typeface="Arial" panose="020B0604020202020204" pitchFamily="34" charset="0"/>
                    <a:ea typeface="幼圆" panose="02010509060101010101" pitchFamily="49" charset="-122"/>
                    <a:cs typeface="Arial" panose="020B0604020202020204" pitchFamily="34" charset="0"/>
                  </a:rPr>
                  <a:t>如果</a:t>
                </a:r>
                <a:r>
                  <a:rPr lang="en-US" altLang="zh-CN" sz="2000" dirty="0" err="1">
                    <a:latin typeface="Arial" panose="020B0604020202020204" pitchFamily="34" charset="0"/>
                    <a:ea typeface="幼圆" panose="02010509060101010101" pitchFamily="49" charset="-122"/>
                    <a:cs typeface="Arial" panose="020B0604020202020204" pitchFamily="34" charset="0"/>
                  </a:rPr>
                  <a:t>s+r-W</a:t>
                </a:r>
                <a:r>
                  <a:rPr lang="en-US" altLang="zh-CN" sz="2000" dirty="0">
                    <a:latin typeface="Arial" panose="020B0604020202020204" pitchFamily="34" charset="0"/>
                    <a:ea typeface="幼圆" panose="02010509060101010101" pitchFamily="49" charset="-122"/>
                    <a:cs typeface="Arial" panose="020B0604020202020204" pitchFamily="34" charset="0"/>
                  </a:rPr>
                  <a:t>(5)≥M </a:t>
                </a:r>
                <a:r>
                  <a:rPr lang="zh-CN" altLang="en-US" sz="2000" dirty="0">
                    <a:latin typeface="Arial" panose="020B0604020202020204" pitchFamily="34" charset="0"/>
                    <a:ea typeface="幼圆" panose="02010509060101010101" pitchFamily="49" charset="-122"/>
                    <a:cs typeface="Arial" panose="020B0604020202020204" pitchFamily="34" charset="0"/>
                  </a:rPr>
                  <a:t>且</a:t>
                </a:r>
                <a:r>
                  <a:rPr lang="en-US" altLang="zh-CN" sz="2000" dirty="0">
                    <a:latin typeface="Arial" panose="020B0604020202020204" pitchFamily="34" charset="0"/>
                    <a:ea typeface="幼圆" panose="02010509060101010101" pitchFamily="49" charset="-122"/>
                    <a:cs typeface="Arial" panose="020B0604020202020204" pitchFamily="34" charset="0"/>
                  </a:rPr>
                  <a:t> </a:t>
                </a:r>
                <a:r>
                  <a:rPr lang="en-US" altLang="zh-CN" sz="2000" dirty="0" err="1">
                    <a:latin typeface="Arial" panose="020B0604020202020204" pitchFamily="34" charset="0"/>
                    <a:ea typeface="幼圆" panose="02010509060101010101" pitchFamily="49" charset="-122"/>
                    <a:cs typeface="Arial" panose="020B0604020202020204" pitchFamily="34" charset="0"/>
                  </a:rPr>
                  <a:t>s+W</a:t>
                </a:r>
                <a:r>
                  <a:rPr lang="en-US" altLang="zh-CN" sz="2000" dirty="0">
                    <a:latin typeface="Arial" panose="020B0604020202020204" pitchFamily="34" charset="0"/>
                    <a:ea typeface="幼圆" panose="02010509060101010101" pitchFamily="49" charset="-122"/>
                    <a:cs typeface="Arial" panose="020B0604020202020204" pitchFamily="34" charset="0"/>
                  </a:rPr>
                  <a:t>(6)≤M</a:t>
                </a:r>
                <a:r>
                  <a:rPr lang="zh-CN" altLang="en-US" sz="2000" dirty="0">
                    <a:latin typeface="Arial" panose="020B0604020202020204" pitchFamily="34" charset="0"/>
                    <a:ea typeface="幼圆" panose="02010509060101010101" pitchFamily="49" charset="-122"/>
                    <a:cs typeface="Arial" panose="020B0604020202020204" pitchFamily="34" charset="0"/>
                  </a:rPr>
                  <a:t>，</a:t>
                </a:r>
                <a:endParaRPr lang="en-US" altLang="zh-CN" sz="2000" dirty="0">
                  <a:latin typeface="Arial" panose="020B0604020202020204" pitchFamily="34" charset="0"/>
                  <a:ea typeface="幼圆" panose="02010509060101010101" pitchFamily="49" charset="-122"/>
                  <a:cs typeface="Arial" panose="020B0604020202020204" pitchFamily="34" charset="0"/>
                </a:endParaRPr>
              </a:p>
              <a:p>
                <a:pPr>
                  <a:lnSpc>
                    <a:spcPct val="120000"/>
                  </a:lnSpc>
                  <a:defRPr/>
                </a:pPr>
                <a:r>
                  <a:rPr lang="zh-CN" altLang="en-US" sz="2000" dirty="0">
                    <a:latin typeface="Arial" panose="020B0604020202020204" pitchFamily="34" charset="0"/>
                    <a:ea typeface="幼圆" panose="02010509060101010101" pitchFamily="49" charset="-122"/>
                    <a:cs typeface="Arial" panose="020B0604020202020204" pitchFamily="34" charset="0"/>
                  </a:rPr>
                  <a:t>调用</a:t>
                </a:r>
                <a:r>
                  <a:rPr lang="en-US" altLang="zh-CN" sz="2000" dirty="0">
                    <a:latin typeface="Arial" panose="020B0604020202020204" pitchFamily="34" charset="0"/>
                    <a:ea typeface="幼圆" panose="02010509060101010101" pitchFamily="49" charset="-122"/>
                    <a:cs typeface="Arial" panose="020B0604020202020204" pitchFamily="34" charset="0"/>
                  </a:rPr>
                  <a:t>SUMOFSUB(s, 6, r-W(5))</a:t>
                </a:r>
              </a:p>
            </p:txBody>
          </p:sp>
          <p:cxnSp>
            <p:nvCxnSpPr>
              <p:cNvPr id="65" name="直接连接符 64"/>
              <p:cNvCxnSpPr/>
              <p:nvPr/>
            </p:nvCxnSpPr>
            <p:spPr>
              <a:xfrm flipV="1">
                <a:off x="8569842" y="5561890"/>
                <a:ext cx="2854750" cy="1494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8462736" y="2467133"/>
                <a:ext cx="1537959" cy="3240360"/>
                <a:chOff x="8602503" y="1820230"/>
                <a:chExt cx="1537959" cy="3240360"/>
              </a:xfrm>
            </p:grpSpPr>
            <p:sp>
              <p:nvSpPr>
                <p:cNvPr id="67" name="椭圆 66"/>
                <p:cNvSpPr/>
                <p:nvPr/>
              </p:nvSpPr>
              <p:spPr>
                <a:xfrm>
                  <a:off x="9844369" y="1895057"/>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68" name="椭圆 67"/>
                <p:cNvSpPr/>
                <p:nvPr/>
              </p:nvSpPr>
              <p:spPr>
                <a:xfrm>
                  <a:off x="9414553" y="2471121"/>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9" name="椭圆 68"/>
                <p:cNvSpPr/>
                <p:nvPr/>
              </p:nvSpPr>
              <p:spPr>
                <a:xfrm>
                  <a:off x="9735241" y="3047185"/>
                  <a:ext cx="218256" cy="21320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0" name="椭圆 69"/>
                <p:cNvSpPr/>
                <p:nvPr/>
              </p:nvSpPr>
              <p:spPr>
                <a:xfrm>
                  <a:off x="9330916" y="3775070"/>
                  <a:ext cx="452368" cy="43422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Arial" panose="020B0604020202020204" pitchFamily="34" charset="0"/>
                      <a:cs typeface="Arial" panose="020B0604020202020204" pitchFamily="34" charset="0"/>
                    </a:rPr>
                    <a:t>Y</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71" name="椭圆 70"/>
                <p:cNvSpPr/>
                <p:nvPr/>
              </p:nvSpPr>
              <p:spPr>
                <a:xfrm>
                  <a:off x="9060342" y="4844566"/>
                  <a:ext cx="218256" cy="2132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72" name="直接箭头连接符 71"/>
                <p:cNvCxnSpPr>
                  <a:stCxn id="67" idx="3"/>
                  <a:endCxn id="68" idx="0"/>
                </p:cNvCxnSpPr>
                <p:nvPr/>
              </p:nvCxnSpPr>
              <p:spPr>
                <a:xfrm flipH="1">
                  <a:off x="9523681" y="2077039"/>
                  <a:ext cx="352651" cy="3940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8" idx="4"/>
                  <a:endCxn id="69" idx="0"/>
                </p:cNvCxnSpPr>
                <p:nvPr/>
              </p:nvCxnSpPr>
              <p:spPr>
                <a:xfrm>
                  <a:off x="9523681" y="2684326"/>
                  <a:ext cx="320688" cy="3628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69" idx="4"/>
                  <a:endCxn id="70" idx="0"/>
                </p:cNvCxnSpPr>
                <p:nvPr/>
              </p:nvCxnSpPr>
              <p:spPr>
                <a:xfrm flipH="1">
                  <a:off x="9557100" y="3260390"/>
                  <a:ext cx="287269" cy="5146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5" name="矩形 74"/>
                <p:cNvSpPr/>
                <p:nvPr/>
              </p:nvSpPr>
              <p:spPr>
                <a:xfrm>
                  <a:off x="9023610" y="2587658"/>
                  <a:ext cx="441146"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sp>
              <p:nvSpPr>
                <p:cNvPr id="76" name="矩形 75"/>
                <p:cNvSpPr/>
                <p:nvPr/>
              </p:nvSpPr>
              <p:spPr>
                <a:xfrm>
                  <a:off x="9178209" y="1820230"/>
                  <a:ext cx="450764"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X</a:t>
                  </a:r>
                  <a:r>
                    <a:rPr lang="en-US" altLang="zh-CN" sz="2000" baseline="-25000" dirty="0">
                      <a:latin typeface="Arial" panose="020B0604020202020204" pitchFamily="34" charset="0"/>
                      <a:cs typeface="Arial" panose="020B0604020202020204" pitchFamily="34" charset="0"/>
                    </a:rPr>
                    <a:t>1</a:t>
                  </a:r>
                  <a:endParaRPr lang="zh-CN" altLang="en-US" sz="2000" dirty="0">
                    <a:latin typeface="Arial" panose="020B0604020202020204" pitchFamily="34" charset="0"/>
                    <a:cs typeface="Arial" panose="020B0604020202020204" pitchFamily="34" charset="0"/>
                  </a:endParaRPr>
                </a:p>
              </p:txBody>
            </p:sp>
            <p:cxnSp>
              <p:nvCxnSpPr>
                <p:cNvPr id="77" name="直接箭头连接符 76"/>
                <p:cNvCxnSpPr>
                  <a:stCxn id="70" idx="4"/>
                  <a:endCxn id="71" idx="0"/>
                </p:cNvCxnSpPr>
                <p:nvPr/>
              </p:nvCxnSpPr>
              <p:spPr>
                <a:xfrm flipH="1">
                  <a:off x="9169470" y="4209292"/>
                  <a:ext cx="387630" cy="63527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8602503" y="4191319"/>
                  <a:ext cx="742511" cy="400110"/>
                </a:xfrm>
                <a:prstGeom prst="rect">
                  <a:avLst/>
                </a:prstGeom>
              </p:spPr>
              <p:txBody>
                <a:bodyPr wrap="none">
                  <a:spAutoFit/>
                </a:bodyPr>
                <a:lstStyle/>
                <a:p>
                  <a:r>
                    <a:rPr lang="en-US" altLang="zh-CN" sz="2000" dirty="0">
                      <a:solidFill>
                        <a:srgbClr val="FF0000"/>
                      </a:solidFill>
                      <a:latin typeface="Arial" panose="020B0604020202020204" pitchFamily="34" charset="0"/>
                      <a:cs typeface="Arial" panose="020B0604020202020204" pitchFamily="34" charset="0"/>
                    </a:rPr>
                    <a:t>X</a:t>
                  </a:r>
                  <a:r>
                    <a:rPr lang="en-US" altLang="zh-CN" sz="2000" baseline="-25000" dirty="0">
                      <a:solidFill>
                        <a:srgbClr val="FF0000"/>
                      </a:solidFill>
                      <a:latin typeface="Arial" panose="020B0604020202020204" pitchFamily="34" charset="0"/>
                      <a:cs typeface="Arial" panose="020B0604020202020204" pitchFamily="34" charset="0"/>
                    </a:rPr>
                    <a:t>5</a:t>
                  </a:r>
                  <a:r>
                    <a:rPr lang="en-US" altLang="zh-CN" sz="2000" dirty="0">
                      <a:solidFill>
                        <a:srgbClr val="FF0000"/>
                      </a:solidFill>
                      <a:latin typeface="Arial" panose="020B0604020202020204" pitchFamily="34" charset="0"/>
                      <a:cs typeface="Arial" panose="020B0604020202020204" pitchFamily="34" charset="0"/>
                    </a:rPr>
                    <a:t>=1</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79" name="矩形 78"/>
                <p:cNvSpPr/>
                <p:nvPr/>
              </p:nvSpPr>
              <p:spPr>
                <a:xfrm>
                  <a:off x="9090215" y="3143579"/>
                  <a:ext cx="450764" cy="400110"/>
                </a:xfrm>
                <a:prstGeom prst="rect">
                  <a:avLst/>
                </a:prstGeom>
              </p:spPr>
              <p:txBody>
                <a:bodyPr wrap="none">
                  <a:spAutoFit/>
                </a:bodyPr>
                <a:lstStyle/>
                <a:p>
                  <a:r>
                    <a:rPr kumimoji="1" lang="en-US" altLang="zh-CN" sz="2000" dirty="0">
                      <a:latin typeface="Arial" panose="020B0604020202020204" pitchFamily="34" charset="0"/>
                      <a:cs typeface="Arial" panose="020B0604020202020204" pitchFamily="34" charset="0"/>
                    </a:rPr>
                    <a:t>X</a:t>
                  </a:r>
                  <a:r>
                    <a:rPr kumimoji="1" lang="en-US" altLang="zh-CN" sz="2000" baseline="-25000" dirty="0">
                      <a:latin typeface="Arial" panose="020B0604020202020204" pitchFamily="34" charset="0"/>
                      <a:cs typeface="Arial" panose="020B0604020202020204" pitchFamily="34" charset="0"/>
                    </a:rPr>
                    <a:t>4</a:t>
                  </a:r>
                  <a:endParaRPr lang="zh-CN" altLang="en-US" sz="2000" dirty="0">
                    <a:latin typeface="Arial" panose="020B0604020202020204" pitchFamily="34" charset="0"/>
                    <a:cs typeface="Arial" panose="020B0604020202020204" pitchFamily="34" charset="0"/>
                  </a:endParaRPr>
                </a:p>
              </p:txBody>
            </p:sp>
            <p:sp>
              <p:nvSpPr>
                <p:cNvPr id="80" name="椭圆 79"/>
                <p:cNvSpPr/>
                <p:nvPr/>
              </p:nvSpPr>
              <p:spPr>
                <a:xfrm>
                  <a:off x="9922206" y="4847385"/>
                  <a:ext cx="218256" cy="213205"/>
                </a:xfrm>
                <a:prstGeom prst="ellipse">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81" name="直接箭头连接符 80"/>
                <p:cNvCxnSpPr>
                  <a:stCxn id="70" idx="4"/>
                  <a:endCxn id="80" idx="0"/>
                </p:cNvCxnSpPr>
                <p:nvPr/>
              </p:nvCxnSpPr>
              <p:spPr>
                <a:xfrm>
                  <a:off x="9557100" y="4209292"/>
                  <a:ext cx="474234" cy="6380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9334906" y="4418034"/>
                  <a:ext cx="441146" cy="400110"/>
                </a:xfrm>
                <a:prstGeom prst="rect">
                  <a:avLst/>
                </a:prstGeom>
              </p:spPr>
              <p:txBody>
                <a:bodyPr wrap="none">
                  <a:spAutoFit/>
                </a:bodyPr>
                <a:lstStyle/>
                <a:p>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grpSp>
          <p:sp>
            <p:nvSpPr>
              <p:cNvPr id="84" name="内容占位符 2"/>
              <p:cNvSpPr txBox="1">
                <a:spLocks/>
              </p:cNvSpPr>
              <p:nvPr/>
            </p:nvSpPr>
            <p:spPr>
              <a:xfrm>
                <a:off x="9960491" y="5632952"/>
                <a:ext cx="1550968" cy="704638"/>
              </a:xfrm>
              <a:prstGeom prst="rect">
                <a:avLst/>
              </a:prstGeom>
              <a:no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r=</a:t>
                </a:r>
                <a:r>
                  <a:rPr kumimoji="1" lang="zh-CN" altLang="en-US" sz="2000" dirty="0"/>
                  <a:t>∑</a:t>
                </a:r>
                <a:r>
                  <a:rPr kumimoji="1" lang="en-US" altLang="zh-CN" sz="2000" dirty="0"/>
                  <a:t>W(</a:t>
                </a:r>
                <a:r>
                  <a:rPr kumimoji="1" lang="en-US" altLang="zh-CN" sz="2000" dirty="0" err="1"/>
                  <a:t>i</a:t>
                </a:r>
                <a:r>
                  <a:rPr kumimoji="1" lang="en-US" altLang="zh-CN" sz="2000" dirty="0"/>
                  <a:t>)</a:t>
                </a:r>
                <a:r>
                  <a:rPr lang="en-US" altLang="zh-CN" sz="2000" dirty="0"/>
                  <a:t>)</a:t>
                </a:r>
                <a:endParaRPr lang="zh-CN" altLang="en-US" sz="2000" dirty="0"/>
              </a:p>
            </p:txBody>
          </p:sp>
          <p:sp>
            <p:nvSpPr>
              <p:cNvPr id="85" name="矩形 84"/>
              <p:cNvSpPr/>
              <p:nvPr/>
            </p:nvSpPr>
            <p:spPr>
              <a:xfrm>
                <a:off x="9982200" y="5927974"/>
                <a:ext cx="963725" cy="338554"/>
              </a:xfrm>
              <a:prstGeom prst="rect">
                <a:avLst/>
              </a:prstGeom>
            </p:spPr>
            <p:txBody>
              <a:bodyPr wrap="none">
                <a:spAutoFit/>
              </a:bodyPr>
              <a:lstStyle/>
              <a:p>
                <a:r>
                  <a:rPr kumimoji="1" lang="en-US" altLang="zh-CN" sz="1600" dirty="0"/>
                  <a:t>6≤i≤10</a:t>
                </a:r>
                <a:endParaRPr lang="zh-CN" altLang="en-US" sz="1600" dirty="0"/>
              </a:p>
            </p:txBody>
          </p:sp>
          <p:sp>
            <p:nvSpPr>
              <p:cNvPr id="88" name="内容占位符 2"/>
              <p:cNvSpPr txBox="1">
                <a:spLocks/>
              </p:cNvSpPr>
              <p:nvPr/>
            </p:nvSpPr>
            <p:spPr>
              <a:xfrm>
                <a:off x="9948125" y="3002850"/>
                <a:ext cx="1702205" cy="704638"/>
              </a:xfrm>
              <a:prstGeom prst="rect">
                <a:avLst/>
              </a:prstGeom>
              <a:no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t>s=</a:t>
                </a:r>
                <a:r>
                  <a:rPr kumimoji="1" lang="zh-CN" altLang="en-US" sz="2000" dirty="0"/>
                  <a:t>∑</a:t>
                </a:r>
                <a:r>
                  <a:rPr kumimoji="1" lang="en-US" altLang="zh-CN" sz="2000" dirty="0"/>
                  <a:t>W(</a:t>
                </a:r>
                <a:r>
                  <a:rPr kumimoji="1" lang="en-US" altLang="zh-CN" sz="2000" dirty="0" err="1"/>
                  <a:t>i</a:t>
                </a:r>
                <a:r>
                  <a:rPr kumimoji="1" lang="en-US" altLang="zh-CN" sz="2000" dirty="0"/>
                  <a:t>)X(</a:t>
                </a:r>
                <a:r>
                  <a:rPr kumimoji="1" lang="en-US" altLang="zh-CN" sz="2000" dirty="0" err="1"/>
                  <a:t>i</a:t>
                </a:r>
                <a:r>
                  <a:rPr lang="en-US" altLang="zh-CN" sz="2000" dirty="0"/>
                  <a:t>)</a:t>
                </a:r>
                <a:endParaRPr lang="zh-CN" altLang="en-US" sz="2000" dirty="0"/>
              </a:p>
            </p:txBody>
          </p:sp>
          <p:sp>
            <p:nvSpPr>
              <p:cNvPr id="89" name="矩形 88"/>
              <p:cNvSpPr/>
              <p:nvPr/>
            </p:nvSpPr>
            <p:spPr>
              <a:xfrm>
                <a:off x="10042189" y="3313254"/>
                <a:ext cx="856325" cy="338554"/>
              </a:xfrm>
              <a:prstGeom prst="rect">
                <a:avLst/>
              </a:prstGeom>
            </p:spPr>
            <p:txBody>
              <a:bodyPr wrap="none">
                <a:spAutoFit/>
              </a:bodyPr>
              <a:lstStyle/>
              <a:p>
                <a:r>
                  <a:rPr kumimoji="1" lang="en-US" altLang="zh-CN" sz="1600" dirty="0"/>
                  <a:t>1≤i≤4</a:t>
                </a:r>
                <a:endParaRPr lang="zh-CN" altLang="en-US" sz="1600" dirty="0"/>
              </a:p>
            </p:txBody>
          </p:sp>
          <p:sp>
            <p:nvSpPr>
              <p:cNvPr id="94" name="右大括号 93"/>
              <p:cNvSpPr/>
              <p:nvPr/>
            </p:nvSpPr>
            <p:spPr>
              <a:xfrm>
                <a:off x="10138281" y="4605549"/>
                <a:ext cx="216180" cy="956341"/>
              </a:xfrm>
              <a:prstGeom prst="rightBrace">
                <a:avLst>
                  <a:gd name="adj1" fmla="val 27031"/>
                  <a:gd name="adj2" fmla="val 47188"/>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 name="矩形 94"/>
              <p:cNvSpPr/>
              <p:nvPr/>
            </p:nvSpPr>
            <p:spPr>
              <a:xfrm>
                <a:off x="10357772" y="4797317"/>
                <a:ext cx="1215846" cy="461665"/>
              </a:xfrm>
              <a:prstGeom prst="rect">
                <a:avLst/>
              </a:prstGeom>
              <a:solidFill>
                <a:schemeClr val="accent1">
                  <a:lumMod val="20000"/>
                  <a:lumOff val="80000"/>
                </a:schemeClr>
              </a:solidFill>
            </p:spPr>
            <p:txBody>
              <a:bodyPr wrap="square">
                <a:spAutoFit/>
              </a:bodyPr>
              <a:lstStyle/>
              <a:p>
                <a:r>
                  <a:rPr lang="zh-CN" altLang="en-US" sz="2400" dirty="0">
                    <a:latin typeface="Arial" panose="020B0604020202020204" pitchFamily="34" charset="0"/>
                    <a:ea typeface="幼圆" panose="02010509060101010101" pitchFamily="49" charset="-122"/>
                    <a:cs typeface="Arial" panose="020B0604020202020204" pitchFamily="34" charset="0"/>
                  </a:rPr>
                  <a:t>舍</a:t>
                </a:r>
                <a:r>
                  <a:rPr lang="en-US" altLang="zh-CN" sz="2400" dirty="0">
                    <a:latin typeface="Arial" panose="020B0604020202020204" pitchFamily="34" charset="0"/>
                    <a:ea typeface="幼圆" panose="02010509060101010101" pitchFamily="49" charset="-122"/>
                    <a:cs typeface="Arial" panose="020B0604020202020204" pitchFamily="34" charset="0"/>
                  </a:rPr>
                  <a:t>W(5)</a:t>
                </a:r>
              </a:p>
            </p:txBody>
          </p:sp>
          <p:cxnSp>
            <p:nvCxnSpPr>
              <p:cNvPr id="96" name="直接连接符 95"/>
              <p:cNvCxnSpPr>
                <a:endCxn id="94" idx="0"/>
              </p:cNvCxnSpPr>
              <p:nvPr/>
            </p:nvCxnSpPr>
            <p:spPr>
              <a:xfrm>
                <a:off x="9683615" y="4593597"/>
                <a:ext cx="454666" cy="11952"/>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101" name="矩形 100"/>
            <p:cNvSpPr/>
            <p:nvPr/>
          </p:nvSpPr>
          <p:spPr>
            <a:xfrm>
              <a:off x="7649770" y="1267163"/>
              <a:ext cx="3421867" cy="461665"/>
            </a:xfrm>
            <a:prstGeom prst="rect">
              <a:avLst/>
            </a:prstGeom>
            <a:noFill/>
          </p:spPr>
          <p:txBody>
            <a:bodyPr wrap="square">
              <a:spAutoFit/>
            </a:bodyPr>
            <a:lstStyle/>
            <a:p>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访问</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Y</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的右儿子结点</a:t>
              </a:r>
              <a:endPar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endParaRPr>
            </a:p>
          </p:txBody>
        </p:sp>
        <p:sp>
          <p:nvSpPr>
            <p:cNvPr id="102" name="矩形 101"/>
            <p:cNvSpPr/>
            <p:nvPr/>
          </p:nvSpPr>
          <p:spPr>
            <a:xfrm>
              <a:off x="9526461" y="5037693"/>
              <a:ext cx="742511" cy="400110"/>
            </a:xfrm>
            <a:prstGeom prst="rect">
              <a:avLst/>
            </a:prstGeom>
          </p:spPr>
          <p:txBody>
            <a:bodyPr wrap="none">
              <a:spAutoFit/>
            </a:bodyPr>
            <a:lstStyle/>
            <a:p>
              <a:r>
                <a:rPr lang="en-US" altLang="zh-CN" sz="2000" dirty="0">
                  <a:solidFill>
                    <a:srgbClr val="FF0000"/>
                  </a:solidFill>
                  <a:latin typeface="Arial" panose="020B0604020202020204" pitchFamily="34" charset="0"/>
                  <a:cs typeface="Arial" panose="020B0604020202020204" pitchFamily="34" charset="0"/>
                </a:rPr>
                <a:t>X</a:t>
              </a:r>
              <a:r>
                <a:rPr lang="en-US" altLang="zh-CN" sz="2000" baseline="-25000" dirty="0">
                  <a:solidFill>
                    <a:srgbClr val="FF0000"/>
                  </a:solidFill>
                  <a:latin typeface="Arial" panose="020B0604020202020204" pitchFamily="34" charset="0"/>
                  <a:cs typeface="Arial" panose="020B0604020202020204" pitchFamily="34" charset="0"/>
                </a:rPr>
                <a:t>5</a:t>
              </a:r>
              <a:r>
                <a:rPr lang="en-US" altLang="zh-CN" sz="2000" dirty="0">
                  <a:solidFill>
                    <a:srgbClr val="FF0000"/>
                  </a:solidFill>
                  <a:latin typeface="Arial" panose="020B0604020202020204" pitchFamily="34" charset="0"/>
                  <a:cs typeface="Arial" panose="020B0604020202020204" pitchFamily="34" charset="0"/>
                </a:rPr>
                <a:t>=0</a:t>
              </a:r>
              <a:endParaRPr lang="zh-CN" altLang="en-US" sz="2000" dirty="0">
                <a:solidFill>
                  <a:srgbClr val="FF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80091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4290" y="369268"/>
            <a:ext cx="4999662" cy="984255"/>
          </a:xfrm>
        </p:spPr>
        <p:txBody>
          <a:bodyPr/>
          <a:lstStyle/>
          <a:p>
            <a:r>
              <a:rPr lang="zh-CN" altLang="en-US" dirty="0"/>
              <a:t>子集和问题效率估计</a:t>
            </a:r>
          </a:p>
        </p:txBody>
      </p:sp>
      <p:sp>
        <p:nvSpPr>
          <p:cNvPr id="4" name="灯片编号占位符 3"/>
          <p:cNvSpPr>
            <a:spLocks noGrp="1"/>
          </p:cNvSpPr>
          <p:nvPr>
            <p:ph type="sldNum" sz="quarter" idx="12"/>
          </p:nvPr>
        </p:nvSpPr>
        <p:spPr>
          <a:xfrm>
            <a:off x="5946304" y="6759163"/>
            <a:ext cx="2743200" cy="365125"/>
          </a:xfrm>
        </p:spPr>
        <p:txBody>
          <a:bodyPr/>
          <a:lstStyle/>
          <a:p>
            <a:pPr>
              <a:defRPr/>
            </a:pPr>
            <a:fld id="{D04713B0-7EE7-420A-BB22-6F99F562E080}" type="slidenum">
              <a:rPr lang="en-US" altLang="zh-CN" smtClean="0"/>
              <a:pPr>
                <a:defRPr/>
              </a:pPr>
              <a:t>49</a:t>
            </a:fld>
            <a:endParaRPr lang="en-US" altLang="zh-CN" dirty="0"/>
          </a:p>
        </p:txBody>
      </p:sp>
      <p:grpSp>
        <p:nvGrpSpPr>
          <p:cNvPr id="18" name="组合 17"/>
          <p:cNvGrpSpPr/>
          <p:nvPr/>
        </p:nvGrpSpPr>
        <p:grpSpPr>
          <a:xfrm>
            <a:off x="6888088" y="782085"/>
            <a:ext cx="4464496" cy="4709776"/>
            <a:chOff x="7129189" y="1239504"/>
            <a:chExt cx="4464496" cy="4709776"/>
          </a:xfrm>
        </p:grpSpPr>
        <p:sp>
          <p:nvSpPr>
            <p:cNvPr id="5" name="Oval 5"/>
            <p:cNvSpPr>
              <a:spLocks noChangeArrowheads="1"/>
            </p:cNvSpPr>
            <p:nvPr/>
          </p:nvSpPr>
          <p:spPr bwMode="auto">
            <a:xfrm>
              <a:off x="8253127" y="1542141"/>
              <a:ext cx="449559" cy="418855"/>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1</a:t>
              </a:r>
            </a:p>
          </p:txBody>
        </p:sp>
        <p:sp>
          <p:nvSpPr>
            <p:cNvPr id="6" name="Oval 6"/>
            <p:cNvSpPr>
              <a:spLocks noChangeArrowheads="1"/>
            </p:cNvSpPr>
            <p:nvPr/>
          </p:nvSpPr>
          <p:spPr bwMode="auto">
            <a:xfrm>
              <a:off x="7561413" y="2273579"/>
              <a:ext cx="449559" cy="418855"/>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2</a:t>
              </a:r>
            </a:p>
          </p:txBody>
        </p:sp>
        <p:sp>
          <p:nvSpPr>
            <p:cNvPr id="7" name="Oval 7"/>
            <p:cNvSpPr>
              <a:spLocks noChangeArrowheads="1"/>
            </p:cNvSpPr>
            <p:nvPr/>
          </p:nvSpPr>
          <p:spPr bwMode="auto">
            <a:xfrm>
              <a:off x="9045215" y="2273579"/>
              <a:ext cx="449559" cy="418855"/>
            </a:xfrm>
            <a:prstGeom prst="ellipse">
              <a:avLst/>
            </a:prstGeom>
            <a:solidFill>
              <a:schemeClr val="bg1"/>
            </a:solidFill>
            <a:ln w="12700">
              <a:solidFill>
                <a:schemeClr val="tx1"/>
              </a:solidFill>
              <a:miter lim="800000"/>
              <a:headEnd/>
              <a:tailEnd/>
            </a:ln>
            <a:effectLst/>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3</a:t>
              </a:r>
            </a:p>
          </p:txBody>
        </p:sp>
        <p:cxnSp>
          <p:nvCxnSpPr>
            <p:cNvPr id="9" name="直接连接符 8"/>
            <p:cNvCxnSpPr>
              <a:stCxn id="5" idx="4"/>
              <a:endCxn id="6" idx="7"/>
            </p:cNvCxnSpPr>
            <p:nvPr/>
          </p:nvCxnSpPr>
          <p:spPr>
            <a:xfrm flipH="1">
              <a:off x="7945136" y="1960996"/>
              <a:ext cx="532771" cy="373923"/>
            </a:xfrm>
            <a:prstGeom prst="line">
              <a:avLst/>
            </a:prstGeom>
          </p:spPr>
          <p:style>
            <a:lnRef idx="1">
              <a:schemeClr val="dk1"/>
            </a:lnRef>
            <a:fillRef idx="0">
              <a:schemeClr val="dk1"/>
            </a:fillRef>
            <a:effectRef idx="0">
              <a:schemeClr val="dk1"/>
            </a:effectRef>
            <a:fontRef idx="minor">
              <a:schemeClr val="tx1"/>
            </a:fontRef>
          </p:style>
        </p:cxnSp>
        <p:cxnSp>
          <p:nvCxnSpPr>
            <p:cNvPr id="11" name="直接连接符 10"/>
            <p:cNvCxnSpPr>
              <a:stCxn id="5" idx="4"/>
              <a:endCxn id="7" idx="1"/>
            </p:cNvCxnSpPr>
            <p:nvPr/>
          </p:nvCxnSpPr>
          <p:spPr>
            <a:xfrm>
              <a:off x="8477907" y="1960996"/>
              <a:ext cx="633144" cy="37392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532872" y="1914064"/>
              <a:ext cx="820453"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X</a:t>
              </a:r>
              <a:r>
                <a:rPr lang="en-US" altLang="zh-CN" sz="2000" baseline="-25000" dirty="0">
                  <a:latin typeface="Arial" panose="020B0604020202020204" pitchFamily="34" charset="0"/>
                  <a:cs typeface="Arial" panose="020B0604020202020204" pitchFamily="34" charset="0"/>
                </a:rPr>
                <a:t>1</a:t>
              </a:r>
              <a:r>
                <a:rPr lang="en-US" altLang="zh-CN" sz="2000" dirty="0">
                  <a:latin typeface="Arial" panose="020B0604020202020204" pitchFamily="34" charset="0"/>
                  <a:cs typeface="Arial" panose="020B0604020202020204" pitchFamily="34" charset="0"/>
                </a:rPr>
                <a:t>=1</a:t>
              </a:r>
              <a:endParaRPr lang="zh-CN" altLang="en-US" sz="2000" dirty="0">
                <a:latin typeface="Arial" panose="020B0604020202020204" pitchFamily="34" charset="0"/>
                <a:cs typeface="Arial" panose="020B0604020202020204" pitchFamily="34" charset="0"/>
              </a:endParaRPr>
            </a:p>
          </p:txBody>
        </p:sp>
        <p:sp>
          <p:nvSpPr>
            <p:cNvPr id="14" name="文本框 13"/>
            <p:cNvSpPr txBox="1"/>
            <p:nvPr/>
          </p:nvSpPr>
          <p:spPr>
            <a:xfrm>
              <a:off x="8751637" y="1870155"/>
              <a:ext cx="340671"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0</a:t>
              </a:r>
              <a:endParaRPr lang="zh-CN" altLang="en-US" sz="2000" dirty="0">
                <a:latin typeface="Arial" panose="020B0604020202020204" pitchFamily="34" charset="0"/>
                <a:cs typeface="Arial" panose="020B0604020202020204" pitchFamily="34" charset="0"/>
              </a:endParaRPr>
            </a:p>
          </p:txBody>
        </p:sp>
        <p:sp>
          <p:nvSpPr>
            <p:cNvPr id="31" name="Oval 6"/>
            <p:cNvSpPr>
              <a:spLocks noChangeArrowheads="1"/>
            </p:cNvSpPr>
            <p:nvPr/>
          </p:nvSpPr>
          <p:spPr bwMode="auto">
            <a:xfrm>
              <a:off x="8469151" y="3014192"/>
              <a:ext cx="449559" cy="418855"/>
            </a:xfrm>
            <a:prstGeom prst="ellipse">
              <a:avLst/>
            </a:prstGeom>
            <a:solidFill>
              <a:schemeClr val="bg1"/>
            </a:solidFill>
            <a:ln w="12700">
              <a:solidFill>
                <a:schemeClr val="tx1"/>
              </a:solidFill>
              <a:miter lim="800000"/>
              <a:headEnd/>
              <a:tailEnd/>
            </a:ln>
            <a:effec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4</a:t>
              </a:r>
            </a:p>
          </p:txBody>
        </p:sp>
        <p:sp>
          <p:nvSpPr>
            <p:cNvPr id="32" name="Oval 7"/>
            <p:cNvSpPr>
              <a:spLocks noChangeArrowheads="1"/>
            </p:cNvSpPr>
            <p:nvPr/>
          </p:nvSpPr>
          <p:spPr bwMode="auto">
            <a:xfrm>
              <a:off x="9765295" y="3014192"/>
              <a:ext cx="449559" cy="418855"/>
            </a:xfrm>
            <a:prstGeom prst="ellipse">
              <a:avLst/>
            </a:prstGeom>
            <a:noFill/>
            <a:ln w="12700">
              <a:solidFill>
                <a:schemeClr val="tx1"/>
              </a:solidFill>
              <a:miter lim="800000"/>
              <a:headEnd/>
              <a:tailEnd/>
            </a:ln>
            <a:effec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5</a:t>
              </a:r>
            </a:p>
          </p:txBody>
        </p:sp>
        <p:cxnSp>
          <p:nvCxnSpPr>
            <p:cNvPr id="33" name="直接连接符 32"/>
            <p:cNvCxnSpPr>
              <a:stCxn id="7" idx="4"/>
              <a:endCxn id="31" idx="7"/>
            </p:cNvCxnSpPr>
            <p:nvPr/>
          </p:nvCxnSpPr>
          <p:spPr>
            <a:xfrm flipH="1">
              <a:off x="8852874" y="2692434"/>
              <a:ext cx="417121" cy="383098"/>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34" name="直接连接符 33"/>
            <p:cNvCxnSpPr>
              <a:stCxn id="7" idx="4"/>
              <a:endCxn id="32" idx="1"/>
            </p:cNvCxnSpPr>
            <p:nvPr/>
          </p:nvCxnSpPr>
          <p:spPr>
            <a:xfrm>
              <a:off x="9269995" y="2692434"/>
              <a:ext cx="561136" cy="3830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9549271" y="2636612"/>
              <a:ext cx="340671"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0</a:t>
              </a:r>
              <a:endParaRPr lang="zh-CN" altLang="en-US" sz="2000" dirty="0">
                <a:latin typeface="Arial" panose="020B0604020202020204" pitchFamily="34" charset="0"/>
                <a:cs typeface="Arial" panose="020B0604020202020204" pitchFamily="34" charset="0"/>
              </a:endParaRPr>
            </a:p>
          </p:txBody>
        </p:sp>
        <p:sp>
          <p:nvSpPr>
            <p:cNvPr id="42" name="Oval 7"/>
            <p:cNvSpPr>
              <a:spLocks noChangeArrowheads="1"/>
            </p:cNvSpPr>
            <p:nvPr/>
          </p:nvSpPr>
          <p:spPr bwMode="auto">
            <a:xfrm>
              <a:off x="9333247" y="3764828"/>
              <a:ext cx="449559" cy="418855"/>
            </a:xfrm>
            <a:prstGeom prst="ellipse">
              <a:avLst/>
            </a:prstGeom>
            <a:solidFill>
              <a:schemeClr val="bg1"/>
            </a:solidFill>
            <a:ln w="12700">
              <a:solidFill>
                <a:schemeClr val="tx1"/>
              </a:solidFill>
              <a:miter lim="800000"/>
              <a:headEnd/>
              <a:tailEnd/>
            </a:ln>
            <a:effec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7</a:t>
              </a:r>
            </a:p>
          </p:txBody>
        </p:sp>
        <p:cxnSp>
          <p:nvCxnSpPr>
            <p:cNvPr id="43" name="直接连接符 42"/>
            <p:cNvCxnSpPr>
              <a:stCxn id="31" idx="4"/>
            </p:cNvCxnSpPr>
            <p:nvPr/>
          </p:nvCxnSpPr>
          <p:spPr>
            <a:xfrm flipH="1">
              <a:off x="8099117" y="3433047"/>
              <a:ext cx="594814" cy="392681"/>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stCxn id="31" idx="4"/>
              <a:endCxn id="42" idx="1"/>
            </p:cNvCxnSpPr>
            <p:nvPr/>
          </p:nvCxnSpPr>
          <p:spPr>
            <a:xfrm>
              <a:off x="8693931" y="3433047"/>
              <a:ext cx="705152" cy="39312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9085666" y="3438419"/>
              <a:ext cx="340671"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0</a:t>
              </a:r>
              <a:endParaRPr lang="zh-CN" altLang="en-US" sz="2000" dirty="0">
                <a:latin typeface="Arial" panose="020B0604020202020204" pitchFamily="34" charset="0"/>
                <a:cs typeface="Arial" panose="020B0604020202020204" pitchFamily="34" charset="0"/>
              </a:endParaRPr>
            </a:p>
          </p:txBody>
        </p:sp>
        <p:sp>
          <p:nvSpPr>
            <p:cNvPr id="55" name="Oval 7"/>
            <p:cNvSpPr>
              <a:spLocks noChangeArrowheads="1"/>
            </p:cNvSpPr>
            <p:nvPr/>
          </p:nvSpPr>
          <p:spPr bwMode="auto">
            <a:xfrm>
              <a:off x="10053327" y="4515462"/>
              <a:ext cx="449559" cy="418855"/>
            </a:xfrm>
            <a:prstGeom prst="ellipse">
              <a:avLst/>
            </a:prstGeom>
            <a:solidFill>
              <a:schemeClr val="bg1"/>
            </a:solidFill>
            <a:ln w="12700">
              <a:solidFill>
                <a:schemeClr val="tx1"/>
              </a:solidFill>
              <a:miter lim="800000"/>
              <a:headEnd/>
              <a:tailEnd/>
            </a:ln>
            <a:effectLst/>
          </p:spPr>
          <p:txBody>
            <a:bodyPr wrap="none" lIns="90000" tIns="46800" rIns="90000" bIns="46800" anchor="ctr"/>
            <a:lstStyle/>
            <a:p>
              <a:pPr algn="ctr"/>
              <a:r>
                <a:rPr kumimoji="1" lang="en-US" altLang="zh-CN" sz="2000" dirty="0">
                  <a:latin typeface="Arial" panose="020B0604020202020204" pitchFamily="34" charset="0"/>
                  <a:cs typeface="Arial" panose="020B0604020202020204" pitchFamily="34" charset="0"/>
                </a:rPr>
                <a:t>9</a:t>
              </a:r>
            </a:p>
          </p:txBody>
        </p:sp>
        <p:cxnSp>
          <p:nvCxnSpPr>
            <p:cNvPr id="56" name="直接连接符 55"/>
            <p:cNvCxnSpPr>
              <a:stCxn id="42" idx="4"/>
              <a:endCxn id="54" idx="7"/>
            </p:cNvCxnSpPr>
            <p:nvPr/>
          </p:nvCxnSpPr>
          <p:spPr>
            <a:xfrm flipH="1">
              <a:off x="8996890" y="4183683"/>
              <a:ext cx="561137" cy="393119"/>
            </a:xfrm>
            <a:prstGeom prst="line">
              <a:avLst/>
            </a:prstGeom>
          </p:spPr>
          <p:style>
            <a:lnRef idx="1">
              <a:schemeClr val="dk1"/>
            </a:lnRef>
            <a:fillRef idx="0">
              <a:schemeClr val="dk1"/>
            </a:fillRef>
            <a:effectRef idx="0">
              <a:schemeClr val="dk1"/>
            </a:effectRef>
            <a:fontRef idx="minor">
              <a:schemeClr val="tx1"/>
            </a:fontRef>
          </p:style>
        </p:cxnSp>
        <p:cxnSp>
          <p:nvCxnSpPr>
            <p:cNvPr id="57" name="直接连接符 56"/>
            <p:cNvCxnSpPr>
              <a:stCxn id="42" idx="4"/>
              <a:endCxn id="55" idx="1"/>
            </p:cNvCxnSpPr>
            <p:nvPr/>
          </p:nvCxnSpPr>
          <p:spPr>
            <a:xfrm>
              <a:off x="9558027" y="4183683"/>
              <a:ext cx="561136" cy="3931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9865493" y="4195210"/>
              <a:ext cx="253669"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0</a:t>
              </a:r>
              <a:endParaRPr lang="zh-CN" altLang="en-US" sz="2000" dirty="0">
                <a:latin typeface="Arial" panose="020B0604020202020204" pitchFamily="34" charset="0"/>
                <a:cs typeface="Arial" panose="020B0604020202020204" pitchFamily="34" charset="0"/>
              </a:endParaRPr>
            </a:p>
          </p:txBody>
        </p:sp>
        <p:sp>
          <p:nvSpPr>
            <p:cNvPr id="64" name="文本框 63"/>
            <p:cNvSpPr txBox="1"/>
            <p:nvPr/>
          </p:nvSpPr>
          <p:spPr>
            <a:xfrm>
              <a:off x="8357172" y="2655700"/>
              <a:ext cx="820453"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X</a:t>
              </a:r>
              <a:r>
                <a:rPr lang="en-US" altLang="zh-CN" sz="2000" baseline="-25000" dirty="0">
                  <a:latin typeface="Arial" panose="020B0604020202020204" pitchFamily="34" charset="0"/>
                  <a:cs typeface="Arial" panose="020B0604020202020204" pitchFamily="34" charset="0"/>
                </a:rPr>
                <a:t>2</a:t>
              </a:r>
              <a:r>
                <a:rPr lang="en-US" altLang="zh-CN" sz="2000" dirty="0">
                  <a:latin typeface="Arial" panose="020B0604020202020204" pitchFamily="34" charset="0"/>
                  <a:cs typeface="Arial" panose="020B0604020202020204" pitchFamily="34" charset="0"/>
                </a:rPr>
                <a:t>=1</a:t>
              </a:r>
              <a:endParaRPr lang="zh-CN" altLang="en-US" sz="2000" dirty="0">
                <a:latin typeface="Arial" panose="020B0604020202020204" pitchFamily="34" charset="0"/>
                <a:cs typeface="Arial" panose="020B0604020202020204" pitchFamily="34" charset="0"/>
              </a:endParaRPr>
            </a:p>
          </p:txBody>
        </p:sp>
        <p:sp>
          <p:nvSpPr>
            <p:cNvPr id="65" name="文本框 64"/>
            <p:cNvSpPr txBox="1"/>
            <p:nvPr/>
          </p:nvSpPr>
          <p:spPr>
            <a:xfrm>
              <a:off x="7645738" y="3440008"/>
              <a:ext cx="820453"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X</a:t>
              </a:r>
              <a:r>
                <a:rPr lang="en-US" altLang="zh-CN" sz="2000" baseline="-25000" dirty="0">
                  <a:latin typeface="Arial" panose="020B0604020202020204" pitchFamily="34" charset="0"/>
                  <a:cs typeface="Arial" panose="020B0604020202020204" pitchFamily="34" charset="0"/>
                </a:rPr>
                <a:t>3</a:t>
              </a:r>
              <a:r>
                <a:rPr lang="en-US" altLang="zh-CN" sz="2000" dirty="0">
                  <a:latin typeface="Arial" panose="020B0604020202020204" pitchFamily="34" charset="0"/>
                  <a:cs typeface="Arial" panose="020B0604020202020204" pitchFamily="34" charset="0"/>
                </a:rPr>
                <a:t>=1</a:t>
              </a:r>
              <a:endParaRPr lang="zh-CN" altLang="en-US" sz="2000" dirty="0">
                <a:latin typeface="Arial" panose="020B0604020202020204" pitchFamily="34" charset="0"/>
                <a:cs typeface="Arial" panose="020B0604020202020204" pitchFamily="34" charset="0"/>
              </a:endParaRPr>
            </a:p>
          </p:txBody>
        </p:sp>
        <p:sp>
          <p:nvSpPr>
            <p:cNvPr id="66" name="文本框 65"/>
            <p:cNvSpPr txBox="1"/>
            <p:nvPr/>
          </p:nvSpPr>
          <p:spPr>
            <a:xfrm>
              <a:off x="8612992" y="4146232"/>
              <a:ext cx="820453"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X</a:t>
              </a:r>
              <a:r>
                <a:rPr lang="en-US" altLang="zh-CN" sz="2000" baseline="-25000" dirty="0">
                  <a:latin typeface="Arial" panose="020B0604020202020204" pitchFamily="34" charset="0"/>
                  <a:cs typeface="Arial" panose="020B0604020202020204" pitchFamily="34" charset="0"/>
                </a:rPr>
                <a:t>4</a:t>
              </a:r>
              <a:r>
                <a:rPr lang="en-US" altLang="zh-CN" sz="2000" dirty="0">
                  <a:latin typeface="Arial" panose="020B0604020202020204" pitchFamily="34" charset="0"/>
                  <a:cs typeface="Arial" panose="020B0604020202020204" pitchFamily="34" charset="0"/>
                </a:rPr>
                <a:t>=1</a:t>
              </a:r>
              <a:endParaRPr lang="zh-CN" altLang="en-US" sz="2000" dirty="0">
                <a:latin typeface="Arial" panose="020B0604020202020204" pitchFamily="34" charset="0"/>
                <a:cs typeface="Arial" panose="020B0604020202020204" pitchFamily="34" charset="0"/>
              </a:endParaRPr>
            </a:p>
          </p:txBody>
        </p:sp>
        <p:cxnSp>
          <p:nvCxnSpPr>
            <p:cNvPr id="73" name="直接连接符 72"/>
            <p:cNvCxnSpPr>
              <a:stCxn id="55" idx="4"/>
              <a:endCxn id="103" idx="0"/>
            </p:cNvCxnSpPr>
            <p:nvPr/>
          </p:nvCxnSpPr>
          <p:spPr>
            <a:xfrm flipH="1">
              <a:off x="9865325" y="4934317"/>
              <a:ext cx="412782" cy="459105"/>
            </a:xfrm>
            <a:prstGeom prst="line">
              <a:avLst/>
            </a:prstGeom>
          </p:spPr>
          <p:style>
            <a:lnRef idx="1">
              <a:schemeClr val="dk1"/>
            </a:lnRef>
            <a:fillRef idx="0">
              <a:schemeClr val="dk1"/>
            </a:fillRef>
            <a:effectRef idx="0">
              <a:schemeClr val="dk1"/>
            </a:effectRef>
            <a:fontRef idx="minor">
              <a:schemeClr val="tx1"/>
            </a:fontRef>
          </p:style>
        </p:cxnSp>
        <p:cxnSp>
          <p:nvCxnSpPr>
            <p:cNvPr id="74" name="直接连接符 73"/>
            <p:cNvCxnSpPr>
              <a:stCxn id="55" idx="4"/>
              <a:endCxn id="104" idx="0"/>
            </p:cNvCxnSpPr>
            <p:nvPr/>
          </p:nvCxnSpPr>
          <p:spPr>
            <a:xfrm>
              <a:off x="10278107" y="4934317"/>
              <a:ext cx="581253" cy="453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10488989" y="4911619"/>
              <a:ext cx="340671"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0</a:t>
              </a:r>
              <a:endParaRPr lang="zh-CN" altLang="en-US" sz="2000" dirty="0">
                <a:latin typeface="Arial" panose="020B0604020202020204" pitchFamily="34" charset="0"/>
                <a:cs typeface="Arial" panose="020B0604020202020204" pitchFamily="34" charset="0"/>
              </a:endParaRPr>
            </a:p>
          </p:txBody>
        </p:sp>
        <p:sp>
          <p:nvSpPr>
            <p:cNvPr id="76" name="文本框 75"/>
            <p:cNvSpPr txBox="1"/>
            <p:nvPr/>
          </p:nvSpPr>
          <p:spPr>
            <a:xfrm>
              <a:off x="9433248" y="4912148"/>
              <a:ext cx="820453"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X</a:t>
              </a:r>
              <a:r>
                <a:rPr lang="en-US" altLang="zh-CN" sz="2000" baseline="-25000" dirty="0">
                  <a:latin typeface="Arial" panose="020B0604020202020204" pitchFamily="34" charset="0"/>
                  <a:cs typeface="Arial" panose="020B0604020202020204" pitchFamily="34" charset="0"/>
                </a:rPr>
                <a:t>5</a:t>
              </a:r>
              <a:r>
                <a:rPr lang="en-US" altLang="zh-CN" sz="2000" dirty="0">
                  <a:latin typeface="Arial" panose="020B0604020202020204" pitchFamily="34" charset="0"/>
                  <a:cs typeface="Arial" panose="020B0604020202020204" pitchFamily="34" charset="0"/>
                </a:rPr>
                <a:t>=1</a:t>
              </a:r>
              <a:endParaRPr lang="zh-CN" altLang="en-US" sz="2000" dirty="0">
                <a:latin typeface="Arial" panose="020B0604020202020204" pitchFamily="34" charset="0"/>
                <a:cs typeface="Arial" panose="020B0604020202020204" pitchFamily="34" charset="0"/>
              </a:endParaRPr>
            </a:p>
          </p:txBody>
        </p:sp>
        <p:sp>
          <p:nvSpPr>
            <p:cNvPr id="8" name="文本框 7"/>
            <p:cNvSpPr txBox="1"/>
            <p:nvPr/>
          </p:nvSpPr>
          <p:spPr>
            <a:xfrm>
              <a:off x="7592725" y="1239504"/>
              <a:ext cx="259028"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s</a:t>
              </a:r>
            </a:p>
          </p:txBody>
        </p:sp>
        <p:sp>
          <p:nvSpPr>
            <p:cNvPr id="60" name="文本框 59"/>
            <p:cNvSpPr txBox="1"/>
            <p:nvPr/>
          </p:nvSpPr>
          <p:spPr>
            <a:xfrm flipH="1">
              <a:off x="7605869" y="1527675"/>
              <a:ext cx="380909"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r</a:t>
              </a:r>
            </a:p>
          </p:txBody>
        </p:sp>
        <p:sp>
          <p:nvSpPr>
            <p:cNvPr id="61" name="文本框 60"/>
            <p:cNvSpPr txBox="1"/>
            <p:nvPr/>
          </p:nvSpPr>
          <p:spPr>
            <a:xfrm>
              <a:off x="7910938" y="1260394"/>
              <a:ext cx="259028"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0</a:t>
              </a:r>
            </a:p>
          </p:txBody>
        </p:sp>
        <p:sp>
          <p:nvSpPr>
            <p:cNvPr id="62" name="文本框 61"/>
            <p:cNvSpPr txBox="1"/>
            <p:nvPr/>
          </p:nvSpPr>
          <p:spPr>
            <a:xfrm>
              <a:off x="7799931" y="1556872"/>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73</a:t>
              </a:r>
            </a:p>
          </p:txBody>
        </p:sp>
        <p:sp>
          <p:nvSpPr>
            <p:cNvPr id="63" name="文本框 62"/>
            <p:cNvSpPr txBox="1"/>
            <p:nvPr/>
          </p:nvSpPr>
          <p:spPr>
            <a:xfrm>
              <a:off x="7222137" y="2062449"/>
              <a:ext cx="259028"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5</a:t>
              </a:r>
            </a:p>
          </p:txBody>
        </p:sp>
        <p:sp>
          <p:nvSpPr>
            <p:cNvPr id="69" name="文本框 68"/>
            <p:cNvSpPr txBox="1"/>
            <p:nvPr/>
          </p:nvSpPr>
          <p:spPr>
            <a:xfrm>
              <a:off x="7129189" y="2298854"/>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68</a:t>
              </a:r>
            </a:p>
          </p:txBody>
        </p:sp>
        <p:sp>
          <p:nvSpPr>
            <p:cNvPr id="70" name="文本框 69"/>
            <p:cNvSpPr txBox="1"/>
            <p:nvPr/>
          </p:nvSpPr>
          <p:spPr>
            <a:xfrm>
              <a:off x="9494774" y="2082763"/>
              <a:ext cx="259028"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0</a:t>
              </a:r>
            </a:p>
          </p:txBody>
        </p:sp>
        <p:sp>
          <p:nvSpPr>
            <p:cNvPr id="77" name="文本框 76"/>
            <p:cNvSpPr txBox="1"/>
            <p:nvPr/>
          </p:nvSpPr>
          <p:spPr>
            <a:xfrm>
              <a:off x="9444071" y="2343932"/>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68</a:t>
              </a:r>
            </a:p>
          </p:txBody>
        </p:sp>
        <p:sp>
          <p:nvSpPr>
            <p:cNvPr id="78" name="文本框 77"/>
            <p:cNvSpPr txBox="1"/>
            <p:nvPr/>
          </p:nvSpPr>
          <p:spPr>
            <a:xfrm>
              <a:off x="7999763" y="2778320"/>
              <a:ext cx="56107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10</a:t>
              </a:r>
            </a:p>
          </p:txBody>
        </p:sp>
        <p:sp>
          <p:nvSpPr>
            <p:cNvPr id="79" name="文本框 78"/>
            <p:cNvSpPr txBox="1"/>
            <p:nvPr/>
          </p:nvSpPr>
          <p:spPr>
            <a:xfrm>
              <a:off x="8006289" y="3031554"/>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58</a:t>
              </a:r>
            </a:p>
          </p:txBody>
        </p:sp>
        <p:sp>
          <p:nvSpPr>
            <p:cNvPr id="80" name="文本框 79"/>
            <p:cNvSpPr txBox="1"/>
            <p:nvPr/>
          </p:nvSpPr>
          <p:spPr>
            <a:xfrm>
              <a:off x="10194477" y="2797328"/>
              <a:ext cx="56107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0</a:t>
              </a:r>
            </a:p>
          </p:txBody>
        </p:sp>
        <p:sp>
          <p:nvSpPr>
            <p:cNvPr id="81" name="文本框 80"/>
            <p:cNvSpPr txBox="1"/>
            <p:nvPr/>
          </p:nvSpPr>
          <p:spPr>
            <a:xfrm>
              <a:off x="10182416" y="3068768"/>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58</a:t>
              </a:r>
            </a:p>
          </p:txBody>
        </p:sp>
        <p:sp>
          <p:nvSpPr>
            <p:cNvPr id="85" name="文本框 84"/>
            <p:cNvSpPr txBox="1"/>
            <p:nvPr/>
          </p:nvSpPr>
          <p:spPr>
            <a:xfrm>
              <a:off x="7327402" y="3597877"/>
              <a:ext cx="56107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22</a:t>
              </a:r>
            </a:p>
          </p:txBody>
        </p:sp>
        <p:sp>
          <p:nvSpPr>
            <p:cNvPr id="87" name="文本框 86"/>
            <p:cNvSpPr txBox="1"/>
            <p:nvPr/>
          </p:nvSpPr>
          <p:spPr>
            <a:xfrm>
              <a:off x="7324574" y="3851430"/>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46</a:t>
              </a:r>
            </a:p>
          </p:txBody>
        </p:sp>
        <p:sp>
          <p:nvSpPr>
            <p:cNvPr id="88" name="文本框 87"/>
            <p:cNvSpPr txBox="1"/>
            <p:nvPr/>
          </p:nvSpPr>
          <p:spPr>
            <a:xfrm>
              <a:off x="9658241" y="3600427"/>
              <a:ext cx="56107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10</a:t>
              </a:r>
            </a:p>
          </p:txBody>
        </p:sp>
        <p:sp>
          <p:nvSpPr>
            <p:cNvPr id="89" name="文本框 88"/>
            <p:cNvSpPr txBox="1"/>
            <p:nvPr/>
          </p:nvSpPr>
          <p:spPr>
            <a:xfrm>
              <a:off x="9688709" y="3854553"/>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46</a:t>
              </a:r>
            </a:p>
          </p:txBody>
        </p:sp>
        <p:sp>
          <p:nvSpPr>
            <p:cNvPr id="90" name="文本框 89"/>
            <p:cNvSpPr txBox="1"/>
            <p:nvPr/>
          </p:nvSpPr>
          <p:spPr>
            <a:xfrm>
              <a:off x="8303120" y="4365722"/>
              <a:ext cx="56107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23</a:t>
              </a:r>
            </a:p>
          </p:txBody>
        </p:sp>
        <p:sp>
          <p:nvSpPr>
            <p:cNvPr id="91" name="文本框 90"/>
            <p:cNvSpPr txBox="1"/>
            <p:nvPr/>
          </p:nvSpPr>
          <p:spPr>
            <a:xfrm>
              <a:off x="8293826" y="4628406"/>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33</a:t>
              </a:r>
            </a:p>
          </p:txBody>
        </p:sp>
        <p:sp>
          <p:nvSpPr>
            <p:cNvPr id="92" name="文本框 91"/>
            <p:cNvSpPr txBox="1"/>
            <p:nvPr/>
          </p:nvSpPr>
          <p:spPr>
            <a:xfrm>
              <a:off x="10413448" y="4368079"/>
              <a:ext cx="56107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10</a:t>
              </a:r>
            </a:p>
          </p:txBody>
        </p:sp>
        <p:sp>
          <p:nvSpPr>
            <p:cNvPr id="93" name="文本框 92"/>
            <p:cNvSpPr txBox="1"/>
            <p:nvPr/>
          </p:nvSpPr>
          <p:spPr>
            <a:xfrm>
              <a:off x="10427054" y="4624759"/>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33</a:t>
              </a:r>
            </a:p>
          </p:txBody>
        </p:sp>
        <p:sp>
          <p:nvSpPr>
            <p:cNvPr id="94" name="文本框 93"/>
            <p:cNvSpPr txBox="1"/>
            <p:nvPr/>
          </p:nvSpPr>
          <p:spPr>
            <a:xfrm>
              <a:off x="9167244" y="5285435"/>
              <a:ext cx="56107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25</a:t>
              </a:r>
            </a:p>
          </p:txBody>
        </p:sp>
        <p:sp>
          <p:nvSpPr>
            <p:cNvPr id="95" name="文本框 94"/>
            <p:cNvSpPr txBox="1"/>
            <p:nvPr/>
          </p:nvSpPr>
          <p:spPr>
            <a:xfrm>
              <a:off x="9154444" y="5532766"/>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18</a:t>
              </a:r>
            </a:p>
          </p:txBody>
        </p:sp>
        <p:sp>
          <p:nvSpPr>
            <p:cNvPr id="96" name="文本框 95"/>
            <p:cNvSpPr txBox="1"/>
            <p:nvPr/>
          </p:nvSpPr>
          <p:spPr>
            <a:xfrm>
              <a:off x="11032614" y="5287001"/>
              <a:ext cx="56107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ea typeface="幼圆" panose="02010509060101010101" pitchFamily="49" charset="-122"/>
                  <a:cs typeface="Arial" panose="020B0604020202020204" pitchFamily="34" charset="0"/>
                </a:rPr>
                <a:t>10</a:t>
              </a:r>
            </a:p>
          </p:txBody>
        </p:sp>
        <p:sp>
          <p:nvSpPr>
            <p:cNvPr id="97" name="文本框 96"/>
            <p:cNvSpPr txBox="1"/>
            <p:nvPr/>
          </p:nvSpPr>
          <p:spPr>
            <a:xfrm>
              <a:off x="11050432" y="5549170"/>
              <a:ext cx="489277" cy="400110"/>
            </a:xfrm>
            <a:prstGeom prst="rect">
              <a:avLst/>
            </a:prstGeom>
            <a:noFill/>
          </p:spPr>
          <p:txBody>
            <a:bodyPr wrap="square" rtlCol="0">
              <a:spAutoFit/>
            </a:bodyPr>
            <a:lstStyle/>
            <a:p>
              <a:r>
                <a:rPr lang="en-US" altLang="zh-CN" sz="2000" dirty="0">
                  <a:solidFill>
                    <a:srgbClr val="0000FF"/>
                  </a:solidFill>
                  <a:latin typeface="Arial" panose="020B0604020202020204" pitchFamily="34" charset="0"/>
                  <a:cs typeface="Arial" panose="020B0604020202020204" pitchFamily="34" charset="0"/>
                </a:rPr>
                <a:t>18</a:t>
              </a:r>
            </a:p>
          </p:txBody>
        </p:sp>
        <p:sp>
          <p:nvSpPr>
            <p:cNvPr id="10" name="矩形 9"/>
            <p:cNvSpPr/>
            <p:nvPr/>
          </p:nvSpPr>
          <p:spPr>
            <a:xfrm>
              <a:off x="7848437" y="3822157"/>
              <a:ext cx="434964" cy="373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Arial" panose="020B0604020202020204" pitchFamily="34" charset="0"/>
                  <a:cs typeface="Arial" panose="020B0604020202020204" pitchFamily="34" charset="0"/>
                </a:rPr>
                <a:t>6</a:t>
              </a:r>
              <a:endParaRPr lang="zh-CN" altLang="en-US" sz="2000" dirty="0">
                <a:solidFill>
                  <a:schemeClr val="tx1"/>
                </a:solidFill>
                <a:latin typeface="Arial" panose="020B0604020202020204" pitchFamily="34" charset="0"/>
                <a:cs typeface="Arial" panose="020B0604020202020204" pitchFamily="34" charset="0"/>
              </a:endParaRPr>
            </a:p>
          </p:txBody>
        </p:sp>
        <p:sp>
          <p:nvSpPr>
            <p:cNvPr id="102" name="矩形 101"/>
            <p:cNvSpPr/>
            <p:nvPr/>
          </p:nvSpPr>
          <p:spPr>
            <a:xfrm>
              <a:off x="8755780" y="4581667"/>
              <a:ext cx="434964" cy="373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Arial" panose="020B0604020202020204" pitchFamily="34" charset="0"/>
                  <a:cs typeface="Arial" panose="020B0604020202020204" pitchFamily="34" charset="0"/>
                </a:rPr>
                <a:t>8</a:t>
              </a:r>
              <a:endParaRPr lang="zh-CN" altLang="en-US" sz="2000" dirty="0">
                <a:solidFill>
                  <a:schemeClr val="tx1"/>
                </a:solidFill>
                <a:latin typeface="Arial" panose="020B0604020202020204" pitchFamily="34" charset="0"/>
                <a:cs typeface="Arial" panose="020B0604020202020204" pitchFamily="34" charset="0"/>
              </a:endParaRPr>
            </a:p>
          </p:txBody>
        </p:sp>
        <p:sp>
          <p:nvSpPr>
            <p:cNvPr id="103" name="矩形 102"/>
            <p:cNvSpPr/>
            <p:nvPr/>
          </p:nvSpPr>
          <p:spPr>
            <a:xfrm>
              <a:off x="9611487" y="5393422"/>
              <a:ext cx="507675" cy="373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Arial" panose="020B0604020202020204" pitchFamily="34" charset="0"/>
                  <a:cs typeface="Arial" panose="020B0604020202020204" pitchFamily="34" charset="0"/>
                </a:rPr>
                <a:t>10</a:t>
              </a:r>
              <a:endParaRPr lang="zh-CN" altLang="en-US" sz="2000" dirty="0">
                <a:solidFill>
                  <a:schemeClr val="tx1"/>
                </a:solidFill>
                <a:latin typeface="Arial" panose="020B0604020202020204" pitchFamily="34" charset="0"/>
                <a:cs typeface="Arial" panose="020B0604020202020204" pitchFamily="34" charset="0"/>
              </a:endParaRPr>
            </a:p>
          </p:txBody>
        </p:sp>
        <p:sp>
          <p:nvSpPr>
            <p:cNvPr id="104" name="矩形 103"/>
            <p:cNvSpPr/>
            <p:nvPr/>
          </p:nvSpPr>
          <p:spPr>
            <a:xfrm>
              <a:off x="10605522" y="5388095"/>
              <a:ext cx="507675" cy="373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Arial" panose="020B0604020202020204" pitchFamily="34" charset="0"/>
                  <a:cs typeface="Arial" panose="020B0604020202020204" pitchFamily="34" charset="0"/>
                </a:rPr>
                <a:t>11</a:t>
              </a:r>
              <a:endParaRPr lang="zh-CN" altLang="en-US" sz="2000" dirty="0">
                <a:solidFill>
                  <a:schemeClr val="tx1"/>
                </a:solidFill>
                <a:latin typeface="Arial" panose="020B0604020202020204" pitchFamily="34" charset="0"/>
                <a:cs typeface="Arial" panose="020B0604020202020204" pitchFamily="34" charset="0"/>
              </a:endParaRPr>
            </a:p>
          </p:txBody>
        </p:sp>
      </p:grpSp>
      <p:sp>
        <p:nvSpPr>
          <p:cNvPr id="107" name="内容占位符 2"/>
          <p:cNvSpPr txBox="1">
            <a:spLocks/>
          </p:cNvSpPr>
          <p:nvPr/>
        </p:nvSpPr>
        <p:spPr>
          <a:xfrm>
            <a:off x="637877" y="3479524"/>
            <a:ext cx="5890171" cy="2695954"/>
          </a:xfrm>
          <a:prstGeom prst="rect">
            <a:avLst/>
          </a:prstGeom>
          <a:noFill/>
        </p:spPr>
        <p:txBody>
          <a:bodyPr vert="horz" lIns="91440" tIns="45720" rIns="91440" bIns="45720" rtlCol="0">
            <a:normAutofit/>
          </a:bodyPr>
          <a:lstStyle>
            <a:lvl1pPr marL="228600" indent="-228600" algn="l" defTabSz="914400" rtl="0" eaLnBrk="1" latinLnBrk="0" hangingPunct="1">
              <a:lnSpc>
                <a:spcPct val="110000"/>
              </a:lnSpc>
              <a:spcBef>
                <a:spcPts val="1000"/>
              </a:spcBef>
              <a:buClr>
                <a:srgbClr val="1E5293"/>
              </a:buClr>
              <a:buSzPct val="70000"/>
              <a:buFont typeface="Wingdings" panose="05000000000000000000" pitchFamily="2" charset="2"/>
              <a:buChar char="l"/>
              <a:defRPr sz="2800" kern="1200">
                <a:solidFill>
                  <a:schemeClr val="tx1"/>
                </a:solidFill>
                <a:latin typeface="Arial" panose="020B0604020202020204" pitchFamily="34" charset="0"/>
                <a:ea typeface="幼圆" panose="02010509060101010101" pitchFamily="49" charset="-122"/>
                <a:cs typeface="Arial" panose="020B0604020202020204" pitchFamily="34" charset="0"/>
              </a:defRPr>
            </a:lvl1pPr>
            <a:lvl2pPr marL="6858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2pPr>
            <a:lvl3pPr marL="11430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3pPr>
            <a:lvl4pPr marL="16002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4pPr>
            <a:lvl5pPr marL="2057400" indent="-228600" algn="l" defTabSz="914400" rtl="0" eaLnBrk="1" latinLnBrk="0" hangingPunct="1">
              <a:lnSpc>
                <a:spcPct val="110000"/>
              </a:lnSpc>
              <a:spcBef>
                <a:spcPts val="500"/>
              </a:spcBef>
              <a:buClr>
                <a:schemeClr val="accent1">
                  <a:lumMod val="60000"/>
                  <a:lumOff val="40000"/>
                </a:schemeClr>
              </a:buClr>
              <a:buSzPct val="70000"/>
              <a:buFont typeface="Wingdings" panose="05000000000000000000" pitchFamily="2" charset="2"/>
              <a:buChar char="l"/>
              <a:defRPr sz="2400" kern="1200">
                <a:solidFill>
                  <a:schemeClr val="tx1"/>
                </a:solidFill>
                <a:latin typeface="Arial" panose="020B0604020202020204" pitchFamily="34" charset="0"/>
                <a:ea typeface="幼圆" panose="020105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spcBef>
                <a:spcPts val="0"/>
              </a:spcBef>
            </a:pPr>
            <a:r>
              <a:rPr kumimoji="1" lang="zh-CN" altLang="en-US" sz="2400" dirty="0"/>
              <a:t>方形结点表示不满足约束条件</a:t>
            </a:r>
            <a:endParaRPr kumimoji="1" lang="en-US" altLang="zh-CN" sz="2400" dirty="0"/>
          </a:p>
          <a:p>
            <a:pPr>
              <a:lnSpc>
                <a:spcPct val="140000"/>
              </a:lnSpc>
              <a:spcBef>
                <a:spcPts val="0"/>
              </a:spcBef>
            </a:pPr>
            <a:r>
              <a:rPr lang="zh-CN" altLang="en-US" sz="2400" dirty="0"/>
              <a:t>随机选择路径为：</a:t>
            </a:r>
            <a:r>
              <a:rPr lang="en-US" altLang="zh-CN" sz="2400" dirty="0"/>
              <a:t>1-3-4-7-9</a:t>
            </a:r>
            <a:endParaRPr kumimoji="1" lang="en-US" altLang="zh-CN" sz="2400" dirty="0"/>
          </a:p>
          <a:p>
            <a:pPr>
              <a:lnSpc>
                <a:spcPct val="140000"/>
              </a:lnSpc>
              <a:spcBef>
                <a:spcPts val="0"/>
              </a:spcBef>
            </a:pPr>
            <a:r>
              <a:rPr kumimoji="1" lang="en-US" altLang="zh-CN" sz="2400" dirty="0"/>
              <a:t>n=6</a:t>
            </a:r>
            <a:r>
              <a:rPr kumimoji="1" lang="zh-CN" altLang="en-US" sz="2400" dirty="0"/>
              <a:t>的解空间树共计</a:t>
            </a:r>
            <a:r>
              <a:rPr kumimoji="1" lang="en-US" altLang="zh-CN" sz="2400" dirty="0"/>
              <a:t>64+63</a:t>
            </a:r>
            <a:r>
              <a:rPr kumimoji="1" lang="zh-CN" altLang="en-US" sz="2400" dirty="0"/>
              <a:t>个结点</a:t>
            </a:r>
            <a:endParaRPr kumimoji="1" lang="en-US" altLang="zh-CN" sz="2400" dirty="0"/>
          </a:p>
          <a:p>
            <a:pPr>
              <a:lnSpc>
                <a:spcPct val="140000"/>
              </a:lnSpc>
              <a:spcBef>
                <a:spcPts val="0"/>
              </a:spcBef>
            </a:pPr>
            <a:r>
              <a:rPr lang="zh-CN" altLang="en-US" sz="2400" dirty="0"/>
              <a:t>不受限界结点的估计数</a:t>
            </a:r>
            <a:r>
              <a:rPr lang="en-US" altLang="zh-CN" sz="2400" dirty="0"/>
              <a:t>: </a:t>
            </a:r>
          </a:p>
          <a:p>
            <a:pPr lvl="1">
              <a:lnSpc>
                <a:spcPct val="140000"/>
              </a:lnSpc>
              <a:spcBef>
                <a:spcPts val="0"/>
              </a:spcBef>
            </a:pPr>
            <a:r>
              <a:rPr lang="en-US" altLang="zh-CN" dirty="0">
                <a:solidFill>
                  <a:srgbClr val="FF0000"/>
                </a:solidFill>
              </a:rPr>
              <a:t>m=1+2+2*2+2*2*1+2*2*1*1+0=15</a:t>
            </a:r>
          </a:p>
          <a:p>
            <a:pPr>
              <a:lnSpc>
                <a:spcPct val="140000"/>
              </a:lnSpc>
              <a:spcBef>
                <a:spcPts val="0"/>
              </a:spcBef>
            </a:pPr>
            <a:endParaRPr lang="zh-CN" altLang="en-US" sz="2000" dirty="0"/>
          </a:p>
        </p:txBody>
      </p:sp>
      <p:graphicFrame>
        <p:nvGraphicFramePr>
          <p:cNvPr id="23" name="表格 22"/>
          <p:cNvGraphicFramePr>
            <a:graphicFrameLocks noGrp="1"/>
          </p:cNvGraphicFramePr>
          <p:nvPr>
            <p:extLst>
              <p:ext uri="{D42A27DB-BD31-4B8C-83A1-F6EECF244321}">
                <p14:modId xmlns:p14="http://schemas.microsoft.com/office/powerpoint/2010/main" val="870462637"/>
              </p:ext>
            </p:extLst>
          </p:nvPr>
        </p:nvGraphicFramePr>
        <p:xfrm>
          <a:off x="1600944" y="1486717"/>
          <a:ext cx="3582084" cy="731520"/>
        </p:xfrm>
        <a:graphic>
          <a:graphicData uri="http://schemas.openxmlformats.org/drawingml/2006/table">
            <a:tbl>
              <a:tblPr firstRow="1" bandRow="1">
                <a:tableStyleId>{5940675A-B579-460E-94D1-54222C63F5DA}</a:tableStyleId>
              </a:tblPr>
              <a:tblGrid>
                <a:gridCol w="597014">
                  <a:extLst>
                    <a:ext uri="{9D8B030D-6E8A-4147-A177-3AD203B41FA5}">
                      <a16:colId xmlns:a16="http://schemas.microsoft.com/office/drawing/2014/main" val="2587525013"/>
                    </a:ext>
                  </a:extLst>
                </a:gridCol>
                <a:gridCol w="597014">
                  <a:extLst>
                    <a:ext uri="{9D8B030D-6E8A-4147-A177-3AD203B41FA5}">
                      <a16:colId xmlns:a16="http://schemas.microsoft.com/office/drawing/2014/main" val="618799681"/>
                    </a:ext>
                  </a:extLst>
                </a:gridCol>
                <a:gridCol w="597014">
                  <a:extLst>
                    <a:ext uri="{9D8B030D-6E8A-4147-A177-3AD203B41FA5}">
                      <a16:colId xmlns:a16="http://schemas.microsoft.com/office/drawing/2014/main" val="4093141420"/>
                    </a:ext>
                  </a:extLst>
                </a:gridCol>
                <a:gridCol w="597014">
                  <a:extLst>
                    <a:ext uri="{9D8B030D-6E8A-4147-A177-3AD203B41FA5}">
                      <a16:colId xmlns:a16="http://schemas.microsoft.com/office/drawing/2014/main" val="1900778439"/>
                    </a:ext>
                  </a:extLst>
                </a:gridCol>
                <a:gridCol w="597014">
                  <a:extLst>
                    <a:ext uri="{9D8B030D-6E8A-4147-A177-3AD203B41FA5}">
                      <a16:colId xmlns:a16="http://schemas.microsoft.com/office/drawing/2014/main" val="3284370522"/>
                    </a:ext>
                  </a:extLst>
                </a:gridCol>
                <a:gridCol w="597014">
                  <a:extLst>
                    <a:ext uri="{9D8B030D-6E8A-4147-A177-3AD203B41FA5}">
                      <a16:colId xmlns:a16="http://schemas.microsoft.com/office/drawing/2014/main" val="1975154988"/>
                    </a:ext>
                  </a:extLst>
                </a:gridCol>
              </a:tblGrid>
              <a:tr h="352034">
                <a:tc>
                  <a:txBody>
                    <a:bodyPr/>
                    <a:lstStyle/>
                    <a:p>
                      <a:pPr algn="ctr"/>
                      <a:r>
                        <a:rPr lang="en-US" altLang="zh-CN" sz="1800" dirty="0">
                          <a:latin typeface="Arial" panose="020B0604020202020204" pitchFamily="34" charset="0"/>
                          <a:cs typeface="Arial" panose="020B0604020202020204" pitchFamily="34" charset="0"/>
                        </a:rPr>
                        <a:t>W</a:t>
                      </a:r>
                      <a:r>
                        <a:rPr lang="en-US" altLang="zh-CN" sz="1800" baseline="-25000" dirty="0">
                          <a:latin typeface="Arial" panose="020B0604020202020204" pitchFamily="34" charset="0"/>
                          <a:cs typeface="Arial" panose="020B0604020202020204" pitchFamily="34" charset="0"/>
                        </a:rPr>
                        <a:t>1</a:t>
                      </a:r>
                      <a:endParaRPr lang="zh-CN" altLang="en-US" sz="18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Arial" panose="020B0604020202020204" pitchFamily="34" charset="0"/>
                          <a:cs typeface="Arial" panose="020B0604020202020204" pitchFamily="34" charset="0"/>
                        </a:rPr>
                        <a:t>W</a:t>
                      </a:r>
                      <a:r>
                        <a:rPr lang="en-US" altLang="zh-CN" sz="1800" baseline="-25000" dirty="0">
                          <a:latin typeface="Arial" panose="020B0604020202020204" pitchFamily="34" charset="0"/>
                          <a:cs typeface="Arial" panose="020B0604020202020204" pitchFamily="34" charset="0"/>
                        </a:rPr>
                        <a:t>2</a:t>
                      </a:r>
                      <a:endParaRPr lang="zh-CN" altLang="en-US" sz="18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Arial" panose="020B0604020202020204" pitchFamily="34" charset="0"/>
                          <a:cs typeface="Arial" panose="020B0604020202020204" pitchFamily="34" charset="0"/>
                        </a:rPr>
                        <a:t>W</a:t>
                      </a:r>
                      <a:r>
                        <a:rPr lang="en-US" altLang="zh-CN" sz="1800" baseline="-25000" dirty="0">
                          <a:latin typeface="Arial" panose="020B0604020202020204" pitchFamily="34" charset="0"/>
                          <a:cs typeface="Arial" panose="020B0604020202020204" pitchFamily="34" charset="0"/>
                        </a:rPr>
                        <a:t>3</a:t>
                      </a:r>
                      <a:endParaRPr lang="zh-CN" altLang="en-US" sz="18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Arial" panose="020B0604020202020204" pitchFamily="34" charset="0"/>
                          <a:cs typeface="Arial" panose="020B0604020202020204" pitchFamily="34" charset="0"/>
                        </a:rPr>
                        <a:t>W</a:t>
                      </a:r>
                      <a:r>
                        <a:rPr lang="en-US" altLang="zh-CN" sz="1800" baseline="-25000" dirty="0">
                          <a:latin typeface="Arial" panose="020B0604020202020204" pitchFamily="34" charset="0"/>
                          <a:cs typeface="Arial" panose="020B0604020202020204" pitchFamily="34" charset="0"/>
                        </a:rPr>
                        <a:t>4</a:t>
                      </a:r>
                      <a:endParaRPr lang="zh-CN" altLang="en-US" sz="18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Arial" panose="020B0604020202020204" pitchFamily="34" charset="0"/>
                          <a:cs typeface="Arial" panose="020B0604020202020204" pitchFamily="34" charset="0"/>
                        </a:rPr>
                        <a:t>W</a:t>
                      </a:r>
                      <a:r>
                        <a:rPr lang="en-US" altLang="zh-CN" sz="1800" baseline="-25000" dirty="0">
                          <a:latin typeface="Arial" panose="020B0604020202020204" pitchFamily="34" charset="0"/>
                          <a:cs typeface="Arial" panose="020B0604020202020204" pitchFamily="34" charset="0"/>
                        </a:rPr>
                        <a:t>5</a:t>
                      </a:r>
                      <a:endParaRPr lang="zh-CN" altLang="en-US" sz="18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Arial" panose="020B0604020202020204" pitchFamily="34" charset="0"/>
                          <a:cs typeface="Arial" panose="020B0604020202020204" pitchFamily="34" charset="0"/>
                        </a:rPr>
                        <a:t>W</a:t>
                      </a:r>
                      <a:r>
                        <a:rPr lang="en-US" altLang="zh-CN" sz="1800" baseline="-25000" dirty="0">
                          <a:latin typeface="Arial" panose="020B0604020202020204" pitchFamily="34" charset="0"/>
                          <a:cs typeface="Arial" panose="020B0604020202020204" pitchFamily="34" charset="0"/>
                        </a:rPr>
                        <a:t>6</a:t>
                      </a:r>
                      <a:endParaRPr lang="zh-CN" altLang="en-US" sz="18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4982830"/>
                  </a:ext>
                </a:extLst>
              </a:tr>
              <a:tr h="352034">
                <a:tc>
                  <a:txBody>
                    <a:bodyPr/>
                    <a:lstStyle/>
                    <a:p>
                      <a:pPr algn="ctr"/>
                      <a:r>
                        <a:rPr lang="en-US" altLang="zh-CN" sz="1800" dirty="0">
                          <a:latin typeface="Arial" panose="020B0604020202020204" pitchFamily="34" charset="0"/>
                          <a:cs typeface="Arial" panose="020B0604020202020204" pitchFamily="34" charset="0"/>
                        </a:rPr>
                        <a:t>5</a:t>
                      </a:r>
                      <a:endParaRPr lang="zh-CN" altLang="en-US" sz="180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Arial" panose="020B0604020202020204" pitchFamily="34" charset="0"/>
                          <a:cs typeface="Arial" panose="020B0604020202020204" pitchFamily="34" charset="0"/>
                        </a:rPr>
                        <a:t>10</a:t>
                      </a:r>
                      <a:endParaRPr lang="zh-CN" altLang="en-US" sz="180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Arial" panose="020B0604020202020204" pitchFamily="34" charset="0"/>
                          <a:cs typeface="Arial" panose="020B0604020202020204" pitchFamily="34" charset="0"/>
                        </a:rPr>
                        <a:t>12</a:t>
                      </a:r>
                      <a:endParaRPr lang="zh-CN" altLang="en-US" sz="180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Arial" panose="020B0604020202020204" pitchFamily="34" charset="0"/>
                          <a:cs typeface="Arial" panose="020B0604020202020204" pitchFamily="34" charset="0"/>
                        </a:rPr>
                        <a:t>13</a:t>
                      </a:r>
                      <a:endParaRPr lang="zh-CN" altLang="en-US" sz="180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Arial" panose="020B0604020202020204" pitchFamily="34" charset="0"/>
                          <a:cs typeface="Arial" panose="020B0604020202020204" pitchFamily="34" charset="0"/>
                        </a:rPr>
                        <a:t>15</a:t>
                      </a:r>
                      <a:endParaRPr lang="zh-CN" altLang="en-US" sz="180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Arial" panose="020B0604020202020204" pitchFamily="34" charset="0"/>
                          <a:cs typeface="Arial" panose="020B0604020202020204" pitchFamily="34" charset="0"/>
                        </a:rPr>
                        <a:t>18</a:t>
                      </a:r>
                      <a:endParaRPr lang="zh-CN" altLang="en-US" sz="180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9142906"/>
                  </a:ext>
                </a:extLst>
              </a:tr>
            </a:tbl>
          </a:graphicData>
        </a:graphic>
      </p:graphicFrame>
      <p:sp>
        <p:nvSpPr>
          <p:cNvPr id="25" name="文本框 24"/>
          <p:cNvSpPr txBox="1"/>
          <p:nvPr/>
        </p:nvSpPr>
        <p:spPr>
          <a:xfrm>
            <a:off x="701349" y="2994078"/>
            <a:ext cx="4481679" cy="461665"/>
          </a:xfrm>
          <a:prstGeom prst="rect">
            <a:avLst/>
          </a:prstGeom>
          <a:solidFill>
            <a:schemeClr val="accent1">
              <a:lumMod val="20000"/>
              <a:lumOff val="80000"/>
            </a:schemeClr>
          </a:solidFill>
        </p:spPr>
        <p:txBody>
          <a:bodyPr wrap="square" rtlCol="0">
            <a:spAutoFit/>
          </a:bodyPr>
          <a:lstStyle/>
          <a:p>
            <a:r>
              <a:rPr lang="en-US" altLang="zh-CN" sz="2400" dirty="0">
                <a:latin typeface="Arial" panose="020B0604020202020204" pitchFamily="34" charset="0"/>
                <a:cs typeface="Arial" panose="020B0604020202020204" pitchFamily="34" charset="0"/>
              </a:rPr>
              <a:t>B</a:t>
            </a:r>
            <a:r>
              <a:rPr lang="en-US" altLang="zh-CN" sz="2400" baseline="-25000" dirty="0">
                <a:latin typeface="Arial" panose="020B0604020202020204" pitchFamily="34" charset="0"/>
                <a:cs typeface="Arial" panose="020B0604020202020204" pitchFamily="34" charset="0"/>
              </a:rPr>
              <a:t>k</a:t>
            </a:r>
            <a:r>
              <a:rPr lang="zh-CN" altLang="en-US" sz="2400" dirty="0">
                <a:latin typeface="Arial" panose="020B0604020202020204" pitchFamily="34" charset="0"/>
                <a:ea typeface="幼圆" panose="02010509060101010101" pitchFamily="49" charset="-122"/>
                <a:cs typeface="Arial" panose="020B0604020202020204" pitchFamily="34" charset="0"/>
              </a:rPr>
              <a:t>：</a:t>
            </a:r>
            <a:r>
              <a:rPr lang="en-US" altLang="zh-CN" sz="2400" dirty="0" err="1">
                <a:latin typeface="Arial" panose="020B0604020202020204" pitchFamily="34" charset="0"/>
                <a:ea typeface="幼圆" panose="02010509060101010101" pitchFamily="49" charset="-122"/>
                <a:cs typeface="Arial" panose="020B0604020202020204" pitchFamily="34" charset="0"/>
              </a:rPr>
              <a:t>s+W</a:t>
            </a:r>
            <a:r>
              <a:rPr lang="en-US" altLang="zh-CN" sz="2400" dirty="0">
                <a:latin typeface="Arial" panose="020B0604020202020204" pitchFamily="34" charset="0"/>
                <a:ea typeface="幼圆" panose="02010509060101010101" pitchFamily="49" charset="-122"/>
                <a:cs typeface="Arial" panose="020B0604020202020204" pitchFamily="34" charset="0"/>
              </a:rPr>
              <a:t>(k+1) ≤ M </a:t>
            </a:r>
            <a:r>
              <a:rPr lang="zh-CN" altLang="en-US" sz="2400" dirty="0">
                <a:latin typeface="Arial" panose="020B0604020202020204" pitchFamily="34" charset="0"/>
                <a:ea typeface="幼圆" panose="02010509060101010101" pitchFamily="49" charset="-122"/>
                <a:cs typeface="Arial" panose="020B0604020202020204" pitchFamily="34" charset="0"/>
              </a:rPr>
              <a:t>且 </a:t>
            </a:r>
            <a:r>
              <a:rPr lang="en-US" altLang="zh-CN" sz="2400" dirty="0" err="1">
                <a:latin typeface="Arial" panose="020B0604020202020204" pitchFamily="34" charset="0"/>
                <a:ea typeface="幼圆" panose="02010509060101010101" pitchFamily="49" charset="-122"/>
                <a:cs typeface="Arial" panose="020B0604020202020204" pitchFamily="34" charset="0"/>
              </a:rPr>
              <a:t>s+r</a:t>
            </a:r>
            <a:r>
              <a:rPr lang="en-US" altLang="zh-CN" sz="2400" dirty="0">
                <a:latin typeface="Arial" panose="020B0604020202020204" pitchFamily="34" charset="0"/>
                <a:ea typeface="幼圆" panose="02010509060101010101" pitchFamily="49" charset="-122"/>
                <a:cs typeface="Arial" panose="020B0604020202020204" pitchFamily="34" charset="0"/>
              </a:rPr>
              <a:t> ≥ M</a:t>
            </a:r>
          </a:p>
        </p:txBody>
      </p:sp>
      <p:sp>
        <p:nvSpPr>
          <p:cNvPr id="12" name="矩形 11"/>
          <p:cNvSpPr/>
          <p:nvPr/>
        </p:nvSpPr>
        <p:spPr>
          <a:xfrm>
            <a:off x="700804" y="1849314"/>
            <a:ext cx="832279" cy="400110"/>
          </a:xfrm>
          <a:prstGeom prst="rect">
            <a:avLst/>
          </a:prstGeom>
          <a:noFill/>
        </p:spPr>
        <p:txBody>
          <a:bodyPr wrap="none">
            <a:spAutoFit/>
          </a:bodyPr>
          <a:lstStyle/>
          <a:p>
            <a:r>
              <a:rPr kumimoji="1" lang="en-US" altLang="zh-CN" sz="2000" dirty="0">
                <a:latin typeface="Arial" panose="020B0604020202020204" pitchFamily="34" charset="0"/>
                <a:cs typeface="Arial" panose="020B0604020202020204" pitchFamily="34" charset="0"/>
              </a:rPr>
              <a:t>M=30</a:t>
            </a:r>
            <a:endParaRPr lang="zh-CN" altLang="en-US" sz="2000" dirty="0">
              <a:latin typeface="Arial" panose="020B0604020202020204" pitchFamily="34" charset="0"/>
              <a:cs typeface="Arial" panose="020B0604020202020204" pitchFamily="34" charset="0"/>
            </a:endParaRPr>
          </a:p>
        </p:txBody>
      </p:sp>
      <p:sp>
        <p:nvSpPr>
          <p:cNvPr id="67" name="文本框 66"/>
          <p:cNvSpPr txBox="1"/>
          <p:nvPr/>
        </p:nvSpPr>
        <p:spPr>
          <a:xfrm>
            <a:off x="6420813" y="1825399"/>
            <a:ext cx="790509" cy="400110"/>
          </a:xfrm>
          <a:prstGeom prst="rect">
            <a:avLst/>
          </a:prstGeom>
          <a:noFill/>
        </p:spPr>
        <p:txBody>
          <a:bodyPr wrap="square" rtlCol="0">
            <a:spAutoFit/>
          </a:bodyPr>
          <a:lstStyle/>
          <a:p>
            <a:r>
              <a:rPr lang="en-US" altLang="zh-CN" sz="2000" dirty="0">
                <a:latin typeface="Arial" panose="020B0604020202020204" pitchFamily="34" charset="0"/>
                <a:ea typeface="幼圆" panose="02010509060101010101" pitchFamily="49" charset="-122"/>
                <a:cs typeface="Arial" panose="020B0604020202020204" pitchFamily="34" charset="0"/>
              </a:rPr>
              <a:t>k=1</a:t>
            </a:r>
            <a:endParaRPr lang="zh-CN" altLang="en-US" sz="2000" dirty="0">
              <a:latin typeface="Arial" panose="020B0604020202020204" pitchFamily="34" charset="0"/>
              <a:ea typeface="幼圆" panose="02010509060101010101" pitchFamily="49" charset="-122"/>
              <a:cs typeface="Arial" panose="020B0604020202020204" pitchFamily="34" charset="0"/>
            </a:endParaRPr>
          </a:p>
        </p:txBody>
      </p:sp>
      <p:sp>
        <p:nvSpPr>
          <p:cNvPr id="68" name="文本框 67"/>
          <p:cNvSpPr txBox="1"/>
          <p:nvPr/>
        </p:nvSpPr>
        <p:spPr>
          <a:xfrm>
            <a:off x="6466707" y="2556773"/>
            <a:ext cx="790509" cy="400110"/>
          </a:xfrm>
          <a:prstGeom prst="rect">
            <a:avLst/>
          </a:prstGeom>
          <a:noFill/>
        </p:spPr>
        <p:txBody>
          <a:bodyPr wrap="square" rtlCol="0">
            <a:spAutoFit/>
          </a:bodyPr>
          <a:lstStyle/>
          <a:p>
            <a:r>
              <a:rPr lang="en-US" altLang="zh-CN" sz="2000" dirty="0">
                <a:latin typeface="Arial" panose="020B0604020202020204" pitchFamily="34" charset="0"/>
                <a:ea typeface="幼圆" panose="02010509060101010101" pitchFamily="49" charset="-122"/>
                <a:cs typeface="Arial" panose="020B0604020202020204" pitchFamily="34" charset="0"/>
              </a:rPr>
              <a:t>k=2</a:t>
            </a:r>
            <a:endParaRPr lang="zh-CN" altLang="en-US" sz="2000" dirty="0">
              <a:latin typeface="Arial" panose="020B0604020202020204" pitchFamily="34" charset="0"/>
              <a:ea typeface="幼圆" panose="02010509060101010101" pitchFamily="49" charset="-122"/>
              <a:cs typeface="Arial" panose="020B0604020202020204" pitchFamily="34" charset="0"/>
            </a:endParaRPr>
          </a:p>
        </p:txBody>
      </p:sp>
      <p:sp>
        <p:nvSpPr>
          <p:cNvPr id="71" name="文本框 70"/>
          <p:cNvSpPr txBox="1"/>
          <p:nvPr/>
        </p:nvSpPr>
        <p:spPr>
          <a:xfrm>
            <a:off x="6488875" y="3324033"/>
            <a:ext cx="655563" cy="400110"/>
          </a:xfrm>
          <a:prstGeom prst="rect">
            <a:avLst/>
          </a:prstGeom>
          <a:noFill/>
        </p:spPr>
        <p:txBody>
          <a:bodyPr wrap="square" rtlCol="0">
            <a:spAutoFit/>
          </a:bodyPr>
          <a:lstStyle/>
          <a:p>
            <a:r>
              <a:rPr lang="en-US" altLang="zh-CN" sz="2000" dirty="0">
                <a:latin typeface="Arial" panose="020B0604020202020204" pitchFamily="34" charset="0"/>
                <a:ea typeface="幼圆" panose="02010509060101010101" pitchFamily="49" charset="-122"/>
                <a:cs typeface="Arial" panose="020B0604020202020204" pitchFamily="34" charset="0"/>
              </a:rPr>
              <a:t>k=3</a:t>
            </a:r>
            <a:endParaRPr lang="zh-CN" altLang="en-US" sz="2000" dirty="0">
              <a:latin typeface="Arial" panose="020B0604020202020204" pitchFamily="34" charset="0"/>
              <a:ea typeface="幼圆" panose="02010509060101010101" pitchFamily="49" charset="-122"/>
              <a:cs typeface="Arial" panose="020B0604020202020204" pitchFamily="34" charset="0"/>
            </a:endParaRPr>
          </a:p>
        </p:txBody>
      </p:sp>
      <p:sp>
        <p:nvSpPr>
          <p:cNvPr id="72" name="文本框 71"/>
          <p:cNvSpPr txBox="1"/>
          <p:nvPr/>
        </p:nvSpPr>
        <p:spPr>
          <a:xfrm>
            <a:off x="6535770" y="4185644"/>
            <a:ext cx="655563" cy="400110"/>
          </a:xfrm>
          <a:prstGeom prst="rect">
            <a:avLst/>
          </a:prstGeom>
          <a:noFill/>
        </p:spPr>
        <p:txBody>
          <a:bodyPr wrap="square" rtlCol="0">
            <a:spAutoFit/>
          </a:bodyPr>
          <a:lstStyle/>
          <a:p>
            <a:r>
              <a:rPr lang="en-US" altLang="zh-CN" sz="2000" dirty="0">
                <a:latin typeface="Arial" panose="020B0604020202020204" pitchFamily="34" charset="0"/>
                <a:ea typeface="幼圆" panose="02010509060101010101" pitchFamily="49" charset="-122"/>
                <a:cs typeface="Arial" panose="020B0604020202020204" pitchFamily="34" charset="0"/>
              </a:rPr>
              <a:t>k=4</a:t>
            </a:r>
            <a:endParaRPr lang="zh-CN" altLang="en-US" sz="2000" dirty="0">
              <a:latin typeface="Arial" panose="020B0604020202020204" pitchFamily="34" charset="0"/>
              <a:ea typeface="幼圆" panose="02010509060101010101" pitchFamily="49" charset="-122"/>
              <a:cs typeface="Arial" panose="020B0604020202020204" pitchFamily="34" charset="0"/>
            </a:endParaRPr>
          </a:p>
        </p:txBody>
      </p:sp>
      <p:sp>
        <p:nvSpPr>
          <p:cNvPr id="82" name="文本框 81"/>
          <p:cNvSpPr txBox="1"/>
          <p:nvPr/>
        </p:nvSpPr>
        <p:spPr>
          <a:xfrm>
            <a:off x="6572026" y="4838999"/>
            <a:ext cx="655563" cy="400110"/>
          </a:xfrm>
          <a:prstGeom prst="rect">
            <a:avLst/>
          </a:prstGeom>
          <a:noFill/>
        </p:spPr>
        <p:txBody>
          <a:bodyPr wrap="square" rtlCol="0">
            <a:spAutoFit/>
          </a:bodyPr>
          <a:lstStyle/>
          <a:p>
            <a:r>
              <a:rPr lang="en-US" altLang="zh-CN" sz="2000" dirty="0">
                <a:latin typeface="Arial" panose="020B0604020202020204" pitchFamily="34" charset="0"/>
                <a:ea typeface="幼圆" panose="02010509060101010101" pitchFamily="49" charset="-122"/>
                <a:cs typeface="Arial" panose="020B0604020202020204" pitchFamily="34" charset="0"/>
              </a:rPr>
              <a:t>k=5</a:t>
            </a:r>
            <a:endParaRPr lang="zh-CN" altLang="en-US" sz="2000" dirty="0">
              <a:latin typeface="Arial" panose="020B0604020202020204" pitchFamily="34" charset="0"/>
              <a:ea typeface="幼圆" panose="02010509060101010101" pitchFamily="49" charset="-122"/>
              <a:cs typeface="Arial" panose="020B0604020202020204" pitchFamily="34" charset="0"/>
            </a:endParaRPr>
          </a:p>
        </p:txBody>
      </p:sp>
      <p:sp>
        <p:nvSpPr>
          <p:cNvPr id="15" name="圆角矩形标注 14"/>
          <p:cNvSpPr/>
          <p:nvPr/>
        </p:nvSpPr>
        <p:spPr>
          <a:xfrm>
            <a:off x="5838487" y="3704457"/>
            <a:ext cx="1645729" cy="454991"/>
          </a:xfrm>
          <a:prstGeom prst="wedgeRoundRectCallout">
            <a:avLst>
              <a:gd name="adj1" fmla="val 56888"/>
              <a:gd name="adj2" fmla="val -44983"/>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ysClr val="windowText" lastClr="000000"/>
                </a:solidFill>
                <a:latin typeface="Arial" panose="020B0604020202020204" pitchFamily="34" charset="0"/>
                <a:cs typeface="Arial" panose="020B0604020202020204" pitchFamily="34" charset="0"/>
              </a:rPr>
              <a:t>22+w</a:t>
            </a:r>
            <a:r>
              <a:rPr lang="en-US" altLang="zh-CN" sz="2400" baseline="-25000" dirty="0">
                <a:solidFill>
                  <a:sysClr val="windowText" lastClr="000000"/>
                </a:solidFill>
                <a:latin typeface="Arial" panose="020B0604020202020204" pitchFamily="34" charset="0"/>
                <a:cs typeface="Arial" panose="020B0604020202020204" pitchFamily="34" charset="0"/>
              </a:rPr>
              <a:t>4</a:t>
            </a:r>
            <a:r>
              <a:rPr lang="en-US" altLang="zh-CN" sz="2400" dirty="0">
                <a:solidFill>
                  <a:sysClr val="windowText" lastClr="000000"/>
                </a:solidFill>
                <a:latin typeface="Arial" panose="020B0604020202020204" pitchFamily="34" charset="0"/>
                <a:cs typeface="Arial" panose="020B0604020202020204" pitchFamily="34" charset="0"/>
              </a:rPr>
              <a:t>&gt;30</a:t>
            </a:r>
            <a:endParaRPr lang="zh-CN" altLang="en-US" sz="2400" dirty="0">
              <a:solidFill>
                <a:sysClr val="windowText" lastClr="000000"/>
              </a:solidFill>
              <a:latin typeface="Arial" panose="020B0604020202020204" pitchFamily="34" charset="0"/>
              <a:cs typeface="Arial" panose="020B0604020202020204" pitchFamily="34" charset="0"/>
            </a:endParaRPr>
          </a:p>
        </p:txBody>
      </p:sp>
      <p:sp>
        <p:nvSpPr>
          <p:cNvPr id="83" name="圆角矩形标注 82"/>
          <p:cNvSpPr/>
          <p:nvPr/>
        </p:nvSpPr>
        <p:spPr>
          <a:xfrm>
            <a:off x="9054893" y="5498862"/>
            <a:ext cx="1646335" cy="450418"/>
          </a:xfrm>
          <a:prstGeom prst="wedgeRoundRectCallout">
            <a:avLst>
              <a:gd name="adj1" fmla="val 44605"/>
              <a:gd name="adj2" fmla="val -85975"/>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ysClr val="windowText" lastClr="000000"/>
                </a:solidFill>
                <a:latin typeface="Arial" panose="020B0604020202020204" pitchFamily="34" charset="0"/>
                <a:cs typeface="Arial" panose="020B0604020202020204" pitchFamily="34" charset="0"/>
              </a:rPr>
              <a:t>10+18&lt;30</a:t>
            </a:r>
            <a:endParaRPr lang="zh-CN" altLang="en-US" sz="2400" dirty="0">
              <a:solidFill>
                <a:sysClr val="windowText" lastClr="000000"/>
              </a:solidFill>
              <a:latin typeface="Arial" panose="020B0604020202020204" pitchFamily="34" charset="0"/>
              <a:cs typeface="Arial" panose="020B0604020202020204" pitchFamily="34" charset="0"/>
            </a:endParaRPr>
          </a:p>
        </p:txBody>
      </p:sp>
      <p:sp>
        <p:nvSpPr>
          <p:cNvPr id="84" name="灯片编号占位符 3"/>
          <p:cNvSpPr txBox="1">
            <a:spLocks/>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04713B0-7EE7-420A-BB22-6F99F562E080}" type="slidenum">
              <a:rPr lang="en-US" altLang="zh-CN" smtClean="0"/>
              <a:pPr>
                <a:defRPr/>
              </a:pPr>
              <a:t>49</a:t>
            </a:fld>
            <a:endParaRPr lang="en-US" altLang="zh-CN" dirty="0"/>
          </a:p>
        </p:txBody>
      </p:sp>
    </p:spTree>
    <p:extLst>
      <p:ext uri="{BB962C8B-B14F-4D97-AF65-F5344CB8AC3E}">
        <p14:creationId xmlns:p14="http://schemas.microsoft.com/office/powerpoint/2010/main" val="2078179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dirty="0"/>
              <a:t>实例运行结果</a:t>
            </a:r>
          </a:p>
        </p:txBody>
      </p:sp>
      <p:sp>
        <p:nvSpPr>
          <p:cNvPr id="52227" name="内容占位符 2"/>
          <p:cNvSpPr>
            <a:spLocks noGrp="1"/>
          </p:cNvSpPr>
          <p:nvPr>
            <p:ph idx="1"/>
          </p:nvPr>
        </p:nvSpPr>
        <p:spPr/>
        <p:txBody>
          <a:bodyPr/>
          <a:lstStyle/>
          <a:p>
            <a:r>
              <a:rPr lang="en-US" altLang="zh-CN" dirty="0"/>
              <a:t>n=6,M=30,W=(5,10,12,13,15,18)</a:t>
            </a:r>
          </a:p>
          <a:p>
            <a:r>
              <a:rPr lang="zh-CN" altLang="en-US" dirty="0"/>
              <a:t>使用约束函数前，状态空间树中所有结点都会被访问到，叶结点</a:t>
            </a:r>
            <a:r>
              <a:rPr lang="en-US" altLang="zh-CN" dirty="0"/>
              <a:t>(</a:t>
            </a:r>
            <a:r>
              <a:rPr lang="zh-CN" altLang="en-US" dirty="0"/>
              <a:t>解状态</a:t>
            </a:r>
            <a:r>
              <a:rPr lang="en-US" altLang="zh-CN" dirty="0"/>
              <a:t>)</a:t>
            </a:r>
            <a:r>
              <a:rPr lang="zh-CN" altLang="en-US" dirty="0"/>
              <a:t>个数为</a:t>
            </a:r>
            <a:r>
              <a:rPr lang="en-US" altLang="zh-CN" dirty="0"/>
              <a:t>2</a:t>
            </a:r>
            <a:r>
              <a:rPr lang="en-US" altLang="zh-CN" baseline="30000" dirty="0"/>
              <a:t>6</a:t>
            </a:r>
            <a:r>
              <a:rPr lang="en-US" altLang="zh-CN" dirty="0"/>
              <a:t>=64</a:t>
            </a:r>
            <a:r>
              <a:rPr lang="zh-CN" altLang="en-US" dirty="0"/>
              <a:t>个，部分解结点</a:t>
            </a:r>
            <a:r>
              <a:rPr lang="en-US" altLang="zh-CN" dirty="0"/>
              <a:t>63</a:t>
            </a:r>
            <a:r>
              <a:rPr lang="zh-CN" altLang="en-US" dirty="0"/>
              <a:t>个。</a:t>
            </a:r>
            <a:endParaRPr lang="en-US" altLang="zh-CN" dirty="0"/>
          </a:p>
          <a:p>
            <a:r>
              <a:rPr lang="zh-CN" altLang="en-US" dirty="0"/>
              <a:t>使用约束函数后，动态树一共生成</a:t>
            </a:r>
            <a:r>
              <a:rPr lang="en-US" altLang="zh-CN" dirty="0"/>
              <a:t>26</a:t>
            </a:r>
            <a:r>
              <a:rPr lang="zh-CN" altLang="en-US" dirty="0"/>
              <a:t>个结点，寻找</a:t>
            </a:r>
            <a:r>
              <a:rPr lang="en-US" altLang="zh-CN" dirty="0"/>
              <a:t>/</a:t>
            </a:r>
            <a:r>
              <a:rPr lang="zh-CN" altLang="en-US" dirty="0"/>
              <a:t>提前寻找到</a:t>
            </a:r>
            <a:r>
              <a:rPr lang="en-US" altLang="zh-CN" dirty="0"/>
              <a:t>3</a:t>
            </a:r>
            <a:r>
              <a:rPr lang="zh-CN" altLang="en-US" dirty="0"/>
              <a:t>个答案结点</a:t>
            </a:r>
          </a:p>
        </p:txBody>
      </p:sp>
      <p:sp>
        <p:nvSpPr>
          <p:cNvPr id="5" name="圆角矩形标注 4"/>
          <p:cNvSpPr/>
          <p:nvPr/>
        </p:nvSpPr>
        <p:spPr>
          <a:xfrm>
            <a:off x="5159896" y="4365104"/>
            <a:ext cx="2448272" cy="504056"/>
          </a:xfrm>
          <a:prstGeom prst="wedgeRoundRectCallout">
            <a:avLst>
              <a:gd name="adj1" fmla="val -46623"/>
              <a:gd name="adj2" fmla="val -97252"/>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kumimoji="1"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和估计结果接近</a:t>
            </a:r>
          </a:p>
        </p:txBody>
      </p:sp>
      <p:sp>
        <p:nvSpPr>
          <p:cNvPr id="6"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50</a:t>
            </a:fld>
            <a:endParaRPr lang="en-US" altLang="zh-CN" dirty="0"/>
          </a:p>
        </p:txBody>
      </p:sp>
    </p:spTree>
    <p:extLst>
      <p:ext uri="{BB962C8B-B14F-4D97-AF65-F5344CB8AC3E}">
        <p14:creationId xmlns:p14="http://schemas.microsoft.com/office/powerpoint/2010/main" val="273825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en-US" altLang="zh-CN" dirty="0"/>
              <a:t>7.5 </a:t>
            </a:r>
            <a:r>
              <a:rPr lang="zh-CN" altLang="en-US" dirty="0"/>
              <a:t>图着色问题</a:t>
            </a:r>
          </a:p>
        </p:txBody>
      </p:sp>
      <p:sp>
        <p:nvSpPr>
          <p:cNvPr id="53251" name="内容占位符 2"/>
          <p:cNvSpPr>
            <a:spLocks noGrp="1"/>
          </p:cNvSpPr>
          <p:nvPr>
            <p:ph idx="1"/>
          </p:nvPr>
        </p:nvSpPr>
        <p:spPr>
          <a:xfrm>
            <a:off x="838200" y="1825625"/>
            <a:ext cx="10515600" cy="3115543"/>
          </a:xfrm>
        </p:spPr>
        <p:txBody>
          <a:bodyPr/>
          <a:lstStyle/>
          <a:p>
            <a:pPr>
              <a:spcBef>
                <a:spcPts val="0"/>
              </a:spcBef>
            </a:pPr>
            <a:r>
              <a:rPr lang="zh-CN" altLang="en-US" dirty="0"/>
              <a:t>问题描述</a:t>
            </a:r>
            <a:endParaRPr lang="en-US" altLang="zh-CN" dirty="0"/>
          </a:p>
          <a:p>
            <a:pPr>
              <a:spcBef>
                <a:spcPts val="0"/>
              </a:spcBef>
            </a:pPr>
            <a:r>
              <a:rPr lang="zh-CN" altLang="en-US" dirty="0"/>
              <a:t>图的</a:t>
            </a:r>
            <a:r>
              <a:rPr lang="en-US" altLang="zh-CN" dirty="0"/>
              <a:t>m-</a:t>
            </a:r>
            <a:r>
              <a:rPr lang="zh-CN" altLang="en-US" dirty="0"/>
              <a:t>着色判定问题</a:t>
            </a:r>
            <a:endParaRPr lang="en-US" altLang="zh-CN" dirty="0"/>
          </a:p>
          <a:p>
            <a:pPr>
              <a:spcBef>
                <a:spcPts val="0"/>
              </a:spcBef>
            </a:pPr>
            <a:r>
              <a:rPr lang="zh-CN" altLang="en-US" dirty="0"/>
              <a:t>解空间树</a:t>
            </a:r>
            <a:endParaRPr lang="en-US" altLang="zh-CN" dirty="0"/>
          </a:p>
          <a:p>
            <a:pPr>
              <a:spcBef>
                <a:spcPts val="0"/>
              </a:spcBef>
            </a:pPr>
            <a:r>
              <a:rPr lang="zh-CN" altLang="en-US" dirty="0"/>
              <a:t>算法</a:t>
            </a:r>
            <a:r>
              <a:rPr lang="en-US" altLang="zh-CN" dirty="0"/>
              <a:t>7.7 </a:t>
            </a:r>
            <a:r>
              <a:rPr lang="zh-CN" altLang="en-US" dirty="0"/>
              <a:t>约束函数</a:t>
            </a:r>
            <a:endParaRPr lang="en-US" altLang="zh-CN" dirty="0"/>
          </a:p>
          <a:p>
            <a:pPr>
              <a:spcBef>
                <a:spcPts val="0"/>
              </a:spcBef>
            </a:pPr>
            <a:r>
              <a:rPr lang="zh-CN" altLang="en-US" dirty="0"/>
              <a:t>算法</a:t>
            </a:r>
            <a:r>
              <a:rPr lang="en-US" altLang="zh-CN" dirty="0"/>
              <a:t>7.8 </a:t>
            </a:r>
            <a:r>
              <a:rPr lang="zh-CN" altLang="en-US" dirty="0"/>
              <a:t>图着色判定问题的回溯算法</a:t>
            </a:r>
            <a:endParaRPr lang="en-US" altLang="zh-CN" dirty="0"/>
          </a:p>
          <a:p>
            <a:pPr>
              <a:spcBef>
                <a:spcPts val="0"/>
              </a:spcBef>
            </a:pPr>
            <a:r>
              <a:rPr lang="zh-CN" altLang="en-US" dirty="0"/>
              <a:t>实例分析</a:t>
            </a:r>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51</a:t>
            </a:fld>
            <a:endParaRPr lang="en-US" altLang="zh-CN" dirty="0"/>
          </a:p>
        </p:txBody>
      </p:sp>
    </p:spTree>
    <p:extLst>
      <p:ext uri="{BB962C8B-B14F-4D97-AF65-F5344CB8AC3E}">
        <p14:creationId xmlns:p14="http://schemas.microsoft.com/office/powerpoint/2010/main" val="13203365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826767" y="260648"/>
            <a:ext cx="10515600" cy="1325563"/>
          </a:xfrm>
        </p:spPr>
        <p:txBody>
          <a:bodyPr/>
          <a:lstStyle/>
          <a:p>
            <a:r>
              <a:rPr lang="zh-CN" altLang="en-US" dirty="0"/>
              <a:t>问题描述</a:t>
            </a:r>
          </a:p>
        </p:txBody>
      </p:sp>
      <p:sp>
        <p:nvSpPr>
          <p:cNvPr id="54275" name="内容占位符 2"/>
          <p:cNvSpPr>
            <a:spLocks noGrp="1"/>
          </p:cNvSpPr>
          <p:nvPr>
            <p:ph idx="1"/>
          </p:nvPr>
        </p:nvSpPr>
        <p:spPr>
          <a:xfrm>
            <a:off x="838200" y="1690688"/>
            <a:ext cx="10370368" cy="3886200"/>
          </a:xfrm>
        </p:spPr>
        <p:txBody>
          <a:bodyPr/>
          <a:lstStyle/>
          <a:p>
            <a:r>
              <a:rPr lang="zh-CN" altLang="en-US" dirty="0"/>
              <a:t>图着色问题</a:t>
            </a:r>
            <a:r>
              <a:rPr lang="en-US" altLang="zh-CN" dirty="0"/>
              <a:t>(Graph Coloring Problem, GCP)</a:t>
            </a:r>
            <a:r>
              <a:rPr lang="en-US" dirty="0"/>
              <a:t>　</a:t>
            </a:r>
            <a:r>
              <a:rPr lang="zh-CN" altLang="en-US" dirty="0"/>
              <a:t>又称着色问题，是最著名的</a:t>
            </a:r>
            <a:r>
              <a:rPr lang="en-US" altLang="zh-CN" dirty="0"/>
              <a:t>NP-</a:t>
            </a:r>
            <a:r>
              <a:rPr lang="zh-CN" altLang="en-US" dirty="0"/>
              <a:t>完全问题之一。</a:t>
            </a:r>
            <a:endParaRPr lang="en-US" altLang="zh-CN" dirty="0"/>
          </a:p>
          <a:p>
            <a:r>
              <a:rPr lang="zh-CN" altLang="en-US" dirty="0"/>
              <a:t>数学定义：给定无向连通图</a:t>
            </a:r>
            <a:r>
              <a:rPr lang="en-US" altLang="zh-CN" dirty="0"/>
              <a:t>G=(V,E)</a:t>
            </a:r>
            <a:r>
              <a:rPr lang="zh-CN" altLang="en-US" dirty="0"/>
              <a:t>，其中</a:t>
            </a:r>
            <a:r>
              <a:rPr lang="en-US" altLang="zh-CN" dirty="0"/>
              <a:t>V</a:t>
            </a:r>
            <a:r>
              <a:rPr lang="zh-CN" altLang="en-US" dirty="0"/>
              <a:t>为顶点集合，</a:t>
            </a:r>
            <a:r>
              <a:rPr lang="en-US" altLang="zh-CN" dirty="0"/>
              <a:t>E</a:t>
            </a:r>
            <a:r>
              <a:rPr lang="zh-CN" altLang="en-US" dirty="0"/>
              <a:t>为边集合，用不同的颜色给图中顶点着色，要求任何两个相邻顶点的着色不同。</a:t>
            </a:r>
            <a:endParaRPr lang="en-US" altLang="zh-CN" dirty="0"/>
          </a:p>
          <a:p>
            <a:r>
              <a:rPr lang="zh-CN" altLang="en-US" dirty="0"/>
              <a:t>问：最少需要多少种颜色？</a:t>
            </a:r>
          </a:p>
        </p:txBody>
      </p:sp>
      <p:sp>
        <p:nvSpPr>
          <p:cNvPr id="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52</a:t>
            </a:fld>
            <a:endParaRPr lang="en-US" altLang="zh-CN" dirty="0"/>
          </a:p>
        </p:txBody>
      </p:sp>
    </p:spTree>
    <p:extLst>
      <p:ext uri="{BB962C8B-B14F-4D97-AF65-F5344CB8AC3E}">
        <p14:creationId xmlns:p14="http://schemas.microsoft.com/office/powerpoint/2010/main" val="18360996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767408" y="260648"/>
            <a:ext cx="10515600" cy="1325563"/>
          </a:xfrm>
        </p:spPr>
        <p:txBody>
          <a:bodyPr/>
          <a:lstStyle/>
          <a:p>
            <a:r>
              <a:rPr lang="zh-CN" altLang="en-US" dirty="0"/>
              <a:t>图的</a:t>
            </a:r>
            <a:r>
              <a:rPr lang="en-US" altLang="zh-CN" dirty="0"/>
              <a:t>m-</a:t>
            </a:r>
            <a:r>
              <a:rPr lang="zh-CN" altLang="en-US" dirty="0"/>
              <a:t>着色判定问题</a:t>
            </a:r>
          </a:p>
        </p:txBody>
      </p:sp>
      <p:sp>
        <p:nvSpPr>
          <p:cNvPr id="55299" name="内容占位符 2"/>
          <p:cNvSpPr>
            <a:spLocks noGrp="1"/>
          </p:cNvSpPr>
          <p:nvPr>
            <p:ph idx="1"/>
          </p:nvPr>
        </p:nvSpPr>
        <p:spPr>
          <a:xfrm>
            <a:off x="839416" y="1484784"/>
            <a:ext cx="10443592" cy="3886200"/>
          </a:xfrm>
        </p:spPr>
        <p:txBody>
          <a:bodyPr/>
          <a:lstStyle/>
          <a:p>
            <a:r>
              <a:rPr lang="zh-CN" altLang="en-US" dirty="0"/>
              <a:t>给定无向连通图</a:t>
            </a:r>
            <a:r>
              <a:rPr lang="en-US" altLang="zh-CN" dirty="0"/>
              <a:t>G=(V,E)</a:t>
            </a:r>
            <a:r>
              <a:rPr lang="zh-CN" altLang="en-US" dirty="0"/>
              <a:t>，其中</a:t>
            </a:r>
            <a:r>
              <a:rPr lang="en-US" altLang="zh-CN" dirty="0"/>
              <a:t>V</a:t>
            </a:r>
            <a:r>
              <a:rPr lang="zh-CN" altLang="en-US" dirty="0"/>
              <a:t>为顶点集合，</a:t>
            </a:r>
            <a:r>
              <a:rPr lang="en-US" altLang="zh-CN" dirty="0"/>
              <a:t>E</a:t>
            </a:r>
            <a:r>
              <a:rPr lang="zh-CN" altLang="en-US" dirty="0"/>
              <a:t>为边集合，用</a:t>
            </a:r>
            <a:r>
              <a:rPr lang="en-US" altLang="zh-CN" dirty="0"/>
              <a:t>m</a:t>
            </a:r>
            <a:r>
              <a:rPr lang="zh-CN" altLang="en-US" dirty="0"/>
              <a:t>种不同颜色给图中顶点着色，问：是否存在任何两个相邻顶点颜色不同的着色方案？</a:t>
            </a:r>
            <a:endParaRPr lang="en-US" altLang="zh-CN" dirty="0"/>
          </a:p>
          <a:p>
            <a:r>
              <a:rPr lang="zh-CN" altLang="en-US" dirty="0"/>
              <a:t>本节用回溯来解决图的</a:t>
            </a:r>
            <a:r>
              <a:rPr lang="en-US" altLang="zh-CN" dirty="0"/>
              <a:t>m</a:t>
            </a:r>
            <a:r>
              <a:rPr lang="zh-CN" altLang="en-US" dirty="0"/>
              <a:t>着色判定问题，如果判定答案为“是”，要求给出着色方案。</a:t>
            </a:r>
          </a:p>
        </p:txBody>
      </p:sp>
      <p:sp>
        <p:nvSpPr>
          <p:cNvPr id="5"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53</a:t>
            </a:fld>
            <a:endParaRPr lang="en-US" altLang="zh-CN" dirty="0"/>
          </a:p>
        </p:txBody>
      </p:sp>
      <p:grpSp>
        <p:nvGrpSpPr>
          <p:cNvPr id="24" name="组合 23"/>
          <p:cNvGrpSpPr/>
          <p:nvPr/>
        </p:nvGrpSpPr>
        <p:grpSpPr>
          <a:xfrm>
            <a:off x="2423592" y="4361756"/>
            <a:ext cx="3093912" cy="1443508"/>
            <a:chOff x="2423592" y="4217740"/>
            <a:chExt cx="3093912" cy="1443508"/>
          </a:xfrm>
        </p:grpSpPr>
        <p:sp>
          <p:nvSpPr>
            <p:cNvPr id="2" name="矩形 1"/>
            <p:cNvSpPr/>
            <p:nvPr/>
          </p:nvSpPr>
          <p:spPr>
            <a:xfrm>
              <a:off x="2423592" y="4221088"/>
              <a:ext cx="2088232" cy="864096"/>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4</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7" name="矩形 6"/>
            <p:cNvSpPr/>
            <p:nvPr/>
          </p:nvSpPr>
          <p:spPr>
            <a:xfrm>
              <a:off x="2423592" y="5081836"/>
              <a:ext cx="2736304" cy="579412"/>
            </a:xfrm>
            <a:prstGeom prst="rect">
              <a:avLst/>
            </a:prstGeom>
            <a:solidFill>
              <a:schemeClr val="accent3">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latin typeface="Arial" panose="020B0604020202020204" pitchFamily="34" charset="0"/>
                  <a:cs typeface="Arial" panose="020B0604020202020204" pitchFamily="34" charset="0"/>
                </a:rPr>
                <a:t>    3     </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8" name="矩形 7"/>
            <p:cNvSpPr/>
            <p:nvPr/>
          </p:nvSpPr>
          <p:spPr>
            <a:xfrm>
              <a:off x="4511824" y="4217740"/>
              <a:ext cx="1005680" cy="86409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5</a:t>
              </a:r>
            </a:p>
            <a:p>
              <a:pPr algn="ctr"/>
              <a:endParaRPr lang="zh-CN" altLang="en-US" sz="2400" dirty="0">
                <a:solidFill>
                  <a:schemeClr val="tx1"/>
                </a:solidFill>
                <a:latin typeface="Arial" panose="020B0604020202020204" pitchFamily="34" charset="0"/>
                <a:cs typeface="Arial" panose="020B0604020202020204" pitchFamily="34" charset="0"/>
              </a:endParaRPr>
            </a:p>
          </p:txBody>
        </p:sp>
        <p:sp>
          <p:nvSpPr>
            <p:cNvPr id="9" name="矩形 8"/>
            <p:cNvSpPr/>
            <p:nvPr/>
          </p:nvSpPr>
          <p:spPr>
            <a:xfrm>
              <a:off x="3647728" y="4653136"/>
              <a:ext cx="1512168" cy="435396"/>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           2</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10" name="矩形 9"/>
            <p:cNvSpPr/>
            <p:nvPr/>
          </p:nvSpPr>
          <p:spPr>
            <a:xfrm>
              <a:off x="3647728" y="4827384"/>
              <a:ext cx="864096" cy="473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1</a:t>
              </a:r>
              <a:endParaRPr lang="zh-CN" altLang="en-US" sz="2400" dirty="0">
                <a:solidFill>
                  <a:schemeClr val="tx1"/>
                </a:solidFill>
                <a:latin typeface="Arial" panose="020B0604020202020204" pitchFamily="34" charset="0"/>
                <a:cs typeface="Arial" panose="020B0604020202020204" pitchFamily="34" charset="0"/>
              </a:endParaRPr>
            </a:p>
          </p:txBody>
        </p:sp>
      </p:grpSp>
      <p:grpSp>
        <p:nvGrpSpPr>
          <p:cNvPr id="6" name="组合 5"/>
          <p:cNvGrpSpPr/>
          <p:nvPr/>
        </p:nvGrpSpPr>
        <p:grpSpPr>
          <a:xfrm>
            <a:off x="6612516" y="3671764"/>
            <a:ext cx="1998084" cy="2244079"/>
            <a:chOff x="6834220" y="3561185"/>
            <a:chExt cx="1724664" cy="2028055"/>
          </a:xfrm>
        </p:grpSpPr>
        <p:sp>
          <p:nvSpPr>
            <p:cNvPr id="12" name="Oval 10"/>
            <p:cNvSpPr>
              <a:spLocks noChangeArrowheads="1"/>
            </p:cNvSpPr>
            <p:nvPr/>
          </p:nvSpPr>
          <p:spPr bwMode="auto">
            <a:xfrm>
              <a:off x="6834220" y="4435299"/>
              <a:ext cx="342308" cy="322998"/>
            </a:xfrm>
            <a:prstGeom prst="ellipse">
              <a:avLst/>
            </a:prstGeom>
            <a:solidFill>
              <a:schemeClr val="accent4">
                <a:lumMod val="60000"/>
                <a:lumOff val="40000"/>
              </a:schemeClr>
            </a:solidFill>
            <a:ln w="19050">
              <a:solidFill>
                <a:schemeClr val="tx1"/>
              </a:solidFill>
              <a:miter lim="800000"/>
              <a:headEnd/>
              <a:tailEnd/>
            </a:ln>
            <a:effectLst/>
          </p:spPr>
          <p:txBody>
            <a:bodyPr wrap="none" anchor="ctr"/>
            <a:lstStyle/>
            <a:p>
              <a:pPr algn="ctr"/>
              <a:r>
                <a:rPr kumimoji="1" lang="en-US" altLang="zh-CN" sz="2400" dirty="0">
                  <a:latin typeface="Arial" panose="020B0604020202020204" pitchFamily="34" charset="0"/>
                  <a:cs typeface="Arial" panose="020B0604020202020204" pitchFamily="34" charset="0"/>
                </a:rPr>
                <a:t>2</a:t>
              </a:r>
            </a:p>
          </p:txBody>
        </p:sp>
        <p:sp>
          <p:nvSpPr>
            <p:cNvPr id="13" name="Oval 16"/>
            <p:cNvSpPr>
              <a:spLocks noChangeArrowheads="1"/>
            </p:cNvSpPr>
            <p:nvPr/>
          </p:nvSpPr>
          <p:spPr bwMode="auto">
            <a:xfrm>
              <a:off x="7841924" y="4404059"/>
              <a:ext cx="342308" cy="322998"/>
            </a:xfrm>
            <a:prstGeom prst="ellipse">
              <a:avLst/>
            </a:prstGeom>
            <a:solidFill>
              <a:schemeClr val="accent3">
                <a:lumMod val="40000"/>
                <a:lumOff val="60000"/>
              </a:schemeClr>
            </a:solidFill>
            <a:ln w="19050">
              <a:solidFill>
                <a:schemeClr val="tx1"/>
              </a:solidFill>
              <a:miter lim="800000"/>
              <a:headEnd/>
              <a:tailEnd/>
            </a:ln>
            <a:effectLst/>
          </p:spPr>
          <p:txBody>
            <a:bodyPr wrap="none" anchor="ctr"/>
            <a:lstStyle/>
            <a:p>
              <a:pPr algn="ctr"/>
              <a:r>
                <a:rPr kumimoji="1" lang="en-US" altLang="zh-CN" sz="2400" dirty="0">
                  <a:latin typeface="Arial" panose="020B0604020202020204" pitchFamily="34" charset="0"/>
                  <a:cs typeface="Arial" panose="020B0604020202020204" pitchFamily="34" charset="0"/>
                </a:rPr>
                <a:t>3</a:t>
              </a:r>
            </a:p>
          </p:txBody>
        </p:sp>
        <p:sp>
          <p:nvSpPr>
            <p:cNvPr id="14" name="Line 17"/>
            <p:cNvSpPr>
              <a:spLocks noChangeShapeType="1"/>
            </p:cNvSpPr>
            <p:nvPr/>
          </p:nvSpPr>
          <p:spPr bwMode="auto">
            <a:xfrm flipV="1">
              <a:off x="7176528" y="4583799"/>
              <a:ext cx="665397" cy="12999"/>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Arial" panose="020B0604020202020204" pitchFamily="34" charset="0"/>
                <a:cs typeface="Arial" panose="020B0604020202020204" pitchFamily="34" charset="0"/>
              </a:endParaRPr>
            </a:p>
          </p:txBody>
        </p:sp>
        <p:sp>
          <p:nvSpPr>
            <p:cNvPr id="15" name="Oval 10"/>
            <p:cNvSpPr>
              <a:spLocks noChangeArrowheads="1"/>
            </p:cNvSpPr>
            <p:nvPr/>
          </p:nvSpPr>
          <p:spPr bwMode="auto">
            <a:xfrm>
              <a:off x="6863419" y="5260229"/>
              <a:ext cx="342308" cy="322998"/>
            </a:xfrm>
            <a:prstGeom prst="ellipse">
              <a:avLst/>
            </a:prstGeom>
            <a:solidFill>
              <a:schemeClr val="accent1">
                <a:lumMod val="20000"/>
                <a:lumOff val="80000"/>
              </a:schemeClr>
            </a:solidFill>
            <a:ln w="19050">
              <a:solidFill>
                <a:schemeClr val="tx1"/>
              </a:solidFill>
              <a:miter lim="800000"/>
              <a:headEnd/>
              <a:tailEnd/>
            </a:ln>
            <a:effectLst/>
          </p:spPr>
          <p:txBody>
            <a:bodyPr wrap="none" anchor="ctr"/>
            <a:lstStyle/>
            <a:p>
              <a:pPr algn="ctr"/>
              <a:r>
                <a:rPr kumimoji="1" lang="en-US" altLang="zh-CN" sz="2400" dirty="0">
                  <a:latin typeface="Arial" panose="020B0604020202020204" pitchFamily="34" charset="0"/>
                  <a:cs typeface="Arial" panose="020B0604020202020204" pitchFamily="34" charset="0"/>
                </a:rPr>
                <a:t>5</a:t>
              </a:r>
            </a:p>
          </p:txBody>
        </p:sp>
        <p:sp>
          <p:nvSpPr>
            <p:cNvPr id="16" name="Oval 16"/>
            <p:cNvSpPr>
              <a:spLocks noChangeArrowheads="1"/>
            </p:cNvSpPr>
            <p:nvPr/>
          </p:nvSpPr>
          <p:spPr bwMode="auto">
            <a:xfrm>
              <a:off x="7818755" y="5266242"/>
              <a:ext cx="342308" cy="322998"/>
            </a:xfrm>
            <a:prstGeom prst="ellipse">
              <a:avLst/>
            </a:prstGeom>
            <a:solidFill>
              <a:schemeClr val="accent6">
                <a:lumMod val="20000"/>
                <a:lumOff val="80000"/>
              </a:schemeClr>
            </a:solidFill>
            <a:ln w="19050">
              <a:solidFill>
                <a:schemeClr val="tx1"/>
              </a:solidFill>
              <a:miter lim="800000"/>
              <a:headEnd/>
              <a:tailEnd/>
            </a:ln>
            <a:effectLst/>
          </p:spPr>
          <p:txBody>
            <a:bodyPr wrap="none" anchor="ctr"/>
            <a:lstStyle/>
            <a:p>
              <a:pPr algn="ctr"/>
              <a:r>
                <a:rPr kumimoji="1" lang="en-US" altLang="zh-CN" sz="2400" dirty="0">
                  <a:latin typeface="Arial" panose="020B0604020202020204" pitchFamily="34" charset="0"/>
                  <a:cs typeface="Arial" panose="020B0604020202020204" pitchFamily="34" charset="0"/>
                </a:rPr>
                <a:t>4</a:t>
              </a:r>
            </a:p>
          </p:txBody>
        </p:sp>
        <p:sp>
          <p:nvSpPr>
            <p:cNvPr id="17" name="Line 17"/>
            <p:cNvSpPr>
              <a:spLocks noChangeShapeType="1"/>
            </p:cNvSpPr>
            <p:nvPr/>
          </p:nvSpPr>
          <p:spPr bwMode="auto">
            <a:xfrm flipH="1">
              <a:off x="7205726" y="5427740"/>
              <a:ext cx="613028" cy="2879"/>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Arial" panose="020B0604020202020204" pitchFamily="34" charset="0"/>
                <a:cs typeface="Arial" panose="020B0604020202020204" pitchFamily="34" charset="0"/>
              </a:endParaRPr>
            </a:p>
          </p:txBody>
        </p:sp>
        <p:sp>
          <p:nvSpPr>
            <p:cNvPr id="18" name="Line 17"/>
            <p:cNvSpPr>
              <a:spLocks noChangeShapeType="1"/>
            </p:cNvSpPr>
            <p:nvPr/>
          </p:nvSpPr>
          <p:spPr bwMode="auto">
            <a:xfrm>
              <a:off x="7013419" y="4758298"/>
              <a:ext cx="0" cy="507946"/>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Arial" panose="020B0604020202020204" pitchFamily="34" charset="0"/>
                <a:cs typeface="Arial" panose="020B0604020202020204" pitchFamily="34" charset="0"/>
              </a:endParaRPr>
            </a:p>
          </p:txBody>
        </p:sp>
        <p:sp>
          <p:nvSpPr>
            <p:cNvPr id="19" name="Line 17"/>
            <p:cNvSpPr>
              <a:spLocks noChangeShapeType="1"/>
            </p:cNvSpPr>
            <p:nvPr/>
          </p:nvSpPr>
          <p:spPr bwMode="auto">
            <a:xfrm flipV="1">
              <a:off x="8005987" y="4718571"/>
              <a:ext cx="0" cy="541658"/>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Arial" panose="020B0604020202020204" pitchFamily="34" charset="0"/>
                <a:cs typeface="Arial" panose="020B0604020202020204" pitchFamily="34" charset="0"/>
              </a:endParaRPr>
            </a:p>
          </p:txBody>
        </p:sp>
        <p:sp>
          <p:nvSpPr>
            <p:cNvPr id="20" name="Oval 10"/>
            <p:cNvSpPr>
              <a:spLocks noChangeArrowheads="1"/>
            </p:cNvSpPr>
            <p:nvPr/>
          </p:nvSpPr>
          <p:spPr bwMode="auto">
            <a:xfrm>
              <a:off x="7841924" y="3561185"/>
              <a:ext cx="342308" cy="322998"/>
            </a:xfrm>
            <a:prstGeom prst="ellipse">
              <a:avLst/>
            </a:prstGeom>
            <a:solidFill>
              <a:schemeClr val="accent1">
                <a:lumMod val="20000"/>
                <a:lumOff val="80000"/>
              </a:schemeClr>
            </a:solidFill>
            <a:ln w="19050">
              <a:solidFill>
                <a:schemeClr val="tx1"/>
              </a:solidFill>
              <a:miter lim="800000"/>
              <a:headEnd/>
              <a:tailEnd/>
            </a:ln>
            <a:effectLst/>
          </p:spPr>
          <p:txBody>
            <a:bodyPr wrap="none" anchor="ctr"/>
            <a:lstStyle/>
            <a:p>
              <a:pPr algn="ctr"/>
              <a:r>
                <a:rPr kumimoji="1" lang="en-US" altLang="zh-CN" sz="2400" dirty="0">
                  <a:latin typeface="Arial" panose="020B0604020202020204" pitchFamily="34" charset="0"/>
                  <a:cs typeface="Arial" panose="020B0604020202020204" pitchFamily="34" charset="0"/>
                </a:rPr>
                <a:t>1</a:t>
              </a:r>
            </a:p>
          </p:txBody>
        </p:sp>
        <p:sp>
          <p:nvSpPr>
            <p:cNvPr id="21" name="Line 17"/>
            <p:cNvSpPr>
              <a:spLocks noChangeShapeType="1"/>
            </p:cNvSpPr>
            <p:nvPr/>
          </p:nvSpPr>
          <p:spPr bwMode="auto">
            <a:xfrm flipV="1">
              <a:off x="7013419" y="3864874"/>
              <a:ext cx="882781" cy="566316"/>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Arial" panose="020B0604020202020204" pitchFamily="34" charset="0"/>
                <a:cs typeface="Arial" panose="020B0604020202020204" pitchFamily="34" charset="0"/>
              </a:endParaRPr>
            </a:p>
          </p:txBody>
        </p:sp>
        <p:sp>
          <p:nvSpPr>
            <p:cNvPr id="22" name="Line 17"/>
            <p:cNvSpPr>
              <a:spLocks noChangeShapeType="1"/>
            </p:cNvSpPr>
            <p:nvPr/>
          </p:nvSpPr>
          <p:spPr bwMode="auto">
            <a:xfrm flipH="1" flipV="1">
              <a:off x="8005033" y="3884182"/>
              <a:ext cx="954" cy="513864"/>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Arial" panose="020B0604020202020204" pitchFamily="34" charset="0"/>
                <a:cs typeface="Arial" panose="020B0604020202020204" pitchFamily="34" charset="0"/>
              </a:endParaRPr>
            </a:p>
          </p:txBody>
        </p:sp>
        <p:sp>
          <p:nvSpPr>
            <p:cNvPr id="23" name="Line 17"/>
            <p:cNvSpPr>
              <a:spLocks noChangeShapeType="1"/>
            </p:cNvSpPr>
            <p:nvPr/>
          </p:nvSpPr>
          <p:spPr bwMode="auto">
            <a:xfrm>
              <a:off x="7104112" y="4718570"/>
              <a:ext cx="767011" cy="590205"/>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Arial" panose="020B0604020202020204" pitchFamily="34" charset="0"/>
                <a:cs typeface="Arial" panose="020B0604020202020204" pitchFamily="34" charset="0"/>
              </a:endParaRPr>
            </a:p>
          </p:txBody>
        </p:sp>
        <p:sp>
          <p:nvSpPr>
            <p:cNvPr id="4" name="弧形 3"/>
            <p:cNvSpPr/>
            <p:nvPr/>
          </p:nvSpPr>
          <p:spPr>
            <a:xfrm>
              <a:off x="7661491" y="3852022"/>
              <a:ext cx="897393" cy="1577157"/>
            </a:xfrm>
            <a:prstGeom prst="arc">
              <a:avLst>
                <a:gd name="adj1" fmla="val 16200000"/>
                <a:gd name="adj2" fmla="val 511110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grpSp>
    </p:spTree>
    <p:extLst>
      <p:ext uri="{BB962C8B-B14F-4D97-AF65-F5344CB8AC3E}">
        <p14:creationId xmlns:p14="http://schemas.microsoft.com/office/powerpoint/2010/main" val="12322187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644516" y="114269"/>
            <a:ext cx="8229600" cy="1371600"/>
          </a:xfrm>
        </p:spPr>
        <p:txBody>
          <a:bodyPr/>
          <a:lstStyle/>
          <a:p>
            <a:r>
              <a:rPr lang="zh-CN" altLang="en-US" dirty="0"/>
              <a:t>解空间树</a:t>
            </a:r>
          </a:p>
        </p:txBody>
      </p:sp>
      <p:sp>
        <p:nvSpPr>
          <p:cNvPr id="56323" name="内容占位符 4"/>
          <p:cNvSpPr>
            <a:spLocks noGrp="1"/>
          </p:cNvSpPr>
          <p:nvPr>
            <p:ph idx="1"/>
          </p:nvPr>
        </p:nvSpPr>
        <p:spPr>
          <a:xfrm>
            <a:off x="752192" y="1235331"/>
            <a:ext cx="7739469" cy="2046287"/>
          </a:xfrm>
        </p:spPr>
        <p:txBody>
          <a:bodyPr>
            <a:normAutofit/>
          </a:bodyPr>
          <a:lstStyle/>
          <a:p>
            <a:pPr>
              <a:lnSpc>
                <a:spcPct val="100000"/>
              </a:lnSpc>
            </a:pPr>
            <a:r>
              <a:rPr lang="zh-CN" altLang="en-US" sz="2400" dirty="0"/>
              <a:t>考虑</a:t>
            </a:r>
            <a:r>
              <a:rPr lang="en-US" altLang="zh-CN" sz="2400" dirty="0"/>
              <a:t>n=4(4</a:t>
            </a:r>
            <a:r>
              <a:rPr lang="zh-CN" altLang="en-US" sz="2400" dirty="0"/>
              <a:t>个顶点</a:t>
            </a:r>
            <a:r>
              <a:rPr lang="en-US" altLang="zh-CN" sz="2400" dirty="0"/>
              <a:t>)</a:t>
            </a:r>
            <a:r>
              <a:rPr lang="zh-CN" altLang="en-US" sz="2400" dirty="0"/>
              <a:t>的连通图，</a:t>
            </a:r>
            <a:r>
              <a:rPr lang="en-US" altLang="zh-CN" sz="2400" dirty="0"/>
              <a:t>m=3(3</a:t>
            </a:r>
            <a:r>
              <a:rPr lang="zh-CN" altLang="en-US" sz="2400" dirty="0"/>
              <a:t>种颜色</a:t>
            </a:r>
            <a:r>
              <a:rPr lang="en-US" altLang="zh-CN" sz="2400" dirty="0"/>
              <a:t>)</a:t>
            </a:r>
          </a:p>
          <a:p>
            <a:pPr lvl="1">
              <a:lnSpc>
                <a:spcPct val="100000"/>
              </a:lnSpc>
            </a:pPr>
            <a:r>
              <a:rPr lang="en-US" altLang="zh-CN" dirty="0"/>
              <a:t>n</a:t>
            </a:r>
            <a:r>
              <a:rPr lang="zh-CN" altLang="en-US" dirty="0"/>
              <a:t>元组表示：</a:t>
            </a:r>
            <a:r>
              <a:rPr lang="en-US" altLang="zh-CN" dirty="0"/>
              <a:t>X=</a:t>
            </a:r>
            <a:r>
              <a:rPr kumimoji="1" lang="en-US" altLang="zh-CN" dirty="0"/>
              <a:t> (x</a:t>
            </a:r>
            <a:r>
              <a:rPr kumimoji="1" lang="en-US" altLang="zh-CN" baseline="-25000" dirty="0"/>
              <a:t>1</a:t>
            </a:r>
            <a:r>
              <a:rPr kumimoji="1" lang="en-US" altLang="zh-CN" dirty="0"/>
              <a:t>,..x</a:t>
            </a:r>
            <a:r>
              <a:rPr kumimoji="1" lang="en-US" altLang="zh-CN" baseline="-25000" dirty="0"/>
              <a:t>4</a:t>
            </a:r>
            <a:r>
              <a:rPr kumimoji="1" lang="en-US" altLang="zh-CN" dirty="0"/>
              <a:t>)</a:t>
            </a:r>
            <a:r>
              <a:rPr kumimoji="1" lang="zh-CN" altLang="en-US" dirty="0"/>
              <a:t>，</a:t>
            </a:r>
            <a:r>
              <a:rPr kumimoji="1" lang="en-US" altLang="zh-CN" dirty="0"/>
              <a:t> x</a:t>
            </a:r>
            <a:r>
              <a:rPr kumimoji="1" lang="en-US" altLang="zh-CN" baseline="-25000" dirty="0"/>
              <a:t>i</a:t>
            </a:r>
            <a:r>
              <a:rPr kumimoji="1" lang="zh-CN" altLang="en-US" dirty="0"/>
              <a:t>表示结点</a:t>
            </a:r>
            <a:r>
              <a:rPr kumimoji="1" lang="en-US" altLang="zh-CN" dirty="0" err="1"/>
              <a:t>i</a:t>
            </a:r>
            <a:r>
              <a:rPr kumimoji="1" lang="zh-CN" altLang="en-US" dirty="0"/>
              <a:t>的颜色。</a:t>
            </a:r>
            <a:endParaRPr kumimoji="1" lang="en-US" altLang="zh-CN" dirty="0"/>
          </a:p>
          <a:p>
            <a:pPr lvl="1">
              <a:lnSpc>
                <a:spcPct val="100000"/>
              </a:lnSpc>
            </a:pPr>
            <a:r>
              <a:rPr lang="zh-CN" altLang="en-US" dirty="0"/>
              <a:t>显式：</a:t>
            </a:r>
            <a:r>
              <a:rPr kumimoji="1" lang="en-US" altLang="zh-CN" dirty="0"/>
              <a:t> 1≤ x</a:t>
            </a:r>
            <a:r>
              <a:rPr kumimoji="1" lang="en-US" altLang="zh-CN" baseline="-25000" dirty="0"/>
              <a:t>i </a:t>
            </a:r>
            <a:r>
              <a:rPr kumimoji="1" lang="en-US" altLang="zh-CN" dirty="0"/>
              <a:t>≤3</a:t>
            </a:r>
            <a:r>
              <a:rPr kumimoji="1" lang="zh-CN" altLang="en-US" dirty="0"/>
              <a:t>。</a:t>
            </a:r>
            <a:endParaRPr kumimoji="1" lang="en-US" altLang="zh-CN" dirty="0"/>
          </a:p>
          <a:p>
            <a:pPr lvl="1">
              <a:lnSpc>
                <a:spcPct val="100000"/>
              </a:lnSpc>
            </a:pPr>
            <a:r>
              <a:rPr kumimoji="1" lang="zh-CN" altLang="en-US" dirty="0"/>
              <a:t>隐式：</a:t>
            </a:r>
            <a:r>
              <a:rPr kumimoji="1" lang="en-US" altLang="zh-CN" dirty="0"/>
              <a:t> </a:t>
            </a:r>
            <a:r>
              <a:rPr kumimoji="1" lang="zh-CN" altLang="en-US" dirty="0"/>
              <a:t>若结点</a:t>
            </a:r>
            <a:r>
              <a:rPr kumimoji="1" lang="en-US" altLang="zh-CN" dirty="0" err="1"/>
              <a:t>i</a:t>
            </a:r>
            <a:r>
              <a:rPr kumimoji="1" lang="zh-CN" altLang="en-US" dirty="0"/>
              <a:t>和</a:t>
            </a:r>
            <a:r>
              <a:rPr kumimoji="1" lang="en-US" altLang="zh-CN" dirty="0"/>
              <a:t>j</a:t>
            </a:r>
            <a:r>
              <a:rPr kumimoji="1" lang="zh-CN" altLang="en-US" dirty="0"/>
              <a:t>之间有边存在，则</a:t>
            </a:r>
            <a:r>
              <a:rPr kumimoji="1" lang="en-US" altLang="zh-CN" dirty="0"/>
              <a:t>x</a:t>
            </a:r>
            <a:r>
              <a:rPr kumimoji="1" lang="en-US" altLang="zh-CN" baseline="-25000" dirty="0"/>
              <a:t>i </a:t>
            </a:r>
            <a:r>
              <a:rPr kumimoji="1" lang="zh-CN" altLang="en-US" dirty="0"/>
              <a:t>≠</a:t>
            </a:r>
            <a:r>
              <a:rPr kumimoji="1" lang="en-US" altLang="zh-CN" dirty="0" err="1"/>
              <a:t>x</a:t>
            </a:r>
            <a:r>
              <a:rPr kumimoji="1" lang="en-US" altLang="zh-CN" baseline="-25000" dirty="0" err="1"/>
              <a:t>j</a:t>
            </a:r>
            <a:r>
              <a:rPr kumimoji="1" lang="zh-CN" altLang="en-US" baseline="-25000" dirty="0"/>
              <a:t>。</a:t>
            </a:r>
            <a:endParaRPr lang="zh-CN" altLang="en-US" dirty="0"/>
          </a:p>
        </p:txBody>
      </p:sp>
      <p:grpSp>
        <p:nvGrpSpPr>
          <p:cNvPr id="107" name="组合 106"/>
          <p:cNvGrpSpPr>
            <a:grpSpLocks/>
          </p:cNvGrpSpPr>
          <p:nvPr/>
        </p:nvGrpSpPr>
        <p:grpSpPr bwMode="auto">
          <a:xfrm>
            <a:off x="1432230" y="3140968"/>
            <a:ext cx="8544167" cy="3214687"/>
            <a:chOff x="599805" y="1643050"/>
            <a:chExt cx="8544195" cy="3214710"/>
          </a:xfrm>
        </p:grpSpPr>
        <p:grpSp>
          <p:nvGrpSpPr>
            <p:cNvPr id="108" name="组合 231"/>
            <p:cNvGrpSpPr>
              <a:grpSpLocks/>
            </p:cNvGrpSpPr>
            <p:nvPr/>
          </p:nvGrpSpPr>
          <p:grpSpPr bwMode="auto">
            <a:xfrm>
              <a:off x="1057228" y="1643050"/>
              <a:ext cx="8086772" cy="3214710"/>
              <a:chOff x="328586" y="357166"/>
              <a:chExt cx="8086772" cy="3214710"/>
            </a:xfrm>
          </p:grpSpPr>
          <p:sp>
            <p:nvSpPr>
              <p:cNvPr id="110" name="Line 85"/>
              <p:cNvSpPr>
                <a:spLocks noChangeShapeType="1"/>
              </p:cNvSpPr>
              <p:nvPr/>
            </p:nvSpPr>
            <p:spPr bwMode="auto">
              <a:xfrm flipH="1">
                <a:off x="1214414" y="1500174"/>
                <a:ext cx="1547830" cy="928694"/>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1" name="Line 86"/>
              <p:cNvSpPr>
                <a:spLocks noChangeShapeType="1"/>
              </p:cNvSpPr>
              <p:nvPr/>
            </p:nvSpPr>
            <p:spPr bwMode="auto">
              <a:xfrm>
                <a:off x="2781294" y="1500174"/>
                <a:ext cx="0" cy="93345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 name="Line 87"/>
              <p:cNvSpPr>
                <a:spLocks noChangeShapeType="1"/>
              </p:cNvSpPr>
              <p:nvPr/>
            </p:nvSpPr>
            <p:spPr bwMode="auto">
              <a:xfrm>
                <a:off x="2800344" y="1500174"/>
                <a:ext cx="1628780" cy="928694"/>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3" name="Text Box 88"/>
              <p:cNvSpPr txBox="1">
                <a:spLocks noChangeArrowheads="1"/>
              </p:cNvSpPr>
              <p:nvPr/>
            </p:nvSpPr>
            <p:spPr bwMode="auto">
              <a:xfrm>
                <a:off x="1676394" y="1709724"/>
                <a:ext cx="26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endParaRPr lang="zh-CN" altLang="en-US" sz="2400" b="1">
                  <a:latin typeface="Times New Roman" pitchFamily="18" charset="0"/>
                </a:endParaRPr>
              </a:p>
            </p:txBody>
          </p:sp>
          <p:sp>
            <p:nvSpPr>
              <p:cNvPr id="114" name="Text Box 89"/>
              <p:cNvSpPr txBox="1">
                <a:spLocks noChangeArrowheads="1"/>
              </p:cNvSpPr>
              <p:nvPr/>
            </p:nvSpPr>
            <p:spPr bwMode="auto">
              <a:xfrm>
                <a:off x="2484142" y="1685155"/>
                <a:ext cx="266700"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2</a:t>
                </a:r>
              </a:p>
            </p:txBody>
          </p:sp>
          <p:sp>
            <p:nvSpPr>
              <p:cNvPr id="115" name="Text Box 90"/>
              <p:cNvSpPr txBox="1">
                <a:spLocks noChangeArrowheads="1"/>
              </p:cNvSpPr>
              <p:nvPr/>
            </p:nvSpPr>
            <p:spPr bwMode="auto">
              <a:xfrm>
                <a:off x="3622819" y="1711829"/>
                <a:ext cx="266700"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3</a:t>
                </a:r>
              </a:p>
            </p:txBody>
          </p:sp>
          <p:sp>
            <p:nvSpPr>
              <p:cNvPr id="116" name="Line 106"/>
              <p:cNvSpPr>
                <a:spLocks noChangeShapeType="1"/>
              </p:cNvSpPr>
              <p:nvPr/>
            </p:nvSpPr>
            <p:spPr bwMode="auto">
              <a:xfrm flipH="1">
                <a:off x="2857488" y="460502"/>
                <a:ext cx="1957732" cy="968234"/>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7" name="Line 108"/>
              <p:cNvSpPr>
                <a:spLocks noChangeShapeType="1"/>
              </p:cNvSpPr>
              <p:nvPr/>
            </p:nvSpPr>
            <p:spPr bwMode="auto">
              <a:xfrm>
                <a:off x="4925086" y="463401"/>
                <a:ext cx="2781300" cy="89535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8" name="Text Box 110"/>
              <p:cNvSpPr txBox="1">
                <a:spLocks noChangeArrowheads="1"/>
              </p:cNvSpPr>
              <p:nvPr/>
            </p:nvSpPr>
            <p:spPr bwMode="auto">
              <a:xfrm>
                <a:off x="2667000" y="781050"/>
                <a:ext cx="26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endParaRPr lang="zh-CN" altLang="en-US" sz="2400" b="1">
                  <a:latin typeface="Times New Roman" pitchFamily="18" charset="0"/>
                </a:endParaRPr>
              </a:p>
            </p:txBody>
          </p:sp>
          <p:sp>
            <p:nvSpPr>
              <p:cNvPr id="119" name="Text Box 118"/>
              <p:cNvSpPr txBox="1">
                <a:spLocks noChangeArrowheads="1"/>
              </p:cNvSpPr>
              <p:nvPr/>
            </p:nvSpPr>
            <p:spPr bwMode="auto">
              <a:xfrm>
                <a:off x="2926022" y="771471"/>
                <a:ext cx="914400" cy="40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kumimoji="1" lang="en-US" altLang="zh-CN" sz="2000" baseline="-25000" dirty="0"/>
                  <a:t>1</a:t>
                </a:r>
                <a:r>
                  <a:rPr lang="en-US" altLang="zh-CN" sz="2000" dirty="0">
                    <a:cs typeface="Arial" panose="020B0604020202020204" pitchFamily="34" charset="0"/>
                  </a:rPr>
                  <a:t>=1</a:t>
                </a:r>
              </a:p>
            </p:txBody>
          </p:sp>
          <p:sp>
            <p:nvSpPr>
              <p:cNvPr id="120" name="Text Box 118"/>
              <p:cNvSpPr txBox="1">
                <a:spLocks noChangeArrowheads="1"/>
              </p:cNvSpPr>
              <p:nvPr/>
            </p:nvSpPr>
            <p:spPr bwMode="auto">
              <a:xfrm>
                <a:off x="1374462" y="1684064"/>
                <a:ext cx="914400" cy="40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kumimoji="1" lang="en-US" altLang="zh-CN" sz="2000" baseline="-25000" dirty="0"/>
                  <a:t>2</a:t>
                </a:r>
                <a:r>
                  <a:rPr lang="en-US" altLang="zh-CN" sz="2000" dirty="0">
                    <a:cs typeface="Arial" panose="020B0604020202020204" pitchFamily="34" charset="0"/>
                  </a:rPr>
                  <a:t>=1</a:t>
                </a:r>
              </a:p>
            </p:txBody>
          </p:sp>
          <p:cxnSp>
            <p:nvCxnSpPr>
              <p:cNvPr id="121" name="直接连接符 21"/>
              <p:cNvCxnSpPr>
                <a:cxnSpLocks noChangeShapeType="1"/>
              </p:cNvCxnSpPr>
              <p:nvPr/>
            </p:nvCxnSpPr>
            <p:spPr bwMode="auto">
              <a:xfrm rot="5400000">
                <a:off x="4462470" y="911069"/>
                <a:ext cx="823898"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22" name="Text Box 118"/>
              <p:cNvSpPr txBox="1">
                <a:spLocks noChangeArrowheads="1"/>
              </p:cNvSpPr>
              <p:nvPr/>
            </p:nvSpPr>
            <p:spPr bwMode="auto">
              <a:xfrm>
                <a:off x="4897063" y="733801"/>
                <a:ext cx="465290" cy="40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2</a:t>
                </a:r>
              </a:p>
            </p:txBody>
          </p:sp>
          <p:sp>
            <p:nvSpPr>
              <p:cNvPr id="123" name="Text Box 118"/>
              <p:cNvSpPr txBox="1">
                <a:spLocks noChangeArrowheads="1"/>
              </p:cNvSpPr>
              <p:nvPr/>
            </p:nvSpPr>
            <p:spPr bwMode="auto">
              <a:xfrm>
                <a:off x="6619487" y="733801"/>
                <a:ext cx="532910" cy="40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3</a:t>
                </a:r>
              </a:p>
            </p:txBody>
          </p:sp>
          <p:sp>
            <p:nvSpPr>
              <p:cNvPr id="124" name="椭圆 24"/>
              <p:cNvSpPr>
                <a:spLocks noChangeArrowheads="1"/>
              </p:cNvSpPr>
              <p:nvPr/>
            </p:nvSpPr>
            <p:spPr bwMode="auto">
              <a:xfrm>
                <a:off x="2714612" y="1357298"/>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25" name="椭圆 25"/>
              <p:cNvSpPr>
                <a:spLocks noChangeArrowheads="1"/>
              </p:cNvSpPr>
              <p:nvPr/>
            </p:nvSpPr>
            <p:spPr bwMode="auto">
              <a:xfrm>
                <a:off x="4786314" y="357166"/>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grpSp>
            <p:nvGrpSpPr>
              <p:cNvPr id="126" name="组合 175"/>
              <p:cNvGrpSpPr>
                <a:grpSpLocks/>
              </p:cNvGrpSpPr>
              <p:nvPr/>
            </p:nvGrpSpPr>
            <p:grpSpPr bwMode="auto">
              <a:xfrm>
                <a:off x="357158" y="2428868"/>
                <a:ext cx="1608297" cy="1143008"/>
                <a:chOff x="714348" y="2428868"/>
                <a:chExt cx="1608297" cy="1143008"/>
              </a:xfrm>
            </p:grpSpPr>
            <p:sp>
              <p:nvSpPr>
                <p:cNvPr id="182" name="Line 87"/>
                <p:cNvSpPr>
                  <a:spLocks noChangeShapeType="1"/>
                </p:cNvSpPr>
                <p:nvPr/>
              </p:nvSpPr>
              <p:spPr bwMode="auto">
                <a:xfrm>
                  <a:off x="1571604" y="3021638"/>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 name="Line 85"/>
                <p:cNvSpPr>
                  <a:spLocks noChangeShapeType="1"/>
                </p:cNvSpPr>
                <p:nvPr/>
              </p:nvSpPr>
              <p:spPr bwMode="auto">
                <a:xfrm flipH="1">
                  <a:off x="1000100" y="2521572"/>
                  <a:ext cx="50672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4" name="Line 87"/>
                <p:cNvSpPr>
                  <a:spLocks noChangeShapeType="1"/>
                </p:cNvSpPr>
                <p:nvPr/>
              </p:nvSpPr>
              <p:spPr bwMode="auto">
                <a:xfrm>
                  <a:off x="1571604" y="2500306"/>
                  <a:ext cx="50006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85" name="直接连接符 85"/>
                <p:cNvCxnSpPr>
                  <a:cxnSpLocks noChangeShapeType="1"/>
                </p:cNvCxnSpPr>
                <p:nvPr/>
              </p:nvCxnSpPr>
              <p:spPr bwMode="auto">
                <a:xfrm rot="5400000">
                  <a:off x="1357324" y="2749363"/>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86" name="椭圆 86"/>
                <p:cNvSpPr>
                  <a:spLocks noChangeArrowheads="1"/>
                </p:cNvSpPr>
                <p:nvPr/>
              </p:nvSpPr>
              <p:spPr bwMode="auto">
                <a:xfrm>
                  <a:off x="1468267" y="2428868"/>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87" name="Line 85"/>
                <p:cNvSpPr>
                  <a:spLocks noChangeShapeType="1"/>
                </p:cNvSpPr>
                <p:nvPr/>
              </p:nvSpPr>
              <p:spPr bwMode="auto">
                <a:xfrm flipH="1">
                  <a:off x="785785" y="3041898"/>
                  <a:ext cx="170954" cy="38710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8" name="Line 87"/>
                <p:cNvSpPr>
                  <a:spLocks noChangeShapeType="1"/>
                </p:cNvSpPr>
                <p:nvPr/>
              </p:nvSpPr>
              <p:spPr bwMode="auto">
                <a:xfrm>
                  <a:off x="1000100" y="3000372"/>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9" name="椭圆 89"/>
                <p:cNvSpPr>
                  <a:spLocks noChangeArrowheads="1"/>
                </p:cNvSpPr>
                <p:nvPr/>
              </p:nvSpPr>
              <p:spPr bwMode="auto">
                <a:xfrm>
                  <a:off x="714348"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90" name="椭圆 90"/>
                <p:cNvSpPr>
                  <a:spLocks noChangeArrowheads="1"/>
                </p:cNvSpPr>
                <p:nvPr/>
              </p:nvSpPr>
              <p:spPr bwMode="auto">
                <a:xfrm>
                  <a:off x="896763"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91" name="椭圆 91"/>
                <p:cNvSpPr>
                  <a:spLocks noChangeArrowheads="1"/>
                </p:cNvSpPr>
                <p:nvPr/>
              </p:nvSpPr>
              <p:spPr bwMode="auto">
                <a:xfrm>
                  <a:off x="1071538"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192" name="直接连接符 92"/>
                <p:cNvCxnSpPr>
                  <a:cxnSpLocks noChangeShapeType="1"/>
                </p:cNvCxnSpPr>
                <p:nvPr/>
              </p:nvCxnSpPr>
              <p:spPr bwMode="auto">
                <a:xfrm rot="5400000">
                  <a:off x="785820" y="3249429"/>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93" name="椭圆 93"/>
                <p:cNvSpPr>
                  <a:spLocks noChangeArrowheads="1"/>
                </p:cNvSpPr>
                <p:nvPr/>
              </p:nvSpPr>
              <p:spPr bwMode="auto">
                <a:xfrm>
                  <a:off x="928662" y="2928934"/>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94" name="Line 85"/>
                <p:cNvSpPr>
                  <a:spLocks noChangeShapeType="1"/>
                </p:cNvSpPr>
                <p:nvPr/>
              </p:nvSpPr>
              <p:spPr bwMode="auto">
                <a:xfrm flipH="1">
                  <a:off x="1357290" y="3021638"/>
                  <a:ext cx="14953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5" name="椭圆 95"/>
                <p:cNvSpPr>
                  <a:spLocks noChangeArrowheads="1"/>
                </p:cNvSpPr>
                <p:nvPr/>
              </p:nvSpPr>
              <p:spPr bwMode="auto">
                <a:xfrm>
                  <a:off x="1285852"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96" name="椭圆 96"/>
                <p:cNvSpPr>
                  <a:spLocks noChangeArrowheads="1"/>
                </p:cNvSpPr>
                <p:nvPr/>
              </p:nvSpPr>
              <p:spPr bwMode="auto">
                <a:xfrm>
                  <a:off x="1468267"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97" name="椭圆 97"/>
                <p:cNvSpPr>
                  <a:spLocks noChangeArrowheads="1"/>
                </p:cNvSpPr>
                <p:nvPr/>
              </p:nvSpPr>
              <p:spPr bwMode="auto">
                <a:xfrm>
                  <a:off x="1643042"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198" name="直接连接符 98"/>
                <p:cNvCxnSpPr>
                  <a:cxnSpLocks noChangeShapeType="1"/>
                </p:cNvCxnSpPr>
                <p:nvPr/>
              </p:nvCxnSpPr>
              <p:spPr bwMode="auto">
                <a:xfrm rot="5400000">
                  <a:off x="1357324" y="3249429"/>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99" name="Line 85"/>
                <p:cNvSpPr>
                  <a:spLocks noChangeShapeType="1"/>
                </p:cNvSpPr>
                <p:nvPr/>
              </p:nvSpPr>
              <p:spPr bwMode="auto">
                <a:xfrm flipH="1">
                  <a:off x="1894017" y="3021638"/>
                  <a:ext cx="14953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0" name="Line 87"/>
                <p:cNvSpPr>
                  <a:spLocks noChangeShapeType="1"/>
                </p:cNvSpPr>
                <p:nvPr/>
              </p:nvSpPr>
              <p:spPr bwMode="auto">
                <a:xfrm>
                  <a:off x="2108331" y="3000372"/>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1" name="椭圆 101"/>
                <p:cNvSpPr>
                  <a:spLocks noChangeArrowheads="1"/>
                </p:cNvSpPr>
                <p:nvPr/>
              </p:nvSpPr>
              <p:spPr bwMode="auto">
                <a:xfrm>
                  <a:off x="1822579"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202" name="椭圆 102"/>
                <p:cNvSpPr>
                  <a:spLocks noChangeArrowheads="1"/>
                </p:cNvSpPr>
                <p:nvPr/>
              </p:nvSpPr>
              <p:spPr bwMode="auto">
                <a:xfrm>
                  <a:off x="2004994"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203" name="椭圆 103"/>
                <p:cNvSpPr>
                  <a:spLocks noChangeArrowheads="1"/>
                </p:cNvSpPr>
                <p:nvPr/>
              </p:nvSpPr>
              <p:spPr bwMode="auto">
                <a:xfrm>
                  <a:off x="2179769"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204" name="直接连接符 104"/>
                <p:cNvCxnSpPr>
                  <a:cxnSpLocks noChangeShapeType="1"/>
                </p:cNvCxnSpPr>
                <p:nvPr/>
              </p:nvCxnSpPr>
              <p:spPr bwMode="auto">
                <a:xfrm rot="5400000">
                  <a:off x="1894051" y="3249429"/>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205" name="椭圆 105"/>
                <p:cNvSpPr>
                  <a:spLocks noChangeArrowheads="1"/>
                </p:cNvSpPr>
                <p:nvPr/>
              </p:nvSpPr>
              <p:spPr bwMode="auto">
                <a:xfrm>
                  <a:off x="2000232" y="2928934"/>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206" name="椭圆 106"/>
                <p:cNvSpPr>
                  <a:spLocks noChangeArrowheads="1"/>
                </p:cNvSpPr>
                <p:nvPr/>
              </p:nvSpPr>
              <p:spPr bwMode="auto">
                <a:xfrm>
                  <a:off x="1468267" y="29502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grpSp>
          <p:grpSp>
            <p:nvGrpSpPr>
              <p:cNvPr id="127" name="组合 176"/>
              <p:cNvGrpSpPr>
                <a:grpSpLocks/>
              </p:cNvGrpSpPr>
              <p:nvPr/>
            </p:nvGrpSpPr>
            <p:grpSpPr bwMode="auto">
              <a:xfrm>
                <a:off x="1963571" y="2428868"/>
                <a:ext cx="1608297" cy="1143008"/>
                <a:chOff x="714348" y="2428868"/>
                <a:chExt cx="1608297" cy="1143008"/>
              </a:xfrm>
            </p:grpSpPr>
            <p:sp>
              <p:nvSpPr>
                <p:cNvPr id="157" name="Line 87"/>
                <p:cNvSpPr>
                  <a:spLocks noChangeShapeType="1"/>
                </p:cNvSpPr>
                <p:nvPr/>
              </p:nvSpPr>
              <p:spPr bwMode="auto">
                <a:xfrm>
                  <a:off x="1571604" y="3021638"/>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8" name="Line 85"/>
                <p:cNvSpPr>
                  <a:spLocks noChangeShapeType="1"/>
                </p:cNvSpPr>
                <p:nvPr/>
              </p:nvSpPr>
              <p:spPr bwMode="auto">
                <a:xfrm flipH="1">
                  <a:off x="1000100" y="2521572"/>
                  <a:ext cx="50672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9" name="Line 87"/>
                <p:cNvSpPr>
                  <a:spLocks noChangeShapeType="1"/>
                </p:cNvSpPr>
                <p:nvPr/>
              </p:nvSpPr>
              <p:spPr bwMode="auto">
                <a:xfrm>
                  <a:off x="1571604" y="2500306"/>
                  <a:ext cx="50006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60" name="直接连接符 60"/>
                <p:cNvCxnSpPr>
                  <a:cxnSpLocks noChangeShapeType="1"/>
                </p:cNvCxnSpPr>
                <p:nvPr/>
              </p:nvCxnSpPr>
              <p:spPr bwMode="auto">
                <a:xfrm rot="5400000">
                  <a:off x="1357324" y="2749363"/>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61" name="椭圆 61"/>
                <p:cNvSpPr>
                  <a:spLocks noChangeArrowheads="1"/>
                </p:cNvSpPr>
                <p:nvPr/>
              </p:nvSpPr>
              <p:spPr bwMode="auto">
                <a:xfrm>
                  <a:off x="1468267" y="2428868"/>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62" name="Line 85"/>
                <p:cNvSpPr>
                  <a:spLocks noChangeShapeType="1"/>
                </p:cNvSpPr>
                <p:nvPr/>
              </p:nvSpPr>
              <p:spPr bwMode="auto">
                <a:xfrm flipH="1">
                  <a:off x="785785" y="3041898"/>
                  <a:ext cx="212430" cy="38710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 name="Line 87"/>
                <p:cNvSpPr>
                  <a:spLocks noChangeShapeType="1"/>
                </p:cNvSpPr>
                <p:nvPr/>
              </p:nvSpPr>
              <p:spPr bwMode="auto">
                <a:xfrm>
                  <a:off x="1000100" y="3000372"/>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4" name="椭圆 64"/>
                <p:cNvSpPr>
                  <a:spLocks noChangeArrowheads="1"/>
                </p:cNvSpPr>
                <p:nvPr/>
              </p:nvSpPr>
              <p:spPr bwMode="auto">
                <a:xfrm>
                  <a:off x="714348"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65" name="椭圆 65"/>
                <p:cNvSpPr>
                  <a:spLocks noChangeArrowheads="1"/>
                </p:cNvSpPr>
                <p:nvPr/>
              </p:nvSpPr>
              <p:spPr bwMode="auto">
                <a:xfrm>
                  <a:off x="896763"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66" name="椭圆 66"/>
                <p:cNvSpPr>
                  <a:spLocks noChangeArrowheads="1"/>
                </p:cNvSpPr>
                <p:nvPr/>
              </p:nvSpPr>
              <p:spPr bwMode="auto">
                <a:xfrm>
                  <a:off x="1071538"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167" name="直接连接符 67"/>
                <p:cNvCxnSpPr>
                  <a:cxnSpLocks noChangeShapeType="1"/>
                  <a:stCxn id="168" idx="4"/>
                </p:cNvCxnSpPr>
                <p:nvPr/>
              </p:nvCxnSpPr>
              <p:spPr bwMode="auto">
                <a:xfrm flipH="1">
                  <a:off x="963439" y="3071811"/>
                  <a:ext cx="36661" cy="359999"/>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68" name="椭圆 68"/>
                <p:cNvSpPr>
                  <a:spLocks noChangeArrowheads="1"/>
                </p:cNvSpPr>
                <p:nvPr/>
              </p:nvSpPr>
              <p:spPr bwMode="auto">
                <a:xfrm>
                  <a:off x="928662" y="2928934"/>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69" name="Line 85"/>
                <p:cNvSpPr>
                  <a:spLocks noChangeShapeType="1"/>
                </p:cNvSpPr>
                <p:nvPr/>
              </p:nvSpPr>
              <p:spPr bwMode="auto">
                <a:xfrm flipH="1">
                  <a:off x="1357290" y="3021638"/>
                  <a:ext cx="14953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0" name="椭圆 70"/>
                <p:cNvSpPr>
                  <a:spLocks noChangeArrowheads="1"/>
                </p:cNvSpPr>
                <p:nvPr/>
              </p:nvSpPr>
              <p:spPr bwMode="auto">
                <a:xfrm>
                  <a:off x="1285852"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71" name="椭圆 71"/>
                <p:cNvSpPr>
                  <a:spLocks noChangeArrowheads="1"/>
                </p:cNvSpPr>
                <p:nvPr/>
              </p:nvSpPr>
              <p:spPr bwMode="auto">
                <a:xfrm>
                  <a:off x="1468267"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72" name="椭圆 72"/>
                <p:cNvSpPr>
                  <a:spLocks noChangeArrowheads="1"/>
                </p:cNvSpPr>
                <p:nvPr/>
              </p:nvSpPr>
              <p:spPr bwMode="auto">
                <a:xfrm>
                  <a:off x="1643042"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173" name="直接连接符 73"/>
                <p:cNvCxnSpPr>
                  <a:cxnSpLocks noChangeShapeType="1"/>
                </p:cNvCxnSpPr>
                <p:nvPr/>
              </p:nvCxnSpPr>
              <p:spPr bwMode="auto">
                <a:xfrm rot="5400000">
                  <a:off x="1357324" y="3249429"/>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74" name="Line 85"/>
                <p:cNvSpPr>
                  <a:spLocks noChangeShapeType="1"/>
                </p:cNvSpPr>
                <p:nvPr/>
              </p:nvSpPr>
              <p:spPr bwMode="auto">
                <a:xfrm flipH="1">
                  <a:off x="1894017" y="3021638"/>
                  <a:ext cx="14953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5" name="Line 87"/>
                <p:cNvSpPr>
                  <a:spLocks noChangeShapeType="1"/>
                </p:cNvSpPr>
                <p:nvPr/>
              </p:nvSpPr>
              <p:spPr bwMode="auto">
                <a:xfrm>
                  <a:off x="2108331" y="3000372"/>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 name="椭圆 76"/>
                <p:cNvSpPr>
                  <a:spLocks noChangeArrowheads="1"/>
                </p:cNvSpPr>
                <p:nvPr/>
              </p:nvSpPr>
              <p:spPr bwMode="auto">
                <a:xfrm>
                  <a:off x="1822579"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77" name="椭圆 77"/>
                <p:cNvSpPr>
                  <a:spLocks noChangeArrowheads="1"/>
                </p:cNvSpPr>
                <p:nvPr/>
              </p:nvSpPr>
              <p:spPr bwMode="auto">
                <a:xfrm>
                  <a:off x="2004994"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78" name="椭圆 78"/>
                <p:cNvSpPr>
                  <a:spLocks noChangeArrowheads="1"/>
                </p:cNvSpPr>
                <p:nvPr/>
              </p:nvSpPr>
              <p:spPr bwMode="auto">
                <a:xfrm>
                  <a:off x="2179769"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179" name="直接连接符 79"/>
                <p:cNvCxnSpPr>
                  <a:cxnSpLocks noChangeShapeType="1"/>
                </p:cNvCxnSpPr>
                <p:nvPr/>
              </p:nvCxnSpPr>
              <p:spPr bwMode="auto">
                <a:xfrm rot="5400000">
                  <a:off x="1894051" y="3249429"/>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80" name="椭圆 80"/>
                <p:cNvSpPr>
                  <a:spLocks noChangeArrowheads="1"/>
                </p:cNvSpPr>
                <p:nvPr/>
              </p:nvSpPr>
              <p:spPr bwMode="auto">
                <a:xfrm>
                  <a:off x="2000232" y="2928934"/>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81" name="椭圆 81"/>
                <p:cNvSpPr>
                  <a:spLocks noChangeArrowheads="1"/>
                </p:cNvSpPr>
                <p:nvPr/>
              </p:nvSpPr>
              <p:spPr bwMode="auto">
                <a:xfrm>
                  <a:off x="1468267" y="29502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grpSp>
          <p:grpSp>
            <p:nvGrpSpPr>
              <p:cNvPr id="128" name="组合 202"/>
              <p:cNvGrpSpPr>
                <a:grpSpLocks/>
              </p:cNvGrpSpPr>
              <p:nvPr/>
            </p:nvGrpSpPr>
            <p:grpSpPr bwMode="auto">
              <a:xfrm>
                <a:off x="3643306" y="2428868"/>
                <a:ext cx="1608297" cy="1143008"/>
                <a:chOff x="714348" y="2428868"/>
                <a:chExt cx="1608297" cy="1143008"/>
              </a:xfrm>
            </p:grpSpPr>
            <p:sp>
              <p:nvSpPr>
                <p:cNvPr id="132" name="Line 87"/>
                <p:cNvSpPr>
                  <a:spLocks noChangeShapeType="1"/>
                </p:cNvSpPr>
                <p:nvPr/>
              </p:nvSpPr>
              <p:spPr bwMode="auto">
                <a:xfrm>
                  <a:off x="1571604" y="3021638"/>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 name="Line 85"/>
                <p:cNvSpPr>
                  <a:spLocks noChangeShapeType="1"/>
                </p:cNvSpPr>
                <p:nvPr/>
              </p:nvSpPr>
              <p:spPr bwMode="auto">
                <a:xfrm flipH="1">
                  <a:off x="1000100" y="2521572"/>
                  <a:ext cx="50672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4" name="Line 87"/>
                <p:cNvSpPr>
                  <a:spLocks noChangeShapeType="1"/>
                </p:cNvSpPr>
                <p:nvPr/>
              </p:nvSpPr>
              <p:spPr bwMode="auto">
                <a:xfrm>
                  <a:off x="1571604" y="2500306"/>
                  <a:ext cx="50006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135" name="直接连接符 35"/>
                <p:cNvCxnSpPr>
                  <a:cxnSpLocks noChangeShapeType="1"/>
                </p:cNvCxnSpPr>
                <p:nvPr/>
              </p:nvCxnSpPr>
              <p:spPr bwMode="auto">
                <a:xfrm rot="5400000">
                  <a:off x="1357324" y="2749363"/>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36" name="椭圆 36"/>
                <p:cNvSpPr>
                  <a:spLocks noChangeArrowheads="1"/>
                </p:cNvSpPr>
                <p:nvPr/>
              </p:nvSpPr>
              <p:spPr bwMode="auto">
                <a:xfrm>
                  <a:off x="1468267" y="2428868"/>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37" name="Line 85"/>
                <p:cNvSpPr>
                  <a:spLocks noChangeShapeType="1"/>
                </p:cNvSpPr>
                <p:nvPr/>
              </p:nvSpPr>
              <p:spPr bwMode="auto">
                <a:xfrm flipH="1">
                  <a:off x="785786" y="3041898"/>
                  <a:ext cx="174775" cy="38710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Line 87"/>
                <p:cNvSpPr>
                  <a:spLocks noChangeShapeType="1"/>
                </p:cNvSpPr>
                <p:nvPr/>
              </p:nvSpPr>
              <p:spPr bwMode="auto">
                <a:xfrm>
                  <a:off x="1000100" y="3000372"/>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9" name="椭圆 39"/>
                <p:cNvSpPr>
                  <a:spLocks noChangeArrowheads="1"/>
                </p:cNvSpPr>
                <p:nvPr/>
              </p:nvSpPr>
              <p:spPr bwMode="auto">
                <a:xfrm>
                  <a:off x="714348"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40" name="椭圆 40"/>
                <p:cNvSpPr>
                  <a:spLocks noChangeArrowheads="1"/>
                </p:cNvSpPr>
                <p:nvPr/>
              </p:nvSpPr>
              <p:spPr bwMode="auto">
                <a:xfrm>
                  <a:off x="896763"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41" name="椭圆 41"/>
                <p:cNvSpPr>
                  <a:spLocks noChangeArrowheads="1"/>
                </p:cNvSpPr>
                <p:nvPr/>
              </p:nvSpPr>
              <p:spPr bwMode="auto">
                <a:xfrm>
                  <a:off x="1071538"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142" name="直接连接符 42"/>
                <p:cNvCxnSpPr>
                  <a:cxnSpLocks noChangeShapeType="1"/>
                </p:cNvCxnSpPr>
                <p:nvPr/>
              </p:nvCxnSpPr>
              <p:spPr bwMode="auto">
                <a:xfrm rot="5400000">
                  <a:off x="785820" y="3249429"/>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43" name="椭圆 43"/>
                <p:cNvSpPr>
                  <a:spLocks noChangeArrowheads="1"/>
                </p:cNvSpPr>
                <p:nvPr/>
              </p:nvSpPr>
              <p:spPr bwMode="auto">
                <a:xfrm>
                  <a:off x="928662" y="2928934"/>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44" name="Line 85"/>
                <p:cNvSpPr>
                  <a:spLocks noChangeShapeType="1"/>
                </p:cNvSpPr>
                <p:nvPr/>
              </p:nvSpPr>
              <p:spPr bwMode="auto">
                <a:xfrm flipH="1">
                  <a:off x="1357290" y="3021638"/>
                  <a:ext cx="14953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 name="椭圆 45"/>
                <p:cNvSpPr>
                  <a:spLocks noChangeArrowheads="1"/>
                </p:cNvSpPr>
                <p:nvPr/>
              </p:nvSpPr>
              <p:spPr bwMode="auto">
                <a:xfrm>
                  <a:off x="1285852"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46" name="椭圆 46"/>
                <p:cNvSpPr>
                  <a:spLocks noChangeArrowheads="1"/>
                </p:cNvSpPr>
                <p:nvPr/>
              </p:nvSpPr>
              <p:spPr bwMode="auto">
                <a:xfrm>
                  <a:off x="1468267"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47" name="椭圆 47"/>
                <p:cNvSpPr>
                  <a:spLocks noChangeArrowheads="1"/>
                </p:cNvSpPr>
                <p:nvPr/>
              </p:nvSpPr>
              <p:spPr bwMode="auto">
                <a:xfrm>
                  <a:off x="1643042"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148" name="直接连接符 48"/>
                <p:cNvCxnSpPr>
                  <a:cxnSpLocks noChangeShapeType="1"/>
                </p:cNvCxnSpPr>
                <p:nvPr/>
              </p:nvCxnSpPr>
              <p:spPr bwMode="auto">
                <a:xfrm rot="5400000">
                  <a:off x="1357324" y="3249429"/>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49" name="Line 85"/>
                <p:cNvSpPr>
                  <a:spLocks noChangeShapeType="1"/>
                </p:cNvSpPr>
                <p:nvPr/>
              </p:nvSpPr>
              <p:spPr bwMode="auto">
                <a:xfrm flipH="1">
                  <a:off x="1894017" y="3021638"/>
                  <a:ext cx="149532" cy="4073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0" name="Line 87"/>
                <p:cNvSpPr>
                  <a:spLocks noChangeShapeType="1"/>
                </p:cNvSpPr>
                <p:nvPr/>
              </p:nvSpPr>
              <p:spPr bwMode="auto">
                <a:xfrm>
                  <a:off x="2108331" y="3000372"/>
                  <a:ext cx="142876" cy="500066"/>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1" name="椭圆 51"/>
                <p:cNvSpPr>
                  <a:spLocks noChangeArrowheads="1"/>
                </p:cNvSpPr>
                <p:nvPr/>
              </p:nvSpPr>
              <p:spPr bwMode="auto">
                <a:xfrm>
                  <a:off x="1822579"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52" name="椭圆 52"/>
                <p:cNvSpPr>
                  <a:spLocks noChangeArrowheads="1"/>
                </p:cNvSpPr>
                <p:nvPr/>
              </p:nvSpPr>
              <p:spPr bwMode="auto">
                <a:xfrm>
                  <a:off x="2004994"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53" name="椭圆 53"/>
                <p:cNvSpPr>
                  <a:spLocks noChangeArrowheads="1"/>
                </p:cNvSpPr>
                <p:nvPr/>
              </p:nvSpPr>
              <p:spPr bwMode="auto">
                <a:xfrm>
                  <a:off x="2179769" y="34290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cxnSp>
              <p:nvCxnSpPr>
                <p:cNvPr id="154" name="直接连接符 54"/>
                <p:cNvCxnSpPr>
                  <a:cxnSpLocks noChangeShapeType="1"/>
                </p:cNvCxnSpPr>
                <p:nvPr/>
              </p:nvCxnSpPr>
              <p:spPr bwMode="auto">
                <a:xfrm rot="5400000">
                  <a:off x="1894051" y="3249429"/>
                  <a:ext cx="360000" cy="4762"/>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55" name="椭圆 55"/>
                <p:cNvSpPr>
                  <a:spLocks noChangeArrowheads="1"/>
                </p:cNvSpPr>
                <p:nvPr/>
              </p:nvSpPr>
              <p:spPr bwMode="auto">
                <a:xfrm>
                  <a:off x="2000232" y="2928934"/>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sp>
              <p:nvSpPr>
                <p:cNvPr id="156" name="椭圆 56"/>
                <p:cNvSpPr>
                  <a:spLocks noChangeArrowheads="1"/>
                </p:cNvSpPr>
                <p:nvPr/>
              </p:nvSpPr>
              <p:spPr bwMode="auto">
                <a:xfrm>
                  <a:off x="1468267" y="2950200"/>
                  <a:ext cx="142876" cy="142876"/>
                </a:xfrm>
                <a:prstGeom prst="ellipse">
                  <a:avLst/>
                </a:prstGeom>
                <a:solidFill>
                  <a:schemeClr val="accent1"/>
                </a:solidFill>
                <a:ln w="9525" algn="ctr">
                  <a:solidFill>
                    <a:schemeClr val="tx1"/>
                  </a:solidFill>
                  <a:round/>
                  <a:headEnd/>
                  <a:tailEnd/>
                </a:ln>
              </p:spPr>
              <p:txBody>
                <a:bodyPr>
                  <a:spAutoFit/>
                </a:bodyPr>
                <a:lstStyle/>
                <a:p>
                  <a:endParaRPr lang="zh-CN" altLang="en-US">
                    <a:latin typeface="Verdana" pitchFamily="34" charset="0"/>
                  </a:endParaRPr>
                </a:p>
              </p:txBody>
            </p:sp>
          </p:grpSp>
          <p:sp>
            <p:nvSpPr>
              <p:cNvPr id="129" name="Text Box 118"/>
              <p:cNvSpPr txBox="1">
                <a:spLocks noChangeArrowheads="1"/>
              </p:cNvSpPr>
              <p:nvPr/>
            </p:nvSpPr>
            <p:spPr bwMode="auto">
              <a:xfrm>
                <a:off x="4429124" y="1214422"/>
                <a:ext cx="914400" cy="463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400" dirty="0">
                    <a:latin typeface="Times New Roman" pitchFamily="18" charset="0"/>
                  </a:rPr>
                  <a:t>……</a:t>
                </a:r>
              </a:p>
            </p:txBody>
          </p:sp>
          <p:sp>
            <p:nvSpPr>
              <p:cNvPr id="130" name="Text Box 118"/>
              <p:cNvSpPr txBox="1">
                <a:spLocks noChangeArrowheads="1"/>
              </p:cNvSpPr>
              <p:nvPr/>
            </p:nvSpPr>
            <p:spPr bwMode="auto">
              <a:xfrm>
                <a:off x="7500958" y="1285860"/>
                <a:ext cx="914400" cy="463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400" dirty="0">
                    <a:latin typeface="Times New Roman" pitchFamily="18" charset="0"/>
                  </a:rPr>
                  <a:t>……</a:t>
                </a:r>
              </a:p>
            </p:txBody>
          </p:sp>
          <p:sp>
            <p:nvSpPr>
              <p:cNvPr id="131" name="Text Box 118"/>
              <p:cNvSpPr txBox="1">
                <a:spLocks noChangeArrowheads="1"/>
              </p:cNvSpPr>
              <p:nvPr/>
            </p:nvSpPr>
            <p:spPr bwMode="auto">
              <a:xfrm>
                <a:off x="328586" y="2395684"/>
                <a:ext cx="914400" cy="40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2000" dirty="0">
                    <a:cs typeface="Arial" panose="020B0604020202020204" pitchFamily="34" charset="0"/>
                  </a:rPr>
                  <a:t>x</a:t>
                </a:r>
                <a:r>
                  <a:rPr kumimoji="1" lang="en-US" altLang="zh-CN" sz="2000" baseline="-25000" dirty="0"/>
                  <a:t>3</a:t>
                </a:r>
                <a:r>
                  <a:rPr lang="en-US" altLang="zh-CN" sz="2000" dirty="0">
                    <a:cs typeface="Arial" panose="020B0604020202020204" pitchFamily="34" charset="0"/>
                  </a:rPr>
                  <a:t>=1</a:t>
                </a:r>
              </a:p>
            </p:txBody>
          </p:sp>
        </p:grpSp>
        <p:sp>
          <p:nvSpPr>
            <p:cNvPr id="109" name="TextBox 9"/>
            <p:cNvSpPr txBox="1">
              <a:spLocks noChangeArrowheads="1"/>
            </p:cNvSpPr>
            <p:nvPr/>
          </p:nvSpPr>
          <p:spPr bwMode="auto">
            <a:xfrm>
              <a:off x="599805" y="4307521"/>
              <a:ext cx="785818" cy="36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dirty="0"/>
                <a:t>X</a:t>
              </a:r>
              <a:r>
                <a:rPr kumimoji="1" lang="en-US" altLang="zh-CN" baseline="-25000" dirty="0"/>
                <a:t>4</a:t>
              </a:r>
              <a:r>
                <a:rPr lang="en-US" altLang="zh-CN" dirty="0"/>
                <a:t>=1</a:t>
              </a:r>
              <a:endParaRPr lang="zh-CN" altLang="en-US" dirty="0"/>
            </a:p>
          </p:txBody>
        </p:sp>
      </p:grpSp>
      <p:grpSp>
        <p:nvGrpSpPr>
          <p:cNvPr id="3" name="组合 2"/>
          <p:cNvGrpSpPr/>
          <p:nvPr/>
        </p:nvGrpSpPr>
        <p:grpSpPr>
          <a:xfrm>
            <a:off x="8265591" y="1471745"/>
            <a:ext cx="1627436" cy="1368946"/>
            <a:chOff x="8265591" y="1471745"/>
            <a:chExt cx="1627436" cy="1368946"/>
          </a:xfrm>
        </p:grpSpPr>
        <p:sp>
          <p:nvSpPr>
            <p:cNvPr id="209" name="Oval 10"/>
            <p:cNvSpPr>
              <a:spLocks noChangeArrowheads="1"/>
            </p:cNvSpPr>
            <p:nvPr/>
          </p:nvSpPr>
          <p:spPr bwMode="auto">
            <a:xfrm>
              <a:off x="8265591" y="1507829"/>
              <a:ext cx="412651" cy="373079"/>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a:latin typeface="Arial" panose="020B0604020202020204" pitchFamily="34" charset="0"/>
                  <a:cs typeface="Arial" panose="020B0604020202020204" pitchFamily="34" charset="0"/>
                </a:rPr>
                <a:t>1</a:t>
              </a:r>
            </a:p>
          </p:txBody>
        </p:sp>
        <p:sp>
          <p:nvSpPr>
            <p:cNvPr id="211" name="Oval 16"/>
            <p:cNvSpPr>
              <a:spLocks noChangeArrowheads="1"/>
            </p:cNvSpPr>
            <p:nvPr/>
          </p:nvSpPr>
          <p:spPr bwMode="auto">
            <a:xfrm>
              <a:off x="9480376" y="1471745"/>
              <a:ext cx="412651" cy="373079"/>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2</a:t>
              </a:r>
            </a:p>
          </p:txBody>
        </p:sp>
        <p:sp>
          <p:nvSpPr>
            <p:cNvPr id="212" name="Line 17"/>
            <p:cNvSpPr>
              <a:spLocks noChangeShapeType="1"/>
            </p:cNvSpPr>
            <p:nvPr/>
          </p:nvSpPr>
          <p:spPr bwMode="auto">
            <a:xfrm flipV="1">
              <a:off x="8678242" y="1679354"/>
              <a:ext cx="802134" cy="15014"/>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13" name="Oval 10"/>
            <p:cNvSpPr>
              <a:spLocks noChangeArrowheads="1"/>
            </p:cNvSpPr>
            <p:nvPr/>
          </p:nvSpPr>
          <p:spPr bwMode="auto">
            <a:xfrm>
              <a:off x="8300790" y="2460666"/>
              <a:ext cx="412651" cy="373079"/>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4</a:t>
              </a:r>
            </a:p>
          </p:txBody>
        </p:sp>
        <p:sp>
          <p:nvSpPr>
            <p:cNvPr id="215" name="Oval 16"/>
            <p:cNvSpPr>
              <a:spLocks noChangeArrowheads="1"/>
            </p:cNvSpPr>
            <p:nvPr/>
          </p:nvSpPr>
          <p:spPr bwMode="auto">
            <a:xfrm>
              <a:off x="9452445" y="2467612"/>
              <a:ext cx="412651" cy="373079"/>
            </a:xfrm>
            <a:prstGeom prst="ellipse">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latin typeface="Arial" panose="020B0604020202020204" pitchFamily="34" charset="0"/>
                  <a:cs typeface="Arial" panose="020B0604020202020204" pitchFamily="34" charset="0"/>
                </a:rPr>
                <a:t>3</a:t>
              </a:r>
            </a:p>
          </p:txBody>
        </p:sp>
        <p:sp>
          <p:nvSpPr>
            <p:cNvPr id="216" name="Line 17"/>
            <p:cNvSpPr>
              <a:spLocks noChangeShapeType="1"/>
            </p:cNvSpPr>
            <p:nvPr/>
          </p:nvSpPr>
          <p:spPr bwMode="auto">
            <a:xfrm flipH="1">
              <a:off x="8713440" y="2654150"/>
              <a:ext cx="739004" cy="3325"/>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21" name="Line 17"/>
            <p:cNvSpPr>
              <a:spLocks noChangeShapeType="1"/>
            </p:cNvSpPr>
            <p:nvPr/>
          </p:nvSpPr>
          <p:spPr bwMode="auto">
            <a:xfrm>
              <a:off x="8481615" y="1880909"/>
              <a:ext cx="0" cy="586704"/>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sp>
          <p:nvSpPr>
            <p:cNvPr id="222" name="Line 17"/>
            <p:cNvSpPr>
              <a:spLocks noChangeShapeType="1"/>
            </p:cNvSpPr>
            <p:nvPr/>
          </p:nvSpPr>
          <p:spPr bwMode="auto">
            <a:xfrm flipV="1">
              <a:off x="9678153" y="1835023"/>
              <a:ext cx="0" cy="625643"/>
            </a:xfrm>
            <a:prstGeom prst="line">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Arial" panose="020B0604020202020204" pitchFamily="34" charset="0"/>
                <a:cs typeface="Arial" panose="020B0604020202020204" pitchFamily="34" charset="0"/>
              </a:endParaRPr>
            </a:p>
          </p:txBody>
        </p:sp>
      </p:grpSp>
      <p:sp>
        <p:nvSpPr>
          <p:cNvPr id="224"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54</a:t>
            </a:fld>
            <a:endParaRPr lang="en-US" altLang="zh-CN" dirty="0"/>
          </a:p>
        </p:txBody>
      </p:sp>
    </p:spTree>
    <p:extLst>
      <p:ext uri="{BB962C8B-B14F-4D97-AF65-F5344CB8AC3E}">
        <p14:creationId xmlns:p14="http://schemas.microsoft.com/office/powerpoint/2010/main" val="130722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box(in)">
                                      <p:cBhvr>
                                        <p:cTn id="7"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767408" y="227965"/>
            <a:ext cx="8229600" cy="1371600"/>
          </a:xfrm>
        </p:spPr>
        <p:txBody>
          <a:bodyPr/>
          <a:lstStyle/>
          <a:p>
            <a:r>
              <a:rPr lang="zh-CN" altLang="en-US" dirty="0"/>
              <a:t>算法</a:t>
            </a:r>
            <a:r>
              <a:rPr lang="en-US" altLang="zh-CN" dirty="0"/>
              <a:t>7.7 </a:t>
            </a:r>
            <a:r>
              <a:rPr lang="zh-CN" altLang="en-US" dirty="0"/>
              <a:t>判断顶点</a:t>
            </a:r>
            <a:r>
              <a:rPr lang="en-US" altLang="zh-CN" dirty="0"/>
              <a:t>k</a:t>
            </a:r>
            <a:r>
              <a:rPr lang="zh-CN" altLang="en-US" dirty="0"/>
              <a:t>的着色是否合法</a:t>
            </a:r>
          </a:p>
        </p:txBody>
      </p:sp>
      <p:sp>
        <p:nvSpPr>
          <p:cNvPr id="4" name="Text Box 4"/>
          <p:cNvSpPr txBox="1">
            <a:spLocks noChangeArrowheads="1"/>
          </p:cNvSpPr>
          <p:nvPr/>
        </p:nvSpPr>
        <p:spPr bwMode="auto">
          <a:xfrm>
            <a:off x="883295" y="1484784"/>
            <a:ext cx="8813105" cy="489364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342900" indent="-342900">
              <a:lnSpc>
                <a:spcPct val="90000"/>
              </a:lnSpc>
              <a:spcBef>
                <a:spcPct val="20000"/>
              </a:spcBef>
              <a:buClr>
                <a:schemeClr val="bg2"/>
              </a:buClr>
              <a:buSzPct val="75000"/>
              <a:defRPr/>
            </a:pPr>
            <a:r>
              <a:rPr lang="en-US" altLang="zh-CN" sz="2400">
                <a:latin typeface="Arial" panose="020B0604020202020204" pitchFamily="34" charset="0"/>
                <a:ea typeface="幼圆" panose="02010509060101010101" pitchFamily="49" charset="-122"/>
                <a:cs typeface="Arial" panose="020B0604020202020204" pitchFamily="34" charset="0"/>
              </a:rPr>
              <a:t>procedure OK(k</a:t>
            </a:r>
            <a:r>
              <a:rPr lang="en-US" altLang="zh-CN" sz="2400" dirty="0">
                <a:latin typeface="Arial" panose="020B0604020202020204" pitchFamily="34" charset="0"/>
                <a:ea typeface="幼圆" panose="02010509060101010101" pitchFamily="49" charset="-122"/>
                <a:cs typeface="Arial" panose="020B0604020202020204" pitchFamily="34" charset="0"/>
              </a:rPr>
              <a:t>)</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rPr>
              <a:t>// </a:t>
            </a:r>
            <a:r>
              <a:rPr kumimoji="1" lang="en-US" altLang="zh-CN" sz="2400" dirty="0">
                <a:ea typeface="幼圆" panose="02010509060101010101" pitchFamily="49" charset="-122"/>
                <a:cs typeface="Arial" panose="020B0604020202020204" pitchFamily="34" charset="0"/>
              </a:rPr>
              <a:t>C</a:t>
            </a:r>
            <a:r>
              <a:rPr kumimoji="1" lang="zh-CN" altLang="en-US" sz="2400" dirty="0">
                <a:ea typeface="幼圆" panose="02010509060101010101" pitchFamily="49" charset="-122"/>
                <a:cs typeface="Arial" panose="020B0604020202020204" pitchFamily="34" charset="0"/>
              </a:rPr>
              <a:t>是全局数组</a:t>
            </a:r>
            <a:r>
              <a:rPr kumimoji="1" lang="en-US" altLang="zh-CN" sz="2400" dirty="0">
                <a:ea typeface="幼圆" panose="02010509060101010101" pitchFamily="49" charset="-122"/>
                <a:cs typeface="Arial" panose="020B0604020202020204" pitchFamily="34" charset="0"/>
              </a:rPr>
              <a:t>, </a:t>
            </a:r>
            <a:r>
              <a:rPr kumimoji="1" lang="zh-CN" altLang="en-US" sz="2400" dirty="0">
                <a:ea typeface="幼圆" panose="02010509060101010101" pitchFamily="49" charset="-122"/>
                <a:cs typeface="Arial" panose="020B0604020202020204" pitchFamily="34" charset="0"/>
              </a:rPr>
              <a:t>进入此过程时已置入了前</a:t>
            </a:r>
            <a:r>
              <a:rPr kumimoji="1" lang="en-US" altLang="zh-CN" sz="2400" dirty="0">
                <a:ea typeface="幼圆" panose="02010509060101010101" pitchFamily="49" charset="-122"/>
                <a:cs typeface="Arial" panose="020B0604020202020204" pitchFamily="34" charset="0"/>
              </a:rPr>
              <a:t>k</a:t>
            </a:r>
            <a:r>
              <a:rPr kumimoji="1" lang="zh-CN" altLang="en-US" sz="2400" dirty="0">
                <a:ea typeface="幼圆" panose="02010509060101010101" pitchFamily="49" charset="-122"/>
                <a:cs typeface="Arial" panose="020B0604020202020204" pitchFamily="34" charset="0"/>
              </a:rPr>
              <a:t>个值</a:t>
            </a:r>
            <a:endParaRPr lang="en-US" altLang="zh-CN" sz="2400" dirty="0">
              <a:latin typeface="Arial" panose="020B0604020202020204" pitchFamily="34" charset="0"/>
              <a:ea typeface="幼圆" panose="02010509060101010101" pitchFamily="49" charset="-122"/>
              <a:cs typeface="Arial" panose="020B0604020202020204" pitchFamily="34" charset="0"/>
            </a:endParaRP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rPr>
              <a:t>    </a:t>
            </a:r>
            <a:r>
              <a:rPr lang="en-US" altLang="zh-CN" sz="2400" dirty="0" err="1">
                <a:latin typeface="Arial" panose="020B0604020202020204" pitchFamily="34" charset="0"/>
                <a:ea typeface="幼圆" panose="02010509060101010101" pitchFamily="49" charset="-122"/>
                <a:cs typeface="Arial" panose="020B0604020202020204" pitchFamily="34" charset="0"/>
              </a:rPr>
              <a:t>int</a:t>
            </a:r>
            <a:r>
              <a:rPr lang="en-US" altLang="zh-CN" sz="2400" dirty="0">
                <a:latin typeface="Arial" panose="020B0604020202020204" pitchFamily="34" charset="0"/>
                <a:ea typeface="幼圆" panose="02010509060101010101" pitchFamily="49" charset="-122"/>
                <a:cs typeface="Arial" panose="020B0604020202020204" pitchFamily="34" charset="0"/>
              </a:rPr>
              <a:t>  </a:t>
            </a:r>
            <a:r>
              <a:rPr lang="en-US" altLang="zh-CN" sz="2400" dirty="0" err="1">
                <a:latin typeface="Arial" panose="020B0604020202020204" pitchFamily="34" charset="0"/>
                <a:ea typeface="幼圆" panose="02010509060101010101" pitchFamily="49" charset="-122"/>
                <a:cs typeface="Arial" panose="020B0604020202020204" pitchFamily="34" charset="0"/>
              </a:rPr>
              <a:t>i</a:t>
            </a:r>
            <a:r>
              <a:rPr lang="en-US" altLang="zh-CN" sz="2400" dirty="0">
                <a:latin typeface="Arial" panose="020B0604020202020204" pitchFamily="34" charset="0"/>
                <a:ea typeface="幼圆" panose="02010509060101010101" pitchFamily="49" charset="-122"/>
                <a:cs typeface="Arial" panose="020B0604020202020204" pitchFamily="34" charset="0"/>
              </a:rPr>
              <a:t> , k</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rPr>
              <a:t>    </a:t>
            </a:r>
            <a:r>
              <a:rPr lang="en-US" altLang="zh-CN" sz="2400" dirty="0" err="1">
                <a:latin typeface="Arial" panose="020B0604020202020204" pitchFamily="34" charset="0"/>
                <a:ea typeface="幼圆" panose="02010509060101010101" pitchFamily="49" charset="-122"/>
                <a:cs typeface="Arial" panose="020B0604020202020204" pitchFamily="34" charset="0"/>
              </a:rPr>
              <a:t>i</a:t>
            </a:r>
            <a:r>
              <a:rPr lang="en-US" altLang="zh-CN" sz="2400" dirty="0">
                <a:latin typeface="Arial" panose="020B0604020202020204" pitchFamily="34" charset="0"/>
                <a:ea typeface="幼圆" panose="02010509060101010101" pitchFamily="49" charset="-122"/>
                <a:cs typeface="Arial" panose="020B0604020202020204" pitchFamily="34" charset="0"/>
              </a:rPr>
              <a:t> ← </a:t>
            </a: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1</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   while (</a:t>
            </a:r>
            <a:r>
              <a:rPr lang="en-US" altLang="zh-CN" sz="2400" dirty="0" err="1">
                <a:latin typeface="Arial" panose="020B0604020202020204" pitchFamily="34" charset="0"/>
                <a:ea typeface="幼圆" panose="02010509060101010101" pitchFamily="49" charset="-122"/>
                <a:cs typeface="Arial" panose="020B0604020202020204" pitchFamily="34" charset="0"/>
                <a:sym typeface="Wingdings" pitchFamily="2" charset="2"/>
              </a:rPr>
              <a:t>i</a:t>
            </a: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&lt;k)  do</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        if (</a:t>
            </a:r>
            <a:r>
              <a:rPr lang="en-US" altLang="zh-CN" sz="2400" dirty="0" err="1">
                <a:latin typeface="Arial" panose="020B0604020202020204" pitchFamily="34" charset="0"/>
                <a:ea typeface="幼圆" panose="02010509060101010101" pitchFamily="49" charset="-122"/>
                <a:cs typeface="Arial" panose="020B0604020202020204" pitchFamily="34" charset="0"/>
                <a:sym typeface="Wingdings" pitchFamily="2" charset="2"/>
              </a:rPr>
              <a:t>i</a:t>
            </a:r>
            <a:r>
              <a:rPr lang="zh-CN" altLang="en-US" sz="2400" dirty="0">
                <a:latin typeface="Arial" panose="020B0604020202020204" pitchFamily="34" charset="0"/>
                <a:ea typeface="幼圆" panose="02010509060101010101" pitchFamily="49" charset="-122"/>
                <a:cs typeface="Arial" panose="020B0604020202020204" pitchFamily="34" charset="0"/>
                <a:sym typeface="Wingdings" pitchFamily="2" charset="2"/>
              </a:rPr>
              <a:t>和</a:t>
            </a: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k</a:t>
            </a:r>
            <a:r>
              <a:rPr lang="zh-CN" altLang="en-US" sz="2400" dirty="0">
                <a:latin typeface="Arial" panose="020B0604020202020204" pitchFamily="34" charset="0"/>
                <a:ea typeface="幼圆" panose="02010509060101010101" pitchFamily="49" charset="-122"/>
                <a:cs typeface="Arial" panose="020B0604020202020204" pitchFamily="34" charset="0"/>
                <a:sym typeface="Wingdings" pitchFamily="2" charset="2"/>
              </a:rPr>
              <a:t>之间有边存在 </a:t>
            </a: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and C(</a:t>
            </a:r>
            <a:r>
              <a:rPr lang="en-US" altLang="zh-CN" sz="2400" dirty="0" err="1">
                <a:latin typeface="Arial" panose="020B0604020202020204" pitchFamily="34" charset="0"/>
                <a:ea typeface="幼圆" panose="02010509060101010101" pitchFamily="49" charset="-122"/>
                <a:cs typeface="Arial" panose="020B0604020202020204" pitchFamily="34" charset="0"/>
                <a:sym typeface="Wingdings" pitchFamily="2" charset="2"/>
              </a:rPr>
              <a:t>i</a:t>
            </a: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)=C(k))</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              then  return </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sym typeface="Wingdings" pitchFamily="2" charset="2"/>
              </a:rPr>
              <a:t>false</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        endif</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        </a:t>
            </a:r>
            <a:r>
              <a:rPr lang="en-US" altLang="zh-CN" sz="2400" dirty="0" err="1">
                <a:latin typeface="Arial" panose="020B0604020202020204" pitchFamily="34" charset="0"/>
                <a:ea typeface="幼圆" panose="02010509060101010101" pitchFamily="49" charset="-122"/>
                <a:cs typeface="Arial" panose="020B0604020202020204" pitchFamily="34" charset="0"/>
                <a:sym typeface="Wingdings" pitchFamily="2" charset="2"/>
              </a:rPr>
              <a:t>i</a:t>
            </a: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 ← i+1</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    repeat   </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    return </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sym typeface="Wingdings" pitchFamily="2" charset="2"/>
              </a:rPr>
              <a:t>true</a:t>
            </a:r>
          </a:p>
          <a:p>
            <a:pPr marL="342900" indent="-342900">
              <a:lnSpc>
                <a:spcPct val="90000"/>
              </a:lnSpc>
              <a:spcBef>
                <a:spcPct val="20000"/>
              </a:spcBef>
              <a:buClr>
                <a:schemeClr val="bg2"/>
              </a:buClr>
              <a:buSzPct val="75000"/>
              <a:defRPr/>
            </a:pPr>
            <a:r>
              <a:rPr lang="en-US" altLang="zh-CN" sz="2400" dirty="0">
                <a:latin typeface="Arial" panose="020B0604020202020204" pitchFamily="34" charset="0"/>
                <a:ea typeface="幼圆" panose="02010509060101010101" pitchFamily="49" charset="-122"/>
                <a:cs typeface="Arial" panose="020B0604020202020204" pitchFamily="34" charset="0"/>
                <a:sym typeface="Wingdings" pitchFamily="2" charset="2"/>
              </a:rPr>
              <a:t>end  OK</a:t>
            </a:r>
          </a:p>
        </p:txBody>
      </p:sp>
      <p:sp>
        <p:nvSpPr>
          <p:cNvPr id="5" name="灯片编号占位符 3"/>
          <p:cNvSpPr>
            <a:spLocks noGrp="1"/>
          </p:cNvSpPr>
          <p:nvPr>
            <p:ph type="sldNum" sz="quarter" idx="12"/>
          </p:nvPr>
        </p:nvSpPr>
        <p:spPr>
          <a:xfrm>
            <a:off x="8610600" y="6356350"/>
            <a:ext cx="2743200" cy="365125"/>
          </a:xfrm>
        </p:spPr>
        <p:txBody>
          <a:bodyPr/>
          <a:lstStyle/>
          <a:p>
            <a:pPr>
              <a:defRPr/>
            </a:pPr>
            <a:fld id="{D04713B0-7EE7-420A-BB22-6F99F562E080}" type="slidenum">
              <a:rPr lang="en-US" altLang="zh-CN" smtClean="0"/>
              <a:pPr>
                <a:defRPr/>
              </a:pPr>
              <a:t>55</a:t>
            </a:fld>
            <a:endParaRPr lang="en-US" altLang="zh-CN" dirty="0"/>
          </a:p>
        </p:txBody>
      </p:sp>
      <p:sp>
        <p:nvSpPr>
          <p:cNvPr id="6" name="圆角矩形标注 5"/>
          <p:cNvSpPr/>
          <p:nvPr/>
        </p:nvSpPr>
        <p:spPr>
          <a:xfrm>
            <a:off x="7464152" y="2225308"/>
            <a:ext cx="1728192" cy="631076"/>
          </a:xfrm>
          <a:prstGeom prst="wedgeRoundRectCallout">
            <a:avLst>
              <a:gd name="adj1" fmla="val -50961"/>
              <a:gd name="adj2" fmla="val -79809"/>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50000"/>
              </a:spcBef>
            </a:pPr>
            <a:r>
              <a:rPr kumimoji="1"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约束函数</a:t>
            </a:r>
          </a:p>
        </p:txBody>
      </p:sp>
    </p:spTree>
    <p:extLst>
      <p:ext uri="{BB962C8B-B14F-4D97-AF65-F5344CB8AC3E}">
        <p14:creationId xmlns:p14="http://schemas.microsoft.com/office/powerpoint/2010/main" val="262122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400" y="44624"/>
            <a:ext cx="10515600" cy="1131382"/>
          </a:xfrm>
        </p:spPr>
        <p:txBody>
          <a:bodyPr/>
          <a:lstStyle/>
          <a:p>
            <a:r>
              <a:rPr lang="zh-CN" altLang="en-US" dirty="0"/>
              <a:t>算法</a:t>
            </a:r>
            <a:r>
              <a:rPr lang="en-US" altLang="zh-CN" dirty="0"/>
              <a:t>7.8 </a:t>
            </a:r>
            <a:r>
              <a:rPr lang="zh-CN" altLang="en-US" dirty="0"/>
              <a:t>图着色判定问题的回溯算法</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56</a:t>
            </a:fld>
            <a:endParaRPr lang="en-US" altLang="zh-CN"/>
          </a:p>
        </p:txBody>
      </p:sp>
      <p:sp>
        <p:nvSpPr>
          <p:cNvPr id="5" name="矩形 4"/>
          <p:cNvSpPr/>
          <p:nvPr/>
        </p:nvSpPr>
        <p:spPr>
          <a:xfrm>
            <a:off x="839416" y="960115"/>
            <a:ext cx="10371584" cy="5632311"/>
          </a:xfrm>
          <a:prstGeom prst="rect">
            <a:avLst/>
          </a:prstGeom>
          <a:ln>
            <a:solidFill>
              <a:schemeClr val="accent1"/>
            </a:solidFill>
          </a:ln>
        </p:spPr>
        <p:txBody>
          <a:bodyPr wrap="square">
            <a:spAutoFit/>
          </a:bodyPr>
          <a:lstStyle/>
          <a:p>
            <a:pPr>
              <a:defRPr/>
            </a:pPr>
            <a:r>
              <a:rPr lang="en-US" altLang="zh-CN" sz="2400" dirty="0">
                <a:latin typeface="Arial" panose="020B0604020202020204" pitchFamily="34" charset="0"/>
                <a:ea typeface="幼圆" panose="02010509060101010101" pitchFamily="49" charset="-122"/>
                <a:cs typeface="Arial" panose="020B0604020202020204" pitchFamily="34" charset="0"/>
              </a:rPr>
              <a:t>Procedure MCOLORING(</a:t>
            </a:r>
            <a:r>
              <a:rPr lang="en-US" altLang="zh-CN" sz="2400" dirty="0" err="1">
                <a:latin typeface="Arial" panose="020B0604020202020204" pitchFamily="34" charset="0"/>
                <a:ea typeface="幼圆" panose="02010509060101010101" pitchFamily="49" charset="-122"/>
                <a:cs typeface="Arial" panose="020B0604020202020204" pitchFamily="34" charset="0"/>
              </a:rPr>
              <a:t>V,E,C,n,m</a:t>
            </a:r>
            <a:r>
              <a:rPr lang="en-US" altLang="zh-CN" sz="2400" dirty="0">
                <a:latin typeface="Arial" panose="020B0604020202020204" pitchFamily="34" charset="0"/>
                <a:ea typeface="幼圆" panose="02010509060101010101" pitchFamily="49" charset="-122"/>
                <a:cs typeface="Arial" panose="020B0604020202020204" pitchFamily="34" charset="0"/>
              </a:rPr>
              <a:t>)</a:t>
            </a:r>
          </a:p>
          <a:p>
            <a:pPr>
              <a:defRPr/>
            </a:pPr>
            <a:r>
              <a:rPr lang="en-US" altLang="zh-CN" sz="2400" dirty="0">
                <a:latin typeface="Arial" panose="020B0604020202020204" pitchFamily="34" charset="0"/>
                <a:ea typeface="幼圆" panose="02010509060101010101" pitchFamily="49" charset="-122"/>
                <a:cs typeface="Arial" panose="020B0604020202020204" pitchFamily="34" charset="0"/>
              </a:rPr>
              <a:t>// </a:t>
            </a:r>
            <a:r>
              <a:rPr lang="zh-CN" altLang="en-US" sz="2400" dirty="0">
                <a:latin typeface="Arial" panose="020B0604020202020204" pitchFamily="34" charset="0"/>
                <a:ea typeface="幼圆" panose="02010509060101010101" pitchFamily="49" charset="-122"/>
                <a:cs typeface="Arial" panose="020B0604020202020204" pitchFamily="34" charset="0"/>
              </a:rPr>
              <a:t>图</a:t>
            </a:r>
            <a:r>
              <a:rPr lang="en-US" altLang="zh-CN" sz="2400" dirty="0">
                <a:latin typeface="Arial" panose="020B0604020202020204" pitchFamily="34" charset="0"/>
                <a:ea typeface="幼圆" panose="02010509060101010101" pitchFamily="49" charset="-122"/>
                <a:cs typeface="Arial" panose="020B0604020202020204" pitchFamily="34" charset="0"/>
              </a:rPr>
              <a:t>G=(V,E),n</a:t>
            </a:r>
            <a:r>
              <a:rPr lang="zh-CN" altLang="en-US" sz="2400" dirty="0">
                <a:latin typeface="Arial" panose="020B0604020202020204" pitchFamily="34" charset="0"/>
                <a:ea typeface="幼圆" panose="02010509060101010101" pitchFamily="49" charset="-122"/>
                <a:cs typeface="Arial" panose="020B0604020202020204" pitchFamily="34" charset="0"/>
              </a:rPr>
              <a:t>个顶点，</a:t>
            </a:r>
            <a:r>
              <a:rPr lang="en-US" altLang="zh-CN" sz="2400" dirty="0">
                <a:latin typeface="Arial" panose="020B0604020202020204" pitchFamily="34" charset="0"/>
                <a:ea typeface="幼圆" panose="02010509060101010101" pitchFamily="49" charset="-122"/>
                <a:cs typeface="Arial" panose="020B0604020202020204" pitchFamily="34" charset="0"/>
              </a:rPr>
              <a:t>m</a:t>
            </a:r>
            <a:r>
              <a:rPr lang="zh-CN" altLang="en-US" sz="2400" dirty="0">
                <a:latin typeface="Arial" panose="020B0604020202020204" pitchFamily="34" charset="0"/>
                <a:ea typeface="幼圆" panose="02010509060101010101" pitchFamily="49" charset="-122"/>
                <a:cs typeface="Arial" panose="020B0604020202020204" pitchFamily="34" charset="0"/>
              </a:rPr>
              <a:t>种颜色</a:t>
            </a:r>
            <a:endParaRPr lang="en-US" altLang="zh-CN" sz="2400" dirty="0">
              <a:latin typeface="Arial" panose="020B0604020202020204" pitchFamily="34" charset="0"/>
              <a:ea typeface="幼圆" panose="02010509060101010101" pitchFamily="49" charset="-122"/>
              <a:cs typeface="Arial" panose="020B0604020202020204" pitchFamily="34" charset="0"/>
            </a:endParaRPr>
          </a:p>
          <a:p>
            <a:pPr>
              <a:defRPr/>
            </a:pPr>
            <a:r>
              <a:rPr lang="en-US" altLang="zh-CN" sz="2400" dirty="0">
                <a:latin typeface="Arial" panose="020B0604020202020204" pitchFamily="34" charset="0"/>
                <a:ea typeface="幼圆" panose="02010509060101010101" pitchFamily="49" charset="-122"/>
                <a:cs typeface="Arial" panose="020B0604020202020204" pitchFamily="34" charset="0"/>
              </a:rPr>
              <a:t>C(1:n) ← 0;</a:t>
            </a:r>
            <a:r>
              <a:rPr lang="zh-CN" altLang="en-US" sz="2400" dirty="0">
                <a:latin typeface="Arial" panose="020B0604020202020204" pitchFamily="34" charset="0"/>
                <a:ea typeface="幼圆" panose="02010509060101010101" pitchFamily="49" charset="-122"/>
                <a:cs typeface="Arial" panose="020B0604020202020204" pitchFamily="34" charset="0"/>
              </a:rPr>
              <a:t> </a:t>
            </a:r>
            <a:r>
              <a:rPr lang="en-US" altLang="zh-CN" sz="2400" dirty="0">
                <a:latin typeface="Arial" panose="020B0604020202020204" pitchFamily="34" charset="0"/>
                <a:ea typeface="幼圆" panose="02010509060101010101" pitchFamily="49" charset="-122"/>
                <a:cs typeface="Arial" panose="020B0604020202020204" pitchFamily="34" charset="0"/>
              </a:rPr>
              <a:t>k ← 1 //C</a:t>
            </a:r>
            <a:r>
              <a:rPr lang="zh-CN" altLang="en-US" sz="2400" dirty="0">
                <a:latin typeface="Arial" panose="020B0604020202020204" pitchFamily="34" charset="0"/>
                <a:ea typeface="幼圆" panose="02010509060101010101" pitchFamily="49" charset="-122"/>
                <a:cs typeface="Arial" panose="020B0604020202020204" pitchFamily="34" charset="0"/>
              </a:rPr>
              <a:t>记录决策序列，从第一个顶点开始</a:t>
            </a:r>
            <a:endParaRPr lang="en-US" altLang="zh-CN" sz="2400" dirty="0">
              <a:latin typeface="Arial" panose="020B0604020202020204" pitchFamily="34" charset="0"/>
              <a:ea typeface="幼圆" panose="02010509060101010101" pitchFamily="49" charset="-122"/>
              <a:cs typeface="Arial" panose="020B0604020202020204" pitchFamily="34" charset="0"/>
            </a:endParaRP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while (k≥1)</a:t>
            </a: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    C(k) ← C(k) +1</a:t>
            </a:r>
          </a:p>
          <a:p>
            <a:pPr>
              <a:defRPr/>
            </a:pPr>
            <a:r>
              <a:rPr lang="en-US" altLang="zh-CN" sz="2400" dirty="0">
                <a:latin typeface="Arial" panose="020B0604020202020204" pitchFamily="34" charset="0"/>
                <a:ea typeface="幼圆" panose="02010509060101010101" pitchFamily="49" charset="-122"/>
                <a:cs typeface="Arial" panose="020B0604020202020204" pitchFamily="34" charset="0"/>
              </a:rPr>
              <a:t>    while (not </a:t>
            </a:r>
            <a:r>
              <a:rPr lang="en-US" altLang="zh-CN" sz="2400" u="sng" dirty="0">
                <a:solidFill>
                  <a:srgbClr val="FF0000"/>
                </a:solidFill>
                <a:latin typeface="Arial" panose="020B0604020202020204" pitchFamily="34" charset="0"/>
                <a:ea typeface="幼圆" panose="02010509060101010101" pitchFamily="49" charset="-122"/>
                <a:cs typeface="Arial" panose="020B0604020202020204" pitchFamily="34" charset="0"/>
              </a:rPr>
              <a:t>OK(k)</a:t>
            </a:r>
            <a:r>
              <a:rPr lang="en-US" altLang="zh-CN" sz="2400" dirty="0">
                <a:solidFill>
                  <a:srgbClr val="0000FF"/>
                </a:solidFill>
                <a:latin typeface="Arial" panose="020B0604020202020204" pitchFamily="34" charset="0"/>
                <a:ea typeface="幼圆" panose="02010509060101010101" pitchFamily="49" charset="-122"/>
                <a:cs typeface="Arial" panose="020B0604020202020204" pitchFamily="34" charset="0"/>
              </a:rPr>
              <a:t> </a:t>
            </a:r>
            <a:r>
              <a:rPr lang="en-US" altLang="zh-CN" sz="2400" dirty="0">
                <a:latin typeface="Arial" panose="020B0604020202020204" pitchFamily="34" charset="0"/>
                <a:ea typeface="幼圆" panose="02010509060101010101" pitchFamily="49" charset="-122"/>
                <a:cs typeface="Arial" panose="020B0604020202020204" pitchFamily="34" charset="0"/>
              </a:rPr>
              <a:t>and C(k)≤m) do C(k) ← C(k) +1 repeat</a:t>
            </a: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    if C(k) ≤ m then </a:t>
            </a: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              if k=n then print(C); return </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true  </a:t>
            </a:r>
            <a:r>
              <a:rPr lang="en-US" altLang="zh-CN" sz="2400" dirty="0">
                <a:latin typeface="Arial" panose="020B0604020202020204" pitchFamily="34" charset="0"/>
                <a:ea typeface="幼圆" panose="02010509060101010101" pitchFamily="49" charset="-122"/>
                <a:cs typeface="Arial" panose="020B0604020202020204" pitchFamily="34" charset="0"/>
              </a:rPr>
              <a:t>//</a:t>
            </a:r>
            <a:r>
              <a:rPr lang="zh-CN" altLang="en-US" sz="2400" dirty="0">
                <a:latin typeface="Arial" panose="020B0604020202020204" pitchFamily="34" charset="0"/>
                <a:ea typeface="幼圆" panose="02010509060101010101" pitchFamily="49" charset="-122"/>
                <a:cs typeface="Arial" panose="020B0604020202020204" pitchFamily="34" charset="0"/>
              </a:rPr>
              <a:t>全部着色</a:t>
            </a:r>
            <a:r>
              <a:rPr lang="en-US" altLang="zh-CN" sz="2400" dirty="0">
                <a:latin typeface="Arial" panose="020B0604020202020204" pitchFamily="34" charset="0"/>
                <a:ea typeface="幼圆" panose="02010509060101010101" pitchFamily="49" charset="-122"/>
                <a:cs typeface="Arial" panose="020B0604020202020204" pitchFamily="34" charset="0"/>
              </a:rPr>
              <a:t>,</a:t>
            </a:r>
            <a:r>
              <a:rPr lang="zh-CN" altLang="en-US" sz="2400" dirty="0">
                <a:latin typeface="Arial" panose="020B0604020202020204" pitchFamily="34" charset="0"/>
                <a:ea typeface="幼圆" panose="02010509060101010101" pitchFamily="49" charset="-122"/>
                <a:cs typeface="Arial" panose="020B0604020202020204" pitchFamily="34" charset="0"/>
              </a:rPr>
              <a:t>打印</a:t>
            </a:r>
            <a:r>
              <a:rPr lang="en-US" altLang="zh-CN" sz="2400" dirty="0">
                <a:latin typeface="Arial" panose="020B0604020202020204" pitchFamily="34" charset="0"/>
                <a:ea typeface="幼圆" panose="02010509060101010101" pitchFamily="49" charset="-122"/>
                <a:cs typeface="Arial" panose="020B0604020202020204" pitchFamily="34" charset="0"/>
              </a:rPr>
              <a:t>         </a:t>
            </a: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                         else k ← k+1; C(k) ← 0  //</a:t>
            </a:r>
            <a:r>
              <a:rPr lang="zh-CN" altLang="en-US" sz="2400" dirty="0">
                <a:latin typeface="Arial" panose="020B0604020202020204" pitchFamily="34" charset="0"/>
                <a:ea typeface="幼圆" panose="02010509060101010101" pitchFamily="49" charset="-122"/>
                <a:cs typeface="Arial" panose="020B0604020202020204" pitchFamily="34" charset="0"/>
              </a:rPr>
              <a:t>准备为下一个顶点着色</a:t>
            </a:r>
            <a:endParaRPr lang="en-US" altLang="zh-CN" sz="2400" dirty="0">
              <a:latin typeface="Arial" panose="020B0604020202020204" pitchFamily="34" charset="0"/>
              <a:ea typeface="幼圆" panose="02010509060101010101" pitchFamily="49" charset="-122"/>
              <a:cs typeface="Arial" panose="020B0604020202020204" pitchFamily="34" charset="0"/>
            </a:endParaRPr>
          </a:p>
          <a:p>
            <a:pPr>
              <a:buFont typeface="Wingdings" pitchFamily="2" charset="2"/>
              <a:buNone/>
              <a:defRPr/>
            </a:pP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              </a:t>
            </a:r>
            <a:r>
              <a:rPr lang="en-US" altLang="zh-CN" sz="2400" dirty="0">
                <a:latin typeface="Arial" panose="020B0604020202020204" pitchFamily="34" charset="0"/>
                <a:ea typeface="幼圆" panose="02010509060101010101" pitchFamily="49" charset="-122"/>
                <a:cs typeface="Arial" panose="020B0604020202020204" pitchFamily="34" charset="0"/>
              </a:rPr>
              <a:t>endif</a:t>
            </a: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         else k ← k-1 //</a:t>
            </a:r>
            <a:r>
              <a:rPr lang="zh-CN" altLang="en-US" sz="2400" dirty="0">
                <a:latin typeface="Arial" panose="020B0604020202020204" pitchFamily="34" charset="0"/>
                <a:ea typeface="幼圆" panose="02010509060101010101" pitchFamily="49" charset="-122"/>
                <a:cs typeface="Arial" panose="020B0604020202020204" pitchFamily="34" charset="0"/>
              </a:rPr>
              <a:t>顶点</a:t>
            </a:r>
            <a:r>
              <a:rPr lang="en-US" altLang="zh-CN" sz="2400" dirty="0">
                <a:latin typeface="Arial" panose="020B0604020202020204" pitchFamily="34" charset="0"/>
                <a:ea typeface="幼圆" panose="02010509060101010101" pitchFamily="49" charset="-122"/>
                <a:cs typeface="Arial" panose="020B0604020202020204" pitchFamily="34" charset="0"/>
              </a:rPr>
              <a:t>k</a:t>
            </a:r>
            <a:r>
              <a:rPr lang="zh-CN" altLang="en-US" sz="2400" dirty="0">
                <a:latin typeface="Arial" panose="020B0604020202020204" pitchFamily="34" charset="0"/>
                <a:ea typeface="幼圆" panose="02010509060101010101" pitchFamily="49" charset="-122"/>
                <a:cs typeface="Arial" panose="020B0604020202020204" pitchFamily="34" charset="0"/>
              </a:rPr>
              <a:t>无法着色，回溯</a:t>
            </a:r>
            <a:endParaRPr lang="en-US" altLang="zh-CN" sz="2400" dirty="0">
              <a:latin typeface="Arial" panose="020B0604020202020204" pitchFamily="34" charset="0"/>
              <a:ea typeface="幼圆" panose="02010509060101010101" pitchFamily="49" charset="-122"/>
              <a:cs typeface="Arial" panose="020B0604020202020204" pitchFamily="34" charset="0"/>
            </a:endParaRP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    endif</a:t>
            </a:r>
            <a:r>
              <a:rPr lang="en-US" altLang="zh-CN" sz="2400" dirty="0">
                <a:solidFill>
                  <a:srgbClr val="0000FF"/>
                </a:solidFill>
                <a:latin typeface="Arial" panose="020B0604020202020204" pitchFamily="34" charset="0"/>
                <a:ea typeface="幼圆" panose="02010509060101010101" pitchFamily="49" charset="-122"/>
                <a:cs typeface="Arial" panose="020B0604020202020204" pitchFamily="34" charset="0"/>
              </a:rPr>
              <a:t> </a:t>
            </a:r>
          </a:p>
          <a:p>
            <a:pPr>
              <a:defRPr/>
            </a:pPr>
            <a:r>
              <a:rPr lang="en-US" altLang="zh-CN" sz="2400" dirty="0">
                <a:latin typeface="Arial" panose="020B0604020202020204" pitchFamily="34" charset="0"/>
                <a:ea typeface="幼圆" panose="02010509060101010101" pitchFamily="49" charset="-122"/>
                <a:cs typeface="Arial" panose="020B0604020202020204" pitchFamily="34" charset="0"/>
              </a:rPr>
              <a:t>repeat //k=0</a:t>
            </a:r>
            <a:r>
              <a:rPr lang="zh-CN" altLang="en-US" sz="2400" dirty="0">
                <a:latin typeface="Arial" panose="020B0604020202020204" pitchFamily="34" charset="0"/>
                <a:ea typeface="幼圆" panose="02010509060101010101" pitchFamily="49" charset="-122"/>
                <a:cs typeface="Arial" panose="020B0604020202020204" pitchFamily="34" charset="0"/>
              </a:rPr>
              <a:t>表示整颗树遍历完毕</a:t>
            </a:r>
            <a:endParaRPr lang="en-US" altLang="zh-CN" sz="2400" dirty="0">
              <a:latin typeface="Arial" panose="020B0604020202020204" pitchFamily="34" charset="0"/>
              <a:ea typeface="幼圆" panose="02010509060101010101" pitchFamily="49" charset="-122"/>
              <a:cs typeface="Arial" panose="020B0604020202020204" pitchFamily="34" charset="0"/>
            </a:endParaRP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return </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false</a:t>
            </a:r>
          </a:p>
          <a:p>
            <a:pPr>
              <a:buFont typeface="Wingdings" pitchFamily="2" charset="2"/>
              <a:buNone/>
              <a:defRPr/>
            </a:pPr>
            <a:r>
              <a:rPr lang="en-US" altLang="zh-CN" sz="2400" dirty="0">
                <a:latin typeface="Arial" panose="020B0604020202020204" pitchFamily="34" charset="0"/>
                <a:ea typeface="幼圆" panose="02010509060101010101" pitchFamily="49" charset="-122"/>
                <a:cs typeface="Arial" panose="020B0604020202020204" pitchFamily="34" charset="0"/>
              </a:rPr>
              <a:t>END MCOLORING</a:t>
            </a:r>
            <a:endParaRPr lang="zh-CN" altLang="en-US" sz="2400" dirty="0">
              <a:latin typeface="Arial" panose="020B0604020202020204" pitchFamily="34" charset="0"/>
              <a:ea typeface="幼圆" panose="02010509060101010101" pitchFamily="49" charset="-122"/>
              <a:cs typeface="Arial" panose="020B0604020202020204" pitchFamily="34" charset="0"/>
            </a:endParaRPr>
          </a:p>
        </p:txBody>
      </p:sp>
      <p:sp>
        <p:nvSpPr>
          <p:cNvPr id="9" name="Rectangle 6"/>
          <p:cNvSpPr>
            <a:spLocks noChangeArrowheads="1"/>
          </p:cNvSpPr>
          <p:nvPr/>
        </p:nvSpPr>
        <p:spPr bwMode="auto">
          <a:xfrm>
            <a:off x="1991544" y="3573016"/>
            <a:ext cx="4320480" cy="108012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74027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400" y="40009"/>
            <a:ext cx="10515600" cy="1325563"/>
          </a:xfrm>
        </p:spPr>
        <p:txBody>
          <a:bodyPr/>
          <a:lstStyle/>
          <a:p>
            <a:r>
              <a:rPr lang="zh-CN" altLang="en-US" dirty="0"/>
              <a:t>实例分析</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57</a:t>
            </a:fld>
            <a:endParaRPr lang="en-US" altLang="zh-CN"/>
          </a:p>
        </p:txBody>
      </p:sp>
      <p:grpSp>
        <p:nvGrpSpPr>
          <p:cNvPr id="5" name="组合 84"/>
          <p:cNvGrpSpPr>
            <a:grpSpLocks/>
          </p:cNvGrpSpPr>
          <p:nvPr/>
        </p:nvGrpSpPr>
        <p:grpSpPr bwMode="auto">
          <a:xfrm>
            <a:off x="6672064" y="1582094"/>
            <a:ext cx="3762133" cy="4295178"/>
            <a:chOff x="2452127" y="861998"/>
            <a:chExt cx="4452897" cy="5134004"/>
          </a:xfrm>
        </p:grpSpPr>
        <p:sp>
          <p:nvSpPr>
            <p:cNvPr id="14" name="Text Box 40"/>
            <p:cNvSpPr txBox="1">
              <a:spLocks noChangeArrowheads="1"/>
            </p:cNvSpPr>
            <p:nvPr/>
          </p:nvSpPr>
          <p:spPr bwMode="auto">
            <a:xfrm>
              <a:off x="3969533" y="1063335"/>
              <a:ext cx="1076321" cy="48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A=1</a:t>
              </a:r>
            </a:p>
          </p:txBody>
        </p:sp>
        <p:sp>
          <p:nvSpPr>
            <p:cNvPr id="17" name="Text Box 40"/>
            <p:cNvSpPr txBox="1">
              <a:spLocks noChangeArrowheads="1"/>
            </p:cNvSpPr>
            <p:nvPr/>
          </p:nvSpPr>
          <p:spPr bwMode="auto">
            <a:xfrm>
              <a:off x="4071934" y="1928802"/>
              <a:ext cx="1262051" cy="48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B=2</a:t>
              </a:r>
            </a:p>
          </p:txBody>
        </p:sp>
        <p:sp>
          <p:nvSpPr>
            <p:cNvPr id="18" name="Text Box 40"/>
            <p:cNvSpPr txBox="1">
              <a:spLocks noChangeArrowheads="1"/>
            </p:cNvSpPr>
            <p:nvPr/>
          </p:nvSpPr>
          <p:spPr bwMode="auto">
            <a:xfrm>
              <a:off x="2749742" y="1772673"/>
              <a:ext cx="1211215" cy="48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B=1</a:t>
              </a:r>
            </a:p>
          </p:txBody>
        </p:sp>
        <p:sp>
          <p:nvSpPr>
            <p:cNvPr id="21" name="Text Box 40"/>
            <p:cNvSpPr txBox="1">
              <a:spLocks noChangeArrowheads="1"/>
            </p:cNvSpPr>
            <p:nvPr/>
          </p:nvSpPr>
          <p:spPr bwMode="auto">
            <a:xfrm>
              <a:off x="2526305" y="2960550"/>
              <a:ext cx="3243268" cy="48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C=1      C=2     C=3</a:t>
              </a:r>
            </a:p>
          </p:txBody>
        </p:sp>
        <p:sp>
          <p:nvSpPr>
            <p:cNvPr id="27" name="Text Box 40"/>
            <p:cNvSpPr txBox="1">
              <a:spLocks noChangeArrowheads="1"/>
            </p:cNvSpPr>
            <p:nvPr/>
          </p:nvSpPr>
          <p:spPr bwMode="auto">
            <a:xfrm>
              <a:off x="3691610" y="4032434"/>
              <a:ext cx="3157224" cy="48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D=1      D=2     D=3</a:t>
              </a:r>
            </a:p>
          </p:txBody>
        </p:sp>
        <p:sp>
          <p:nvSpPr>
            <p:cNvPr id="35" name="Text Box 40"/>
            <p:cNvSpPr txBox="1">
              <a:spLocks noChangeArrowheads="1"/>
            </p:cNvSpPr>
            <p:nvPr/>
          </p:nvSpPr>
          <p:spPr bwMode="auto">
            <a:xfrm>
              <a:off x="2452127" y="5050713"/>
              <a:ext cx="3638548" cy="48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E=1      E=2     E=3</a:t>
              </a:r>
            </a:p>
          </p:txBody>
        </p:sp>
        <p:sp>
          <p:nvSpPr>
            <p:cNvPr id="38" name="Text Box 40"/>
            <p:cNvSpPr txBox="1">
              <a:spLocks noChangeArrowheads="1"/>
            </p:cNvSpPr>
            <p:nvPr/>
          </p:nvSpPr>
          <p:spPr bwMode="auto">
            <a:xfrm>
              <a:off x="6064155" y="5047185"/>
              <a:ext cx="840869" cy="48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dirty="0">
                  <a:cs typeface="Arial" panose="020B0604020202020204" pitchFamily="34" charset="0"/>
                </a:rPr>
                <a:t>E=1</a:t>
              </a:r>
            </a:p>
          </p:txBody>
        </p:sp>
        <p:sp>
          <p:nvSpPr>
            <p:cNvPr id="6" name="Oval 3"/>
            <p:cNvSpPr>
              <a:spLocks noChangeArrowheads="1"/>
            </p:cNvSpPr>
            <p:nvPr/>
          </p:nvSpPr>
          <p:spPr bwMode="auto">
            <a:xfrm>
              <a:off x="4914900" y="861998"/>
              <a:ext cx="533400" cy="495300"/>
            </a:xfrm>
            <a:prstGeom prst="ellipse">
              <a:avLst/>
            </a:prstGeom>
            <a:solidFill>
              <a:schemeClr val="bg1"/>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a:t>
              </a:r>
            </a:p>
          </p:txBody>
        </p:sp>
        <p:sp>
          <p:nvSpPr>
            <p:cNvPr id="7" name="Oval 4"/>
            <p:cNvSpPr>
              <a:spLocks noChangeArrowheads="1"/>
            </p:cNvSpPr>
            <p:nvPr/>
          </p:nvSpPr>
          <p:spPr bwMode="auto">
            <a:xfrm>
              <a:off x="3714744" y="1571612"/>
              <a:ext cx="533400" cy="495300"/>
            </a:xfrm>
            <a:prstGeom prst="ellipse">
              <a:avLst/>
            </a:prstGeom>
            <a:solidFill>
              <a:schemeClr val="bg1"/>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2</a:t>
              </a:r>
            </a:p>
          </p:txBody>
        </p:sp>
        <p:sp>
          <p:nvSpPr>
            <p:cNvPr id="8" name="Oval 17"/>
            <p:cNvSpPr>
              <a:spLocks noChangeArrowheads="1"/>
            </p:cNvSpPr>
            <p:nvPr/>
          </p:nvSpPr>
          <p:spPr bwMode="auto">
            <a:xfrm>
              <a:off x="3681410" y="2285992"/>
              <a:ext cx="533400" cy="495300"/>
            </a:xfrm>
            <a:prstGeom prst="ellipse">
              <a:avLst/>
            </a:prstGeom>
            <a:solidFill>
              <a:schemeClr val="bg1"/>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4</a:t>
              </a:r>
            </a:p>
          </p:txBody>
        </p:sp>
        <p:sp>
          <p:nvSpPr>
            <p:cNvPr id="9" name="Line 19"/>
            <p:cNvSpPr>
              <a:spLocks noChangeShapeType="1"/>
            </p:cNvSpPr>
            <p:nvPr/>
          </p:nvSpPr>
          <p:spPr bwMode="auto">
            <a:xfrm flipH="1">
              <a:off x="4214810" y="1257301"/>
              <a:ext cx="762000" cy="43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0" name="Line 23"/>
            <p:cNvSpPr>
              <a:spLocks noChangeShapeType="1"/>
            </p:cNvSpPr>
            <p:nvPr/>
          </p:nvSpPr>
          <p:spPr bwMode="auto">
            <a:xfrm flipH="1">
              <a:off x="2838436" y="2786058"/>
              <a:ext cx="1085850" cy="93345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1" name="Line 24"/>
            <p:cNvSpPr>
              <a:spLocks noChangeShapeType="1"/>
            </p:cNvSpPr>
            <p:nvPr/>
          </p:nvSpPr>
          <p:spPr bwMode="auto">
            <a:xfrm>
              <a:off x="3960958" y="2776528"/>
              <a:ext cx="25248" cy="773325"/>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2" name="Line 26"/>
            <p:cNvSpPr>
              <a:spLocks noChangeShapeType="1"/>
            </p:cNvSpPr>
            <p:nvPr/>
          </p:nvSpPr>
          <p:spPr bwMode="auto">
            <a:xfrm>
              <a:off x="3986205" y="2776527"/>
              <a:ext cx="1042981" cy="96203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3" name="Line 30"/>
            <p:cNvSpPr>
              <a:spLocks noChangeShapeType="1"/>
            </p:cNvSpPr>
            <p:nvPr/>
          </p:nvSpPr>
          <p:spPr bwMode="auto">
            <a:xfrm>
              <a:off x="3960957" y="2055258"/>
              <a:ext cx="0" cy="216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5" name="Oval 4"/>
            <p:cNvSpPr>
              <a:spLocks noChangeArrowheads="1"/>
            </p:cNvSpPr>
            <p:nvPr/>
          </p:nvSpPr>
          <p:spPr bwMode="auto">
            <a:xfrm>
              <a:off x="2500298" y="2281226"/>
              <a:ext cx="533400" cy="495300"/>
            </a:xfrm>
            <a:prstGeom prst="ellipse">
              <a:avLst/>
            </a:prstGeom>
            <a:solidFill>
              <a:schemeClr val="accent1">
                <a:lumMod val="60000"/>
                <a:lumOff val="40000"/>
              </a:schemeClr>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3</a:t>
              </a:r>
            </a:p>
          </p:txBody>
        </p:sp>
        <p:sp>
          <p:nvSpPr>
            <p:cNvPr id="16" name="Line 19"/>
            <p:cNvSpPr>
              <a:spLocks noChangeShapeType="1"/>
            </p:cNvSpPr>
            <p:nvPr/>
          </p:nvSpPr>
          <p:spPr bwMode="auto">
            <a:xfrm flipH="1">
              <a:off x="3000364" y="1966915"/>
              <a:ext cx="762000" cy="43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19" name="Oval 8"/>
            <p:cNvSpPr>
              <a:spLocks noChangeArrowheads="1"/>
            </p:cNvSpPr>
            <p:nvPr/>
          </p:nvSpPr>
          <p:spPr bwMode="auto">
            <a:xfrm>
              <a:off x="2571736" y="3429000"/>
              <a:ext cx="533400" cy="495300"/>
            </a:xfrm>
            <a:prstGeom prst="ellipse">
              <a:avLst/>
            </a:prstGeom>
            <a:solidFill>
              <a:schemeClr val="accent1">
                <a:lumMod val="60000"/>
                <a:lumOff val="40000"/>
              </a:schemeClr>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5</a:t>
              </a:r>
            </a:p>
          </p:txBody>
        </p:sp>
        <p:sp>
          <p:nvSpPr>
            <p:cNvPr id="20" name="Oval 9"/>
            <p:cNvSpPr>
              <a:spLocks noChangeArrowheads="1"/>
            </p:cNvSpPr>
            <p:nvPr/>
          </p:nvSpPr>
          <p:spPr bwMode="auto">
            <a:xfrm>
              <a:off x="3733786" y="3429000"/>
              <a:ext cx="533400" cy="495300"/>
            </a:xfrm>
            <a:prstGeom prst="ellipse">
              <a:avLst/>
            </a:prstGeom>
            <a:solidFill>
              <a:schemeClr val="accent1">
                <a:lumMod val="60000"/>
                <a:lumOff val="40000"/>
              </a:schemeClr>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6</a:t>
              </a:r>
            </a:p>
          </p:txBody>
        </p:sp>
        <p:sp>
          <p:nvSpPr>
            <p:cNvPr id="22" name="Line 23"/>
            <p:cNvSpPr>
              <a:spLocks noChangeShapeType="1"/>
            </p:cNvSpPr>
            <p:nvPr/>
          </p:nvSpPr>
          <p:spPr bwMode="auto">
            <a:xfrm flipH="1">
              <a:off x="3910006" y="3857628"/>
              <a:ext cx="1085850" cy="93345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3" name="Line 24"/>
            <p:cNvSpPr>
              <a:spLocks noChangeShapeType="1"/>
            </p:cNvSpPr>
            <p:nvPr/>
          </p:nvSpPr>
          <p:spPr bwMode="auto">
            <a:xfrm>
              <a:off x="5072056" y="3895728"/>
              <a:ext cx="0" cy="9144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4" name="Line 26"/>
            <p:cNvSpPr>
              <a:spLocks noChangeShapeType="1"/>
            </p:cNvSpPr>
            <p:nvPr/>
          </p:nvSpPr>
          <p:spPr bwMode="auto">
            <a:xfrm>
              <a:off x="5148256" y="3857628"/>
              <a:ext cx="952500" cy="9525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25" name="Oval 9"/>
            <p:cNvSpPr>
              <a:spLocks noChangeArrowheads="1"/>
            </p:cNvSpPr>
            <p:nvPr/>
          </p:nvSpPr>
          <p:spPr bwMode="auto">
            <a:xfrm>
              <a:off x="4805356" y="4500570"/>
              <a:ext cx="533400" cy="495300"/>
            </a:xfrm>
            <a:prstGeom prst="ellipse">
              <a:avLst/>
            </a:prstGeom>
            <a:solidFill>
              <a:schemeClr val="accent1">
                <a:lumMod val="60000"/>
                <a:lumOff val="40000"/>
              </a:schemeClr>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12</a:t>
              </a:r>
            </a:p>
          </p:txBody>
        </p:sp>
        <p:sp>
          <p:nvSpPr>
            <p:cNvPr id="26" name="Oval 10"/>
            <p:cNvSpPr>
              <a:spLocks noChangeArrowheads="1"/>
            </p:cNvSpPr>
            <p:nvPr/>
          </p:nvSpPr>
          <p:spPr bwMode="auto">
            <a:xfrm>
              <a:off x="5872156" y="4500570"/>
              <a:ext cx="533400" cy="495300"/>
            </a:xfrm>
            <a:prstGeom prst="ellipse">
              <a:avLst/>
            </a:prstGeom>
            <a:solidFill>
              <a:schemeClr val="bg1"/>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13</a:t>
              </a:r>
            </a:p>
          </p:txBody>
        </p:sp>
        <p:sp>
          <p:nvSpPr>
            <p:cNvPr id="28" name="Oval 10"/>
            <p:cNvSpPr>
              <a:spLocks noChangeArrowheads="1"/>
            </p:cNvSpPr>
            <p:nvPr/>
          </p:nvSpPr>
          <p:spPr bwMode="auto">
            <a:xfrm>
              <a:off x="4800586" y="3429000"/>
              <a:ext cx="533400" cy="495300"/>
            </a:xfrm>
            <a:prstGeom prst="ellipse">
              <a:avLst/>
            </a:prstGeom>
            <a:solidFill>
              <a:schemeClr val="bg1"/>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7</a:t>
              </a:r>
            </a:p>
          </p:txBody>
        </p:sp>
        <p:sp>
          <p:nvSpPr>
            <p:cNvPr id="29" name="Line 23"/>
            <p:cNvSpPr>
              <a:spLocks noChangeShapeType="1"/>
            </p:cNvSpPr>
            <p:nvPr/>
          </p:nvSpPr>
          <p:spPr bwMode="auto">
            <a:xfrm flipH="1">
              <a:off x="2749741" y="4981426"/>
              <a:ext cx="1114452" cy="795507"/>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0" name="Line 24"/>
            <p:cNvSpPr>
              <a:spLocks noChangeShapeType="1"/>
            </p:cNvSpPr>
            <p:nvPr/>
          </p:nvSpPr>
          <p:spPr bwMode="auto">
            <a:xfrm>
              <a:off x="3910006" y="4895860"/>
              <a:ext cx="0" cy="9144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1" name="Line 26"/>
            <p:cNvSpPr>
              <a:spLocks noChangeShapeType="1"/>
            </p:cNvSpPr>
            <p:nvPr/>
          </p:nvSpPr>
          <p:spPr bwMode="auto">
            <a:xfrm>
              <a:off x="3960957" y="4963279"/>
              <a:ext cx="977749" cy="846981"/>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sp>
          <p:nvSpPr>
            <p:cNvPr id="32" name="Oval 8"/>
            <p:cNvSpPr>
              <a:spLocks noChangeArrowheads="1"/>
            </p:cNvSpPr>
            <p:nvPr/>
          </p:nvSpPr>
          <p:spPr bwMode="auto">
            <a:xfrm>
              <a:off x="2481256" y="5500702"/>
              <a:ext cx="533400" cy="495300"/>
            </a:xfrm>
            <a:prstGeom prst="ellipse">
              <a:avLst/>
            </a:prstGeom>
            <a:solidFill>
              <a:schemeClr val="accent1">
                <a:lumMod val="60000"/>
                <a:lumOff val="40000"/>
              </a:schemeClr>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9</a:t>
              </a:r>
            </a:p>
          </p:txBody>
        </p:sp>
        <p:sp>
          <p:nvSpPr>
            <p:cNvPr id="33" name="Oval 9"/>
            <p:cNvSpPr>
              <a:spLocks noChangeArrowheads="1"/>
            </p:cNvSpPr>
            <p:nvPr/>
          </p:nvSpPr>
          <p:spPr bwMode="auto">
            <a:xfrm>
              <a:off x="3643306" y="5500702"/>
              <a:ext cx="533400" cy="495300"/>
            </a:xfrm>
            <a:prstGeom prst="ellipse">
              <a:avLst/>
            </a:prstGeom>
            <a:solidFill>
              <a:schemeClr val="accent1">
                <a:lumMod val="60000"/>
                <a:lumOff val="40000"/>
              </a:schemeClr>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10</a:t>
              </a:r>
            </a:p>
          </p:txBody>
        </p:sp>
        <p:sp>
          <p:nvSpPr>
            <p:cNvPr id="34" name="Oval 10"/>
            <p:cNvSpPr>
              <a:spLocks noChangeArrowheads="1"/>
            </p:cNvSpPr>
            <p:nvPr/>
          </p:nvSpPr>
          <p:spPr bwMode="auto">
            <a:xfrm>
              <a:off x="4710106" y="5500702"/>
              <a:ext cx="533400" cy="495300"/>
            </a:xfrm>
            <a:prstGeom prst="ellipse">
              <a:avLst/>
            </a:prstGeom>
            <a:solidFill>
              <a:schemeClr val="accent1">
                <a:lumMod val="60000"/>
                <a:lumOff val="40000"/>
              </a:schemeClr>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11</a:t>
              </a:r>
            </a:p>
          </p:txBody>
        </p:sp>
        <p:sp>
          <p:nvSpPr>
            <p:cNvPr id="36" name="Oval 8"/>
            <p:cNvSpPr>
              <a:spLocks noChangeArrowheads="1"/>
            </p:cNvSpPr>
            <p:nvPr/>
          </p:nvSpPr>
          <p:spPr bwMode="auto">
            <a:xfrm>
              <a:off x="3643312" y="4500569"/>
              <a:ext cx="533403" cy="495303"/>
            </a:xfrm>
            <a:prstGeom prst="ellipse">
              <a:avLst/>
            </a:prstGeom>
            <a:solidFill>
              <a:schemeClr val="bg1"/>
            </a:solidFill>
            <a:ln w="12700">
              <a:solidFill>
                <a:schemeClr val="tx1"/>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8</a:t>
              </a:r>
            </a:p>
          </p:txBody>
        </p:sp>
        <p:sp>
          <p:nvSpPr>
            <p:cNvPr id="37" name="Oval 4"/>
            <p:cNvSpPr>
              <a:spLocks noChangeArrowheads="1"/>
            </p:cNvSpPr>
            <p:nvPr/>
          </p:nvSpPr>
          <p:spPr bwMode="auto">
            <a:xfrm>
              <a:off x="5805496" y="5500699"/>
              <a:ext cx="533403" cy="495303"/>
            </a:xfrm>
            <a:prstGeom prst="ellipse">
              <a:avLst/>
            </a:prstGeom>
            <a:solidFill>
              <a:schemeClr val="bg1"/>
            </a:solidFill>
            <a:ln w="12700">
              <a:solidFill>
                <a:schemeClr val="tx1"/>
              </a:solidFill>
              <a:miter lim="800000"/>
              <a:headEnd/>
              <a:tailEnd/>
            </a:ln>
          </p:spPr>
          <p:txBody>
            <a:bodyPr wrap="none" lIns="90000" tIns="46800" rIns="90000" bIns="46800" anchor="ctr"/>
            <a:lstStyle/>
            <a:p>
              <a:pPr algn="ctr">
                <a:defRPr/>
              </a:pPr>
              <a:r>
                <a:rPr kumimoji="1" lang="en-US" altLang="zh-CN" sz="2000" dirty="0">
                  <a:solidFill>
                    <a:srgbClr val="FF0000"/>
                  </a:solidFill>
                  <a:latin typeface="Arial" panose="020B0604020202020204" pitchFamily="34" charset="0"/>
                  <a:cs typeface="Arial" panose="020B0604020202020204" pitchFamily="34" charset="0"/>
                </a:rPr>
                <a:t>14</a:t>
              </a:r>
            </a:p>
          </p:txBody>
        </p:sp>
        <p:sp>
          <p:nvSpPr>
            <p:cNvPr id="39" name="Line 23"/>
            <p:cNvSpPr>
              <a:spLocks noChangeShapeType="1"/>
            </p:cNvSpPr>
            <p:nvPr/>
          </p:nvSpPr>
          <p:spPr bwMode="auto">
            <a:xfrm>
              <a:off x="6105300" y="4999397"/>
              <a:ext cx="4994" cy="497775"/>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sz="2000">
                <a:latin typeface="Arial" panose="020B0604020202020204" pitchFamily="34" charset="0"/>
                <a:cs typeface="Arial" panose="020B0604020202020204" pitchFamily="34" charset="0"/>
              </a:endParaRPr>
            </a:p>
          </p:txBody>
        </p:sp>
      </p:grpSp>
      <p:grpSp>
        <p:nvGrpSpPr>
          <p:cNvPr id="40" name="组合 85"/>
          <p:cNvGrpSpPr>
            <a:grpSpLocks/>
          </p:cNvGrpSpPr>
          <p:nvPr/>
        </p:nvGrpSpPr>
        <p:grpSpPr bwMode="auto">
          <a:xfrm>
            <a:off x="1689157" y="2319915"/>
            <a:ext cx="1291266" cy="1540801"/>
            <a:chOff x="1071538" y="2357430"/>
            <a:chExt cx="1676408" cy="2138374"/>
          </a:xfrm>
          <a:solidFill>
            <a:schemeClr val="bg1"/>
          </a:solidFill>
        </p:grpSpPr>
        <p:sp>
          <p:nvSpPr>
            <p:cNvPr id="41" name="Oval 13"/>
            <p:cNvSpPr>
              <a:spLocks noChangeArrowheads="1"/>
            </p:cNvSpPr>
            <p:nvPr/>
          </p:nvSpPr>
          <p:spPr bwMode="auto">
            <a:xfrm>
              <a:off x="1643042" y="2357430"/>
              <a:ext cx="533400" cy="495300"/>
            </a:xfrm>
            <a:prstGeom prst="ellipse">
              <a:avLst/>
            </a:prstGeom>
            <a:grpFill/>
            <a:ln w="19050">
              <a:solidFill>
                <a:schemeClr val="accent1">
                  <a:lumMod val="75000"/>
                </a:schemeClr>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A</a:t>
              </a:r>
            </a:p>
          </p:txBody>
        </p:sp>
        <p:sp>
          <p:nvSpPr>
            <p:cNvPr id="42" name="Oval 13"/>
            <p:cNvSpPr>
              <a:spLocks noChangeArrowheads="1"/>
            </p:cNvSpPr>
            <p:nvPr/>
          </p:nvSpPr>
          <p:spPr bwMode="auto">
            <a:xfrm>
              <a:off x="2214546" y="4000504"/>
              <a:ext cx="533400" cy="495300"/>
            </a:xfrm>
            <a:prstGeom prst="ellipse">
              <a:avLst/>
            </a:prstGeom>
            <a:grpFill/>
            <a:ln w="19050">
              <a:solidFill>
                <a:schemeClr val="accent1">
                  <a:lumMod val="75000"/>
                </a:schemeClr>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E</a:t>
              </a:r>
            </a:p>
          </p:txBody>
        </p:sp>
        <p:sp>
          <p:nvSpPr>
            <p:cNvPr id="43" name="Oval 13"/>
            <p:cNvSpPr>
              <a:spLocks noChangeArrowheads="1"/>
            </p:cNvSpPr>
            <p:nvPr/>
          </p:nvSpPr>
          <p:spPr bwMode="auto">
            <a:xfrm>
              <a:off x="1071538" y="4000504"/>
              <a:ext cx="533400" cy="495300"/>
            </a:xfrm>
            <a:prstGeom prst="ellipse">
              <a:avLst/>
            </a:prstGeom>
            <a:grpFill/>
            <a:ln w="19050">
              <a:solidFill>
                <a:schemeClr val="accent1">
                  <a:lumMod val="75000"/>
                </a:schemeClr>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D</a:t>
              </a:r>
            </a:p>
          </p:txBody>
        </p:sp>
        <p:sp>
          <p:nvSpPr>
            <p:cNvPr id="44" name="Oval 13"/>
            <p:cNvSpPr>
              <a:spLocks noChangeArrowheads="1"/>
            </p:cNvSpPr>
            <p:nvPr/>
          </p:nvSpPr>
          <p:spPr bwMode="auto">
            <a:xfrm>
              <a:off x="2214546" y="3071810"/>
              <a:ext cx="533400" cy="495300"/>
            </a:xfrm>
            <a:prstGeom prst="ellipse">
              <a:avLst/>
            </a:prstGeom>
            <a:grpFill/>
            <a:ln w="19050">
              <a:solidFill>
                <a:schemeClr val="accent1">
                  <a:lumMod val="75000"/>
                </a:schemeClr>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C</a:t>
              </a:r>
            </a:p>
          </p:txBody>
        </p:sp>
        <p:sp>
          <p:nvSpPr>
            <p:cNvPr id="45" name="Oval 13"/>
            <p:cNvSpPr>
              <a:spLocks noChangeArrowheads="1"/>
            </p:cNvSpPr>
            <p:nvPr/>
          </p:nvSpPr>
          <p:spPr bwMode="auto">
            <a:xfrm>
              <a:off x="1071538" y="3071810"/>
              <a:ext cx="533400" cy="495300"/>
            </a:xfrm>
            <a:prstGeom prst="ellipse">
              <a:avLst/>
            </a:prstGeom>
            <a:grpFill/>
            <a:ln w="19050">
              <a:solidFill>
                <a:schemeClr val="accent1">
                  <a:lumMod val="75000"/>
                </a:schemeClr>
              </a:solidFill>
              <a:miter lim="800000"/>
              <a:headEnd/>
              <a:tailEnd/>
            </a:ln>
          </p:spPr>
          <p:txBody>
            <a:bodyPr wrap="none" lIns="90000" tIns="46800" rIns="90000" bIns="46800" anchor="ctr"/>
            <a:lstStyle/>
            <a:p>
              <a:pPr algn="ctr"/>
              <a:r>
                <a:rPr kumimoji="1" lang="en-US" altLang="zh-CN" sz="2000">
                  <a:latin typeface="Arial" panose="020B0604020202020204" pitchFamily="34" charset="0"/>
                  <a:cs typeface="Arial" panose="020B0604020202020204" pitchFamily="34" charset="0"/>
                </a:rPr>
                <a:t>B</a:t>
              </a:r>
            </a:p>
          </p:txBody>
        </p:sp>
        <p:cxnSp>
          <p:nvCxnSpPr>
            <p:cNvPr id="46" name="直接连接符 91"/>
            <p:cNvCxnSpPr>
              <a:cxnSpLocks noChangeShapeType="1"/>
              <a:stCxn id="41" idx="3"/>
              <a:endCxn id="45" idx="7"/>
            </p:cNvCxnSpPr>
            <p:nvPr/>
          </p:nvCxnSpPr>
          <p:spPr bwMode="auto">
            <a:xfrm rot="5400000">
              <a:off x="1441915" y="2865103"/>
              <a:ext cx="364150" cy="194334"/>
            </a:xfrm>
            <a:prstGeom prst="line">
              <a:avLst/>
            </a:prstGeom>
            <a:grpFill/>
            <a:ln w="19050" algn="ctr">
              <a:solidFill>
                <a:schemeClr val="accent1">
                  <a:lumMod val="75000"/>
                </a:schemeClr>
              </a:solidFill>
              <a:round/>
              <a:headEnd/>
              <a:tailEnd/>
            </a:ln>
          </p:spPr>
        </p:cxnSp>
        <p:cxnSp>
          <p:nvCxnSpPr>
            <p:cNvPr id="47" name="直接连接符 92"/>
            <p:cNvCxnSpPr>
              <a:cxnSpLocks noChangeShapeType="1"/>
              <a:stCxn id="41" idx="5"/>
              <a:endCxn id="44" idx="1"/>
            </p:cNvCxnSpPr>
            <p:nvPr/>
          </p:nvCxnSpPr>
          <p:spPr bwMode="auto">
            <a:xfrm rot="16200000" flipH="1">
              <a:off x="2013419" y="2865103"/>
              <a:ext cx="364150" cy="194334"/>
            </a:xfrm>
            <a:prstGeom prst="line">
              <a:avLst/>
            </a:prstGeom>
            <a:grpFill/>
            <a:ln w="19050" algn="ctr">
              <a:solidFill>
                <a:schemeClr val="accent1">
                  <a:lumMod val="75000"/>
                </a:schemeClr>
              </a:solidFill>
              <a:round/>
              <a:headEnd/>
              <a:tailEnd/>
            </a:ln>
          </p:spPr>
        </p:cxnSp>
        <p:cxnSp>
          <p:nvCxnSpPr>
            <p:cNvPr id="48" name="直接连接符 93"/>
            <p:cNvCxnSpPr>
              <a:cxnSpLocks noChangeShapeType="1"/>
              <a:stCxn id="45" idx="4"/>
              <a:endCxn id="43" idx="0"/>
            </p:cNvCxnSpPr>
            <p:nvPr/>
          </p:nvCxnSpPr>
          <p:spPr bwMode="auto">
            <a:xfrm rot="5400000">
              <a:off x="1121541" y="3783807"/>
              <a:ext cx="433394" cy="1588"/>
            </a:xfrm>
            <a:prstGeom prst="line">
              <a:avLst/>
            </a:prstGeom>
            <a:grpFill/>
            <a:ln w="19050" algn="ctr">
              <a:solidFill>
                <a:schemeClr val="accent1">
                  <a:lumMod val="75000"/>
                </a:schemeClr>
              </a:solidFill>
              <a:round/>
              <a:headEnd/>
              <a:tailEnd/>
            </a:ln>
          </p:spPr>
        </p:cxnSp>
        <p:cxnSp>
          <p:nvCxnSpPr>
            <p:cNvPr id="49" name="直接连接符 94"/>
            <p:cNvCxnSpPr>
              <a:cxnSpLocks noChangeShapeType="1"/>
              <a:stCxn id="44" idx="4"/>
              <a:endCxn id="42" idx="0"/>
            </p:cNvCxnSpPr>
            <p:nvPr/>
          </p:nvCxnSpPr>
          <p:spPr bwMode="auto">
            <a:xfrm rot="5400000">
              <a:off x="2264549" y="3783807"/>
              <a:ext cx="433394" cy="1588"/>
            </a:xfrm>
            <a:prstGeom prst="line">
              <a:avLst/>
            </a:prstGeom>
            <a:grpFill/>
            <a:ln w="19050" algn="ctr">
              <a:solidFill>
                <a:schemeClr val="accent1">
                  <a:lumMod val="75000"/>
                </a:schemeClr>
              </a:solidFill>
              <a:round/>
              <a:headEnd/>
              <a:tailEnd/>
            </a:ln>
          </p:spPr>
        </p:cxnSp>
        <p:cxnSp>
          <p:nvCxnSpPr>
            <p:cNvPr id="50" name="直接连接符 95"/>
            <p:cNvCxnSpPr>
              <a:cxnSpLocks noChangeShapeType="1"/>
              <a:stCxn id="45" idx="6"/>
              <a:endCxn id="44" idx="2"/>
            </p:cNvCxnSpPr>
            <p:nvPr/>
          </p:nvCxnSpPr>
          <p:spPr bwMode="auto">
            <a:xfrm>
              <a:off x="1604938" y="3319460"/>
              <a:ext cx="609608" cy="1588"/>
            </a:xfrm>
            <a:prstGeom prst="line">
              <a:avLst/>
            </a:prstGeom>
            <a:grpFill/>
            <a:ln w="19050" algn="ctr">
              <a:solidFill>
                <a:schemeClr val="accent1">
                  <a:lumMod val="75000"/>
                </a:schemeClr>
              </a:solidFill>
              <a:round/>
              <a:headEnd/>
              <a:tailEnd/>
            </a:ln>
          </p:spPr>
        </p:cxnSp>
        <p:cxnSp>
          <p:nvCxnSpPr>
            <p:cNvPr id="51" name="直接连接符 96"/>
            <p:cNvCxnSpPr>
              <a:cxnSpLocks noChangeShapeType="1"/>
              <a:stCxn id="43" idx="6"/>
              <a:endCxn id="42" idx="2"/>
            </p:cNvCxnSpPr>
            <p:nvPr/>
          </p:nvCxnSpPr>
          <p:spPr bwMode="auto">
            <a:xfrm>
              <a:off x="1604938" y="4248154"/>
              <a:ext cx="609608" cy="1588"/>
            </a:xfrm>
            <a:prstGeom prst="line">
              <a:avLst/>
            </a:prstGeom>
            <a:grpFill/>
            <a:ln w="19050" algn="ctr">
              <a:solidFill>
                <a:schemeClr val="accent1">
                  <a:lumMod val="75000"/>
                </a:schemeClr>
              </a:solidFill>
              <a:round/>
              <a:headEnd/>
              <a:tailEnd/>
            </a:ln>
          </p:spPr>
        </p:cxnSp>
        <p:cxnSp>
          <p:nvCxnSpPr>
            <p:cNvPr id="52" name="直接连接符 97"/>
            <p:cNvCxnSpPr>
              <a:cxnSpLocks noChangeShapeType="1"/>
              <a:stCxn id="45" idx="5"/>
              <a:endCxn id="42" idx="1"/>
            </p:cNvCxnSpPr>
            <p:nvPr/>
          </p:nvCxnSpPr>
          <p:spPr bwMode="auto">
            <a:xfrm rot="16200000" flipH="1">
              <a:off x="1620510" y="3400888"/>
              <a:ext cx="578464" cy="765838"/>
            </a:xfrm>
            <a:prstGeom prst="line">
              <a:avLst/>
            </a:prstGeom>
            <a:grpFill/>
            <a:ln w="19050" algn="ctr">
              <a:solidFill>
                <a:schemeClr val="accent1">
                  <a:lumMod val="75000"/>
                </a:schemeClr>
              </a:solidFill>
              <a:round/>
              <a:headEnd/>
              <a:tailEnd/>
            </a:ln>
          </p:spPr>
        </p:cxnSp>
      </p:grpSp>
      <p:sp>
        <p:nvSpPr>
          <p:cNvPr id="53" name="TextBox 98"/>
          <p:cNvSpPr txBox="1">
            <a:spLocks noChangeArrowheads="1"/>
          </p:cNvSpPr>
          <p:nvPr/>
        </p:nvSpPr>
        <p:spPr bwMode="auto">
          <a:xfrm>
            <a:off x="623392" y="1171050"/>
            <a:ext cx="31502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2400" dirty="0">
                <a:ea typeface="幼圆" panose="02010509060101010101" pitchFamily="49" charset="-122"/>
                <a:cs typeface="Arial" panose="020B0604020202020204" pitchFamily="34" charset="0"/>
              </a:rPr>
              <a:t>(a) </a:t>
            </a:r>
            <a:r>
              <a:rPr lang="zh-CN" altLang="en-US" sz="2400" dirty="0">
                <a:ea typeface="幼圆" panose="02010509060101010101" pitchFamily="49" charset="-122"/>
                <a:cs typeface="Arial" panose="020B0604020202020204" pitchFamily="34" charset="0"/>
              </a:rPr>
              <a:t>一个无向图</a:t>
            </a:r>
          </a:p>
        </p:txBody>
      </p:sp>
      <p:sp>
        <p:nvSpPr>
          <p:cNvPr id="54" name="TextBox 99"/>
          <p:cNvSpPr txBox="1">
            <a:spLocks noChangeArrowheads="1"/>
          </p:cNvSpPr>
          <p:nvPr/>
        </p:nvSpPr>
        <p:spPr bwMode="auto">
          <a:xfrm>
            <a:off x="6727307" y="1170137"/>
            <a:ext cx="41932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2400">
                <a:latin typeface="Arial" pitchFamily="34" charset="0"/>
                <a:ea typeface="幼圆" panose="02010509060101010101" pitchFamily="49" charset="-122"/>
                <a:cs typeface="Arial" panose="020B0604020202020204" pitchFamily="34" charset="0"/>
              </a:defRPr>
            </a:lvl1pPr>
            <a:lvl2pPr marL="742950" indent="-285750" eaLnBrk="0" hangingPunct="0">
              <a:defRPr>
                <a:latin typeface="Arial" pitchFamily="34" charset="0"/>
                <a:ea typeface="宋体" pitchFamily="2" charset="-122"/>
              </a:defRPr>
            </a:lvl2pPr>
            <a:lvl3pPr marL="1143000" indent="-228600" eaLnBrk="0" hangingPunct="0">
              <a:defRPr>
                <a:latin typeface="Arial" pitchFamily="34" charset="0"/>
                <a:ea typeface="宋体" pitchFamily="2" charset="-122"/>
              </a:defRPr>
            </a:lvl3pPr>
            <a:lvl4pPr marL="1600200" indent="-228600" eaLnBrk="0" hangingPunct="0">
              <a:defRPr>
                <a:latin typeface="Arial" pitchFamily="34" charset="0"/>
                <a:ea typeface="宋体" pitchFamily="2" charset="-122"/>
              </a:defRPr>
            </a:lvl4pPr>
            <a:lvl5pPr marL="2057400" indent="-228600" eaLnBrk="0" hangingPunct="0">
              <a:defRPr>
                <a:latin typeface="Arial" pitchFamily="34" charset="0"/>
                <a:ea typeface="宋体" pitchFamily="2" charset="-122"/>
              </a:defRPr>
            </a:lvl5pPr>
            <a:lvl6pPr marL="2514600" indent="-228600" eaLnBrk="0" fontAlgn="base" hangingPunct="0">
              <a:spcBef>
                <a:spcPct val="0"/>
              </a:spcBef>
              <a:spcAft>
                <a:spcPct val="0"/>
              </a:spcAft>
              <a:defRPr>
                <a:latin typeface="Arial" pitchFamily="34" charset="0"/>
                <a:ea typeface="宋体" pitchFamily="2" charset="-122"/>
              </a:defRPr>
            </a:lvl6pPr>
            <a:lvl7pPr marL="2971800" indent="-228600" eaLnBrk="0" fontAlgn="base" hangingPunct="0">
              <a:spcBef>
                <a:spcPct val="0"/>
              </a:spcBef>
              <a:spcAft>
                <a:spcPct val="0"/>
              </a:spcAft>
              <a:defRPr>
                <a:latin typeface="Arial" pitchFamily="34" charset="0"/>
                <a:ea typeface="宋体" pitchFamily="2" charset="-122"/>
              </a:defRPr>
            </a:lvl7pPr>
            <a:lvl8pPr marL="3429000" indent="-228600" eaLnBrk="0" fontAlgn="base" hangingPunct="0">
              <a:spcBef>
                <a:spcPct val="0"/>
              </a:spcBef>
              <a:spcAft>
                <a:spcPct val="0"/>
              </a:spcAft>
              <a:defRPr>
                <a:latin typeface="Arial" pitchFamily="34" charset="0"/>
                <a:ea typeface="宋体" pitchFamily="2" charset="-122"/>
              </a:defRPr>
            </a:lvl8pPr>
            <a:lvl9pPr marL="3886200" indent="-228600" eaLnBrk="0" fontAlgn="base" hangingPunct="0">
              <a:spcBef>
                <a:spcPct val="0"/>
              </a:spcBef>
              <a:spcAft>
                <a:spcPct val="0"/>
              </a:spcAft>
              <a:defRPr>
                <a:latin typeface="Arial" pitchFamily="34" charset="0"/>
                <a:ea typeface="宋体" pitchFamily="2" charset="-122"/>
              </a:defRPr>
            </a:lvl9pPr>
          </a:lstStyle>
          <a:p>
            <a:r>
              <a:rPr lang="en-US" altLang="zh-CN" dirty="0"/>
              <a:t>(b) </a:t>
            </a:r>
            <a:r>
              <a:rPr lang="zh-CN" altLang="en-US" dirty="0"/>
              <a:t>回溯法搜索空间</a:t>
            </a:r>
          </a:p>
        </p:txBody>
      </p:sp>
      <p:sp>
        <p:nvSpPr>
          <p:cNvPr id="55" name="矩形 54"/>
          <p:cNvSpPr>
            <a:spLocks noChangeArrowheads="1"/>
          </p:cNvSpPr>
          <p:nvPr/>
        </p:nvSpPr>
        <p:spPr bwMode="auto">
          <a:xfrm>
            <a:off x="667528" y="4124146"/>
            <a:ext cx="5098166" cy="1200329"/>
          </a:xfrm>
          <a:prstGeom prst="rect">
            <a:avLst/>
          </a:prstGeom>
          <a:solidFill>
            <a:schemeClr val="bg1"/>
          </a:solidFill>
          <a:ln w="9525" algn="ctr">
            <a:noFill/>
            <a:round/>
            <a:headEnd/>
            <a:tailEnd/>
          </a:ln>
        </p:spPr>
        <p:txBody>
          <a:bodyPr wrap="square">
            <a:spAutoFit/>
          </a:bodyPr>
          <a:lstStyle/>
          <a:p>
            <a:r>
              <a:rPr lang="en-US" altLang="zh-CN" sz="2400" dirty="0">
                <a:latin typeface="Arial" panose="020B0604020202020204" pitchFamily="34" charset="0"/>
                <a:ea typeface="幼圆" panose="02010509060101010101" pitchFamily="49" charset="-122"/>
                <a:cs typeface="Arial" panose="020B0604020202020204" pitchFamily="34" charset="0"/>
              </a:rPr>
              <a:t>n=5</a:t>
            </a:r>
            <a:r>
              <a:rPr lang="zh-CN" altLang="en-US" sz="2400" dirty="0">
                <a:latin typeface="Arial" panose="020B0604020202020204" pitchFamily="34" charset="0"/>
                <a:ea typeface="幼圆" panose="02010509060101010101" pitchFamily="49" charset="-122"/>
                <a:cs typeface="Arial" panose="020B0604020202020204" pitchFamily="34" charset="0"/>
              </a:rPr>
              <a:t>个顶点的无向图，</a:t>
            </a:r>
            <a:r>
              <a:rPr lang="en-US" altLang="zh-CN" sz="2400" dirty="0">
                <a:latin typeface="Arial" panose="020B0604020202020204" pitchFamily="34" charset="0"/>
                <a:ea typeface="幼圆" panose="02010509060101010101" pitchFamily="49" charset="-122"/>
                <a:cs typeface="Arial" panose="020B0604020202020204" pitchFamily="34" charset="0"/>
              </a:rPr>
              <a:t>m=3</a:t>
            </a:r>
            <a:r>
              <a:rPr lang="zh-CN" altLang="en-US" sz="2400" dirty="0">
                <a:latin typeface="Arial" panose="020B0604020202020204" pitchFamily="34" charset="0"/>
                <a:ea typeface="幼圆" panose="02010509060101010101" pitchFamily="49" charset="-122"/>
                <a:cs typeface="Arial" panose="020B0604020202020204" pitchFamily="34" charset="0"/>
              </a:rPr>
              <a:t>，对应的空间树是完全</a:t>
            </a:r>
            <a:r>
              <a:rPr lang="en-US" altLang="zh-CN" sz="2400" dirty="0">
                <a:latin typeface="Arial" panose="020B0604020202020204" pitchFamily="34" charset="0"/>
                <a:ea typeface="幼圆" panose="02010509060101010101" pitchFamily="49" charset="-122"/>
                <a:cs typeface="Arial" panose="020B0604020202020204" pitchFamily="34" charset="0"/>
              </a:rPr>
              <a:t>m</a:t>
            </a:r>
            <a:r>
              <a:rPr lang="zh-CN" altLang="en-US" sz="2400" dirty="0">
                <a:latin typeface="Arial" panose="020B0604020202020204" pitchFamily="34" charset="0"/>
                <a:ea typeface="幼圆" panose="02010509060101010101" pitchFamily="49" charset="-122"/>
                <a:cs typeface="Arial" panose="020B0604020202020204" pitchFamily="34" charset="0"/>
              </a:rPr>
              <a:t>叉树，最后一层有多少个叶子结点？</a:t>
            </a:r>
          </a:p>
        </p:txBody>
      </p:sp>
      <p:sp>
        <p:nvSpPr>
          <p:cNvPr id="56" name="矩形 55"/>
          <p:cNvSpPr>
            <a:spLocks noChangeArrowheads="1"/>
          </p:cNvSpPr>
          <p:nvPr/>
        </p:nvSpPr>
        <p:spPr bwMode="auto">
          <a:xfrm>
            <a:off x="4871864" y="5085184"/>
            <a:ext cx="629199" cy="461665"/>
          </a:xfrm>
          <a:prstGeom prst="rect">
            <a:avLst/>
          </a:prstGeom>
          <a:noFill/>
          <a:ln w="19050" algn="ctr">
            <a:solidFill>
              <a:schemeClr val="tx1"/>
            </a:solidFill>
            <a:round/>
            <a:headEnd/>
            <a:tailEnd/>
          </a:ln>
        </p:spPr>
        <p:txBody>
          <a:bodyPr wrap="square">
            <a:spAutoFit/>
          </a:bodyPr>
          <a:lstStyle/>
          <a:p>
            <a:r>
              <a:rPr lang="en-US" altLang="zh-CN" sz="2400" dirty="0" err="1">
                <a:solidFill>
                  <a:srgbClr val="FF0000"/>
                </a:solidFill>
                <a:latin typeface="Arial" panose="020B0604020202020204" pitchFamily="34" charset="0"/>
                <a:cs typeface="Arial" panose="020B0604020202020204" pitchFamily="34" charset="0"/>
              </a:rPr>
              <a:t>m</a:t>
            </a:r>
            <a:r>
              <a:rPr lang="en-US" altLang="zh-CN" sz="2400" baseline="30000" dirty="0" err="1">
                <a:solidFill>
                  <a:srgbClr val="FF0000"/>
                </a:solidFill>
                <a:latin typeface="Arial" panose="020B0604020202020204" pitchFamily="34" charset="0"/>
                <a:cs typeface="Arial" panose="020B0604020202020204" pitchFamily="34" charset="0"/>
              </a:rPr>
              <a:t>n</a:t>
            </a:r>
            <a:endParaRPr lang="zh-CN" altLang="en-US" sz="2400" dirty="0">
              <a:solidFill>
                <a:srgbClr val="FF0000"/>
              </a:solidFill>
              <a:latin typeface="Arial" panose="020B0604020202020204" pitchFamily="34" charset="0"/>
              <a:cs typeface="Arial" panose="020B0604020202020204" pitchFamily="34" charset="0"/>
            </a:endParaRPr>
          </a:p>
        </p:txBody>
      </p:sp>
      <p:sp>
        <p:nvSpPr>
          <p:cNvPr id="57" name="TextBox 53"/>
          <p:cNvSpPr txBox="1"/>
          <p:nvPr/>
        </p:nvSpPr>
        <p:spPr>
          <a:xfrm>
            <a:off x="1999247" y="5877272"/>
            <a:ext cx="8129201" cy="830997"/>
          </a:xfrm>
          <a:prstGeom prst="rect">
            <a:avLst/>
          </a:prstGeom>
          <a:noFill/>
        </p:spPr>
        <p:txBody>
          <a:bodyPr wrap="square">
            <a:spAutoFit/>
          </a:bodyPr>
          <a:lstStyle/>
          <a:p>
            <a:pPr>
              <a:defRPr/>
            </a:pP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思考</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1</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：基于判定算法求最优解的时间复杂度是多少？</a:t>
            </a:r>
            <a:endPar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endParaRPr>
          </a:p>
          <a:p>
            <a:pPr>
              <a:defRPr/>
            </a:pP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思考</a:t>
            </a:r>
            <a:r>
              <a:rPr lang="en-US" altLang="zh-CN" sz="2400" dirty="0">
                <a:solidFill>
                  <a:srgbClr val="FF0000"/>
                </a:solidFill>
                <a:latin typeface="Arial" panose="020B0604020202020204" pitchFamily="34" charset="0"/>
                <a:ea typeface="幼圆" panose="02010509060101010101" pitchFamily="49" charset="-122"/>
                <a:cs typeface="Arial" panose="020B0604020202020204" pitchFamily="34" charset="0"/>
              </a:rPr>
              <a:t>2</a:t>
            </a:r>
            <a:r>
              <a:rPr lang="zh-CN" altLang="en-US" sz="2400" dirty="0">
                <a:solidFill>
                  <a:srgbClr val="FF0000"/>
                </a:solidFill>
                <a:latin typeface="Arial" panose="020B0604020202020204" pitchFamily="34" charset="0"/>
                <a:ea typeface="幼圆" panose="02010509060101010101" pitchFamily="49" charset="-122"/>
                <a:cs typeface="Arial" panose="020B0604020202020204" pitchFamily="34" charset="0"/>
              </a:rPr>
              <a:t>：图着色问题是否适用于蒙特卡洛方法估计？</a:t>
            </a:r>
          </a:p>
        </p:txBody>
      </p:sp>
    </p:spTree>
    <p:extLst>
      <p:ext uri="{BB962C8B-B14F-4D97-AF65-F5344CB8AC3E}">
        <p14:creationId xmlns:p14="http://schemas.microsoft.com/office/powerpoint/2010/main" val="217519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ox(in)">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box(in)">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 </a:t>
            </a:r>
            <a:r>
              <a:rPr lang="zh-CN" altLang="en-US" dirty="0"/>
              <a:t>小结</a:t>
            </a:r>
          </a:p>
        </p:txBody>
      </p:sp>
      <p:sp>
        <p:nvSpPr>
          <p:cNvPr id="3" name="内容占位符 2"/>
          <p:cNvSpPr>
            <a:spLocks noGrp="1"/>
          </p:cNvSpPr>
          <p:nvPr>
            <p:ph idx="1"/>
          </p:nvPr>
        </p:nvSpPr>
        <p:spPr/>
        <p:txBody>
          <a:bodyPr>
            <a:normAutofit/>
          </a:bodyPr>
          <a:lstStyle/>
          <a:p>
            <a:r>
              <a:rPr lang="zh-CN" altLang="en-US" sz="2400" dirty="0"/>
              <a:t>回溯法适用的问题</a:t>
            </a:r>
            <a:endParaRPr lang="en-US" altLang="zh-CN" sz="2400" dirty="0"/>
          </a:p>
          <a:p>
            <a:pPr lvl="1"/>
            <a:r>
              <a:rPr lang="zh-CN" altLang="en-US" dirty="0"/>
              <a:t>多阶段决策问题</a:t>
            </a:r>
            <a:r>
              <a:rPr lang="en-US" altLang="zh-CN" dirty="0"/>
              <a:t>/</a:t>
            </a:r>
            <a:r>
              <a:rPr lang="zh-CN" altLang="en-US" dirty="0"/>
              <a:t>组合问题满足多米诺性质</a:t>
            </a:r>
            <a:endParaRPr lang="en-US" altLang="zh-CN" dirty="0"/>
          </a:p>
          <a:p>
            <a:r>
              <a:rPr lang="zh-CN" altLang="en-US" sz="2400" dirty="0"/>
              <a:t>回溯法的设计思想概述</a:t>
            </a:r>
            <a:endParaRPr lang="en-US" altLang="zh-CN" sz="2400" dirty="0"/>
          </a:p>
          <a:p>
            <a:pPr lvl="1"/>
            <a:r>
              <a:rPr lang="zh-CN" altLang="en-US" dirty="0"/>
              <a:t>确定解向量：</a:t>
            </a:r>
            <a:r>
              <a:rPr lang="en-US" altLang="zh-CN" dirty="0"/>
              <a:t>n-</a:t>
            </a:r>
            <a:r>
              <a:rPr lang="zh-CN" altLang="en-US" dirty="0"/>
              <a:t>元组</a:t>
            </a:r>
            <a:r>
              <a:rPr lang="en-US" altLang="zh-CN" dirty="0"/>
              <a:t>/k-</a:t>
            </a:r>
            <a:r>
              <a:rPr lang="zh-CN" altLang="en-US" dirty="0"/>
              <a:t>元组</a:t>
            </a:r>
            <a:endParaRPr lang="en-US" altLang="zh-CN" dirty="0"/>
          </a:p>
          <a:p>
            <a:pPr lvl="1"/>
            <a:r>
              <a:rPr lang="zh-CN" altLang="en-US" dirty="0"/>
              <a:t>分解约束条件：显示</a:t>
            </a:r>
            <a:r>
              <a:rPr lang="en-US" altLang="zh-CN" dirty="0"/>
              <a:t>&amp;</a:t>
            </a:r>
            <a:r>
              <a:rPr lang="zh-CN" altLang="en-US" dirty="0"/>
              <a:t>隐式</a:t>
            </a:r>
            <a:endParaRPr lang="en-US" altLang="zh-CN" dirty="0"/>
          </a:p>
          <a:p>
            <a:pPr lvl="1"/>
            <a:r>
              <a:rPr lang="zh-CN" altLang="en-US" dirty="0"/>
              <a:t>确定解空间树</a:t>
            </a:r>
            <a:endParaRPr lang="en-US" altLang="zh-CN" dirty="0"/>
          </a:p>
          <a:p>
            <a:pPr lvl="1"/>
            <a:r>
              <a:rPr lang="zh-CN" altLang="en-US" dirty="0"/>
              <a:t>设计约束函数</a:t>
            </a:r>
            <a:r>
              <a:rPr lang="en-US" altLang="zh-CN" dirty="0"/>
              <a:t>B</a:t>
            </a:r>
          </a:p>
          <a:p>
            <a:pPr lvl="1"/>
            <a:r>
              <a:rPr lang="zh-CN" altLang="en-US" dirty="0"/>
              <a:t>深度优先方式搜索树</a:t>
            </a:r>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58</a:t>
            </a:fld>
            <a:endParaRPr lang="en-US" altLang="zh-CN"/>
          </a:p>
        </p:txBody>
      </p:sp>
    </p:spTree>
    <p:extLst>
      <p:ext uri="{BB962C8B-B14F-4D97-AF65-F5344CB8AC3E}">
        <p14:creationId xmlns:p14="http://schemas.microsoft.com/office/powerpoint/2010/main" val="5860238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18646" y="1844824"/>
            <a:ext cx="10515600" cy="4197202"/>
          </a:xfrm>
        </p:spPr>
        <p:txBody>
          <a:bodyPr/>
          <a:lstStyle/>
          <a:p>
            <a:r>
              <a:rPr lang="zh-CN" altLang="en-US" sz="2400" dirty="0"/>
              <a:t>解空间树的分类</a:t>
            </a:r>
            <a:endParaRPr lang="en-US" altLang="zh-CN" sz="2400" dirty="0"/>
          </a:p>
          <a:p>
            <a:pPr lvl="1"/>
            <a:r>
              <a:rPr lang="zh-CN" altLang="en-US" dirty="0"/>
              <a:t>集合树：问题的解是对已知集合元素的取舍</a:t>
            </a:r>
            <a:endParaRPr lang="en-US" altLang="zh-CN" dirty="0"/>
          </a:p>
          <a:p>
            <a:pPr lvl="2"/>
            <a:r>
              <a:rPr lang="zh-CN" altLang="en-US" dirty="0"/>
              <a:t>如子集和问题，</a:t>
            </a:r>
            <a:r>
              <a:rPr lang="en-US" altLang="zh-CN" dirty="0"/>
              <a:t>0/1</a:t>
            </a:r>
            <a:r>
              <a:rPr lang="zh-CN" altLang="en-US" dirty="0"/>
              <a:t>背包问题</a:t>
            </a:r>
            <a:endParaRPr lang="en-US" altLang="zh-CN" dirty="0"/>
          </a:p>
          <a:p>
            <a:pPr lvl="1"/>
            <a:r>
              <a:rPr lang="zh-CN" altLang="en-US" dirty="0"/>
              <a:t>排列树：问题的解是对已知集合元素的排列</a:t>
            </a:r>
            <a:endParaRPr lang="en-US" altLang="zh-CN" dirty="0"/>
          </a:p>
          <a:p>
            <a:pPr lvl="2"/>
            <a:r>
              <a:rPr lang="zh-CN" altLang="en-US" dirty="0"/>
              <a:t>如</a:t>
            </a:r>
            <a:r>
              <a:rPr lang="en-US" altLang="zh-CN" dirty="0"/>
              <a:t>n-</a:t>
            </a:r>
            <a:r>
              <a:rPr lang="zh-CN" altLang="en-US" dirty="0"/>
              <a:t>皇后问题，图着色判定问题</a:t>
            </a:r>
            <a:endParaRPr lang="en-US" altLang="zh-CN" dirty="0"/>
          </a:p>
          <a:p>
            <a:pPr marL="0" indent="0">
              <a:buNone/>
            </a:pP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59</a:t>
            </a:fld>
            <a:endParaRPr lang="en-US" altLang="zh-CN"/>
          </a:p>
        </p:txBody>
      </p:sp>
      <p:sp>
        <p:nvSpPr>
          <p:cNvPr id="5" name="标题 1"/>
          <p:cNvSpPr>
            <a:spLocks noGrp="1"/>
          </p:cNvSpPr>
          <p:nvPr>
            <p:ph type="title"/>
          </p:nvPr>
        </p:nvSpPr>
        <p:spPr>
          <a:xfrm>
            <a:off x="838200" y="365125"/>
            <a:ext cx="10515600" cy="1325563"/>
          </a:xfrm>
        </p:spPr>
        <p:txBody>
          <a:bodyPr/>
          <a:lstStyle/>
          <a:p>
            <a:r>
              <a:rPr lang="en-US" altLang="zh-CN" dirty="0"/>
              <a:t>7.6 </a:t>
            </a:r>
            <a:r>
              <a:rPr lang="zh-CN" altLang="en-US" dirty="0"/>
              <a:t>小结</a:t>
            </a:r>
          </a:p>
        </p:txBody>
      </p:sp>
    </p:spTree>
    <p:extLst>
      <p:ext uri="{BB962C8B-B14F-4D97-AF65-F5344CB8AC3E}">
        <p14:creationId xmlns:p14="http://schemas.microsoft.com/office/powerpoint/2010/main" val="4771963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1772816"/>
            <a:ext cx="10515600" cy="4351338"/>
          </a:xfrm>
        </p:spPr>
        <p:txBody>
          <a:bodyPr/>
          <a:lstStyle/>
          <a:p>
            <a:r>
              <a:rPr lang="zh-CN" altLang="en-US" sz="2400" dirty="0"/>
              <a:t>回溯法的效率问题</a:t>
            </a:r>
            <a:endParaRPr lang="en-US" altLang="zh-CN" sz="2400" dirty="0"/>
          </a:p>
          <a:p>
            <a:pPr lvl="1"/>
            <a:r>
              <a:rPr lang="zh-CN" altLang="en-US" dirty="0"/>
              <a:t>解空间树的大小：决定最坏情况</a:t>
            </a:r>
            <a:endParaRPr lang="en-US" altLang="zh-CN" dirty="0"/>
          </a:p>
          <a:p>
            <a:pPr lvl="1"/>
            <a:r>
              <a:rPr lang="zh-CN" altLang="en-US" dirty="0"/>
              <a:t>约束函数</a:t>
            </a:r>
            <a:r>
              <a:rPr lang="en-US" altLang="zh-CN" dirty="0"/>
              <a:t>B</a:t>
            </a:r>
            <a:r>
              <a:rPr lang="zh-CN" altLang="en-US" dirty="0"/>
              <a:t>的剪枝能力：决定动态树</a:t>
            </a:r>
            <a:endParaRPr lang="en-US" altLang="zh-CN" dirty="0"/>
          </a:p>
          <a:p>
            <a:pPr lvl="1"/>
            <a:r>
              <a:rPr lang="zh-CN" altLang="en-US" dirty="0"/>
              <a:t>求问题的所有解时，可以用蒙特卡洛方法估计算法效率</a:t>
            </a:r>
            <a:endParaRPr lang="en-US" altLang="zh-CN" dirty="0"/>
          </a:p>
          <a:p>
            <a:r>
              <a:rPr lang="zh-CN" altLang="en-US" sz="2400" dirty="0"/>
              <a:t>回溯法的改进</a:t>
            </a:r>
            <a:endParaRPr lang="en-US" altLang="zh-CN" sz="2400" dirty="0"/>
          </a:p>
          <a:p>
            <a:pPr lvl="1"/>
            <a:r>
              <a:rPr lang="zh-CN" altLang="en-US" dirty="0"/>
              <a:t>根据树的分支情况设计优先策略，如优先搜索结点少</a:t>
            </a:r>
            <a:r>
              <a:rPr lang="en-US" altLang="zh-CN" dirty="0"/>
              <a:t>/</a:t>
            </a:r>
            <a:r>
              <a:rPr lang="zh-CN" altLang="en-US" dirty="0"/>
              <a:t>解多的分支</a:t>
            </a:r>
            <a:endParaRPr lang="en-US" altLang="zh-CN" dirty="0"/>
          </a:p>
          <a:p>
            <a:pPr lvl="1"/>
            <a:r>
              <a:rPr lang="zh-CN" altLang="en-US" dirty="0"/>
              <a:t>利用搜索树的对称性对子树进行剪裁</a:t>
            </a:r>
            <a:endParaRPr lang="en-US" altLang="zh-CN" dirty="0"/>
          </a:p>
          <a:p>
            <a:pPr lvl="1"/>
            <a:r>
              <a:rPr lang="zh-CN" altLang="en-US" dirty="0"/>
              <a:t>分解成子问题，求解完子问题的解之后合并出原问题的解</a:t>
            </a:r>
            <a:endParaRPr lang="en-US" altLang="zh-CN" sz="2000"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60</a:t>
            </a:fld>
            <a:endParaRPr lang="en-US" altLang="zh-CN"/>
          </a:p>
        </p:txBody>
      </p:sp>
      <p:sp>
        <p:nvSpPr>
          <p:cNvPr id="5" name="标题 1"/>
          <p:cNvSpPr>
            <a:spLocks noGrp="1"/>
          </p:cNvSpPr>
          <p:nvPr>
            <p:ph type="title"/>
          </p:nvPr>
        </p:nvSpPr>
        <p:spPr>
          <a:xfrm>
            <a:off x="838200" y="365125"/>
            <a:ext cx="10515600" cy="1325563"/>
          </a:xfrm>
        </p:spPr>
        <p:txBody>
          <a:bodyPr/>
          <a:lstStyle/>
          <a:p>
            <a:r>
              <a:rPr lang="en-US" altLang="zh-CN" dirty="0"/>
              <a:t>7.6 </a:t>
            </a:r>
            <a:r>
              <a:rPr lang="zh-CN" altLang="en-US" dirty="0"/>
              <a:t>小结</a:t>
            </a:r>
          </a:p>
        </p:txBody>
      </p:sp>
    </p:spTree>
    <p:extLst>
      <p:ext uri="{BB962C8B-B14F-4D97-AF65-F5344CB8AC3E}">
        <p14:creationId xmlns:p14="http://schemas.microsoft.com/office/powerpoint/2010/main" val="37812807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 </a:t>
            </a:r>
            <a:r>
              <a:rPr lang="zh-CN" altLang="en-US" dirty="0"/>
              <a:t>小结</a:t>
            </a:r>
            <a:r>
              <a:rPr lang="en-US" altLang="zh-CN" dirty="0"/>
              <a:t> </a:t>
            </a:r>
            <a:endParaRPr lang="zh-CN" altLang="en-US" dirty="0"/>
          </a:p>
        </p:txBody>
      </p:sp>
      <p:sp>
        <p:nvSpPr>
          <p:cNvPr id="3" name="内容占位符 2"/>
          <p:cNvSpPr>
            <a:spLocks noGrp="1"/>
          </p:cNvSpPr>
          <p:nvPr>
            <p:ph idx="1"/>
          </p:nvPr>
        </p:nvSpPr>
        <p:spPr/>
        <p:txBody>
          <a:bodyPr/>
          <a:lstStyle/>
          <a:p>
            <a:pPr>
              <a:spcBef>
                <a:spcPts val="600"/>
              </a:spcBef>
            </a:pPr>
            <a:r>
              <a:rPr kumimoji="1" lang="en-US" altLang="zh-CN" sz="2400" dirty="0"/>
              <a:t>7.1 </a:t>
            </a:r>
            <a:r>
              <a:rPr kumimoji="1" lang="zh-CN" altLang="en-US" sz="2400" dirty="0"/>
              <a:t>回溯一般方法</a:t>
            </a:r>
            <a:endParaRPr kumimoji="1" lang="en-US" altLang="zh-CN" sz="2400" dirty="0"/>
          </a:p>
          <a:p>
            <a:pPr lvl="1">
              <a:spcBef>
                <a:spcPts val="600"/>
              </a:spcBef>
            </a:pPr>
            <a:r>
              <a:rPr lang="zh-CN" altLang="zh-CN" dirty="0"/>
              <a:t>掌握</a:t>
            </a:r>
            <a:r>
              <a:rPr lang="zh-CN" altLang="en-US" dirty="0"/>
              <a:t>回溯法</a:t>
            </a:r>
            <a:r>
              <a:rPr lang="zh-CN" altLang="zh-CN" dirty="0"/>
              <a:t>适用的问题特点、</a:t>
            </a:r>
            <a:r>
              <a:rPr lang="zh-CN" altLang="en-US" dirty="0"/>
              <a:t>解空间树、状态结点、</a:t>
            </a:r>
            <a:r>
              <a:rPr kumimoji="1" lang="zh-CN" altLang="en-US" dirty="0"/>
              <a:t>动态树结点生成方式</a:t>
            </a:r>
            <a:r>
              <a:rPr lang="zh-CN" altLang="zh-CN" dirty="0"/>
              <a:t>等基本知识。能掌握</a:t>
            </a:r>
            <a:r>
              <a:rPr lang="zh-CN" altLang="en-US" dirty="0"/>
              <a:t>回溯法</a:t>
            </a:r>
            <a:r>
              <a:rPr lang="zh-CN" altLang="zh-CN" dirty="0"/>
              <a:t>求解问题的</a:t>
            </a:r>
            <a:r>
              <a:rPr lang="zh-CN" altLang="en-US" dirty="0"/>
              <a:t>设计思想和</a:t>
            </a:r>
            <a:r>
              <a:rPr lang="zh-CN" altLang="zh-CN" dirty="0"/>
              <a:t>一般</a:t>
            </a:r>
            <a:r>
              <a:rPr lang="zh-CN" altLang="en-US" dirty="0"/>
              <a:t>方法</a:t>
            </a:r>
            <a:r>
              <a:rPr lang="zh-CN" altLang="zh-CN" dirty="0"/>
              <a:t>。</a:t>
            </a:r>
            <a:endParaRPr kumimoji="1" lang="en-US" altLang="zh-CN" dirty="0"/>
          </a:p>
          <a:p>
            <a:pPr>
              <a:spcBef>
                <a:spcPts val="600"/>
              </a:spcBef>
            </a:pPr>
            <a:r>
              <a:rPr kumimoji="1" lang="en-US" altLang="zh-CN" sz="2400" dirty="0"/>
              <a:t>7.2 </a:t>
            </a:r>
            <a:r>
              <a:rPr kumimoji="1" lang="zh-CN" altLang="en-US" sz="2400" dirty="0"/>
              <a:t>回溯法的效率估计</a:t>
            </a:r>
            <a:endParaRPr kumimoji="1" lang="en-US" altLang="zh-CN" sz="2400" dirty="0"/>
          </a:p>
          <a:p>
            <a:pPr lvl="1">
              <a:spcBef>
                <a:spcPts val="600"/>
              </a:spcBef>
            </a:pPr>
            <a:r>
              <a:rPr kumimoji="1" lang="zh-CN" altLang="en-US" dirty="0"/>
              <a:t>掌握影响回溯法效率的要素和蒙特卡洛方法的设计思想</a:t>
            </a:r>
            <a:endParaRPr kumimoji="1"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61</a:t>
            </a:fld>
            <a:endParaRPr lang="en-US" altLang="zh-CN"/>
          </a:p>
        </p:txBody>
      </p:sp>
    </p:spTree>
    <p:extLst>
      <p:ext uri="{BB962C8B-B14F-4D97-AF65-F5344CB8AC3E}">
        <p14:creationId xmlns:p14="http://schemas.microsoft.com/office/powerpoint/2010/main" val="12084711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 </a:t>
            </a:r>
            <a:r>
              <a:rPr lang="zh-CN" altLang="en-US" dirty="0"/>
              <a:t>小结</a:t>
            </a:r>
          </a:p>
        </p:txBody>
      </p:sp>
      <p:sp>
        <p:nvSpPr>
          <p:cNvPr id="3" name="内容占位符 2"/>
          <p:cNvSpPr>
            <a:spLocks noGrp="1"/>
          </p:cNvSpPr>
          <p:nvPr>
            <p:ph idx="1"/>
          </p:nvPr>
        </p:nvSpPr>
        <p:spPr>
          <a:xfrm>
            <a:off x="838200" y="1772816"/>
            <a:ext cx="10515600" cy="4351338"/>
          </a:xfrm>
        </p:spPr>
        <p:txBody>
          <a:bodyPr/>
          <a:lstStyle/>
          <a:p>
            <a:pPr>
              <a:spcBef>
                <a:spcPts val="600"/>
              </a:spcBef>
            </a:pPr>
            <a:r>
              <a:rPr kumimoji="1" lang="en-US" altLang="zh-CN" sz="2400" dirty="0"/>
              <a:t>7.3 n-</a:t>
            </a:r>
            <a:r>
              <a:rPr kumimoji="1" lang="zh-CN" altLang="en-US" sz="2400" dirty="0"/>
              <a:t>皇后问题</a:t>
            </a:r>
            <a:endParaRPr kumimoji="1" lang="en-US" altLang="zh-CN" sz="2400" dirty="0"/>
          </a:p>
          <a:p>
            <a:pPr>
              <a:spcBef>
                <a:spcPts val="600"/>
              </a:spcBef>
            </a:pPr>
            <a:r>
              <a:rPr lang="en-US" altLang="zh-CN" sz="2400" dirty="0"/>
              <a:t>7.4 </a:t>
            </a:r>
            <a:r>
              <a:rPr lang="zh-CN" altLang="en-US" sz="2400" dirty="0"/>
              <a:t>子集和问题</a:t>
            </a:r>
            <a:endParaRPr lang="en-US" altLang="zh-CN" sz="2400" dirty="0"/>
          </a:p>
          <a:p>
            <a:pPr>
              <a:spcBef>
                <a:spcPts val="600"/>
              </a:spcBef>
            </a:pPr>
            <a:r>
              <a:rPr lang="en-US" altLang="zh-CN" sz="2400" dirty="0"/>
              <a:t>7.5 </a:t>
            </a:r>
            <a:r>
              <a:rPr lang="zh-CN" altLang="en-US" sz="2400" dirty="0"/>
              <a:t>图着色问题</a:t>
            </a:r>
            <a:endParaRPr lang="en-US" altLang="zh-CN" sz="2400" dirty="0"/>
          </a:p>
          <a:p>
            <a:pPr lvl="1">
              <a:spcBef>
                <a:spcPts val="600"/>
              </a:spcBef>
            </a:pPr>
            <a:r>
              <a:rPr kumimoji="1" lang="zh-CN" altLang="en-US"/>
              <a:t>掌握</a:t>
            </a:r>
            <a:r>
              <a:rPr kumimoji="1" lang="zh-CN" altLang="en-US" dirty="0"/>
              <a:t>解空间树、约束函数和回溯算法设计，运用蒙特卡洛方法对算法效率进行分析</a:t>
            </a:r>
            <a:endParaRPr kumimoji="1" lang="en-US" altLang="zh-CN" dirty="0"/>
          </a:p>
          <a:p>
            <a:pPr lvl="1">
              <a:spcBef>
                <a:spcPts val="0"/>
              </a:spcBef>
            </a:pPr>
            <a:r>
              <a:rPr lang="zh-CN" altLang="en-US" dirty="0"/>
              <a:t>掌握经典问题的回溯法求解方法，掌握约束函数优化思想，提高回溯算法剪枝能力，提高算法效率</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D04713B0-7EE7-420A-BB22-6F99F562E080}" type="slidenum">
              <a:rPr lang="en-US" altLang="zh-CN" smtClean="0"/>
              <a:pPr>
                <a:defRPr/>
              </a:pPr>
              <a:t>62</a:t>
            </a:fld>
            <a:endParaRPr lang="en-US" altLang="zh-CN"/>
          </a:p>
        </p:txBody>
      </p:sp>
      <p:sp>
        <p:nvSpPr>
          <p:cNvPr id="5" name="矩形 4"/>
          <p:cNvSpPr/>
          <p:nvPr/>
        </p:nvSpPr>
        <p:spPr>
          <a:xfrm>
            <a:off x="1055440" y="5574159"/>
            <a:ext cx="10585176" cy="461665"/>
          </a:xfrm>
          <a:prstGeom prst="rect">
            <a:avLst/>
          </a:prstGeom>
        </p:spPr>
        <p:txBody>
          <a:bodyPr wrap="square">
            <a:spAutoFit/>
          </a:bodyPr>
          <a:lstStyle/>
          <a:p>
            <a:r>
              <a:rPr lang="zh-CN" altLang="zh-CN" sz="2400" dirty="0">
                <a:solidFill>
                  <a:srgbClr val="FF0000"/>
                </a:solidFill>
                <a:latin typeface="幼圆" panose="02010509060101010101" pitchFamily="49" charset="-122"/>
                <a:ea typeface="幼圆" panose="02010509060101010101" pitchFamily="49" charset="-122"/>
              </a:rPr>
              <a:t>能够识别出适合</a:t>
            </a:r>
            <a:r>
              <a:rPr lang="zh-CN" altLang="en-US" sz="2400" dirty="0">
                <a:solidFill>
                  <a:srgbClr val="FF0000"/>
                </a:solidFill>
                <a:latin typeface="幼圆" panose="02010509060101010101" pitchFamily="49" charset="-122"/>
                <a:ea typeface="幼圆" panose="02010509060101010101" pitchFamily="49" charset="-122"/>
              </a:rPr>
              <a:t>回溯法</a:t>
            </a:r>
            <a:r>
              <a:rPr lang="zh-CN" altLang="zh-CN" sz="2400" dirty="0">
                <a:solidFill>
                  <a:srgbClr val="FF0000"/>
                </a:solidFill>
                <a:latin typeface="幼圆" panose="02010509060101010101" pitchFamily="49" charset="-122"/>
                <a:ea typeface="幼圆" panose="02010509060101010101" pitchFamily="49" charset="-122"/>
              </a:rPr>
              <a:t>的可计算性问题、独立设计算法和分析算法复杂度。</a:t>
            </a:r>
            <a:endParaRPr lang="zh-CN" altLang="en-US" sz="2000" dirty="0">
              <a:solidFill>
                <a:srgbClr val="FF0000"/>
              </a:solidFill>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42691923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本 章 结 束</a:t>
            </a:r>
          </a:p>
        </p:txBody>
      </p:sp>
      <p:sp>
        <p:nvSpPr>
          <p:cNvPr id="3" name="灯片编号占位符 2"/>
          <p:cNvSpPr>
            <a:spLocks noGrp="1"/>
          </p:cNvSpPr>
          <p:nvPr>
            <p:ph type="sldNum" sz="quarter" idx="11"/>
          </p:nvPr>
        </p:nvSpPr>
        <p:spPr/>
        <p:txBody>
          <a:bodyPr/>
          <a:lstStyle/>
          <a:p>
            <a:pPr>
              <a:defRPr/>
            </a:pPr>
            <a:fld id="{C2224BEA-3C3F-4596-8550-1ADD053AC372}" type="slidenum">
              <a:rPr lang="en-US" altLang="zh-CN" smtClean="0"/>
              <a:pPr>
                <a:defRPr/>
              </a:pPr>
              <a:t>63</a:t>
            </a:fld>
            <a:endParaRPr lang="en-US" altLang="zh-CN"/>
          </a:p>
        </p:txBody>
      </p:sp>
    </p:spTree>
    <p:extLst>
      <p:ext uri="{BB962C8B-B14F-4D97-AF65-F5344CB8AC3E}">
        <p14:creationId xmlns:p14="http://schemas.microsoft.com/office/powerpoint/2010/main" val="7071891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heme/theme1.xml><?xml version="1.0" encoding="utf-8"?>
<a:theme xmlns:a="http://schemas.openxmlformats.org/drawingml/2006/main" name="算法分析模板0731">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算法分析新模板2023" id="{FADB3A85-5174-4FA5-A51F-55BEA2B76671}" vid="{DDE32136-80A6-4B40-8420-6E71B6F9244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算法分析新模板2023</Template>
  <TotalTime>45195</TotalTime>
  <Words>6357</Words>
  <Application>Microsoft Office PowerPoint</Application>
  <PresentationFormat>宽屏</PresentationFormat>
  <Paragraphs>1177</Paragraphs>
  <Slides>63</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63</vt:i4>
      </vt:variant>
    </vt:vector>
  </HeadingPairs>
  <TitlesOfParts>
    <vt:vector size="74" baseType="lpstr">
      <vt:lpstr>Arial Unicode MS</vt:lpstr>
      <vt:lpstr>等线</vt:lpstr>
      <vt:lpstr>幼圆</vt:lpstr>
      <vt:lpstr>Arial</vt:lpstr>
      <vt:lpstr>Calibri</vt:lpstr>
      <vt:lpstr>Cambria Math</vt:lpstr>
      <vt:lpstr>Symbol</vt:lpstr>
      <vt:lpstr>Times New Roman</vt:lpstr>
      <vt:lpstr>Verdana</vt:lpstr>
      <vt:lpstr>Wingdings</vt:lpstr>
      <vt:lpstr>算法分析模板0731</vt:lpstr>
      <vt:lpstr>第七章 回溯法</vt:lpstr>
      <vt:lpstr>目录</vt:lpstr>
      <vt:lpstr>7.1 回溯的一般方法</vt:lpstr>
      <vt:lpstr>方法适用的问题特点</vt:lpstr>
      <vt:lpstr>细分多阶段决策问题</vt:lpstr>
      <vt:lpstr>多米诺性质</vt:lpstr>
      <vt:lpstr>PowerPoint 演示文稿</vt:lpstr>
      <vt:lpstr>解空间树</vt:lpstr>
      <vt:lpstr>问题建模</vt:lpstr>
      <vt:lpstr>以子集和问题为例</vt:lpstr>
      <vt:lpstr>固定长元组表达</vt:lpstr>
      <vt:lpstr>PowerPoint 演示文稿</vt:lpstr>
      <vt:lpstr>不定长元组表达</vt:lpstr>
      <vt:lpstr>PowerPoint 演示文稿</vt:lpstr>
      <vt:lpstr>动态树中的结点类型</vt:lpstr>
      <vt:lpstr>动态树结点生成方式</vt:lpstr>
      <vt:lpstr>回溯法的设计思想</vt:lpstr>
      <vt:lpstr>回溯法的形式化描述</vt:lpstr>
      <vt:lpstr>算法7.1 回溯法的非递归算法</vt:lpstr>
      <vt:lpstr>算法7.2 回溯法的递归算法</vt:lpstr>
      <vt:lpstr>7.2 回溯法的效率分析</vt:lpstr>
      <vt:lpstr>决定回溯法效率的因素</vt:lpstr>
      <vt:lpstr>回溯法的效率估计</vt:lpstr>
      <vt:lpstr>蒙特卡罗方法的一般思想</vt:lpstr>
      <vt:lpstr>PowerPoint 演示文稿</vt:lpstr>
      <vt:lpstr>算法7.3 效率估计算法</vt:lpstr>
      <vt:lpstr>蒙特卡罗方法的特点</vt:lpstr>
      <vt:lpstr>7.3  n-皇后问题</vt:lpstr>
      <vt:lpstr>问题描述</vt:lpstr>
      <vt:lpstr>解空间树</vt:lpstr>
      <vt:lpstr>问题分析</vt:lpstr>
      <vt:lpstr>PowerPoint 演示文稿</vt:lpstr>
      <vt:lpstr>PowerPoint 演示文稿</vt:lpstr>
      <vt:lpstr>PowerPoint 演示文稿</vt:lpstr>
      <vt:lpstr>PowerPoint 演示文稿</vt:lpstr>
      <vt:lpstr>约束函数</vt:lpstr>
      <vt:lpstr>约束函数</vt:lpstr>
      <vt:lpstr>算法7.4 能否放置一个新皇后？</vt:lpstr>
      <vt:lpstr>算法7.5  n-皇后问题的回溯算法</vt:lpstr>
      <vt:lpstr>4-皇后问题实例</vt:lpstr>
      <vt:lpstr>8-皇后问题的效率估计</vt:lpstr>
      <vt:lpstr>8-皇后问题的不受限结点的估计值</vt:lpstr>
      <vt:lpstr>7.4 子集和问题</vt:lpstr>
      <vt:lpstr>问题描述</vt:lpstr>
      <vt:lpstr>约束函数</vt:lpstr>
      <vt:lpstr>算法7.6 子集和的回溯递归算法</vt:lpstr>
      <vt:lpstr>PowerPoint 演示文稿</vt:lpstr>
      <vt:lpstr>实例分析</vt:lpstr>
      <vt:lpstr>子集和问题效率估计</vt:lpstr>
      <vt:lpstr>实例运行结果</vt:lpstr>
      <vt:lpstr>7.5 图着色问题</vt:lpstr>
      <vt:lpstr>问题描述</vt:lpstr>
      <vt:lpstr>图的m-着色判定问题</vt:lpstr>
      <vt:lpstr>解空间树</vt:lpstr>
      <vt:lpstr>算法7.7 判断顶点k的着色是否合法</vt:lpstr>
      <vt:lpstr>算法7.8 图着色判定问题的回溯算法</vt:lpstr>
      <vt:lpstr>实例分析</vt:lpstr>
      <vt:lpstr>7.6 小结</vt:lpstr>
      <vt:lpstr>7.6 小结</vt:lpstr>
      <vt:lpstr>7.6 小结</vt:lpstr>
      <vt:lpstr>7.6 小结 </vt:lpstr>
      <vt:lpstr>7.6 小结</vt:lpstr>
      <vt:lpstr>本 章 结 束</vt:lpstr>
    </vt:vector>
  </TitlesOfParts>
  <Company>南京理工大学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导引</dc:title>
  <dc:creator>龚文杰</dc:creator>
  <cp:lastModifiedBy>jlu</cp:lastModifiedBy>
  <cp:revision>2507</cp:revision>
  <dcterms:created xsi:type="dcterms:W3CDTF">2010-09-17T03:09:33Z</dcterms:created>
  <dcterms:modified xsi:type="dcterms:W3CDTF">2025-04-24T08:23:10Z</dcterms:modified>
</cp:coreProperties>
</file>