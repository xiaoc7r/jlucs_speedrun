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9" r:id="rId14"/>
    <p:sldId id="320" r:id="rId15"/>
    <p:sldId id="302" r:id="rId16"/>
    <p:sldId id="303" r:id="rId17"/>
    <p:sldId id="262" r:id="rId18"/>
    <p:sldId id="301" r:id="rId19"/>
    <p:sldId id="304" r:id="rId20"/>
    <p:sldId id="295" r:id="rId21"/>
    <p:sldId id="273" r:id="rId22"/>
    <p:sldId id="281" r:id="rId23"/>
    <p:sldId id="299" r:id="rId24"/>
    <p:sldId id="284" r:id="rId25"/>
    <p:sldId id="285" r:id="rId26"/>
    <p:sldId id="286" r:id="rId27"/>
    <p:sldId id="287" r:id="rId28"/>
    <p:sldId id="288" r:id="rId29"/>
    <p:sldId id="267" r:id="rId30"/>
    <p:sldId id="305" r:id="rId31"/>
    <p:sldId id="306" r:id="rId32"/>
    <p:sldId id="307" r:id="rId33"/>
    <p:sldId id="308" r:id="rId34"/>
    <p:sldId id="309" r:id="rId35"/>
    <p:sldId id="310" r:id="rId36"/>
    <p:sldId id="30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程序，实现界面布局功能，界面如图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界面布局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要求使用嵌套布局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水平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布局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、网格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布局以及菜单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功能等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74" y="1098044"/>
            <a:ext cx="4401164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学习掌握控件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技术以及编程方法。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引用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控件类的方法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学习掌握控件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技术以及编程方法。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学习掌握布局控件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技术以及界面布局的编程方法。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显示一个窗口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9756"/>
            <a:ext cx="4401164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.QLabel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说明：标签类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*parent=0,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WindowFlags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f=0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*parent=0,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WindowFlags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f=0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创建对象，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text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为标签文本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~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获取标签文本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text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设置标签文本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&amp;);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996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多行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文本输入框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 = 0);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virtual ~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判断文本编辑框是否只读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bool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isReadOnly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设置文本编辑框只读或读写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setReadOnly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ro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设置颜色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setTextColor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&amp;c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文本颜色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setTextBackgroundColor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&amp;c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设置背景色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&amp;text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获取文本框中的文本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text()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(9)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清除文本编辑框中的文本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 void clear();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8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说明：单行文本输入框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构造函数、析构函数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 parent=0);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 parent=0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~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设置只读、获取是否只读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bool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isReadOnly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setReadOnly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返回输入框文本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text();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文本长度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maxLength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返回当前文本的最大长度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setMaxLength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设置文本的最大长度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编辑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bool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edited()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查询编辑状态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setEdited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设置编辑状态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108192" y="1261872"/>
            <a:ext cx="3600666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槽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&amp;);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clear();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selectAll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undo();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redo();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void cut();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copy()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void paste();</a:t>
            </a:r>
          </a:p>
          <a:p>
            <a:r>
              <a:rPr lang="en-US" altLang="zh-CN" sz="1600" dirty="0" smtClean="0"/>
              <a:t>(8)</a:t>
            </a:r>
            <a:r>
              <a:rPr lang="zh-CN" altLang="en-US" sz="1600" dirty="0" smtClean="0"/>
              <a:t>信号</a:t>
            </a:r>
            <a:endParaRPr lang="en-US" altLang="zh-CN" sz="1600" dirty="0" smtClean="0"/>
          </a:p>
          <a:p>
            <a:r>
              <a:rPr lang="en-US" altLang="zh-CN" sz="1600" dirty="0" smtClean="0"/>
              <a:t>   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textChanged</a:t>
            </a:r>
            <a:r>
              <a:rPr lang="en-US" altLang="zh-CN" sz="1600" dirty="0"/>
              <a:t>(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QString</a:t>
            </a:r>
            <a:r>
              <a:rPr lang="en-US" altLang="zh-CN" sz="1600" dirty="0"/>
              <a:t> &amp;);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textEdited</a:t>
            </a:r>
            <a:r>
              <a:rPr lang="en-US" altLang="zh-CN" sz="1600" dirty="0"/>
              <a:t>(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QString</a:t>
            </a:r>
            <a:r>
              <a:rPr lang="en-US" altLang="zh-CN" sz="1600" dirty="0"/>
              <a:t> &amp;);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cursorPositionChanged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returnPressed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editingFinished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selectionChanged</a:t>
            </a:r>
            <a:r>
              <a:rPr lang="en-US" altLang="zh-CN" sz="1600" dirty="0" smtClean="0"/>
              <a:t>();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973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说明：菜单栏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有下拉菜单列表组成，使用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函数增加菜单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构造函数、析构函数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 = 0);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~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*menu);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&amp;title);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QIcon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&amp;icon,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&amp;title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public Q_SLOTS: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virtual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setVisible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 visible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Q_SIGNALS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triggered(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*action);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hovered(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78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构造函数、析构函数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*parent = 0);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&amp;title,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~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icon:QIcon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图标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title:QString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菜单标题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triggered(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*action):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出发菜单动作时，产生此信号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创建动作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&amp;text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Qicon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icon,const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&amp;text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添加子菜单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*menu)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392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说明：调用菜单，快捷按钮、快捷键会执行同一个命令，为了统一，将其称为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action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构造函数、析构函数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text,Qobject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8parent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~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（）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图标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setIcon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Qicon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&amp;icon);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快捷键 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setShortcut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QKeySequence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&amp;shortcut)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设置可见、不可见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setVisible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(bool) 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::triggered(bool checked=false)  </a:t>
            </a: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98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说明：带有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Cancel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等按钮的对话框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标准按钮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enum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StandardButton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{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NoButton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0x00000000,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Ok                 = 0x00000400,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Save               = 0x00000800,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SaveAll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 = 0x00001000,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Open               = 0x00002000,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Yes                = 0x00004000,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YesToAll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= 0x00008000,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No                 = 0x00010000,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NoToAll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    = 0x00020000,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Abort              = 0x00040000,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Retry              = 0x00080000,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Ignore             = 0x00100000,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Close              = 0x00200000,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Cancel             = 0x00400000,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Discard            = 0x00800000,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Help               = 0x01000000,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Apply              = 0x02000000,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Reset              = 0x04000000,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RestoreDefaults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= 0x08000000,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27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8.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组框，将控件分组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称为分组框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构造函数、析构函数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 parent=0);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&amp;title,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 parent=0);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~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组框标题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title()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setTitle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&amp;title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槽、信号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public Q_SLOTS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setChecked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 checked);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Q_SIGNALS: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clicked(bool checked = false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单击时差生此信号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toggled(bool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其他函数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isCheckable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setCheckable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(bool checkable);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   bool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isChecked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31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9.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垂直布局，组件在其内按照垂直方向摆放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水平布局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：网格布局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增加控件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设置布局 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2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工作原理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层包含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个组件，垂直方向摆放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("Horizontal layout"));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("Grid layout"));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("Form 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|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::Cancel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垂直线性布局对象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向垂直布局对象增加组框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增加组框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向垂直布局对象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增加文本编辑框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配置为垂直线性布局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33" y="958294"/>
            <a:ext cx="5831967" cy="57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01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菜单栏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动作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菜单栏实例化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(“&amp;File”), this);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菜单初始化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E&amp;xit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”)); </a:t>
            </a: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下增加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子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菜单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”Exit”    </a:t>
            </a:r>
          </a:p>
          <a:p>
            <a:pPr marL="0" indent="0">
              <a:buNone/>
            </a:pPr>
            <a:r>
              <a:rPr lang="en-US" altLang="zh-CN" sz="12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向菜单栏增加菜单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setMenuBar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向垂直布局控件增加菜单栏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33" y="958294"/>
            <a:ext cx="5831967" cy="57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内嵌水平布局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控件按水平方向排列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控件组框：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创建组框对象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(tr("Horizontal layout"));</a:t>
            </a: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(tr(“Horizontal layout”));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创建组框对象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;                       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创建水平布局对象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buttons1=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(tr(“Button 1”));      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创建按钮对象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buttons2=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2"));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buttons3=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3"));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 buttons4= new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(tr("Button 4"));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水平摆放按钮组件</a:t>
            </a:r>
            <a:endParaRPr lang="en-US" altLang="zh-CN" sz="13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layout-&gt;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(buttons1);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(buttons2);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(buttons3); </a:t>
            </a:r>
            <a:endParaRPr lang="en-US" altLang="zh-CN" sz="13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(buttons4);</a:t>
            </a:r>
          </a:p>
          <a:p>
            <a:pPr marL="0" indent="0">
              <a:buNone/>
            </a:pP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3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(layout);   //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设置组框为水平布局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</a:rPr>
              <a:t>个按钮</a:t>
            </a:r>
            <a:r>
              <a:rPr lang="en-US" altLang="zh-CN" sz="13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612" y="1119710"/>
            <a:ext cx="424874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内嵌网格布局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功能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界面划分网格，将控件按照网格位置摆置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label0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1:").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lineEdit0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(label0, 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0);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label1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(1));	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lineEdit1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(label0,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0);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(lineEdit0,2,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label2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(1));	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lineEdit2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(label0,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0);	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(lineEdit0,3,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2677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77" y="1077367"/>
            <a:ext cx="4258269" cy="14480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0804" y="3027038"/>
            <a:ext cx="6224781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 err="1"/>
              <a:t>smallEditor</a:t>
            </a:r>
            <a:r>
              <a:rPr lang="en-US" altLang="zh-CN" dirty="0"/>
              <a:t> = new </a:t>
            </a:r>
            <a:r>
              <a:rPr lang="en-US" altLang="zh-CN" dirty="0" err="1"/>
              <a:t>QTextEdit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 </a:t>
            </a:r>
            <a:r>
              <a:rPr lang="en-US" altLang="zh-CN" dirty="0" err="1"/>
              <a:t>smallEditor</a:t>
            </a:r>
            <a:r>
              <a:rPr lang="en-US" altLang="zh-CN" dirty="0"/>
              <a:t>-&gt;</a:t>
            </a:r>
            <a:r>
              <a:rPr lang="en-US" altLang="zh-CN" dirty="0" err="1"/>
              <a:t>setPlainText</a:t>
            </a:r>
            <a:r>
              <a:rPr lang="en-US" altLang="zh-CN" dirty="0"/>
              <a:t>(</a:t>
            </a:r>
            <a:r>
              <a:rPr lang="en-US" altLang="zh-CN" dirty="0" err="1"/>
              <a:t>tr</a:t>
            </a:r>
            <a:r>
              <a:rPr lang="en-US" altLang="zh-CN" dirty="0"/>
              <a:t>("This widget takes up about </a:t>
            </a:r>
            <a:r>
              <a:rPr lang="en-US" altLang="zh-CN" dirty="0" smtClean="0"/>
              <a:t>“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“two </a:t>
            </a:r>
            <a:r>
              <a:rPr lang="en-US" altLang="zh-CN" dirty="0"/>
              <a:t>thirds of the </a:t>
            </a:r>
            <a:r>
              <a:rPr lang="en-US" altLang="zh-CN" dirty="0" smtClean="0"/>
              <a:t>grid </a:t>
            </a:r>
            <a:r>
              <a:rPr lang="en-US" altLang="zh-CN" dirty="0"/>
              <a:t>layout</a:t>
            </a:r>
            <a:r>
              <a:rPr lang="en-US" altLang="zh-CN" dirty="0" smtClean="0"/>
              <a:t>."));</a:t>
            </a:r>
          </a:p>
          <a:p>
            <a:r>
              <a:rPr lang="en-US" altLang="zh-CN" dirty="0" smtClean="0"/>
              <a:t> </a:t>
            </a:r>
            <a:r>
              <a:rPr lang="en-US" altLang="zh-CN" dirty="0"/>
              <a:t>layout-&gt;</a:t>
            </a:r>
            <a:r>
              <a:rPr lang="en-US" altLang="zh-CN" dirty="0" err="1"/>
              <a:t>addWidget</a:t>
            </a:r>
            <a:r>
              <a:rPr lang="en-US" altLang="zh-CN" dirty="0"/>
              <a:t>(</a:t>
            </a:r>
            <a:r>
              <a:rPr lang="en-US" altLang="zh-CN" dirty="0" err="1"/>
              <a:t>smallEditor</a:t>
            </a:r>
            <a:r>
              <a:rPr lang="en-US" altLang="zh-CN" dirty="0"/>
              <a:t>, 0, 2, 4, 1);   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layout-</a:t>
            </a:r>
            <a:r>
              <a:rPr lang="en-US" altLang="zh-CN" dirty="0"/>
              <a:t>&gt;</a:t>
            </a:r>
            <a:r>
              <a:rPr lang="en-US" altLang="zh-CN" dirty="0" err="1"/>
              <a:t>setColumnStretch</a:t>
            </a:r>
            <a:r>
              <a:rPr lang="en-US" altLang="zh-CN" dirty="0"/>
              <a:t>(1, 10);   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/>
              <a:t>layout-&gt;</a:t>
            </a:r>
            <a:r>
              <a:rPr lang="en-US" altLang="zh-CN" dirty="0" err="1"/>
              <a:t>setColumnStretch</a:t>
            </a:r>
            <a:r>
              <a:rPr lang="en-US" altLang="zh-CN" dirty="0"/>
              <a:t>(2, 20);   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/>
              <a:t>gridGroupBox</a:t>
            </a:r>
            <a:r>
              <a:rPr lang="en-US" altLang="zh-CN" dirty="0"/>
              <a:t>-&gt;</a:t>
            </a:r>
            <a:r>
              <a:rPr lang="en-US" altLang="zh-CN" dirty="0" err="1"/>
              <a:t>setLayout</a:t>
            </a:r>
            <a:r>
              <a:rPr lang="en-US" altLang="zh-CN" dirty="0"/>
              <a:t>(layout);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006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嵌表格布局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*layout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   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增加一行，包括标签、文本框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2, long text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QComboBox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增加一行，包括标签、下拉列表框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layout-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(“Line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:”)),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QSpinBox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2677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369" y="3567628"/>
            <a:ext cx="5073287" cy="202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8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339" y="2226129"/>
            <a:ext cx="69151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dialog.cpp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exp302.pro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并修改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exp302.pro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/exp302#/opt/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exp302.pro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0" y="4448175"/>
            <a:ext cx="60007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exp302.pro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moc_dialog.cpp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moc_dialog.o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..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exp302/ 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cd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86" y="3363005"/>
            <a:ext cx="8456159" cy="20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]# cd exp302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;s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syntax error: unexpected ";"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ls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 main.cpp moc_dialog.cpp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dialog.cpp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exp302.pro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moc_dialog.o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exp302]# ./exp302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   30.611000] &lt;&lt;-GTP-INFO-&gt;&gt; System resume.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[   30.618000]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635" y="1675564"/>
            <a:ext cx="5066666" cy="37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Dialog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2.dialog.h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DIALOG_H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DIALOG_H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public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Dialog();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539339" y="1023255"/>
            <a:ext cx="4440639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private: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createMenu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createHorizontalGroupBox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createGridGroupBox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    void </a:t>
            </a:r>
            <a:r>
              <a:rPr lang="en-US" altLang="zh-CN" sz="1600" dirty="0" err="1"/>
              <a:t>createFormGroupBox</a:t>
            </a:r>
            <a:r>
              <a:rPr lang="en-US" altLang="zh-CN" sz="1600" dirty="0"/>
              <a:t>();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enum</a:t>
            </a:r>
            <a:r>
              <a:rPr lang="en-US" altLang="zh-CN" sz="1600" dirty="0"/>
              <a:t> { 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 = 3, </a:t>
            </a:r>
            <a:r>
              <a:rPr lang="en-US" altLang="zh-CN" sz="1600" dirty="0" err="1"/>
              <a:t>NumButtons</a:t>
            </a:r>
            <a:r>
              <a:rPr lang="en-US" altLang="zh-CN" sz="1600" dirty="0"/>
              <a:t> = 4 };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QMenuBar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menuBar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horizontalGroupBox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gridGroupBox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QGroupBox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formGroupBox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QTextEdit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smallEditor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QTextEdit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bigEditor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QLabel</a:t>
            </a:r>
            <a:r>
              <a:rPr lang="en-US" altLang="zh-CN" sz="1600" dirty="0"/>
              <a:t> *labels[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QLineEdit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lineEdits</a:t>
            </a:r>
            <a:r>
              <a:rPr lang="en-US" altLang="zh-CN" sz="1600" dirty="0"/>
              <a:t>[</a:t>
            </a:r>
            <a:r>
              <a:rPr lang="en-US" altLang="zh-CN" sz="1600" dirty="0" err="1"/>
              <a:t>NumGridRows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QPushButton</a:t>
            </a:r>
            <a:r>
              <a:rPr lang="en-US" altLang="zh-CN" sz="1600" dirty="0"/>
              <a:t> *buttons[</a:t>
            </a:r>
            <a:r>
              <a:rPr lang="en-US" altLang="zh-CN" sz="1600" dirty="0" err="1"/>
              <a:t>NumButtons</a:t>
            </a:r>
            <a:r>
              <a:rPr lang="en-US" altLang="zh-CN" sz="1600" dirty="0"/>
              <a:t>];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QDialogButtonBox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buttonBox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QMenu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fileMenu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QAction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exitAction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};</a:t>
            </a:r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09051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3.dialog.cpp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::Dialog()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setPlainText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("This widget takes up all the remaining space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"in the top-level layout."));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::Ok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|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::Cancel);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SIGNAL(accepted()), this, SLOT(accept()));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SIGNAL(rejected()), this, SLOT(reject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38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QVBoxLayout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bigEditor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("Basic Layouts"));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("&amp;File"), 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E&amp;xit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menuBar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fileMenu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exitAction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SIGNAL(triggered()), this, SLOT(accept()));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57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("Horizontal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QHBoxLayout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NumButtons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buttons[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QPushButton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("Button %1").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(buttons[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horizontalGroupBox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9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("Grid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NumGridRows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labels[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%1:").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lineEdits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(labels[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lineEdits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+ 1,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QTextEdit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setPlainText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("This widget takes up about two thirds of the 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"grid layout."));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smallEditor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0, 2, 4, 1);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setColumnStretch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(1, 10);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setColumnStretch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(2, 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gridGroupBox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4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Dialog::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("Form layout"));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*layout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QFormLayout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1:")),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2, long text:")),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QComboBox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layout-&gt;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addRow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QLabel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("Line 3:")),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QSpinBox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formGroupBox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(layout);</a:t>
            </a:r>
          </a:p>
          <a:p>
            <a:pPr marL="0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869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4.exp302.pro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dialog.h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dialog.cpp main.cpp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3005</Words>
  <Application>Microsoft Office PowerPoint</Application>
  <PresentationFormat>宽屏</PresentationFormat>
  <Paragraphs>507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299</cp:revision>
  <dcterms:created xsi:type="dcterms:W3CDTF">2023-12-05T00:02:22Z</dcterms:created>
  <dcterms:modified xsi:type="dcterms:W3CDTF">2023-12-17T09:11:27Z</dcterms:modified>
</cp:coreProperties>
</file>