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93" r:id="rId6"/>
    <p:sldId id="344" r:id="rId7"/>
    <p:sldId id="345" r:id="rId8"/>
    <p:sldId id="346" r:id="rId9"/>
    <p:sldId id="302" r:id="rId10"/>
    <p:sldId id="303" r:id="rId11"/>
    <p:sldId id="304" r:id="rId12"/>
    <p:sldId id="305" r:id="rId13"/>
    <p:sldId id="306" r:id="rId14"/>
    <p:sldId id="308" r:id="rId15"/>
    <p:sldId id="295" r:id="rId16"/>
    <p:sldId id="273" r:id="rId17"/>
    <p:sldId id="310" r:id="rId18"/>
    <p:sldId id="281" r:id="rId19"/>
    <p:sldId id="299" r:id="rId20"/>
    <p:sldId id="329" r:id="rId21"/>
    <p:sldId id="284" r:id="rId22"/>
    <p:sldId id="285" r:id="rId23"/>
    <p:sldId id="286" r:id="rId24"/>
    <p:sldId id="287" r:id="rId25"/>
    <p:sldId id="288" r:id="rId26"/>
    <p:sldId id="267" r:id="rId27"/>
    <p:sldId id="300" r:id="rId28"/>
    <p:sldId id="311" r:id="rId29"/>
    <p:sldId id="312" r:id="rId30"/>
    <p:sldId id="330" r:id="rId31"/>
    <p:sldId id="331" r:id="rId32"/>
    <p:sldId id="332" r:id="rId33"/>
    <p:sldId id="333" r:id="rId34"/>
    <p:sldId id="334" r:id="rId35"/>
    <p:sldId id="335" r:id="rId36"/>
    <p:sldId id="336" r:id="rId37"/>
    <p:sldId id="337" r:id="rId38"/>
    <p:sldId id="338" r:id="rId39"/>
    <p:sldId id="339" r:id="rId40"/>
    <p:sldId id="340" r:id="rId41"/>
    <p:sldId id="341" r:id="rId42"/>
    <p:sldId id="342" r:id="rId43"/>
    <p:sldId id="343" r:id="rId4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19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09500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227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278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9698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3948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2822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3780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620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6604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1639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674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A3DE26-18F7-496A-A03C-9AA38E281AE0}" type="datetimeFigureOut">
              <a:rPr lang="zh-CN" altLang="en-US" smtClean="0"/>
              <a:t>2023/12/17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E6A4-39C1-44FC-8340-C6DCF2E9405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4628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实验目录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实验内容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实验目的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实验平台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程序完成指标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实验参考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6.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实验步骤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参考程序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8.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思考题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412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一、实验内容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49150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编写</a:t>
            </a:r>
            <a:r>
              <a:rPr lang="en-US" altLang="zh-CN" sz="12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程序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，仿真交叉路口交通灯运行情况，如图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要求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交叉路口为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道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路口设置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为南北、东西方向。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信号灯变换过程为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a)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南北，绿灯，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秒；东西红灯，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秒；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b).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南北、东西时间到，过度到黄灯，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秒；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c).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南北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，红灯，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秒；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东西绿灯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30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秒</a:t>
            </a: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；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d).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南北、东西时间到，过度到黄灯，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秒；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一直按照以上顺序运行</a:t>
            </a:r>
            <a:endParaRPr lang="en-US" altLang="zh-CN" sz="12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2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程序在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实验箱上运行</a:t>
            </a:r>
            <a:r>
              <a:rPr lang="en-US" altLang="zh-CN" sz="12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1427226"/>
            <a:ext cx="69913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2331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二、实验目的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学习掌握图像显示方法和编程技巧。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2.Timer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的编程方法和调试技巧。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学习掌握绘画的编程方法和调试技巧。</a:t>
            </a: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309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三、实验平台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硬件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计算机            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软件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台式计算机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操作系统：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Windows10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虚拟机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   VMware-player-15.1.0    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Ubuntu18.04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ubuntu-18.04-64bit_farsight(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包含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Qt,ARM-Qt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  超级终端：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PUTTY.EXE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 FS_6818M4_V2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嵌入式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操作系统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9857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四、实验完成指标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显示交叉路口交通灯仿真运行图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325" y="1427226"/>
            <a:ext cx="6991350" cy="499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93091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zh-CN" altLang="en-US" sz="1600" dirty="0"/>
              <a:t>交通</a:t>
            </a:r>
            <a:r>
              <a:rPr lang="zh-CN" altLang="en-US" sz="1600" dirty="0" smtClean="0"/>
              <a:t>灯运行原理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(1)</a:t>
            </a:r>
            <a:r>
              <a:rPr lang="zh-CN" altLang="en-US" sz="1600" dirty="0" smtClean="0"/>
              <a:t>加载背景图片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</a:t>
            </a:r>
            <a:r>
              <a:rPr lang="en-US" altLang="zh-CN" sz="1600" dirty="0" err="1"/>
              <a:t>QImage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loadImage</a:t>
            </a:r>
            <a:r>
              <a:rPr lang="en-US" altLang="zh-CN" sz="1600" dirty="0" smtClean="0"/>
              <a:t>;</a:t>
            </a:r>
          </a:p>
          <a:p>
            <a:pPr marL="0" indent="0">
              <a:buNone/>
            </a:pPr>
            <a:r>
              <a:rPr lang="en-US" altLang="zh-CN" sz="1600" dirty="0"/>
              <a:t> if (</a:t>
            </a:r>
            <a:r>
              <a:rPr lang="en-US" altLang="zh-CN" sz="1600" dirty="0" err="1"/>
              <a:t>loadImage.load</a:t>
            </a:r>
            <a:r>
              <a:rPr lang="en-US" altLang="zh-CN" sz="1600" dirty="0" smtClean="0"/>
              <a:t>(“main.jpg”))  //</a:t>
            </a:r>
            <a:r>
              <a:rPr lang="zh-CN" altLang="en-US" sz="1600" dirty="0" smtClean="0"/>
              <a:t>加载图片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{</a:t>
            </a:r>
          </a:p>
          <a:p>
            <a:pPr marL="0" indent="0">
              <a:buNone/>
            </a:pPr>
            <a:r>
              <a:rPr lang="en-US" altLang="zh-CN" sz="1600" dirty="0"/>
              <a:t>    image=</a:t>
            </a:r>
            <a:r>
              <a:rPr lang="en-US" altLang="zh-CN" sz="1600" dirty="0" err="1"/>
              <a:t>loadImage</a:t>
            </a:r>
            <a:r>
              <a:rPr lang="en-US" altLang="zh-CN" sz="1600" dirty="0"/>
              <a:t>;</a:t>
            </a:r>
          </a:p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QSize</a:t>
            </a:r>
            <a:r>
              <a:rPr lang="en-US" altLang="zh-CN" sz="1600" dirty="0"/>
              <a:t> </a:t>
            </a:r>
            <a:r>
              <a:rPr lang="en-US" altLang="zh-CN" sz="1600" dirty="0" err="1"/>
              <a:t>newSize</a:t>
            </a:r>
            <a:r>
              <a:rPr lang="en-US" altLang="zh-CN" sz="1600" dirty="0"/>
              <a:t>=</a:t>
            </a:r>
            <a:r>
              <a:rPr lang="en-US" altLang="zh-CN" sz="1600" dirty="0" err="1"/>
              <a:t>loadImage.size</a:t>
            </a:r>
            <a:r>
              <a:rPr lang="en-US" altLang="zh-CN" sz="1600" dirty="0"/>
              <a:t>().</a:t>
            </a:r>
            <a:r>
              <a:rPr lang="en-US" altLang="zh-CN" sz="1600" dirty="0" err="1"/>
              <a:t>expandedTo</a:t>
            </a:r>
            <a:r>
              <a:rPr lang="en-US" altLang="zh-CN" sz="1600" dirty="0"/>
              <a:t>(size</a:t>
            </a:r>
            <a:r>
              <a:rPr lang="en-US" altLang="zh-CN" sz="1600" dirty="0" smtClean="0"/>
              <a:t>());  //</a:t>
            </a:r>
            <a:r>
              <a:rPr lang="zh-CN" altLang="en-US" sz="1600" dirty="0" smtClean="0"/>
              <a:t>获取图片大小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</a:t>
            </a:r>
            <a:r>
              <a:rPr lang="en-US" altLang="zh-CN" sz="1600" dirty="0" err="1"/>
              <a:t>resizeImage</a:t>
            </a:r>
            <a:r>
              <a:rPr lang="en-US" altLang="zh-CN" sz="1600" dirty="0"/>
              <a:t>(&amp;</a:t>
            </a:r>
            <a:r>
              <a:rPr lang="en-US" altLang="zh-CN" sz="1600" dirty="0" err="1"/>
              <a:t>loadImage,newSize</a:t>
            </a:r>
            <a:r>
              <a:rPr lang="en-US" altLang="zh-CN" sz="1600" dirty="0" smtClean="0"/>
              <a:t>);    //</a:t>
            </a:r>
            <a:r>
              <a:rPr lang="zh-CN" altLang="en-US" sz="1600" dirty="0" smtClean="0"/>
              <a:t>绘图区域重设指定的宽、高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update</a:t>
            </a:r>
            <a:r>
              <a:rPr lang="en-US" altLang="zh-CN" sz="1600" dirty="0" smtClean="0"/>
              <a:t>();     //</a:t>
            </a:r>
            <a:r>
              <a:rPr lang="zh-CN" altLang="en-US" sz="1600" dirty="0" smtClean="0"/>
              <a:t>调用</a:t>
            </a:r>
            <a:r>
              <a:rPr lang="en-US" altLang="zh-CN" sz="1600" dirty="0"/>
              <a:t>:</a:t>
            </a:r>
            <a:r>
              <a:rPr lang="en-US" altLang="zh-CN" sz="1600" dirty="0" err="1" smtClean="0"/>
              <a:t>paintEvent</a:t>
            </a:r>
            <a:r>
              <a:rPr lang="en-US" altLang="zh-CN" sz="1600" dirty="0" smtClean="0"/>
              <a:t>()</a:t>
            </a:r>
            <a:r>
              <a:rPr lang="zh-CN" altLang="en-US" sz="1600" dirty="0" smtClean="0"/>
              <a:t>函数，重绘窗口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}</a:t>
            </a:r>
          </a:p>
          <a:p>
            <a:pPr marL="0" indent="0">
              <a:buNone/>
            </a:pPr>
            <a:r>
              <a:rPr lang="en-US" altLang="zh-CN" sz="1600" dirty="0" smtClean="0"/>
              <a:t>(2)</a:t>
            </a:r>
            <a:r>
              <a:rPr lang="zh-CN" altLang="en-US" sz="1600" dirty="0" smtClean="0"/>
              <a:t>设置定时器，价格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秒，时间到运行</a:t>
            </a:r>
            <a:r>
              <a:rPr lang="en-US" altLang="zh-CN" sz="1600" dirty="0" smtClean="0"/>
              <a:t>go()</a:t>
            </a:r>
            <a:r>
              <a:rPr lang="zh-CN" altLang="en-US" sz="1600" dirty="0" smtClean="0"/>
              <a:t>槽函数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</a:t>
            </a:r>
            <a:r>
              <a:rPr lang="en-US" altLang="zh-CN" sz="1600" dirty="0" err="1"/>
              <a:t>QTimer</a:t>
            </a:r>
            <a:r>
              <a:rPr lang="en-US" altLang="zh-CN" sz="1600" dirty="0"/>
              <a:t> *timer=new </a:t>
            </a:r>
            <a:r>
              <a:rPr lang="en-US" altLang="zh-CN" sz="1600" dirty="0" err="1"/>
              <a:t>QTimer</a:t>
            </a:r>
            <a:r>
              <a:rPr lang="en-US" altLang="zh-CN" sz="1600" dirty="0"/>
              <a:t>(this</a:t>
            </a:r>
            <a:r>
              <a:rPr lang="en-US" altLang="zh-CN" sz="1600" dirty="0" smtClean="0"/>
              <a:t>);   //</a:t>
            </a:r>
            <a:r>
              <a:rPr lang="zh-CN" altLang="en-US" sz="1600" dirty="0" smtClean="0"/>
              <a:t>定义初始化</a:t>
            </a:r>
            <a:r>
              <a:rPr lang="en-US" altLang="zh-CN" sz="1600" dirty="0" err="1" smtClean="0"/>
              <a:t>Qtimer</a:t>
            </a:r>
            <a:r>
              <a:rPr lang="zh-CN" altLang="en-US" sz="1600" dirty="0" smtClean="0"/>
              <a:t>对象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connect(</a:t>
            </a:r>
            <a:r>
              <a:rPr lang="en-US" altLang="zh-CN" sz="1600" dirty="0" err="1"/>
              <a:t>timer,SIGNAL</a:t>
            </a:r>
            <a:r>
              <a:rPr lang="en-US" altLang="zh-CN" sz="1600" dirty="0"/>
              <a:t>(timeout()),SLOT(go</a:t>
            </a:r>
            <a:r>
              <a:rPr lang="en-US" altLang="zh-CN" sz="1600" dirty="0" smtClean="0"/>
              <a:t>())); //</a:t>
            </a:r>
            <a:r>
              <a:rPr lang="zh-CN" altLang="en-US" sz="1600" dirty="0" smtClean="0"/>
              <a:t>定时到，产生信号</a:t>
            </a:r>
            <a:r>
              <a:rPr lang="en-US" altLang="zh-CN" sz="1600" dirty="0" smtClean="0"/>
              <a:t>timeout(),</a:t>
            </a:r>
            <a:r>
              <a:rPr lang="zh-CN" altLang="en-US" sz="1600" dirty="0" smtClean="0"/>
              <a:t>调用槽函数</a:t>
            </a:r>
            <a:r>
              <a:rPr lang="en-US" altLang="zh-CN" sz="1600" dirty="0" smtClean="0"/>
              <a:t>go()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timer-&gt;start(1000); </a:t>
            </a:r>
            <a:r>
              <a:rPr lang="en-US" altLang="zh-CN" sz="1600" dirty="0" smtClean="0"/>
              <a:t>  //</a:t>
            </a:r>
            <a:r>
              <a:rPr lang="zh-CN" altLang="en-US" sz="1600" dirty="0" smtClean="0"/>
              <a:t>启动定时器，间隔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秒</a:t>
            </a:r>
            <a:endParaRPr lang="en-US" altLang="zh-CN" sz="1600" dirty="0" smtClean="0"/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39072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/>
              <a:t>(3)</a:t>
            </a:r>
            <a:r>
              <a:rPr lang="zh-CN" altLang="en-US" sz="1600" dirty="0" smtClean="0"/>
              <a:t> </a:t>
            </a:r>
            <a:r>
              <a:rPr lang="en-US" altLang="zh-CN" sz="1600" dirty="0" smtClean="0"/>
              <a:t>go()</a:t>
            </a:r>
            <a:r>
              <a:rPr lang="zh-CN" altLang="en-US" sz="1600" dirty="0" smtClean="0"/>
              <a:t>函数</a:t>
            </a:r>
            <a:endParaRPr lang="en-US" altLang="zh-CN" sz="1600" dirty="0" smtClean="0"/>
          </a:p>
          <a:p>
            <a:r>
              <a:rPr lang="zh-CN" altLang="en-US" sz="1600" dirty="0" smtClean="0"/>
              <a:t>将交通灯变换定义为</a:t>
            </a:r>
            <a:r>
              <a:rPr lang="en-US" altLang="zh-CN" sz="1600" dirty="0" smtClean="0"/>
              <a:t>n</a:t>
            </a:r>
            <a:r>
              <a:rPr lang="zh-CN" altLang="en-US" sz="1600" dirty="0" smtClean="0"/>
              <a:t>步，依据</a:t>
            </a:r>
            <a:r>
              <a:rPr lang="en-US" altLang="zh-CN" sz="1600" dirty="0" err="1" smtClean="0"/>
              <a:t>nStep</a:t>
            </a:r>
            <a:r>
              <a:rPr lang="en-US" altLang="zh-CN" sz="1600" dirty="0" smtClean="0"/>
              <a:t>=0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2</a:t>
            </a:r>
            <a:r>
              <a:rPr lang="zh-CN" altLang="en-US" sz="1600" dirty="0" smtClean="0"/>
              <a:t>、</a:t>
            </a:r>
            <a:r>
              <a:rPr lang="en-US" altLang="zh-CN" sz="1600" dirty="0" smtClean="0"/>
              <a:t>…n-1</a:t>
            </a:r>
            <a:r>
              <a:rPr lang="zh-CN" altLang="en-US" sz="1600" dirty="0" smtClean="0"/>
              <a:t>，</a:t>
            </a:r>
            <a:r>
              <a:rPr lang="zh-CN" altLang="en-US" sz="1600" dirty="0"/>
              <a:t>每一</a:t>
            </a:r>
            <a:r>
              <a:rPr lang="zh-CN" altLang="en-US" sz="1600" dirty="0" smtClean="0"/>
              <a:t>步有自己的初始时间</a:t>
            </a:r>
            <a:r>
              <a:rPr lang="en-US" altLang="zh-CN" sz="1600" dirty="0" err="1" smtClean="0"/>
              <a:t>nTime</a:t>
            </a:r>
            <a:r>
              <a:rPr lang="en-US" altLang="zh-CN" sz="1600" dirty="0" smtClean="0"/>
              <a:t>,</a:t>
            </a:r>
            <a:r>
              <a:rPr lang="zh-CN" altLang="en-US" sz="1600" dirty="0" smtClean="0"/>
              <a:t>执行一次</a:t>
            </a:r>
            <a:r>
              <a:rPr lang="en-US" altLang="zh-CN" sz="1600" dirty="0" smtClean="0"/>
              <a:t>go(),</a:t>
            </a:r>
            <a:r>
              <a:rPr lang="en-US" altLang="zh-CN" sz="1600" dirty="0" err="1" smtClean="0"/>
              <a:t>nTime</a:t>
            </a:r>
            <a:r>
              <a:rPr lang="zh-CN" altLang="en-US" sz="1600" dirty="0" smtClean="0"/>
              <a:t>减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，直到</a:t>
            </a:r>
            <a:r>
              <a:rPr lang="zh-CN" altLang="en-US" sz="1600" dirty="0"/>
              <a:t>减到</a:t>
            </a:r>
            <a:r>
              <a:rPr lang="en-US" altLang="zh-CN" sz="1600" dirty="0" smtClean="0"/>
              <a:t>0</a:t>
            </a:r>
            <a:r>
              <a:rPr lang="zh-CN" altLang="en-US" sz="1600" dirty="0" smtClean="0"/>
              <a:t>，变换到下一步</a:t>
            </a:r>
            <a:r>
              <a:rPr lang="en-US" altLang="zh-CN" sz="1600" dirty="0" smtClean="0"/>
              <a:t>.</a:t>
            </a:r>
          </a:p>
          <a:p>
            <a:r>
              <a:rPr lang="zh-CN" altLang="en-US" sz="1600" dirty="0" smtClean="0"/>
              <a:t>同时，执行一次</a:t>
            </a:r>
            <a:r>
              <a:rPr lang="en-US" altLang="zh-CN" sz="1600" dirty="0" smtClean="0"/>
              <a:t>update()</a:t>
            </a:r>
            <a:r>
              <a:rPr lang="zh-CN" altLang="en-US" sz="1600" dirty="0" smtClean="0"/>
              <a:t>函数，调用</a:t>
            </a:r>
            <a:r>
              <a:rPr lang="en-US" altLang="zh-CN" sz="1600" dirty="0" err="1"/>
              <a:t>paintEvent</a:t>
            </a:r>
            <a:r>
              <a:rPr lang="en-US" altLang="zh-CN" sz="1600" dirty="0"/>
              <a:t>()</a:t>
            </a:r>
            <a:r>
              <a:rPr lang="zh-CN" altLang="en-US" sz="1600" dirty="0"/>
              <a:t>函数，重回窗口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(4)</a:t>
            </a:r>
            <a:r>
              <a:rPr lang="zh-CN" altLang="en-US" sz="1600" dirty="0" smtClean="0"/>
              <a:t>重绘窗口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zh-CN" altLang="en-US" sz="1600" dirty="0" smtClean="0"/>
              <a:t>依据</a:t>
            </a:r>
            <a:r>
              <a:rPr lang="en-US" altLang="zh-CN" sz="1600" dirty="0" err="1" smtClean="0"/>
              <a:t>nStep</a:t>
            </a:r>
            <a:r>
              <a:rPr lang="zh-CN" altLang="en-US" sz="1600" dirty="0" smtClean="0"/>
              <a:t>判定当前交通信号灯显示情况，用以下语句段绘制交通等变换图，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painter.setPen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QPen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black,Qt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DashLine</a:t>
            </a:r>
            <a:r>
              <a:rPr lang="en-US" altLang="zh-CN" sz="1600" dirty="0" smtClean="0"/>
              <a:t>));     //</a:t>
            </a:r>
            <a:r>
              <a:rPr lang="zh-CN" altLang="en-US" sz="1600" dirty="0" smtClean="0"/>
              <a:t>黑色，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painter.setBrush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darkRed,Qt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SolidPattern</a:t>
            </a:r>
            <a:r>
              <a:rPr lang="en-US" altLang="zh-CN" sz="1600" dirty="0" smtClean="0"/>
              <a:t>));//</a:t>
            </a:r>
            <a:r>
              <a:rPr lang="zh-CN" altLang="en-US" sz="1600" dirty="0" smtClean="0"/>
              <a:t>暗红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painter.drawEllipse</a:t>
            </a:r>
            <a:r>
              <a:rPr lang="en-US" altLang="zh-CN" sz="1600" dirty="0"/>
              <a:t>(165,45,20,20</a:t>
            </a:r>
            <a:r>
              <a:rPr lang="en-US" altLang="zh-CN" sz="1600" dirty="0" smtClean="0"/>
              <a:t>);  //</a:t>
            </a:r>
            <a:r>
              <a:rPr lang="zh-CN" altLang="en-US" sz="1600" dirty="0" smtClean="0"/>
              <a:t>在信号灯位置绘制圆</a:t>
            </a:r>
            <a:endParaRPr lang="en-US" altLang="zh-CN" sz="1600" dirty="0" smtClean="0"/>
          </a:p>
          <a:p>
            <a:pPr marL="0" indent="0">
              <a:buNone/>
            </a:pPr>
            <a:endParaRPr lang="en-US" altLang="zh-CN" sz="1600" dirty="0" smtClean="0"/>
          </a:p>
          <a:p>
            <a:pPr marL="0" indent="0">
              <a:buNone/>
            </a:pPr>
            <a:endParaRPr lang="en-US" altLang="zh-CN" sz="1600" dirty="0" smtClean="0"/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9752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/>
              <a:t>2.</a:t>
            </a:r>
            <a:r>
              <a:rPr lang="zh-CN" altLang="en-US" sz="1600" dirty="0" smtClean="0"/>
              <a:t>交通灯绘制</a:t>
            </a:r>
            <a:r>
              <a:rPr lang="en-US" altLang="zh-CN" sz="1600" dirty="0" smtClean="0"/>
              <a:t>:</a:t>
            </a:r>
            <a:r>
              <a:rPr lang="zh-CN" altLang="en-US" sz="1600" dirty="0" smtClean="0"/>
              <a:t>红、暗红、绿、暗绿、黄、暗黄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painter.setPen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QPen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black,Qt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DashLine</a:t>
            </a:r>
            <a:r>
              <a:rPr lang="en-US" altLang="zh-CN" sz="1600" dirty="0"/>
              <a:t>));     //</a:t>
            </a:r>
            <a:r>
              <a:rPr lang="zh-CN" altLang="en-US" sz="1600" dirty="0"/>
              <a:t>黑色，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painter.setBrush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QBrush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darkRed,Qt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SolidPattern</a:t>
            </a:r>
            <a:r>
              <a:rPr lang="en-US" altLang="zh-CN" sz="1600" dirty="0"/>
              <a:t>));</a:t>
            </a:r>
          </a:p>
          <a:p>
            <a:pPr marL="0" indent="0"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 smtClean="0"/>
              <a:t>painter.drawEllipse</a:t>
            </a:r>
            <a:r>
              <a:rPr lang="en-US" altLang="zh-CN" sz="1600" dirty="0" smtClean="0"/>
              <a:t>(165,105,20,20);     //</a:t>
            </a:r>
            <a:r>
              <a:rPr lang="zh-CN" altLang="en-US" sz="1600" dirty="0" smtClean="0"/>
              <a:t>黑红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painter.setBrush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Qt</a:t>
            </a:r>
            <a:r>
              <a:rPr lang="en-US" altLang="zh-CN" sz="1600" dirty="0" smtClean="0"/>
              <a:t>::</a:t>
            </a:r>
            <a:r>
              <a:rPr lang="en-US" altLang="zh-CN" sz="1600" dirty="0" err="1" smtClean="0"/>
              <a:t>Red,Qt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SolidPattern</a:t>
            </a:r>
            <a:r>
              <a:rPr lang="en-US" altLang="zh-CN" sz="1600" dirty="0"/>
              <a:t>));</a:t>
            </a:r>
          </a:p>
          <a:p>
            <a:pPr marL="0" indent="0"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painter.drawEllipse</a:t>
            </a:r>
            <a:r>
              <a:rPr lang="en-US" altLang="zh-CN" sz="1600" dirty="0"/>
              <a:t>(165,105,20,20);    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红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painter.setBrush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darkYellow,Qt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SolidPattern</a:t>
            </a:r>
            <a:r>
              <a:rPr lang="en-US" altLang="zh-CN" sz="1600" dirty="0"/>
              <a:t>));</a:t>
            </a:r>
          </a:p>
          <a:p>
            <a:pPr marL="0" indent="0"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 smtClean="0"/>
              <a:t>painter.drawEllipse</a:t>
            </a:r>
            <a:r>
              <a:rPr lang="en-US" altLang="zh-CN" sz="1600" dirty="0" smtClean="0"/>
              <a:t>(165,105,20,20);   //</a:t>
            </a:r>
            <a:r>
              <a:rPr lang="zh-CN" altLang="en-US" sz="1600" dirty="0" smtClean="0"/>
              <a:t>暗黄，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painter.setBrush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Qt</a:t>
            </a:r>
            <a:r>
              <a:rPr lang="en-US" altLang="zh-CN" sz="1600" dirty="0" smtClean="0"/>
              <a:t>::</a:t>
            </a:r>
            <a:r>
              <a:rPr lang="en-US" altLang="zh-CN" sz="1600" dirty="0" err="1" smtClean="0"/>
              <a:t>Yellow,Qt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SolidPattern</a:t>
            </a:r>
            <a:r>
              <a:rPr lang="en-US" altLang="zh-CN" sz="1600" dirty="0"/>
              <a:t>));</a:t>
            </a:r>
          </a:p>
          <a:p>
            <a:pPr marL="0" indent="0"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painter.drawEllipse</a:t>
            </a:r>
            <a:r>
              <a:rPr lang="en-US" altLang="zh-CN" sz="1600" dirty="0"/>
              <a:t>(165,105,20,20);  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黄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 smtClean="0"/>
              <a:t>painter.setBrush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QBrush</a:t>
            </a:r>
            <a:r>
              <a:rPr lang="en-US" altLang="zh-CN" sz="1600" dirty="0" smtClean="0"/>
              <a:t>(</a:t>
            </a:r>
            <a:r>
              <a:rPr lang="en-US" altLang="zh-CN" sz="1600" dirty="0" err="1" smtClean="0"/>
              <a:t>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green,Qt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SolidPattern</a:t>
            </a:r>
            <a:r>
              <a:rPr lang="en-US" altLang="zh-CN" sz="1600" dirty="0"/>
              <a:t>));</a:t>
            </a:r>
          </a:p>
          <a:p>
            <a:pPr marL="0" indent="0">
              <a:buNone/>
            </a:pPr>
            <a:r>
              <a:rPr lang="en-US" altLang="zh-CN" sz="1600" dirty="0"/>
              <a:t>      </a:t>
            </a:r>
            <a:r>
              <a:rPr lang="en-US" altLang="zh-CN" sz="1600" dirty="0" err="1"/>
              <a:t>painter.drawEllipse</a:t>
            </a:r>
            <a:r>
              <a:rPr lang="en-US" altLang="zh-CN" sz="1600" dirty="0"/>
              <a:t>(165,105,20,20</a:t>
            </a:r>
            <a:r>
              <a:rPr lang="en-US" altLang="zh-CN" sz="1600" dirty="0" smtClean="0"/>
              <a:t>); //</a:t>
            </a:r>
            <a:r>
              <a:rPr lang="zh-CN" altLang="en-US" sz="1600" dirty="0" smtClean="0"/>
              <a:t>绿色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painter.setBrush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QBrush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Qt</a:t>
            </a:r>
            <a:r>
              <a:rPr lang="en-US" altLang="zh-CN" sz="1600" dirty="0"/>
              <a:t>::</a:t>
            </a:r>
            <a:r>
              <a:rPr lang="en-US" altLang="zh-CN" sz="1600" dirty="0" err="1" smtClean="0"/>
              <a:t>darkGreen,Qt</a:t>
            </a:r>
            <a:r>
              <a:rPr lang="en-US" altLang="zh-CN" sz="1600" dirty="0"/>
              <a:t>::</a:t>
            </a:r>
            <a:r>
              <a:rPr lang="en-US" altLang="zh-CN" sz="1600" dirty="0" err="1"/>
              <a:t>SolidPattern</a:t>
            </a:r>
            <a:r>
              <a:rPr lang="en-US" altLang="zh-CN" sz="1600" dirty="0" smtClean="0"/>
              <a:t>));</a:t>
            </a:r>
          </a:p>
          <a:p>
            <a:pPr marL="0" indent="0">
              <a:buNone/>
            </a:pPr>
            <a:r>
              <a:rPr lang="en-US" altLang="zh-CN" sz="1600" dirty="0" smtClean="0"/>
              <a:t>      </a:t>
            </a:r>
            <a:r>
              <a:rPr lang="en-US" altLang="zh-CN" sz="1600" dirty="0" err="1"/>
              <a:t>painter.drawEllipse</a:t>
            </a:r>
            <a:r>
              <a:rPr lang="en-US" altLang="zh-CN" sz="1600" dirty="0"/>
              <a:t>(165,105,20,20); </a:t>
            </a:r>
            <a:r>
              <a:rPr lang="en-US" altLang="zh-CN" sz="1600" dirty="0" smtClean="0"/>
              <a:t>//</a:t>
            </a:r>
            <a:r>
              <a:rPr lang="zh-CN" altLang="en-US" sz="1600" dirty="0" smtClean="0"/>
              <a:t>暗绿</a:t>
            </a:r>
            <a:endParaRPr lang="en-US" altLang="zh-CN" sz="1600" dirty="0" smtClean="0"/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188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/>
              <a:t>3.QTimer</a:t>
            </a:r>
            <a:r>
              <a:rPr lang="zh-CN" altLang="en-US" sz="1600" dirty="0" smtClean="0"/>
              <a:t>：定时器</a:t>
            </a:r>
            <a:endParaRPr lang="en-US" altLang="zh-CN" sz="1600" dirty="0" smtClean="0"/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interval,QObject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*parent=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nullptr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启动定时器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start(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msec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=0);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停止定时器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stop();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设定计时间隔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setInterval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interval);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设定计时方式</a:t>
            </a:r>
          </a:p>
          <a:p>
            <a:pPr marL="0" indent="0">
              <a:buNone/>
            </a:pP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setSingleShot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(bool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zh-CN" sz="17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=true ;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定时到时停止。</a:t>
            </a:r>
          </a:p>
          <a:p>
            <a:pPr marL="0" indent="0">
              <a:buNone/>
            </a:pP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700" dirty="0" err="1">
                <a:latin typeface="宋体" panose="02010600030101010101" pitchFamily="2" charset="-122"/>
                <a:ea typeface="宋体" panose="02010600030101010101" pitchFamily="2" charset="-122"/>
              </a:rPr>
              <a:t>singleShot</a:t>
            </a:r>
            <a:r>
              <a:rPr lang="en-US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=false;</a:t>
            </a:r>
            <a:r>
              <a:rPr lang="zh-CN" altLang="zh-CN" sz="1700" dirty="0">
                <a:latin typeface="宋体" panose="02010600030101010101" pitchFamily="2" charset="-122"/>
                <a:ea typeface="宋体" panose="02010600030101010101" pitchFamily="2" charset="-122"/>
              </a:rPr>
              <a:t>定时到时，启动下一次定时</a:t>
            </a: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130210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返回定时器标识符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unsigned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timerId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const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(7)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返回计时器状态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Bool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isActive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(8)</a:t>
            </a:r>
            <a:r>
              <a:rPr lang="zh-CN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示例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*timer = new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(this);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connect(timer, SIGNAL(timeout()), this, SLOT(update())); 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//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定时到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timeout(),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执行槽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update()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timer-&gt;start(1000);  //</a:t>
            </a:r>
            <a:r>
              <a:rPr lang="zh-CN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启动定时器，间隔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1S</a:t>
            </a:r>
            <a:endParaRPr lang="zh-CN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57345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en-US" altLang="zh-CN" sz="1600" dirty="0" smtClean="0"/>
              <a:t> </a:t>
            </a:r>
            <a:r>
              <a:rPr lang="en-US" altLang="zh-CN" sz="1600" dirty="0" err="1"/>
              <a:t>paintEvent</a:t>
            </a:r>
            <a:r>
              <a:rPr lang="en-US" altLang="zh-CN" sz="1600" dirty="0"/>
              <a:t>(</a:t>
            </a:r>
            <a:r>
              <a:rPr lang="en-US" altLang="zh-CN" sz="1600" dirty="0" err="1"/>
              <a:t>QPaintEvent</a:t>
            </a:r>
            <a:r>
              <a:rPr lang="en-US" altLang="zh-CN" sz="1600" dirty="0"/>
              <a:t>  </a:t>
            </a:r>
            <a:r>
              <a:rPr lang="en-US" altLang="zh-CN" sz="1600" dirty="0" smtClean="0"/>
              <a:t>*)</a:t>
            </a:r>
          </a:p>
          <a:p>
            <a:pPr marL="0" indent="0">
              <a:buNone/>
            </a:pPr>
            <a:r>
              <a:rPr lang="en-US" altLang="zh-CN" sz="1600" dirty="0"/>
              <a:t>(1)</a:t>
            </a:r>
            <a:r>
              <a:rPr lang="zh-CN" altLang="zh-CN" sz="1600" dirty="0"/>
              <a:t>为</a:t>
            </a:r>
            <a:r>
              <a:rPr lang="en-US" altLang="zh-CN" sz="1600" dirty="0" err="1"/>
              <a:t>QWidget</a:t>
            </a:r>
            <a:r>
              <a:rPr lang="zh-CN" altLang="zh-CN" sz="1600" dirty="0"/>
              <a:t>的虚函数，用于绘制</a:t>
            </a:r>
            <a:r>
              <a:rPr lang="en-US" altLang="zh-CN" sz="1600" dirty="0"/>
              <a:t>UI</a:t>
            </a:r>
            <a:r>
              <a:rPr lang="zh-CN" altLang="zh-CN" sz="1600" dirty="0"/>
              <a:t>界面</a:t>
            </a:r>
            <a:r>
              <a:rPr lang="en-US" altLang="zh-CN" sz="1600" dirty="0"/>
              <a:t>.</a:t>
            </a:r>
            <a:endParaRPr lang="zh-CN" altLang="zh-CN" sz="1600" dirty="0"/>
          </a:p>
          <a:p>
            <a:pPr marL="0" indent="0">
              <a:buNone/>
            </a:pPr>
            <a:r>
              <a:rPr lang="en-US" altLang="zh-CN" sz="1600" dirty="0"/>
              <a:t>(2)</a:t>
            </a:r>
            <a:r>
              <a:rPr lang="zh-CN" altLang="zh-CN" sz="1600" dirty="0"/>
              <a:t>运行时机：</a:t>
            </a:r>
          </a:p>
          <a:p>
            <a:pPr marL="0" indent="0">
              <a:buNone/>
            </a:pPr>
            <a:r>
              <a:rPr lang="zh-CN" altLang="zh-CN" sz="1600" dirty="0"/>
              <a:t>窗口变更；</a:t>
            </a:r>
          </a:p>
          <a:p>
            <a:pPr marL="0" indent="0">
              <a:buNone/>
            </a:pPr>
            <a:r>
              <a:rPr lang="zh-CN" altLang="zh-CN" sz="1600" dirty="0"/>
              <a:t>执行</a:t>
            </a:r>
            <a:r>
              <a:rPr lang="en-US" altLang="zh-CN" sz="1600" dirty="0"/>
              <a:t>repaint()</a:t>
            </a:r>
            <a:r>
              <a:rPr lang="zh-CN" altLang="zh-CN" sz="1600" dirty="0"/>
              <a:t>或</a:t>
            </a:r>
            <a:r>
              <a:rPr lang="en-US" altLang="zh-CN" sz="1600" dirty="0"/>
              <a:t>update()</a:t>
            </a:r>
            <a:r>
              <a:rPr lang="zh-CN" altLang="zh-CN" sz="1600" dirty="0" smtClean="0"/>
              <a:t>函数</a:t>
            </a:r>
            <a:endParaRPr lang="zh-CN" altLang="zh-CN" sz="1600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4369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描述颜色的属性类，提供更多的颜色选择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::red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::yellow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::blue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&amp;color);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6.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是用于执行绘图操作的类。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QPaintDevice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表示可以使用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在其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上绘图。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QPaintEngine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提供了一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个接口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绘图引擎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可以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QPaintEngine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在不同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类型的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设备上绘图 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构造函数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QPaintDevice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*device)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构造函数自动调用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begin()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，析构函数自动调用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end()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例如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endParaRPr lang="zh-CN" altLang="en-US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painter;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.begin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(this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.drawLine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(...);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.end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等同于以下代码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p(this);</a:t>
            </a:r>
          </a:p>
          <a:p>
            <a:pPr marL="0" indent="0">
              <a:buNone/>
            </a:pP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p.drawLine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(...);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79454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3) bool begin(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QPaintDevice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*device)</a:t>
            </a: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开始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绘制绘画设备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，成功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true;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失败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返回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false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(4)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setRenderHint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600" dirty="0" smtClean="0"/>
              <a:t>抗</a:t>
            </a:r>
            <a:r>
              <a:rPr lang="zh-CN" altLang="en-US" sz="1600" dirty="0"/>
              <a:t>锯齿是计算机图形学中的常用技术，用于平滑图形边缘，使其看起来更加自然，避免了边缘的锯齿状</a:t>
            </a:r>
            <a:r>
              <a:rPr lang="zh-CN" altLang="en-US" sz="1600" dirty="0" smtClean="0"/>
              <a:t>。</a:t>
            </a:r>
            <a:r>
              <a:rPr lang="en-US" altLang="zh-CN" sz="1600" dirty="0" err="1" smtClean="0"/>
              <a:t>setRenderHint</a:t>
            </a:r>
            <a:r>
              <a:rPr lang="en-US" altLang="zh-CN" sz="1600" dirty="0"/>
              <a:t>()</a:t>
            </a:r>
            <a:r>
              <a:rPr lang="zh-CN" altLang="en-US" sz="1600" dirty="0"/>
              <a:t>函数设置</a:t>
            </a:r>
            <a:r>
              <a:rPr lang="en-US" altLang="zh-CN" sz="1600" dirty="0" err="1"/>
              <a:t>QPainter</a:t>
            </a:r>
            <a:r>
              <a:rPr lang="en-US" altLang="zh-CN" sz="1600" dirty="0"/>
              <a:t>::Antialiasing</a:t>
            </a:r>
            <a:r>
              <a:rPr lang="zh-CN" altLang="en-US" sz="1600" dirty="0"/>
              <a:t>渲染提示可以使图形更加平滑自然</a:t>
            </a:r>
            <a:r>
              <a:rPr lang="zh-CN" altLang="en-US" sz="1600" dirty="0" smtClean="0"/>
              <a:t>。</a:t>
            </a:r>
            <a:endParaRPr lang="en-US" altLang="zh-CN" sz="1600" dirty="0" smtClean="0"/>
          </a:p>
          <a:p>
            <a:r>
              <a:rPr lang="de-DE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void QPainter::setRenderHint(QPainter::RenderHint hint, bool on = true</a:t>
            </a:r>
            <a:r>
              <a:rPr lang="de-DE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(5)translate</a:t>
            </a: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坐标系统平移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translate(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qreal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dx,qreal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dy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将坐标系统水平移动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dx;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垂直移动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dy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(6)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Rotate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rotate(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qreal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angle);</a:t>
            </a:r>
          </a:p>
          <a:p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将坐标系统按原点顺时针旋转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angle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角度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(7)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scale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Void scale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（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qreal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sx,qreal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sy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x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方向的缩放比例； 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sy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y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方向的缩放比例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缩放比例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&gt;1,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图像放大； 缩放比例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&lt;1,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图像缩小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7582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五、实验参考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(8)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setPen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 设置画笔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(9)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setBrush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hourColor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：设置画刷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(10)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save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将绘图状态（坐标转换参数、画笔、画刷参数）保存到堆栈中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restore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函数恢复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(11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drawConvexPolygon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</a:t>
            </a:r>
            <a:r>
              <a:rPr lang="zh-CN" altLang="en-US" sz="1600" dirty="0"/>
              <a:t>根据给定的</a:t>
            </a:r>
            <a:r>
              <a:rPr lang="zh-CN" altLang="en-US" sz="1600" dirty="0" smtClean="0"/>
              <a:t>点画凸</a:t>
            </a:r>
            <a:r>
              <a:rPr lang="zh-CN" altLang="en-US" sz="1600" dirty="0"/>
              <a:t>多边行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(12) restore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(); 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恢复绘画状态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(13) 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drawLine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：画线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(14)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drawRect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绘制矩形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(15)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drawRoundedRect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():</a:t>
            </a:r>
            <a:r>
              <a:rPr lang="zh-CN" altLang="en-US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绘制圆角矩形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74720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确认编程环境准备好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VM 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确认实验箱已经启动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如果没有准备好，参考实验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安装实验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1.1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步骤启动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和实验箱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1250" y="958294"/>
            <a:ext cx="5162550" cy="26193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7974" y="4003574"/>
            <a:ext cx="8419338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6645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2.ubuntu18.04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下，进入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“终端”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如果已经进入，略过此步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ubuntu18.04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操作主窗口，按组合键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CTRL+ALT+T,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进入终端窗口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211" y="1780413"/>
            <a:ext cx="7029450" cy="4236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6212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切换到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如果已经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root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，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略过此步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sudo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Enter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Retype new UNIX 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passwd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 password updated successfully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:~$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su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root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Password: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zh-CN" altLang="en-US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172" y="3053334"/>
            <a:ext cx="6721412" cy="3045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31465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创建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实验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的第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个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小实验实验目录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mkdir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pwd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25880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(3)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在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编写程序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mainwindow.cpp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/exp403# vim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/exp403# vim trafficlight.cpp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ls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trafficlight.cpp 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mainwindow.cpp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main.cpp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1622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(4)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将准备好的交叉路口仿真图片拷到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下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/exp403#cp 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hgfs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ushare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/exp403/main.jpg  ./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trafficlight.cpp 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mainwindow.cpp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     main.cpp    main.jpg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20395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(5)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使用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生成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exp403.pro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并对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exp403.pro</a:t>
            </a:r>
            <a:r>
              <a:rPr lang="zh-CN" altLang="en-US" sz="1600" dirty="0">
                <a:latin typeface="宋体" panose="02010600030101010101" pitchFamily="2" charset="-122"/>
                <a:ea typeface="宋体" panose="02010600030101010101" pitchFamily="2" charset="-122"/>
              </a:rPr>
              <a:t>修改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exp403# ls</a:t>
            </a: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main.jpg     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trafficlight.cpp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mainwindow.cpp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/opt/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-project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opt/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/bin/</a:t>
            </a:r>
            <a:r>
              <a:rPr lang="en-US" altLang="zh-CN" sz="16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qmake</a:t>
            </a:r>
            <a:endParaRPr lang="en-US" altLang="zh-CN" sz="16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exp403#ls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main.jpg  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trafficlight.cpp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mainwindow.cpp  exp403.pro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exp403.pro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16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exp403# </a:t>
            </a:r>
            <a:endParaRPr lang="en-US" altLang="zh-CN" sz="16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7346" y="4112704"/>
            <a:ext cx="623887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2874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5.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编译、链接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main.jpg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trafficlight.cpp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mainwindow.cpp  exp403.pro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main.cpp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vim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exp403.pro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make</a:t>
            </a: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autoexec    main.jpg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trafficlight.cpp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clsfile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moc_mainwindow.cpp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exp403      mainwindow.cpp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moc_mainwindow.o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exp403.pro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moc_trafficlight.cpp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moc_trafficlight.o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2727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6.exp403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拷贝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到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/sources/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/exp403#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cd 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:/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/#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–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rf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/home/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/exp403/  ./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exp103  exp202  exp301  exp3021  exp401  </a:t>
            </a:r>
            <a:r>
              <a:rPr lang="en-US" altLang="zh-CN" sz="2000" dirty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exp201  exp203  exp302  exp303   exp402  expt101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root@linux-pc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:/source/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551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/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7.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运行程序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激活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会话窗口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进入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目录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632" y="1949958"/>
            <a:ext cx="8077200" cy="308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5408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六、实验步骤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(2)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执行程序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bin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led_driver.ko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proc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tmp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dev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ledapp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qt_exp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usr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lib                root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var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etc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linuxrc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rootfs.tar.xz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fs6818b_test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sbin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fs6818m4_test      opt                sys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]# cd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exp101   exp103   exp202   exp301   exp3021  exp401  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exp402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exp102   exp201   exp203   exp302   exp303   </a:t>
            </a:r>
            <a:r>
              <a:rPr lang="en-US" altLang="zh-CN" sz="20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exp403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expt101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embeddedexpriment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]# cd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exp403/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exp403]# ls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autoexec    main.jpg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Makefile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   trafficlight.cpp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clsfile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moc_mainwindow.cpp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exp403      mainwindow.cpp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moc_mainwindow.o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exp403.pro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moc_trafficlight.cpp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main.cpp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moc_trafficlight.o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[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root@farsight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exp401]# ./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exp403  -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qws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70.721000] &lt;&lt;-GTP-INFO-&gt;&gt; System resume.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   70.729000] &lt;&lt;-GTP-INFO-&gt;&gt; GTP wakeup sleep.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0639" y="1445740"/>
            <a:ext cx="5015873" cy="361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9018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1.main.cpp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主程序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argc,char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[])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QApplication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app(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argc,argv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window;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window.show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return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app.exec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99344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2.exp403.pro</a:t>
            </a:r>
            <a:r>
              <a:rPr lang="zh-CN" altLang="en-US" sz="2000" dirty="0">
                <a:latin typeface="宋体" panose="02010600030101010101" pitchFamily="2" charset="-122"/>
                <a:ea typeface="宋体" panose="02010600030101010101" pitchFamily="2" charset="-122"/>
              </a:rPr>
              <a:t>工程</a:t>
            </a:r>
            <a:r>
              <a:rPr lang="zh-CN" altLang="en-US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文件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TEMPLATE = app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TARGET = exp403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INCLUDEPATH += .</a:t>
            </a: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greaterThan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(QT_MAJOR_VERSION,4):QT+=widgets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 Input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HEADERS +=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SOURCES += main.cpp mainwindow.cpp trafficlight.cpp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01512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3.mainwindow.h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MAINWINDOW_H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MAINWINDOW_H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MainWindow:public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QMainWindow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Q_OBJECT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private: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76245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.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cpp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QtGui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MainWindow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setCentralWidget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setWindowTitle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Control System!!!"));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resize(800,600);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452815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5.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ifndef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TRAFFICLIGHT_H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#define TRAFFICLIGHT_H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QColor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class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ShowArea:public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Q_OBJECT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public: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*parent=0);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private: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image;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resizeImage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image,const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public slots: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void go();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protected: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*event);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};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endif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04335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6. trafficlight.cpp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&lt;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QtGui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&gt;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#include "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trafficlight.h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"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QWidget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(parent)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loadImage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setAttribute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WA_StaticContents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=0;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=5;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if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loadImage.load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("main.jpg"))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image=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loadImage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loadImage.size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().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expandedTo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(size());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resizeImage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(&amp;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loadImage,newSize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update();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*timer=new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QTimer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connect(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timer,SIGNAL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(timeout()),SLOT(go()));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timer-&gt;start(1000);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047424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QPaintEvent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painter(this);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(0,0),image);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switch 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case 0: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(165,75,20,20);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(165,105,20,20);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(257,33,20,20);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(257,73,20,20);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(257,103,20,20);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77255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(558,98,20,20);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(558,128,20,20);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(558,158,20,20);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(652,115,20,20);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(652,175,20,20);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break;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9803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case 1: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(165,75,20,20);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(165,105,20,20);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(257,33,20,20);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(257,73,20,20);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(257,103,20,20);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87453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//led3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(558,98,20,20);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(558,128,20,20);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(558,158,20,20);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(652,115,20,20);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(652,175,20,20);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break;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30002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case 2: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(165,75,20,20);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(165,105,20,20);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(257,33,20,20);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(257,73,20,20);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(257,103,20,20);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707694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(558,98,20,20);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(558,128,20,20);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(558,158,20,20);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(652,115,20,20);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(652,175,20,20);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break;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75497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case 3: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//led1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(165,75,20,20);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(165,105,20,20);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//led2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(257,33,20,20);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(257,73,20,20);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(257,103,20,20);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3098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(558,98,20,20);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(558,128,20,20);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(558,158,20,20);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(652,115,20,20);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(652,175,20,20);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break;</a:t>
            </a: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51683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case 4: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	  {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//led1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(165,45,20,20);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(165,75,20,20);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green,Qt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(165,105,20,20);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//led2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darkRed,Qt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(257,33,20,20);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(257,73,20,20);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green,Qt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 smtClean="0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(257,103,20,20);</a:t>
            </a: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1643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//led3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(558,98,20,20);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(558,128,20,20);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(558,158,20,20);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//led4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QPen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black,Qt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DashLine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red,Qt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(652,115,20,20);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darkYellow,Qt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(652,145,20,20);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painter.setBrush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QBrush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darkGreen,Qt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SolidPattern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painter.drawEllipse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(652,175,20,20);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	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}</a:t>
            </a:r>
          </a:p>
          <a:p>
            <a:pPr marL="0" indent="0">
              <a:buNone/>
            </a:pPr>
            <a:r>
              <a:rPr lang="en-US" altLang="zh-CN" sz="2000" dirty="0" smtClean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222169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resizeImage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image,const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&amp;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if (image-&gt;size()==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newSize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 return;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newSize,QImage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::Format_RGB32);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newImage.fill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qRgb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(255,255,255));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QPainter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painter(&amp;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painter.drawImage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QPoint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(0,0),*image);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*image=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newImage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;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pPr marL="0" indent="0">
              <a:buNone/>
            </a:pPr>
            <a:endParaRPr lang="en-US" altLang="zh-CN" sz="20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indent="0">
              <a:buNone/>
            </a:pP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87809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0160"/>
          </a:xfrm>
        </p:spPr>
        <p:txBody>
          <a:bodyPr>
            <a:normAutofit/>
          </a:bodyPr>
          <a:lstStyle/>
          <a:p>
            <a:r>
              <a:rPr lang="en-US" altLang="zh-CN" sz="3200" dirty="0" err="1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Qt</a:t>
            </a:r>
            <a:r>
              <a:rPr lang="zh-CN" altLang="en-US" sz="3200" dirty="0">
                <a:solidFill>
                  <a:srgbClr val="FF000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编程                           </a:t>
            </a:r>
            <a:r>
              <a:rPr lang="zh-CN" altLang="en-US" sz="2400" dirty="0">
                <a:solidFill>
                  <a:srgbClr val="0070C0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七、实验参考程序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958294"/>
            <a:ext cx="10515600" cy="5218669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void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ShowArea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::go()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switch(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case 0: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--;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&lt;=0)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{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=5;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update();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case 1: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--;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if(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&lt;=0)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{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=2;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</a:t>
            </a:r>
            <a:r>
              <a:rPr lang="en-US" altLang="zh-CN" sz="20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=5;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  update();  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    } 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}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  break;</a:t>
            </a:r>
          </a:p>
          <a:p>
            <a:pPr marL="0" indent="0">
              <a:buNone/>
            </a:pPr>
            <a:r>
              <a:rPr lang="en-US" altLang="zh-CN" sz="2000" dirty="0">
                <a:latin typeface="宋体" panose="02010600030101010101" pitchFamily="2" charset="-122"/>
                <a:ea typeface="宋体" panose="02010600030101010101" pitchFamily="2" charset="-122"/>
              </a:rPr>
              <a:t>   </a:t>
            </a:r>
            <a:endParaRPr lang="en-US" altLang="zh-CN" sz="2000" dirty="0" smtClean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5" name="直接连接符 4"/>
          <p:cNvCxnSpPr/>
          <p:nvPr/>
        </p:nvCxnSpPr>
        <p:spPr>
          <a:xfrm>
            <a:off x="838200" y="933122"/>
            <a:ext cx="10515600" cy="17336"/>
          </a:xfrm>
          <a:prstGeom prst="line">
            <a:avLst/>
          </a:prstGeom>
          <a:ln w="38100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3493008" y="960120"/>
            <a:ext cx="2339102" cy="57554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case 2: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{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--;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if(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&lt;=0)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{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=3;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=5;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update();  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}  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}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break;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case 3: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{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--;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if(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&lt;=0)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{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=4;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</a:t>
            </a:r>
            <a:r>
              <a:rPr lang="en-US" altLang="zh-CN" sz="1600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=5;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  update();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     }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 }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  break;</a:t>
            </a:r>
          </a:p>
          <a:p>
            <a:r>
              <a:rPr lang="en-US" altLang="zh-CN" sz="1600" dirty="0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zh-CN" altLang="en-US" sz="1600" dirty="0"/>
          </a:p>
        </p:txBody>
      </p:sp>
      <p:sp>
        <p:nvSpPr>
          <p:cNvPr id="6" name="文本框 5"/>
          <p:cNvSpPr txBox="1"/>
          <p:nvPr/>
        </p:nvSpPr>
        <p:spPr>
          <a:xfrm>
            <a:off x="7104888" y="1124712"/>
            <a:ext cx="2377574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case 4: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{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--;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if(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&lt;=0)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{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nStep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=1;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  </a:t>
            </a:r>
            <a:r>
              <a:rPr lang="en-US" altLang="zh-CN" dirty="0" err="1">
                <a:latin typeface="宋体" panose="02010600030101010101" pitchFamily="2" charset="-122"/>
                <a:ea typeface="宋体" panose="02010600030101010101" pitchFamily="2" charset="-122"/>
              </a:rPr>
              <a:t>nTime</a:t>
            </a:r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=5;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  update();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   }  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 }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   break; 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 } </a:t>
            </a:r>
          </a:p>
          <a:p>
            <a:r>
              <a:rPr lang="en-US" altLang="zh-CN" dirty="0"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</a:p>
          <a:p>
            <a:endParaRPr lang="en-US" altLang="zh-CN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61748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934</TotalTime>
  <Words>2982</Words>
  <Application>Microsoft Office PowerPoint</Application>
  <PresentationFormat>宽屏</PresentationFormat>
  <Paragraphs>655</Paragraphs>
  <Slides>43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43</vt:i4>
      </vt:variant>
    </vt:vector>
  </HeadingPairs>
  <TitlesOfParts>
    <vt:vector size="49" baseType="lpstr">
      <vt:lpstr>等线</vt:lpstr>
      <vt:lpstr>等线 Light</vt:lpstr>
      <vt:lpstr>楷体</vt:lpstr>
      <vt:lpstr>宋体</vt:lpstr>
      <vt:lpstr>Arial</vt:lpstr>
      <vt:lpstr>Office 主题​​</vt:lpstr>
      <vt:lpstr>Qt编程                                 实验目录</vt:lpstr>
      <vt:lpstr>Qt编程                              一、实验内容</vt:lpstr>
      <vt:lpstr>Qt编程                              二、实验目的</vt:lpstr>
      <vt:lpstr>Qt编程                              三、实验平台</vt:lpstr>
      <vt:lpstr>Qt编程                           四、实验完成指标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五、实验参考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   六、实验步骤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  <vt:lpstr>Qt编程                           七、实验参考程序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GNU ARM汇编                                 实验目录</dc:title>
  <dc:creator>yinhenorth01</dc:creator>
  <cp:lastModifiedBy>yinhenorth01</cp:lastModifiedBy>
  <cp:revision>314</cp:revision>
  <dcterms:created xsi:type="dcterms:W3CDTF">2023-12-05T00:02:22Z</dcterms:created>
  <dcterms:modified xsi:type="dcterms:W3CDTF">2023-12-17T12:25:10Z</dcterms:modified>
</cp:coreProperties>
</file>